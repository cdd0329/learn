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699" r:id="rId2"/>
    <p:sldId id="486" r:id="rId3"/>
    <p:sldId id="489" r:id="rId4"/>
    <p:sldId id="731" r:id="rId5"/>
    <p:sldId id="490" r:id="rId6"/>
    <p:sldId id="556" r:id="rId7"/>
    <p:sldId id="564" r:id="rId8"/>
    <p:sldId id="568" r:id="rId9"/>
    <p:sldId id="581" r:id="rId10"/>
    <p:sldId id="732" r:id="rId11"/>
    <p:sldId id="504" r:id="rId12"/>
    <p:sldId id="512" r:id="rId13"/>
    <p:sldId id="531" r:id="rId14"/>
    <p:sldId id="609" r:id="rId15"/>
    <p:sldId id="711" r:id="rId16"/>
    <p:sldId id="666" r:id="rId17"/>
    <p:sldId id="265" r:id="rId18"/>
    <p:sldId id="671" r:id="rId19"/>
    <p:sldId id="733" r:id="rId20"/>
    <p:sldId id="860" r:id="rId21"/>
    <p:sldId id="621" r:id="rId22"/>
    <p:sldId id="622" r:id="rId23"/>
    <p:sldId id="637" r:id="rId24"/>
    <p:sldId id="662" r:id="rId25"/>
    <p:sldId id="306" r:id="rId26"/>
    <p:sldId id="319" r:id="rId27"/>
    <p:sldId id="861" r:id="rId28"/>
    <p:sldId id="704" r:id="rId29"/>
    <p:sldId id="721" r:id="rId30"/>
    <p:sldId id="869" r:id="rId31"/>
    <p:sldId id="729" r:id="rId32"/>
    <p:sldId id="730" r:id="rId33"/>
    <p:sldId id="736" r:id="rId34"/>
    <p:sldId id="848" r:id="rId35"/>
    <p:sldId id="588" r:id="rId36"/>
    <p:sldId id="590" r:id="rId37"/>
    <p:sldId id="601" r:id="rId38"/>
    <p:sldId id="341" r:id="rId39"/>
    <p:sldId id="553" r:id="rId40"/>
    <p:sldId id="361" r:id="rId41"/>
    <p:sldId id="362" r:id="rId42"/>
    <p:sldId id="360" r:id="rId43"/>
    <p:sldId id="478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AC7329-3741-4C0E-A67D-ED7BCFA4EB35}" type="doc">
      <dgm:prSet loTypeId="urn:microsoft.com/office/officeart/2005/8/layout/lProcess2" loCatId="list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C3415912-6BFA-43BA-B0BE-472A84C43443}">
      <dgm:prSet phldrT="[文本]" custT="1"/>
      <dgm:spPr>
        <a:solidFill>
          <a:srgbClr val="33CCFF"/>
        </a:solidFill>
      </dgm:spPr>
      <dgm:t>
        <a:bodyPr/>
        <a:lstStyle/>
        <a:p>
          <a:r>
            <a:rPr lang="zh-CN" altLang="en-US" sz="16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提供不可靠的交付服务</a:t>
          </a:r>
        </a:p>
      </dgm:t>
    </dgm:pt>
    <dgm:pt modelId="{26D7D0C8-7A9E-4BDC-A8E7-283557320225}" type="parTrans" cxnId="{949ECB46-AD1B-406F-818E-5DD7F5F78998}">
      <dgm:prSet/>
      <dgm:spPr/>
      <dgm:t>
        <a:bodyPr/>
        <a:lstStyle/>
        <a:p>
          <a:pPr algn="l"/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C7FB8C0-759E-4CAC-B09E-84355EA0FAA4}" type="sibTrans" cxnId="{949ECB46-AD1B-406F-818E-5DD7F5F78998}">
      <dgm:prSet/>
      <dgm:spPr/>
      <dgm:t>
        <a:bodyPr/>
        <a:lstStyle/>
        <a:p>
          <a:pPr algn="l"/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C67F560-D67B-48BB-827D-06E36A44522A}">
      <dgm:prSet phldrT="[文本]" custT="1"/>
      <dgm:spPr/>
      <dgm:t>
        <a:bodyPr/>
        <a:lstStyle/>
        <a:p>
          <a:pPr algn="l"/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尽最大努力的交付。</a:t>
          </a:r>
        </a:p>
      </dgm:t>
    </dgm:pt>
    <dgm:pt modelId="{2A16A0A4-8D09-4ECB-A864-FEDD60939668}" type="parTrans" cxnId="{9054E268-1B08-40B7-AEE4-DB6D9104DD40}">
      <dgm:prSet/>
      <dgm:spPr/>
      <dgm:t>
        <a:bodyPr/>
        <a:lstStyle/>
        <a:p>
          <a:pPr algn="l"/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2FCA8E6-EB9F-4F72-8BA3-6056C684A9E4}" type="sibTrans" cxnId="{9054E268-1B08-40B7-AEE4-DB6D9104DD40}">
      <dgm:prSet/>
      <dgm:spPr/>
      <dgm:t>
        <a:bodyPr/>
        <a:lstStyle/>
        <a:p>
          <a:pPr algn="l"/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66FFD90-D646-4BB9-8342-A97242F7268A}">
      <dgm:prSet phldrT="[文本]" custT="1"/>
      <dgm:spPr/>
      <dgm:t>
        <a:bodyPr/>
        <a:lstStyle/>
        <a:p>
          <a:pPr algn="l"/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对有差错帧是否需要重传则由高层来决定。</a:t>
          </a:r>
        </a:p>
      </dgm:t>
    </dgm:pt>
    <dgm:pt modelId="{C4A9E9E6-7CD3-45D2-A23D-DCD5CE71D674}" type="parTrans" cxnId="{06E4A7B9-CA84-479D-8332-8682144AF1D8}">
      <dgm:prSet/>
      <dgm:spPr/>
      <dgm:t>
        <a:bodyPr/>
        <a:lstStyle/>
        <a:p>
          <a:pPr algn="l"/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5A007F-C280-4651-B968-3CE799C43B3C}" type="sibTrans" cxnId="{06E4A7B9-CA84-479D-8332-8682144AF1D8}">
      <dgm:prSet/>
      <dgm:spPr/>
      <dgm:t>
        <a:bodyPr/>
        <a:lstStyle/>
        <a:p>
          <a:pPr algn="l"/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A7E0DEF-8E31-46A1-8BBF-59B1595A8275}">
      <dgm:prSet phldrT="[文本]" custT="1"/>
      <dgm:spPr>
        <a:solidFill>
          <a:srgbClr val="33CCFF"/>
        </a:solidFill>
      </dgm:spPr>
      <dgm:t>
        <a:bodyPr/>
        <a:lstStyle/>
        <a:p>
          <a:pPr algn="ctr"/>
          <a:r>
            <a:rPr lang="zh-CN" altLang="en-US" sz="16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同一时间只能允许一台计算机发送</a:t>
          </a:r>
        </a:p>
      </dgm:t>
    </dgm:pt>
    <dgm:pt modelId="{C2A1B27B-E137-4975-922B-C6D522DA155A}" type="parTrans" cxnId="{B869C928-3616-4986-A87F-F816AB638D6F}">
      <dgm:prSet/>
      <dgm:spPr/>
      <dgm:t>
        <a:bodyPr/>
        <a:lstStyle/>
        <a:p>
          <a:pPr algn="l"/>
          <a:endParaRPr lang="zh-CN" altLang="en-US"/>
        </a:p>
      </dgm:t>
    </dgm:pt>
    <dgm:pt modelId="{6766F69F-049F-4D92-BA7F-91106E33B26A}" type="sibTrans" cxnId="{B869C928-3616-4986-A87F-F816AB638D6F}">
      <dgm:prSet/>
      <dgm:spPr/>
      <dgm:t>
        <a:bodyPr/>
        <a:lstStyle/>
        <a:p>
          <a:pPr algn="l"/>
          <a:endParaRPr lang="zh-CN" altLang="en-US"/>
        </a:p>
      </dgm:t>
    </dgm:pt>
    <dgm:pt modelId="{D52BF3F9-9ABA-4241-AC77-8DC56655DE25}">
      <dgm:prSet phldrT="[文本]" custT="1"/>
      <dgm:spPr/>
      <dgm:t>
        <a:bodyPr/>
        <a:lstStyle/>
        <a:p>
          <a:pPr algn="l"/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以太网采用最简单的随机接入。</a:t>
          </a:r>
        </a:p>
      </dgm:t>
    </dgm:pt>
    <dgm:pt modelId="{44393429-9FEA-41FC-9460-EE4061EC3C8F}" type="parTrans" cxnId="{1141F3DF-C711-4D48-9CE7-A488451BDA01}">
      <dgm:prSet/>
      <dgm:spPr/>
      <dgm:t>
        <a:bodyPr/>
        <a:lstStyle/>
        <a:p>
          <a:endParaRPr lang="zh-CN" altLang="en-US"/>
        </a:p>
      </dgm:t>
    </dgm:pt>
    <dgm:pt modelId="{F5368824-92C1-4D9E-AB74-3319C6317F2D}" type="sibTrans" cxnId="{1141F3DF-C711-4D48-9CE7-A488451BDA01}">
      <dgm:prSet/>
      <dgm:spPr/>
      <dgm:t>
        <a:bodyPr/>
        <a:lstStyle/>
        <a:p>
          <a:endParaRPr lang="zh-CN" altLang="en-US"/>
        </a:p>
      </dgm:t>
    </dgm:pt>
    <dgm:pt modelId="{47F9F22B-E4CE-49CC-8AD5-F7DDB9797057}">
      <dgm:prSet custT="1"/>
      <dgm:spPr/>
      <dgm:t>
        <a:bodyPr/>
        <a:lstStyle/>
        <a:p>
          <a:pPr algn="l"/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使用 </a:t>
          </a:r>
          <a:r>
            <a:rPr lang="en-US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CSMA/CD </a:t>
          </a: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协议减少冲突发生的概率。</a:t>
          </a:r>
        </a:p>
      </dgm:t>
    </dgm:pt>
    <dgm:pt modelId="{18B6DC75-4E1D-422C-BE2D-E83930CC0AF5}" type="parTrans" cxnId="{70F06C26-AD3B-4C0A-8AAF-108DC156DB05}">
      <dgm:prSet/>
      <dgm:spPr/>
      <dgm:t>
        <a:bodyPr/>
        <a:lstStyle/>
        <a:p>
          <a:endParaRPr lang="zh-CN" altLang="en-US"/>
        </a:p>
      </dgm:t>
    </dgm:pt>
    <dgm:pt modelId="{EDB25EB7-5941-4B33-9159-A506803AC255}" type="sibTrans" cxnId="{70F06C26-AD3B-4C0A-8AAF-108DC156DB05}">
      <dgm:prSet/>
      <dgm:spPr/>
      <dgm:t>
        <a:bodyPr/>
        <a:lstStyle/>
        <a:p>
          <a:endParaRPr lang="zh-CN" altLang="en-US"/>
        </a:p>
      </dgm:t>
    </dgm:pt>
    <dgm:pt modelId="{8F53F22D-2D58-4C71-BDAA-873CB882D5F3}" type="pres">
      <dgm:prSet presAssocID="{CFAC7329-3741-4C0E-A67D-ED7BCFA4EB35}" presName="theList" presStyleCnt="0">
        <dgm:presLayoutVars>
          <dgm:dir/>
          <dgm:animLvl val="lvl"/>
          <dgm:resizeHandles val="exact"/>
        </dgm:presLayoutVars>
      </dgm:prSet>
      <dgm:spPr/>
    </dgm:pt>
    <dgm:pt modelId="{C065151E-AC7B-4C64-A608-21968640FB41}" type="pres">
      <dgm:prSet presAssocID="{C3415912-6BFA-43BA-B0BE-472A84C43443}" presName="compNode" presStyleCnt="0"/>
      <dgm:spPr/>
    </dgm:pt>
    <dgm:pt modelId="{5CCE0585-D949-4566-BF76-D02D180BBC12}" type="pres">
      <dgm:prSet presAssocID="{C3415912-6BFA-43BA-B0BE-472A84C43443}" presName="aNode" presStyleLbl="bgShp" presStyleIdx="0" presStyleCnt="2"/>
      <dgm:spPr/>
    </dgm:pt>
    <dgm:pt modelId="{F75CC956-7E04-492A-912D-FC34FFB91C97}" type="pres">
      <dgm:prSet presAssocID="{C3415912-6BFA-43BA-B0BE-472A84C43443}" presName="textNode" presStyleLbl="bgShp" presStyleIdx="0" presStyleCnt="2"/>
      <dgm:spPr/>
    </dgm:pt>
    <dgm:pt modelId="{0416AFC6-B581-462D-8DDE-C303F0CC9F6F}" type="pres">
      <dgm:prSet presAssocID="{C3415912-6BFA-43BA-B0BE-472A84C43443}" presName="compChildNode" presStyleCnt="0"/>
      <dgm:spPr/>
    </dgm:pt>
    <dgm:pt modelId="{FF0FC2CC-5B09-487D-9A1F-D8D2C77B9663}" type="pres">
      <dgm:prSet presAssocID="{C3415912-6BFA-43BA-B0BE-472A84C43443}" presName="theInnerList" presStyleCnt="0"/>
      <dgm:spPr/>
    </dgm:pt>
    <dgm:pt modelId="{D183681B-6788-4510-8244-33ABDB9FA7A6}" type="pres">
      <dgm:prSet presAssocID="{3C67F560-D67B-48BB-827D-06E36A44522A}" presName="childNode" presStyleLbl="node1" presStyleIdx="0" presStyleCnt="4" custScaleX="111455">
        <dgm:presLayoutVars>
          <dgm:bulletEnabled val="1"/>
        </dgm:presLayoutVars>
      </dgm:prSet>
      <dgm:spPr/>
    </dgm:pt>
    <dgm:pt modelId="{8AD3A303-C6AA-4DBD-9D8F-7FE8D03E85AA}" type="pres">
      <dgm:prSet presAssocID="{3C67F560-D67B-48BB-827D-06E36A44522A}" presName="aSpace2" presStyleCnt="0"/>
      <dgm:spPr/>
    </dgm:pt>
    <dgm:pt modelId="{D871E045-0D3A-446B-875E-5BEA2EC2B98B}" type="pres">
      <dgm:prSet presAssocID="{066FFD90-D646-4BB9-8342-A97242F7268A}" presName="childNode" presStyleLbl="node1" presStyleIdx="1" presStyleCnt="4" custScaleX="111455">
        <dgm:presLayoutVars>
          <dgm:bulletEnabled val="1"/>
        </dgm:presLayoutVars>
      </dgm:prSet>
      <dgm:spPr/>
    </dgm:pt>
    <dgm:pt modelId="{D006BA4A-CFDC-42C3-A22E-6773F69E63C3}" type="pres">
      <dgm:prSet presAssocID="{C3415912-6BFA-43BA-B0BE-472A84C43443}" presName="aSpace" presStyleCnt="0"/>
      <dgm:spPr/>
    </dgm:pt>
    <dgm:pt modelId="{75F40420-7778-4C0C-80A2-4B27179AFCF0}" type="pres">
      <dgm:prSet presAssocID="{EA7E0DEF-8E31-46A1-8BBF-59B1595A8275}" presName="compNode" presStyleCnt="0"/>
      <dgm:spPr/>
    </dgm:pt>
    <dgm:pt modelId="{7585489D-9D2F-4D31-9D4C-5AB50C9A29FA}" type="pres">
      <dgm:prSet presAssocID="{EA7E0DEF-8E31-46A1-8BBF-59B1595A8275}" presName="aNode" presStyleLbl="bgShp" presStyleIdx="1" presStyleCnt="2" custLinFactNeighborY="476"/>
      <dgm:spPr/>
    </dgm:pt>
    <dgm:pt modelId="{4998B580-DF37-45D3-BBDA-B2B85FE9A112}" type="pres">
      <dgm:prSet presAssocID="{EA7E0DEF-8E31-46A1-8BBF-59B1595A8275}" presName="textNode" presStyleLbl="bgShp" presStyleIdx="1" presStyleCnt="2"/>
      <dgm:spPr/>
    </dgm:pt>
    <dgm:pt modelId="{C3BAEA19-DDA7-48E6-A503-5600CE08E564}" type="pres">
      <dgm:prSet presAssocID="{EA7E0DEF-8E31-46A1-8BBF-59B1595A8275}" presName="compChildNode" presStyleCnt="0"/>
      <dgm:spPr/>
    </dgm:pt>
    <dgm:pt modelId="{D09523D3-8970-471E-AEA7-60F681A853D6}" type="pres">
      <dgm:prSet presAssocID="{EA7E0DEF-8E31-46A1-8BBF-59B1595A8275}" presName="theInnerList" presStyleCnt="0"/>
      <dgm:spPr/>
    </dgm:pt>
    <dgm:pt modelId="{2308D4B3-8A94-4F01-A1CD-6D3FE0E6B3D3}" type="pres">
      <dgm:prSet presAssocID="{D52BF3F9-9ABA-4241-AC77-8DC56655DE25}" presName="childNode" presStyleLbl="node1" presStyleIdx="2" presStyleCnt="4" custScaleX="111455">
        <dgm:presLayoutVars>
          <dgm:bulletEnabled val="1"/>
        </dgm:presLayoutVars>
      </dgm:prSet>
      <dgm:spPr/>
    </dgm:pt>
    <dgm:pt modelId="{C6902A0F-2D66-4666-A151-BF293D009642}" type="pres">
      <dgm:prSet presAssocID="{D52BF3F9-9ABA-4241-AC77-8DC56655DE25}" presName="aSpace2" presStyleCnt="0"/>
      <dgm:spPr/>
    </dgm:pt>
    <dgm:pt modelId="{33ECD6FF-F077-4874-B06E-403BF190822C}" type="pres">
      <dgm:prSet presAssocID="{47F9F22B-E4CE-49CC-8AD5-F7DDB9797057}" presName="childNode" presStyleLbl="node1" presStyleIdx="3" presStyleCnt="4" custScaleX="111455">
        <dgm:presLayoutVars>
          <dgm:bulletEnabled val="1"/>
        </dgm:presLayoutVars>
      </dgm:prSet>
      <dgm:spPr/>
    </dgm:pt>
  </dgm:ptLst>
  <dgm:cxnLst>
    <dgm:cxn modelId="{FB6FD507-77CC-4ED2-84F7-461EA49771E2}" type="presOf" srcId="{C3415912-6BFA-43BA-B0BE-472A84C43443}" destId="{F75CC956-7E04-492A-912D-FC34FFB91C97}" srcOrd="1" destOrd="0" presId="urn:microsoft.com/office/officeart/2005/8/layout/lProcess2"/>
    <dgm:cxn modelId="{2041490C-EA3D-4666-A100-67796E105073}" type="presOf" srcId="{066FFD90-D646-4BB9-8342-A97242F7268A}" destId="{D871E045-0D3A-446B-875E-5BEA2EC2B98B}" srcOrd="0" destOrd="0" presId="urn:microsoft.com/office/officeart/2005/8/layout/lProcess2"/>
    <dgm:cxn modelId="{70F06C26-AD3B-4C0A-8AAF-108DC156DB05}" srcId="{EA7E0DEF-8E31-46A1-8BBF-59B1595A8275}" destId="{47F9F22B-E4CE-49CC-8AD5-F7DDB9797057}" srcOrd="1" destOrd="0" parTransId="{18B6DC75-4E1D-422C-BE2D-E83930CC0AF5}" sibTransId="{EDB25EB7-5941-4B33-9159-A506803AC255}"/>
    <dgm:cxn modelId="{B869C928-3616-4986-A87F-F816AB638D6F}" srcId="{CFAC7329-3741-4C0E-A67D-ED7BCFA4EB35}" destId="{EA7E0DEF-8E31-46A1-8BBF-59B1595A8275}" srcOrd="1" destOrd="0" parTransId="{C2A1B27B-E137-4975-922B-C6D522DA155A}" sibTransId="{6766F69F-049F-4D92-BA7F-91106E33B26A}"/>
    <dgm:cxn modelId="{949ECB46-AD1B-406F-818E-5DD7F5F78998}" srcId="{CFAC7329-3741-4C0E-A67D-ED7BCFA4EB35}" destId="{C3415912-6BFA-43BA-B0BE-472A84C43443}" srcOrd="0" destOrd="0" parTransId="{26D7D0C8-7A9E-4BDC-A8E7-283557320225}" sibTransId="{BC7FB8C0-759E-4CAC-B09E-84355EA0FAA4}"/>
    <dgm:cxn modelId="{9054E268-1B08-40B7-AEE4-DB6D9104DD40}" srcId="{C3415912-6BFA-43BA-B0BE-472A84C43443}" destId="{3C67F560-D67B-48BB-827D-06E36A44522A}" srcOrd="0" destOrd="0" parTransId="{2A16A0A4-8D09-4ECB-A864-FEDD60939668}" sibTransId="{B2FCA8E6-EB9F-4F72-8BA3-6056C684A9E4}"/>
    <dgm:cxn modelId="{6C7C8955-AEC1-4FCE-B432-0E3F1C0E16A2}" type="presOf" srcId="{47F9F22B-E4CE-49CC-8AD5-F7DDB9797057}" destId="{33ECD6FF-F077-4874-B06E-403BF190822C}" srcOrd="0" destOrd="0" presId="urn:microsoft.com/office/officeart/2005/8/layout/lProcess2"/>
    <dgm:cxn modelId="{210D98AC-0117-4B9C-8872-01F2E95AD1F0}" type="presOf" srcId="{3C67F560-D67B-48BB-827D-06E36A44522A}" destId="{D183681B-6788-4510-8244-33ABDB9FA7A6}" srcOrd="0" destOrd="0" presId="urn:microsoft.com/office/officeart/2005/8/layout/lProcess2"/>
    <dgm:cxn modelId="{FD010EAE-F711-439C-94AF-68D5FFB3A4BC}" type="presOf" srcId="{EA7E0DEF-8E31-46A1-8BBF-59B1595A8275}" destId="{4998B580-DF37-45D3-BBDA-B2B85FE9A112}" srcOrd="1" destOrd="0" presId="urn:microsoft.com/office/officeart/2005/8/layout/lProcess2"/>
    <dgm:cxn modelId="{06E4A7B9-CA84-479D-8332-8682144AF1D8}" srcId="{C3415912-6BFA-43BA-B0BE-472A84C43443}" destId="{066FFD90-D646-4BB9-8342-A97242F7268A}" srcOrd="1" destOrd="0" parTransId="{C4A9E9E6-7CD3-45D2-A23D-DCD5CE71D674}" sibTransId="{035A007F-C280-4651-B968-3CE799C43B3C}"/>
    <dgm:cxn modelId="{222EBBC2-39C2-485E-8654-609B1A8BA243}" type="presOf" srcId="{C3415912-6BFA-43BA-B0BE-472A84C43443}" destId="{5CCE0585-D949-4566-BF76-D02D180BBC12}" srcOrd="0" destOrd="0" presId="urn:microsoft.com/office/officeart/2005/8/layout/lProcess2"/>
    <dgm:cxn modelId="{4938A2C8-8F26-44C3-B657-B10E764D9DD5}" type="presOf" srcId="{EA7E0DEF-8E31-46A1-8BBF-59B1595A8275}" destId="{7585489D-9D2F-4D31-9D4C-5AB50C9A29FA}" srcOrd="0" destOrd="0" presId="urn:microsoft.com/office/officeart/2005/8/layout/lProcess2"/>
    <dgm:cxn modelId="{4885A6CA-12A8-4D9D-BDAF-7F48A159AD45}" type="presOf" srcId="{D52BF3F9-9ABA-4241-AC77-8DC56655DE25}" destId="{2308D4B3-8A94-4F01-A1CD-6D3FE0E6B3D3}" srcOrd="0" destOrd="0" presId="urn:microsoft.com/office/officeart/2005/8/layout/lProcess2"/>
    <dgm:cxn modelId="{728B4ED7-2032-459C-ACF0-19134C7FD833}" type="presOf" srcId="{CFAC7329-3741-4C0E-A67D-ED7BCFA4EB35}" destId="{8F53F22D-2D58-4C71-BDAA-873CB882D5F3}" srcOrd="0" destOrd="0" presId="urn:microsoft.com/office/officeart/2005/8/layout/lProcess2"/>
    <dgm:cxn modelId="{1141F3DF-C711-4D48-9CE7-A488451BDA01}" srcId="{EA7E0DEF-8E31-46A1-8BBF-59B1595A8275}" destId="{D52BF3F9-9ABA-4241-AC77-8DC56655DE25}" srcOrd="0" destOrd="0" parTransId="{44393429-9FEA-41FC-9460-EE4061EC3C8F}" sibTransId="{F5368824-92C1-4D9E-AB74-3319C6317F2D}"/>
    <dgm:cxn modelId="{7A467E5F-11D3-448E-A73B-9E6635575FE2}" type="presParOf" srcId="{8F53F22D-2D58-4C71-BDAA-873CB882D5F3}" destId="{C065151E-AC7B-4C64-A608-21968640FB41}" srcOrd="0" destOrd="0" presId="urn:microsoft.com/office/officeart/2005/8/layout/lProcess2"/>
    <dgm:cxn modelId="{5EE82450-8CA0-4AC1-90DD-FA11CCF996F7}" type="presParOf" srcId="{C065151E-AC7B-4C64-A608-21968640FB41}" destId="{5CCE0585-D949-4566-BF76-D02D180BBC12}" srcOrd="0" destOrd="0" presId="urn:microsoft.com/office/officeart/2005/8/layout/lProcess2"/>
    <dgm:cxn modelId="{21119237-F77C-4ACF-BA85-1384DBB358F3}" type="presParOf" srcId="{C065151E-AC7B-4C64-A608-21968640FB41}" destId="{F75CC956-7E04-492A-912D-FC34FFB91C97}" srcOrd="1" destOrd="0" presId="urn:microsoft.com/office/officeart/2005/8/layout/lProcess2"/>
    <dgm:cxn modelId="{4F9282FC-DBD2-4970-9C10-C274EDEBE6A5}" type="presParOf" srcId="{C065151E-AC7B-4C64-A608-21968640FB41}" destId="{0416AFC6-B581-462D-8DDE-C303F0CC9F6F}" srcOrd="2" destOrd="0" presId="urn:microsoft.com/office/officeart/2005/8/layout/lProcess2"/>
    <dgm:cxn modelId="{74BB2A31-A510-4CE1-94EF-B5D3F03358A5}" type="presParOf" srcId="{0416AFC6-B581-462D-8DDE-C303F0CC9F6F}" destId="{FF0FC2CC-5B09-487D-9A1F-D8D2C77B9663}" srcOrd="0" destOrd="0" presId="urn:microsoft.com/office/officeart/2005/8/layout/lProcess2"/>
    <dgm:cxn modelId="{55550BCE-48F0-40C2-815B-4B27E9639F13}" type="presParOf" srcId="{FF0FC2CC-5B09-487D-9A1F-D8D2C77B9663}" destId="{D183681B-6788-4510-8244-33ABDB9FA7A6}" srcOrd="0" destOrd="0" presId="urn:microsoft.com/office/officeart/2005/8/layout/lProcess2"/>
    <dgm:cxn modelId="{536C29EE-4C38-42BB-BAC5-55FAA45C7CD9}" type="presParOf" srcId="{FF0FC2CC-5B09-487D-9A1F-D8D2C77B9663}" destId="{8AD3A303-C6AA-4DBD-9D8F-7FE8D03E85AA}" srcOrd="1" destOrd="0" presId="urn:microsoft.com/office/officeart/2005/8/layout/lProcess2"/>
    <dgm:cxn modelId="{B13FCFCE-8AF8-4351-BEAE-1E63445E20B4}" type="presParOf" srcId="{FF0FC2CC-5B09-487D-9A1F-D8D2C77B9663}" destId="{D871E045-0D3A-446B-875E-5BEA2EC2B98B}" srcOrd="2" destOrd="0" presId="urn:microsoft.com/office/officeart/2005/8/layout/lProcess2"/>
    <dgm:cxn modelId="{E9B13334-8F96-4380-84BC-39DF525FDC9B}" type="presParOf" srcId="{8F53F22D-2D58-4C71-BDAA-873CB882D5F3}" destId="{D006BA4A-CFDC-42C3-A22E-6773F69E63C3}" srcOrd="1" destOrd="0" presId="urn:microsoft.com/office/officeart/2005/8/layout/lProcess2"/>
    <dgm:cxn modelId="{88D6A59D-F48C-45DC-8ED3-5ED00AA37790}" type="presParOf" srcId="{8F53F22D-2D58-4C71-BDAA-873CB882D5F3}" destId="{75F40420-7778-4C0C-80A2-4B27179AFCF0}" srcOrd="2" destOrd="0" presId="urn:microsoft.com/office/officeart/2005/8/layout/lProcess2"/>
    <dgm:cxn modelId="{7F64A8B4-0F2B-408B-991F-EB9B70B81638}" type="presParOf" srcId="{75F40420-7778-4C0C-80A2-4B27179AFCF0}" destId="{7585489D-9D2F-4D31-9D4C-5AB50C9A29FA}" srcOrd="0" destOrd="0" presId="urn:microsoft.com/office/officeart/2005/8/layout/lProcess2"/>
    <dgm:cxn modelId="{9F8374B0-E2E3-41BE-BDA2-54ABB70B355B}" type="presParOf" srcId="{75F40420-7778-4C0C-80A2-4B27179AFCF0}" destId="{4998B580-DF37-45D3-BBDA-B2B85FE9A112}" srcOrd="1" destOrd="0" presId="urn:microsoft.com/office/officeart/2005/8/layout/lProcess2"/>
    <dgm:cxn modelId="{3D990148-1609-4FCB-BF29-A9569C2416C1}" type="presParOf" srcId="{75F40420-7778-4C0C-80A2-4B27179AFCF0}" destId="{C3BAEA19-DDA7-48E6-A503-5600CE08E564}" srcOrd="2" destOrd="0" presId="urn:microsoft.com/office/officeart/2005/8/layout/lProcess2"/>
    <dgm:cxn modelId="{B1139D54-A856-453E-97A8-45E031EFA8CE}" type="presParOf" srcId="{C3BAEA19-DDA7-48E6-A503-5600CE08E564}" destId="{D09523D3-8970-471E-AEA7-60F681A853D6}" srcOrd="0" destOrd="0" presId="urn:microsoft.com/office/officeart/2005/8/layout/lProcess2"/>
    <dgm:cxn modelId="{E6AAA26F-F86E-4EB0-896D-723D6EA5C977}" type="presParOf" srcId="{D09523D3-8970-471E-AEA7-60F681A853D6}" destId="{2308D4B3-8A94-4F01-A1CD-6D3FE0E6B3D3}" srcOrd="0" destOrd="0" presId="urn:microsoft.com/office/officeart/2005/8/layout/lProcess2"/>
    <dgm:cxn modelId="{5917E27F-5EA0-4E13-9262-ED5B509BF984}" type="presParOf" srcId="{D09523D3-8970-471E-AEA7-60F681A853D6}" destId="{C6902A0F-2D66-4666-A151-BF293D009642}" srcOrd="1" destOrd="0" presId="urn:microsoft.com/office/officeart/2005/8/layout/lProcess2"/>
    <dgm:cxn modelId="{35281C20-420C-4C92-AEF8-182D3214174C}" type="presParOf" srcId="{D09523D3-8970-471E-AEA7-60F681A853D6}" destId="{33ECD6FF-F077-4874-B06E-403BF190822C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6E1E43-DC77-4DF5-97A7-BE8297102B40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6FBF0F2B-6D0C-470E-9DD6-ED4327E19036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网桥</a:t>
          </a:r>
        </a:p>
      </dgm:t>
    </dgm:pt>
    <dgm:pt modelId="{88BDFA9A-37DB-4F5E-803F-36858AF92B53}" type="parTrans" cxnId="{9F9E1816-7136-4EAD-AC7B-9FC12B651495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76E0799-1C77-48E7-9F8F-2029D02A2294}" type="sibTrans" cxnId="{9F9E1816-7136-4EAD-AC7B-9FC12B651495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0A4438E-047E-4453-A74F-8BBAE67749BE}">
      <dgm:prSet phldrT="[文本]" custT="1"/>
      <dgm:spPr/>
      <dgm:t>
        <a:bodyPr/>
        <a:lstStyle/>
        <a:p>
          <a:pPr>
            <a:spcAft>
              <a:spcPts val="0"/>
            </a:spcAft>
          </a:pP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工作在数据链路层。</a:t>
          </a:r>
        </a:p>
      </dgm:t>
    </dgm:pt>
    <dgm:pt modelId="{9FF74A6E-8CAC-4097-BF5F-980512A618B4}" type="parTrans" cxnId="{236BF05C-B0D3-4D96-B6CF-CADF31483E55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3E8B67-C16E-4E14-8DC0-DFFE8C0FF7CB}" type="sibTrans" cxnId="{236BF05C-B0D3-4D96-B6CF-CADF31483E55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EA28F79-6C66-41FE-8EEA-7BA2A33C4C1F}">
      <dgm:prSet phldrT="[文本]" custT="1"/>
      <dgm:spPr/>
      <dgm:t>
        <a:bodyPr/>
        <a:lstStyle/>
        <a:p>
          <a:r>
            <a:rPr lang="zh-CN" altLang="en-US" sz="20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交换机</a:t>
          </a:r>
        </a:p>
      </dgm:t>
    </dgm:pt>
    <dgm:pt modelId="{6BC136E0-9821-4AF8-88BF-F27F534C7EEF}" type="parTrans" cxnId="{B9577611-7E7C-46DA-9037-70DF80DEC04E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A98B8E7-1B61-4028-8C74-2FCF2DACC316}" type="sibTrans" cxnId="{B9577611-7E7C-46DA-9037-70DF80DEC04E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08E7C3E-5AAC-4C93-8613-7B550324E44B}">
      <dgm:prSet phldrT="[文本]" custT="1"/>
      <dgm:spPr/>
      <dgm:t>
        <a:bodyPr/>
        <a:lstStyle/>
        <a:p>
          <a:pPr>
            <a:spcAft>
              <a:spcPts val="0"/>
            </a:spcAft>
          </a:pP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工作在数据链路层。</a:t>
          </a:r>
        </a:p>
      </dgm:t>
    </dgm:pt>
    <dgm:pt modelId="{3CDDBB60-C89F-4A41-A453-3CA57823F549}" type="parTrans" cxnId="{60FFE8D7-693C-4210-A06C-B45306C8DC48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349BA6-01D1-498C-9A8E-6D50ABB32740}" type="sibTrans" cxnId="{60FFE8D7-693C-4210-A06C-B45306C8DC48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7A24BD-CC73-4BA6-95AB-A6BEC47ABE9C}">
      <dgm:prSet custT="1"/>
      <dgm:spPr/>
      <dgm:t>
        <a:bodyPr/>
        <a:lstStyle/>
        <a:p>
          <a:pPr>
            <a:spcAft>
              <a:spcPts val="0"/>
            </a:spcAft>
          </a:pP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根据 </a:t>
          </a:r>
          <a:r>
            <a:rPr lang="en-US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MAC </a:t>
          </a: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帧的目的地址对收到的帧进行转发和过滤。或者转发，或者丢弃。</a:t>
          </a:r>
        </a:p>
      </dgm:t>
    </dgm:pt>
    <dgm:pt modelId="{D7B48A78-DEB0-4EDB-90B4-146D17F1650B}" type="parTrans" cxnId="{0059E5B1-A948-4057-BDA0-098347C66CE4}">
      <dgm:prSet/>
      <dgm:spPr/>
      <dgm:t>
        <a:bodyPr/>
        <a:lstStyle/>
        <a:p>
          <a:endParaRPr lang="zh-CN" altLang="en-US"/>
        </a:p>
      </dgm:t>
    </dgm:pt>
    <dgm:pt modelId="{A6B9A87C-0357-4A4A-95E8-7C8F56560CD6}" type="sibTrans" cxnId="{0059E5B1-A948-4057-BDA0-098347C66CE4}">
      <dgm:prSet/>
      <dgm:spPr/>
      <dgm:t>
        <a:bodyPr/>
        <a:lstStyle/>
        <a:p>
          <a:endParaRPr lang="zh-CN" altLang="en-US"/>
        </a:p>
      </dgm:t>
    </dgm:pt>
    <dgm:pt modelId="{CCF474DB-4B52-4B17-8863-D5594EEB30F4}">
      <dgm:prSet phldrT="[文本]" custT="1"/>
      <dgm:spPr/>
      <dgm:t>
        <a:bodyPr/>
        <a:lstStyle/>
        <a:p>
          <a:pPr>
            <a:spcAft>
              <a:spcPts val="0"/>
            </a:spcAft>
          </a:pP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可明显地提高以太网的性能。</a:t>
          </a:r>
        </a:p>
      </dgm:t>
    </dgm:pt>
    <dgm:pt modelId="{26E9EE1F-97A9-47B9-8B5D-92A6BE25297A}" type="parTrans" cxnId="{145DE3B4-3E47-4A3B-8525-0AE54736F53F}">
      <dgm:prSet/>
      <dgm:spPr/>
      <dgm:t>
        <a:bodyPr/>
        <a:lstStyle/>
        <a:p>
          <a:endParaRPr lang="zh-CN" altLang="en-US"/>
        </a:p>
      </dgm:t>
    </dgm:pt>
    <dgm:pt modelId="{687FEC73-C92A-4C08-AF12-D730BE1878A2}" type="sibTrans" cxnId="{145DE3B4-3E47-4A3B-8525-0AE54736F53F}">
      <dgm:prSet/>
      <dgm:spPr/>
      <dgm:t>
        <a:bodyPr/>
        <a:lstStyle/>
        <a:p>
          <a:endParaRPr lang="zh-CN" altLang="en-US"/>
        </a:p>
      </dgm:t>
    </dgm:pt>
    <dgm:pt modelId="{B6984FD9-D334-4A52-823F-25C182ED128B}">
      <dgm:prSet phldrT="[文本]" custT="1"/>
      <dgm:spPr/>
      <dgm:t>
        <a:bodyPr/>
        <a:lstStyle/>
        <a:p>
          <a:pPr>
            <a:spcAft>
              <a:spcPts val="0"/>
            </a:spcAft>
          </a:pP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多端口的网桥。</a:t>
          </a:r>
        </a:p>
      </dgm:t>
    </dgm:pt>
    <dgm:pt modelId="{4EF3C34F-B5CA-4734-9D3C-574CB54A5FC8}" type="parTrans" cxnId="{E46C9F91-678A-4C9D-B0BF-C806F52D9990}">
      <dgm:prSet/>
      <dgm:spPr/>
      <dgm:t>
        <a:bodyPr/>
        <a:lstStyle/>
        <a:p>
          <a:endParaRPr lang="zh-CN" altLang="en-US"/>
        </a:p>
      </dgm:t>
    </dgm:pt>
    <dgm:pt modelId="{459714D1-69EB-492E-9AF1-96D91B7CAC59}" type="sibTrans" cxnId="{E46C9F91-678A-4C9D-B0BF-C806F52D9990}">
      <dgm:prSet/>
      <dgm:spPr/>
      <dgm:t>
        <a:bodyPr/>
        <a:lstStyle/>
        <a:p>
          <a:endParaRPr lang="zh-CN" altLang="en-US"/>
        </a:p>
      </dgm:t>
    </dgm:pt>
    <dgm:pt modelId="{52B1A874-96A1-4E35-B958-0A7974A8C513}" type="pres">
      <dgm:prSet presAssocID="{A26E1E43-DC77-4DF5-97A7-BE8297102B40}" presName="Name0" presStyleCnt="0">
        <dgm:presLayoutVars>
          <dgm:dir/>
          <dgm:animLvl val="lvl"/>
          <dgm:resizeHandles val="exact"/>
        </dgm:presLayoutVars>
      </dgm:prSet>
      <dgm:spPr/>
    </dgm:pt>
    <dgm:pt modelId="{C00594F7-61AA-4B92-AD62-502AF1A711D7}" type="pres">
      <dgm:prSet presAssocID="{6FBF0F2B-6D0C-470E-9DD6-ED4327E19036}" presName="linNode" presStyleCnt="0"/>
      <dgm:spPr/>
    </dgm:pt>
    <dgm:pt modelId="{B903DF94-6FEE-4401-9797-6C1F42B1C9CC}" type="pres">
      <dgm:prSet presAssocID="{6FBF0F2B-6D0C-470E-9DD6-ED4327E19036}" presName="parentText" presStyleLbl="node1" presStyleIdx="0" presStyleCnt="2" custScaleX="56275">
        <dgm:presLayoutVars>
          <dgm:chMax val="1"/>
          <dgm:bulletEnabled val="1"/>
        </dgm:presLayoutVars>
      </dgm:prSet>
      <dgm:spPr/>
    </dgm:pt>
    <dgm:pt modelId="{CD1D3161-44F0-46C8-9775-F9F619010D1C}" type="pres">
      <dgm:prSet presAssocID="{6FBF0F2B-6D0C-470E-9DD6-ED4327E19036}" presName="descendantText" presStyleLbl="alignAccFollowNode1" presStyleIdx="0" presStyleCnt="2" custScaleX="110167">
        <dgm:presLayoutVars>
          <dgm:bulletEnabled val="1"/>
        </dgm:presLayoutVars>
      </dgm:prSet>
      <dgm:spPr/>
    </dgm:pt>
    <dgm:pt modelId="{D73C84C0-9DCB-4A15-B103-427A9A97A5FD}" type="pres">
      <dgm:prSet presAssocID="{076E0799-1C77-48E7-9F8F-2029D02A2294}" presName="sp" presStyleCnt="0"/>
      <dgm:spPr/>
    </dgm:pt>
    <dgm:pt modelId="{05F9B76C-DE49-4BF3-91D3-F8EBF7E3EB09}" type="pres">
      <dgm:prSet presAssocID="{0EA28F79-6C66-41FE-8EEA-7BA2A33C4C1F}" presName="linNode" presStyleCnt="0"/>
      <dgm:spPr/>
    </dgm:pt>
    <dgm:pt modelId="{E226D937-2558-4357-B724-B830C97D69FA}" type="pres">
      <dgm:prSet presAssocID="{0EA28F79-6C66-41FE-8EEA-7BA2A33C4C1F}" presName="parentText" presStyleLbl="node1" presStyleIdx="1" presStyleCnt="2" custScaleX="56275">
        <dgm:presLayoutVars>
          <dgm:chMax val="1"/>
          <dgm:bulletEnabled val="1"/>
        </dgm:presLayoutVars>
      </dgm:prSet>
      <dgm:spPr/>
    </dgm:pt>
    <dgm:pt modelId="{49D409B5-470A-4824-A486-F28F43FEC9BC}" type="pres">
      <dgm:prSet presAssocID="{0EA28F79-6C66-41FE-8EEA-7BA2A33C4C1F}" presName="descendantText" presStyleLbl="alignAccFollowNode1" presStyleIdx="1" presStyleCnt="2" custScaleX="110167">
        <dgm:presLayoutVars>
          <dgm:bulletEnabled val="1"/>
        </dgm:presLayoutVars>
      </dgm:prSet>
      <dgm:spPr/>
    </dgm:pt>
  </dgm:ptLst>
  <dgm:cxnLst>
    <dgm:cxn modelId="{F83CFA0F-D71B-4951-87AB-35C9A3566FC9}" type="presOf" srcId="{10A4438E-047E-4453-A74F-8BBAE67749BE}" destId="{CD1D3161-44F0-46C8-9775-F9F619010D1C}" srcOrd="0" destOrd="0" presId="urn:microsoft.com/office/officeart/2005/8/layout/vList5"/>
    <dgm:cxn modelId="{B9577611-7E7C-46DA-9037-70DF80DEC04E}" srcId="{A26E1E43-DC77-4DF5-97A7-BE8297102B40}" destId="{0EA28F79-6C66-41FE-8EEA-7BA2A33C4C1F}" srcOrd="1" destOrd="0" parTransId="{6BC136E0-9821-4AF8-88BF-F27F534C7EEF}" sibTransId="{CA98B8E7-1B61-4028-8C74-2FCF2DACC316}"/>
    <dgm:cxn modelId="{9F9E1816-7136-4EAD-AC7B-9FC12B651495}" srcId="{A26E1E43-DC77-4DF5-97A7-BE8297102B40}" destId="{6FBF0F2B-6D0C-470E-9DD6-ED4327E19036}" srcOrd="0" destOrd="0" parTransId="{88BDFA9A-37DB-4F5E-803F-36858AF92B53}" sibTransId="{076E0799-1C77-48E7-9F8F-2029D02A2294}"/>
    <dgm:cxn modelId="{EAFBFE3B-4024-474C-A029-9E0DB22BD2F4}" type="presOf" srcId="{508E7C3E-5AAC-4C93-8613-7B550324E44B}" destId="{49D409B5-470A-4824-A486-F28F43FEC9BC}" srcOrd="0" destOrd="0" presId="urn:microsoft.com/office/officeart/2005/8/layout/vList5"/>
    <dgm:cxn modelId="{236BF05C-B0D3-4D96-B6CF-CADF31483E55}" srcId="{6FBF0F2B-6D0C-470E-9DD6-ED4327E19036}" destId="{10A4438E-047E-4453-A74F-8BBAE67749BE}" srcOrd="0" destOrd="0" parTransId="{9FF74A6E-8CAC-4097-BF5F-980512A618B4}" sibTransId="{D63E8B67-C16E-4E14-8DC0-DFFE8C0FF7CB}"/>
    <dgm:cxn modelId="{37FA9762-D989-4850-9B32-CCE71EA5FE64}" type="presOf" srcId="{0EA28F79-6C66-41FE-8EEA-7BA2A33C4C1F}" destId="{E226D937-2558-4357-B724-B830C97D69FA}" srcOrd="0" destOrd="0" presId="urn:microsoft.com/office/officeart/2005/8/layout/vList5"/>
    <dgm:cxn modelId="{DF1FA171-AFF5-4AAA-9D90-F26069DEEC5D}" type="presOf" srcId="{6FBF0F2B-6D0C-470E-9DD6-ED4327E19036}" destId="{B903DF94-6FEE-4401-9797-6C1F42B1C9CC}" srcOrd="0" destOrd="0" presId="urn:microsoft.com/office/officeart/2005/8/layout/vList5"/>
    <dgm:cxn modelId="{328E1074-5789-4D41-8FEE-CDC1DF8C4C74}" type="presOf" srcId="{A26E1E43-DC77-4DF5-97A7-BE8297102B40}" destId="{52B1A874-96A1-4E35-B958-0A7974A8C513}" srcOrd="0" destOrd="0" presId="urn:microsoft.com/office/officeart/2005/8/layout/vList5"/>
    <dgm:cxn modelId="{9607B858-EBDB-47D5-9016-2BD702F588AD}" type="presOf" srcId="{3D7A24BD-CC73-4BA6-95AB-A6BEC47ABE9C}" destId="{CD1D3161-44F0-46C8-9775-F9F619010D1C}" srcOrd="0" destOrd="1" presId="urn:microsoft.com/office/officeart/2005/8/layout/vList5"/>
    <dgm:cxn modelId="{AFAF0979-7DDA-44A4-989A-A1CC45DA5A15}" type="presOf" srcId="{B6984FD9-D334-4A52-823F-25C182ED128B}" destId="{49D409B5-470A-4824-A486-F28F43FEC9BC}" srcOrd="0" destOrd="1" presId="urn:microsoft.com/office/officeart/2005/8/layout/vList5"/>
    <dgm:cxn modelId="{E46C9F91-678A-4C9D-B0BF-C806F52D9990}" srcId="{0EA28F79-6C66-41FE-8EEA-7BA2A33C4C1F}" destId="{B6984FD9-D334-4A52-823F-25C182ED128B}" srcOrd="1" destOrd="0" parTransId="{4EF3C34F-B5CA-4734-9D3C-574CB54A5FC8}" sibTransId="{459714D1-69EB-492E-9AF1-96D91B7CAC59}"/>
    <dgm:cxn modelId="{F7D5F396-DB31-41D8-8AA3-D46BE1E69D9A}" type="presOf" srcId="{CCF474DB-4B52-4B17-8863-D5594EEB30F4}" destId="{49D409B5-470A-4824-A486-F28F43FEC9BC}" srcOrd="0" destOrd="2" presId="urn:microsoft.com/office/officeart/2005/8/layout/vList5"/>
    <dgm:cxn modelId="{0059E5B1-A948-4057-BDA0-098347C66CE4}" srcId="{6FBF0F2B-6D0C-470E-9DD6-ED4327E19036}" destId="{3D7A24BD-CC73-4BA6-95AB-A6BEC47ABE9C}" srcOrd="1" destOrd="0" parTransId="{D7B48A78-DEB0-4EDB-90B4-146D17F1650B}" sibTransId="{A6B9A87C-0357-4A4A-95E8-7C8F56560CD6}"/>
    <dgm:cxn modelId="{145DE3B4-3E47-4A3B-8525-0AE54736F53F}" srcId="{0EA28F79-6C66-41FE-8EEA-7BA2A33C4C1F}" destId="{CCF474DB-4B52-4B17-8863-D5594EEB30F4}" srcOrd="2" destOrd="0" parTransId="{26E9EE1F-97A9-47B9-8B5D-92A6BE25297A}" sibTransId="{687FEC73-C92A-4C08-AF12-D730BE1878A2}"/>
    <dgm:cxn modelId="{60FFE8D7-693C-4210-A06C-B45306C8DC48}" srcId="{0EA28F79-6C66-41FE-8EEA-7BA2A33C4C1F}" destId="{508E7C3E-5AAC-4C93-8613-7B550324E44B}" srcOrd="0" destOrd="0" parTransId="{3CDDBB60-C89F-4A41-A453-3CA57823F549}" sibTransId="{AD349BA6-01D1-498C-9A8E-6D50ABB32740}"/>
    <dgm:cxn modelId="{47FFF8B7-6129-4A67-B236-C27689EBA1CA}" type="presParOf" srcId="{52B1A874-96A1-4E35-B958-0A7974A8C513}" destId="{C00594F7-61AA-4B92-AD62-502AF1A711D7}" srcOrd="0" destOrd="0" presId="urn:microsoft.com/office/officeart/2005/8/layout/vList5"/>
    <dgm:cxn modelId="{D9D6C643-95FA-4D7A-BAF5-3909BD32DFA5}" type="presParOf" srcId="{C00594F7-61AA-4B92-AD62-502AF1A711D7}" destId="{B903DF94-6FEE-4401-9797-6C1F42B1C9CC}" srcOrd="0" destOrd="0" presId="urn:microsoft.com/office/officeart/2005/8/layout/vList5"/>
    <dgm:cxn modelId="{22761CC4-18BC-4BC1-A323-8ED1D0F99AC2}" type="presParOf" srcId="{C00594F7-61AA-4B92-AD62-502AF1A711D7}" destId="{CD1D3161-44F0-46C8-9775-F9F619010D1C}" srcOrd="1" destOrd="0" presId="urn:microsoft.com/office/officeart/2005/8/layout/vList5"/>
    <dgm:cxn modelId="{DB072BE1-65A5-4775-98DF-4AC90F7D1D56}" type="presParOf" srcId="{52B1A874-96A1-4E35-B958-0A7974A8C513}" destId="{D73C84C0-9DCB-4A15-B103-427A9A97A5FD}" srcOrd="1" destOrd="0" presId="urn:microsoft.com/office/officeart/2005/8/layout/vList5"/>
    <dgm:cxn modelId="{56A5CD03-F2BD-4CD6-BAE2-B3E90C79C641}" type="presParOf" srcId="{52B1A874-96A1-4E35-B958-0A7974A8C513}" destId="{05F9B76C-DE49-4BF3-91D3-F8EBF7E3EB09}" srcOrd="2" destOrd="0" presId="urn:microsoft.com/office/officeart/2005/8/layout/vList5"/>
    <dgm:cxn modelId="{CE35B43C-66F9-41A1-B924-623A233AC40F}" type="presParOf" srcId="{05F9B76C-DE49-4BF3-91D3-F8EBF7E3EB09}" destId="{E226D937-2558-4357-B724-B830C97D69FA}" srcOrd="0" destOrd="0" presId="urn:microsoft.com/office/officeart/2005/8/layout/vList5"/>
    <dgm:cxn modelId="{996B1104-13A5-4C45-9AE3-1E7D44118FAE}" type="presParOf" srcId="{05F9B76C-DE49-4BF3-91D3-F8EBF7E3EB09}" destId="{49D409B5-470A-4824-A486-F28F43FEC9B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708020-4687-41CF-9D7F-6F2391C11BAA}" type="doc">
      <dgm:prSet loTypeId="urn:microsoft.com/office/officeart/2005/8/layout/hList1" loCatId="list" qsTypeId="urn:microsoft.com/office/officeart/2005/8/quickstyle/simple1" qsCatId="simple" csTypeId="urn:microsoft.com/office/officeart/2005/8/colors/colorful1#4" csCatId="colorful" phldr="1"/>
      <dgm:spPr/>
      <dgm:t>
        <a:bodyPr/>
        <a:lstStyle/>
        <a:p>
          <a:endParaRPr lang="zh-CN" altLang="en-US"/>
        </a:p>
      </dgm:t>
    </dgm:pt>
    <dgm:pt modelId="{99011571-F4E1-4446-A8BE-18E70C05927B}">
      <dgm:prSet phldrT="[文本]" custT="1"/>
      <dgm:spPr/>
      <dgm:t>
        <a:bodyPr/>
        <a:lstStyle/>
        <a:p>
          <a:r>
            <a: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IP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gm:t>
    </dgm:pt>
    <dgm:pt modelId="{4C539E80-9E04-44A9-8367-F7E03B34B249}" type="parTrans" cxnId="{C8E5120F-C10C-4AB6-8450-9F3E16AB7EB6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F7FCDC9-D001-4CEE-A5E4-71C7F184525C}" type="sibTrans" cxnId="{C8E5120F-C10C-4AB6-8450-9F3E16AB7EB6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D62A53-8D22-4EE5-8913-0BBACA2364E4}">
      <dgm:prSet phldrT="[文本]" custT="1"/>
      <dgm:spPr/>
      <dgm:t>
        <a:bodyPr/>
        <a:lstStyle/>
        <a:p>
          <a:r>
            <a: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虚拟地址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、软件地址、</a:t>
          </a:r>
          <a:r>
            <a: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逻辑地址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54C85AAA-179D-4E68-BF2A-FFEED0DDB07F}" type="parTrans" cxnId="{940E770D-49F6-4FC5-86C8-41A8CE548E49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5217E7-DE89-4742-BCCD-8BFF0AF57BAD}" type="sibTrans" cxnId="{940E770D-49F6-4FC5-86C8-41A8CE548E49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40657A4-D7B8-468B-A5F4-A2D889160995}">
      <dgm:prSet phldrT="[文本]" custT="1"/>
      <dgm:spPr/>
      <dgm:t>
        <a:bodyPr/>
        <a:lstStyle/>
        <a:p>
          <a:r>
            <a: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MAC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gm:t>
    </dgm:pt>
    <dgm:pt modelId="{A7FDB1D6-023E-42DF-BB39-2015EF26DC0F}" type="parTrans" cxnId="{CBF248CA-6463-4657-9F43-AF669DCBF514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09BF549-D68B-48BC-A9E0-62B2344773D6}" type="sibTrans" cxnId="{CBF248CA-6463-4657-9F43-AF669DCBF514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79BE541-745A-4292-8465-C36F8EDD321B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固化在网卡上的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ROM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中。</a:t>
          </a:r>
        </a:p>
      </dgm:t>
    </dgm:pt>
    <dgm:pt modelId="{5FBA12F4-C84B-4A28-AE84-34210DDD6316}" type="parTrans" cxnId="{12E18449-C8D2-4FBD-A252-91AE228C6AF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E35C864-7EA2-4C2D-AC52-3EE5ABADC5B9}" type="sibTrans" cxnId="{12E18449-C8D2-4FBD-A252-91AE228C6AF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3B3BA4-3778-4402-B1E1-C8CFA33A382D}">
      <dgm:prSet phldrT="[文本]" custT="1"/>
      <dgm:spPr/>
      <dgm:t>
        <a:bodyPr/>
        <a:lstStyle/>
        <a:p>
          <a:r>
            <a: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硬件地址、物理地址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A03C24AB-8B7A-424E-9BC6-9376C33A0BF3}" type="parTrans" cxnId="{FEDB8DEC-B553-4BBF-92EA-A2D2D5DF7CE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BCC1D41-9035-4D7E-9009-AC68C1CAF263}" type="sibTrans" cxnId="{FEDB8DEC-B553-4BBF-92EA-A2D2D5DF7CE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DE000F3-D6C1-4803-A1E5-DC524A4AE480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数据链路层使用。</a:t>
          </a:r>
        </a:p>
      </dgm:t>
    </dgm:pt>
    <dgm:pt modelId="{C64D28C4-25B8-4CDC-8A89-C1CF980BB5C1}" type="parTrans" cxnId="{EF82BF05-16DC-4EA5-9A44-1323F3F73B87}">
      <dgm:prSet/>
      <dgm:spPr/>
      <dgm:t>
        <a:bodyPr/>
        <a:lstStyle/>
        <a:p>
          <a:endParaRPr lang="zh-CN" altLang="en-US"/>
        </a:p>
      </dgm:t>
    </dgm:pt>
    <dgm:pt modelId="{30D97064-16C7-4998-BF1A-DB22B53CF04E}" type="sibTrans" cxnId="{EF82BF05-16DC-4EA5-9A44-1323F3F73B87}">
      <dgm:prSet/>
      <dgm:spPr/>
      <dgm:t>
        <a:bodyPr/>
        <a:lstStyle/>
        <a:p>
          <a:endParaRPr lang="zh-CN" altLang="en-US"/>
        </a:p>
      </dgm:t>
    </dgm:pt>
    <dgm:pt modelId="{09A8615C-F22C-48F1-9E19-B8FC9AF13FE9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网络层和以上各层使用。</a:t>
          </a:r>
        </a:p>
      </dgm:t>
    </dgm:pt>
    <dgm:pt modelId="{5BD54EF1-4FAB-4065-92C9-BCE2DE81E584}" type="parTrans" cxnId="{A458A4B0-84AA-49EA-8BDC-E4ABE46A7F6F}">
      <dgm:prSet/>
      <dgm:spPr/>
      <dgm:t>
        <a:bodyPr/>
        <a:lstStyle/>
        <a:p>
          <a:endParaRPr lang="zh-CN" altLang="en-US"/>
        </a:p>
      </dgm:t>
    </dgm:pt>
    <dgm:pt modelId="{FB609984-1C85-4848-A207-F57B125554A5}" type="sibTrans" cxnId="{A458A4B0-84AA-49EA-8BDC-E4ABE46A7F6F}">
      <dgm:prSet/>
      <dgm:spPr/>
      <dgm:t>
        <a:bodyPr/>
        <a:lstStyle/>
        <a:p>
          <a:endParaRPr lang="zh-CN" altLang="en-US"/>
        </a:p>
      </dgm:t>
    </dgm:pt>
    <dgm:pt modelId="{323295A5-C594-443E-A7E6-624EA9254300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放在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IP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数据报的首部。</a:t>
          </a:r>
        </a:p>
      </dgm:t>
    </dgm:pt>
    <dgm:pt modelId="{200A6130-5C46-4C63-9F44-D454E24722AF}" type="parTrans" cxnId="{2A705B60-B7F3-4BE3-9093-3C1BB2EBCFB5}">
      <dgm:prSet/>
      <dgm:spPr/>
      <dgm:t>
        <a:bodyPr/>
        <a:lstStyle/>
        <a:p>
          <a:endParaRPr lang="zh-CN" altLang="en-US"/>
        </a:p>
      </dgm:t>
    </dgm:pt>
    <dgm:pt modelId="{3830A99E-A088-46F1-9D7A-13AD7413F170}" type="sibTrans" cxnId="{2A705B60-B7F3-4BE3-9093-3C1BB2EBCFB5}">
      <dgm:prSet/>
      <dgm:spPr/>
      <dgm:t>
        <a:bodyPr/>
        <a:lstStyle/>
        <a:p>
          <a:endParaRPr lang="zh-CN" altLang="en-US"/>
        </a:p>
      </dgm:t>
    </dgm:pt>
    <dgm:pt modelId="{0185F6EB-9C9F-4E3E-A388-326818E44F8C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放在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MAC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帧的首部。</a:t>
          </a:r>
        </a:p>
      </dgm:t>
    </dgm:pt>
    <dgm:pt modelId="{572D545C-3C53-4B90-9A13-8FCA514B982D}" type="parTrans" cxnId="{C181352A-C0B0-4BDB-AF70-349C9595E6B5}">
      <dgm:prSet/>
      <dgm:spPr/>
      <dgm:t>
        <a:bodyPr/>
        <a:lstStyle/>
        <a:p>
          <a:endParaRPr lang="zh-CN" altLang="en-US"/>
        </a:p>
      </dgm:t>
    </dgm:pt>
    <dgm:pt modelId="{130173EF-01ED-485B-B8BB-D3163CE124C9}" type="sibTrans" cxnId="{C181352A-C0B0-4BDB-AF70-349C9595E6B5}">
      <dgm:prSet/>
      <dgm:spPr/>
      <dgm:t>
        <a:bodyPr/>
        <a:lstStyle/>
        <a:p>
          <a:endParaRPr lang="zh-CN" altLang="en-US"/>
        </a:p>
      </dgm:t>
    </dgm:pt>
    <dgm:pt modelId="{F3972236-93CB-4A8C-9066-D6256CD361C1}" type="pres">
      <dgm:prSet presAssocID="{AD708020-4687-41CF-9D7F-6F2391C11BAA}" presName="Name0" presStyleCnt="0">
        <dgm:presLayoutVars>
          <dgm:dir/>
          <dgm:animLvl val="lvl"/>
          <dgm:resizeHandles val="exact"/>
        </dgm:presLayoutVars>
      </dgm:prSet>
      <dgm:spPr/>
    </dgm:pt>
    <dgm:pt modelId="{E2C272DD-8977-4A4D-9E5A-865A155C8D0C}" type="pres">
      <dgm:prSet presAssocID="{99011571-F4E1-4446-A8BE-18E70C05927B}" presName="composite" presStyleCnt="0"/>
      <dgm:spPr/>
    </dgm:pt>
    <dgm:pt modelId="{8A93C829-AB1E-47B7-AF09-3489EE20D87D}" type="pres">
      <dgm:prSet presAssocID="{99011571-F4E1-4446-A8BE-18E70C05927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DDE5FA6-A293-4009-AA1F-EF295D5FC61B}" type="pres">
      <dgm:prSet presAssocID="{99011571-F4E1-4446-A8BE-18E70C05927B}" presName="desTx" presStyleLbl="alignAccFollowNode1" presStyleIdx="0" presStyleCnt="2">
        <dgm:presLayoutVars>
          <dgm:bulletEnabled val="1"/>
        </dgm:presLayoutVars>
      </dgm:prSet>
      <dgm:spPr/>
    </dgm:pt>
    <dgm:pt modelId="{8F0BA76D-270F-46B0-A163-3FD6D431D901}" type="pres">
      <dgm:prSet presAssocID="{CF7FCDC9-D001-4CEE-A5E4-71C7F184525C}" presName="space" presStyleCnt="0"/>
      <dgm:spPr/>
    </dgm:pt>
    <dgm:pt modelId="{A71985B1-1665-4492-8E93-44CC7EFEB5EB}" type="pres">
      <dgm:prSet presAssocID="{240657A4-D7B8-468B-A5F4-A2D889160995}" presName="composite" presStyleCnt="0"/>
      <dgm:spPr/>
    </dgm:pt>
    <dgm:pt modelId="{A906942F-4CD9-406B-9703-826231E59346}" type="pres">
      <dgm:prSet presAssocID="{240657A4-D7B8-468B-A5F4-A2D88916099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B0E6FE9-FDF1-417E-907E-1431E3C22379}" type="pres">
      <dgm:prSet presAssocID="{240657A4-D7B8-468B-A5F4-A2D88916099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F82BF05-16DC-4EA5-9A44-1323F3F73B87}" srcId="{240657A4-D7B8-468B-A5F4-A2D889160995}" destId="{8DE000F3-D6C1-4803-A1E5-DC524A4AE480}" srcOrd="2" destOrd="0" parTransId="{C64D28C4-25B8-4CDC-8A89-C1CF980BB5C1}" sibTransId="{30D97064-16C7-4998-BF1A-DB22B53CF04E}"/>
    <dgm:cxn modelId="{940E770D-49F6-4FC5-86C8-41A8CE548E49}" srcId="{99011571-F4E1-4446-A8BE-18E70C05927B}" destId="{9AD62A53-8D22-4EE5-8913-0BBACA2364E4}" srcOrd="0" destOrd="0" parTransId="{54C85AAA-179D-4E68-BF2A-FFEED0DDB07F}" sibTransId="{1B5217E7-DE89-4742-BCCD-8BFF0AF57BAD}"/>
    <dgm:cxn modelId="{100BB30D-DE2F-47C8-9C30-7B9A2130442F}" type="presOf" srcId="{A79BE541-745A-4292-8465-C36F8EDD321B}" destId="{2B0E6FE9-FDF1-417E-907E-1431E3C22379}" srcOrd="0" destOrd="0" presId="urn:microsoft.com/office/officeart/2005/8/layout/hList1"/>
    <dgm:cxn modelId="{C8E5120F-C10C-4AB6-8450-9F3E16AB7EB6}" srcId="{AD708020-4687-41CF-9D7F-6F2391C11BAA}" destId="{99011571-F4E1-4446-A8BE-18E70C05927B}" srcOrd="0" destOrd="0" parTransId="{4C539E80-9E04-44A9-8367-F7E03B34B249}" sibTransId="{CF7FCDC9-D001-4CEE-A5E4-71C7F184525C}"/>
    <dgm:cxn modelId="{E4FB4313-6C06-4EAF-8D9B-228838EC9797}" type="presOf" srcId="{8DE000F3-D6C1-4803-A1E5-DC524A4AE480}" destId="{2B0E6FE9-FDF1-417E-907E-1431E3C22379}" srcOrd="0" destOrd="2" presId="urn:microsoft.com/office/officeart/2005/8/layout/hList1"/>
    <dgm:cxn modelId="{1A44C014-EBAC-4613-804E-BF0BB88899E3}" type="presOf" srcId="{9AD62A53-8D22-4EE5-8913-0BBACA2364E4}" destId="{ADDE5FA6-A293-4009-AA1F-EF295D5FC61B}" srcOrd="0" destOrd="0" presId="urn:microsoft.com/office/officeart/2005/8/layout/hList1"/>
    <dgm:cxn modelId="{C181352A-C0B0-4BDB-AF70-349C9595E6B5}" srcId="{240657A4-D7B8-468B-A5F4-A2D889160995}" destId="{0185F6EB-9C9F-4E3E-A388-326818E44F8C}" srcOrd="3" destOrd="0" parTransId="{572D545C-3C53-4B90-9A13-8FCA514B982D}" sibTransId="{130173EF-01ED-485B-B8BB-D3163CE124C9}"/>
    <dgm:cxn modelId="{27B67B3E-051F-4D31-B5F5-C79A604E3D16}" type="presOf" srcId="{0185F6EB-9C9F-4E3E-A388-326818E44F8C}" destId="{2B0E6FE9-FDF1-417E-907E-1431E3C22379}" srcOrd="0" destOrd="3" presId="urn:microsoft.com/office/officeart/2005/8/layout/hList1"/>
    <dgm:cxn modelId="{2A705B60-B7F3-4BE3-9093-3C1BB2EBCFB5}" srcId="{99011571-F4E1-4446-A8BE-18E70C05927B}" destId="{323295A5-C594-443E-A7E6-624EA9254300}" srcOrd="2" destOrd="0" parTransId="{200A6130-5C46-4C63-9F44-D454E24722AF}" sibTransId="{3830A99E-A088-46F1-9D7A-13AD7413F170}"/>
    <dgm:cxn modelId="{12E18449-C8D2-4FBD-A252-91AE228C6AF5}" srcId="{240657A4-D7B8-468B-A5F4-A2D889160995}" destId="{A79BE541-745A-4292-8465-C36F8EDD321B}" srcOrd="0" destOrd="0" parTransId="{5FBA12F4-C84B-4A28-AE84-34210DDD6316}" sibTransId="{7E35C864-7EA2-4C2D-AC52-3EE5ABADC5B9}"/>
    <dgm:cxn modelId="{DDF1F850-80F6-4F9D-9863-46C86ADA4419}" type="presOf" srcId="{99011571-F4E1-4446-A8BE-18E70C05927B}" destId="{8A93C829-AB1E-47B7-AF09-3489EE20D87D}" srcOrd="0" destOrd="0" presId="urn:microsoft.com/office/officeart/2005/8/layout/hList1"/>
    <dgm:cxn modelId="{023F1E57-C472-4AFE-BA8E-552A2F3C1394}" type="presOf" srcId="{240657A4-D7B8-468B-A5F4-A2D889160995}" destId="{A906942F-4CD9-406B-9703-826231E59346}" srcOrd="0" destOrd="0" presId="urn:microsoft.com/office/officeart/2005/8/layout/hList1"/>
    <dgm:cxn modelId="{A28AD17C-328B-47C1-B697-997B944516EA}" type="presOf" srcId="{AD708020-4687-41CF-9D7F-6F2391C11BAA}" destId="{F3972236-93CB-4A8C-9066-D6256CD361C1}" srcOrd="0" destOrd="0" presId="urn:microsoft.com/office/officeart/2005/8/layout/hList1"/>
    <dgm:cxn modelId="{E1E0D985-A4D3-4EDE-A0B8-5EEBE6AE8892}" type="presOf" srcId="{033B3BA4-3778-4402-B1E1-C8CFA33A382D}" destId="{2B0E6FE9-FDF1-417E-907E-1431E3C22379}" srcOrd="0" destOrd="1" presId="urn:microsoft.com/office/officeart/2005/8/layout/hList1"/>
    <dgm:cxn modelId="{A458A4B0-84AA-49EA-8BDC-E4ABE46A7F6F}" srcId="{99011571-F4E1-4446-A8BE-18E70C05927B}" destId="{09A8615C-F22C-48F1-9E19-B8FC9AF13FE9}" srcOrd="1" destOrd="0" parTransId="{5BD54EF1-4FAB-4065-92C9-BCE2DE81E584}" sibTransId="{FB609984-1C85-4848-A207-F57B125554A5}"/>
    <dgm:cxn modelId="{CBF248CA-6463-4657-9F43-AF669DCBF514}" srcId="{AD708020-4687-41CF-9D7F-6F2391C11BAA}" destId="{240657A4-D7B8-468B-A5F4-A2D889160995}" srcOrd="1" destOrd="0" parTransId="{A7FDB1D6-023E-42DF-BB39-2015EF26DC0F}" sibTransId="{D09BF549-D68B-48BC-A9E0-62B2344773D6}"/>
    <dgm:cxn modelId="{A4AF79CA-B25E-4F05-82A1-3910C09D6251}" type="presOf" srcId="{09A8615C-F22C-48F1-9E19-B8FC9AF13FE9}" destId="{ADDE5FA6-A293-4009-AA1F-EF295D5FC61B}" srcOrd="0" destOrd="1" presId="urn:microsoft.com/office/officeart/2005/8/layout/hList1"/>
    <dgm:cxn modelId="{FEDB8DEC-B553-4BBF-92EA-A2D2D5DF7CE5}" srcId="{240657A4-D7B8-468B-A5F4-A2D889160995}" destId="{033B3BA4-3778-4402-B1E1-C8CFA33A382D}" srcOrd="1" destOrd="0" parTransId="{A03C24AB-8B7A-424E-9BC6-9376C33A0BF3}" sibTransId="{4BCC1D41-9035-4D7E-9009-AC68C1CAF263}"/>
    <dgm:cxn modelId="{A9D14BF2-E0BB-46D8-845C-FCF21D2BA831}" type="presOf" srcId="{323295A5-C594-443E-A7E6-624EA9254300}" destId="{ADDE5FA6-A293-4009-AA1F-EF295D5FC61B}" srcOrd="0" destOrd="2" presId="urn:microsoft.com/office/officeart/2005/8/layout/hList1"/>
    <dgm:cxn modelId="{1BD00B3F-CC87-45D5-8068-2A12062FAD02}" type="presParOf" srcId="{F3972236-93CB-4A8C-9066-D6256CD361C1}" destId="{E2C272DD-8977-4A4D-9E5A-865A155C8D0C}" srcOrd="0" destOrd="0" presId="urn:microsoft.com/office/officeart/2005/8/layout/hList1"/>
    <dgm:cxn modelId="{149624C9-1A75-44B1-9CFB-47B78E38453E}" type="presParOf" srcId="{E2C272DD-8977-4A4D-9E5A-865A155C8D0C}" destId="{8A93C829-AB1E-47B7-AF09-3489EE20D87D}" srcOrd="0" destOrd="0" presId="urn:microsoft.com/office/officeart/2005/8/layout/hList1"/>
    <dgm:cxn modelId="{C46F3658-24CA-48BE-AB2D-71A4709B311B}" type="presParOf" srcId="{E2C272DD-8977-4A4D-9E5A-865A155C8D0C}" destId="{ADDE5FA6-A293-4009-AA1F-EF295D5FC61B}" srcOrd="1" destOrd="0" presId="urn:microsoft.com/office/officeart/2005/8/layout/hList1"/>
    <dgm:cxn modelId="{A4CE841F-0440-440F-B346-027E34CE9AD6}" type="presParOf" srcId="{F3972236-93CB-4A8C-9066-D6256CD361C1}" destId="{8F0BA76D-270F-46B0-A163-3FD6D431D901}" srcOrd="1" destOrd="0" presId="urn:microsoft.com/office/officeart/2005/8/layout/hList1"/>
    <dgm:cxn modelId="{96A28BED-B426-4E80-8492-DA8F6E83919D}" type="presParOf" srcId="{F3972236-93CB-4A8C-9066-D6256CD361C1}" destId="{A71985B1-1665-4492-8E93-44CC7EFEB5EB}" srcOrd="2" destOrd="0" presId="urn:microsoft.com/office/officeart/2005/8/layout/hList1"/>
    <dgm:cxn modelId="{09D1CB4E-1BB2-4798-8737-C5280060228D}" type="presParOf" srcId="{A71985B1-1665-4492-8E93-44CC7EFEB5EB}" destId="{A906942F-4CD9-406B-9703-826231E59346}" srcOrd="0" destOrd="0" presId="urn:microsoft.com/office/officeart/2005/8/layout/hList1"/>
    <dgm:cxn modelId="{E4145535-F9B1-4E96-8A9A-E1BD35DFCE2B}" type="presParOf" srcId="{A71985B1-1665-4492-8E93-44CC7EFEB5EB}" destId="{2B0E6FE9-FDF1-417E-907E-1431E3C2237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E0585-D949-4566-BF76-D02D180BBC12}">
      <dsp:nvSpPr>
        <dsp:cNvPr id="0" name=""/>
        <dsp:cNvSpPr/>
      </dsp:nvSpPr>
      <dsp:spPr>
        <a:xfrm>
          <a:off x="4855" y="0"/>
          <a:ext cx="4670973" cy="2827992"/>
        </a:xfrm>
        <a:prstGeom prst="roundRect">
          <a:avLst>
            <a:gd name="adj" fmla="val 10000"/>
          </a:avLst>
        </a:prstGeom>
        <a:solidFill>
          <a:srgbClr val="33CC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提供不可靠的交付服务</a:t>
          </a:r>
        </a:p>
      </dsp:txBody>
      <dsp:txXfrm>
        <a:off x="4855" y="0"/>
        <a:ext cx="4670973" cy="848397"/>
      </dsp:txXfrm>
    </dsp:sp>
    <dsp:sp modelId="{D183681B-6788-4510-8244-33ABDB9FA7A6}">
      <dsp:nvSpPr>
        <dsp:cNvPr id="0" name=""/>
        <dsp:cNvSpPr/>
      </dsp:nvSpPr>
      <dsp:spPr>
        <a:xfrm>
          <a:off x="257929" y="849226"/>
          <a:ext cx="4164826" cy="852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尽最大努力的交付。</a:t>
          </a:r>
        </a:p>
      </dsp:txBody>
      <dsp:txXfrm>
        <a:off x="282903" y="874200"/>
        <a:ext cx="4114878" cy="802730"/>
      </dsp:txXfrm>
    </dsp:sp>
    <dsp:sp modelId="{D871E045-0D3A-446B-875E-5BEA2EC2B98B}">
      <dsp:nvSpPr>
        <dsp:cNvPr id="0" name=""/>
        <dsp:cNvSpPr/>
      </dsp:nvSpPr>
      <dsp:spPr>
        <a:xfrm>
          <a:off x="257929" y="1833085"/>
          <a:ext cx="4164826" cy="852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903533"/>
                <a:satOff val="33333"/>
                <a:lumOff val="-490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903533"/>
                <a:satOff val="33333"/>
                <a:lumOff val="-490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903533"/>
                <a:satOff val="33333"/>
                <a:lumOff val="-490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对有差错帧是否需要重传则由高层来决定。</a:t>
          </a:r>
        </a:p>
      </dsp:txBody>
      <dsp:txXfrm>
        <a:off x="282903" y="1858059"/>
        <a:ext cx="4114878" cy="802730"/>
      </dsp:txXfrm>
    </dsp:sp>
    <dsp:sp modelId="{7585489D-9D2F-4D31-9D4C-5AB50C9A29FA}">
      <dsp:nvSpPr>
        <dsp:cNvPr id="0" name=""/>
        <dsp:cNvSpPr/>
      </dsp:nvSpPr>
      <dsp:spPr>
        <a:xfrm>
          <a:off x="5026151" y="0"/>
          <a:ext cx="4670973" cy="2827992"/>
        </a:xfrm>
        <a:prstGeom prst="roundRect">
          <a:avLst>
            <a:gd name="adj" fmla="val 10000"/>
          </a:avLst>
        </a:prstGeom>
        <a:solidFill>
          <a:srgbClr val="33CC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同一时间只能允许一台计算机发送</a:t>
          </a:r>
        </a:p>
      </dsp:txBody>
      <dsp:txXfrm>
        <a:off x="5026151" y="0"/>
        <a:ext cx="4670973" cy="848397"/>
      </dsp:txXfrm>
    </dsp:sp>
    <dsp:sp modelId="{2308D4B3-8A94-4F01-A1CD-6D3FE0E6B3D3}">
      <dsp:nvSpPr>
        <dsp:cNvPr id="0" name=""/>
        <dsp:cNvSpPr/>
      </dsp:nvSpPr>
      <dsp:spPr>
        <a:xfrm>
          <a:off x="5279225" y="849226"/>
          <a:ext cx="4164826" cy="852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807066"/>
                <a:satOff val="66667"/>
                <a:lumOff val="-9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1807066"/>
                <a:satOff val="66667"/>
                <a:lumOff val="-9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1807066"/>
                <a:satOff val="66667"/>
                <a:lumOff val="-9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以太网采用最简单的随机接入。</a:t>
          </a:r>
        </a:p>
      </dsp:txBody>
      <dsp:txXfrm>
        <a:off x="5304199" y="874200"/>
        <a:ext cx="4114878" cy="802730"/>
      </dsp:txXfrm>
    </dsp:sp>
    <dsp:sp modelId="{33ECD6FF-F077-4874-B06E-403BF190822C}">
      <dsp:nvSpPr>
        <dsp:cNvPr id="0" name=""/>
        <dsp:cNvSpPr/>
      </dsp:nvSpPr>
      <dsp:spPr>
        <a:xfrm>
          <a:off x="5279225" y="1833085"/>
          <a:ext cx="4164826" cy="852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使用 </a:t>
          </a:r>
          <a:r>
            <a:rPr lang="en-US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CSMA/CD </a:t>
          </a: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协议减少冲突发生的概率。</a:t>
          </a:r>
        </a:p>
      </dsp:txBody>
      <dsp:txXfrm>
        <a:off x="5304199" y="1858059"/>
        <a:ext cx="4114878" cy="8027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1D3161-44F0-46C8-9775-F9F619010D1C}">
      <dsp:nvSpPr>
        <dsp:cNvPr id="0" name=""/>
        <dsp:cNvSpPr/>
      </dsp:nvSpPr>
      <dsp:spPr>
        <a:xfrm rot="5400000">
          <a:off x="5753884" y="-2827975"/>
          <a:ext cx="1643581" cy="771053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工作在数据链路层。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根据 </a:t>
          </a:r>
          <a:r>
            <a:rPr lang="en-US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MAC </a:t>
          </a: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帧的目的地址对收到的帧进行转发和过滤。或者转发，或者丢弃。</a:t>
          </a:r>
        </a:p>
      </dsp:txBody>
      <dsp:txXfrm rot="-5400000">
        <a:off x="2720410" y="285732"/>
        <a:ext cx="7630297" cy="1483115"/>
      </dsp:txXfrm>
    </dsp:sp>
    <dsp:sp modelId="{B903DF94-6FEE-4401-9797-6C1F42B1C9CC}">
      <dsp:nvSpPr>
        <dsp:cNvPr id="0" name=""/>
        <dsp:cNvSpPr/>
      </dsp:nvSpPr>
      <dsp:spPr>
        <a:xfrm>
          <a:off x="504914" y="51"/>
          <a:ext cx="2215494" cy="205447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网桥</a:t>
          </a:r>
        </a:p>
      </dsp:txBody>
      <dsp:txXfrm>
        <a:off x="605205" y="100342"/>
        <a:ext cx="2014912" cy="1853895"/>
      </dsp:txXfrm>
    </dsp:sp>
    <dsp:sp modelId="{49D409B5-470A-4824-A486-F28F43FEC9BC}">
      <dsp:nvSpPr>
        <dsp:cNvPr id="0" name=""/>
        <dsp:cNvSpPr/>
      </dsp:nvSpPr>
      <dsp:spPr>
        <a:xfrm rot="5400000">
          <a:off x="5753884" y="-670774"/>
          <a:ext cx="1643581" cy="7710530"/>
        </a:xfrm>
        <a:prstGeom prst="round2Same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工作在数据链路层。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多端口的网桥。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可明显地提高以太网的性能。</a:t>
          </a:r>
        </a:p>
      </dsp:txBody>
      <dsp:txXfrm rot="-5400000">
        <a:off x="2720410" y="2442933"/>
        <a:ext cx="7630297" cy="1483115"/>
      </dsp:txXfrm>
    </dsp:sp>
    <dsp:sp modelId="{E226D937-2558-4357-B724-B830C97D69FA}">
      <dsp:nvSpPr>
        <dsp:cNvPr id="0" name=""/>
        <dsp:cNvSpPr/>
      </dsp:nvSpPr>
      <dsp:spPr>
        <a:xfrm>
          <a:off x="504914" y="2157252"/>
          <a:ext cx="2215494" cy="2054477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交换机</a:t>
          </a:r>
        </a:p>
      </dsp:txBody>
      <dsp:txXfrm>
        <a:off x="605205" y="2257543"/>
        <a:ext cx="2014912" cy="18538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3C829-AB1E-47B7-AF09-3489EE20D87D}">
      <dsp:nvSpPr>
        <dsp:cNvPr id="0" name=""/>
        <dsp:cNvSpPr/>
      </dsp:nvSpPr>
      <dsp:spPr>
        <a:xfrm>
          <a:off x="43" y="23965"/>
          <a:ext cx="4167154" cy="132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IP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sp:txBody>
      <dsp:txXfrm>
        <a:off x="43" y="23965"/>
        <a:ext cx="4167154" cy="1324800"/>
      </dsp:txXfrm>
    </dsp:sp>
    <dsp:sp modelId="{ADDE5FA6-A293-4009-AA1F-EF295D5FC61B}">
      <dsp:nvSpPr>
        <dsp:cNvPr id="0" name=""/>
        <dsp:cNvSpPr/>
      </dsp:nvSpPr>
      <dsp:spPr>
        <a:xfrm>
          <a:off x="43" y="1348766"/>
          <a:ext cx="4167154" cy="20203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虚拟地址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、软件地址、</a:t>
          </a:r>
          <a:r>
            <a:rPr lang="zh-CN" altLang="en-US" sz="18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逻辑地址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网络层和以上各层使用。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放在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IP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数据报的首部。</a:t>
          </a:r>
        </a:p>
      </dsp:txBody>
      <dsp:txXfrm>
        <a:off x="43" y="1348766"/>
        <a:ext cx="4167154" cy="2020320"/>
      </dsp:txXfrm>
    </dsp:sp>
    <dsp:sp modelId="{A906942F-4CD9-406B-9703-826231E59346}">
      <dsp:nvSpPr>
        <dsp:cNvPr id="0" name=""/>
        <dsp:cNvSpPr/>
      </dsp:nvSpPr>
      <dsp:spPr>
        <a:xfrm>
          <a:off x="4750599" y="23965"/>
          <a:ext cx="4167154" cy="1324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MAC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sp:txBody>
      <dsp:txXfrm>
        <a:off x="4750599" y="23965"/>
        <a:ext cx="4167154" cy="1324800"/>
      </dsp:txXfrm>
    </dsp:sp>
    <dsp:sp modelId="{2B0E6FE9-FDF1-417E-907E-1431E3C22379}">
      <dsp:nvSpPr>
        <dsp:cNvPr id="0" name=""/>
        <dsp:cNvSpPr/>
      </dsp:nvSpPr>
      <dsp:spPr>
        <a:xfrm>
          <a:off x="4750599" y="1348766"/>
          <a:ext cx="4167154" cy="202032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固化在网卡上的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ROM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中。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硬件地址、物理地址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数据链路层使用。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放在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MAC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帧的首部。</a:t>
          </a:r>
        </a:p>
      </dsp:txBody>
      <dsp:txXfrm>
        <a:off x="4750599" y="1348766"/>
        <a:ext cx="4167154" cy="2020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7221A-FCFE-43A8-9218-BEC84B024AD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5726D-E3F3-4C18-8893-C2F2BEB94A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4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53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136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597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475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880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2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早期采用</a:t>
            </a:r>
            <a:r>
              <a:rPr kumimoji="1" lang="en-US" altLang="zh-CN" dirty="0"/>
              <a:t>2</a:t>
            </a:r>
            <a:r>
              <a:rPr kumimoji="1" lang="zh-CN" altLang="en-US" dirty="0"/>
              <a:t>级结构：网络号</a:t>
            </a:r>
            <a:r>
              <a:rPr kumimoji="1" lang="en-US" altLang="zh-CN" dirty="0"/>
              <a:t>+</a:t>
            </a:r>
            <a:r>
              <a:rPr kumimoji="1" lang="zh-CN" altLang="en-US" dirty="0"/>
              <a:t>主机号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906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D</a:t>
            </a:r>
            <a:r>
              <a:rPr lang="zh-CN" altLang="en-US" dirty="0"/>
              <a:t>类地址，最常用</a:t>
            </a:r>
            <a:r>
              <a:rPr lang="en-US" altLang="zh-CN" dirty="0"/>
              <a:t>C</a:t>
            </a:r>
            <a:r>
              <a:rPr lang="zh-CN" altLang="en-US" dirty="0"/>
              <a:t>类地址。</a:t>
            </a:r>
            <a:endParaRPr lang="en-US" altLang="zh-CN" dirty="0"/>
          </a:p>
          <a:p>
            <a:r>
              <a:rPr lang="zh-CN" altLang="en-US" dirty="0"/>
              <a:t>注意缺点：利用率不高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623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必须掌握这个计算。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40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390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849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693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515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519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65F6E-B88F-735C-0D04-8646E6597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E047A3-EFA7-6F6F-6A6D-FCB60DF29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25C654-0E35-79D9-13BD-00928093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2682D4-3A78-EF7C-C742-195CC3573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FDAFF0-D978-76C5-EDE2-32460315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86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DF674-34CA-709D-5FCC-BCC81299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2C6362-E0D9-29F1-846B-D10CC7D67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63CFF4-B57E-9D4D-474E-DA796AD8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F2965D-35B8-0184-4A5A-ED35486D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A4FD92-BBFE-1295-617D-41B95C21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06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66894-224D-621F-C03D-A6B5F2F5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0D6289-B485-AB7A-1827-6058DD8A2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59F95E-6151-A047-1471-BF21BB27E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017895-8ECE-399F-80D1-6C094D0B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D34A22-FD3E-CB01-4DF5-F860D2E6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467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ADDAC-98CB-77C6-B098-739744B89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1205D9-7789-BCCB-2077-2801009B5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EE743F-AFEE-1387-2F71-4756F584A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680162-DD9C-565B-9ED5-AB6829FC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324E08-8B02-7B8F-0A62-2A50566E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FD70A2-1FB2-6360-8DCA-90A6C070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469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83F98-C522-0AEF-81BA-65F1847D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BDF497-88CC-0EC7-3385-C6E3BA320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6DE935-2DD0-EB3C-9C28-80E9FB14B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E3E8F8-EFF5-3FDB-423E-35AAA5940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22676-F73E-C7C9-C046-83CE1DB37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F9594F-B86F-1D7F-7914-D922C039B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4C9BEA-A315-6216-4D7D-A7096FA5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38E488-6EA1-6313-6A39-0C57FF18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93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7207F-D25A-2386-9ECA-A6AC6E98E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C4EA3D-ABC7-6937-7433-47B5B5C1F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9F4A9E-0772-01C7-0061-7C4504A58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4A0E56-7A81-DAC6-2566-079076C2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629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FCEF81-3CA1-B7ED-E1B3-B73304FB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5FB7F3-F2B2-C489-D3F5-0038C8F2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56A186-E805-3F46-9626-90F662B0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117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ED5CB-5FE6-39ED-028B-77E7AC3F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BFB046-A85C-94D0-7759-17FBDEF64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D13ED3-84CE-6339-E925-786A61969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91C3EE-5DB3-9D60-9EB8-CC181788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6AFE74-5CAF-BBE8-0B94-8C2F1F7AE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5865A8-D9BC-E7CF-033D-5AA39651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88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7E37B-BF5E-A9CD-606A-E74BCD64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CF854C-651F-38A5-FB6A-A3491C1FFD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DD9E7A-FA82-5933-E849-35D3A1AF9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CD7975-5240-5119-3082-FE38FF63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09D6CF-9C2F-81B0-E209-360BF1B0E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6E07C0-5421-D37C-7B8B-7BB8E686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996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327FB-469C-A58C-BB3D-72073346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F16888-5182-01F7-64E4-29B525D6B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70DB5-0ADF-3E14-424E-6ED476ADE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6F656E-D577-D782-E3DC-48415BB4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325A8B-1C98-26A9-B9A0-8E08500E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160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DCC9B1-5ED0-8D0D-C51D-F69228171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25A63E-582F-FCED-59DC-72C7A55AC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E87A7D-10D8-A3B8-1343-813C66D0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F06C96-A318-38DD-1448-4A108FC5C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1E01C3-D33B-FDC5-55EF-196E9DFE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865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621792" y="812359"/>
            <a:ext cx="10838688" cy="472016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666122" y="812359"/>
            <a:ext cx="8843433" cy="472016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CDDE92-3CAD-CCFA-3F8C-D516FA4841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63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621792" y="812359"/>
            <a:ext cx="10838688" cy="472016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8" name="内容占位符 7"/>
          <p:cNvSpPr>
            <a:spLocks noGrp="1"/>
          </p:cNvSpPr>
          <p:nvPr>
            <p:ph sz="quarter" idx="10"/>
          </p:nvPr>
        </p:nvSpPr>
        <p:spPr>
          <a:xfrm>
            <a:off x="621792" y="1292835"/>
            <a:ext cx="10838688" cy="4519831"/>
          </a:xfrm>
          <a:prstGeom prst="rect">
            <a:avLst/>
          </a:prstGeom>
        </p:spPr>
        <p:txBody>
          <a:bodyPr/>
          <a:lstStyle>
            <a:lvl1pPr marL="457189" indent="-457189">
              <a:lnSpc>
                <a:spcPts val="4000"/>
              </a:lnSpc>
              <a:spcBef>
                <a:spcPts val="0"/>
              </a:spcBef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667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990575" indent="-380990">
              <a:lnSpc>
                <a:spcPts val="4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523962" indent="-304792">
              <a:lnSpc>
                <a:spcPts val="4000"/>
              </a:lnSpc>
              <a:spcBef>
                <a:spcPts val="0"/>
              </a:spcBef>
              <a:buClr>
                <a:srgbClr val="006600"/>
              </a:buClr>
              <a:buFont typeface="Wingdings" panose="05000000000000000000" pitchFamily="2" charset="2"/>
              <a:buChar char="Ø"/>
              <a:defRPr sz="2133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4000"/>
              </a:lnSpc>
              <a:spcBef>
                <a:spcPts val="0"/>
              </a:spcBef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4000"/>
              </a:lnSpc>
              <a:spcBef>
                <a:spcPts val="0"/>
              </a:spcBef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666122" y="812359"/>
            <a:ext cx="8843433" cy="472016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132F2D8-8887-FA85-21B8-225441B6A2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67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621792" y="819778"/>
            <a:ext cx="10838688" cy="563033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666122" y="858766"/>
            <a:ext cx="8843433" cy="49029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621792" y="1387279"/>
            <a:ext cx="10838688" cy="4399628"/>
          </a:xfrm>
          <a:prstGeom prst="rect">
            <a:avLst/>
          </a:prstGeom>
        </p:spPr>
        <p:txBody>
          <a:bodyPr/>
          <a:lstStyle>
            <a:lvl1pPr marL="457189" indent="-457189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667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990575" indent="-38099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523962" indent="-304792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2133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29EBA56-9978-D2EB-CC1E-F5BA200392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96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2"/>
          <p:cNvSpPr>
            <a:spLocks noChangeArrowheads="1"/>
          </p:cNvSpPr>
          <p:nvPr userDrawn="1"/>
        </p:nvSpPr>
        <p:spPr bwMode="auto">
          <a:xfrm>
            <a:off x="621792" y="819778"/>
            <a:ext cx="10838688" cy="563033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666122" y="858766"/>
            <a:ext cx="8843433" cy="49029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13ACD59-2DDA-AD4C-5F05-9A199893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71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9CA936-6718-4B47-3E8B-8324213AC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60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8FF7D1-3A02-54EC-473A-721340808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8273B7-CD2E-F98A-6A67-773D9087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851564-42D9-68BA-BA41-AE9F65293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B99B2-A0EB-466E-BDA5-2DEA4952EEA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645102-C4E8-3AAB-0439-A8D585BD9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E903CD-6881-99EE-E89C-8C17B1BE7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AA648-0B31-4899-9E88-3FE6C012C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259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670562" y="1319996"/>
            <a:ext cx="10594847" cy="398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当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PPP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用在异步传输时，使用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字节填充法。</a:t>
            </a:r>
            <a:endParaRPr lang="en-US" altLang="zh-CN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当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PPP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用在同步传输链路时，采用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零比特填充法。</a:t>
            </a:r>
            <a:endParaRPr lang="en-US" altLang="zh-CN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endParaRPr lang="en-US" altLang="zh-CN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1066773" lvl="1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同步传输：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面向比特的传输，同步传输的单位是帧；同步传输收发双方始终统一、字符间传输同步无间隔。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1066773" lvl="1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异步传输：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面向字节的传输，异步传输的单位是字符；异步传输效率低，高速链路开销大。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670562" y="83580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921481" y="805013"/>
            <a:ext cx="2335896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透明传输问题 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EEFEBD-1AF2-B83C-125B-85CD7B146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06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670562" y="1315317"/>
            <a:ext cx="10838687" cy="1584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4000"/>
              </a:lnSpc>
              <a:buClr>
                <a:srgbClr val="0070C0"/>
              </a:buClr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(1)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采用较为灵活的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无连接的工作方式。</a:t>
            </a:r>
          </a:p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不必先建立连接就可以直接发送数据。</a:t>
            </a:r>
          </a:p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对发送的数据帧不进行编号，也不要求对方发回确认。</a:t>
            </a: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670562" y="83112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910789" y="800333"/>
            <a:ext cx="4357283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以太网采取的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种重要措施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1257755" y="2907549"/>
          <a:ext cx="9701981" cy="2827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7D1AD2-976D-5C48-DEC7-6CF920FEF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36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670562" y="1319721"/>
            <a:ext cx="10229087" cy="519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600"/>
              </a:lnSpc>
              <a:buClr>
                <a:srgbClr val="0070C0"/>
              </a:buClr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(2)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发送的数据都使用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曼彻斯特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(Manchester)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编码。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670562" y="835524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777740" y="804737"/>
            <a:ext cx="462338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以太网采取了两种重要的措施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70562" y="1995943"/>
            <a:ext cx="9030700" cy="2097316"/>
            <a:chOff x="-826137" y="1770063"/>
            <a:chExt cx="10387649" cy="2765079"/>
          </a:xfrm>
        </p:grpSpPr>
        <p:grpSp>
          <p:nvGrpSpPr>
            <p:cNvPr id="9" name="组合 8"/>
            <p:cNvGrpSpPr/>
            <p:nvPr/>
          </p:nvGrpSpPr>
          <p:grpSpPr>
            <a:xfrm>
              <a:off x="2050862" y="1957745"/>
              <a:ext cx="7488831" cy="2577397"/>
              <a:chOff x="2050862" y="1957745"/>
              <a:chExt cx="7488831" cy="4136632"/>
            </a:xfrm>
          </p:grpSpPr>
          <p:sp>
            <p:nvSpPr>
              <p:cNvPr id="33" name="Rectangle 8"/>
              <p:cNvSpPr>
                <a:spLocks noChangeArrowheads="1"/>
              </p:cNvSpPr>
              <p:nvPr/>
            </p:nvSpPr>
            <p:spPr bwMode="auto">
              <a:xfrm>
                <a:off x="8082206" y="2007528"/>
                <a:ext cx="720633" cy="4070349"/>
              </a:xfrm>
              <a:prstGeom prst="rect">
                <a:avLst/>
              </a:prstGeom>
              <a:solidFill>
                <a:srgbClr val="00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34" name="Rectangle 9"/>
              <p:cNvSpPr>
                <a:spLocks noChangeArrowheads="1"/>
              </p:cNvSpPr>
              <p:nvPr/>
            </p:nvSpPr>
            <p:spPr bwMode="auto">
              <a:xfrm>
                <a:off x="3563030" y="2007528"/>
                <a:ext cx="751616" cy="4070349"/>
              </a:xfrm>
              <a:prstGeom prst="rect">
                <a:avLst/>
              </a:prstGeom>
              <a:solidFill>
                <a:srgbClr val="00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35" name="Rectangle 10"/>
              <p:cNvSpPr>
                <a:spLocks noChangeArrowheads="1"/>
              </p:cNvSpPr>
              <p:nvPr/>
            </p:nvSpPr>
            <p:spPr bwMode="auto">
              <a:xfrm>
                <a:off x="5073850" y="2002764"/>
                <a:ext cx="731598" cy="4077429"/>
              </a:xfrm>
              <a:prstGeom prst="rect">
                <a:avLst/>
              </a:prstGeom>
              <a:solidFill>
                <a:srgbClr val="00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36" name="Rectangle 11"/>
              <p:cNvSpPr>
                <a:spLocks noChangeArrowheads="1"/>
              </p:cNvSpPr>
              <p:nvPr/>
            </p:nvSpPr>
            <p:spPr bwMode="auto">
              <a:xfrm>
                <a:off x="6588491" y="2002764"/>
                <a:ext cx="713017" cy="4077429"/>
              </a:xfrm>
              <a:prstGeom prst="rect">
                <a:avLst/>
              </a:prstGeom>
              <a:solidFill>
                <a:srgbClr val="00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37" name="Rectangle 12"/>
              <p:cNvSpPr>
                <a:spLocks noChangeArrowheads="1"/>
              </p:cNvSpPr>
              <p:nvPr/>
            </p:nvSpPr>
            <p:spPr bwMode="auto">
              <a:xfrm>
                <a:off x="2077857" y="1995869"/>
                <a:ext cx="720123" cy="4082008"/>
              </a:xfrm>
              <a:prstGeom prst="rect">
                <a:avLst/>
              </a:prstGeom>
              <a:solidFill>
                <a:srgbClr val="00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38" name="Line 32"/>
              <p:cNvSpPr>
                <a:spLocks noChangeShapeType="1"/>
              </p:cNvSpPr>
              <p:nvPr/>
            </p:nvSpPr>
            <p:spPr bwMode="auto">
              <a:xfrm flipH="1" flipV="1">
                <a:off x="2050862" y="1977021"/>
                <a:ext cx="3175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>
                  <a:ea typeface="黑体" pitchFamily="2" charset="-122"/>
                </a:endParaRPr>
              </a:p>
            </p:txBody>
          </p:sp>
          <p:sp>
            <p:nvSpPr>
              <p:cNvPr id="39" name="Line 33"/>
              <p:cNvSpPr>
                <a:spLocks noChangeShapeType="1"/>
              </p:cNvSpPr>
              <p:nvPr/>
            </p:nvSpPr>
            <p:spPr bwMode="auto">
              <a:xfrm flipV="1">
                <a:off x="2800922" y="1957745"/>
                <a:ext cx="0" cy="4122657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40" name="Line 34"/>
              <p:cNvSpPr>
                <a:spLocks noChangeShapeType="1"/>
              </p:cNvSpPr>
              <p:nvPr/>
            </p:nvSpPr>
            <p:spPr bwMode="auto">
              <a:xfrm flipV="1">
                <a:off x="3548040" y="1977021"/>
                <a:ext cx="0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41" name="Line 35"/>
              <p:cNvSpPr>
                <a:spLocks noChangeShapeType="1"/>
              </p:cNvSpPr>
              <p:nvPr/>
            </p:nvSpPr>
            <p:spPr bwMode="auto">
              <a:xfrm flipH="1" flipV="1">
                <a:off x="4310148" y="1977021"/>
                <a:ext cx="0" cy="4117356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42" name="Line 36"/>
              <p:cNvSpPr>
                <a:spLocks noChangeShapeType="1"/>
              </p:cNvSpPr>
              <p:nvPr/>
            </p:nvSpPr>
            <p:spPr bwMode="auto">
              <a:xfrm flipV="1">
                <a:off x="5059563" y="1977021"/>
                <a:ext cx="0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43" name="Line 37"/>
              <p:cNvSpPr>
                <a:spLocks noChangeShapeType="1"/>
              </p:cNvSpPr>
              <p:nvPr/>
            </p:nvSpPr>
            <p:spPr bwMode="auto">
              <a:xfrm flipV="1">
                <a:off x="5822316" y="1977021"/>
                <a:ext cx="0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44" name="Line 38"/>
              <p:cNvSpPr>
                <a:spLocks noChangeShapeType="1"/>
              </p:cNvSpPr>
              <p:nvPr/>
            </p:nvSpPr>
            <p:spPr bwMode="auto">
              <a:xfrm flipV="1">
                <a:off x="6575318" y="1977021"/>
                <a:ext cx="0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45" name="Line 39"/>
              <p:cNvSpPr>
                <a:spLocks noChangeShapeType="1"/>
              </p:cNvSpPr>
              <p:nvPr/>
            </p:nvSpPr>
            <p:spPr bwMode="auto">
              <a:xfrm flipV="1">
                <a:off x="7316498" y="1977021"/>
                <a:ext cx="0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46" name="Line 40"/>
              <p:cNvSpPr>
                <a:spLocks noChangeShapeType="1"/>
              </p:cNvSpPr>
              <p:nvPr/>
            </p:nvSpPr>
            <p:spPr bwMode="auto">
              <a:xfrm flipH="1" flipV="1">
                <a:off x="8067967" y="1977021"/>
                <a:ext cx="1587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47" name="Line 41"/>
              <p:cNvSpPr>
                <a:spLocks noChangeShapeType="1"/>
              </p:cNvSpPr>
              <p:nvPr/>
            </p:nvSpPr>
            <p:spPr bwMode="auto">
              <a:xfrm flipV="1">
                <a:off x="8795696" y="1979430"/>
                <a:ext cx="14287" cy="4100972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48" name="Line 41"/>
              <p:cNvSpPr>
                <a:spLocks noChangeShapeType="1"/>
              </p:cNvSpPr>
              <p:nvPr/>
            </p:nvSpPr>
            <p:spPr bwMode="auto">
              <a:xfrm flipV="1">
                <a:off x="9525406" y="1979430"/>
                <a:ext cx="14287" cy="4100972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</p:grpSp>
        <p:sp>
          <p:nvSpPr>
            <p:cNvPr id="10" name="Rectangle 89"/>
            <p:cNvSpPr>
              <a:spLocks noChangeArrowheads="1"/>
            </p:cNvSpPr>
            <p:nvPr/>
          </p:nvSpPr>
          <p:spPr bwMode="auto">
            <a:xfrm>
              <a:off x="9266238" y="1770063"/>
              <a:ext cx="94589" cy="2667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133"/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496675" y="2872472"/>
              <a:ext cx="1541477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algn="r" defTabSz="1015975" eaLnBrk="0" hangingPunct="0"/>
              <a:r>
                <a:rPr kumimoji="1" lang="zh-CN" altLang="en-US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曼彻斯特</a:t>
              </a: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2154593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>
                  <a:latin typeface="Arial Rounded MT Bold" pitchFamily="34" charset="0"/>
                </a:rPr>
                <a:t>1</a:t>
              </a: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8892199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>
                  <a:latin typeface="Arial Rounded MT Bold" pitchFamily="34" charset="0"/>
                </a:rPr>
                <a:t>1</a:t>
              </a:r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5194779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1</a:t>
              </a: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8136690" y="2067854"/>
              <a:ext cx="298449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>
                  <a:latin typeface="Arial Rounded MT Bold" pitchFamily="34" charset="0"/>
                </a:rPr>
                <a:t>1</a:t>
              </a:r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7427027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1</a:t>
              </a:r>
            </a:p>
          </p:txBody>
        </p:sp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2915533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0</a:t>
              </a:r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3707623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>
                  <a:latin typeface="Arial Rounded MT Bold" pitchFamily="34" charset="0"/>
                </a:rPr>
                <a:t>0</a:t>
              </a:r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4427701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0</a:t>
              </a:r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5939871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0</a:t>
              </a:r>
            </a:p>
          </p:txBody>
        </p:sp>
        <p:sp>
          <p:nvSpPr>
            <p:cNvPr id="21" name="Rectangle 22"/>
            <p:cNvSpPr>
              <a:spLocks noChangeArrowheads="1"/>
            </p:cNvSpPr>
            <p:nvPr/>
          </p:nvSpPr>
          <p:spPr bwMode="auto">
            <a:xfrm>
              <a:off x="6659949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0</a:t>
              </a:r>
            </a:p>
          </p:txBody>
        </p:sp>
        <p:sp>
          <p:nvSpPr>
            <p:cNvPr id="22" name="Freeform 30"/>
            <p:cNvSpPr>
              <a:spLocks/>
            </p:cNvSpPr>
            <p:nvPr/>
          </p:nvSpPr>
          <p:spPr bwMode="auto">
            <a:xfrm>
              <a:off x="2053076" y="2780928"/>
              <a:ext cx="7457834" cy="690711"/>
            </a:xfrm>
            <a:custGeom>
              <a:avLst/>
              <a:gdLst>
                <a:gd name="T0" fmla="*/ 0 w 4401"/>
                <a:gd name="T1" fmla="*/ 0 h 245"/>
                <a:gd name="T2" fmla="*/ 222 w 4401"/>
                <a:gd name="T3" fmla="*/ 0 h 245"/>
                <a:gd name="T4" fmla="*/ 222 w 4401"/>
                <a:gd name="T5" fmla="*/ 245 h 245"/>
                <a:gd name="T6" fmla="*/ 676 w 4401"/>
                <a:gd name="T7" fmla="*/ 245 h 245"/>
                <a:gd name="T8" fmla="*/ 676 w 4401"/>
                <a:gd name="T9" fmla="*/ 0 h 245"/>
                <a:gd name="T10" fmla="*/ 898 w 4401"/>
                <a:gd name="T11" fmla="*/ 0 h 245"/>
                <a:gd name="T12" fmla="*/ 898 w 4401"/>
                <a:gd name="T13" fmla="*/ 245 h 245"/>
                <a:gd name="T14" fmla="*/ 1129 w 4401"/>
                <a:gd name="T15" fmla="*/ 245 h 245"/>
                <a:gd name="T16" fmla="*/ 1129 w 4401"/>
                <a:gd name="T17" fmla="*/ 0 h 245"/>
                <a:gd name="T18" fmla="*/ 1351 w 4401"/>
                <a:gd name="T19" fmla="*/ 0 h 245"/>
                <a:gd name="T20" fmla="*/ 1351 w 4401"/>
                <a:gd name="T21" fmla="*/ 245 h 245"/>
                <a:gd name="T22" fmla="*/ 1573 w 4401"/>
                <a:gd name="T23" fmla="*/ 245 h 245"/>
                <a:gd name="T24" fmla="*/ 1573 w 4401"/>
                <a:gd name="T25" fmla="*/ 0 h 245"/>
                <a:gd name="T26" fmla="*/ 2027 w 4401"/>
                <a:gd name="T27" fmla="*/ 0 h 245"/>
                <a:gd name="T28" fmla="*/ 2027 w 4401"/>
                <a:gd name="T29" fmla="*/ 245 h 245"/>
                <a:gd name="T30" fmla="*/ 2471 w 4401"/>
                <a:gd name="T31" fmla="*/ 245 h 245"/>
                <a:gd name="T32" fmla="*/ 2471 w 4401"/>
                <a:gd name="T33" fmla="*/ 3 h 245"/>
                <a:gd name="T34" fmla="*/ 2693 w 4401"/>
                <a:gd name="T35" fmla="*/ 0 h 245"/>
                <a:gd name="T36" fmla="*/ 2693 w 4401"/>
                <a:gd name="T37" fmla="*/ 245 h 245"/>
                <a:gd name="T38" fmla="*/ 2915 w 4401"/>
                <a:gd name="T39" fmla="*/ 245 h 245"/>
                <a:gd name="T40" fmla="*/ 2915 w 4401"/>
                <a:gd name="T41" fmla="*/ 0 h 245"/>
                <a:gd name="T42" fmla="*/ 3368 w 4401"/>
                <a:gd name="T43" fmla="*/ 0 h 245"/>
                <a:gd name="T44" fmla="*/ 3368 w 4401"/>
                <a:gd name="T45" fmla="*/ 245 h 245"/>
                <a:gd name="T46" fmla="*/ 3590 w 4401"/>
                <a:gd name="T47" fmla="*/ 245 h 245"/>
                <a:gd name="T48" fmla="*/ 3590 w 4401"/>
                <a:gd name="T49" fmla="*/ 0 h 245"/>
                <a:gd name="T50" fmla="*/ 3812 w 4401"/>
                <a:gd name="T51" fmla="*/ 0 h 245"/>
                <a:gd name="T52" fmla="*/ 3812 w 4401"/>
                <a:gd name="T53" fmla="*/ 245 h 245"/>
                <a:gd name="T54" fmla="*/ 4034 w 4401"/>
                <a:gd name="T55" fmla="*/ 245 h 245"/>
                <a:gd name="T56" fmla="*/ 4034 w 4401"/>
                <a:gd name="T57" fmla="*/ 0 h 245"/>
                <a:gd name="T58" fmla="*/ 4256 w 4401"/>
                <a:gd name="T59" fmla="*/ 0 h 245"/>
                <a:gd name="T60" fmla="*/ 4256 w 4401"/>
                <a:gd name="T61" fmla="*/ 245 h 245"/>
                <a:gd name="T62" fmla="*/ 4401 w 4401"/>
                <a:gd name="T63" fmla="*/ 245 h 245"/>
                <a:gd name="connsiteX0" fmla="*/ 0 w 10203"/>
                <a:gd name="connsiteY0" fmla="*/ 0 h 10000"/>
                <a:gd name="connsiteX1" fmla="*/ 504 w 10203"/>
                <a:gd name="connsiteY1" fmla="*/ 0 h 10000"/>
                <a:gd name="connsiteX2" fmla="*/ 504 w 10203"/>
                <a:gd name="connsiteY2" fmla="*/ 10000 h 10000"/>
                <a:gd name="connsiteX3" fmla="*/ 1536 w 10203"/>
                <a:gd name="connsiteY3" fmla="*/ 10000 h 10000"/>
                <a:gd name="connsiteX4" fmla="*/ 1536 w 10203"/>
                <a:gd name="connsiteY4" fmla="*/ 0 h 10000"/>
                <a:gd name="connsiteX5" fmla="*/ 2040 w 10203"/>
                <a:gd name="connsiteY5" fmla="*/ 0 h 10000"/>
                <a:gd name="connsiteX6" fmla="*/ 2040 w 10203"/>
                <a:gd name="connsiteY6" fmla="*/ 10000 h 10000"/>
                <a:gd name="connsiteX7" fmla="*/ 2565 w 10203"/>
                <a:gd name="connsiteY7" fmla="*/ 10000 h 10000"/>
                <a:gd name="connsiteX8" fmla="*/ 2565 w 10203"/>
                <a:gd name="connsiteY8" fmla="*/ 0 h 10000"/>
                <a:gd name="connsiteX9" fmla="*/ 3070 w 10203"/>
                <a:gd name="connsiteY9" fmla="*/ 0 h 10000"/>
                <a:gd name="connsiteX10" fmla="*/ 3070 w 10203"/>
                <a:gd name="connsiteY10" fmla="*/ 10000 h 10000"/>
                <a:gd name="connsiteX11" fmla="*/ 3574 w 10203"/>
                <a:gd name="connsiteY11" fmla="*/ 10000 h 10000"/>
                <a:gd name="connsiteX12" fmla="*/ 3574 w 10203"/>
                <a:gd name="connsiteY12" fmla="*/ 0 h 10000"/>
                <a:gd name="connsiteX13" fmla="*/ 4606 w 10203"/>
                <a:gd name="connsiteY13" fmla="*/ 0 h 10000"/>
                <a:gd name="connsiteX14" fmla="*/ 4606 w 10203"/>
                <a:gd name="connsiteY14" fmla="*/ 10000 h 10000"/>
                <a:gd name="connsiteX15" fmla="*/ 5615 w 10203"/>
                <a:gd name="connsiteY15" fmla="*/ 10000 h 10000"/>
                <a:gd name="connsiteX16" fmla="*/ 5615 w 10203"/>
                <a:gd name="connsiteY16" fmla="*/ 122 h 10000"/>
                <a:gd name="connsiteX17" fmla="*/ 6119 w 10203"/>
                <a:gd name="connsiteY17" fmla="*/ 0 h 10000"/>
                <a:gd name="connsiteX18" fmla="*/ 6119 w 10203"/>
                <a:gd name="connsiteY18" fmla="*/ 10000 h 10000"/>
                <a:gd name="connsiteX19" fmla="*/ 6623 w 10203"/>
                <a:gd name="connsiteY19" fmla="*/ 10000 h 10000"/>
                <a:gd name="connsiteX20" fmla="*/ 6623 w 10203"/>
                <a:gd name="connsiteY20" fmla="*/ 0 h 10000"/>
                <a:gd name="connsiteX21" fmla="*/ 7653 w 10203"/>
                <a:gd name="connsiteY21" fmla="*/ 0 h 10000"/>
                <a:gd name="connsiteX22" fmla="*/ 7653 w 10203"/>
                <a:gd name="connsiteY22" fmla="*/ 10000 h 10000"/>
                <a:gd name="connsiteX23" fmla="*/ 8157 w 10203"/>
                <a:gd name="connsiteY23" fmla="*/ 10000 h 10000"/>
                <a:gd name="connsiteX24" fmla="*/ 8157 w 10203"/>
                <a:gd name="connsiteY24" fmla="*/ 0 h 10000"/>
                <a:gd name="connsiteX25" fmla="*/ 8662 w 10203"/>
                <a:gd name="connsiteY25" fmla="*/ 0 h 10000"/>
                <a:gd name="connsiteX26" fmla="*/ 8662 w 10203"/>
                <a:gd name="connsiteY26" fmla="*/ 10000 h 10000"/>
                <a:gd name="connsiteX27" fmla="*/ 9166 w 10203"/>
                <a:gd name="connsiteY27" fmla="*/ 10000 h 10000"/>
                <a:gd name="connsiteX28" fmla="*/ 9166 w 10203"/>
                <a:gd name="connsiteY28" fmla="*/ 0 h 10000"/>
                <a:gd name="connsiteX29" fmla="*/ 9671 w 10203"/>
                <a:gd name="connsiteY29" fmla="*/ 0 h 10000"/>
                <a:gd name="connsiteX30" fmla="*/ 9671 w 10203"/>
                <a:gd name="connsiteY30" fmla="*/ 10000 h 10000"/>
                <a:gd name="connsiteX31" fmla="*/ 10203 w 10203"/>
                <a:gd name="connsiteY31" fmla="*/ 10000 h 10000"/>
                <a:gd name="connsiteX0" fmla="*/ 0 w 10101"/>
                <a:gd name="connsiteY0" fmla="*/ 0 h 10000"/>
                <a:gd name="connsiteX1" fmla="*/ 504 w 10101"/>
                <a:gd name="connsiteY1" fmla="*/ 0 h 10000"/>
                <a:gd name="connsiteX2" fmla="*/ 504 w 10101"/>
                <a:gd name="connsiteY2" fmla="*/ 10000 h 10000"/>
                <a:gd name="connsiteX3" fmla="*/ 1536 w 10101"/>
                <a:gd name="connsiteY3" fmla="*/ 10000 h 10000"/>
                <a:gd name="connsiteX4" fmla="*/ 1536 w 10101"/>
                <a:gd name="connsiteY4" fmla="*/ 0 h 10000"/>
                <a:gd name="connsiteX5" fmla="*/ 2040 w 10101"/>
                <a:gd name="connsiteY5" fmla="*/ 0 h 10000"/>
                <a:gd name="connsiteX6" fmla="*/ 2040 w 10101"/>
                <a:gd name="connsiteY6" fmla="*/ 10000 h 10000"/>
                <a:gd name="connsiteX7" fmla="*/ 2565 w 10101"/>
                <a:gd name="connsiteY7" fmla="*/ 10000 h 10000"/>
                <a:gd name="connsiteX8" fmla="*/ 2565 w 10101"/>
                <a:gd name="connsiteY8" fmla="*/ 0 h 10000"/>
                <a:gd name="connsiteX9" fmla="*/ 3070 w 10101"/>
                <a:gd name="connsiteY9" fmla="*/ 0 h 10000"/>
                <a:gd name="connsiteX10" fmla="*/ 3070 w 10101"/>
                <a:gd name="connsiteY10" fmla="*/ 10000 h 10000"/>
                <a:gd name="connsiteX11" fmla="*/ 3574 w 10101"/>
                <a:gd name="connsiteY11" fmla="*/ 10000 h 10000"/>
                <a:gd name="connsiteX12" fmla="*/ 3574 w 10101"/>
                <a:gd name="connsiteY12" fmla="*/ 0 h 10000"/>
                <a:gd name="connsiteX13" fmla="*/ 4606 w 10101"/>
                <a:gd name="connsiteY13" fmla="*/ 0 h 10000"/>
                <a:gd name="connsiteX14" fmla="*/ 4606 w 10101"/>
                <a:gd name="connsiteY14" fmla="*/ 10000 h 10000"/>
                <a:gd name="connsiteX15" fmla="*/ 5615 w 10101"/>
                <a:gd name="connsiteY15" fmla="*/ 10000 h 10000"/>
                <a:gd name="connsiteX16" fmla="*/ 5615 w 10101"/>
                <a:gd name="connsiteY16" fmla="*/ 122 h 10000"/>
                <a:gd name="connsiteX17" fmla="*/ 6119 w 10101"/>
                <a:gd name="connsiteY17" fmla="*/ 0 h 10000"/>
                <a:gd name="connsiteX18" fmla="*/ 6119 w 10101"/>
                <a:gd name="connsiteY18" fmla="*/ 10000 h 10000"/>
                <a:gd name="connsiteX19" fmla="*/ 6623 w 10101"/>
                <a:gd name="connsiteY19" fmla="*/ 10000 h 10000"/>
                <a:gd name="connsiteX20" fmla="*/ 6623 w 10101"/>
                <a:gd name="connsiteY20" fmla="*/ 0 h 10000"/>
                <a:gd name="connsiteX21" fmla="*/ 7653 w 10101"/>
                <a:gd name="connsiteY21" fmla="*/ 0 h 10000"/>
                <a:gd name="connsiteX22" fmla="*/ 7653 w 10101"/>
                <a:gd name="connsiteY22" fmla="*/ 10000 h 10000"/>
                <a:gd name="connsiteX23" fmla="*/ 8157 w 10101"/>
                <a:gd name="connsiteY23" fmla="*/ 10000 h 10000"/>
                <a:gd name="connsiteX24" fmla="*/ 8157 w 10101"/>
                <a:gd name="connsiteY24" fmla="*/ 0 h 10000"/>
                <a:gd name="connsiteX25" fmla="*/ 8662 w 10101"/>
                <a:gd name="connsiteY25" fmla="*/ 0 h 10000"/>
                <a:gd name="connsiteX26" fmla="*/ 8662 w 10101"/>
                <a:gd name="connsiteY26" fmla="*/ 10000 h 10000"/>
                <a:gd name="connsiteX27" fmla="*/ 9166 w 10101"/>
                <a:gd name="connsiteY27" fmla="*/ 10000 h 10000"/>
                <a:gd name="connsiteX28" fmla="*/ 9166 w 10101"/>
                <a:gd name="connsiteY28" fmla="*/ 0 h 10000"/>
                <a:gd name="connsiteX29" fmla="*/ 9671 w 10101"/>
                <a:gd name="connsiteY29" fmla="*/ 0 h 10000"/>
                <a:gd name="connsiteX30" fmla="*/ 9671 w 10101"/>
                <a:gd name="connsiteY30" fmla="*/ 10000 h 10000"/>
                <a:gd name="connsiteX31" fmla="*/ 10101 w 10101"/>
                <a:gd name="connsiteY31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101" h="10000">
                  <a:moveTo>
                    <a:pt x="0" y="0"/>
                  </a:moveTo>
                  <a:lnTo>
                    <a:pt x="504" y="0"/>
                  </a:lnTo>
                  <a:lnTo>
                    <a:pt x="504" y="10000"/>
                  </a:lnTo>
                  <a:lnTo>
                    <a:pt x="1536" y="10000"/>
                  </a:lnTo>
                  <a:lnTo>
                    <a:pt x="1536" y="0"/>
                  </a:lnTo>
                  <a:lnTo>
                    <a:pt x="2040" y="0"/>
                  </a:lnTo>
                  <a:lnTo>
                    <a:pt x="2040" y="10000"/>
                  </a:lnTo>
                  <a:lnTo>
                    <a:pt x="2565" y="10000"/>
                  </a:lnTo>
                  <a:lnTo>
                    <a:pt x="2565" y="0"/>
                  </a:lnTo>
                  <a:lnTo>
                    <a:pt x="3070" y="0"/>
                  </a:lnTo>
                  <a:lnTo>
                    <a:pt x="3070" y="10000"/>
                  </a:lnTo>
                  <a:lnTo>
                    <a:pt x="3574" y="10000"/>
                  </a:lnTo>
                  <a:lnTo>
                    <a:pt x="3574" y="0"/>
                  </a:lnTo>
                  <a:lnTo>
                    <a:pt x="4606" y="0"/>
                  </a:lnTo>
                  <a:lnTo>
                    <a:pt x="4606" y="10000"/>
                  </a:lnTo>
                  <a:lnTo>
                    <a:pt x="5615" y="10000"/>
                  </a:lnTo>
                  <a:lnTo>
                    <a:pt x="5615" y="122"/>
                  </a:lnTo>
                  <a:lnTo>
                    <a:pt x="6119" y="0"/>
                  </a:lnTo>
                  <a:lnTo>
                    <a:pt x="6119" y="10000"/>
                  </a:lnTo>
                  <a:lnTo>
                    <a:pt x="6623" y="10000"/>
                  </a:lnTo>
                  <a:lnTo>
                    <a:pt x="6623" y="0"/>
                  </a:lnTo>
                  <a:lnTo>
                    <a:pt x="7653" y="0"/>
                  </a:lnTo>
                  <a:lnTo>
                    <a:pt x="7653" y="10000"/>
                  </a:lnTo>
                  <a:lnTo>
                    <a:pt x="8157" y="10000"/>
                  </a:lnTo>
                  <a:lnTo>
                    <a:pt x="8157" y="0"/>
                  </a:lnTo>
                  <a:lnTo>
                    <a:pt x="8662" y="0"/>
                  </a:lnTo>
                  <a:lnTo>
                    <a:pt x="8662" y="10000"/>
                  </a:lnTo>
                  <a:lnTo>
                    <a:pt x="9166" y="10000"/>
                  </a:lnTo>
                  <a:lnTo>
                    <a:pt x="9166" y="0"/>
                  </a:lnTo>
                  <a:lnTo>
                    <a:pt x="9671" y="0"/>
                  </a:lnTo>
                  <a:lnTo>
                    <a:pt x="9671" y="10000"/>
                  </a:lnTo>
                  <a:lnTo>
                    <a:pt x="10101" y="10000"/>
                  </a:lnTo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/>
            </a:p>
          </p:txBody>
        </p:sp>
        <p:sp>
          <p:nvSpPr>
            <p:cNvPr id="23" name="Rectangle 42"/>
            <p:cNvSpPr>
              <a:spLocks noChangeArrowheads="1"/>
            </p:cNvSpPr>
            <p:nvPr/>
          </p:nvSpPr>
          <p:spPr bwMode="auto">
            <a:xfrm>
              <a:off x="262909" y="2061816"/>
              <a:ext cx="1753423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20651" tIns="59267" rIns="120651" bIns="59267">
              <a:spAutoFit/>
            </a:bodyPr>
            <a:lstStyle/>
            <a:p>
              <a:pPr algn="r" defTabSz="1015975" eaLnBrk="0" hangingPunct="0"/>
              <a:r>
                <a:rPr kumimoji="1" lang="zh-CN" altLang="en-US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比特流</a:t>
              </a:r>
            </a:p>
          </p:txBody>
        </p:sp>
        <p:grpSp>
          <p:nvGrpSpPr>
            <p:cNvPr id="27" name="Group 65"/>
            <p:cNvGrpSpPr>
              <a:grpSpLocks/>
            </p:cNvGrpSpPr>
            <p:nvPr/>
          </p:nvGrpSpPr>
          <p:grpSpPr bwMode="auto">
            <a:xfrm>
              <a:off x="2062492" y="3766245"/>
              <a:ext cx="7483921" cy="690711"/>
              <a:chOff x="1255" y="2804"/>
              <a:chExt cx="4461" cy="258"/>
            </a:xfrm>
          </p:grpSpPr>
          <p:sp>
            <p:nvSpPr>
              <p:cNvPr id="31" name="Freeform 63"/>
              <p:cNvSpPr>
                <a:spLocks/>
              </p:cNvSpPr>
              <p:nvPr/>
            </p:nvSpPr>
            <p:spPr bwMode="auto">
              <a:xfrm>
                <a:off x="1255" y="2804"/>
                <a:ext cx="2909" cy="258"/>
              </a:xfrm>
              <a:custGeom>
                <a:avLst/>
                <a:gdLst>
                  <a:gd name="T0" fmla="*/ 0 w 2909"/>
                  <a:gd name="T1" fmla="*/ 0 h 258"/>
                  <a:gd name="T2" fmla="*/ 223 w 2909"/>
                  <a:gd name="T3" fmla="*/ 0 h 258"/>
                  <a:gd name="T4" fmla="*/ 223 w 2909"/>
                  <a:gd name="T5" fmla="*/ 258 h 258"/>
                  <a:gd name="T6" fmla="*/ 446 w 2909"/>
                  <a:gd name="T7" fmla="*/ 258 h 258"/>
                  <a:gd name="T8" fmla="*/ 446 w 2909"/>
                  <a:gd name="T9" fmla="*/ 5 h 258"/>
                  <a:gd name="T10" fmla="*/ 681 w 2909"/>
                  <a:gd name="T11" fmla="*/ 5 h 258"/>
                  <a:gd name="T12" fmla="*/ 681 w 2909"/>
                  <a:gd name="T13" fmla="*/ 258 h 258"/>
                  <a:gd name="T14" fmla="*/ 887 w 2909"/>
                  <a:gd name="T15" fmla="*/ 258 h 258"/>
                  <a:gd name="T16" fmla="*/ 887 w 2909"/>
                  <a:gd name="T17" fmla="*/ 0 h 258"/>
                  <a:gd name="T18" fmla="*/ 1111 w 2909"/>
                  <a:gd name="T19" fmla="*/ 0 h 258"/>
                  <a:gd name="T20" fmla="*/ 1111 w 2909"/>
                  <a:gd name="T21" fmla="*/ 258 h 258"/>
                  <a:gd name="T22" fmla="*/ 1340 w 2909"/>
                  <a:gd name="T23" fmla="*/ 258 h 258"/>
                  <a:gd name="T24" fmla="*/ 1340 w 2909"/>
                  <a:gd name="T25" fmla="*/ 0 h 258"/>
                  <a:gd name="T26" fmla="*/ 1563 w 2909"/>
                  <a:gd name="T27" fmla="*/ 0 h 258"/>
                  <a:gd name="T28" fmla="*/ 1563 w 2909"/>
                  <a:gd name="T29" fmla="*/ 258 h 258"/>
                  <a:gd name="T30" fmla="*/ 2010 w 2909"/>
                  <a:gd name="T31" fmla="*/ 258 h 258"/>
                  <a:gd name="T32" fmla="*/ 2010 w 2909"/>
                  <a:gd name="T33" fmla="*/ 0 h 258"/>
                  <a:gd name="T34" fmla="*/ 2245 w 2909"/>
                  <a:gd name="T35" fmla="*/ 0 h 258"/>
                  <a:gd name="T36" fmla="*/ 2245 w 2909"/>
                  <a:gd name="T37" fmla="*/ 258 h 258"/>
                  <a:gd name="T38" fmla="*/ 2462 w 2909"/>
                  <a:gd name="T39" fmla="*/ 258 h 258"/>
                  <a:gd name="T40" fmla="*/ 2462 w 2909"/>
                  <a:gd name="T41" fmla="*/ 0 h 258"/>
                  <a:gd name="T42" fmla="*/ 2686 w 2909"/>
                  <a:gd name="T43" fmla="*/ 0 h 258"/>
                  <a:gd name="T44" fmla="*/ 2686 w 2909"/>
                  <a:gd name="T45" fmla="*/ 258 h 258"/>
                  <a:gd name="T46" fmla="*/ 2909 w 2909"/>
                  <a:gd name="T47" fmla="*/ 258 h 258"/>
                  <a:gd name="T48" fmla="*/ 2909 w 2909"/>
                  <a:gd name="T4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09" h="258">
                    <a:moveTo>
                      <a:pt x="0" y="0"/>
                    </a:moveTo>
                    <a:lnTo>
                      <a:pt x="223" y="0"/>
                    </a:lnTo>
                    <a:lnTo>
                      <a:pt x="223" y="258"/>
                    </a:lnTo>
                    <a:lnTo>
                      <a:pt x="446" y="258"/>
                    </a:lnTo>
                    <a:lnTo>
                      <a:pt x="446" y="5"/>
                    </a:lnTo>
                    <a:lnTo>
                      <a:pt x="681" y="5"/>
                    </a:lnTo>
                    <a:lnTo>
                      <a:pt x="681" y="258"/>
                    </a:lnTo>
                    <a:lnTo>
                      <a:pt x="887" y="258"/>
                    </a:lnTo>
                    <a:lnTo>
                      <a:pt x="887" y="0"/>
                    </a:lnTo>
                    <a:lnTo>
                      <a:pt x="1111" y="0"/>
                    </a:lnTo>
                    <a:lnTo>
                      <a:pt x="1111" y="258"/>
                    </a:lnTo>
                    <a:lnTo>
                      <a:pt x="1340" y="258"/>
                    </a:lnTo>
                    <a:lnTo>
                      <a:pt x="1340" y="0"/>
                    </a:lnTo>
                    <a:lnTo>
                      <a:pt x="1563" y="0"/>
                    </a:lnTo>
                    <a:lnTo>
                      <a:pt x="1563" y="258"/>
                    </a:lnTo>
                    <a:lnTo>
                      <a:pt x="2010" y="258"/>
                    </a:lnTo>
                    <a:lnTo>
                      <a:pt x="2010" y="0"/>
                    </a:lnTo>
                    <a:lnTo>
                      <a:pt x="2245" y="0"/>
                    </a:lnTo>
                    <a:lnTo>
                      <a:pt x="2245" y="258"/>
                    </a:lnTo>
                    <a:lnTo>
                      <a:pt x="2462" y="258"/>
                    </a:lnTo>
                    <a:lnTo>
                      <a:pt x="2462" y="0"/>
                    </a:lnTo>
                    <a:lnTo>
                      <a:pt x="2686" y="0"/>
                    </a:lnTo>
                    <a:lnTo>
                      <a:pt x="2686" y="258"/>
                    </a:lnTo>
                    <a:lnTo>
                      <a:pt x="2909" y="258"/>
                    </a:lnTo>
                    <a:lnTo>
                      <a:pt x="2909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133" b="1"/>
              </a:p>
            </p:txBody>
          </p:sp>
          <p:sp>
            <p:nvSpPr>
              <p:cNvPr id="32" name="Freeform 64"/>
              <p:cNvSpPr>
                <a:spLocks/>
              </p:cNvSpPr>
              <p:nvPr/>
            </p:nvSpPr>
            <p:spPr bwMode="auto">
              <a:xfrm>
                <a:off x="4164" y="2804"/>
                <a:ext cx="1552" cy="258"/>
              </a:xfrm>
              <a:custGeom>
                <a:avLst/>
                <a:gdLst>
                  <a:gd name="T0" fmla="*/ 0 w 1552"/>
                  <a:gd name="T1" fmla="*/ 0 h 258"/>
                  <a:gd name="T2" fmla="*/ 453 w 1552"/>
                  <a:gd name="T3" fmla="*/ 0 h 258"/>
                  <a:gd name="T4" fmla="*/ 453 w 1552"/>
                  <a:gd name="T5" fmla="*/ 258 h 258"/>
                  <a:gd name="T6" fmla="*/ 905 w 1552"/>
                  <a:gd name="T7" fmla="*/ 258 h 258"/>
                  <a:gd name="T8" fmla="*/ 905 w 1552"/>
                  <a:gd name="T9" fmla="*/ 0 h 258"/>
                  <a:gd name="T10" fmla="*/ 1329 w 1552"/>
                  <a:gd name="T11" fmla="*/ 0 h 258"/>
                  <a:gd name="T12" fmla="*/ 1329 w 1552"/>
                  <a:gd name="T13" fmla="*/ 258 h 258"/>
                  <a:gd name="T14" fmla="*/ 1552 w 1552"/>
                  <a:gd name="T15" fmla="*/ 258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52" h="258">
                    <a:moveTo>
                      <a:pt x="0" y="0"/>
                    </a:moveTo>
                    <a:lnTo>
                      <a:pt x="453" y="0"/>
                    </a:lnTo>
                    <a:lnTo>
                      <a:pt x="453" y="258"/>
                    </a:lnTo>
                    <a:lnTo>
                      <a:pt x="905" y="258"/>
                    </a:lnTo>
                    <a:lnTo>
                      <a:pt x="905" y="0"/>
                    </a:lnTo>
                    <a:lnTo>
                      <a:pt x="1329" y="0"/>
                    </a:lnTo>
                    <a:lnTo>
                      <a:pt x="1329" y="258"/>
                    </a:lnTo>
                    <a:lnTo>
                      <a:pt x="1552" y="25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133" b="1"/>
              </a:p>
            </p:txBody>
          </p:sp>
        </p:grpSp>
        <p:sp>
          <p:nvSpPr>
            <p:cNvPr id="28" name="Rectangle 68"/>
            <p:cNvSpPr>
              <a:spLocks noChangeArrowheads="1"/>
            </p:cNvSpPr>
            <p:nvPr/>
          </p:nvSpPr>
          <p:spPr bwMode="auto">
            <a:xfrm>
              <a:off x="-826137" y="3817669"/>
              <a:ext cx="2864289" cy="59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20651" tIns="59267" rIns="120651" bIns="59267">
              <a:spAutoFit/>
            </a:bodyPr>
            <a:lstStyle/>
            <a:p>
              <a:pPr algn="r" defTabSz="1015975" eaLnBrk="0" hangingPunct="0"/>
              <a:r>
                <a:rPr kumimoji="1" lang="zh-CN" altLang="en-US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差分曼彻斯特</a:t>
              </a:r>
            </a:p>
          </p:txBody>
        </p:sp>
        <p:cxnSp>
          <p:nvCxnSpPr>
            <p:cNvPr id="29" name="直接连接符 28"/>
            <p:cNvCxnSpPr/>
            <p:nvPr/>
          </p:nvCxnSpPr>
          <p:spPr bwMode="auto">
            <a:xfrm>
              <a:off x="2066413" y="4123268"/>
              <a:ext cx="749509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29"/>
            <p:cNvCxnSpPr/>
            <p:nvPr/>
          </p:nvCxnSpPr>
          <p:spPr bwMode="auto">
            <a:xfrm>
              <a:off x="2066413" y="3126283"/>
              <a:ext cx="749509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9" name="对角圆角矩形 48"/>
          <p:cNvSpPr/>
          <p:nvPr/>
        </p:nvSpPr>
        <p:spPr>
          <a:xfrm>
            <a:off x="923636" y="4376976"/>
            <a:ext cx="10098424" cy="910448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0" name="矩形 49"/>
          <p:cNvSpPr/>
          <p:nvPr/>
        </p:nvSpPr>
        <p:spPr>
          <a:xfrm>
            <a:off x="1207008" y="4535928"/>
            <a:ext cx="9948672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Bef>
                <a:spcPts val="8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曼彻斯特编码</a:t>
            </a:r>
            <a:r>
              <a:rPr lang="zh-CN" altLang="en-US" sz="2400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所占的频带宽度比原始的基带信号</a:t>
            </a:r>
            <a:r>
              <a:rPr lang="zh-CN" altLang="en-US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增加了一倍。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3DB4A0-2C53-5F35-4C37-77FD23D76A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86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670562" y="739337"/>
            <a:ext cx="11372281" cy="2289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发送数据后，至少要在多少时间内收到数据才说明没有碰撞？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lvl="1" eaLnBrk="0" hangingPunct="0">
              <a:lnSpc>
                <a:spcPts val="4400"/>
              </a:lnSpc>
              <a:buClr>
                <a:srgbClr val="0070C0"/>
              </a:buClr>
            </a:pP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Line 2">
            <a:extLst>
              <a:ext uri="{FF2B5EF4-FFF2-40B4-BE49-F238E27FC236}">
                <a16:creationId xmlns:a16="http://schemas.microsoft.com/office/drawing/2014/main" id="{D0073AB3-9F11-85CA-FEFD-BA00311F28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28" y="3471435"/>
            <a:ext cx="3978187" cy="0"/>
          </a:xfrm>
          <a:prstGeom prst="line">
            <a:avLst/>
          </a:prstGeom>
          <a:noFill/>
          <a:ln w="57150" cmpd="sng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Line 3">
            <a:extLst>
              <a:ext uri="{FF2B5EF4-FFF2-40B4-BE49-F238E27FC236}">
                <a16:creationId xmlns:a16="http://schemas.microsoft.com/office/drawing/2014/main" id="{0AC4D335-0BC0-2E34-509F-34C57C784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1691" y="3243800"/>
            <a:ext cx="3611999" cy="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 type="triangl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BFC76B01-74F0-D49C-F48A-A1BF76BCA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807" y="2896185"/>
            <a:ext cx="839976" cy="40701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867" b="1" dirty="0">
                <a:solidFill>
                  <a:srgbClr val="CC3300"/>
                </a:solidFill>
                <a:latin typeface="微软雅黑" pitchFamily="34" charset="-122"/>
                <a:ea typeface="微软雅黑" pitchFamily="34" charset="-122"/>
              </a:rPr>
              <a:t>1 km</a:t>
            </a:r>
          </a:p>
        </p:txBody>
      </p:sp>
      <p:sp>
        <p:nvSpPr>
          <p:cNvPr id="49" name="Line 5">
            <a:extLst>
              <a:ext uri="{FF2B5EF4-FFF2-40B4-BE49-F238E27FC236}">
                <a16:creationId xmlns:a16="http://schemas.microsoft.com/office/drawing/2014/main" id="{3B33FBBF-5919-BC21-F106-D5AC29DD4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944" y="3464104"/>
            <a:ext cx="0" cy="142459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Line 6">
            <a:extLst>
              <a:ext uri="{FF2B5EF4-FFF2-40B4-BE49-F238E27FC236}">
                <a16:creationId xmlns:a16="http://schemas.microsoft.com/office/drawing/2014/main" id="{16257E6D-5E11-8C33-8A25-8A54E8A65F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5008" y="3464104"/>
            <a:ext cx="3967347" cy="68415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Rectangle 7">
            <a:extLst>
              <a:ext uri="{FF2B5EF4-FFF2-40B4-BE49-F238E27FC236}">
                <a16:creationId xmlns:a16="http://schemas.microsoft.com/office/drawing/2014/main" id="{E7AD1498-8D94-A77E-FB43-9C352F84E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866" y="3061079"/>
            <a:ext cx="448843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2133" b="1" dirty="0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52" name="Rectangle 8">
            <a:extLst>
              <a:ext uri="{FF2B5EF4-FFF2-40B4-BE49-F238E27FC236}">
                <a16:creationId xmlns:a16="http://schemas.microsoft.com/office/drawing/2014/main" id="{6EB7AA63-AE0A-8857-43CA-4EA949644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833" y="3079954"/>
            <a:ext cx="431210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2133" b="1" dirty="0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53" name="Line 9">
            <a:extLst>
              <a:ext uri="{FF2B5EF4-FFF2-40B4-BE49-F238E27FC236}">
                <a16:creationId xmlns:a16="http://schemas.microsoft.com/office/drawing/2014/main" id="{FE5B92F0-C43E-E3FB-B324-3FB484351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0677" y="3734264"/>
            <a:ext cx="5420" cy="85925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Rectangle 10">
            <a:extLst>
              <a:ext uri="{FF2B5EF4-FFF2-40B4-BE49-F238E27FC236}">
                <a16:creationId xmlns:a16="http://schemas.microsoft.com/office/drawing/2014/main" id="{0BE69A91-EF26-263F-E1FA-BBEA97B3B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621" y="3971283"/>
            <a:ext cx="357472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2133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55" name="Line 11">
            <a:extLst>
              <a:ext uri="{FF2B5EF4-FFF2-40B4-BE49-F238E27FC236}">
                <a16:creationId xmlns:a16="http://schemas.microsoft.com/office/drawing/2014/main" id="{79363828-3BA2-4D99-ACEC-62503D680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8615" y="3455348"/>
            <a:ext cx="0" cy="116944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Line 12">
            <a:extLst>
              <a:ext uri="{FF2B5EF4-FFF2-40B4-BE49-F238E27FC236}">
                <a16:creationId xmlns:a16="http://schemas.microsoft.com/office/drawing/2014/main" id="{5EE97CBC-F413-D778-A923-9912781810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0944" y="4018182"/>
            <a:ext cx="3986317" cy="692909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7" name="Group 13">
            <a:extLst>
              <a:ext uri="{FF2B5EF4-FFF2-40B4-BE49-F238E27FC236}">
                <a16:creationId xmlns:a16="http://schemas.microsoft.com/office/drawing/2014/main" id="{39DC3DD7-0D34-1C4F-380E-E87F073048A0}"/>
              </a:ext>
            </a:extLst>
          </p:cNvPr>
          <p:cNvGrpSpPr>
            <a:grpSpLocks/>
          </p:cNvGrpSpPr>
          <p:nvPr/>
        </p:nvGrpSpPr>
        <p:grpSpPr bwMode="auto">
          <a:xfrm>
            <a:off x="5961854" y="3170179"/>
            <a:ext cx="1048745" cy="915541"/>
            <a:chOff x="3240" y="179"/>
            <a:chExt cx="774" cy="732"/>
          </a:xfrm>
        </p:grpSpPr>
        <p:sp>
          <p:nvSpPr>
            <p:cNvPr id="58" name="Line 14">
              <a:extLst>
                <a:ext uri="{FF2B5EF4-FFF2-40B4-BE49-F238E27FC236}">
                  <a16:creationId xmlns:a16="http://schemas.microsoft.com/office/drawing/2014/main" id="{045AE591-CEF3-1BDE-FBB7-3F130725D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728"/>
              <a:ext cx="112" cy="1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AutoShape 15">
              <a:extLst>
                <a:ext uri="{FF2B5EF4-FFF2-40B4-BE49-F238E27FC236}">
                  <a16:creationId xmlns:a16="http://schemas.microsoft.com/office/drawing/2014/main" id="{DE93C5E8-A176-D492-E1F1-AD59B78A0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179"/>
              <a:ext cx="774" cy="721"/>
            </a:xfrm>
            <a:prstGeom prst="irregularSeal1">
              <a:avLst/>
            </a:prstGeom>
            <a:solidFill>
              <a:srgbClr val="CC00CC"/>
            </a:solidFill>
            <a:ln w="12700">
              <a:solidFill>
                <a:srgbClr val="CC00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015975" eaLnBrk="0" hangingPunct="0"/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碰撞</a:t>
              </a:r>
            </a:p>
          </p:txBody>
        </p:sp>
      </p:grpSp>
      <p:grpSp>
        <p:nvGrpSpPr>
          <p:cNvPr id="60" name="Group 16">
            <a:extLst>
              <a:ext uri="{FF2B5EF4-FFF2-40B4-BE49-F238E27FC236}">
                <a16:creationId xmlns:a16="http://schemas.microsoft.com/office/drawing/2014/main" id="{A6C6382D-1728-776E-75B7-6002D94CB6B3}"/>
              </a:ext>
            </a:extLst>
          </p:cNvPr>
          <p:cNvGrpSpPr>
            <a:grpSpLocks/>
          </p:cNvGrpSpPr>
          <p:nvPr/>
        </p:nvGrpSpPr>
        <p:grpSpPr bwMode="auto">
          <a:xfrm>
            <a:off x="1566339" y="4483457"/>
            <a:ext cx="3284443" cy="1387069"/>
            <a:chOff x="-4" y="1229"/>
            <a:chExt cx="2424" cy="1109"/>
          </a:xfrm>
        </p:grpSpPr>
        <p:sp>
          <p:nvSpPr>
            <p:cNvPr id="61" name="Text Box 17">
              <a:extLst>
                <a:ext uri="{FF2B5EF4-FFF2-40B4-BE49-F238E27FC236}">
                  <a16:creationId xmlns:a16="http://schemas.microsoft.com/office/drawing/2014/main" id="{E4C14071-F743-EFB6-6DB2-E0DDEB9E5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" y="1229"/>
              <a:ext cx="924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0" hangingPunct="0"/>
              <a:r>
                <a:rPr kumimoji="1" lang="en-US" altLang="zh-CN" sz="1867" b="1" i="1" dirty="0">
                  <a:latin typeface="微软雅黑" pitchFamily="34" charset="-122"/>
                  <a:ea typeface="微软雅黑" pitchFamily="34" charset="-122"/>
                </a:rPr>
                <a:t>t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 = 2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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 </a:t>
              </a:r>
            </a:p>
          </p:txBody>
        </p:sp>
        <p:sp>
          <p:nvSpPr>
            <p:cNvPr id="62" name="Line 18">
              <a:extLst>
                <a:ext uri="{FF2B5EF4-FFF2-40B4-BE49-F238E27FC236}">
                  <a16:creationId xmlns:a16="http://schemas.microsoft.com/office/drawing/2014/main" id="{C2FFB24F-38FC-61E7-4BFF-A4F051989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" y="1417"/>
              <a:ext cx="2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3" name="Group 19">
              <a:extLst>
                <a:ext uri="{FF2B5EF4-FFF2-40B4-BE49-F238E27FC236}">
                  <a16:creationId xmlns:a16="http://schemas.microsoft.com/office/drawing/2014/main" id="{73D4CFEE-129C-7278-B946-234B1FCE6E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1" y="1683"/>
              <a:ext cx="1169" cy="655"/>
              <a:chOff x="1251" y="1683"/>
              <a:chExt cx="1169" cy="655"/>
            </a:xfrm>
          </p:grpSpPr>
          <p:sp>
            <p:nvSpPr>
              <p:cNvPr id="64" name="AutoShape 20">
                <a:extLst>
                  <a:ext uri="{FF2B5EF4-FFF2-40B4-BE49-F238E27FC236}">
                    <a16:creationId xmlns:a16="http://schemas.microsoft.com/office/drawing/2014/main" id="{5C712F91-C84D-1FDB-CAC2-6B5F35F4F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1" y="1683"/>
                <a:ext cx="1034" cy="655"/>
              </a:xfrm>
              <a:prstGeom prst="wedgeRoundRectCallout">
                <a:avLst>
                  <a:gd name="adj1" fmla="val -52346"/>
                  <a:gd name="adj2" fmla="val -88408"/>
                  <a:gd name="adj3" fmla="val 16667"/>
                </a:avLst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1015975" eaLnBrk="0" hangingPunct="0"/>
                <a:endParaRPr kumimoji="1" lang="zh-CN" altLang="zh-CN" sz="2133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5" name="Text Box 21">
                <a:extLst>
                  <a:ext uri="{FF2B5EF4-FFF2-40B4-BE49-F238E27FC236}">
                    <a16:creationId xmlns:a16="http://schemas.microsoft.com/office/drawing/2014/main" id="{9D25992F-C433-489B-1006-6ED9D5946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8" y="1755"/>
                <a:ext cx="1162" cy="5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0" hangingPunct="0"/>
                <a:r>
                  <a:rPr kumimoji="1" lang="en-US" altLang="zh-CN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A </a:t>
                </a:r>
                <a:r>
                  <a:rPr kumimoji="1" lang="zh-CN" altLang="en-US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检测到发生碰撞</a:t>
                </a:r>
              </a:p>
            </p:txBody>
          </p:sp>
        </p:grpSp>
      </p:grpSp>
      <p:grpSp>
        <p:nvGrpSpPr>
          <p:cNvPr id="66" name="Group 22">
            <a:extLst>
              <a:ext uri="{FF2B5EF4-FFF2-40B4-BE49-F238E27FC236}">
                <a16:creationId xmlns:a16="http://schemas.microsoft.com/office/drawing/2014/main" id="{86B2D983-8385-01EC-6486-6E1AB903E5D5}"/>
              </a:ext>
            </a:extLst>
          </p:cNvPr>
          <p:cNvGrpSpPr>
            <a:grpSpLocks/>
          </p:cNvGrpSpPr>
          <p:nvPr/>
        </p:nvGrpSpPr>
        <p:grpSpPr bwMode="auto">
          <a:xfrm>
            <a:off x="7217909" y="2833723"/>
            <a:ext cx="2238412" cy="1329541"/>
            <a:chOff x="4167" y="-90"/>
            <a:chExt cx="1652" cy="1063"/>
          </a:xfrm>
        </p:grpSpPr>
        <p:grpSp>
          <p:nvGrpSpPr>
            <p:cNvPr id="67" name="Group 23">
              <a:extLst>
                <a:ext uri="{FF2B5EF4-FFF2-40B4-BE49-F238E27FC236}">
                  <a16:creationId xmlns:a16="http://schemas.microsoft.com/office/drawing/2014/main" id="{DDB921EE-13F5-CC99-8439-2683E40869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7" y="637"/>
              <a:ext cx="1320" cy="336"/>
              <a:chOff x="4167" y="637"/>
              <a:chExt cx="1320" cy="336"/>
            </a:xfrm>
          </p:grpSpPr>
          <p:sp>
            <p:nvSpPr>
              <p:cNvPr id="71" name="Line 24">
                <a:extLst>
                  <a:ext uri="{FF2B5EF4-FFF2-40B4-BE49-F238E27FC236}">
                    <a16:creationId xmlns:a16="http://schemas.microsoft.com/office/drawing/2014/main" id="{522018DE-7211-22F0-9453-F496E7CB05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67" y="847"/>
                <a:ext cx="26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254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133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2" name="Text Box 25">
                <a:extLst>
                  <a:ext uri="{FF2B5EF4-FFF2-40B4-BE49-F238E27FC236}">
                    <a16:creationId xmlns:a16="http://schemas.microsoft.com/office/drawing/2014/main" id="{6AC91250-BE49-DD1E-C5D2-2056DBF730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1" y="637"/>
                <a:ext cx="1076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254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0" hangingPunct="0"/>
                <a:r>
                  <a:rPr kumimoji="1" lang="en-US" altLang="zh-CN" sz="2133" b="1" i="1" dirty="0">
                    <a:latin typeface="微软雅黑" pitchFamily="34" charset="-122"/>
                    <a:ea typeface="微软雅黑" pitchFamily="34" charset="-122"/>
                  </a:rPr>
                  <a:t>  t</a:t>
                </a:r>
                <a:r>
                  <a:rPr kumimoji="1" lang="en-US" altLang="zh-CN" sz="2133" b="1" dirty="0">
                    <a:latin typeface="微软雅黑" pitchFamily="34" charset="-122"/>
                    <a:ea typeface="微软雅黑" pitchFamily="34" charset="-122"/>
                  </a:rPr>
                  <a:t> = </a:t>
                </a:r>
                <a:r>
                  <a:rPr kumimoji="1" lang="en-US" altLang="zh-CN" sz="2133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</a:t>
                </a:r>
                <a:r>
                  <a:rPr kumimoji="1" lang="en-US" altLang="zh-CN" sz="2133" b="1" dirty="0"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kumimoji="1" lang="en-US" altLang="zh-CN" sz="2133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 </a:t>
                </a:r>
                <a:r>
                  <a:rPr kumimoji="1" lang="en-US" altLang="zh-CN" sz="2133" b="1" baseline="30000" dirty="0">
                    <a:latin typeface="微软雅黑" pitchFamily="34" charset="-122"/>
                    <a:ea typeface="微软雅黑" pitchFamily="34" charset="-122"/>
                  </a:rPr>
                  <a:t> </a:t>
                </a:r>
              </a:p>
            </p:txBody>
          </p:sp>
        </p:grpSp>
        <p:grpSp>
          <p:nvGrpSpPr>
            <p:cNvPr id="68" name="Group 26">
              <a:extLst>
                <a:ext uri="{FF2B5EF4-FFF2-40B4-BE49-F238E27FC236}">
                  <a16:creationId xmlns:a16="http://schemas.microsoft.com/office/drawing/2014/main" id="{7B9A58B0-971F-D1A1-6BDF-A279D59FC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5" y="-90"/>
              <a:ext cx="1404" cy="561"/>
              <a:chOff x="4415" y="-90"/>
              <a:chExt cx="1404" cy="561"/>
            </a:xfrm>
          </p:grpSpPr>
          <p:sp>
            <p:nvSpPr>
              <p:cNvPr id="69" name="AutoShape 27">
                <a:extLst>
                  <a:ext uri="{FF2B5EF4-FFF2-40B4-BE49-F238E27FC236}">
                    <a16:creationId xmlns:a16="http://schemas.microsoft.com/office/drawing/2014/main" id="{16AADA86-0381-E66C-65CC-3F678E51C9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5" y="-72"/>
                <a:ext cx="1404" cy="543"/>
              </a:xfrm>
              <a:prstGeom prst="wedgeRoundRectCallout">
                <a:avLst>
                  <a:gd name="adj1" fmla="val -66806"/>
                  <a:gd name="adj2" fmla="val 109262"/>
                  <a:gd name="adj3" fmla="val 16667"/>
                </a:avLst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54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1015975" eaLnBrk="0" hangingPunct="0"/>
                <a:endParaRPr kumimoji="1" lang="zh-CN" altLang="zh-CN" sz="2133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0" name="Text Box 28">
                <a:extLst>
                  <a:ext uri="{FF2B5EF4-FFF2-40B4-BE49-F238E27FC236}">
                    <a16:creationId xmlns:a16="http://schemas.microsoft.com/office/drawing/2014/main" id="{0446B271-2FFF-D36F-E718-01E0D3AA3B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0" y="-90"/>
                <a:ext cx="1295" cy="5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254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0" hangingPunct="0"/>
                <a:r>
                  <a:rPr kumimoji="1" lang="en-US" altLang="zh-CN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B </a:t>
                </a:r>
                <a:r>
                  <a:rPr kumimoji="1" lang="zh-CN" altLang="en-US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在 </a:t>
                </a:r>
                <a:r>
                  <a:rPr kumimoji="1" lang="en-US" altLang="zh-CN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A </a:t>
                </a:r>
                <a:r>
                  <a:rPr kumimoji="1" lang="zh-CN" altLang="en-US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信号到达前发送数据</a:t>
                </a:r>
              </a:p>
            </p:txBody>
          </p:sp>
        </p:grpSp>
      </p:grpSp>
      <p:grpSp>
        <p:nvGrpSpPr>
          <p:cNvPr id="73" name="Group 29">
            <a:extLst>
              <a:ext uri="{FF2B5EF4-FFF2-40B4-BE49-F238E27FC236}">
                <a16:creationId xmlns:a16="http://schemas.microsoft.com/office/drawing/2014/main" id="{DB79221D-C4C7-3A0A-656E-23BA68714A1D}"/>
              </a:ext>
            </a:extLst>
          </p:cNvPr>
          <p:cNvGrpSpPr>
            <a:grpSpLocks/>
          </p:cNvGrpSpPr>
          <p:nvPr/>
        </p:nvGrpSpPr>
        <p:grpSpPr bwMode="auto">
          <a:xfrm>
            <a:off x="5675956" y="4015681"/>
            <a:ext cx="2825111" cy="1223223"/>
            <a:chOff x="3029" y="855"/>
            <a:chExt cx="2085" cy="978"/>
          </a:xfrm>
        </p:grpSpPr>
        <p:grpSp>
          <p:nvGrpSpPr>
            <p:cNvPr id="74" name="Group 30">
              <a:extLst>
                <a:ext uri="{FF2B5EF4-FFF2-40B4-BE49-F238E27FC236}">
                  <a16:creationId xmlns:a16="http://schemas.microsoft.com/office/drawing/2014/main" id="{57C93A48-20A0-6A6F-FADB-40C72563C1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9" y="1223"/>
              <a:ext cx="1095" cy="610"/>
              <a:chOff x="3029" y="1223"/>
              <a:chExt cx="1095" cy="610"/>
            </a:xfrm>
          </p:grpSpPr>
          <p:sp>
            <p:nvSpPr>
              <p:cNvPr id="77" name="AutoShape 31">
                <a:extLst>
                  <a:ext uri="{FF2B5EF4-FFF2-40B4-BE49-F238E27FC236}">
                    <a16:creationId xmlns:a16="http://schemas.microsoft.com/office/drawing/2014/main" id="{6949A37C-3752-C86B-CF2A-BDC8FEB1C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9" y="1223"/>
                <a:ext cx="966" cy="610"/>
              </a:xfrm>
              <a:prstGeom prst="wedgeRoundRectCallout">
                <a:avLst>
                  <a:gd name="adj1" fmla="val 61231"/>
                  <a:gd name="adj2" fmla="val -88745"/>
                  <a:gd name="adj3" fmla="val 16667"/>
                </a:avLst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1015975" eaLnBrk="0" hangingPunct="0"/>
                <a:endParaRPr kumimoji="1" lang="zh-CN" altLang="zh-CN" sz="2133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8" name="Text Box 32">
                <a:extLst>
                  <a:ext uri="{FF2B5EF4-FFF2-40B4-BE49-F238E27FC236}">
                    <a16:creationId xmlns:a16="http://schemas.microsoft.com/office/drawing/2014/main" id="{FA342B8F-F9E5-082F-FC4E-7CB60D5B6E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1" y="1260"/>
                <a:ext cx="1023" cy="5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0" hangingPunct="0"/>
                <a:r>
                  <a:rPr kumimoji="1" lang="en-US" altLang="zh-CN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B </a:t>
                </a:r>
                <a:r>
                  <a:rPr kumimoji="1" lang="zh-CN" altLang="en-US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检测到发生碰撞</a:t>
                </a:r>
              </a:p>
            </p:txBody>
          </p:sp>
        </p:grpSp>
        <p:sp>
          <p:nvSpPr>
            <p:cNvPr id="75" name="Line 33">
              <a:extLst>
                <a:ext uri="{FF2B5EF4-FFF2-40B4-BE49-F238E27FC236}">
                  <a16:creationId xmlns:a16="http://schemas.microsoft.com/office/drawing/2014/main" id="{F65323C8-C75A-1BB4-C381-0FE8F3390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7" y="974"/>
              <a:ext cx="2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Text Box 34">
              <a:extLst>
                <a:ext uri="{FF2B5EF4-FFF2-40B4-BE49-F238E27FC236}">
                  <a16:creationId xmlns:a16="http://schemas.microsoft.com/office/drawing/2014/main" id="{CBA2567E-F766-1AA7-8FAC-95E4C583C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855"/>
              <a:ext cx="70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0" hangingPunct="0"/>
              <a:r>
                <a:rPr kumimoji="1" lang="en-US" altLang="zh-CN" sz="2133" b="1" i="1" dirty="0">
                  <a:latin typeface="微软雅黑" pitchFamily="34" charset="-122"/>
                  <a:ea typeface="微软雅黑" pitchFamily="34" charset="-122"/>
                </a:rPr>
                <a:t>  t</a:t>
              </a:r>
              <a:r>
                <a:rPr kumimoji="1" lang="en-US" altLang="zh-CN" sz="2133" b="1" dirty="0">
                  <a:latin typeface="微软雅黑" pitchFamily="34" charset="-122"/>
                  <a:ea typeface="微软雅黑" pitchFamily="34" charset="-122"/>
                </a:rPr>
                <a:t> = </a:t>
              </a:r>
              <a:r>
                <a:rPr kumimoji="1" lang="en-US" altLang="zh-CN" sz="2133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</a:t>
              </a:r>
            </a:p>
          </p:txBody>
        </p:sp>
      </p:grpSp>
      <p:sp>
        <p:nvSpPr>
          <p:cNvPr id="79" name="Text Box 35">
            <a:extLst>
              <a:ext uri="{FF2B5EF4-FFF2-40B4-BE49-F238E27FC236}">
                <a16:creationId xmlns:a16="http://schemas.microsoft.com/office/drawing/2014/main" id="{D69DE118-2767-7660-F4D0-8D8172055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0745" y="3261321"/>
            <a:ext cx="755335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hangingPunct="0"/>
            <a:r>
              <a:rPr kumimoji="1" lang="en-US" altLang="zh-CN" sz="1867" b="1" i="1" dirty="0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867" b="1" dirty="0">
                <a:latin typeface="微软雅黑" pitchFamily="34" charset="-122"/>
                <a:ea typeface="微软雅黑" pitchFamily="34" charset="-122"/>
              </a:rPr>
              <a:t> = 0</a:t>
            </a:r>
            <a:endParaRPr kumimoji="1" lang="en-US" altLang="zh-CN" sz="1867" b="1" baseline="30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Line 36">
            <a:extLst>
              <a:ext uri="{FF2B5EF4-FFF2-40B4-BE49-F238E27FC236}">
                <a16:creationId xmlns:a16="http://schemas.microsoft.com/office/drawing/2014/main" id="{DFC83A91-05B6-DD98-C993-3E4DBFC84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8843" y="3471435"/>
            <a:ext cx="3522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46">
            <a:extLst>
              <a:ext uri="{FF2B5EF4-FFF2-40B4-BE49-F238E27FC236}">
                <a16:creationId xmlns:a16="http://schemas.microsoft.com/office/drawing/2014/main" id="{8415950A-7D64-F291-F6BE-271CA6478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2" y="1314710"/>
            <a:ext cx="10838687" cy="1138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066773" lvl="1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以太网的端到端往返时延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667" b="1" i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 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称为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争用期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，或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碰撞窗口。</a:t>
            </a:r>
          </a:p>
          <a:p>
            <a:pPr marL="1066773" lvl="1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具体的争用期时间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= 51.2 </a:t>
            </a:r>
            <a:r>
              <a:rPr lang="el-GR" altLang="zh-CN" sz="2667" b="1" dirty="0">
                <a:latin typeface="微软雅黑" pitchFamily="34" charset="-122"/>
                <a:ea typeface="微软雅黑" pitchFamily="34" charset="-122"/>
              </a:rPr>
              <a:t>μ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3978C1D-7E9A-F379-BAF3-1E9A863AF2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4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670562" y="1300910"/>
            <a:ext cx="10838687" cy="4662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CSMA/CD (Carrier Sense Multiple Access with Collision Detection)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载波监听多点接入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碰撞检测。</a:t>
            </a:r>
          </a:p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多点接入：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说明这是总线型网络。许多计算机以多点接入的方式连接在一根总线上。</a:t>
            </a:r>
          </a:p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载波监听：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即“边发送边监听”。不管在想要发送数据之前，还是在发送数据之中，每个站都必须不停地检测信道。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碰撞检测：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适配器边发送数据，边检测信道上的信号电压的变化情况。电压摆动值超过一定的门限值时，就认为总线上至少有两个站同时在发送数据，表明产生了碰撞（或冲突）。</a:t>
            </a: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670562" y="834568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38603" y="803781"/>
            <a:ext cx="3701654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CSMA/CD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协议的要点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B1E589-B2D9-30EB-017F-868583E35E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59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指数据（一个报文或分组，甚至比特）从网络（或链路）的</a:t>
            </a:r>
            <a:r>
              <a:rPr lang="zh-CN" altLang="en-US" dirty="0">
                <a:solidFill>
                  <a:srgbClr val="C00000"/>
                </a:solidFill>
              </a:rPr>
              <a:t>一端传送到另一端所需的</a:t>
            </a:r>
            <a:r>
              <a:rPr lang="zh-CN" altLang="en-US" dirty="0">
                <a:solidFill>
                  <a:srgbClr val="0000CC"/>
                </a:solidFill>
              </a:rPr>
              <a:t>时间。</a:t>
            </a:r>
          </a:p>
          <a:p>
            <a:r>
              <a:rPr lang="zh-CN" altLang="en-US" dirty="0"/>
              <a:t>有时也称为</a:t>
            </a:r>
            <a:r>
              <a:rPr lang="zh-CN" altLang="en-US" dirty="0">
                <a:solidFill>
                  <a:srgbClr val="0000CC"/>
                </a:solidFill>
              </a:rPr>
              <a:t>延迟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CC"/>
                </a:solidFill>
              </a:rPr>
              <a:t>迟延。</a:t>
            </a:r>
            <a:endParaRPr lang="en-US" altLang="zh-CN" dirty="0">
              <a:solidFill>
                <a:srgbClr val="0000CC"/>
              </a:solidFill>
            </a:endParaRPr>
          </a:p>
          <a:p>
            <a:r>
              <a:rPr lang="zh-CN" altLang="en-US" dirty="0"/>
              <a:t>组成：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）发送时延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）传播时延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）处理时延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）排队时延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时延 </a:t>
            </a:r>
            <a:r>
              <a:rPr lang="en-US" altLang="zh-CN" dirty="0"/>
              <a:t>(delay </a:t>
            </a:r>
            <a:r>
              <a:rPr lang="zh-CN" altLang="en-US" dirty="0"/>
              <a:t>或 </a:t>
            </a:r>
            <a:r>
              <a:rPr lang="en-US" altLang="zh-CN" dirty="0"/>
              <a:t>latency)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386266-9CCC-DA3C-63AA-2068BCF8791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31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对于高速网络链路，我们</a:t>
            </a:r>
            <a:r>
              <a:rPr lang="zh-CN" altLang="en-US" dirty="0">
                <a:solidFill>
                  <a:srgbClr val="CC0000"/>
                </a:solidFill>
              </a:rPr>
              <a:t>提高的仅仅是数据的发送速率，</a:t>
            </a:r>
            <a:r>
              <a:rPr lang="zh-CN" altLang="en-US" dirty="0"/>
              <a:t>而不是比特在链路上的传播速率。</a:t>
            </a:r>
            <a:endParaRPr lang="en-US" altLang="zh-CN" dirty="0"/>
          </a:p>
          <a:p>
            <a:r>
              <a:rPr lang="zh-CN" altLang="en-US" dirty="0"/>
              <a:t>提高数据的发送速率</a:t>
            </a:r>
            <a:r>
              <a:rPr lang="zh-CN" altLang="en-US" dirty="0">
                <a:solidFill>
                  <a:srgbClr val="CC0000"/>
                </a:solidFill>
              </a:rPr>
              <a:t>只是减小了数据的发送时延。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容易产生的错误概念</a:t>
            </a:r>
          </a:p>
        </p:txBody>
      </p:sp>
      <p:sp>
        <p:nvSpPr>
          <p:cNvPr id="2" name="矩形 1"/>
          <p:cNvSpPr/>
          <p:nvPr/>
        </p:nvSpPr>
        <p:spPr>
          <a:xfrm>
            <a:off x="1666121" y="1523136"/>
            <a:ext cx="8843433" cy="10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600"/>
              </a:lnSpc>
              <a:spcBef>
                <a:spcPts val="800"/>
              </a:spcBef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以下说法是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错误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的：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600"/>
              </a:lnSpc>
              <a:spcBef>
                <a:spcPts val="800"/>
              </a:spcBef>
            </a:pPr>
            <a:r>
              <a:rPr lang="zh-CN" altLang="zh-CN" sz="2400" b="1" dirty="0">
                <a:latin typeface="微软雅黑" pitchFamily="34" charset="-122"/>
                <a:ea typeface="微软雅黑" pitchFamily="34" charset="-122"/>
              </a:rPr>
              <a:t>“在高速链路（或高带宽链路）上，比特会传送得更快些”。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DAB530-04EB-4E3F-4E49-7B46A341D5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58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621793" y="1291589"/>
            <a:ext cx="5416151" cy="4230255"/>
          </a:xfrm>
        </p:spPr>
        <p:txBody>
          <a:bodyPr/>
          <a:lstStyle/>
          <a:p>
            <a:r>
              <a:rPr lang="zh-CN" altLang="en-US" dirty="0"/>
              <a:t>表示从发送方</a:t>
            </a:r>
            <a:r>
              <a:rPr lang="zh-CN" altLang="en-US" dirty="0">
                <a:solidFill>
                  <a:srgbClr val="C00000"/>
                </a:solidFill>
              </a:rPr>
              <a:t>发送完数据</a:t>
            </a:r>
            <a:r>
              <a:rPr lang="zh-CN" altLang="en-US" dirty="0"/>
              <a:t>，到发送方</a:t>
            </a:r>
            <a:r>
              <a:rPr lang="zh-CN" altLang="en-US" dirty="0">
                <a:solidFill>
                  <a:srgbClr val="C00000"/>
                </a:solidFill>
              </a:rPr>
              <a:t>收到来自接收方的确认</a:t>
            </a:r>
            <a:r>
              <a:rPr lang="zh-CN" altLang="en-US" dirty="0"/>
              <a:t>总共经历的时间。</a:t>
            </a:r>
            <a:r>
              <a:rPr lang="en-US" altLang="zh-CN" dirty="0"/>
              <a:t> 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往返时间 </a:t>
            </a:r>
            <a:r>
              <a:rPr lang="en-US" altLang="zh-CN" dirty="0"/>
              <a:t>RTT (Round-Trip Time)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711927" y="2943375"/>
            <a:ext cx="6008376" cy="2927404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往返时间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RTT =   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的传播时延 </a:t>
            </a:r>
            <a:r>
              <a:rPr lang="en-US" altLang="zh-CN" sz="2133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133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+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处理和排队时延 </a:t>
            </a:r>
            <a:r>
              <a:rPr lang="en-US" altLang="zh-CN" sz="2133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133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PQB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+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发送时延 </a:t>
            </a:r>
            <a:r>
              <a:rPr lang="en-US" altLang="zh-CN" sz="2133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133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TB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+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的传播时延 </a:t>
            </a:r>
            <a:r>
              <a:rPr lang="en-US" altLang="zh-CN" sz="2133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133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=    2 x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传播时延 </a:t>
            </a:r>
            <a:r>
              <a:rPr lang="en-US" altLang="zh-CN" sz="2133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133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+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处理和排队时延 </a:t>
            </a:r>
            <a:r>
              <a:rPr lang="en-US" altLang="zh-CN" sz="2133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133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PQB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+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发送时延 </a:t>
            </a:r>
            <a:r>
              <a:rPr lang="en-US" altLang="zh-CN" sz="2133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133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TB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66" name="组合 65"/>
          <p:cNvGrpSpPr/>
          <p:nvPr/>
        </p:nvGrpSpPr>
        <p:grpSpPr>
          <a:xfrm>
            <a:off x="6956176" y="1655245"/>
            <a:ext cx="5410003" cy="3709236"/>
            <a:chOff x="5217132" y="1241434"/>
            <a:chExt cx="4057502" cy="2781927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6339846" y="2760145"/>
              <a:ext cx="2490652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6783982" y="2980344"/>
              <a:ext cx="204651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5427623" y="3595848"/>
              <a:ext cx="340287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8386361" y="3169710"/>
              <a:ext cx="44413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427623" y="1863424"/>
              <a:ext cx="2958742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026342" y="2324978"/>
              <a:ext cx="757636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6383389" y="1241434"/>
              <a:ext cx="684322" cy="284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结点 </a:t>
              </a:r>
              <a:r>
                <a:rPr kumimoji="1" lang="en-US" altLang="zh-CN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020716" y="1241434"/>
              <a:ext cx="672299" cy="284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结点 </a:t>
              </a:r>
              <a:r>
                <a:rPr kumimoji="1" lang="en-US" altLang="zh-CN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6698428" y="1628504"/>
              <a:ext cx="1774282" cy="2394857"/>
              <a:chOff x="6698428" y="1628504"/>
              <a:chExt cx="1774282" cy="2394857"/>
            </a:xfrm>
          </p:grpSpPr>
          <p:sp>
            <p:nvSpPr>
              <p:cNvPr id="7" name="平行四边形 6"/>
              <p:cNvSpPr/>
              <p:nvPr/>
            </p:nvSpPr>
            <p:spPr>
              <a:xfrm rot="900000" flipV="1">
                <a:off x="6698428" y="2085467"/>
                <a:ext cx="1774282" cy="444137"/>
              </a:xfrm>
              <a:prstGeom prst="parallelogram">
                <a:avLst>
                  <a:gd name="adj" fmla="val 26894"/>
                </a:avLst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cxnSp>
            <p:nvCxnSpPr>
              <p:cNvPr id="5" name="直接连接符 4"/>
              <p:cNvCxnSpPr/>
              <p:nvPr/>
            </p:nvCxnSpPr>
            <p:spPr>
              <a:xfrm>
                <a:off x="6783978" y="1628504"/>
                <a:ext cx="0" cy="239485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>
                <a:off x="8386357" y="1628504"/>
                <a:ext cx="0" cy="239485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平行四边形 7"/>
              <p:cNvSpPr/>
              <p:nvPr/>
            </p:nvSpPr>
            <p:spPr>
              <a:xfrm rot="20700000" flipH="1" flipV="1">
                <a:off x="6731852" y="3197906"/>
                <a:ext cx="1704669" cy="178367"/>
              </a:xfrm>
              <a:prstGeom prst="parallelogram">
                <a:avLst>
                  <a:gd name="adj" fmla="val 26894"/>
                </a:avLst>
              </a:prstGeom>
              <a:solidFill>
                <a:srgbClr val="00B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26" name="矩形 25"/>
              <p:cNvSpPr/>
              <p:nvPr/>
            </p:nvSpPr>
            <p:spPr>
              <a:xfrm rot="911734">
                <a:off x="7295376" y="2164609"/>
                <a:ext cx="496771" cy="2847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867" b="1" dirty="0">
                    <a:latin typeface="微软雅黑" pitchFamily="34" charset="-122"/>
                    <a:ea typeface="微软雅黑" pitchFamily="34" charset="-122"/>
                  </a:rPr>
                  <a:t>数据</a:t>
                </a:r>
                <a:endParaRPr kumimoji="1" lang="en-US" altLang="zh-CN" sz="1867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 rot="20641677">
                <a:off x="7338519" y="3167735"/>
                <a:ext cx="446276" cy="2539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600" b="1" dirty="0">
                    <a:latin typeface="微软雅黑" pitchFamily="34" charset="-122"/>
                    <a:ea typeface="微软雅黑" pitchFamily="34" charset="-122"/>
                  </a:rPr>
                  <a:t>确认</a:t>
                </a:r>
                <a:endParaRPr kumimoji="1" lang="en-US" altLang="zh-CN" sz="1600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cxnSp>
          <p:nvCxnSpPr>
            <p:cNvPr id="29" name="直接箭头连接符 28"/>
            <p:cNvCxnSpPr/>
            <p:nvPr/>
          </p:nvCxnSpPr>
          <p:spPr>
            <a:xfrm>
              <a:off x="6561913" y="1863424"/>
              <a:ext cx="0" cy="443555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>
              <a:off x="6561913" y="2308092"/>
              <a:ext cx="0" cy="443555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>
              <a:off x="6561913" y="2771659"/>
              <a:ext cx="0" cy="822176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6213573" y="2324978"/>
              <a:ext cx="0" cy="1268857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>
              <a:off x="8621492" y="3169710"/>
              <a:ext cx="0" cy="424125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>
              <a:off x="8621492" y="2760145"/>
              <a:ext cx="0" cy="220199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>
              <a:off x="8621492" y="2980344"/>
              <a:ext cx="0" cy="189366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6100273" y="1898490"/>
              <a:ext cx="461554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133" dirty="0" err="1"/>
                <a:t>t</a:t>
              </a:r>
              <a:r>
                <a:rPr lang="en-US" altLang="zh-CN" sz="1867" b="1" baseline="-25000" dirty="0" err="1"/>
                <a:t>TA</a:t>
              </a:r>
              <a:endParaRPr lang="zh-CN" altLang="en-US" sz="1867" b="1" baseline="-25000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100273" y="2360573"/>
              <a:ext cx="461554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133" dirty="0" err="1"/>
                <a:t>t</a:t>
              </a:r>
              <a:r>
                <a:rPr lang="en-US" altLang="zh-CN" sz="1867" b="1" baseline="-25000" dirty="0" err="1"/>
                <a:t>P</a:t>
              </a:r>
              <a:endParaRPr lang="zh-CN" altLang="en-US" sz="1867" b="1" baseline="-25000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8626506" y="3203786"/>
              <a:ext cx="461554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33" dirty="0" err="1"/>
                <a:t>t</a:t>
              </a:r>
              <a:r>
                <a:rPr lang="en-US" altLang="zh-CN" sz="1867" b="1" baseline="-25000" dirty="0" err="1"/>
                <a:t>P</a:t>
              </a:r>
              <a:endParaRPr lang="zh-CN" altLang="en-US" sz="1867" b="1" baseline="-25000" dirty="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8626506" y="2687627"/>
              <a:ext cx="648128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33" dirty="0" err="1"/>
                <a:t>t</a:t>
              </a:r>
              <a:r>
                <a:rPr lang="en-US" altLang="zh-CN" sz="2133" baseline="-25000" dirty="0" err="1"/>
                <a:t>P</a:t>
              </a:r>
              <a:r>
                <a:rPr lang="en-US" altLang="zh-CN" sz="1867" b="1" baseline="-25000" dirty="0" err="1"/>
                <a:t>QB</a:t>
              </a:r>
              <a:endParaRPr lang="zh-CN" altLang="en-US" sz="1867" b="1" baseline="-25000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5747338" y="2592252"/>
              <a:ext cx="496771" cy="715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往返</a:t>
              </a:r>
              <a:endParaRPr kumimoji="1" lang="en-US" altLang="zh-CN" sz="1867" b="1" dirty="0">
                <a:latin typeface="微软雅黑" pitchFamily="34" charset="-122"/>
                <a:ea typeface="微软雅黑" pitchFamily="34" charset="-122"/>
              </a:endParaRPr>
            </a:p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时间</a:t>
              </a:r>
              <a:endParaRPr kumimoji="1" lang="en-US" altLang="zh-CN" sz="1867" b="1" dirty="0">
                <a:latin typeface="微软雅黑" pitchFamily="34" charset="-122"/>
                <a:ea typeface="微软雅黑" pitchFamily="34" charset="-122"/>
              </a:endParaRPr>
            </a:p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RTT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8626504" y="2881624"/>
              <a:ext cx="461554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33" dirty="0" err="1"/>
                <a:t>t</a:t>
              </a:r>
              <a:r>
                <a:rPr lang="en-US" altLang="zh-CN" sz="1867" b="1" baseline="-25000" dirty="0" err="1"/>
                <a:t>TB</a:t>
              </a:r>
              <a:endParaRPr lang="zh-CN" altLang="en-US" sz="1867" b="1" baseline="-25000" dirty="0"/>
            </a:p>
          </p:txBody>
        </p:sp>
        <p:cxnSp>
          <p:nvCxnSpPr>
            <p:cNvPr id="59" name="直接箭头连接符 58"/>
            <p:cNvCxnSpPr/>
            <p:nvPr/>
          </p:nvCxnSpPr>
          <p:spPr>
            <a:xfrm>
              <a:off x="5687628" y="1863424"/>
              <a:ext cx="0" cy="1730411"/>
            </a:xfrm>
            <a:prstGeom prst="straightConnector1">
              <a:avLst/>
            </a:prstGeom>
            <a:ln w="19050">
              <a:solidFill>
                <a:srgbClr val="0000CC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矩形 59"/>
            <p:cNvSpPr/>
            <p:nvPr/>
          </p:nvSpPr>
          <p:spPr>
            <a:xfrm>
              <a:off x="5217132" y="2272997"/>
              <a:ext cx="560425" cy="9312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成功发送的总时延</a:t>
              </a:r>
              <a:endParaRPr kumimoji="1" lang="en-US" altLang="zh-CN" sz="1867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D84C06-AA65-B6D3-DCC7-F9F7154604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6F1314C-5574-2180-06F8-D67825B83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567" y="5447170"/>
            <a:ext cx="3877343" cy="94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1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1.7.2  </a:t>
            </a:r>
            <a:r>
              <a:rPr lang="zh-CN" altLang="zh-CN" dirty="0"/>
              <a:t>协议与划分层次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621792" y="1387279"/>
            <a:ext cx="7998923" cy="4399628"/>
          </a:xfrm>
        </p:spPr>
        <p:txBody>
          <a:bodyPr/>
          <a:lstStyle/>
          <a:p>
            <a:pPr>
              <a:lnSpc>
                <a:spcPts val="3733"/>
              </a:lnSpc>
            </a:pPr>
            <a:r>
              <a:rPr lang="zh-CN" altLang="en-US" dirty="0">
                <a:solidFill>
                  <a:srgbClr val="C00000"/>
                </a:solidFill>
              </a:rPr>
              <a:t>网络协议</a:t>
            </a:r>
            <a:r>
              <a:rPr lang="zh-CN" altLang="en-US" dirty="0"/>
              <a:t> </a:t>
            </a:r>
            <a:r>
              <a:rPr lang="en-US" altLang="zh-CN" dirty="0"/>
              <a:t>(network protocol)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协议</a:t>
            </a:r>
            <a:r>
              <a:rPr lang="zh-CN" altLang="en-US" dirty="0"/>
              <a:t>，是为进行网络中的数据交换而建立的规则、标准或约定。</a:t>
            </a:r>
            <a:endParaRPr lang="en-US" altLang="zh-CN" dirty="0"/>
          </a:p>
          <a:p>
            <a:pPr>
              <a:lnSpc>
                <a:spcPts val="3733"/>
              </a:lnSpc>
            </a:pPr>
            <a:r>
              <a:rPr lang="zh-CN" altLang="en-US" dirty="0">
                <a:solidFill>
                  <a:srgbClr val="C00000"/>
                </a:solidFill>
              </a:rPr>
              <a:t>三个组成要素：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ts val="3733"/>
              </a:lnSpc>
            </a:pPr>
            <a:r>
              <a:rPr lang="zh-CN" altLang="en-US" dirty="0">
                <a:solidFill>
                  <a:srgbClr val="0000FF"/>
                </a:solidFill>
              </a:rPr>
              <a:t>语法：</a:t>
            </a:r>
            <a:r>
              <a:rPr lang="zh-CN" altLang="en-US" dirty="0"/>
              <a:t>数据与控制信息的结构或格式 。 </a:t>
            </a:r>
          </a:p>
          <a:p>
            <a:pPr lvl="1">
              <a:lnSpc>
                <a:spcPts val="3733"/>
              </a:lnSpc>
            </a:pPr>
            <a:r>
              <a:rPr lang="zh-CN" altLang="en-US" dirty="0">
                <a:solidFill>
                  <a:srgbClr val="0000FF"/>
                </a:solidFill>
              </a:rPr>
              <a:t>语义：</a:t>
            </a:r>
            <a:r>
              <a:rPr lang="zh-CN" altLang="en-US" dirty="0"/>
              <a:t>需要发出何种控制信息，完成何种动作以及做出何种响应。 </a:t>
            </a:r>
          </a:p>
          <a:p>
            <a:pPr lvl="1">
              <a:lnSpc>
                <a:spcPts val="3733"/>
              </a:lnSpc>
            </a:pPr>
            <a:r>
              <a:rPr lang="zh-CN" altLang="en-US" dirty="0">
                <a:solidFill>
                  <a:srgbClr val="0000FF"/>
                </a:solidFill>
              </a:rPr>
              <a:t>同步：</a:t>
            </a:r>
            <a:r>
              <a:rPr lang="zh-CN" altLang="en-US" dirty="0"/>
              <a:t>事件实现顺序的详细说明。 </a:t>
            </a:r>
          </a:p>
          <a:p>
            <a:pPr>
              <a:lnSpc>
                <a:spcPts val="3733"/>
              </a:lnSpc>
            </a:pPr>
            <a:endParaRPr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8799275" y="1673344"/>
            <a:ext cx="2764516" cy="3827497"/>
            <a:chOff x="6246699" y="1147924"/>
            <a:chExt cx="2195405" cy="2870623"/>
          </a:xfrm>
        </p:grpSpPr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 rot="540000">
              <a:off x="6540332" y="1728921"/>
              <a:ext cx="1780221" cy="2308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hangingPunct="0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TCP connection req.</a:t>
              </a: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V="1">
              <a:off x="6460287" y="3327225"/>
              <a:ext cx="1773324" cy="57474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1467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>
              <a:off x="6460287" y="1807064"/>
              <a:ext cx="1773324" cy="281951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1467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 flipV="1">
              <a:off x="6460287" y="2283803"/>
              <a:ext cx="1773324" cy="4289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1467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35"/>
            <p:cNvSpPr txBox="1">
              <a:spLocks noChangeArrowheads="1"/>
            </p:cNvSpPr>
            <p:nvPr/>
          </p:nvSpPr>
          <p:spPr bwMode="auto">
            <a:xfrm rot="20700000">
              <a:off x="6421820" y="2254467"/>
              <a:ext cx="1867209" cy="2308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0" hangingPunct="0">
                <a:defRPr sz="12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Arial" charset="0"/>
                </a:defRPr>
              </a:lvl2pPr>
              <a:lvl3pPr marL="1143000" indent="-228600">
                <a:defRPr>
                  <a:latin typeface="Arial" charset="0"/>
                </a:defRPr>
              </a:lvl3pPr>
              <a:lvl4pPr marL="1600200" indent="-228600">
                <a:defRPr>
                  <a:latin typeface="Arial" charset="0"/>
                </a:defRPr>
              </a:lvl4pPr>
              <a:lvl5pPr marL="2057400" indent="-228600">
                <a:defRPr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9pPr>
            </a:lstStyle>
            <a:p>
              <a:r>
                <a:rPr lang="en-US" altLang="zh-CN" sz="1400" dirty="0"/>
                <a:t>TCP connection reply.</a:t>
              </a:r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>
              <a:off x="6460288" y="2859821"/>
              <a:ext cx="1773324" cy="39312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1467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Text Box 39"/>
            <p:cNvSpPr txBox="1">
              <a:spLocks noChangeArrowheads="1"/>
            </p:cNvSpPr>
            <p:nvPr/>
          </p:nvSpPr>
          <p:spPr bwMode="auto">
            <a:xfrm rot="720000">
              <a:off x="6714568" y="2822586"/>
              <a:ext cx="1398635" cy="2308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0" hangingPunct="0">
                <a:defRPr sz="12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Arial" charset="0"/>
                </a:defRPr>
              </a:lvl2pPr>
              <a:lvl3pPr marL="1143000" indent="-228600">
                <a:defRPr>
                  <a:latin typeface="Arial" charset="0"/>
                </a:defRPr>
              </a:lvl3pPr>
              <a:lvl4pPr marL="1600200" indent="-228600">
                <a:defRPr>
                  <a:latin typeface="Arial" charset="0"/>
                </a:defRPr>
              </a:lvl4pPr>
              <a:lvl5pPr marL="2057400" indent="-228600">
                <a:defRPr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9pPr>
            </a:lstStyle>
            <a:p>
              <a:r>
                <a:rPr lang="en-US" altLang="zh-CN" sz="1400" dirty="0"/>
                <a:t>get plan.pdf</a:t>
              </a:r>
            </a:p>
          </p:txBody>
        </p:sp>
        <p:pic>
          <p:nvPicPr>
            <p:cNvPr id="46" name="Picture 246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6699" y="1203201"/>
              <a:ext cx="435820" cy="415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" name="图片 3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98885" y="1147924"/>
              <a:ext cx="343219" cy="502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8" name="直接连接符 47"/>
            <p:cNvCxnSpPr>
              <a:stCxn id="46" idx="2"/>
            </p:cNvCxnSpPr>
            <p:nvPr/>
          </p:nvCxnSpPr>
          <p:spPr>
            <a:xfrm flipH="1">
              <a:off x="6430765" y="1618286"/>
              <a:ext cx="33844" cy="24002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47" idx="2"/>
            </p:cNvCxnSpPr>
            <p:nvPr/>
          </p:nvCxnSpPr>
          <p:spPr>
            <a:xfrm flipH="1">
              <a:off x="8262001" y="1650319"/>
              <a:ext cx="8494" cy="236822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 Box 39"/>
            <p:cNvSpPr txBox="1">
              <a:spLocks noChangeArrowheads="1"/>
            </p:cNvSpPr>
            <p:nvPr/>
          </p:nvSpPr>
          <p:spPr bwMode="auto">
            <a:xfrm rot="20501025">
              <a:off x="6706154" y="3350860"/>
              <a:ext cx="1398635" cy="2308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0" hangingPunct="0">
                <a:defRPr sz="12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Arial" charset="0"/>
                </a:defRPr>
              </a:lvl2pPr>
              <a:lvl3pPr marL="1143000" indent="-228600">
                <a:defRPr>
                  <a:latin typeface="Arial" charset="0"/>
                </a:defRPr>
              </a:lvl3pPr>
              <a:lvl4pPr marL="1600200" indent="-228600">
                <a:defRPr>
                  <a:latin typeface="Arial" charset="0"/>
                </a:defRPr>
              </a:lvl4pPr>
              <a:lvl5pPr marL="2057400" indent="-228600">
                <a:defRPr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9pPr>
            </a:lstStyle>
            <a:p>
              <a:r>
                <a:rPr lang="en-US" altLang="zh-CN" sz="1400" dirty="0"/>
                <a:t>&lt; plan.pdf &gt;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906458" y="5268095"/>
            <a:ext cx="7429591" cy="862464"/>
            <a:chOff x="595996" y="3877027"/>
            <a:chExt cx="5572193" cy="646848"/>
          </a:xfrm>
        </p:grpSpPr>
        <p:sp>
          <p:nvSpPr>
            <p:cNvPr id="56" name="对角圆角矩形 55"/>
            <p:cNvSpPr/>
            <p:nvPr/>
          </p:nvSpPr>
          <p:spPr>
            <a:xfrm>
              <a:off x="595996" y="3877027"/>
              <a:ext cx="5572193" cy="646848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57" name="矩形 5"/>
            <p:cNvSpPr>
              <a:spLocks noChangeArrowheads="1"/>
            </p:cNvSpPr>
            <p:nvPr/>
          </p:nvSpPr>
          <p:spPr bwMode="auto">
            <a:xfrm>
              <a:off x="729916" y="3987587"/>
              <a:ext cx="5309938" cy="383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zh-CN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网络协议是计算机网络的不可缺少的组成部分。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0091F6-1258-FCD2-3E40-2051771154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06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670562" y="828767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4409327" y="797980"/>
            <a:ext cx="3360214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CSMA/CD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重要特性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AD8C397-B26B-7AD9-5BF3-6DF1A9E0AD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233"/>
          <a:stretch/>
        </p:blipFill>
        <p:spPr>
          <a:xfrm>
            <a:off x="0" y="1957311"/>
            <a:ext cx="12192000" cy="378802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0C9B22-3D23-0EDD-00FF-7B73ED2580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24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>
          <a:xfrm>
            <a:off x="670561" y="1409608"/>
            <a:ext cx="10838687" cy="336499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7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670562" y="83273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253831" y="801945"/>
            <a:ext cx="3671198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星形以太网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10BASE-T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107989" y="1767764"/>
            <a:ext cx="3142274" cy="666787"/>
            <a:chOff x="2330992" y="1607532"/>
            <a:chExt cx="2356705" cy="500090"/>
          </a:xfrm>
        </p:grpSpPr>
        <p:sp>
          <p:nvSpPr>
            <p:cNvPr id="9" name="矩形 8"/>
            <p:cNvSpPr/>
            <p:nvPr/>
          </p:nvSpPr>
          <p:spPr>
            <a:xfrm>
              <a:off x="2330992" y="1607532"/>
              <a:ext cx="580928" cy="50009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zh-CN" sz="37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  <a:endParaRPr lang="zh-CN" altLang="en-US" sz="37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2793668" y="1607532"/>
              <a:ext cx="1076256" cy="50009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zh-CN" sz="37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BASE</a:t>
              </a:r>
              <a:endParaRPr lang="zh-CN" altLang="en-US" sz="37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874203" y="1646443"/>
              <a:ext cx="351440" cy="438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endParaRPr lang="zh-CN" altLang="en-US" sz="3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324376" y="1607532"/>
              <a:ext cx="363321" cy="50009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7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  <a:endParaRPr lang="zh-CN" altLang="en-US" sz="37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300460" y="2354554"/>
            <a:ext cx="5266812" cy="1752572"/>
            <a:chOff x="2475345" y="2130749"/>
            <a:chExt cx="3950109" cy="1314429"/>
          </a:xfrm>
        </p:grpSpPr>
        <p:cxnSp>
          <p:nvCxnSpPr>
            <p:cNvPr id="17" name="肘形连接符 16"/>
            <p:cNvCxnSpPr/>
            <p:nvPr/>
          </p:nvCxnSpPr>
          <p:spPr bwMode="auto">
            <a:xfrm rot="16200000" flipH="1">
              <a:off x="2908589" y="1866699"/>
              <a:ext cx="1153442" cy="1681541"/>
            </a:xfrm>
            <a:prstGeom prst="bentConnector2">
              <a:avLst/>
            </a:prstGeom>
            <a:solidFill>
              <a:schemeClr val="accent1"/>
            </a:solidFill>
            <a:ln w="28575" cap="flat" cmpd="sng" algn="ctr">
              <a:solidFill>
                <a:srgbClr val="CC00CC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矩形 17"/>
            <p:cNvSpPr/>
            <p:nvPr/>
          </p:nvSpPr>
          <p:spPr>
            <a:xfrm>
              <a:off x="4326081" y="3098929"/>
              <a:ext cx="2099373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速率为 </a:t>
              </a:r>
              <a:r>
                <a:rPr lang="en-US" altLang="zh-CN" sz="24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10 Mbit/s </a:t>
              </a:r>
              <a:endPara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2475345" y="2135816"/>
              <a:ext cx="318323" cy="0"/>
            </a:xfrm>
            <a:prstGeom prst="line">
              <a:avLst/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3877430" y="2354561"/>
            <a:ext cx="3696539" cy="1147855"/>
            <a:chOff x="2908072" y="2130754"/>
            <a:chExt cx="2772404" cy="860891"/>
          </a:xfrm>
        </p:grpSpPr>
        <p:cxnSp>
          <p:nvCxnSpPr>
            <p:cNvPr id="15" name="肘形连接符 14"/>
            <p:cNvCxnSpPr/>
            <p:nvPr/>
          </p:nvCxnSpPr>
          <p:spPr bwMode="auto">
            <a:xfrm rot="16200000" flipH="1">
              <a:off x="3871811" y="1613021"/>
              <a:ext cx="690768" cy="1726234"/>
            </a:xfrm>
            <a:prstGeom prst="bentConnector2">
              <a:avLst/>
            </a:prstGeom>
            <a:solidFill>
              <a:schemeClr val="accent1"/>
            </a:solidFill>
            <a:ln w="28575" cap="flat" cmpd="sng" algn="ctr">
              <a:solidFill>
                <a:srgbClr val="CC00CC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矩形 15"/>
            <p:cNvSpPr/>
            <p:nvPr/>
          </p:nvSpPr>
          <p:spPr>
            <a:xfrm>
              <a:off x="5080312" y="2645396"/>
              <a:ext cx="600164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基带</a:t>
              </a:r>
              <a:endPara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2908072" y="2135816"/>
              <a:ext cx="919951" cy="0"/>
            </a:xfrm>
            <a:prstGeom prst="line">
              <a:avLst/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5795832" y="2354560"/>
            <a:ext cx="3479381" cy="566601"/>
            <a:chOff x="4346873" y="2130753"/>
            <a:chExt cx="2609536" cy="424951"/>
          </a:xfrm>
        </p:grpSpPr>
        <p:cxnSp>
          <p:nvCxnSpPr>
            <p:cNvPr id="13" name="肘形连接符 12"/>
            <p:cNvCxnSpPr/>
            <p:nvPr/>
          </p:nvCxnSpPr>
          <p:spPr bwMode="auto">
            <a:xfrm rot="16200000" flipH="1">
              <a:off x="5200346" y="1436442"/>
              <a:ext cx="269936" cy="1658557"/>
            </a:xfrm>
            <a:prstGeom prst="bentConnector2">
              <a:avLst/>
            </a:prstGeom>
            <a:solidFill>
              <a:schemeClr val="accent1"/>
            </a:solidFill>
            <a:ln w="28575" cap="flat" cmpd="sng" algn="ctr">
              <a:solidFill>
                <a:srgbClr val="CC00CC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矩形 13"/>
            <p:cNvSpPr/>
            <p:nvPr/>
          </p:nvSpPr>
          <p:spPr>
            <a:xfrm>
              <a:off x="6125412" y="2209455"/>
              <a:ext cx="830997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  <a:endPara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4346873" y="2135816"/>
              <a:ext cx="318323" cy="0"/>
            </a:xfrm>
            <a:prstGeom prst="line">
              <a:avLst/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85D1FB-A0F2-E35D-7DBF-009C71E24C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11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670562" y="1298342"/>
            <a:ext cx="10838687" cy="1725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要提高以太网的信道利用率，就必须减小 </a:t>
            </a:r>
            <a:r>
              <a:rPr lang="en-US" altLang="zh-CN" sz="2667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/>
              </a:rPr>
              <a:t> </a:t>
            </a:r>
            <a:r>
              <a:rPr lang="en-US" altLang="zh-CN" sz="2667" b="1" i="1" dirty="0">
                <a:latin typeface="微软雅黑" pitchFamily="34" charset="-122"/>
                <a:ea typeface="微软雅黑" pitchFamily="34" charset="-122"/>
                <a:sym typeface="Symbol"/>
              </a:rPr>
              <a:t>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与 </a:t>
            </a:r>
            <a:r>
              <a:rPr lang="en-US" altLang="zh-CN" sz="2667" b="1" i="1" dirty="0">
                <a:latin typeface="微软雅黑" pitchFamily="34" charset="-122"/>
                <a:ea typeface="微软雅黑" pitchFamily="34" charset="-122"/>
              </a:rPr>
              <a:t>T</a:t>
            </a:r>
            <a:r>
              <a:rPr lang="en-US" altLang="zh-CN" sz="2667" b="1" baseline="-2500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之比。</a:t>
            </a: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在以太网中定义了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参数 </a:t>
            </a:r>
            <a:r>
              <a:rPr lang="en-US" altLang="zh-CN" sz="2667" b="1" i="1" dirty="0">
                <a:solidFill>
                  <a:srgbClr val="C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en-US" altLang="zh-CN" sz="2667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以太网单程端到端时延 </a:t>
            </a:r>
            <a:r>
              <a:rPr lang="en-US" altLang="zh-CN" sz="2667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/>
              </a:rPr>
              <a:t> </a:t>
            </a:r>
            <a:r>
              <a:rPr lang="en-US" altLang="zh-CN" sz="2667" b="1" i="1" dirty="0">
                <a:latin typeface="微软雅黑" pitchFamily="34" charset="-122"/>
                <a:ea typeface="微软雅黑" pitchFamily="34" charset="-122"/>
                <a:sym typeface="Symbol"/>
              </a:rPr>
              <a:t>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与帧的发送时间 </a:t>
            </a:r>
            <a:r>
              <a:rPr lang="en-US" altLang="zh-CN" sz="2667" b="1" i="1" dirty="0">
                <a:latin typeface="微软雅黑" pitchFamily="34" charset="-122"/>
                <a:ea typeface="微软雅黑" pitchFamily="34" charset="-122"/>
              </a:rPr>
              <a:t>T</a:t>
            </a:r>
            <a:r>
              <a:rPr lang="en-US" altLang="zh-CN" sz="2667" b="1" baseline="-25000" dirty="0">
                <a:latin typeface="微软雅黑" pitchFamily="34" charset="-122"/>
                <a:ea typeface="微软雅黑" pitchFamily="34" charset="-122"/>
              </a:rPr>
              <a:t>0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之比： 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670562" y="831755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765190" y="800968"/>
            <a:ext cx="261000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参数 </a:t>
            </a:r>
            <a:r>
              <a:rPr lang="en-US" altLang="zh-CN" sz="2667" b="1" i="1" dirty="0">
                <a:solidFill>
                  <a:schemeClr val="bg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与利用率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673188" y="2479717"/>
          <a:ext cx="2094128" cy="810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45863" imgH="228501" progId="Equation.3">
                  <p:embed/>
                </p:oleObj>
              </mc:Choice>
              <mc:Fallback>
                <p:oleObj name="公式" r:id="rId2" imgW="545863" imgH="228501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188" y="2479717"/>
                        <a:ext cx="2094128" cy="810681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1124991" y="3470433"/>
            <a:ext cx="9603968" cy="2166211"/>
            <a:chOff x="502922" y="3604946"/>
            <a:chExt cx="7202976" cy="1624658"/>
          </a:xfrm>
        </p:grpSpPr>
        <p:sp>
          <p:nvSpPr>
            <p:cNvPr id="12" name="对角圆角矩形 11"/>
            <p:cNvSpPr/>
            <p:nvPr/>
          </p:nvSpPr>
          <p:spPr>
            <a:xfrm>
              <a:off x="502922" y="3604946"/>
              <a:ext cx="7202976" cy="1624658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3200"/>
                </a:lnSpc>
              </a:pPr>
              <a:endParaRPr lang="zh-CN" altLang="en-US" sz="24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900547" y="3669507"/>
              <a:ext cx="6555970" cy="14226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altLang="zh-CN" sz="2400" b="1" i="1" dirty="0">
                  <a:solidFill>
                    <a:srgbClr val="FFFF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en-US" altLang="zh-CN" sz="2400" b="1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 → 0</a:t>
              </a:r>
              <a:r>
                <a:rPr lang="zh-CN" altLang="en-US" sz="2400" b="1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表示一发生碰撞就立即可以检测出来， 并立即停止发送，因而信道利用率很高。</a:t>
              </a:r>
            </a:p>
            <a:p>
              <a:pPr>
                <a:lnSpc>
                  <a:spcPts val="3600"/>
                </a:lnSpc>
              </a:pPr>
              <a:r>
                <a:rPr lang="en-US" altLang="zh-CN" sz="2400" b="1" i="1" dirty="0">
                  <a:solidFill>
                    <a:srgbClr val="FFFF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en-US" altLang="zh-CN" sz="2400" b="1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b="1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越大，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表明争用期所占的比例增大，每发生一次碰撞就浪费许多信道资源，使得信道利用率明显降低。 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C1E4A9-920C-3C7A-E2E8-E951630C7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89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21445" y="1300525"/>
            <a:ext cx="10614651" cy="2853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数据字段的长度与长度字段的值不一致；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帧的长度不是整数个字节；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用收到的帧检验序列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查出有差错；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数据字段的长度不在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46 ~ 1500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字节之间。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有效的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帧长度为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64 ~ 1518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字节之间。</a:t>
            </a:r>
          </a:p>
        </p:txBody>
      </p:sp>
      <p:sp>
        <p:nvSpPr>
          <p:cNvPr id="8" name="对角圆角矩形 7"/>
          <p:cNvSpPr/>
          <p:nvPr/>
        </p:nvSpPr>
        <p:spPr>
          <a:xfrm>
            <a:off x="1313413" y="4244921"/>
            <a:ext cx="8036252" cy="1533580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/>
        </p:nvSpPr>
        <p:spPr>
          <a:xfrm>
            <a:off x="1651119" y="4433020"/>
            <a:ext cx="7364461" cy="1071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对于检查出的无效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帧就简单地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丢弃。</a:t>
            </a:r>
            <a:endParaRPr lang="en-US" altLang="zh-CN" sz="2667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不负责重传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丢弃的帧。 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670562" y="81204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743901" y="781253"/>
            <a:ext cx="2691058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无效的 </a:t>
            </a:r>
            <a:r>
              <a:rPr lang="en-US" altLang="zh-CN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帧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FCFA447-D532-3326-BDE7-8928015D3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8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670559" y="863413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4460622" y="832627"/>
            <a:ext cx="3257622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网桥与以太网交换机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246302" y="1514764"/>
          <a:ext cx="10935855" cy="4211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255BC5-AA78-3278-CF61-CB17344C9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91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圆角矩形 55"/>
          <p:cNvSpPr/>
          <p:nvPr/>
        </p:nvSpPr>
        <p:spPr>
          <a:xfrm>
            <a:off x="670561" y="1503098"/>
            <a:ext cx="10838687" cy="3387252"/>
          </a:xfrm>
          <a:prstGeom prst="roundRect">
            <a:avLst>
              <a:gd name="adj" fmla="val 12392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670559" y="865365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54635" y="834579"/>
            <a:ext cx="3669594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以太网交换机的特点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4930504" y="1558455"/>
            <a:ext cx="20730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以太网交换机</a:t>
            </a:r>
          </a:p>
        </p:txBody>
      </p:sp>
      <p:sp>
        <p:nvSpPr>
          <p:cNvPr id="10" name="泪滴形 9"/>
          <p:cNvSpPr/>
          <p:nvPr/>
        </p:nvSpPr>
        <p:spPr>
          <a:xfrm rot="476968">
            <a:off x="2236889" y="2359501"/>
            <a:ext cx="2589665" cy="1737711"/>
          </a:xfrm>
          <a:prstGeom prst="teardrop">
            <a:avLst>
              <a:gd name="adj" fmla="val 163728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" name="泪滴形 10"/>
          <p:cNvSpPr/>
          <p:nvPr/>
        </p:nvSpPr>
        <p:spPr>
          <a:xfrm rot="21033367" flipH="1">
            <a:off x="7092983" y="2259066"/>
            <a:ext cx="2794899" cy="1800585"/>
          </a:xfrm>
          <a:prstGeom prst="teardrop">
            <a:avLst>
              <a:gd name="adj" fmla="val 151929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2" name="组合 11"/>
          <p:cNvGrpSpPr/>
          <p:nvPr/>
        </p:nvGrpSpPr>
        <p:grpSpPr>
          <a:xfrm>
            <a:off x="6246096" y="2169128"/>
            <a:ext cx="2775000" cy="1588557"/>
            <a:chOff x="4668477" y="2337063"/>
            <a:chExt cx="2081250" cy="1191418"/>
          </a:xfrm>
        </p:grpSpPr>
        <p:sp>
          <p:nvSpPr>
            <p:cNvPr id="13" name="Line 44"/>
            <p:cNvSpPr>
              <a:spLocks noChangeShapeType="1"/>
            </p:cNvSpPr>
            <p:nvPr/>
          </p:nvSpPr>
          <p:spPr bwMode="auto">
            <a:xfrm>
              <a:off x="4668477" y="2337063"/>
              <a:ext cx="1375569" cy="7062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69"/>
            <p:cNvSpPr>
              <a:spLocks noChangeShapeType="1"/>
            </p:cNvSpPr>
            <p:nvPr/>
          </p:nvSpPr>
          <p:spPr bwMode="auto">
            <a:xfrm flipH="1">
              <a:off x="5712245" y="3044330"/>
              <a:ext cx="305115" cy="284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Line 71"/>
            <p:cNvSpPr>
              <a:spLocks noChangeShapeType="1"/>
            </p:cNvSpPr>
            <p:nvPr/>
          </p:nvSpPr>
          <p:spPr bwMode="auto">
            <a:xfrm>
              <a:off x="6189215" y="3098000"/>
              <a:ext cx="85199" cy="2213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Line 72"/>
            <p:cNvSpPr>
              <a:spLocks noChangeShapeType="1"/>
            </p:cNvSpPr>
            <p:nvPr/>
          </p:nvSpPr>
          <p:spPr bwMode="auto">
            <a:xfrm>
              <a:off x="6274415" y="3088723"/>
              <a:ext cx="300746" cy="2213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73"/>
            <p:cNvSpPr>
              <a:spLocks noChangeShapeType="1"/>
            </p:cNvSpPr>
            <p:nvPr/>
          </p:nvSpPr>
          <p:spPr bwMode="auto">
            <a:xfrm flipH="1">
              <a:off x="5996243" y="3048967"/>
              <a:ext cx="82286" cy="286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8" name="Picture 7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97188">
              <a:off x="5903761" y="2905847"/>
              <a:ext cx="527945" cy="2365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239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25381" y="3258352"/>
              <a:ext cx="270129" cy="270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39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3534" y="3258352"/>
              <a:ext cx="270129" cy="270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39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1566" y="3258352"/>
              <a:ext cx="270129" cy="270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39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9598" y="3258352"/>
              <a:ext cx="270129" cy="270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 Box 49"/>
            <p:cNvSpPr txBox="1">
              <a:spLocks noChangeArrowheads="1"/>
            </p:cNvSpPr>
            <p:nvPr/>
          </p:nvSpPr>
          <p:spPr bwMode="auto">
            <a:xfrm>
              <a:off x="5842960" y="2700338"/>
              <a:ext cx="719152" cy="2230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333" b="1" dirty="0">
                  <a:latin typeface="微软雅黑" pitchFamily="34" charset="-122"/>
                  <a:ea typeface="微软雅黑" pitchFamily="34" charset="-122"/>
                </a:rPr>
                <a:t>集线器</a:t>
              </a:r>
            </a:p>
          </p:txBody>
        </p:sp>
      </p:grpSp>
      <p:sp>
        <p:nvSpPr>
          <p:cNvPr id="24" name="泪滴形 23"/>
          <p:cNvSpPr/>
          <p:nvPr/>
        </p:nvSpPr>
        <p:spPr>
          <a:xfrm rot="18339832">
            <a:off x="5013768" y="2800061"/>
            <a:ext cx="2069715" cy="1712891"/>
          </a:xfrm>
          <a:prstGeom prst="teardrop">
            <a:avLst>
              <a:gd name="adj" fmla="val 117943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25" name="组合 24"/>
          <p:cNvGrpSpPr/>
          <p:nvPr/>
        </p:nvGrpSpPr>
        <p:grpSpPr>
          <a:xfrm>
            <a:off x="3137096" y="2211168"/>
            <a:ext cx="2468811" cy="1546517"/>
            <a:chOff x="2336727" y="2368593"/>
            <a:chExt cx="1851608" cy="1159888"/>
          </a:xfrm>
        </p:grpSpPr>
        <p:grpSp>
          <p:nvGrpSpPr>
            <p:cNvPr id="26" name="组合 25"/>
            <p:cNvGrpSpPr/>
            <p:nvPr/>
          </p:nvGrpSpPr>
          <p:grpSpPr>
            <a:xfrm>
              <a:off x="2336727" y="2368593"/>
              <a:ext cx="1851608" cy="1159888"/>
              <a:chOff x="2336727" y="2368593"/>
              <a:chExt cx="1851608" cy="1159888"/>
            </a:xfrm>
          </p:grpSpPr>
          <p:sp>
            <p:nvSpPr>
              <p:cNvPr id="28" name="Line 43"/>
              <p:cNvSpPr>
                <a:spLocks noChangeShapeType="1"/>
              </p:cNvSpPr>
              <p:nvPr/>
            </p:nvSpPr>
            <p:spPr bwMode="auto">
              <a:xfrm flipH="1">
                <a:off x="3030003" y="2368593"/>
                <a:ext cx="1158332" cy="6410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" name="Line 51"/>
              <p:cNvSpPr>
                <a:spLocks noChangeShapeType="1"/>
              </p:cNvSpPr>
              <p:nvPr/>
            </p:nvSpPr>
            <p:spPr bwMode="auto">
              <a:xfrm flipH="1">
                <a:off x="2452519" y="3044330"/>
                <a:ext cx="305116" cy="2842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" name="Line 53"/>
              <p:cNvSpPr>
                <a:spLocks noChangeShapeType="1"/>
              </p:cNvSpPr>
              <p:nvPr/>
            </p:nvSpPr>
            <p:spPr bwMode="auto">
              <a:xfrm>
                <a:off x="2929490" y="3098000"/>
                <a:ext cx="85199" cy="22130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" name="Line 54"/>
              <p:cNvSpPr>
                <a:spLocks noChangeShapeType="1"/>
              </p:cNvSpPr>
              <p:nvPr/>
            </p:nvSpPr>
            <p:spPr bwMode="auto">
              <a:xfrm>
                <a:off x="3014689" y="3088723"/>
                <a:ext cx="300747" cy="22130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" name="Line 55"/>
              <p:cNvSpPr>
                <a:spLocks noChangeShapeType="1"/>
              </p:cNvSpPr>
              <p:nvPr/>
            </p:nvSpPr>
            <p:spPr bwMode="auto">
              <a:xfrm flipH="1">
                <a:off x="2736517" y="3048967"/>
                <a:ext cx="82287" cy="286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pic>
            <p:nvPicPr>
              <p:cNvPr id="33" name="Picture 5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497188">
                <a:off x="2644036" y="2905847"/>
                <a:ext cx="527944" cy="2365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4" name="Picture 239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36727" y="3258352"/>
                <a:ext cx="270129" cy="2701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" name="Picture 239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4880" y="3258352"/>
                <a:ext cx="270129" cy="2701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" name="Picture 239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02912" y="3258352"/>
                <a:ext cx="270129" cy="2701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239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90944" y="3258352"/>
                <a:ext cx="270129" cy="2701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7" name="Text Box 49"/>
            <p:cNvSpPr txBox="1">
              <a:spLocks noChangeArrowheads="1"/>
            </p:cNvSpPr>
            <p:nvPr/>
          </p:nvSpPr>
          <p:spPr bwMode="auto">
            <a:xfrm>
              <a:off x="2498460" y="2699895"/>
              <a:ext cx="719152" cy="2230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333" b="1" dirty="0">
                  <a:latin typeface="微软雅黑" pitchFamily="34" charset="-122"/>
                  <a:ea typeface="微软雅黑" pitchFamily="34" charset="-122"/>
                </a:rPr>
                <a:t>集线器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327728" y="2183141"/>
            <a:ext cx="1542219" cy="1742705"/>
            <a:chOff x="3979701" y="2347572"/>
            <a:chExt cx="1156664" cy="1307029"/>
          </a:xfrm>
        </p:grpSpPr>
        <p:grpSp>
          <p:nvGrpSpPr>
            <p:cNvPr id="39" name="组合 38"/>
            <p:cNvGrpSpPr/>
            <p:nvPr/>
          </p:nvGrpSpPr>
          <p:grpSpPr>
            <a:xfrm>
              <a:off x="3979701" y="2347572"/>
              <a:ext cx="1124346" cy="1307029"/>
              <a:chOff x="3979701" y="2347572"/>
              <a:chExt cx="1124346" cy="1307029"/>
            </a:xfrm>
          </p:grpSpPr>
          <p:sp>
            <p:nvSpPr>
              <p:cNvPr id="41" name="Line 45"/>
              <p:cNvSpPr>
                <a:spLocks noChangeShapeType="1"/>
              </p:cNvSpPr>
              <p:nvPr/>
            </p:nvSpPr>
            <p:spPr bwMode="auto">
              <a:xfrm>
                <a:off x="4436440" y="2347572"/>
                <a:ext cx="109446" cy="7504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Line 60"/>
              <p:cNvSpPr>
                <a:spLocks noChangeShapeType="1"/>
              </p:cNvSpPr>
              <p:nvPr/>
            </p:nvSpPr>
            <p:spPr bwMode="auto">
              <a:xfrm flipH="1">
                <a:off x="4070155" y="3170450"/>
                <a:ext cx="305116" cy="2842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auto">
              <a:xfrm>
                <a:off x="4547125" y="3224120"/>
                <a:ext cx="85199" cy="22130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auto">
              <a:xfrm>
                <a:off x="4632325" y="3214843"/>
                <a:ext cx="300018" cy="22130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auto">
              <a:xfrm flipH="1">
                <a:off x="4354153" y="3175087"/>
                <a:ext cx="82287" cy="286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pic>
            <p:nvPicPr>
              <p:cNvPr id="46" name="Picture 68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497188">
                <a:off x="4261672" y="3031967"/>
                <a:ext cx="527216" cy="2365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7" name="Picture 239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79701" y="3384472"/>
                <a:ext cx="270129" cy="2701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8" name="Picture 239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57854" y="3384472"/>
                <a:ext cx="270129" cy="2701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9" name="Picture 239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45886" y="3384472"/>
                <a:ext cx="270129" cy="2701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239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33918" y="3384472"/>
                <a:ext cx="270129" cy="2701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0" name="Text Box 49"/>
            <p:cNvSpPr txBox="1">
              <a:spLocks noChangeArrowheads="1"/>
            </p:cNvSpPr>
            <p:nvPr/>
          </p:nvSpPr>
          <p:spPr bwMode="auto">
            <a:xfrm>
              <a:off x="4417213" y="2818465"/>
              <a:ext cx="719152" cy="2230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333" b="1" dirty="0">
                  <a:latin typeface="微软雅黑" pitchFamily="34" charset="-122"/>
                  <a:ea typeface="微软雅黑" pitchFamily="34" charset="-122"/>
                </a:rPr>
                <a:t>集线器</a:t>
              </a:r>
            </a:p>
          </p:txBody>
        </p:sp>
      </p:grpSp>
      <p:sp>
        <p:nvSpPr>
          <p:cNvPr id="51" name="Text Box 50"/>
          <p:cNvSpPr txBox="1">
            <a:spLocks noChangeArrowheads="1"/>
          </p:cNvSpPr>
          <p:nvPr/>
        </p:nvSpPr>
        <p:spPr bwMode="auto">
          <a:xfrm>
            <a:off x="8982523" y="2701782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碰撞域</a:t>
            </a:r>
          </a:p>
        </p:txBody>
      </p:sp>
      <p:sp>
        <p:nvSpPr>
          <p:cNvPr id="52" name="Text Box 50"/>
          <p:cNvSpPr txBox="1">
            <a:spLocks noChangeArrowheads="1"/>
          </p:cNvSpPr>
          <p:nvPr/>
        </p:nvSpPr>
        <p:spPr bwMode="auto">
          <a:xfrm>
            <a:off x="2306100" y="2926183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碰撞域</a:t>
            </a:r>
          </a:p>
        </p:txBody>
      </p:sp>
      <p:sp>
        <p:nvSpPr>
          <p:cNvPr id="53" name="Text Box 50"/>
          <p:cNvSpPr txBox="1">
            <a:spLocks noChangeArrowheads="1"/>
          </p:cNvSpPr>
          <p:nvPr/>
        </p:nvSpPr>
        <p:spPr bwMode="auto">
          <a:xfrm>
            <a:off x="5524981" y="4106092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碰撞域</a:t>
            </a:r>
          </a:p>
        </p:txBody>
      </p:sp>
      <p:sp>
        <p:nvSpPr>
          <p:cNvPr id="54" name="modem"/>
          <p:cNvSpPr>
            <a:spLocks noEditPoints="1" noChangeArrowheads="1"/>
          </p:cNvSpPr>
          <p:nvPr/>
        </p:nvSpPr>
        <p:spPr bwMode="auto">
          <a:xfrm>
            <a:off x="5297388" y="1914370"/>
            <a:ext cx="1320875" cy="333820"/>
          </a:xfrm>
          <a:custGeom>
            <a:avLst/>
            <a:gdLst>
              <a:gd name="T0" fmla="*/ 0 w 21600"/>
              <a:gd name="T1" fmla="*/ 5152 h 21600"/>
              <a:gd name="T2" fmla="*/ 2941 w 21600"/>
              <a:gd name="T3" fmla="*/ 0 h 21600"/>
              <a:gd name="T4" fmla="*/ 18625 w 21600"/>
              <a:gd name="T5" fmla="*/ 0 h 21600"/>
              <a:gd name="T6" fmla="*/ 21600 w 21600"/>
              <a:gd name="T7" fmla="*/ 5152 h 21600"/>
              <a:gd name="T8" fmla="*/ 21600 w 21600"/>
              <a:gd name="T9" fmla="*/ 21600 h 21600"/>
              <a:gd name="T10" fmla="*/ 0 w 21600"/>
              <a:gd name="T11" fmla="*/ 21600 h 21600"/>
              <a:gd name="T12" fmla="*/ 10800 w 21600"/>
              <a:gd name="T13" fmla="*/ 0 h 21600"/>
              <a:gd name="T14" fmla="*/ 10800 w 21600"/>
              <a:gd name="T15" fmla="*/ 21600 h 21600"/>
              <a:gd name="T16" fmla="*/ 0 w 21600"/>
              <a:gd name="T17" fmla="*/ 13376 h 21600"/>
              <a:gd name="T18" fmla="*/ 21600 w 21600"/>
              <a:gd name="T19" fmla="*/ 13376 h 21600"/>
              <a:gd name="T20" fmla="*/ 400 w 21600"/>
              <a:gd name="T21" fmla="*/ 22400 h 21600"/>
              <a:gd name="T22" fmla="*/ 21200 w 21600"/>
              <a:gd name="T23" fmla="*/ 30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5152"/>
                </a:moveTo>
                <a:lnTo>
                  <a:pt x="2941" y="0"/>
                </a:lnTo>
                <a:lnTo>
                  <a:pt x="18625" y="0"/>
                </a:lnTo>
                <a:lnTo>
                  <a:pt x="21600" y="5152"/>
                </a:lnTo>
                <a:lnTo>
                  <a:pt x="21600" y="21600"/>
                </a:lnTo>
                <a:lnTo>
                  <a:pt x="0" y="21600"/>
                </a:lnTo>
                <a:lnTo>
                  <a:pt x="0" y="5152"/>
                </a:lnTo>
                <a:close/>
              </a:path>
              <a:path w="21600" h="21600" extrusionOk="0">
                <a:moveTo>
                  <a:pt x="0" y="5251"/>
                </a:moveTo>
                <a:lnTo>
                  <a:pt x="21600" y="5251"/>
                </a:lnTo>
                <a:moveTo>
                  <a:pt x="1961" y="11791"/>
                </a:moveTo>
                <a:lnTo>
                  <a:pt x="1961" y="14268"/>
                </a:lnTo>
                <a:lnTo>
                  <a:pt x="2806" y="14268"/>
                </a:lnTo>
                <a:lnTo>
                  <a:pt x="2806" y="11791"/>
                </a:lnTo>
                <a:lnTo>
                  <a:pt x="1961" y="11791"/>
                </a:lnTo>
                <a:close/>
              </a:path>
              <a:path w="21600" h="21600" extrusionOk="0">
                <a:moveTo>
                  <a:pt x="3685" y="11791"/>
                </a:moveTo>
                <a:lnTo>
                  <a:pt x="3685" y="14268"/>
                </a:lnTo>
                <a:lnTo>
                  <a:pt x="4530" y="14268"/>
                </a:lnTo>
                <a:lnTo>
                  <a:pt x="4530" y="11791"/>
                </a:lnTo>
                <a:lnTo>
                  <a:pt x="3685" y="11791"/>
                </a:lnTo>
                <a:close/>
              </a:path>
              <a:path w="21600" h="21600" extrusionOk="0">
                <a:moveTo>
                  <a:pt x="5408" y="11791"/>
                </a:moveTo>
                <a:lnTo>
                  <a:pt x="5408" y="14268"/>
                </a:lnTo>
                <a:lnTo>
                  <a:pt x="6254" y="14268"/>
                </a:lnTo>
                <a:lnTo>
                  <a:pt x="6254" y="11791"/>
                </a:lnTo>
                <a:lnTo>
                  <a:pt x="5408" y="11791"/>
                </a:lnTo>
                <a:close/>
              </a:path>
              <a:path w="21600" h="21600" extrusionOk="0">
                <a:moveTo>
                  <a:pt x="7132" y="11791"/>
                </a:moveTo>
                <a:lnTo>
                  <a:pt x="7132" y="14268"/>
                </a:lnTo>
                <a:lnTo>
                  <a:pt x="7977" y="14268"/>
                </a:lnTo>
                <a:lnTo>
                  <a:pt x="7977" y="11791"/>
                </a:lnTo>
                <a:lnTo>
                  <a:pt x="7132" y="1179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 dirty="0"/>
          </a:p>
        </p:txBody>
      </p:sp>
      <p:sp>
        <p:nvSpPr>
          <p:cNvPr id="55" name="Rectangle 6"/>
          <p:cNvSpPr>
            <a:spLocks noChangeArrowheads="1"/>
          </p:cNvSpPr>
          <p:nvPr/>
        </p:nvSpPr>
        <p:spPr bwMode="auto">
          <a:xfrm>
            <a:off x="2615739" y="4921094"/>
            <a:ext cx="63715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以太网交换机的每个接口都是一个碰撞域</a:t>
            </a:r>
            <a:endParaRPr lang="fr-FR" altLang="zh-CN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ECA4DF-4CFD-0B9E-27E9-82E61EE69B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161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46"/>
          <p:cNvSpPr>
            <a:spLocks noChangeArrowheads="1"/>
          </p:cNvSpPr>
          <p:nvPr/>
        </p:nvSpPr>
        <p:spPr bwMode="auto">
          <a:xfrm>
            <a:off x="670559" y="1343074"/>
            <a:ext cx="10838687" cy="2853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半双工时采用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CSMA/CD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，必须进行碰撞检测。</a:t>
            </a: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为保持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64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字节最小帧长度，以及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100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米的网段的最大长度，增加了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个功能：</a:t>
            </a:r>
          </a:p>
          <a:p>
            <a:pPr marL="954593" indent="-457189" eaLnBrk="0" hangingPunct="0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载波延伸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(carrier extension)</a:t>
            </a:r>
          </a:p>
          <a:p>
            <a:pPr marL="954593" indent="-457189" eaLnBrk="0" hangingPunct="0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分组突发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(packet bursting)</a:t>
            </a:r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670559" y="861093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8" name="Rectangle 6"/>
          <p:cNvSpPr>
            <a:spLocks noChangeArrowheads="1"/>
          </p:cNvSpPr>
          <p:nvPr/>
        </p:nvSpPr>
        <p:spPr bwMode="auto">
          <a:xfrm>
            <a:off x="3607022" y="830307"/>
            <a:ext cx="496482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半双工方式工作的吉比特以太网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16000" y="4475871"/>
            <a:ext cx="10499600" cy="7012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tIns="144000" bIns="144000">
            <a:spAutoFit/>
          </a:bodyPr>
          <a:lstStyle/>
          <a:p>
            <a:r>
              <a:rPr lang="zh-CN" altLang="en-US" sz="2667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注意：全双工方式工作的吉比特以太网不使用载波延伸和分组突发。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33B9D6E-C33E-0124-03FA-934466DAC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88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5"/>
          <p:cNvSpPr>
            <a:spLocks noChangeArrowheads="1"/>
          </p:cNvSpPr>
          <p:nvPr/>
        </p:nvSpPr>
        <p:spPr bwMode="auto">
          <a:xfrm>
            <a:off x="726860" y="839357"/>
            <a:ext cx="1073828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3602064" y="808571"/>
            <a:ext cx="496482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ea typeface="微软雅黑" pitchFamily="34" charset="-122"/>
              </a:rPr>
              <a:t>虚电路服务与数据报服务的对比</a:t>
            </a:r>
          </a:p>
        </p:txBody>
      </p:sp>
      <p:graphicFrame>
        <p:nvGraphicFramePr>
          <p:cNvPr id="21" name="Group 171"/>
          <p:cNvGraphicFramePr>
            <a:graphicFrameLocks noGrp="1"/>
          </p:cNvGraphicFramePr>
          <p:nvPr/>
        </p:nvGraphicFramePr>
        <p:xfrm>
          <a:off x="726860" y="1382404"/>
          <a:ext cx="10738281" cy="45207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8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0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5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1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对比的方面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虚电路服务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数据报服务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思路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可靠通信应当由网络来保证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可靠通信应当由用户主机来保证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连接的建立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必须有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不需要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终点地址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仅在连接建立阶段使用，每个分组使用短的虚电路号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每个分组都有终点的完整地址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分组的转发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属于同一条虚电路的分组均按照同一路由进行转发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每个分组独立选择路由进行转发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当结点出故障时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所有通过出故障的结点的虚电路均不能工作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出故障的结点可能会丢失分组，一些路由可能会发生变化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分组的顺序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总是按发送顺序到达终点</a:t>
                      </a:r>
                      <a:endParaRPr kumimoji="0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到达终点时不一定按发送顺序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端到端的差错处理和流量控制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可以由网络负责，也可以由用户主机负责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由用户主机负责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2080" marR="132080" marT="60960" marB="6096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21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726859" y="799165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889310" y="756403"/>
            <a:ext cx="44133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4.2.2  IP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数据报的格式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1299147" y="1394082"/>
            <a:ext cx="9673653" cy="489540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3003155" y="2342696"/>
            <a:ext cx="6678300" cy="2071869"/>
          </a:xfrm>
          <a:prstGeom prst="rect">
            <a:avLst/>
          </a:prstGeom>
          <a:solidFill>
            <a:srgbClr val="99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Rectangle 44"/>
          <p:cNvSpPr>
            <a:spLocks noChangeArrowheads="1"/>
          </p:cNvSpPr>
          <p:nvPr/>
        </p:nvSpPr>
        <p:spPr bwMode="auto">
          <a:xfrm>
            <a:off x="3739198" y="2350566"/>
            <a:ext cx="1064396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首部长度</a:t>
            </a:r>
          </a:p>
        </p:txBody>
      </p:sp>
      <p:sp>
        <p:nvSpPr>
          <p:cNvPr id="11" name="Rectangle 45"/>
          <p:cNvSpPr>
            <a:spLocks noChangeArrowheads="1"/>
          </p:cNvSpPr>
          <p:nvPr/>
        </p:nvSpPr>
        <p:spPr bwMode="auto">
          <a:xfrm>
            <a:off x="2406951" y="2664988"/>
            <a:ext cx="448843" cy="100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固</a:t>
            </a:r>
          </a:p>
          <a:p>
            <a:pPr defTabSz="1015975" eaLnBrk="0" hangingPunct="0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定</a:t>
            </a:r>
          </a:p>
          <a:p>
            <a:pPr defTabSz="1015975" eaLnBrk="0" hangingPunct="0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部</a:t>
            </a:r>
          </a:p>
          <a:p>
            <a:pPr defTabSz="1015975" eaLnBrk="0" hangingPunct="0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分</a:t>
            </a:r>
          </a:p>
        </p:txBody>
      </p:sp>
      <p:sp>
        <p:nvSpPr>
          <p:cNvPr id="12" name="Rectangle 54"/>
          <p:cNvSpPr>
            <a:spLocks noChangeArrowheads="1"/>
          </p:cNvSpPr>
          <p:nvPr/>
        </p:nvSpPr>
        <p:spPr bwMode="auto">
          <a:xfrm>
            <a:off x="2308828" y="3962861"/>
            <a:ext cx="654027" cy="61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可变</a:t>
            </a:r>
          </a:p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部分</a:t>
            </a:r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>
            <a:off x="3989938" y="5732348"/>
            <a:ext cx="460228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Rectangle 90"/>
          <p:cNvSpPr>
            <a:spLocks noChangeArrowheads="1"/>
          </p:cNvSpPr>
          <p:nvPr/>
        </p:nvSpPr>
        <p:spPr bwMode="auto">
          <a:xfrm>
            <a:off x="3964325" y="5191049"/>
            <a:ext cx="1222692" cy="352155"/>
          </a:xfrm>
          <a:prstGeom prst="rect">
            <a:avLst/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3015288" y="4423277"/>
            <a:ext cx="6651339" cy="533833"/>
          </a:xfrm>
          <a:prstGeom prst="rect">
            <a:avLst/>
          </a:prstGeom>
          <a:solidFill>
            <a:srgbClr val="00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2999111" y="2696096"/>
            <a:ext cx="669043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2999111" y="3043275"/>
            <a:ext cx="669043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2999111" y="3391697"/>
            <a:ext cx="669043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2999111" y="3735141"/>
            <a:ext cx="669043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2999111" y="4083564"/>
            <a:ext cx="669043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3821429" y="2348920"/>
            <a:ext cx="0" cy="34717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4715748" y="2348920"/>
            <a:ext cx="0" cy="34717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4715748" y="3050742"/>
            <a:ext cx="0" cy="3384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6332868" y="2348920"/>
            <a:ext cx="0" cy="104028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 flipV="1">
            <a:off x="8007161" y="4079831"/>
            <a:ext cx="0" cy="34593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7013640" y="2703563"/>
            <a:ext cx="0" cy="339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2954627" y="2045294"/>
            <a:ext cx="370296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3748635" y="2045294"/>
            <a:ext cx="370296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4593870" y="2045294"/>
            <a:ext cx="370296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</a:t>
            </a:r>
          </a:p>
        </p:txBody>
      </p:sp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6250638" y="2045294"/>
            <a:ext cx="496933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16</a:t>
            </a:r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6927363" y="2045294"/>
            <a:ext cx="496933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19</a:t>
            </a:r>
          </a:p>
        </p:txBody>
      </p:sp>
      <p:sp>
        <p:nvSpPr>
          <p:cNvPr id="32" name="Rectangle 28"/>
          <p:cNvSpPr>
            <a:spLocks noChangeArrowheads="1"/>
          </p:cNvSpPr>
          <p:nvPr/>
        </p:nvSpPr>
        <p:spPr bwMode="auto">
          <a:xfrm>
            <a:off x="7924931" y="2045294"/>
            <a:ext cx="496933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24</a:t>
            </a:r>
          </a:p>
        </p:txBody>
      </p:sp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9379490" y="2045294"/>
            <a:ext cx="496933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31</a:t>
            </a:r>
          </a:p>
        </p:txBody>
      </p:sp>
      <p:sp>
        <p:nvSpPr>
          <p:cNvPr id="34" name="Rectangle 30"/>
          <p:cNvSpPr>
            <a:spLocks noChangeArrowheads="1"/>
          </p:cNvSpPr>
          <p:nvPr/>
        </p:nvSpPr>
        <p:spPr bwMode="auto">
          <a:xfrm>
            <a:off x="3081343" y="2350566"/>
            <a:ext cx="714941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版 本</a:t>
            </a:r>
          </a:p>
        </p:txBody>
      </p:sp>
      <p:sp>
        <p:nvSpPr>
          <p:cNvPr id="35" name="Rectangle 31"/>
          <p:cNvSpPr>
            <a:spLocks noChangeArrowheads="1"/>
          </p:cNvSpPr>
          <p:nvPr/>
        </p:nvSpPr>
        <p:spPr bwMode="auto">
          <a:xfrm>
            <a:off x="6382745" y="2704370"/>
            <a:ext cx="654027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标志</a:t>
            </a:r>
          </a:p>
        </p:txBody>
      </p:sp>
      <p:sp>
        <p:nvSpPr>
          <p:cNvPr id="36" name="Rectangle 32"/>
          <p:cNvSpPr>
            <a:spLocks noChangeArrowheads="1"/>
          </p:cNvSpPr>
          <p:nvPr/>
        </p:nvSpPr>
        <p:spPr bwMode="auto">
          <a:xfrm>
            <a:off x="3248505" y="3041189"/>
            <a:ext cx="1247138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生 存 时 间</a:t>
            </a:r>
          </a:p>
        </p:txBody>
      </p:sp>
      <p:sp>
        <p:nvSpPr>
          <p:cNvPr id="37" name="Rectangle 33"/>
          <p:cNvSpPr>
            <a:spLocks noChangeArrowheads="1"/>
          </p:cNvSpPr>
          <p:nvPr/>
        </p:nvSpPr>
        <p:spPr bwMode="auto">
          <a:xfrm>
            <a:off x="5057602" y="3041189"/>
            <a:ext cx="897684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协    议</a:t>
            </a:r>
          </a:p>
        </p:txBody>
      </p:sp>
      <p:sp>
        <p:nvSpPr>
          <p:cNvPr id="38" name="Rectangle 34"/>
          <p:cNvSpPr>
            <a:spLocks noChangeArrowheads="1"/>
          </p:cNvSpPr>
          <p:nvPr/>
        </p:nvSpPr>
        <p:spPr bwMode="auto">
          <a:xfrm>
            <a:off x="4220457" y="2704370"/>
            <a:ext cx="897684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标    识</a:t>
            </a:r>
          </a:p>
        </p:txBody>
      </p:sp>
      <p:sp>
        <p:nvSpPr>
          <p:cNvPr id="39" name="Rectangle 35"/>
          <p:cNvSpPr>
            <a:spLocks noChangeArrowheads="1"/>
          </p:cNvSpPr>
          <p:nvPr/>
        </p:nvSpPr>
        <p:spPr bwMode="auto">
          <a:xfrm>
            <a:off x="4909315" y="2350566"/>
            <a:ext cx="1247138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区 分 服 务</a:t>
            </a:r>
          </a:p>
        </p:txBody>
      </p:sp>
      <p:sp>
        <p:nvSpPr>
          <p:cNvPr id="40" name="Rectangle 36"/>
          <p:cNvSpPr>
            <a:spLocks noChangeArrowheads="1"/>
          </p:cNvSpPr>
          <p:nvPr/>
        </p:nvSpPr>
        <p:spPr bwMode="auto">
          <a:xfrm>
            <a:off x="7368585" y="2350566"/>
            <a:ext cx="1224696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总   长   度</a:t>
            </a:r>
          </a:p>
        </p:txBody>
      </p:sp>
      <p:sp>
        <p:nvSpPr>
          <p:cNvPr id="41" name="Rectangle 37"/>
          <p:cNvSpPr>
            <a:spLocks noChangeArrowheads="1"/>
          </p:cNvSpPr>
          <p:nvPr/>
        </p:nvSpPr>
        <p:spPr bwMode="auto">
          <a:xfrm>
            <a:off x="7794170" y="2704370"/>
            <a:ext cx="1224696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片   偏   移</a:t>
            </a:r>
          </a:p>
        </p:txBody>
      </p:sp>
      <p:sp>
        <p:nvSpPr>
          <p:cNvPr id="42" name="Rectangle 38"/>
          <p:cNvSpPr>
            <a:spLocks noChangeArrowheads="1"/>
          </p:cNvSpPr>
          <p:nvPr/>
        </p:nvSpPr>
        <p:spPr bwMode="auto">
          <a:xfrm>
            <a:off x="8408883" y="4063216"/>
            <a:ext cx="897684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填    充</a:t>
            </a:r>
          </a:p>
        </p:txBody>
      </p:sp>
      <p:sp>
        <p:nvSpPr>
          <p:cNvPr id="43" name="Rectangle 39"/>
          <p:cNvSpPr>
            <a:spLocks noChangeArrowheads="1"/>
          </p:cNvSpPr>
          <p:nvPr/>
        </p:nvSpPr>
        <p:spPr bwMode="auto">
          <a:xfrm>
            <a:off x="7070261" y="3041189"/>
            <a:ext cx="2000550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首   部   检   验   和</a:t>
            </a:r>
          </a:p>
        </p:txBody>
      </p:sp>
      <p:sp>
        <p:nvSpPr>
          <p:cNvPr id="44" name="Rectangle 40"/>
          <p:cNvSpPr>
            <a:spLocks noChangeArrowheads="1"/>
          </p:cNvSpPr>
          <p:nvPr/>
        </p:nvSpPr>
        <p:spPr bwMode="auto">
          <a:xfrm>
            <a:off x="5788253" y="3391057"/>
            <a:ext cx="1224696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源   地   址</a:t>
            </a:r>
          </a:p>
        </p:txBody>
      </p:sp>
      <p:sp>
        <p:nvSpPr>
          <p:cNvPr id="45" name="Rectangle 41"/>
          <p:cNvSpPr>
            <a:spLocks noChangeArrowheads="1"/>
          </p:cNvSpPr>
          <p:nvPr/>
        </p:nvSpPr>
        <p:spPr bwMode="auto">
          <a:xfrm>
            <a:off x="5571213" y="3736990"/>
            <a:ext cx="1612623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目   的   地   址</a:t>
            </a:r>
          </a:p>
        </p:txBody>
      </p:sp>
      <p:sp>
        <p:nvSpPr>
          <p:cNvPr id="46" name="Rectangle 42"/>
          <p:cNvSpPr>
            <a:spLocks noChangeArrowheads="1"/>
          </p:cNvSpPr>
          <p:nvPr/>
        </p:nvSpPr>
        <p:spPr bwMode="auto">
          <a:xfrm>
            <a:off x="3930624" y="4063216"/>
            <a:ext cx="3513784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可   选   字   段  （长   度   可   变）</a:t>
            </a:r>
          </a:p>
        </p:txBody>
      </p:sp>
      <p:sp>
        <p:nvSpPr>
          <p:cNvPr id="47" name="Rectangle 43"/>
          <p:cNvSpPr>
            <a:spLocks noChangeArrowheads="1"/>
          </p:cNvSpPr>
          <p:nvPr/>
        </p:nvSpPr>
        <p:spPr bwMode="auto">
          <a:xfrm>
            <a:off x="2554251" y="2034096"/>
            <a:ext cx="448843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位</a:t>
            </a:r>
          </a:p>
        </p:txBody>
      </p:sp>
      <p:grpSp>
        <p:nvGrpSpPr>
          <p:cNvPr id="48" name="Group 46"/>
          <p:cNvGrpSpPr>
            <a:grpSpLocks/>
          </p:cNvGrpSpPr>
          <p:nvPr/>
        </p:nvGrpSpPr>
        <p:grpSpPr bwMode="auto">
          <a:xfrm>
            <a:off x="2946537" y="4212979"/>
            <a:ext cx="111889" cy="54752"/>
            <a:chOff x="833" y="3024"/>
            <a:chExt cx="78" cy="51"/>
          </a:xfrm>
        </p:grpSpPr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2" name="Group 50"/>
          <p:cNvGrpSpPr>
            <a:grpSpLocks/>
          </p:cNvGrpSpPr>
          <p:nvPr/>
        </p:nvGrpSpPr>
        <p:grpSpPr bwMode="auto">
          <a:xfrm>
            <a:off x="9627534" y="4220445"/>
            <a:ext cx="111889" cy="52264"/>
            <a:chOff x="5432" y="3030"/>
            <a:chExt cx="78" cy="51"/>
          </a:xfrm>
        </p:grpSpPr>
        <p:sp>
          <p:nvSpPr>
            <p:cNvPr id="53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6" name="Rectangle 75"/>
          <p:cNvSpPr>
            <a:spLocks noChangeArrowheads="1"/>
          </p:cNvSpPr>
          <p:nvPr/>
        </p:nvSpPr>
        <p:spPr bwMode="auto">
          <a:xfrm>
            <a:off x="5274642" y="4518049"/>
            <a:ext cx="2469649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   据   部   分</a:t>
            </a:r>
          </a:p>
        </p:txBody>
      </p:sp>
      <p:sp>
        <p:nvSpPr>
          <p:cNvPr id="57" name="Rectangle 80"/>
          <p:cNvSpPr>
            <a:spLocks noChangeArrowheads="1"/>
          </p:cNvSpPr>
          <p:nvPr/>
        </p:nvSpPr>
        <p:spPr bwMode="auto">
          <a:xfrm>
            <a:off x="5187015" y="5191049"/>
            <a:ext cx="3382288" cy="352155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Rectangle 82"/>
          <p:cNvSpPr>
            <a:spLocks noChangeArrowheads="1"/>
          </p:cNvSpPr>
          <p:nvPr/>
        </p:nvSpPr>
        <p:spPr bwMode="auto">
          <a:xfrm>
            <a:off x="5670973" y="5185232"/>
            <a:ext cx="2628721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       据       部       分</a:t>
            </a:r>
          </a:p>
        </p:txBody>
      </p:sp>
      <p:sp>
        <p:nvSpPr>
          <p:cNvPr id="59" name="Rectangle 83"/>
          <p:cNvSpPr>
            <a:spLocks noChangeArrowheads="1"/>
          </p:cNvSpPr>
          <p:nvPr/>
        </p:nvSpPr>
        <p:spPr bwMode="auto">
          <a:xfrm>
            <a:off x="4147660" y="5185232"/>
            <a:ext cx="836770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首   部</a:t>
            </a:r>
          </a:p>
        </p:txBody>
      </p:sp>
      <p:sp>
        <p:nvSpPr>
          <p:cNvPr id="60" name="Rectangle 85"/>
          <p:cNvSpPr>
            <a:spLocks noChangeArrowheads="1"/>
          </p:cNvSpPr>
          <p:nvPr/>
        </p:nvSpPr>
        <p:spPr bwMode="auto">
          <a:xfrm>
            <a:off x="5672317" y="5571826"/>
            <a:ext cx="1123708" cy="365913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61" name="AutoShape 97"/>
          <p:cNvSpPr>
            <a:spLocks/>
          </p:cNvSpPr>
          <p:nvPr/>
        </p:nvSpPr>
        <p:spPr bwMode="auto">
          <a:xfrm>
            <a:off x="2796739" y="2382516"/>
            <a:ext cx="141547" cy="1693581"/>
          </a:xfrm>
          <a:prstGeom prst="leftBrace">
            <a:avLst>
              <a:gd name="adj1" fmla="val 10801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2" name="Group 100"/>
          <p:cNvGrpSpPr>
            <a:grpSpLocks/>
          </p:cNvGrpSpPr>
          <p:nvPr/>
        </p:nvGrpSpPr>
        <p:grpSpPr bwMode="auto">
          <a:xfrm>
            <a:off x="2550207" y="5599200"/>
            <a:ext cx="1412771" cy="606005"/>
            <a:chOff x="380" y="3475"/>
            <a:chExt cx="1048" cy="487"/>
          </a:xfrm>
        </p:grpSpPr>
        <p:sp>
          <p:nvSpPr>
            <p:cNvPr id="63" name="Line 98"/>
            <p:cNvSpPr>
              <a:spLocks noChangeShapeType="1"/>
            </p:cNvSpPr>
            <p:nvPr/>
          </p:nvSpPr>
          <p:spPr bwMode="auto">
            <a:xfrm flipV="1">
              <a:off x="1428" y="3475"/>
              <a:ext cx="0" cy="487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Rectangle 99"/>
            <p:cNvSpPr>
              <a:spLocks noChangeArrowheads="1"/>
            </p:cNvSpPr>
            <p:nvPr/>
          </p:nvSpPr>
          <p:spPr bwMode="auto">
            <a:xfrm>
              <a:off x="380" y="3582"/>
              <a:ext cx="790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zh-CN" altLang="en-US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发送在前</a:t>
              </a:r>
            </a:p>
          </p:txBody>
        </p:sp>
      </p:grpSp>
      <p:sp>
        <p:nvSpPr>
          <p:cNvPr id="65" name="矩形 64"/>
          <p:cNvSpPr/>
          <p:nvPr/>
        </p:nvSpPr>
        <p:spPr>
          <a:xfrm>
            <a:off x="3893974" y="1503591"/>
            <a:ext cx="4374916" cy="420564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数据报由</a:t>
            </a:r>
            <a:r>
              <a:rPr lang="zh-CN" altLang="en-US" sz="2133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133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两部分组成</a:t>
            </a:r>
          </a:p>
        </p:txBody>
      </p:sp>
      <p:grpSp>
        <p:nvGrpSpPr>
          <p:cNvPr id="66" name="组合 65"/>
          <p:cNvGrpSpPr/>
          <p:nvPr/>
        </p:nvGrpSpPr>
        <p:grpSpPr>
          <a:xfrm>
            <a:off x="1925608" y="2326522"/>
            <a:ext cx="7763933" cy="3215441"/>
            <a:chOff x="1444206" y="1385131"/>
            <a:chExt cx="5822950" cy="2411581"/>
          </a:xfrm>
        </p:grpSpPr>
        <p:grpSp>
          <p:nvGrpSpPr>
            <p:cNvPr id="67" name="Group 94"/>
            <p:cNvGrpSpPr>
              <a:grpSpLocks/>
            </p:cNvGrpSpPr>
            <p:nvPr/>
          </p:nvGrpSpPr>
          <p:grpSpPr bwMode="auto">
            <a:xfrm>
              <a:off x="1444206" y="1385131"/>
              <a:ext cx="336679" cy="1566034"/>
              <a:chOff x="-127" y="845"/>
              <a:chExt cx="333" cy="1678"/>
            </a:xfrm>
          </p:grpSpPr>
          <p:sp>
            <p:nvSpPr>
              <p:cNvPr id="70" name="Line 89"/>
              <p:cNvSpPr>
                <a:spLocks noChangeShapeType="1"/>
              </p:cNvSpPr>
              <p:nvPr/>
            </p:nvSpPr>
            <p:spPr bwMode="auto">
              <a:xfrm>
                <a:off x="60" y="845"/>
                <a:ext cx="0" cy="167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1" name="Rectangle 78"/>
              <p:cNvSpPr>
                <a:spLocks noChangeArrowheads="1"/>
              </p:cNvSpPr>
              <p:nvPr/>
            </p:nvSpPr>
            <p:spPr bwMode="auto">
              <a:xfrm>
                <a:off x="-127" y="1389"/>
                <a:ext cx="333" cy="49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0651" tIns="59267" rIns="120651" bIns="59267">
                <a:spAutoFit/>
              </a:bodyPr>
              <a:lstStyle/>
              <a:p>
                <a:pPr defTabSz="1015975" eaLnBrk="0" hangingPunct="0"/>
                <a:r>
                  <a:rPr kumimoji="1" lang="zh-CN" altLang="en-US" sz="1600" b="1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</a:rPr>
                  <a:t>首</a:t>
                </a:r>
              </a:p>
              <a:p>
                <a:pPr defTabSz="1015975" eaLnBrk="0" hangingPunct="0"/>
                <a:r>
                  <a:rPr kumimoji="1" lang="zh-CN" altLang="en-US" sz="1600" b="1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</a:rPr>
                  <a:t>部</a:t>
                </a:r>
              </a:p>
            </p:txBody>
          </p:sp>
        </p:grpSp>
        <p:sp>
          <p:nvSpPr>
            <p:cNvPr id="68" name="Rectangle 92"/>
            <p:cNvSpPr>
              <a:spLocks noChangeArrowheads="1"/>
            </p:cNvSpPr>
            <p:nvPr/>
          </p:nvSpPr>
          <p:spPr bwMode="auto">
            <a:xfrm>
              <a:off x="2970210" y="3531662"/>
              <a:ext cx="925108" cy="265050"/>
            </a:xfrm>
            <a:prstGeom prst="rect">
              <a:avLst/>
            </a:prstGeom>
            <a:noFill/>
            <a:ln w="38100">
              <a:solidFill>
                <a:srgbClr val="CC00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Rectangle 92"/>
            <p:cNvSpPr>
              <a:spLocks noChangeArrowheads="1"/>
            </p:cNvSpPr>
            <p:nvPr/>
          </p:nvSpPr>
          <p:spPr bwMode="auto">
            <a:xfrm>
              <a:off x="2248865" y="1397262"/>
              <a:ext cx="5018291" cy="1553323"/>
            </a:xfrm>
            <a:prstGeom prst="rect">
              <a:avLst/>
            </a:prstGeom>
            <a:noFill/>
            <a:ln w="38100">
              <a:solidFill>
                <a:srgbClr val="CC00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909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726860" y="846459"/>
            <a:ext cx="10738281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" name="矩形 5"/>
          <p:cNvSpPr/>
          <p:nvPr/>
        </p:nvSpPr>
        <p:spPr>
          <a:xfrm>
            <a:off x="821447" y="768101"/>
            <a:ext cx="4033476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4-1】 IP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数据报分片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742617" y="1364057"/>
            <a:ext cx="10722523" cy="443945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9" name="组合 8"/>
          <p:cNvGrpSpPr/>
          <p:nvPr/>
        </p:nvGrpSpPr>
        <p:grpSpPr>
          <a:xfrm>
            <a:off x="1670441" y="2397221"/>
            <a:ext cx="4433088" cy="3237107"/>
            <a:chOff x="344488" y="2380134"/>
            <a:chExt cx="4755225" cy="3472337"/>
          </a:xfrm>
        </p:grpSpPr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704529" y="5445227"/>
              <a:ext cx="2001828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偏移 </a:t>
              </a:r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= 0/8 = 0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295534" y="3869208"/>
              <a:ext cx="1900369" cy="46355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484710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675606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866504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3005006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 flipV="1">
              <a:off x="3101314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2629894" y="4625603"/>
              <a:ext cx="830856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1479</a:t>
              </a:r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990013" y="5072535"/>
              <a:ext cx="1456750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数据报片 </a:t>
              </a:r>
              <a:r>
                <a:rPr kumimoji="1" lang="en-US" altLang="zh-CN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9" name="Rectangle 36"/>
            <p:cNvSpPr>
              <a:spLocks noChangeArrowheads="1"/>
            </p:cNvSpPr>
            <p:nvPr/>
          </p:nvSpPr>
          <p:spPr bwMode="auto">
            <a:xfrm>
              <a:off x="344488" y="3869208"/>
              <a:ext cx="951045" cy="46355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39"/>
            <p:cNvSpPr>
              <a:spLocks noChangeShapeType="1"/>
            </p:cNvSpPr>
            <p:nvPr/>
          </p:nvSpPr>
          <p:spPr bwMode="auto">
            <a:xfrm flipV="1">
              <a:off x="1295534" y="2380134"/>
              <a:ext cx="1900369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40"/>
            <p:cNvSpPr>
              <a:spLocks noChangeShapeType="1"/>
            </p:cNvSpPr>
            <p:nvPr/>
          </p:nvSpPr>
          <p:spPr bwMode="auto">
            <a:xfrm flipV="1">
              <a:off x="3195903" y="2380134"/>
              <a:ext cx="1903810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Text Box 59"/>
            <p:cNvSpPr txBox="1">
              <a:spLocks noChangeArrowheads="1"/>
            </p:cNvSpPr>
            <p:nvPr/>
          </p:nvSpPr>
          <p:spPr bwMode="auto">
            <a:xfrm>
              <a:off x="344488" y="3869209"/>
              <a:ext cx="1040474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 </a:t>
              </a:r>
              <a:r>
                <a:rPr kumimoji="1" lang="en-US" altLang="zh-CN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23" name="Line 62"/>
            <p:cNvSpPr>
              <a:spLocks noChangeShapeType="1"/>
            </p:cNvSpPr>
            <p:nvPr/>
          </p:nvSpPr>
          <p:spPr bwMode="auto">
            <a:xfrm flipV="1">
              <a:off x="1384962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63"/>
            <p:cNvSpPr txBox="1">
              <a:spLocks noChangeArrowheads="1"/>
            </p:cNvSpPr>
            <p:nvPr/>
          </p:nvSpPr>
          <p:spPr bwMode="auto">
            <a:xfrm>
              <a:off x="564621" y="4626446"/>
              <a:ext cx="944342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字节 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743941" y="2397221"/>
            <a:ext cx="3132822" cy="3237104"/>
            <a:chOff x="3641329" y="2380134"/>
            <a:chExt cx="3360473" cy="3472333"/>
          </a:xfrm>
        </p:grpSpPr>
        <p:sp>
          <p:nvSpPr>
            <p:cNvPr id="26" name="Text Box 17"/>
            <p:cNvSpPr txBox="1">
              <a:spLocks noChangeArrowheads="1"/>
            </p:cNvSpPr>
            <p:nvPr/>
          </p:nvSpPr>
          <p:spPr bwMode="auto">
            <a:xfrm>
              <a:off x="3653973" y="5445223"/>
              <a:ext cx="2792793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偏移 </a:t>
              </a:r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= 1480/8 = 185</a:t>
              </a: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V="1">
              <a:off x="4717918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V="1">
              <a:off x="6430831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246498" y="4660776"/>
              <a:ext cx="830856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1480</a:t>
              </a:r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5968920" y="4638550"/>
              <a:ext cx="830856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2959</a:t>
              </a:r>
            </a:p>
          </p:txBody>
        </p:sp>
        <p:sp>
          <p:nvSpPr>
            <p:cNvPr id="31" name="Rectangle 41"/>
            <p:cNvSpPr>
              <a:spLocks noChangeArrowheads="1"/>
            </p:cNvSpPr>
            <p:nvPr/>
          </p:nvSpPr>
          <p:spPr bwMode="auto">
            <a:xfrm>
              <a:off x="4625050" y="3869208"/>
              <a:ext cx="1900369" cy="46355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42"/>
            <p:cNvSpPr>
              <a:spLocks noChangeShapeType="1"/>
            </p:cNvSpPr>
            <p:nvPr/>
          </p:nvSpPr>
          <p:spPr bwMode="auto">
            <a:xfrm>
              <a:off x="4814227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Line 43"/>
            <p:cNvSpPr>
              <a:spLocks noChangeShapeType="1"/>
            </p:cNvSpPr>
            <p:nvPr/>
          </p:nvSpPr>
          <p:spPr bwMode="auto">
            <a:xfrm>
              <a:off x="5003404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44"/>
            <p:cNvSpPr>
              <a:spLocks noChangeShapeType="1"/>
            </p:cNvSpPr>
            <p:nvPr/>
          </p:nvSpPr>
          <p:spPr bwMode="auto">
            <a:xfrm>
              <a:off x="5194300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45"/>
            <p:cNvSpPr>
              <a:spLocks noChangeShapeType="1"/>
            </p:cNvSpPr>
            <p:nvPr/>
          </p:nvSpPr>
          <p:spPr bwMode="auto">
            <a:xfrm>
              <a:off x="6334522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Rectangle 46"/>
            <p:cNvSpPr>
              <a:spLocks noChangeArrowheads="1"/>
            </p:cNvSpPr>
            <p:nvPr/>
          </p:nvSpPr>
          <p:spPr bwMode="auto">
            <a:xfrm>
              <a:off x="3674004" y="3869208"/>
              <a:ext cx="951045" cy="46355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47"/>
            <p:cNvSpPr>
              <a:spLocks noChangeShapeType="1"/>
            </p:cNvSpPr>
            <p:nvPr/>
          </p:nvSpPr>
          <p:spPr bwMode="auto">
            <a:xfrm flipV="1">
              <a:off x="4625049" y="2380134"/>
              <a:ext cx="47466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48"/>
            <p:cNvSpPr>
              <a:spLocks noChangeShapeType="1"/>
            </p:cNvSpPr>
            <p:nvPr/>
          </p:nvSpPr>
          <p:spPr bwMode="auto">
            <a:xfrm flipV="1">
              <a:off x="6525419" y="2380134"/>
              <a:ext cx="47638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Text Box 60"/>
            <p:cNvSpPr txBox="1">
              <a:spLocks noChangeArrowheads="1"/>
            </p:cNvSpPr>
            <p:nvPr/>
          </p:nvSpPr>
          <p:spPr bwMode="auto">
            <a:xfrm>
              <a:off x="3641329" y="3869210"/>
              <a:ext cx="944342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 </a:t>
              </a:r>
              <a:r>
                <a:rPr kumimoji="1" lang="en-US" altLang="zh-CN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0" name="Text Box 64"/>
            <p:cNvSpPr txBox="1">
              <a:spLocks noChangeArrowheads="1"/>
            </p:cNvSpPr>
            <p:nvPr/>
          </p:nvSpPr>
          <p:spPr bwMode="auto">
            <a:xfrm>
              <a:off x="4254178" y="5067770"/>
              <a:ext cx="1456750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数据报片 </a:t>
              </a:r>
              <a:r>
                <a:rPr kumimoji="1" lang="en-US" altLang="zh-CN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779264" y="2397221"/>
            <a:ext cx="2637862" cy="3237104"/>
            <a:chOff x="6897216" y="2380134"/>
            <a:chExt cx="2829544" cy="3472333"/>
          </a:xfrm>
        </p:grpSpPr>
        <p:sp>
          <p:nvSpPr>
            <p:cNvPr id="42" name="Text Box 18"/>
            <p:cNvSpPr txBox="1">
              <a:spLocks noChangeArrowheads="1"/>
            </p:cNvSpPr>
            <p:nvPr/>
          </p:nvSpPr>
          <p:spPr bwMode="auto">
            <a:xfrm>
              <a:off x="6897216" y="5445223"/>
              <a:ext cx="2792791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偏移 </a:t>
              </a:r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= 2960/8 = 370</a:t>
              </a:r>
            </a:p>
          </p:txBody>
        </p:sp>
        <p:sp>
          <p:nvSpPr>
            <p:cNvPr id="43" name="Line 24"/>
            <p:cNvSpPr>
              <a:spLocks noChangeShapeType="1"/>
            </p:cNvSpPr>
            <p:nvPr/>
          </p:nvSpPr>
          <p:spPr bwMode="auto">
            <a:xfrm flipV="1">
              <a:off x="8126545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Line 25"/>
            <p:cNvSpPr>
              <a:spLocks noChangeShapeType="1"/>
            </p:cNvSpPr>
            <p:nvPr/>
          </p:nvSpPr>
          <p:spPr bwMode="auto">
            <a:xfrm flipV="1">
              <a:off x="9380273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Text Box 27"/>
            <p:cNvSpPr txBox="1">
              <a:spLocks noChangeArrowheads="1"/>
            </p:cNvSpPr>
            <p:nvPr/>
          </p:nvSpPr>
          <p:spPr bwMode="auto">
            <a:xfrm>
              <a:off x="7657655" y="4647828"/>
              <a:ext cx="830856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2960</a:t>
              </a:r>
            </a:p>
          </p:txBody>
        </p:sp>
        <p:sp>
          <p:nvSpPr>
            <p:cNvPr id="46" name="Text Box 28"/>
            <p:cNvSpPr txBox="1">
              <a:spLocks noChangeArrowheads="1"/>
            </p:cNvSpPr>
            <p:nvPr/>
          </p:nvSpPr>
          <p:spPr bwMode="auto">
            <a:xfrm>
              <a:off x="8895904" y="4625601"/>
              <a:ext cx="830856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>
                  <a:latin typeface="微软雅黑" pitchFamily="34" charset="-122"/>
                  <a:ea typeface="微软雅黑" pitchFamily="34" charset="-122"/>
                </a:rPr>
                <a:t>3799</a:t>
              </a:r>
            </a:p>
          </p:txBody>
        </p:sp>
        <p:sp>
          <p:nvSpPr>
            <p:cNvPr id="47" name="Rectangle 49"/>
            <p:cNvSpPr>
              <a:spLocks noChangeArrowheads="1"/>
            </p:cNvSpPr>
            <p:nvPr/>
          </p:nvSpPr>
          <p:spPr bwMode="auto">
            <a:xfrm>
              <a:off x="8047436" y="3869208"/>
              <a:ext cx="1427427" cy="46355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8238331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Line 51"/>
            <p:cNvSpPr>
              <a:spLocks noChangeShapeType="1"/>
            </p:cNvSpPr>
            <p:nvPr/>
          </p:nvSpPr>
          <p:spPr bwMode="auto">
            <a:xfrm>
              <a:off x="8429229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52"/>
            <p:cNvSpPr>
              <a:spLocks noChangeShapeType="1"/>
            </p:cNvSpPr>
            <p:nvPr/>
          </p:nvSpPr>
          <p:spPr bwMode="auto">
            <a:xfrm>
              <a:off x="8620125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3"/>
            <p:cNvSpPr>
              <a:spLocks noChangeShapeType="1"/>
            </p:cNvSpPr>
            <p:nvPr/>
          </p:nvSpPr>
          <p:spPr bwMode="auto">
            <a:xfrm>
              <a:off x="9285685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Rectangle 54"/>
            <p:cNvSpPr>
              <a:spLocks noChangeArrowheads="1"/>
            </p:cNvSpPr>
            <p:nvPr/>
          </p:nvSpPr>
          <p:spPr bwMode="auto">
            <a:xfrm>
              <a:off x="7098110" y="3869208"/>
              <a:ext cx="949325" cy="46355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55"/>
            <p:cNvSpPr>
              <a:spLocks noChangeShapeType="1"/>
            </p:cNvSpPr>
            <p:nvPr/>
          </p:nvSpPr>
          <p:spPr bwMode="auto">
            <a:xfrm flipH="1" flipV="1">
              <a:off x="8429229" y="2380134"/>
              <a:ext cx="104563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56"/>
            <p:cNvSpPr>
              <a:spLocks noChangeShapeType="1"/>
            </p:cNvSpPr>
            <p:nvPr/>
          </p:nvSpPr>
          <p:spPr bwMode="auto">
            <a:xfrm flipH="1" flipV="1">
              <a:off x="7001802" y="2380134"/>
              <a:ext cx="104563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Text Box 61"/>
            <p:cNvSpPr txBox="1">
              <a:spLocks noChangeArrowheads="1"/>
            </p:cNvSpPr>
            <p:nvPr/>
          </p:nvSpPr>
          <p:spPr bwMode="auto">
            <a:xfrm>
              <a:off x="7065433" y="3869210"/>
              <a:ext cx="944342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 </a:t>
              </a:r>
              <a:r>
                <a:rPr kumimoji="1" lang="en-US" altLang="zh-CN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56" name="Text Box 65"/>
            <p:cNvSpPr txBox="1">
              <a:spLocks noChangeArrowheads="1"/>
            </p:cNvSpPr>
            <p:nvPr/>
          </p:nvSpPr>
          <p:spPr bwMode="auto">
            <a:xfrm>
              <a:off x="7450799" y="5067770"/>
              <a:ext cx="1456749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数据报片 </a:t>
              </a:r>
              <a:r>
                <a:rPr kumimoji="1" lang="en-US" altLang="zh-CN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2274758" y="1502566"/>
            <a:ext cx="8351717" cy="1548101"/>
            <a:chOff x="992714" y="1420467"/>
            <a:chExt cx="8958611" cy="1660596"/>
          </a:xfrm>
        </p:grpSpPr>
        <p:sp>
          <p:nvSpPr>
            <p:cNvPr id="58" name="Rectangle 4"/>
            <p:cNvSpPr>
              <a:spLocks noChangeArrowheads="1"/>
            </p:cNvSpPr>
            <p:nvPr/>
          </p:nvSpPr>
          <p:spPr bwMode="auto">
            <a:xfrm>
              <a:off x="3195902" y="1916583"/>
              <a:ext cx="5233327" cy="4635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6"/>
            <p:cNvSpPr>
              <a:spLocks noChangeArrowheads="1"/>
            </p:cNvSpPr>
            <p:nvPr/>
          </p:nvSpPr>
          <p:spPr bwMode="auto">
            <a:xfrm>
              <a:off x="2244858" y="1916583"/>
              <a:ext cx="6184371" cy="463550"/>
            </a:xfrm>
            <a:prstGeom prst="rect">
              <a:avLst/>
            </a:prstGeom>
            <a:solidFill>
              <a:srgbClr val="99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28398" dir="1593903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Line 7"/>
            <p:cNvSpPr>
              <a:spLocks noChangeShapeType="1"/>
            </p:cNvSpPr>
            <p:nvPr/>
          </p:nvSpPr>
          <p:spPr bwMode="auto">
            <a:xfrm>
              <a:off x="3386800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Line 8"/>
            <p:cNvSpPr>
              <a:spLocks noChangeShapeType="1"/>
            </p:cNvSpPr>
            <p:nvPr/>
          </p:nvSpPr>
          <p:spPr bwMode="auto">
            <a:xfrm>
              <a:off x="3577696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Line 9"/>
            <p:cNvSpPr>
              <a:spLocks noChangeShapeType="1"/>
            </p:cNvSpPr>
            <p:nvPr/>
          </p:nvSpPr>
          <p:spPr bwMode="auto">
            <a:xfrm>
              <a:off x="3768593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10"/>
            <p:cNvSpPr>
              <a:spLocks noChangeShapeType="1"/>
            </p:cNvSpPr>
            <p:nvPr/>
          </p:nvSpPr>
          <p:spPr bwMode="auto">
            <a:xfrm>
              <a:off x="8238331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Text Box 16"/>
            <p:cNvSpPr txBox="1">
              <a:spLocks noChangeArrowheads="1"/>
            </p:cNvSpPr>
            <p:nvPr/>
          </p:nvSpPr>
          <p:spPr bwMode="auto">
            <a:xfrm>
              <a:off x="8455025" y="1810221"/>
              <a:ext cx="1496300" cy="6846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偏移 </a:t>
              </a:r>
              <a:r>
                <a:rPr kumimoji="1" lang="en-US" altLang="zh-CN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= 0/8</a:t>
              </a:r>
            </a:p>
            <a:p>
              <a:pPr>
                <a:lnSpc>
                  <a:spcPct val="90000"/>
                </a:lnSpc>
              </a:pPr>
              <a:r>
                <a:rPr kumimoji="1" lang="en-US" altLang="zh-CN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= 0</a:t>
              </a:r>
            </a:p>
          </p:txBody>
        </p:sp>
        <p:sp>
          <p:nvSpPr>
            <p:cNvPr id="65" name="Line 19"/>
            <p:cNvSpPr>
              <a:spLocks noChangeShapeType="1"/>
            </p:cNvSpPr>
            <p:nvPr/>
          </p:nvSpPr>
          <p:spPr bwMode="auto">
            <a:xfrm flipV="1">
              <a:off x="831744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Line 20"/>
            <p:cNvSpPr>
              <a:spLocks noChangeShapeType="1"/>
            </p:cNvSpPr>
            <p:nvPr/>
          </p:nvSpPr>
          <p:spPr bwMode="auto">
            <a:xfrm flipV="1">
              <a:off x="328705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Text Box 31"/>
            <p:cNvSpPr txBox="1">
              <a:spLocks noChangeArrowheads="1"/>
            </p:cNvSpPr>
            <p:nvPr/>
          </p:nvSpPr>
          <p:spPr bwMode="auto">
            <a:xfrm>
              <a:off x="7874447" y="2634134"/>
              <a:ext cx="830857" cy="407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3799</a:t>
              </a:r>
            </a:p>
          </p:txBody>
        </p:sp>
        <p:sp>
          <p:nvSpPr>
            <p:cNvPr id="68" name="Text Box 32"/>
            <p:cNvSpPr txBox="1">
              <a:spLocks noChangeArrowheads="1"/>
            </p:cNvSpPr>
            <p:nvPr/>
          </p:nvSpPr>
          <p:spPr bwMode="auto">
            <a:xfrm>
              <a:off x="992714" y="1788988"/>
              <a:ext cx="1222900" cy="7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需分片的</a:t>
              </a:r>
            </a:p>
            <a:p>
              <a:pPr algn="ctr"/>
              <a:r>
                <a:rPr kumimoji="1" lang="zh-CN" altLang="en-US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数据报</a:t>
              </a:r>
            </a:p>
          </p:txBody>
        </p:sp>
        <p:sp>
          <p:nvSpPr>
            <p:cNvPr id="69" name="Rectangle 76"/>
            <p:cNvSpPr>
              <a:spLocks noChangeArrowheads="1"/>
            </p:cNvSpPr>
            <p:nvPr/>
          </p:nvSpPr>
          <p:spPr bwMode="auto">
            <a:xfrm>
              <a:off x="2259192" y="1934045"/>
              <a:ext cx="925248" cy="446086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Text Box 34"/>
            <p:cNvSpPr txBox="1">
              <a:spLocks noChangeArrowheads="1"/>
            </p:cNvSpPr>
            <p:nvPr/>
          </p:nvSpPr>
          <p:spPr bwMode="auto">
            <a:xfrm>
              <a:off x="2344606" y="1948770"/>
              <a:ext cx="710493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</a:t>
              </a:r>
            </a:p>
          </p:txBody>
        </p:sp>
        <p:sp>
          <p:nvSpPr>
            <p:cNvPr id="71" name="Line 35"/>
            <p:cNvSpPr>
              <a:spLocks noChangeShapeType="1"/>
            </p:cNvSpPr>
            <p:nvPr/>
          </p:nvSpPr>
          <p:spPr bwMode="auto">
            <a:xfrm>
              <a:off x="319590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37"/>
            <p:cNvSpPr>
              <a:spLocks noChangeShapeType="1"/>
            </p:cNvSpPr>
            <p:nvPr/>
          </p:nvSpPr>
          <p:spPr bwMode="auto">
            <a:xfrm>
              <a:off x="509971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Line 38"/>
            <p:cNvSpPr>
              <a:spLocks noChangeShapeType="1"/>
            </p:cNvSpPr>
            <p:nvPr/>
          </p:nvSpPr>
          <p:spPr bwMode="auto">
            <a:xfrm>
              <a:off x="700180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57"/>
            <p:cNvSpPr>
              <a:spLocks noChangeShapeType="1"/>
            </p:cNvSpPr>
            <p:nvPr/>
          </p:nvSpPr>
          <p:spPr bwMode="auto">
            <a:xfrm>
              <a:off x="3178704" y="1648280"/>
              <a:ext cx="523160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Text Box 58"/>
            <p:cNvSpPr txBox="1">
              <a:spLocks noChangeArrowheads="1"/>
            </p:cNvSpPr>
            <p:nvPr/>
          </p:nvSpPr>
          <p:spPr bwMode="auto">
            <a:xfrm>
              <a:off x="4150388" y="1420467"/>
              <a:ext cx="2775599" cy="407244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数据部分共 </a:t>
              </a:r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3800 </a:t>
              </a:r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  <p:sp>
          <p:nvSpPr>
            <p:cNvPr id="76" name="Line 66"/>
            <p:cNvSpPr>
              <a:spLocks noChangeShapeType="1"/>
            </p:cNvSpPr>
            <p:nvPr/>
          </p:nvSpPr>
          <p:spPr bwMode="auto">
            <a:xfrm flipV="1">
              <a:off x="517710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Text Box 67"/>
            <p:cNvSpPr txBox="1">
              <a:spLocks noChangeArrowheads="1"/>
            </p:cNvSpPr>
            <p:nvPr/>
          </p:nvSpPr>
          <p:spPr bwMode="auto">
            <a:xfrm>
              <a:off x="4731577" y="2653184"/>
              <a:ext cx="830857" cy="407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1480</a:t>
              </a:r>
            </a:p>
          </p:txBody>
        </p:sp>
        <p:sp>
          <p:nvSpPr>
            <p:cNvPr id="78" name="Line 68"/>
            <p:cNvSpPr>
              <a:spLocks noChangeShapeType="1"/>
            </p:cNvSpPr>
            <p:nvPr/>
          </p:nvSpPr>
          <p:spPr bwMode="auto">
            <a:xfrm flipV="1">
              <a:off x="708091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Text Box 69"/>
            <p:cNvSpPr txBox="1">
              <a:spLocks noChangeArrowheads="1"/>
            </p:cNvSpPr>
            <p:nvPr/>
          </p:nvSpPr>
          <p:spPr bwMode="auto">
            <a:xfrm>
              <a:off x="6637918" y="2653184"/>
              <a:ext cx="830857" cy="407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2960</a:t>
              </a:r>
            </a:p>
          </p:txBody>
        </p:sp>
        <p:sp>
          <p:nvSpPr>
            <p:cNvPr id="80" name="Line 70"/>
            <p:cNvSpPr>
              <a:spLocks noChangeShapeType="1"/>
            </p:cNvSpPr>
            <p:nvPr/>
          </p:nvSpPr>
          <p:spPr bwMode="auto">
            <a:xfrm>
              <a:off x="7190979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Line 71"/>
            <p:cNvSpPr>
              <a:spLocks noChangeShapeType="1"/>
            </p:cNvSpPr>
            <p:nvPr/>
          </p:nvSpPr>
          <p:spPr bwMode="auto">
            <a:xfrm>
              <a:off x="5290608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2" name="Text Box 72"/>
            <p:cNvSpPr txBox="1">
              <a:spLocks noChangeArrowheads="1"/>
            </p:cNvSpPr>
            <p:nvPr/>
          </p:nvSpPr>
          <p:spPr bwMode="auto">
            <a:xfrm>
              <a:off x="2779178" y="2673819"/>
              <a:ext cx="944343" cy="407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字节 </a:t>
              </a:r>
              <a:r>
                <a:rPr kumimoji="1" lang="en-US" altLang="zh-CN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</p:grpSp>
      <p:sp>
        <p:nvSpPr>
          <p:cNvPr id="83" name="矩形 82">
            <a:extLst>
              <a:ext uri="{FF2B5EF4-FFF2-40B4-BE49-F238E27FC236}">
                <a16:creationId xmlns:a16="http://schemas.microsoft.com/office/drawing/2014/main" id="{21E03848-A895-A69A-0BCB-98D2F39E2A08}"/>
              </a:ext>
            </a:extLst>
          </p:cNvPr>
          <p:cNvSpPr/>
          <p:nvPr/>
        </p:nvSpPr>
        <p:spPr>
          <a:xfrm>
            <a:off x="1440874" y="3181004"/>
            <a:ext cx="1199556" cy="4321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MF=1</a:t>
            </a:r>
            <a:endParaRPr lang="zh-CN" altLang="en-US" sz="2400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045F9BBB-B4B8-0C6A-1BD0-F8F89BA5A841}"/>
              </a:ext>
            </a:extLst>
          </p:cNvPr>
          <p:cNvSpPr/>
          <p:nvPr/>
        </p:nvSpPr>
        <p:spPr>
          <a:xfrm>
            <a:off x="4788679" y="3181004"/>
            <a:ext cx="1199556" cy="4321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MF=1</a:t>
            </a:r>
            <a:endParaRPr lang="zh-CN" altLang="en-US" sz="2400" dirty="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3BE4147-2F3E-A65B-F80E-EA90E9C17F4D}"/>
              </a:ext>
            </a:extLst>
          </p:cNvPr>
          <p:cNvSpPr/>
          <p:nvPr/>
        </p:nvSpPr>
        <p:spPr>
          <a:xfrm>
            <a:off x="7779265" y="3181004"/>
            <a:ext cx="1199556" cy="4321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MF=0</a:t>
            </a:r>
            <a:endParaRPr lang="zh-CN" altLang="en-US" sz="2400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4246871A-888B-7D79-44DC-9F708C53EAFE}"/>
              </a:ext>
            </a:extLst>
          </p:cNvPr>
          <p:cNvSpPr/>
          <p:nvPr/>
        </p:nvSpPr>
        <p:spPr>
          <a:xfrm>
            <a:off x="2394406" y="1420448"/>
            <a:ext cx="1199556" cy="4321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DF=0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267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85" grpId="0" animBg="1"/>
      <p:bldP spid="8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8"/>
          <p:cNvSpPr>
            <a:spLocks noChangeArrowheads="1"/>
          </p:cNvSpPr>
          <p:nvPr/>
        </p:nvSpPr>
        <p:spPr bwMode="auto">
          <a:xfrm>
            <a:off x="58056" y="1179875"/>
            <a:ext cx="12133944" cy="5110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buClr>
                <a:srgbClr val="0070C0"/>
              </a:buClr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网络层基本功能：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marL="357708" indent="-357708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支持多跳寻路将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数据报送达目的端：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目的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endParaRPr lang="en-US" altLang="zh-CN" sz="2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57708" indent="-357708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表明发送端身份：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源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endParaRPr lang="en-US" altLang="zh-CN" sz="2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57708" indent="-357708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头部协议类型，提交给不同上层协议处理：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endParaRPr lang="en-US" altLang="zh-CN" sz="2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4400"/>
              </a:lnSpc>
              <a:buClr>
                <a:srgbClr val="0070C0"/>
              </a:buClr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其他相关问题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marL="357708" indent="-357708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数据报长度大于传输链路的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MTU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问题，通过分片机制解决：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标识、标志、片偏移</a:t>
            </a:r>
            <a:endParaRPr lang="en-US" altLang="zh-CN" sz="2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57708" indent="-357708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防止循环转发浪费网络资源（路由错误、设备故障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），通过条数限制解决：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生存时间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TTL</a:t>
            </a:r>
          </a:p>
          <a:p>
            <a:pPr marL="357708" indent="-357708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报头错误导致无效传输，通过首部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校验机制解决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：首部校验和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A9D6F2-4C96-F0DE-3102-412A5C20E33E}"/>
              </a:ext>
            </a:extLst>
          </p:cNvPr>
          <p:cNvSpPr/>
          <p:nvPr/>
        </p:nvSpPr>
        <p:spPr>
          <a:xfrm>
            <a:off x="304800" y="613818"/>
            <a:ext cx="4934856" cy="566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IP</a:t>
            </a:r>
            <a:r>
              <a:rPr lang="zh-CN" altLang="en-US" sz="2400" dirty="0"/>
              <a:t>协议功能及报头字段总结</a:t>
            </a:r>
          </a:p>
        </p:txBody>
      </p:sp>
    </p:spTree>
    <p:extLst>
      <p:ext uri="{BB962C8B-B14F-4D97-AF65-F5344CB8AC3E}">
        <p14:creationId xmlns:p14="http://schemas.microsoft.com/office/powerpoint/2010/main" val="25886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742618" y="819525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391496" y="775244"/>
            <a:ext cx="3433953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地址采用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级结构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675876" y="1592716"/>
            <a:ext cx="9641317" cy="959173"/>
            <a:chOff x="506906" y="1194536"/>
            <a:chExt cx="7230988" cy="719380"/>
          </a:xfrm>
        </p:grpSpPr>
        <p:sp>
          <p:nvSpPr>
            <p:cNvPr id="9" name="Rectangle 2"/>
            <p:cNvSpPr>
              <a:spLocks noChangeArrowheads="1"/>
            </p:cNvSpPr>
            <p:nvPr/>
          </p:nvSpPr>
          <p:spPr bwMode="auto">
            <a:xfrm>
              <a:off x="3859181" y="1360702"/>
              <a:ext cx="3878713" cy="395038"/>
            </a:xfrm>
            <a:prstGeom prst="rect">
              <a:avLst/>
            </a:prstGeom>
            <a:solidFill>
              <a:srgbClr val="00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>
                <a:spcBef>
                  <a:spcPct val="50000"/>
                </a:spcBef>
                <a:buClr>
                  <a:srgbClr val="3333CC"/>
                </a:buClr>
                <a:buSzPct val="60000"/>
                <a:defRPr/>
              </a:pPr>
              <a:r>
                <a:rPr lang="en-US" altLang="zh-CN" sz="2133" b="1" kern="0" dirty="0"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lang="zh-CN" altLang="en-US" sz="2133" b="1" kern="0" dirty="0">
                  <a:latin typeface="微软雅黑" pitchFamily="34" charset="-122"/>
                  <a:ea typeface="微软雅黑" pitchFamily="34" charset="-122"/>
                </a:rPr>
                <a:t>地址 </a:t>
              </a:r>
              <a:r>
                <a:rPr lang="en-US" altLang="zh-CN" sz="2133" b="1" kern="0" dirty="0">
                  <a:latin typeface="微软雅黑" pitchFamily="34" charset="-122"/>
                  <a:ea typeface="微软雅黑" pitchFamily="34" charset="-122"/>
                </a:rPr>
                <a:t>::= { &lt;</a:t>
              </a:r>
              <a:r>
                <a:rPr lang="zh-CN" altLang="en-US" sz="2133" b="1" kern="0" dirty="0">
                  <a:latin typeface="微软雅黑" pitchFamily="34" charset="-122"/>
                  <a:ea typeface="微软雅黑" pitchFamily="34" charset="-122"/>
                </a:rPr>
                <a:t>网络号</a:t>
              </a:r>
              <a:r>
                <a:rPr lang="en-US" altLang="zh-CN" sz="2133" b="1" kern="0" dirty="0">
                  <a:latin typeface="微软雅黑" pitchFamily="34" charset="-122"/>
                  <a:ea typeface="微软雅黑" pitchFamily="34" charset="-122"/>
                </a:rPr>
                <a:t>&gt;, &lt;</a:t>
              </a:r>
              <a:r>
                <a:rPr lang="zh-CN" altLang="en-US" sz="2133" b="1" kern="0" dirty="0">
                  <a:latin typeface="微软雅黑" pitchFamily="34" charset="-122"/>
                  <a:ea typeface="微软雅黑" pitchFamily="34" charset="-122"/>
                </a:rPr>
                <a:t>主机号</a:t>
              </a:r>
              <a:r>
                <a:rPr lang="en-US" altLang="zh-CN" sz="2133" b="1" kern="0" dirty="0">
                  <a:latin typeface="微软雅黑" pitchFamily="34" charset="-122"/>
                  <a:ea typeface="微软雅黑" pitchFamily="34" charset="-122"/>
                </a:rPr>
                <a:t>&gt;} </a:t>
              </a:r>
            </a:p>
          </p:txBody>
        </p:sp>
        <p:sp>
          <p:nvSpPr>
            <p:cNvPr id="2" name="矩形 1"/>
            <p:cNvSpPr/>
            <p:nvPr/>
          </p:nvSpPr>
          <p:spPr>
            <a:xfrm>
              <a:off x="506906" y="1194536"/>
              <a:ext cx="3191018" cy="7193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ts val="3467"/>
                </a:lnSpc>
              </a:pPr>
              <a:r>
                <a:rPr lang="en-US" altLang="zh-CN" sz="26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r>
                <a:rPr lang="zh-CN" altLang="en-US" sz="26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级结构</a:t>
              </a:r>
              <a:endPara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ts val="3467"/>
                </a:lnSpc>
              </a:pPr>
              <a:r>
                <a:rPr lang="en-US" altLang="zh-CN" sz="26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r>
                <a:rPr lang="zh-CN" altLang="en-US" sz="26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个字段：</a:t>
              </a:r>
              <a:r>
                <a:rPr lang="zh-CN" altLang="en-US" sz="2667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网络号</a:t>
              </a:r>
              <a:r>
                <a:rPr lang="zh-CN" altLang="en-US" sz="26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2667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主机号</a:t>
              </a:r>
              <a:endPara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02634" y="3948384"/>
            <a:ext cx="9514559" cy="1718368"/>
            <a:chOff x="601975" y="2854700"/>
            <a:chExt cx="7135919" cy="1012188"/>
          </a:xfrm>
        </p:grpSpPr>
        <p:sp>
          <p:nvSpPr>
            <p:cNvPr id="3" name="矩形 2"/>
            <p:cNvSpPr/>
            <p:nvPr/>
          </p:nvSpPr>
          <p:spPr>
            <a:xfrm>
              <a:off x="601975" y="3230391"/>
              <a:ext cx="3168738" cy="2961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2667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网络号的位数 </a:t>
              </a:r>
              <a:r>
                <a:rPr lang="en-US" altLang="zh-CN" sz="2667" b="1" i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667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667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是多少？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52346" y="2854700"/>
              <a:ext cx="3885548" cy="1012188"/>
              <a:chOff x="3852346" y="2085048"/>
              <a:chExt cx="3885548" cy="1012188"/>
            </a:xfrm>
          </p:grpSpPr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>
                <a:off x="3852346" y="2085048"/>
                <a:ext cx="0" cy="340789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>
                <a:off x="7737894" y="2085048"/>
                <a:ext cx="0" cy="356611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>
                <a:off x="3880824" y="2230389"/>
                <a:ext cx="3837705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" name="Text Box 13"/>
              <p:cNvSpPr txBox="1">
                <a:spLocks noChangeArrowheads="1"/>
              </p:cNvSpPr>
              <p:nvPr/>
            </p:nvSpPr>
            <p:spPr bwMode="auto">
              <a:xfrm>
                <a:off x="5415223" y="2085048"/>
                <a:ext cx="744037" cy="24772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defTabSz="1219170" eaLnBrk="0" hangingPunct="0">
                  <a:defRPr/>
                </a:pPr>
                <a:r>
                  <a:rPr lang="en-US" altLang="zh-CN" sz="2133" b="1" kern="0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32 </a:t>
                </a:r>
                <a:r>
                  <a:rPr lang="zh-CN" altLang="en-US" sz="2133" b="1" kern="0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位</a:t>
                </a:r>
              </a:p>
            </p:txBody>
          </p:sp>
          <p:grpSp>
            <p:nvGrpSpPr>
              <p:cNvPr id="16" name="Group 7"/>
              <p:cNvGrpSpPr>
                <a:grpSpLocks/>
              </p:cNvGrpSpPr>
              <p:nvPr/>
            </p:nvGrpSpPr>
            <p:grpSpPr bwMode="auto">
              <a:xfrm>
                <a:off x="3859181" y="2414669"/>
                <a:ext cx="3877574" cy="368560"/>
                <a:chOff x="1205" y="3011"/>
                <a:chExt cx="3072" cy="437"/>
              </a:xfrm>
            </p:grpSpPr>
            <p:sp>
              <p:nvSpPr>
                <p:cNvPr id="17" name="Rectangle 8"/>
                <p:cNvSpPr>
                  <a:spLocks noChangeArrowheads="1"/>
                </p:cNvSpPr>
                <p:nvPr/>
              </p:nvSpPr>
              <p:spPr bwMode="auto">
                <a:xfrm>
                  <a:off x="1205" y="3011"/>
                  <a:ext cx="1536" cy="436"/>
                </a:xfrm>
                <a:prstGeom prst="rect">
                  <a:avLst/>
                </a:prstGeom>
                <a:solidFill>
                  <a:srgbClr val="00FFFF"/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defTabSz="1219170" eaLnBrk="0" hangingPunct="0">
                    <a:defRPr/>
                  </a:pPr>
                  <a:r>
                    <a:rPr lang="zh-CN" altLang="en-US" sz="1867" b="1" kern="0" dirty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网络号</a:t>
                  </a:r>
                  <a:endParaRPr lang="en-US" altLang="zh-CN" sz="1867" b="1" kern="0" dirty="0">
                    <a:solidFill>
                      <a:sysClr val="windowText" lastClr="00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 defTabSz="1219170" eaLnBrk="0" hangingPunct="0">
                    <a:defRPr/>
                  </a:pPr>
                  <a:r>
                    <a:rPr lang="en-US" altLang="zh-CN" sz="1867" b="1" kern="0" dirty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( net-id)</a:t>
                  </a:r>
                </a:p>
              </p:txBody>
            </p:sp>
            <p:sp>
              <p:nvSpPr>
                <p:cNvPr id="18" name="Rectangle 9"/>
                <p:cNvSpPr>
                  <a:spLocks noChangeArrowheads="1"/>
                </p:cNvSpPr>
                <p:nvPr/>
              </p:nvSpPr>
              <p:spPr bwMode="auto">
                <a:xfrm>
                  <a:off x="2741" y="3012"/>
                  <a:ext cx="1536" cy="436"/>
                </a:xfrm>
                <a:prstGeom prst="rect">
                  <a:avLst/>
                </a:prstGeom>
                <a:solidFill>
                  <a:srgbClr val="0000FF"/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defTabSz="1219170" eaLnBrk="0" hangingPunct="0">
                    <a:defRPr/>
                  </a:pPr>
                  <a:r>
                    <a:rPr lang="zh-CN" altLang="en-US" sz="1867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主机号</a:t>
                  </a:r>
                  <a:endParaRPr lang="en-US" altLang="zh-CN" sz="1867" b="1" kern="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 defTabSz="1219170" eaLnBrk="0" hangingPunct="0">
                    <a:defRPr/>
                  </a:pPr>
                  <a:r>
                    <a:rPr lang="en-US" altLang="zh-CN" sz="1867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(host-id)</a:t>
                  </a:r>
                </a:p>
              </p:txBody>
            </p:sp>
          </p:grpSp>
          <p:sp>
            <p:nvSpPr>
              <p:cNvPr id="19" name="Line 10"/>
              <p:cNvSpPr>
                <a:spLocks noChangeShapeType="1"/>
              </p:cNvSpPr>
              <p:nvPr/>
            </p:nvSpPr>
            <p:spPr bwMode="auto">
              <a:xfrm>
                <a:off x="3852346" y="2738467"/>
                <a:ext cx="0" cy="3587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kern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Line 11"/>
              <p:cNvSpPr>
                <a:spLocks noChangeShapeType="1"/>
              </p:cNvSpPr>
              <p:nvPr/>
            </p:nvSpPr>
            <p:spPr bwMode="auto">
              <a:xfrm>
                <a:off x="7737894" y="2754289"/>
                <a:ext cx="0" cy="3429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kern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" name="Line 12"/>
              <p:cNvSpPr>
                <a:spLocks noChangeShapeType="1"/>
              </p:cNvSpPr>
              <p:nvPr/>
            </p:nvSpPr>
            <p:spPr bwMode="auto">
              <a:xfrm>
                <a:off x="3880825" y="2989758"/>
                <a:ext cx="1917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kern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Text Box 13"/>
              <p:cNvSpPr txBox="1">
                <a:spLocks noChangeArrowheads="1"/>
              </p:cNvSpPr>
              <p:nvPr/>
            </p:nvSpPr>
            <p:spPr bwMode="auto">
              <a:xfrm>
                <a:off x="4552574" y="2831340"/>
                <a:ext cx="623275" cy="247729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defTabSz="1219170" eaLnBrk="0" hangingPunct="0">
                  <a:defRPr/>
                </a:pPr>
                <a:r>
                  <a:rPr lang="en-US" altLang="zh-CN" sz="2133" b="1" i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133" b="1" kern="0" dirty="0"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lang="zh-CN" altLang="en-US" sz="2133" b="1" kern="0" dirty="0">
                    <a:latin typeface="微软雅黑" pitchFamily="34" charset="-122"/>
                    <a:ea typeface="微软雅黑" pitchFamily="34" charset="-122"/>
                  </a:rPr>
                  <a:t>位</a:t>
                </a:r>
              </a:p>
            </p:txBody>
          </p:sp>
          <p:sp>
            <p:nvSpPr>
              <p:cNvPr id="23" name="Line 11"/>
              <p:cNvSpPr>
                <a:spLocks noChangeShapeType="1"/>
              </p:cNvSpPr>
              <p:nvPr/>
            </p:nvSpPr>
            <p:spPr bwMode="auto">
              <a:xfrm>
                <a:off x="5797968" y="2754289"/>
                <a:ext cx="0" cy="3429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kern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Line 12"/>
              <p:cNvSpPr>
                <a:spLocks noChangeShapeType="1"/>
              </p:cNvSpPr>
              <p:nvPr/>
            </p:nvSpPr>
            <p:spPr bwMode="auto">
              <a:xfrm>
                <a:off x="5817821" y="2989758"/>
                <a:ext cx="1917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kern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5" name="Text Box 13"/>
              <p:cNvSpPr txBox="1">
                <a:spLocks noChangeArrowheads="1"/>
              </p:cNvSpPr>
              <p:nvPr/>
            </p:nvSpPr>
            <p:spPr bwMode="auto">
              <a:xfrm>
                <a:off x="6275944" y="2833630"/>
                <a:ext cx="1082388" cy="247729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defTabSz="1219170" eaLnBrk="0" hangingPunct="0">
                  <a:defRPr/>
                </a:pPr>
                <a:r>
                  <a:rPr lang="en-US" altLang="zh-CN" sz="2133" b="1" i="1" kern="0" dirty="0">
                    <a:latin typeface="Times New Roman" panose="02020603050405020304" pitchFamily="18" charset="0"/>
                    <a:ea typeface="微软雅黑" pitchFamily="34" charset="-122"/>
                    <a:cs typeface="Times New Roman" panose="02020603050405020304" pitchFamily="18" charset="0"/>
                  </a:rPr>
                  <a:t>(32-n) </a:t>
                </a:r>
                <a:r>
                  <a:rPr lang="zh-CN" altLang="en-US" sz="2133" b="1" kern="0" dirty="0">
                    <a:latin typeface="微软雅黑" pitchFamily="34" charset="-122"/>
                    <a:ea typeface="微软雅黑" pitchFamily="34" charset="-122"/>
                  </a:rPr>
                  <a:t>位</a:t>
                </a:r>
              </a:p>
            </p:txBody>
          </p:sp>
        </p:grpSp>
      </p:grpSp>
      <p:sp>
        <p:nvSpPr>
          <p:cNvPr id="26" name="矩形 25"/>
          <p:cNvSpPr/>
          <p:nvPr/>
        </p:nvSpPr>
        <p:spPr>
          <a:xfrm>
            <a:off x="4245553" y="2653836"/>
            <a:ext cx="6970143" cy="95103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地址在整个互联网范围内是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3467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地址指明了连接到某个网络上的一个主机</a:t>
            </a:r>
          </a:p>
        </p:txBody>
      </p:sp>
    </p:spTree>
    <p:extLst>
      <p:ext uri="{BB962C8B-B14F-4D97-AF65-F5344CB8AC3E}">
        <p14:creationId xmlns:p14="http://schemas.microsoft.com/office/powerpoint/2010/main" val="179899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742618" y="819525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84044" y="775244"/>
            <a:ext cx="2848857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分类的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726860" y="1378227"/>
            <a:ext cx="10738281" cy="4413216"/>
          </a:xfrm>
          <a:prstGeom prst="roundRect">
            <a:avLst/>
          </a:prstGeom>
          <a:solidFill>
            <a:srgbClr val="C3E3F9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2260395" y="1583707"/>
            <a:ext cx="7105439" cy="4012007"/>
            <a:chOff x="355160" y="927100"/>
            <a:chExt cx="9026611" cy="5096779"/>
          </a:xfrm>
        </p:grpSpPr>
        <p:sp>
          <p:nvSpPr>
            <p:cNvPr id="31" name="Line 2"/>
            <p:cNvSpPr>
              <a:spLocks noChangeShapeType="1"/>
            </p:cNvSpPr>
            <p:nvPr/>
          </p:nvSpPr>
          <p:spPr bwMode="auto">
            <a:xfrm flipV="1">
              <a:off x="1732138" y="4009478"/>
              <a:ext cx="574754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Rectangle 3"/>
            <p:cNvSpPr>
              <a:spLocks noChangeArrowheads="1"/>
            </p:cNvSpPr>
            <p:nvPr/>
          </p:nvSpPr>
          <p:spPr bwMode="auto">
            <a:xfrm>
              <a:off x="4144958" y="3791992"/>
              <a:ext cx="990682" cy="644706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net-id</a:t>
              </a:r>
            </a:p>
            <a:p>
              <a:pPr defTabSz="1015975" eaLnBrk="0" hangingPunct="0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24 </a:t>
              </a:r>
              <a:r>
                <a:rPr kumimoji="1"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33" name="Rectangle 4"/>
            <p:cNvSpPr>
              <a:spLocks noChangeArrowheads="1"/>
            </p:cNvSpPr>
            <p:nvPr/>
          </p:nvSpPr>
          <p:spPr bwMode="auto">
            <a:xfrm>
              <a:off x="1732137" y="3355428"/>
              <a:ext cx="7634155" cy="444500"/>
            </a:xfrm>
            <a:prstGeom prst="rect">
              <a:avLst/>
            </a:prstGeom>
            <a:solidFill>
              <a:srgbClr val="00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5"/>
            <p:cNvSpPr>
              <a:spLocks noChangeShapeType="1"/>
            </p:cNvSpPr>
            <p:nvPr/>
          </p:nvSpPr>
          <p:spPr bwMode="auto">
            <a:xfrm>
              <a:off x="3601550" y="1577975"/>
              <a:ext cx="575270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Rectangle 6"/>
            <p:cNvSpPr>
              <a:spLocks noChangeArrowheads="1"/>
            </p:cNvSpPr>
            <p:nvPr/>
          </p:nvSpPr>
          <p:spPr bwMode="auto">
            <a:xfrm>
              <a:off x="5891163" y="1370015"/>
              <a:ext cx="1118977" cy="644706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algn="ctr" defTabSz="1015975" eaLnBrk="0" hangingPunct="0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host-id</a:t>
              </a:r>
            </a:p>
            <a:p>
              <a:pPr algn="ctr" defTabSz="1015975" eaLnBrk="0" hangingPunct="0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24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36" name="Line 7"/>
            <p:cNvSpPr>
              <a:spLocks noChangeShapeType="1"/>
            </p:cNvSpPr>
            <p:nvPr/>
          </p:nvSpPr>
          <p:spPr bwMode="auto">
            <a:xfrm flipV="1">
              <a:off x="1775131" y="2790849"/>
              <a:ext cx="376462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auto">
            <a:xfrm>
              <a:off x="3208855" y="2574181"/>
              <a:ext cx="990682" cy="644706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net-id</a:t>
              </a:r>
            </a:p>
            <a:p>
              <a:pPr defTabSz="1015975" eaLnBrk="0" hangingPunct="0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16 </a:t>
              </a:r>
              <a:r>
                <a:rPr kumimoji="1"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38" name="Line 9"/>
            <p:cNvSpPr>
              <a:spLocks noChangeShapeType="1"/>
            </p:cNvSpPr>
            <p:nvPr/>
          </p:nvSpPr>
          <p:spPr bwMode="auto">
            <a:xfrm>
              <a:off x="1690862" y="1577975"/>
              <a:ext cx="191068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Rectangle 10"/>
            <p:cNvSpPr>
              <a:spLocks noChangeArrowheads="1"/>
            </p:cNvSpPr>
            <p:nvPr/>
          </p:nvSpPr>
          <p:spPr bwMode="auto">
            <a:xfrm>
              <a:off x="2079496" y="1370015"/>
              <a:ext cx="990682" cy="644706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algn="ctr" defTabSz="1015975" eaLnBrk="0" hangingPunct="0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net-id</a:t>
              </a:r>
            </a:p>
            <a:p>
              <a:pPr algn="ctr" defTabSz="1015975" eaLnBrk="0" hangingPunct="0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8 </a:t>
              </a:r>
              <a:r>
                <a:rPr kumimoji="1"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40" name="Rectangle 11"/>
            <p:cNvSpPr>
              <a:spLocks noChangeArrowheads="1"/>
            </p:cNvSpPr>
            <p:nvPr/>
          </p:nvSpPr>
          <p:spPr bwMode="auto">
            <a:xfrm>
              <a:off x="1694302" y="933451"/>
              <a:ext cx="7675430" cy="442913"/>
            </a:xfrm>
            <a:prstGeom prst="rect">
              <a:avLst/>
            </a:prstGeom>
            <a:solidFill>
              <a:srgbClr val="00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Rectangle 12"/>
            <p:cNvSpPr>
              <a:spLocks noChangeArrowheads="1"/>
            </p:cNvSpPr>
            <p:nvPr/>
          </p:nvSpPr>
          <p:spPr bwMode="auto">
            <a:xfrm>
              <a:off x="1716659" y="2140794"/>
              <a:ext cx="7659952" cy="446087"/>
            </a:xfrm>
            <a:prstGeom prst="rect">
              <a:avLst/>
            </a:prstGeom>
            <a:solidFill>
              <a:srgbClr val="00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Rectangle 14"/>
            <p:cNvSpPr>
              <a:spLocks noChangeArrowheads="1"/>
            </p:cNvSpPr>
            <p:nvPr/>
          </p:nvSpPr>
          <p:spPr bwMode="auto">
            <a:xfrm>
              <a:off x="1742456" y="3369716"/>
              <a:ext cx="5742384" cy="423862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Rectangle 15"/>
            <p:cNvSpPr>
              <a:spLocks noChangeArrowheads="1"/>
            </p:cNvSpPr>
            <p:nvPr/>
          </p:nvSpPr>
          <p:spPr bwMode="auto">
            <a:xfrm>
              <a:off x="1740736" y="2151905"/>
              <a:ext cx="3804179" cy="423863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Rectangle 16"/>
            <p:cNvSpPr>
              <a:spLocks noChangeArrowheads="1"/>
            </p:cNvSpPr>
            <p:nvPr/>
          </p:nvSpPr>
          <p:spPr bwMode="auto">
            <a:xfrm>
              <a:off x="1720099" y="957263"/>
              <a:ext cx="1874573" cy="406400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Rectangle 17"/>
            <p:cNvSpPr>
              <a:spLocks noChangeArrowheads="1"/>
            </p:cNvSpPr>
            <p:nvPr/>
          </p:nvSpPr>
          <p:spPr bwMode="auto">
            <a:xfrm>
              <a:off x="1635829" y="927100"/>
              <a:ext cx="450053" cy="425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6" name="Rectangle 18"/>
            <p:cNvSpPr>
              <a:spLocks noChangeArrowheads="1"/>
            </p:cNvSpPr>
            <p:nvPr/>
          </p:nvSpPr>
          <p:spPr bwMode="auto">
            <a:xfrm>
              <a:off x="366020" y="955675"/>
              <a:ext cx="1364406" cy="4648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类地址</a:t>
              </a:r>
            </a:p>
          </p:txBody>
        </p:sp>
        <p:sp>
          <p:nvSpPr>
            <p:cNvPr id="47" name="Line 19"/>
            <p:cNvSpPr>
              <a:spLocks noChangeShapeType="1"/>
            </p:cNvSpPr>
            <p:nvPr/>
          </p:nvSpPr>
          <p:spPr bwMode="auto">
            <a:xfrm>
              <a:off x="1971188" y="933451"/>
              <a:ext cx="0" cy="4508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20"/>
            <p:cNvSpPr>
              <a:spLocks noChangeShapeType="1"/>
            </p:cNvSpPr>
            <p:nvPr/>
          </p:nvSpPr>
          <p:spPr bwMode="auto">
            <a:xfrm>
              <a:off x="3601550" y="933450"/>
              <a:ext cx="0" cy="450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Line 21"/>
            <p:cNvSpPr>
              <a:spLocks noChangeShapeType="1"/>
            </p:cNvSpPr>
            <p:nvPr/>
          </p:nvSpPr>
          <p:spPr bwMode="auto">
            <a:xfrm>
              <a:off x="1690862" y="1416050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22"/>
            <p:cNvSpPr>
              <a:spLocks noChangeShapeType="1"/>
            </p:cNvSpPr>
            <p:nvPr/>
          </p:nvSpPr>
          <p:spPr bwMode="auto">
            <a:xfrm>
              <a:off x="3601550" y="1416050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23"/>
            <p:cNvSpPr>
              <a:spLocks noChangeShapeType="1"/>
            </p:cNvSpPr>
            <p:nvPr/>
          </p:nvSpPr>
          <p:spPr bwMode="auto">
            <a:xfrm>
              <a:off x="9354254" y="1416050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24"/>
            <p:cNvSpPr>
              <a:spLocks noChangeShapeType="1"/>
            </p:cNvSpPr>
            <p:nvPr/>
          </p:nvSpPr>
          <p:spPr bwMode="auto">
            <a:xfrm>
              <a:off x="5553515" y="2784499"/>
              <a:ext cx="3786979" cy="635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Rectangle 25"/>
            <p:cNvSpPr>
              <a:spLocks noChangeArrowheads="1"/>
            </p:cNvSpPr>
            <p:nvPr/>
          </p:nvSpPr>
          <p:spPr bwMode="auto">
            <a:xfrm>
              <a:off x="6971282" y="2636149"/>
              <a:ext cx="1118977" cy="644706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algn="ctr" defTabSz="1015975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host-id</a:t>
              </a:r>
            </a:p>
            <a:p>
              <a:pPr algn="ctr" defTabSz="1015975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16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54" name="Line 26"/>
            <p:cNvSpPr>
              <a:spLocks noChangeShapeType="1"/>
            </p:cNvSpPr>
            <p:nvPr/>
          </p:nvSpPr>
          <p:spPr bwMode="auto">
            <a:xfrm>
              <a:off x="1732137" y="2626568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27"/>
            <p:cNvSpPr>
              <a:spLocks noChangeShapeType="1"/>
            </p:cNvSpPr>
            <p:nvPr/>
          </p:nvSpPr>
          <p:spPr bwMode="auto">
            <a:xfrm>
              <a:off x="5553515" y="2626568"/>
              <a:ext cx="0" cy="32385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28"/>
            <p:cNvSpPr>
              <a:spLocks noChangeShapeType="1"/>
            </p:cNvSpPr>
            <p:nvPr/>
          </p:nvSpPr>
          <p:spPr bwMode="auto">
            <a:xfrm>
              <a:off x="9340495" y="2626568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Rectangle 29"/>
            <p:cNvSpPr>
              <a:spLocks noChangeArrowheads="1"/>
            </p:cNvSpPr>
            <p:nvPr/>
          </p:nvSpPr>
          <p:spPr bwMode="auto">
            <a:xfrm>
              <a:off x="382312" y="2151905"/>
              <a:ext cx="1348115" cy="4648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B </a:t>
              </a:r>
              <a:r>
                <a:rPr kumimoji="1" lang="zh-CN" altLang="en-US" sz="1600" b="1">
                  <a:latin typeface="微软雅黑" pitchFamily="34" charset="-122"/>
                  <a:ea typeface="微软雅黑" pitchFamily="34" charset="-122"/>
                </a:rPr>
                <a:t>类地址</a:t>
              </a:r>
            </a:p>
          </p:txBody>
        </p:sp>
        <p:sp>
          <p:nvSpPr>
            <p:cNvPr id="58" name="Line 30"/>
            <p:cNvSpPr>
              <a:spLocks noChangeShapeType="1"/>
            </p:cNvSpPr>
            <p:nvPr/>
          </p:nvSpPr>
          <p:spPr bwMode="auto">
            <a:xfrm>
              <a:off x="5553514" y="2150319"/>
              <a:ext cx="0" cy="433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31"/>
            <p:cNvSpPr>
              <a:spLocks noChangeArrowheads="1"/>
            </p:cNvSpPr>
            <p:nvPr/>
          </p:nvSpPr>
          <p:spPr bwMode="auto">
            <a:xfrm>
              <a:off x="385029" y="3364953"/>
              <a:ext cx="1344042" cy="4648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C </a:t>
              </a:r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类地址</a:t>
              </a:r>
            </a:p>
          </p:txBody>
        </p:sp>
        <p:sp>
          <p:nvSpPr>
            <p:cNvPr id="61" name="Rectangle 33"/>
            <p:cNvSpPr>
              <a:spLocks noChangeArrowheads="1"/>
            </p:cNvSpPr>
            <p:nvPr/>
          </p:nvSpPr>
          <p:spPr bwMode="auto">
            <a:xfrm>
              <a:off x="1666786" y="3361455"/>
              <a:ext cx="962403" cy="4388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1 1 0</a:t>
              </a:r>
            </a:p>
          </p:txBody>
        </p:sp>
        <p:sp>
          <p:nvSpPr>
            <p:cNvPr id="63" name="Line 35"/>
            <p:cNvSpPr>
              <a:spLocks noChangeShapeType="1"/>
            </p:cNvSpPr>
            <p:nvPr/>
          </p:nvSpPr>
          <p:spPr bwMode="auto">
            <a:xfrm>
              <a:off x="2473367" y="3353842"/>
              <a:ext cx="0" cy="4397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36"/>
            <p:cNvSpPr>
              <a:spLocks noChangeShapeType="1"/>
            </p:cNvSpPr>
            <p:nvPr/>
          </p:nvSpPr>
          <p:spPr bwMode="auto">
            <a:xfrm>
              <a:off x="7505477" y="3349079"/>
              <a:ext cx="0" cy="4413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Line 37"/>
            <p:cNvSpPr>
              <a:spLocks noChangeShapeType="1"/>
            </p:cNvSpPr>
            <p:nvPr/>
          </p:nvSpPr>
          <p:spPr bwMode="auto">
            <a:xfrm>
              <a:off x="7510637" y="4011066"/>
              <a:ext cx="182985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6" name="Group 38"/>
            <p:cNvGrpSpPr>
              <a:grpSpLocks/>
            </p:cNvGrpSpPr>
            <p:nvPr/>
          </p:nvGrpSpPr>
          <p:grpSpPr bwMode="auto">
            <a:xfrm>
              <a:off x="7933097" y="3820573"/>
              <a:ext cx="1118711" cy="644929"/>
              <a:chOff x="2829" y="3024"/>
              <a:chExt cx="448" cy="382"/>
            </a:xfrm>
          </p:grpSpPr>
          <p:sp>
            <p:nvSpPr>
              <p:cNvPr id="83" name="Rectangle 39"/>
              <p:cNvSpPr>
                <a:spLocks noChangeArrowheads="1"/>
              </p:cNvSpPr>
              <p:nvPr/>
            </p:nvSpPr>
            <p:spPr bwMode="auto">
              <a:xfrm>
                <a:off x="2832" y="3072"/>
                <a:ext cx="426" cy="1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4" name="Rectangle 40"/>
              <p:cNvSpPr>
                <a:spLocks noChangeArrowheads="1"/>
              </p:cNvSpPr>
              <p:nvPr/>
            </p:nvSpPr>
            <p:spPr bwMode="auto">
              <a:xfrm>
                <a:off x="2829" y="3024"/>
                <a:ext cx="448" cy="382"/>
              </a:xfrm>
              <a:prstGeom prst="rect">
                <a:avLst/>
              </a:prstGeom>
              <a:solidFill>
                <a:srgbClr val="C3E3F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0651" tIns="59267" rIns="120651" bIns="59267">
                <a:spAutoFit/>
              </a:bodyPr>
              <a:lstStyle/>
              <a:p>
                <a:pPr algn="ctr" defTabSz="1015975" eaLnBrk="0" hangingPunct="0">
                  <a:lnSpc>
                    <a:spcPct val="90000"/>
                  </a:lnSpc>
                </a:pPr>
                <a:r>
                  <a:rPr kumimoji="1"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host-id</a:t>
                </a:r>
              </a:p>
              <a:p>
                <a:pPr algn="ctr" defTabSz="1015975" eaLnBrk="0" hangingPunct="0">
                  <a:lnSpc>
                    <a:spcPct val="90000"/>
                  </a:lnSpc>
                </a:pPr>
                <a:r>
                  <a:rPr kumimoji="1"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8 </a:t>
                </a:r>
                <a:r>
                  <a:rPr kumimoji="1" lang="zh-CN" altLang="en-US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位</a:t>
                </a:r>
              </a:p>
            </p:txBody>
          </p:sp>
        </p:grpSp>
        <p:sp>
          <p:nvSpPr>
            <p:cNvPr id="67" name="Line 41"/>
            <p:cNvSpPr>
              <a:spLocks noChangeShapeType="1"/>
            </p:cNvSpPr>
            <p:nvPr/>
          </p:nvSpPr>
          <p:spPr bwMode="auto">
            <a:xfrm>
              <a:off x="1732137" y="3857078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42"/>
            <p:cNvSpPr>
              <a:spLocks noChangeShapeType="1"/>
            </p:cNvSpPr>
            <p:nvPr/>
          </p:nvSpPr>
          <p:spPr bwMode="auto">
            <a:xfrm>
              <a:off x="7510637" y="3860253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43"/>
            <p:cNvSpPr>
              <a:spLocks noChangeShapeType="1"/>
            </p:cNvSpPr>
            <p:nvPr/>
          </p:nvSpPr>
          <p:spPr bwMode="auto">
            <a:xfrm>
              <a:off x="9340495" y="3841203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Rectangle 44"/>
            <p:cNvSpPr>
              <a:spLocks noChangeArrowheads="1"/>
            </p:cNvSpPr>
            <p:nvPr/>
          </p:nvSpPr>
          <p:spPr bwMode="auto">
            <a:xfrm>
              <a:off x="1725258" y="4582716"/>
              <a:ext cx="7656513" cy="44450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Rectangle 45"/>
            <p:cNvSpPr>
              <a:spLocks noChangeArrowheads="1"/>
            </p:cNvSpPr>
            <p:nvPr/>
          </p:nvSpPr>
          <p:spPr bwMode="auto">
            <a:xfrm>
              <a:off x="355160" y="4593828"/>
              <a:ext cx="1374590" cy="4648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D </a:t>
              </a:r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类地址</a:t>
              </a:r>
            </a:p>
          </p:txBody>
        </p:sp>
        <p:sp>
          <p:nvSpPr>
            <p:cNvPr id="72" name="Line 46"/>
            <p:cNvSpPr>
              <a:spLocks noChangeShapeType="1"/>
            </p:cNvSpPr>
            <p:nvPr/>
          </p:nvSpPr>
          <p:spPr bwMode="auto">
            <a:xfrm>
              <a:off x="2629189" y="4590654"/>
              <a:ext cx="0" cy="441325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Rectangle 47"/>
            <p:cNvSpPr>
              <a:spLocks noChangeArrowheads="1"/>
            </p:cNvSpPr>
            <p:nvPr/>
          </p:nvSpPr>
          <p:spPr bwMode="auto">
            <a:xfrm>
              <a:off x="1610464" y="4581130"/>
              <a:ext cx="1109854" cy="4388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1 1 1 0</a:t>
              </a:r>
            </a:p>
          </p:txBody>
        </p:sp>
        <p:sp>
          <p:nvSpPr>
            <p:cNvPr id="74" name="Rectangle 48"/>
            <p:cNvSpPr>
              <a:spLocks noChangeArrowheads="1"/>
            </p:cNvSpPr>
            <p:nvPr/>
          </p:nvSpPr>
          <p:spPr bwMode="auto">
            <a:xfrm>
              <a:off x="5031263" y="4581509"/>
              <a:ext cx="1584340" cy="4648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多 播 地 址</a:t>
              </a:r>
            </a:p>
          </p:txBody>
        </p:sp>
        <p:sp>
          <p:nvSpPr>
            <p:cNvPr id="75" name="Rectangle 49"/>
            <p:cNvSpPr>
              <a:spLocks noChangeArrowheads="1"/>
            </p:cNvSpPr>
            <p:nvPr/>
          </p:nvSpPr>
          <p:spPr bwMode="auto">
            <a:xfrm>
              <a:off x="1733857" y="5549503"/>
              <a:ext cx="7641035" cy="44450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Rectangle 50"/>
            <p:cNvSpPr>
              <a:spLocks noChangeArrowheads="1"/>
            </p:cNvSpPr>
            <p:nvPr/>
          </p:nvSpPr>
          <p:spPr bwMode="auto">
            <a:xfrm>
              <a:off x="412181" y="5559030"/>
              <a:ext cx="1317569" cy="4648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E </a:t>
              </a:r>
              <a:r>
                <a:rPr kumimoji="1" lang="zh-CN" altLang="en-US" sz="1600" b="1">
                  <a:latin typeface="微软雅黑" pitchFamily="34" charset="-122"/>
                  <a:ea typeface="微软雅黑" pitchFamily="34" charset="-122"/>
                </a:rPr>
                <a:t>类地址</a:t>
              </a:r>
            </a:p>
          </p:txBody>
        </p:sp>
        <p:sp>
          <p:nvSpPr>
            <p:cNvPr id="77" name="Rectangle 51"/>
            <p:cNvSpPr>
              <a:spLocks noChangeArrowheads="1"/>
            </p:cNvSpPr>
            <p:nvPr/>
          </p:nvSpPr>
          <p:spPr bwMode="auto">
            <a:xfrm>
              <a:off x="4518046" y="5540357"/>
              <a:ext cx="2598479" cy="4648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保 留 为 今 后 使 用</a:t>
              </a:r>
            </a:p>
          </p:txBody>
        </p:sp>
        <p:sp>
          <p:nvSpPr>
            <p:cNvPr id="78" name="Line 52"/>
            <p:cNvSpPr>
              <a:spLocks noChangeShapeType="1"/>
            </p:cNvSpPr>
            <p:nvPr/>
          </p:nvSpPr>
          <p:spPr bwMode="auto">
            <a:xfrm>
              <a:off x="2641708" y="5574904"/>
              <a:ext cx="0" cy="441325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Rectangle 53"/>
            <p:cNvSpPr>
              <a:spLocks noChangeArrowheads="1"/>
            </p:cNvSpPr>
            <p:nvPr/>
          </p:nvSpPr>
          <p:spPr bwMode="auto">
            <a:xfrm>
              <a:off x="1610464" y="5555854"/>
              <a:ext cx="1109854" cy="4388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1 1 1 1</a:t>
              </a:r>
            </a:p>
          </p:txBody>
        </p:sp>
        <p:sp>
          <p:nvSpPr>
            <p:cNvPr id="80" name="Rectangle 54"/>
            <p:cNvSpPr>
              <a:spLocks noChangeArrowheads="1"/>
            </p:cNvSpPr>
            <p:nvPr/>
          </p:nvSpPr>
          <p:spPr bwMode="auto">
            <a:xfrm>
              <a:off x="1861122" y="2136030"/>
              <a:ext cx="456162" cy="4388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81" name="Rectangle 55"/>
            <p:cNvSpPr>
              <a:spLocks noChangeArrowheads="1"/>
            </p:cNvSpPr>
            <p:nvPr/>
          </p:nvSpPr>
          <p:spPr bwMode="auto">
            <a:xfrm>
              <a:off x="1653026" y="2136030"/>
              <a:ext cx="524538" cy="4388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82" name="Line 56"/>
            <p:cNvSpPr>
              <a:spLocks noChangeShapeType="1"/>
            </p:cNvSpPr>
            <p:nvPr/>
          </p:nvSpPr>
          <p:spPr bwMode="auto">
            <a:xfrm>
              <a:off x="2249794" y="2132856"/>
              <a:ext cx="0" cy="4413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433567" y="1583707"/>
            <a:ext cx="690272" cy="2253893"/>
            <a:chOff x="6219141" y="1187780"/>
            <a:chExt cx="517704" cy="1690420"/>
          </a:xfrm>
        </p:grpSpPr>
        <p:sp>
          <p:nvSpPr>
            <p:cNvPr id="8" name="矩形 7"/>
            <p:cNvSpPr/>
            <p:nvPr/>
          </p:nvSpPr>
          <p:spPr>
            <a:xfrm>
              <a:off x="6312145" y="1546077"/>
              <a:ext cx="424700" cy="9312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67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单播地址</a:t>
              </a:r>
            </a:p>
          </p:txBody>
        </p:sp>
        <p:sp>
          <p:nvSpPr>
            <p:cNvPr id="10" name="右大括号 9"/>
            <p:cNvSpPr/>
            <p:nvPr/>
          </p:nvSpPr>
          <p:spPr>
            <a:xfrm>
              <a:off x="6219141" y="1187780"/>
              <a:ext cx="172628" cy="1690420"/>
            </a:xfrm>
            <a:prstGeom prst="rightBrace">
              <a:avLst>
                <a:gd name="adj1" fmla="val 30569"/>
                <a:gd name="adj2" fmla="val 50000"/>
              </a:avLst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59070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26860" y="832899"/>
            <a:ext cx="10738281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" name="矩形 3"/>
          <p:cNvSpPr/>
          <p:nvPr/>
        </p:nvSpPr>
        <p:spPr>
          <a:xfrm>
            <a:off x="821447" y="754541"/>
            <a:ext cx="752962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网络地址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= (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二进制的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) AND (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地址掩码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26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726859" y="1366378"/>
            <a:ext cx="10738283" cy="443057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7" name="组合 6"/>
          <p:cNvGrpSpPr/>
          <p:nvPr/>
        </p:nvGrpSpPr>
        <p:grpSpPr>
          <a:xfrm>
            <a:off x="1104182" y="2115556"/>
            <a:ext cx="9689884" cy="430016"/>
            <a:chOff x="828136" y="1698805"/>
            <a:chExt cx="7267413" cy="322512"/>
          </a:xfrm>
        </p:grpSpPr>
        <p:sp>
          <p:nvSpPr>
            <p:cNvPr id="43" name="Rectangle 33"/>
            <p:cNvSpPr>
              <a:spLocks noChangeArrowheads="1"/>
            </p:cNvSpPr>
            <p:nvPr/>
          </p:nvSpPr>
          <p:spPr bwMode="auto">
            <a:xfrm>
              <a:off x="3642866" y="1708850"/>
              <a:ext cx="4452683" cy="2726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Rectangle 34"/>
            <p:cNvSpPr>
              <a:spLocks noChangeArrowheads="1"/>
            </p:cNvSpPr>
            <p:nvPr/>
          </p:nvSpPr>
          <p:spPr bwMode="auto">
            <a:xfrm>
              <a:off x="828136" y="1716057"/>
              <a:ext cx="2016179" cy="305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(a)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点分十进制 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地址</a:t>
              </a:r>
            </a:p>
          </p:txBody>
        </p:sp>
        <p:sp>
          <p:nvSpPr>
            <p:cNvPr id="50" name="Text Box 45"/>
            <p:cNvSpPr txBox="1">
              <a:spLocks noChangeArrowheads="1"/>
            </p:cNvSpPr>
            <p:nvPr/>
          </p:nvSpPr>
          <p:spPr bwMode="auto">
            <a:xfrm>
              <a:off x="3948549" y="1698805"/>
              <a:ext cx="2011609" cy="2847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128       .        14        .</a:t>
              </a:r>
            </a:p>
          </p:txBody>
        </p:sp>
        <p:sp>
          <p:nvSpPr>
            <p:cNvPr id="51" name="Text Box 46"/>
            <p:cNvSpPr txBox="1">
              <a:spLocks noChangeArrowheads="1"/>
            </p:cNvSpPr>
            <p:nvPr/>
          </p:nvSpPr>
          <p:spPr bwMode="auto">
            <a:xfrm>
              <a:off x="5852996" y="1698805"/>
              <a:ext cx="1791596" cy="2847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    35            .        7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104182" y="3422990"/>
            <a:ext cx="9770300" cy="407015"/>
            <a:chOff x="828136" y="2679378"/>
            <a:chExt cx="7327725" cy="305261"/>
          </a:xfrm>
        </p:grpSpPr>
        <p:sp>
          <p:nvSpPr>
            <p:cNvPr id="36" name="Rectangle 40"/>
            <p:cNvSpPr>
              <a:spLocks noChangeArrowheads="1"/>
            </p:cNvSpPr>
            <p:nvPr/>
          </p:nvSpPr>
          <p:spPr bwMode="auto">
            <a:xfrm>
              <a:off x="3642865" y="2684182"/>
              <a:ext cx="4452681" cy="2726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Rectangle 36"/>
            <p:cNvSpPr>
              <a:spLocks noChangeArrowheads="1"/>
            </p:cNvSpPr>
            <p:nvPr/>
          </p:nvSpPr>
          <p:spPr bwMode="auto">
            <a:xfrm>
              <a:off x="3648131" y="2691388"/>
              <a:ext cx="2742054" cy="259447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3553481" y="2688007"/>
              <a:ext cx="3512983" cy="274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1 1 1 1 1 1 1 1 1 1 1 1 1 1 1 1 1 1 1 1 0 0 0 0</a:t>
              </a:r>
            </a:p>
          </p:txBody>
        </p:sp>
        <p:sp>
          <p:nvSpPr>
            <p:cNvPr id="46" name="Rectangle 37"/>
            <p:cNvSpPr>
              <a:spLocks noChangeArrowheads="1"/>
            </p:cNvSpPr>
            <p:nvPr/>
          </p:nvSpPr>
          <p:spPr bwMode="auto">
            <a:xfrm>
              <a:off x="828136" y="2679378"/>
              <a:ext cx="2677418" cy="305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(c)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地址掩码是 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255.255.224.0</a:t>
              </a:r>
            </a:p>
          </p:txBody>
        </p:sp>
        <p:sp>
          <p:nvSpPr>
            <p:cNvPr id="47" name="Line 38"/>
            <p:cNvSpPr>
              <a:spLocks noChangeShapeType="1"/>
            </p:cNvSpPr>
            <p:nvPr/>
          </p:nvSpPr>
          <p:spPr bwMode="auto">
            <a:xfrm>
              <a:off x="5846958" y="2688986"/>
              <a:ext cx="0" cy="2666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39"/>
            <p:cNvSpPr>
              <a:spLocks noChangeShapeType="1"/>
            </p:cNvSpPr>
            <p:nvPr/>
          </p:nvSpPr>
          <p:spPr bwMode="auto">
            <a:xfrm>
              <a:off x="6952197" y="2681779"/>
              <a:ext cx="0" cy="2702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Rectangle 42"/>
            <p:cNvSpPr>
              <a:spLocks noChangeArrowheads="1"/>
            </p:cNvSpPr>
            <p:nvPr/>
          </p:nvSpPr>
          <p:spPr bwMode="auto">
            <a:xfrm>
              <a:off x="6893495" y="2688007"/>
              <a:ext cx="1262366" cy="274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0 0 0 0 0 0 0 0</a:t>
              </a:r>
            </a:p>
          </p:txBody>
        </p:sp>
        <p:sp>
          <p:nvSpPr>
            <p:cNvPr id="55" name="Line 51"/>
            <p:cNvSpPr>
              <a:spLocks noChangeShapeType="1"/>
            </p:cNvSpPr>
            <p:nvPr/>
          </p:nvSpPr>
          <p:spPr bwMode="auto">
            <a:xfrm>
              <a:off x="4733758" y="2681779"/>
              <a:ext cx="0" cy="2666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104182" y="4136980"/>
            <a:ext cx="9770300" cy="407015"/>
            <a:chOff x="828136" y="3214870"/>
            <a:chExt cx="7327725" cy="305261"/>
          </a:xfrm>
        </p:grpSpPr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828136" y="3214870"/>
              <a:ext cx="2819283" cy="305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(d) IP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地址与地址掩码按位 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AND</a:t>
              </a:r>
              <a:endParaRPr kumimoji="1" lang="zh-CN" altLang="en-US" sz="18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Rectangle 40"/>
            <p:cNvSpPr>
              <a:spLocks noChangeArrowheads="1"/>
            </p:cNvSpPr>
            <p:nvPr/>
          </p:nvSpPr>
          <p:spPr bwMode="auto">
            <a:xfrm>
              <a:off x="3642865" y="3219671"/>
              <a:ext cx="4452681" cy="2726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Rectangle 36"/>
            <p:cNvSpPr>
              <a:spLocks noChangeArrowheads="1"/>
            </p:cNvSpPr>
            <p:nvPr/>
          </p:nvSpPr>
          <p:spPr bwMode="auto">
            <a:xfrm>
              <a:off x="3648131" y="3226877"/>
              <a:ext cx="2742054" cy="259447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Rectangle 41"/>
            <p:cNvSpPr>
              <a:spLocks noChangeArrowheads="1"/>
            </p:cNvSpPr>
            <p:nvPr/>
          </p:nvSpPr>
          <p:spPr bwMode="auto">
            <a:xfrm>
              <a:off x="3553481" y="3223496"/>
              <a:ext cx="3512983" cy="274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1 0 0 0 0 0 0 0 0 0 0 0 1 1 1 0 0 0 1 0 0 0 0 0</a:t>
              </a:r>
            </a:p>
          </p:txBody>
        </p:sp>
        <p:sp>
          <p:nvSpPr>
            <p:cNvPr id="68" name="Line 38"/>
            <p:cNvSpPr>
              <a:spLocks noChangeShapeType="1"/>
            </p:cNvSpPr>
            <p:nvPr/>
          </p:nvSpPr>
          <p:spPr bwMode="auto">
            <a:xfrm>
              <a:off x="5846958" y="3224475"/>
              <a:ext cx="0" cy="2666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39"/>
            <p:cNvSpPr>
              <a:spLocks noChangeShapeType="1"/>
            </p:cNvSpPr>
            <p:nvPr/>
          </p:nvSpPr>
          <p:spPr bwMode="auto">
            <a:xfrm>
              <a:off x="6952197" y="3217268"/>
              <a:ext cx="0" cy="2702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Rectangle 42"/>
            <p:cNvSpPr>
              <a:spLocks noChangeArrowheads="1"/>
            </p:cNvSpPr>
            <p:nvPr/>
          </p:nvSpPr>
          <p:spPr bwMode="auto">
            <a:xfrm>
              <a:off x="6893495" y="3223496"/>
              <a:ext cx="1262366" cy="274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0 0 0 0 0 0 0 0</a:t>
              </a:r>
            </a:p>
          </p:txBody>
        </p:sp>
        <p:sp>
          <p:nvSpPr>
            <p:cNvPr id="71" name="Line 51"/>
            <p:cNvSpPr>
              <a:spLocks noChangeShapeType="1"/>
            </p:cNvSpPr>
            <p:nvPr/>
          </p:nvSpPr>
          <p:spPr bwMode="auto">
            <a:xfrm>
              <a:off x="4733758" y="3217268"/>
              <a:ext cx="0" cy="2666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104182" y="4853594"/>
            <a:ext cx="9689881" cy="407014"/>
            <a:chOff x="828136" y="3752329"/>
            <a:chExt cx="7267411" cy="305260"/>
          </a:xfrm>
        </p:grpSpPr>
        <p:sp>
          <p:nvSpPr>
            <p:cNvPr id="45" name="Rectangle 35"/>
            <p:cNvSpPr>
              <a:spLocks noChangeArrowheads="1"/>
            </p:cNvSpPr>
            <p:nvPr/>
          </p:nvSpPr>
          <p:spPr bwMode="auto">
            <a:xfrm>
              <a:off x="3642866" y="3768817"/>
              <a:ext cx="4452681" cy="272661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828136" y="3752329"/>
              <a:ext cx="2450192" cy="305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(e)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网络地址（点分十进制）</a:t>
              </a:r>
            </a:p>
          </p:txBody>
        </p:sp>
        <p:sp>
          <p:nvSpPr>
            <p:cNvPr id="72" name="Text Box 45"/>
            <p:cNvSpPr txBox="1">
              <a:spLocks noChangeArrowheads="1"/>
            </p:cNvSpPr>
            <p:nvPr/>
          </p:nvSpPr>
          <p:spPr bwMode="auto">
            <a:xfrm>
              <a:off x="3948549" y="3762012"/>
              <a:ext cx="2011609" cy="2847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128       .        14        .</a:t>
              </a:r>
            </a:p>
          </p:txBody>
        </p:sp>
        <p:sp>
          <p:nvSpPr>
            <p:cNvPr id="73" name="Text Box 46"/>
            <p:cNvSpPr txBox="1">
              <a:spLocks noChangeArrowheads="1"/>
            </p:cNvSpPr>
            <p:nvPr/>
          </p:nvSpPr>
          <p:spPr bwMode="auto">
            <a:xfrm>
              <a:off x="5852996" y="3762012"/>
              <a:ext cx="1791596" cy="2847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    32            .        0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104182" y="2744952"/>
            <a:ext cx="9972137" cy="407014"/>
            <a:chOff x="828136" y="2170855"/>
            <a:chExt cx="7479103" cy="305261"/>
          </a:xfrm>
        </p:grpSpPr>
        <p:sp>
          <p:nvSpPr>
            <p:cNvPr id="35" name="Rectangle 53"/>
            <p:cNvSpPr>
              <a:spLocks noChangeArrowheads="1"/>
            </p:cNvSpPr>
            <p:nvPr/>
          </p:nvSpPr>
          <p:spPr bwMode="auto">
            <a:xfrm>
              <a:off x="3640234" y="2188108"/>
              <a:ext cx="4455314" cy="2726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828136" y="2170855"/>
              <a:ext cx="1673537" cy="305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(b)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二进制 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地址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3559425" y="2191186"/>
              <a:ext cx="4747814" cy="274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1 0 0 0 0 0 0 0 0 0 0 0 1 1 1 0 0 0 1 0 0 0 1 1 0 0 0 0 0 1 1 1</a:t>
              </a:r>
            </a:p>
          </p:txBody>
        </p:sp>
        <p:sp>
          <p:nvSpPr>
            <p:cNvPr id="78" name="Line 38"/>
            <p:cNvSpPr>
              <a:spLocks noChangeShapeType="1"/>
            </p:cNvSpPr>
            <p:nvPr/>
          </p:nvSpPr>
          <p:spPr bwMode="auto">
            <a:xfrm>
              <a:off x="5846958" y="2201321"/>
              <a:ext cx="0" cy="2666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Line 39"/>
            <p:cNvSpPr>
              <a:spLocks noChangeShapeType="1"/>
            </p:cNvSpPr>
            <p:nvPr/>
          </p:nvSpPr>
          <p:spPr bwMode="auto">
            <a:xfrm>
              <a:off x="6952197" y="2194114"/>
              <a:ext cx="0" cy="2702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Line 51"/>
            <p:cNvSpPr>
              <a:spLocks noChangeShapeType="1"/>
            </p:cNvSpPr>
            <p:nvPr/>
          </p:nvSpPr>
          <p:spPr bwMode="auto">
            <a:xfrm>
              <a:off x="4733758" y="2194114"/>
              <a:ext cx="0" cy="2666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81" name="Text Box 155"/>
          <p:cNvSpPr txBox="1">
            <a:spLocks noChangeArrowheads="1"/>
          </p:cNvSpPr>
          <p:nvPr/>
        </p:nvSpPr>
        <p:spPr bwMode="auto">
          <a:xfrm>
            <a:off x="1915881" y="1494994"/>
            <a:ext cx="8791593" cy="428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】</a:t>
            </a:r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已知 </a:t>
            </a: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地址是 </a:t>
            </a: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128.14.35.7/20</a:t>
            </a:r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。求网络地址。 </a:t>
            </a:r>
          </a:p>
        </p:txBody>
      </p:sp>
    </p:spTree>
    <p:extLst>
      <p:ext uri="{BB962C8B-B14F-4D97-AF65-F5344CB8AC3E}">
        <p14:creationId xmlns:p14="http://schemas.microsoft.com/office/powerpoint/2010/main" val="57613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46"/>
          <p:cNvSpPr>
            <a:spLocks noChangeArrowheads="1"/>
          </p:cNvSpPr>
          <p:nvPr/>
        </p:nvSpPr>
        <p:spPr bwMode="auto">
          <a:xfrm>
            <a:off x="670559" y="1337535"/>
            <a:ext cx="10838687" cy="2852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可在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全双工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方式下工作而无冲突发生。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在全双工方式下工作时，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不使用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CSMA/CD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协议。</a:t>
            </a: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IEEE 802.3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协议规定的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帧格式。</a:t>
            </a: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保持最短帧长不变，但将一个网段的最大电缆长度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减小到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100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米。</a:t>
            </a: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帧间时间间隔从原来的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9.6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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改为现在的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0.96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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670559" y="861099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8" name="Rectangle 6"/>
          <p:cNvSpPr>
            <a:spLocks noChangeArrowheads="1"/>
          </p:cNvSpPr>
          <p:nvPr/>
        </p:nvSpPr>
        <p:spPr bwMode="auto">
          <a:xfrm>
            <a:off x="3977315" y="830312"/>
            <a:ext cx="4224233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100BASE-T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以太网的特点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1E883C8-522D-1C8B-F804-9DB5E57679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411ED-7A45-491D-B2AC-892FF09D4C2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98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AutoShape 5"/>
          <p:cNvSpPr>
            <a:spLocks noChangeArrowheads="1"/>
          </p:cNvSpPr>
          <p:nvPr/>
        </p:nvSpPr>
        <p:spPr bwMode="auto">
          <a:xfrm>
            <a:off x="726859" y="827646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38" name="Rectangle 6"/>
          <p:cNvSpPr>
            <a:spLocks noChangeArrowheads="1"/>
          </p:cNvSpPr>
          <p:nvPr/>
        </p:nvSpPr>
        <p:spPr bwMode="auto">
          <a:xfrm>
            <a:off x="3472626" y="784885"/>
            <a:ext cx="52467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4.2.3  IP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地址与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</p:txBody>
      </p:sp>
      <p:graphicFrame>
        <p:nvGraphicFramePr>
          <p:cNvPr id="2" name="图示 1"/>
          <p:cNvGraphicFramePr/>
          <p:nvPr/>
        </p:nvGraphicFramePr>
        <p:xfrm>
          <a:off x="1606434" y="1633274"/>
          <a:ext cx="8917797" cy="3393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472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utoShape 5"/>
          <p:cNvSpPr>
            <a:spLocks noChangeArrowheads="1"/>
          </p:cNvSpPr>
          <p:nvPr/>
        </p:nvSpPr>
        <p:spPr bwMode="auto">
          <a:xfrm>
            <a:off x="742618" y="804165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6" name="Rectangle 6"/>
          <p:cNvSpPr>
            <a:spLocks noChangeArrowheads="1"/>
          </p:cNvSpPr>
          <p:nvPr/>
        </p:nvSpPr>
        <p:spPr bwMode="auto">
          <a:xfrm>
            <a:off x="3841663" y="759884"/>
            <a:ext cx="4533612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ARP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高速缓存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(ARP cache)</a:t>
            </a:r>
            <a:endParaRPr lang="zh-CN" altLang="en-US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Rectangle 68"/>
          <p:cNvSpPr>
            <a:spLocks noChangeArrowheads="1"/>
          </p:cNvSpPr>
          <p:nvPr/>
        </p:nvSpPr>
        <p:spPr bwMode="auto">
          <a:xfrm>
            <a:off x="597770" y="1278383"/>
            <a:ext cx="11075173" cy="1545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57708" indent="-357708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ARP 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高速缓存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(ARP cache)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797964" lvl="1" indent="-457189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存放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地址到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地址的映射表。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797964" lvl="1" indent="-457189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映射表动态更新（新增或超时删除）。</a:t>
            </a:r>
          </a:p>
        </p:txBody>
      </p:sp>
      <p:sp>
        <p:nvSpPr>
          <p:cNvPr id="84" name="Rectangle 4"/>
          <p:cNvSpPr>
            <a:spLocks noChangeArrowheads="1"/>
          </p:cNvSpPr>
          <p:nvPr/>
        </p:nvSpPr>
        <p:spPr bwMode="auto">
          <a:xfrm>
            <a:off x="2403403" y="2911471"/>
            <a:ext cx="8836987" cy="461665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&lt; IP </a:t>
            </a:r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地址；</a:t>
            </a:r>
            <a:r>
              <a:rPr lang="en-US" altLang="zh-CN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地址；生存时间 </a:t>
            </a:r>
            <a:r>
              <a:rPr lang="en-US" altLang="zh-CN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(Age)</a:t>
            </a:r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；类型等</a:t>
            </a:r>
            <a:r>
              <a:rPr lang="en-US" altLang="zh-CN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&gt;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368707" y="3456126"/>
          <a:ext cx="9232264" cy="1977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956">
                  <a:extLst>
                    <a:ext uri="{9D8B030D-6E8A-4147-A177-3AD203B41FA5}">
                      <a16:colId xmlns:a16="http://schemas.microsoft.com/office/drawing/2014/main" val="2806046851"/>
                    </a:ext>
                  </a:extLst>
                </a:gridCol>
                <a:gridCol w="2765045">
                  <a:extLst>
                    <a:ext uri="{9D8B030D-6E8A-4147-A177-3AD203B41FA5}">
                      <a16:colId xmlns:a16="http://schemas.microsoft.com/office/drawing/2014/main" val="2108766633"/>
                    </a:ext>
                  </a:extLst>
                </a:gridCol>
                <a:gridCol w="2087143">
                  <a:extLst>
                    <a:ext uri="{9D8B030D-6E8A-4147-A177-3AD203B41FA5}">
                      <a16:colId xmlns:a16="http://schemas.microsoft.com/office/drawing/2014/main" val="2463580703"/>
                    </a:ext>
                  </a:extLst>
                </a:gridCol>
                <a:gridCol w="1637604">
                  <a:extLst>
                    <a:ext uri="{9D8B030D-6E8A-4147-A177-3AD203B41FA5}">
                      <a16:colId xmlns:a16="http://schemas.microsoft.com/office/drawing/2014/main" val="2395055679"/>
                    </a:ext>
                  </a:extLst>
                </a:gridCol>
                <a:gridCol w="1027516">
                  <a:extLst>
                    <a:ext uri="{9D8B030D-6E8A-4147-A177-3AD203B41FA5}">
                      <a16:colId xmlns:a16="http://schemas.microsoft.com/office/drawing/2014/main" val="949142939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 </a:t>
                      </a:r>
                      <a:r>
                        <a:rPr lang="zh-CN" altLang="en-US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MAC </a:t>
                      </a:r>
                      <a:r>
                        <a:rPr lang="zh-CN" altLang="en-US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生存时间 </a:t>
                      </a:r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(Age)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62240150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10.4.9.2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0030.7131.abfc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00:08:55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Dynamic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02583295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10.4.9.1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0000.0c07.ac24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00:02:55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Dynamic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89995632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10.4.9.99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0007.ebea.44d0 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00:06:12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Dynamic</a:t>
                      </a:r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031722197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245079" y="5503477"/>
            <a:ext cx="9417963" cy="46166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超过生存时间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的项目都从高速缓存中删除，以适应网络适配器变化。</a:t>
            </a:r>
          </a:p>
        </p:txBody>
      </p:sp>
      <p:sp>
        <p:nvSpPr>
          <p:cNvPr id="5" name="矩形 4"/>
          <p:cNvSpPr/>
          <p:nvPr/>
        </p:nvSpPr>
        <p:spPr>
          <a:xfrm>
            <a:off x="1125019" y="2894146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映射表</a:t>
            </a:r>
          </a:p>
        </p:txBody>
      </p:sp>
    </p:spTree>
    <p:extLst>
      <p:ext uri="{BB962C8B-B14F-4D97-AF65-F5344CB8AC3E}">
        <p14:creationId xmlns:p14="http://schemas.microsoft.com/office/powerpoint/2010/main" val="98092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26859" y="1345337"/>
            <a:ext cx="5365883" cy="3895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239" indent="-47623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(Internet Control Message Protocol)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允许主机或路由器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报告差错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情况和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提供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有关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异常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情况的报告。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76239" indent="-47623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是互联网的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标准协议。</a:t>
            </a:r>
            <a:endParaRPr lang="en-US" altLang="zh-CN" sz="2667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476239" indent="-47623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但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不是高层协议，而是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层的协议。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726859" y="808622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 sz="2400">
              <a:latin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875964" y="752260"/>
            <a:ext cx="64438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4.4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网际控制报文协议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ICMP 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6234023" y="1431946"/>
            <a:ext cx="5283171" cy="4267199"/>
          </a:xfrm>
          <a:prstGeom prst="roundRect">
            <a:avLst>
              <a:gd name="adj" fmla="val 9928"/>
            </a:avLst>
          </a:prstGeom>
          <a:solidFill>
            <a:srgbClr val="C3E3F9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9" name="组合 8"/>
          <p:cNvGrpSpPr/>
          <p:nvPr/>
        </p:nvGrpSpPr>
        <p:grpSpPr>
          <a:xfrm>
            <a:off x="6456609" y="1731384"/>
            <a:ext cx="4554998" cy="3668321"/>
            <a:chOff x="2372076" y="1403136"/>
            <a:chExt cx="4224107" cy="2751241"/>
          </a:xfrm>
        </p:grpSpPr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2372076" y="3355900"/>
              <a:ext cx="1235625" cy="2097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75000"/>
                </a:lnSpc>
              </a:pPr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600" b="1">
                  <a:latin typeface="微软雅黑" pitchFamily="34" charset="-122"/>
                  <a:ea typeface="微软雅黑" pitchFamily="34" charset="-122"/>
                </a:rPr>
                <a:t>网络接口层</a:t>
              </a:r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2714268" y="1977466"/>
              <a:ext cx="742088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 b="1">
                  <a:latin typeface="微软雅黑" pitchFamily="34" charset="-122"/>
                  <a:ea typeface="微软雅黑" pitchFamily="34" charset="-122"/>
                </a:rPr>
                <a:t>运输层</a:t>
              </a:r>
            </a:p>
          </p:txBody>
        </p:sp>
        <p:sp>
          <p:nvSpPr>
            <p:cNvPr id="12" name="Text Box 15"/>
            <p:cNvSpPr txBox="1">
              <a:spLocks noChangeArrowheads="1"/>
            </p:cNvSpPr>
            <p:nvPr/>
          </p:nvSpPr>
          <p:spPr bwMode="auto">
            <a:xfrm>
              <a:off x="2747925" y="1520750"/>
              <a:ext cx="742088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应用层</a:t>
              </a:r>
            </a:p>
          </p:txBody>
        </p:sp>
        <p:sp>
          <p:nvSpPr>
            <p:cNvPr id="13" name="Line 22"/>
            <p:cNvSpPr>
              <a:spLocks noChangeShapeType="1"/>
            </p:cNvSpPr>
            <p:nvPr/>
          </p:nvSpPr>
          <p:spPr bwMode="auto">
            <a:xfrm>
              <a:off x="2562806" y="1959860"/>
              <a:ext cx="10983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23"/>
            <p:cNvSpPr>
              <a:spLocks noChangeShapeType="1"/>
            </p:cNvSpPr>
            <p:nvPr/>
          </p:nvSpPr>
          <p:spPr bwMode="auto">
            <a:xfrm>
              <a:off x="2562806" y="2313013"/>
              <a:ext cx="10983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Line 24"/>
            <p:cNvSpPr>
              <a:spLocks noChangeShapeType="1"/>
            </p:cNvSpPr>
            <p:nvPr/>
          </p:nvSpPr>
          <p:spPr bwMode="auto">
            <a:xfrm>
              <a:off x="2581879" y="3270978"/>
              <a:ext cx="1079307" cy="20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>
              <a:off x="3094606" y="2313013"/>
              <a:ext cx="0" cy="9600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 Box 26"/>
            <p:cNvSpPr txBox="1">
              <a:spLocks noChangeArrowheads="1"/>
            </p:cNvSpPr>
            <p:nvPr/>
          </p:nvSpPr>
          <p:spPr bwMode="auto">
            <a:xfrm>
              <a:off x="2514069" y="2497357"/>
              <a:ext cx="1165222" cy="438581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网络层</a:t>
              </a:r>
              <a:endParaRPr kumimoji="1"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kumimoji="1"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（网际层）</a:t>
              </a: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3718405" y="1403136"/>
              <a:ext cx="2877778" cy="2751241"/>
              <a:chOff x="3718405" y="1403136"/>
              <a:chExt cx="2877778" cy="2751241"/>
            </a:xfrm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3721771" y="1403723"/>
                <a:ext cx="2874412" cy="2223514"/>
              </a:xfrm>
              <a:prstGeom prst="rect">
                <a:avLst/>
              </a:prstGeom>
              <a:solidFill>
                <a:srgbClr val="00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kumimoji="1" lang="zh-CN" altLang="zh-CN" sz="16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3721771" y="2313013"/>
                <a:ext cx="2874412" cy="9600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67"/>
              </a:p>
            </p:txBody>
          </p:sp>
          <p:sp>
            <p:nvSpPr>
              <p:cNvPr id="23" name="Rectangle 4"/>
              <p:cNvSpPr>
                <a:spLocks noChangeArrowheads="1"/>
              </p:cNvSpPr>
              <p:nvPr/>
            </p:nvSpPr>
            <p:spPr bwMode="auto">
              <a:xfrm>
                <a:off x="3721771" y="2313013"/>
                <a:ext cx="2874412" cy="960036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Line 6"/>
              <p:cNvSpPr>
                <a:spLocks noChangeShapeType="1"/>
              </p:cNvSpPr>
              <p:nvPr/>
            </p:nvSpPr>
            <p:spPr bwMode="auto">
              <a:xfrm>
                <a:off x="3721771" y="1959860"/>
                <a:ext cx="28744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5" name="Line 7"/>
              <p:cNvSpPr>
                <a:spLocks noChangeShapeType="1"/>
              </p:cNvSpPr>
              <p:nvPr/>
            </p:nvSpPr>
            <p:spPr bwMode="auto">
              <a:xfrm>
                <a:off x="3721771" y="2313013"/>
                <a:ext cx="2874412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" name="Text Box 8"/>
              <p:cNvSpPr txBox="1">
                <a:spLocks noChangeArrowheads="1"/>
              </p:cNvSpPr>
              <p:nvPr/>
            </p:nvSpPr>
            <p:spPr bwMode="auto">
              <a:xfrm>
                <a:off x="4410642" y="1403136"/>
                <a:ext cx="1503205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600" b="1" dirty="0">
                    <a:latin typeface="微软雅黑" pitchFamily="34" charset="-122"/>
                    <a:ea typeface="微软雅黑" pitchFamily="34" charset="-122"/>
                  </a:rPr>
                  <a:t>各种应用层协议</a:t>
                </a:r>
              </a:p>
            </p:txBody>
          </p:sp>
          <p:sp>
            <p:nvSpPr>
              <p:cNvPr id="27" name="Text Box 10"/>
              <p:cNvSpPr txBox="1">
                <a:spLocks noChangeArrowheads="1"/>
              </p:cNvSpPr>
              <p:nvPr/>
            </p:nvSpPr>
            <p:spPr bwMode="auto">
              <a:xfrm>
                <a:off x="4044889" y="1645744"/>
                <a:ext cx="2148786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600" b="1" dirty="0">
                    <a:latin typeface="微软雅黑" pitchFamily="34" charset="-122"/>
                    <a:ea typeface="微软雅黑" pitchFamily="34" charset="-122"/>
                  </a:rPr>
                  <a:t>(HTTP, FTP, SMTP </a:t>
                </a:r>
                <a:r>
                  <a:rPr kumimoji="1" lang="zh-CN" altLang="zh-CN" sz="1600" b="1" dirty="0">
                    <a:latin typeface="微软雅黑" pitchFamily="34" charset="-122"/>
                    <a:ea typeface="微软雅黑" pitchFamily="34" charset="-122"/>
                  </a:rPr>
                  <a:t>等</a:t>
                </a:r>
                <a:r>
                  <a:rPr kumimoji="1" lang="en-US" altLang="zh-CN" sz="1600" b="1" dirty="0">
                    <a:latin typeface="微软雅黑" pitchFamily="34" charset="-122"/>
                    <a:ea typeface="微软雅黑" pitchFamily="34" charset="-122"/>
                  </a:rPr>
                  <a:t>)</a:t>
                </a:r>
              </a:p>
            </p:txBody>
          </p:sp>
          <p:sp>
            <p:nvSpPr>
              <p:cNvPr id="28" name="Rectangle 11"/>
              <p:cNvSpPr>
                <a:spLocks noChangeArrowheads="1"/>
              </p:cNvSpPr>
              <p:nvPr/>
            </p:nvSpPr>
            <p:spPr bwMode="auto">
              <a:xfrm>
                <a:off x="3718405" y="3677984"/>
                <a:ext cx="2877778" cy="476393"/>
              </a:xfrm>
              <a:prstGeom prst="rect">
                <a:avLst/>
              </a:prstGeom>
              <a:solidFill>
                <a:srgbClr val="00B0F0">
                  <a:alpha val="49001"/>
                </a:srgbClr>
              </a:solidFill>
              <a:ln w="1905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" name="Text Box 12"/>
              <p:cNvSpPr txBox="1">
                <a:spLocks noChangeArrowheads="1"/>
              </p:cNvSpPr>
              <p:nvPr/>
            </p:nvSpPr>
            <p:spPr bwMode="auto">
              <a:xfrm>
                <a:off x="4661957" y="3760589"/>
                <a:ext cx="932367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600" b="1" dirty="0">
                    <a:latin typeface="微软雅黑" pitchFamily="34" charset="-122"/>
                    <a:ea typeface="微软雅黑" pitchFamily="34" charset="-122"/>
                  </a:rPr>
                  <a:t>物理硬件</a:t>
                </a:r>
              </a:p>
            </p:txBody>
          </p:sp>
          <p:sp>
            <p:nvSpPr>
              <p:cNvPr id="30" name="Text Box 14"/>
              <p:cNvSpPr txBox="1">
                <a:spLocks noChangeArrowheads="1"/>
              </p:cNvSpPr>
              <p:nvPr/>
            </p:nvSpPr>
            <p:spPr bwMode="auto">
              <a:xfrm>
                <a:off x="4739371" y="1984375"/>
                <a:ext cx="1034167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600" b="1" dirty="0">
                    <a:latin typeface="微软雅黑" pitchFamily="34" charset="-122"/>
                    <a:ea typeface="微软雅黑" pitchFamily="34" charset="-122"/>
                  </a:rPr>
                  <a:t>TCP, UDP</a:t>
                </a:r>
              </a:p>
            </p:txBody>
          </p:sp>
          <p:sp>
            <p:nvSpPr>
              <p:cNvPr id="31" name="Rectangle 16"/>
              <p:cNvSpPr>
                <a:spLocks noChangeArrowheads="1"/>
              </p:cNvSpPr>
              <p:nvPr/>
            </p:nvSpPr>
            <p:spPr bwMode="auto">
              <a:xfrm>
                <a:off x="3781234" y="2343046"/>
                <a:ext cx="685505" cy="243375"/>
              </a:xfrm>
              <a:prstGeom prst="rect">
                <a:avLst/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ICMP</a:t>
                </a:r>
              </a:p>
            </p:txBody>
          </p:sp>
          <p:sp>
            <p:nvSpPr>
              <p:cNvPr id="32" name="Text Box 17"/>
              <p:cNvSpPr txBox="1">
                <a:spLocks noChangeArrowheads="1"/>
              </p:cNvSpPr>
              <p:nvPr/>
            </p:nvSpPr>
            <p:spPr bwMode="auto">
              <a:xfrm>
                <a:off x="4975193" y="2674159"/>
                <a:ext cx="422479" cy="3154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133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IP</a:t>
                </a:r>
              </a:p>
            </p:txBody>
          </p:sp>
          <p:sp>
            <p:nvSpPr>
              <p:cNvPr id="33" name="Rectangle 19"/>
              <p:cNvSpPr>
                <a:spLocks noChangeArrowheads="1"/>
              </p:cNvSpPr>
              <p:nvPr/>
            </p:nvSpPr>
            <p:spPr bwMode="auto">
              <a:xfrm>
                <a:off x="5910678" y="2970643"/>
                <a:ext cx="624920" cy="243375"/>
              </a:xfrm>
              <a:prstGeom prst="rect">
                <a:avLst/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ARP</a:t>
                </a:r>
              </a:p>
            </p:txBody>
          </p:sp>
          <p:sp>
            <p:nvSpPr>
              <p:cNvPr id="34" name="Text Box 20"/>
              <p:cNvSpPr txBox="1">
                <a:spLocks noChangeArrowheads="1"/>
              </p:cNvSpPr>
              <p:nvPr/>
            </p:nvSpPr>
            <p:spPr bwMode="auto">
              <a:xfrm>
                <a:off x="4375862" y="3290337"/>
                <a:ext cx="1503205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600" b="1" dirty="0">
                    <a:latin typeface="微软雅黑" pitchFamily="34" charset="-122"/>
                    <a:ea typeface="微软雅黑" pitchFamily="34" charset="-122"/>
                  </a:rPr>
                  <a:t>与各种网络接口</a:t>
                </a:r>
              </a:p>
            </p:txBody>
          </p:sp>
          <p:sp>
            <p:nvSpPr>
              <p:cNvPr id="35" name="Line 21"/>
              <p:cNvSpPr>
                <a:spLocks noChangeShapeType="1"/>
              </p:cNvSpPr>
              <p:nvPr/>
            </p:nvSpPr>
            <p:spPr bwMode="auto">
              <a:xfrm>
                <a:off x="3721771" y="3273049"/>
                <a:ext cx="2874412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6" name="Rectangle 27"/>
              <p:cNvSpPr>
                <a:spLocks noChangeArrowheads="1"/>
              </p:cNvSpPr>
              <p:nvPr/>
            </p:nvSpPr>
            <p:spPr bwMode="auto">
              <a:xfrm>
                <a:off x="4500398" y="2343046"/>
                <a:ext cx="684384" cy="243375"/>
              </a:xfrm>
              <a:prstGeom prst="rect">
                <a:avLst/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IG MP</a:t>
                </a:r>
              </a:p>
            </p:txBody>
          </p:sp>
        </p:grpSp>
        <p:sp>
          <p:nvSpPr>
            <p:cNvPr id="19" name="Line 28"/>
            <p:cNvSpPr>
              <a:spLocks noChangeShapeType="1"/>
            </p:cNvSpPr>
            <p:nvPr/>
          </p:nvSpPr>
          <p:spPr bwMode="auto">
            <a:xfrm flipV="1">
              <a:off x="2571782" y="1403723"/>
              <a:ext cx="10894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29"/>
            <p:cNvSpPr>
              <a:spLocks noChangeShapeType="1"/>
            </p:cNvSpPr>
            <p:nvPr/>
          </p:nvSpPr>
          <p:spPr bwMode="auto">
            <a:xfrm>
              <a:off x="2552708" y="3627237"/>
              <a:ext cx="11084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536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726858" y="1316893"/>
            <a:ext cx="10738281" cy="3418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对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差错报告报文不再发送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差错报告报文。</a:t>
            </a:r>
          </a:p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对第一个分片的数据报片的所有后续数据报片都不发送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差错报告报文。</a:t>
            </a:r>
          </a:p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对具有多播地址的数据报都不发送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差错报告报文。</a:t>
            </a:r>
          </a:p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对具有特殊地址（如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127.0.0.0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0.0.0.0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）的数据报不发送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差错报告报文。</a:t>
            </a:r>
          </a:p>
        </p:txBody>
      </p:sp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726860" y="826643"/>
            <a:ext cx="1073828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2589291" y="782362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不应发送 </a:t>
            </a:r>
            <a:r>
              <a:rPr lang="en-US" altLang="zh-CN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差错报告报文的几种情况</a:t>
            </a:r>
          </a:p>
        </p:txBody>
      </p:sp>
    </p:spTree>
    <p:extLst>
      <p:ext uri="{BB962C8B-B14F-4D97-AF65-F5344CB8AC3E}">
        <p14:creationId xmlns:p14="http://schemas.microsoft.com/office/powerpoint/2010/main" val="292907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圆角矩形 42"/>
          <p:cNvSpPr/>
          <p:nvPr/>
        </p:nvSpPr>
        <p:spPr>
          <a:xfrm>
            <a:off x="726859" y="820616"/>
            <a:ext cx="10738283" cy="497082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507944" y="1129417"/>
            <a:ext cx="5390400" cy="3102532"/>
          </a:xfrm>
          <a:prstGeom prst="rect">
            <a:avLst/>
          </a:prstGeom>
          <a:solidFill>
            <a:srgbClr val="99FFCC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3513814" y="1411144"/>
            <a:ext cx="539979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4179396" y="1130591"/>
            <a:ext cx="0" cy="2817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6205492" y="1411145"/>
            <a:ext cx="0" cy="31224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451599" y="841819"/>
            <a:ext cx="359075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119529" y="841819"/>
            <a:ext cx="359075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138581" y="841819"/>
            <a:ext cx="474491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16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8650657" y="841819"/>
            <a:ext cx="474491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31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560816" y="1094265"/>
            <a:ext cx="654027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版本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994965" y="841819"/>
            <a:ext cx="431210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位</a:t>
            </a: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3507945" y="1723393"/>
            <a:ext cx="539979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3509118" y="2035641"/>
            <a:ext cx="54009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3509118" y="2349064"/>
            <a:ext cx="54009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3509118" y="2662487"/>
            <a:ext cx="54009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3509118" y="2975909"/>
            <a:ext cx="54009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3509118" y="3288159"/>
            <a:ext cx="54009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3509118" y="3601580"/>
            <a:ext cx="54009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3509118" y="3913829"/>
            <a:ext cx="54009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3675807" y="3183685"/>
            <a:ext cx="5065239" cy="83462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3675807" y="1959984"/>
            <a:ext cx="5065239" cy="835793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5654218" y="3294092"/>
            <a:ext cx="1064396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目的地址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5756809" y="2041576"/>
            <a:ext cx="859212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源地址</a:t>
            </a:r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7558961" y="1411145"/>
            <a:ext cx="0" cy="31224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134126" y="1388905"/>
            <a:ext cx="1269580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下一个首部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773212" y="1094265"/>
            <a:ext cx="859212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流标号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5421348" y="841819"/>
            <a:ext cx="474491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12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4330890" y="1094265"/>
            <a:ext cx="1064396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通信量类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5567656" y="2289261"/>
            <a:ext cx="1239124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128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位）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5567656" y="3543712"/>
            <a:ext cx="1239124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128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位）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3955300" y="1383036"/>
            <a:ext cx="1474765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有效载荷长度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7698749" y="1385400"/>
            <a:ext cx="1064396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跳数限制</a:t>
            </a:r>
          </a:p>
        </p:txBody>
      </p:sp>
      <p:sp>
        <p:nvSpPr>
          <p:cNvPr id="34" name="Line 33"/>
          <p:cNvSpPr>
            <a:spLocks noChangeShapeType="1"/>
          </p:cNvSpPr>
          <p:nvPr/>
        </p:nvSpPr>
        <p:spPr bwMode="auto">
          <a:xfrm>
            <a:off x="5523475" y="1129417"/>
            <a:ext cx="4696" cy="28290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7481485" y="841819"/>
            <a:ext cx="474491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24</a:t>
            </a:r>
          </a:p>
        </p:txBody>
      </p:sp>
      <p:sp>
        <p:nvSpPr>
          <p:cNvPr id="36" name="Line 35"/>
          <p:cNvSpPr>
            <a:spLocks noChangeShapeType="1"/>
          </p:cNvSpPr>
          <p:nvPr/>
        </p:nvSpPr>
        <p:spPr bwMode="auto">
          <a:xfrm>
            <a:off x="3507944" y="4231948"/>
            <a:ext cx="540213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AutoShape 39"/>
          <p:cNvSpPr>
            <a:spLocks/>
          </p:cNvSpPr>
          <p:nvPr/>
        </p:nvSpPr>
        <p:spPr bwMode="auto">
          <a:xfrm>
            <a:off x="3282562" y="1154068"/>
            <a:ext cx="169037" cy="3077880"/>
          </a:xfrm>
          <a:prstGeom prst="leftBrace">
            <a:avLst>
              <a:gd name="adj1" fmla="val 15173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Rectangle 40"/>
          <p:cNvSpPr>
            <a:spLocks noChangeArrowheads="1"/>
          </p:cNvSpPr>
          <p:nvPr/>
        </p:nvSpPr>
        <p:spPr bwMode="auto">
          <a:xfrm>
            <a:off x="2282545" y="2345543"/>
            <a:ext cx="1033939" cy="796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IPv6 </a:t>
            </a:r>
            <a:r>
              <a:rPr kumimoji="1" lang="zh-CN" altLang="en-US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的</a:t>
            </a:r>
          </a:p>
          <a:p>
            <a:pPr algn="ctr" defTabSz="1015975" eaLnBrk="0" hangingPunct="0"/>
            <a:r>
              <a:rPr kumimoji="1" lang="zh-CN" altLang="en-US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基本首部</a:t>
            </a:r>
          </a:p>
          <a:p>
            <a:pPr algn="ctr" defTabSz="1015975" eaLnBrk="0" hangingPunct="0"/>
            <a:r>
              <a:rPr kumimoji="1" lang="zh-CN" altLang="en-US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40 B</a:t>
            </a:r>
            <a:r>
              <a:rPr kumimoji="1" lang="zh-CN" altLang="en-US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39" name="Rectangle 43"/>
          <p:cNvSpPr>
            <a:spLocks noChangeArrowheads="1"/>
          </p:cNvSpPr>
          <p:nvPr/>
        </p:nvSpPr>
        <p:spPr bwMode="auto">
          <a:xfrm flipH="1">
            <a:off x="6209014" y="1417217"/>
            <a:ext cx="1344079" cy="291120"/>
          </a:xfrm>
          <a:prstGeom prst="rect">
            <a:avLst/>
          </a:prstGeom>
          <a:noFill/>
          <a:ln w="38100">
            <a:solidFill>
              <a:srgbClr val="CC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对角圆角矩形 40"/>
          <p:cNvSpPr/>
          <p:nvPr/>
        </p:nvSpPr>
        <p:spPr>
          <a:xfrm>
            <a:off x="1414587" y="4321105"/>
            <a:ext cx="9598243" cy="1397340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2" name="矩形 41"/>
          <p:cNvSpPr/>
          <p:nvPr/>
        </p:nvSpPr>
        <p:spPr>
          <a:xfrm>
            <a:off x="1559170" y="4285413"/>
            <a:ext cx="9434121" cy="14269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下一个首部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(next header)—— 8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位。相当于 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的协议字段或可选字段。用来指示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IPv6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头部之后紧跟的是哪种类型的头部，无论是另一个扩展头部还是上层协议（如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TCP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UDP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等）的头部</a:t>
            </a:r>
          </a:p>
        </p:txBody>
      </p:sp>
    </p:spTree>
    <p:extLst>
      <p:ext uri="{BB962C8B-B14F-4D97-AF65-F5344CB8AC3E}">
        <p14:creationId xmlns:p14="http://schemas.microsoft.com/office/powerpoint/2010/main" val="180757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559792B-DA9C-0F64-4836-803AF4BEF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19" y="1110508"/>
            <a:ext cx="10819739" cy="487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5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9"/>
          <p:cNvSpPr/>
          <p:nvPr/>
        </p:nvSpPr>
        <p:spPr>
          <a:xfrm>
            <a:off x="86208" y="3161713"/>
            <a:ext cx="11859489" cy="22938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726860" y="1345833"/>
            <a:ext cx="10738280" cy="1725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IPv6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中，每个地址占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128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位，地址空间大于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3.4</a:t>
            </a:r>
            <a:r>
              <a:rPr lang="en-US" altLang="zh-CN" sz="2667" b="1" dirty="0">
                <a:sym typeface="Symbol"/>
              </a:rPr>
              <a:t>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  <a:sym typeface="Symbol"/>
              </a:rPr>
              <a:t></a:t>
            </a:r>
            <a:r>
              <a:rPr lang="en-US" altLang="zh-CN" sz="2667" b="1" dirty="0">
                <a:sym typeface="Symbol"/>
              </a:rPr>
              <a:t>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en-US" altLang="zh-CN" sz="2667" b="1" baseline="30000" dirty="0">
                <a:latin typeface="微软雅黑" pitchFamily="34" charset="-122"/>
                <a:ea typeface="微软雅黑" pitchFamily="34" charset="-122"/>
              </a:rPr>
              <a:t>38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冒号十六进制记法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(colon hexadecimal notation,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简写为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colon hex)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 16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位的值用十六进制值表示，各值之间用冒号分隔。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26860" y="829799"/>
            <a:ext cx="10738280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589291" y="785517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冒号十六进制记法</a:t>
            </a:r>
          </a:p>
        </p:txBody>
      </p:sp>
      <p:sp>
        <p:nvSpPr>
          <p:cNvPr id="9" name="矩形 8"/>
          <p:cNvSpPr/>
          <p:nvPr/>
        </p:nvSpPr>
        <p:spPr>
          <a:xfrm>
            <a:off x="3027905" y="3326465"/>
            <a:ext cx="8810488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rgbClr val="0070C0"/>
              </a:buClr>
            </a:pP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104.230.140.100.255.255.255.255.0.0.17.128.150.10.255.255</a:t>
            </a:r>
            <a:endParaRPr lang="zh-CN" altLang="zh-CN" sz="2133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54622" y="3284377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点分十进制数记法</a:t>
            </a:r>
            <a:r>
              <a:rPr lang="zh-CN" altLang="en-US" sz="24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66938" y="3772724"/>
            <a:ext cx="10507343" cy="779757"/>
            <a:chOff x="182843" y="2863156"/>
            <a:chExt cx="7880507" cy="584818"/>
          </a:xfrm>
        </p:grpSpPr>
        <p:grpSp>
          <p:nvGrpSpPr>
            <p:cNvPr id="11" name="组合 10"/>
            <p:cNvGrpSpPr/>
            <p:nvPr/>
          </p:nvGrpSpPr>
          <p:grpSpPr>
            <a:xfrm>
              <a:off x="2829043" y="2863156"/>
              <a:ext cx="5234307" cy="584818"/>
              <a:chOff x="2052959" y="2863156"/>
              <a:chExt cx="5234307" cy="584818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052959" y="3101725"/>
                <a:ext cx="5234307" cy="3462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buClr>
                    <a:srgbClr val="0070C0"/>
                  </a:buClr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68E6:8C64:FFFF:FFFF:0000:1180:960A:FFFF</a:t>
                </a:r>
              </a:p>
            </p:txBody>
          </p:sp>
          <p:sp>
            <p:nvSpPr>
              <p:cNvPr id="10" name="下箭头 9"/>
              <p:cNvSpPr/>
              <p:nvPr/>
            </p:nvSpPr>
            <p:spPr>
              <a:xfrm>
                <a:off x="4840940" y="2863156"/>
                <a:ext cx="207469" cy="286235"/>
              </a:xfrm>
              <a:prstGeom prst="downArrow">
                <a:avLst/>
              </a:prstGeom>
              <a:solidFill>
                <a:srgbClr val="9900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182843" y="3101725"/>
              <a:ext cx="2215991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冒号十六进制</a:t>
              </a:r>
              <a:r>
                <a:rPr lang="zh-CN" altLang="zh-CN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记法</a:t>
              </a:r>
              <a:r>
                <a:rPr lang="zh-CN" altLang="en-US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7403992" y="4154373"/>
            <a:ext cx="672000" cy="3129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矩形 14"/>
          <p:cNvSpPr/>
          <p:nvPr/>
        </p:nvSpPr>
        <p:spPr>
          <a:xfrm>
            <a:off x="7667305" y="4849095"/>
            <a:ext cx="192000" cy="3129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8" name="组合 17"/>
          <p:cNvGrpSpPr/>
          <p:nvPr/>
        </p:nvGrpSpPr>
        <p:grpSpPr>
          <a:xfrm>
            <a:off x="379250" y="4467319"/>
            <a:ext cx="10196665" cy="791544"/>
            <a:chOff x="192077" y="3384102"/>
            <a:chExt cx="7647499" cy="593658"/>
          </a:xfrm>
        </p:grpSpPr>
        <p:grpSp>
          <p:nvGrpSpPr>
            <p:cNvPr id="7" name="组合 6"/>
            <p:cNvGrpSpPr/>
            <p:nvPr/>
          </p:nvGrpSpPr>
          <p:grpSpPr>
            <a:xfrm>
              <a:off x="3096434" y="3384102"/>
              <a:ext cx="4743142" cy="593658"/>
              <a:chOff x="1902550" y="2800118"/>
              <a:chExt cx="5278446" cy="593658"/>
            </a:xfrm>
          </p:grpSpPr>
          <p:sp>
            <p:nvSpPr>
              <p:cNvPr id="5" name="下箭头 4"/>
              <p:cNvSpPr/>
              <p:nvPr/>
            </p:nvSpPr>
            <p:spPr>
              <a:xfrm>
                <a:off x="4707604" y="2800118"/>
                <a:ext cx="230884" cy="296547"/>
              </a:xfrm>
              <a:prstGeom prst="downArrow">
                <a:avLst/>
              </a:prstGeom>
              <a:solidFill>
                <a:srgbClr val="9900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902550" y="3047527"/>
                <a:ext cx="5278446" cy="3462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buClr>
                    <a:srgbClr val="0070C0"/>
                  </a:buClr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68E6:8C64:FFFF:FFFF:0:1180:960A:FFFF</a:t>
                </a:r>
              </a:p>
            </p:txBody>
          </p:sp>
        </p:grpSp>
        <p:sp>
          <p:nvSpPr>
            <p:cNvPr id="17" name="矩形 16"/>
            <p:cNvSpPr/>
            <p:nvPr/>
          </p:nvSpPr>
          <p:spPr>
            <a:xfrm>
              <a:off x="192077" y="3618511"/>
              <a:ext cx="2215991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冒号十六进制</a:t>
              </a:r>
              <a:r>
                <a:rPr lang="zh-CN" altLang="zh-CN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记法</a:t>
              </a:r>
              <a:r>
                <a:rPr lang="zh-CN" altLang="en-US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925902" y="5580453"/>
            <a:ext cx="6340197" cy="461665"/>
          </a:xfrm>
          <a:prstGeom prst="rect">
            <a:avLst/>
          </a:prstGeom>
          <a:solidFill>
            <a:srgbClr val="CCFF99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两个技术：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零压缩，点分十进制记法的后缀。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88C760-3B4A-262E-FE5F-7E33089BCFFB}"/>
              </a:ext>
            </a:extLst>
          </p:cNvPr>
          <p:cNvSpPr txBox="1"/>
          <p:nvPr/>
        </p:nvSpPr>
        <p:spPr>
          <a:xfrm>
            <a:off x="3370832" y="3036874"/>
            <a:ext cx="434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691553-9639-197E-651D-B6AD06C7C943}"/>
              </a:ext>
            </a:extLst>
          </p:cNvPr>
          <p:cNvSpPr txBox="1"/>
          <p:nvPr/>
        </p:nvSpPr>
        <p:spPr>
          <a:xfrm>
            <a:off x="4117836" y="3782177"/>
            <a:ext cx="434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1745AC4-E4C7-CA6F-0010-4D70ABD84D16}"/>
              </a:ext>
            </a:extLst>
          </p:cNvPr>
          <p:cNvSpPr txBox="1"/>
          <p:nvPr/>
        </p:nvSpPr>
        <p:spPr>
          <a:xfrm>
            <a:off x="4478345" y="3782177"/>
            <a:ext cx="434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D18959F-A5FA-11AC-598A-1FA5D38174BA}"/>
              </a:ext>
            </a:extLst>
          </p:cNvPr>
          <p:cNvSpPr txBox="1"/>
          <p:nvPr/>
        </p:nvSpPr>
        <p:spPr>
          <a:xfrm>
            <a:off x="3931139" y="3039066"/>
            <a:ext cx="434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434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726861" y="2963151"/>
            <a:ext cx="10738280" cy="249246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726860" y="1303853"/>
            <a:ext cx="10738280" cy="58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90" indent="-38099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零压缩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(zero compression)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：一串连续的零可以用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一对冒号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取代。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26860" y="828801"/>
            <a:ext cx="10738280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589291" y="784520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零压缩</a:t>
            </a:r>
          </a:p>
        </p:txBody>
      </p:sp>
      <p:sp>
        <p:nvSpPr>
          <p:cNvPr id="5" name="矩形 4"/>
          <p:cNvSpPr/>
          <p:nvPr/>
        </p:nvSpPr>
        <p:spPr>
          <a:xfrm>
            <a:off x="4108393" y="1906768"/>
            <a:ext cx="4354284" cy="1004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33"/>
              </a:lnSpc>
              <a:buClr>
                <a:srgbClr val="0070C0"/>
              </a:buClr>
            </a:pP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FF05:0:0:0:0:0:0:B3</a:t>
            </a:r>
            <a:endParaRPr lang="zh-CN" altLang="en-US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733"/>
              </a:lnSpc>
              <a:buClr>
                <a:srgbClr val="0070C0"/>
              </a:buClr>
            </a:pP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FF05::B3</a:t>
            </a:r>
          </a:p>
        </p:txBody>
      </p:sp>
      <p:sp>
        <p:nvSpPr>
          <p:cNvPr id="6" name="矩形 5"/>
          <p:cNvSpPr/>
          <p:nvPr/>
        </p:nvSpPr>
        <p:spPr>
          <a:xfrm>
            <a:off x="2279959" y="5563114"/>
            <a:ext cx="7481916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Clr>
                <a:srgbClr val="0070C0"/>
              </a:buClr>
            </a:pPr>
            <a:r>
              <a:rPr lang="zh-CN" altLang="en-US" sz="2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注意：在任一地址中，只能使用一次零压缩。</a:t>
            </a:r>
          </a:p>
        </p:txBody>
      </p:sp>
      <p:sp>
        <p:nvSpPr>
          <p:cNvPr id="7" name="矩形 6"/>
          <p:cNvSpPr/>
          <p:nvPr/>
        </p:nvSpPr>
        <p:spPr>
          <a:xfrm>
            <a:off x="2325136" y="2388352"/>
            <a:ext cx="2059885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可压缩为： </a:t>
            </a:r>
            <a:endParaRPr lang="zh-CN" altLang="en-US" sz="2667" dirty="0"/>
          </a:p>
        </p:txBody>
      </p:sp>
      <p:sp>
        <p:nvSpPr>
          <p:cNvPr id="8" name="矩形 7"/>
          <p:cNvSpPr/>
          <p:nvPr/>
        </p:nvSpPr>
        <p:spPr>
          <a:xfrm>
            <a:off x="1165186" y="2963152"/>
            <a:ext cx="34371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0:0:0:0:0:0:128.10.2.1</a:t>
            </a:r>
          </a:p>
        </p:txBody>
      </p:sp>
      <p:sp>
        <p:nvSpPr>
          <p:cNvPr id="9" name="矩形 8"/>
          <p:cNvSpPr/>
          <p:nvPr/>
        </p:nvSpPr>
        <p:spPr>
          <a:xfrm>
            <a:off x="6813249" y="2963152"/>
            <a:ext cx="1949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::128.10.2.1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165186" y="3440513"/>
            <a:ext cx="4546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1080:0:0:0:8:800:200C:417A </a:t>
            </a:r>
            <a:endParaRPr lang="zh-CN" altLang="en-US" sz="24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65185" y="3917874"/>
            <a:ext cx="50722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FF01:0:0:0:0:0:0:101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（多播地址）</a:t>
            </a:r>
          </a:p>
        </p:txBody>
      </p:sp>
      <p:sp>
        <p:nvSpPr>
          <p:cNvPr id="12" name="矩形 11"/>
          <p:cNvSpPr/>
          <p:nvPr/>
        </p:nvSpPr>
        <p:spPr>
          <a:xfrm>
            <a:off x="1165186" y="4395236"/>
            <a:ext cx="41617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0:0:0:0:0:0:0:1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（环回地址）</a:t>
            </a:r>
          </a:p>
        </p:txBody>
      </p:sp>
      <p:sp>
        <p:nvSpPr>
          <p:cNvPr id="13" name="矩形 12"/>
          <p:cNvSpPr/>
          <p:nvPr/>
        </p:nvSpPr>
        <p:spPr>
          <a:xfrm>
            <a:off x="1165186" y="4872598"/>
            <a:ext cx="4469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0:0:0:0:0:0:0:0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（未指明地址）</a:t>
            </a:r>
          </a:p>
        </p:txBody>
      </p:sp>
      <p:sp>
        <p:nvSpPr>
          <p:cNvPr id="14" name="矩形 13"/>
          <p:cNvSpPr/>
          <p:nvPr/>
        </p:nvSpPr>
        <p:spPr>
          <a:xfrm>
            <a:off x="6813248" y="3440513"/>
            <a:ext cx="3711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1080::8:800:200C:417A</a:t>
            </a:r>
            <a:endParaRPr lang="zh-CN" altLang="en-US" sz="24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13249" y="3917874"/>
            <a:ext cx="16498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FF01::101</a:t>
            </a:r>
          </a:p>
        </p:txBody>
      </p:sp>
      <p:sp>
        <p:nvSpPr>
          <p:cNvPr id="16" name="矩形 15"/>
          <p:cNvSpPr/>
          <p:nvPr/>
        </p:nvSpPr>
        <p:spPr>
          <a:xfrm>
            <a:off x="6813249" y="4395236"/>
            <a:ext cx="550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::1</a:t>
            </a:r>
            <a:endParaRPr lang="zh-CN" altLang="en-US" sz="24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813248" y="4872598"/>
            <a:ext cx="360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::</a:t>
            </a:r>
          </a:p>
        </p:txBody>
      </p:sp>
      <p:sp>
        <p:nvSpPr>
          <p:cNvPr id="18" name="右箭头 17"/>
          <p:cNvSpPr/>
          <p:nvPr/>
        </p:nvSpPr>
        <p:spPr>
          <a:xfrm>
            <a:off x="6218947" y="3090098"/>
            <a:ext cx="522515" cy="246221"/>
          </a:xfrm>
          <a:prstGeom prst="right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9" name="右箭头 18"/>
          <p:cNvSpPr/>
          <p:nvPr/>
        </p:nvSpPr>
        <p:spPr>
          <a:xfrm>
            <a:off x="6218947" y="3567460"/>
            <a:ext cx="522515" cy="246221"/>
          </a:xfrm>
          <a:prstGeom prst="right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0" name="右箭头 19"/>
          <p:cNvSpPr/>
          <p:nvPr/>
        </p:nvSpPr>
        <p:spPr>
          <a:xfrm>
            <a:off x="6218947" y="4044823"/>
            <a:ext cx="522515" cy="246221"/>
          </a:xfrm>
          <a:prstGeom prst="right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右箭头 20"/>
          <p:cNvSpPr/>
          <p:nvPr/>
        </p:nvSpPr>
        <p:spPr>
          <a:xfrm>
            <a:off x="6218947" y="4522186"/>
            <a:ext cx="522515" cy="246221"/>
          </a:xfrm>
          <a:prstGeom prst="right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2" name="右箭头 21"/>
          <p:cNvSpPr/>
          <p:nvPr/>
        </p:nvSpPr>
        <p:spPr>
          <a:xfrm>
            <a:off x="6218947" y="4999548"/>
            <a:ext cx="522515" cy="246221"/>
          </a:xfrm>
          <a:prstGeom prst="right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09935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726860" y="829751"/>
            <a:ext cx="1073828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422835" y="775267"/>
            <a:ext cx="53463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4.5.3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从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向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IPv6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过渡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726858" y="1352037"/>
            <a:ext cx="10738281" cy="3344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90" indent="-38099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方法：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逐步演进，向后兼容。</a:t>
            </a:r>
            <a:endParaRPr lang="en-US" altLang="zh-CN" sz="2667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向后兼容：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IPv6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系统必须能够接收和转发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分组，并且能够为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分组选择路由。</a:t>
            </a:r>
          </a:p>
          <a:p>
            <a:pPr marL="380990" indent="-38099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两种过渡策略：</a:t>
            </a:r>
          </a:p>
          <a:p>
            <a:pPr marL="831830" indent="-457189">
              <a:lnSpc>
                <a:spcPts val="4267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使用双协议栈</a:t>
            </a:r>
          </a:p>
          <a:p>
            <a:pPr marL="831830" indent="-457189">
              <a:lnSpc>
                <a:spcPts val="4267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使用隧道技术</a:t>
            </a:r>
          </a:p>
        </p:txBody>
      </p:sp>
    </p:spTree>
    <p:extLst>
      <p:ext uri="{BB962C8B-B14F-4D97-AF65-F5344CB8AC3E}">
        <p14:creationId xmlns:p14="http://schemas.microsoft.com/office/powerpoint/2010/main" val="7961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726858" y="1386255"/>
            <a:ext cx="10738281" cy="2853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CIDR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时，在查找转发表时可能会得到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不止一个匹配结果。 </a:t>
            </a:r>
          </a:p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最长前缀匹配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(longest-prefix matching) 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原则：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选择前缀最长的一个作为匹配的前缀。</a:t>
            </a:r>
          </a:p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网络前缀越长，其地址块就越小，因而路由就越具体。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把前缀最长的排在转发表的第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行。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726859" y="815978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153805" y="761494"/>
            <a:ext cx="38843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4.3.2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最长前缀匹配</a:t>
            </a:r>
          </a:p>
        </p:txBody>
      </p:sp>
    </p:spTree>
    <p:extLst>
      <p:ext uri="{BB962C8B-B14F-4D97-AF65-F5344CB8AC3E}">
        <p14:creationId xmlns:p14="http://schemas.microsoft.com/office/powerpoint/2010/main" val="47793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差错控制：</a:t>
            </a:r>
            <a:r>
              <a:rPr lang="zh-CN" altLang="en-US" dirty="0"/>
              <a:t>使相应层次对等方的通信更加可靠。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流量控制：</a:t>
            </a:r>
            <a:r>
              <a:rPr lang="zh-CN" altLang="en-US" dirty="0"/>
              <a:t>发送端的发送速率必须使接收端来得及接收，不要太快。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分段和重装：</a:t>
            </a:r>
            <a:r>
              <a:rPr lang="zh-CN" altLang="en-US" dirty="0"/>
              <a:t>发送端将要发送的数据块划分为更小的单位，在接收端将其还原。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复用和分用：</a:t>
            </a:r>
            <a:r>
              <a:rPr lang="zh-CN" altLang="en-US" dirty="0"/>
              <a:t>发送端几个高层会话复用一条低层的连接，在接收端再进行分用。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连接建立和释放：</a:t>
            </a:r>
            <a:r>
              <a:rPr lang="zh-CN" altLang="en-US" dirty="0"/>
              <a:t>交换数据前先建立一条逻辑连接，数据传送结束后释放连接。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zh-CN" dirty="0"/>
              <a:t>各层完成的主要功能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F5BAA24-24EB-981A-FD5F-BCDDC8CC1E1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5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1.7.3  </a:t>
            </a:r>
            <a:r>
              <a:rPr lang="zh-CN" altLang="en-US" dirty="0"/>
              <a:t>具有五层协议的体系结构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673430" y="1560577"/>
            <a:ext cx="10845141" cy="42671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076452" y="2164681"/>
            <a:ext cx="1788584" cy="3069167"/>
            <a:chOff x="1557339" y="1623511"/>
            <a:chExt cx="1341438" cy="2301875"/>
          </a:xfrm>
        </p:grpSpPr>
        <p:sp>
          <p:nvSpPr>
            <p:cNvPr id="7" name="AutoShape 58"/>
            <p:cNvSpPr>
              <a:spLocks noChangeArrowheads="1"/>
            </p:cNvSpPr>
            <p:nvPr/>
          </p:nvSpPr>
          <p:spPr bwMode="auto">
            <a:xfrm>
              <a:off x="1560514" y="1623511"/>
              <a:ext cx="1338263" cy="2301875"/>
            </a:xfrm>
            <a:prstGeom prst="cube">
              <a:avLst>
                <a:gd name="adj" fmla="val 9144"/>
              </a:avLst>
            </a:prstGeom>
            <a:solidFill>
              <a:srgbClr val="85D1F7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50"/>
            <p:cNvSpPr/>
            <p:nvPr/>
          </p:nvSpPr>
          <p:spPr bwMode="auto">
            <a:xfrm>
              <a:off x="1560514" y="18727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9" name="Freeform 59"/>
            <p:cNvSpPr/>
            <p:nvPr/>
          </p:nvSpPr>
          <p:spPr bwMode="auto">
            <a:xfrm>
              <a:off x="1560514" y="2185486"/>
              <a:ext cx="1328738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" name="Freeform 60"/>
            <p:cNvSpPr/>
            <p:nvPr/>
          </p:nvSpPr>
          <p:spPr bwMode="auto">
            <a:xfrm>
              <a:off x="1560514" y="2498223"/>
              <a:ext cx="1328738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1" name="Freeform 61"/>
            <p:cNvSpPr/>
            <p:nvPr/>
          </p:nvSpPr>
          <p:spPr bwMode="auto">
            <a:xfrm>
              <a:off x="1560514" y="2810961"/>
              <a:ext cx="1328738" cy="171450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2" name="Freeform 62"/>
            <p:cNvSpPr/>
            <p:nvPr/>
          </p:nvSpPr>
          <p:spPr bwMode="auto">
            <a:xfrm>
              <a:off x="1558927" y="3122111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3" name="Freeform 63"/>
            <p:cNvSpPr/>
            <p:nvPr/>
          </p:nvSpPr>
          <p:spPr bwMode="auto">
            <a:xfrm>
              <a:off x="1557339" y="34348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2027239" y="1779086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15" name="Text Box 23"/>
            <p:cNvSpPr txBox="1">
              <a:spLocks noChangeArrowheads="1"/>
            </p:cNvSpPr>
            <p:nvPr/>
          </p:nvSpPr>
          <p:spPr bwMode="auto">
            <a:xfrm>
              <a:off x="2006602" y="2661736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16" name="Text Box 24"/>
            <p:cNvSpPr txBox="1">
              <a:spLocks noChangeArrowheads="1"/>
            </p:cNvSpPr>
            <p:nvPr/>
          </p:nvSpPr>
          <p:spPr bwMode="auto">
            <a:xfrm>
              <a:off x="2014539" y="3006223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7" name="Text Box 54"/>
            <p:cNvSpPr txBox="1">
              <a:spLocks noChangeArrowheads="1"/>
            </p:cNvSpPr>
            <p:nvPr/>
          </p:nvSpPr>
          <p:spPr bwMode="auto">
            <a:xfrm>
              <a:off x="2014539" y="2079123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表示层</a:t>
              </a:r>
            </a:p>
          </p:txBody>
        </p:sp>
        <p:sp>
          <p:nvSpPr>
            <p:cNvPr id="18" name="Text Box 55"/>
            <p:cNvSpPr txBox="1">
              <a:spLocks noChangeArrowheads="1"/>
            </p:cNvSpPr>
            <p:nvPr/>
          </p:nvSpPr>
          <p:spPr bwMode="auto">
            <a:xfrm>
              <a:off x="2014539" y="2391861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会话层</a:t>
              </a:r>
            </a:p>
          </p:txBody>
        </p:sp>
        <p:sp>
          <p:nvSpPr>
            <p:cNvPr id="19" name="Text Box 56"/>
            <p:cNvSpPr txBox="1">
              <a:spLocks noChangeArrowheads="1"/>
            </p:cNvSpPr>
            <p:nvPr/>
          </p:nvSpPr>
          <p:spPr bwMode="auto">
            <a:xfrm>
              <a:off x="1911352" y="3314198"/>
              <a:ext cx="841817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20" name="Text Box 57"/>
            <p:cNvSpPr txBox="1">
              <a:spLocks noChangeArrowheads="1"/>
            </p:cNvSpPr>
            <p:nvPr/>
          </p:nvSpPr>
          <p:spPr bwMode="auto">
            <a:xfrm>
              <a:off x="2014539" y="3638048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21" name="Text Box 43"/>
            <p:cNvSpPr txBox="1">
              <a:spLocks noChangeArrowheads="1"/>
            </p:cNvSpPr>
            <p:nvPr/>
          </p:nvSpPr>
          <p:spPr bwMode="auto">
            <a:xfrm>
              <a:off x="1622427" y="1683083"/>
              <a:ext cx="225062" cy="221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1542164" y="1715948"/>
            <a:ext cx="2824812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867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 </a:t>
            </a:r>
            <a:r>
              <a:rPr kumimoji="1" lang="zh-CN" altLang="en-US" sz="1867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的七层协议体系结构</a:t>
            </a: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4576791" y="1701131"/>
            <a:ext cx="3214598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kumimoji="1"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的四层协议体系结构</a:t>
            </a:r>
          </a:p>
        </p:txBody>
      </p:sp>
      <p:sp>
        <p:nvSpPr>
          <p:cNvPr id="33" name="Text Box 95"/>
          <p:cNvSpPr txBox="1">
            <a:spLocks noChangeArrowheads="1"/>
          </p:cNvSpPr>
          <p:nvPr/>
        </p:nvSpPr>
        <p:spPr bwMode="auto">
          <a:xfrm>
            <a:off x="2657422" y="5233848"/>
            <a:ext cx="4635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</p:txBody>
      </p:sp>
      <p:sp>
        <p:nvSpPr>
          <p:cNvPr id="34" name="Text Box 96"/>
          <p:cNvSpPr txBox="1">
            <a:spLocks noChangeArrowheads="1"/>
          </p:cNvSpPr>
          <p:nvPr/>
        </p:nvSpPr>
        <p:spPr bwMode="auto">
          <a:xfrm>
            <a:off x="5770922" y="5233848"/>
            <a:ext cx="4812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</p:txBody>
      </p:sp>
      <p:sp>
        <p:nvSpPr>
          <p:cNvPr id="35" name="Text Box 97"/>
          <p:cNvSpPr txBox="1">
            <a:spLocks noChangeArrowheads="1"/>
          </p:cNvSpPr>
          <p:nvPr/>
        </p:nvSpPr>
        <p:spPr bwMode="auto">
          <a:xfrm>
            <a:off x="8874627" y="5244543"/>
            <a:ext cx="4507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</a:p>
        </p:txBody>
      </p:sp>
      <p:sp>
        <p:nvSpPr>
          <p:cNvPr id="47" name="Text Box 113"/>
          <p:cNvSpPr txBox="1">
            <a:spLocks noChangeArrowheads="1"/>
          </p:cNvSpPr>
          <p:nvPr/>
        </p:nvSpPr>
        <p:spPr bwMode="auto">
          <a:xfrm>
            <a:off x="7928477" y="1694781"/>
            <a:ext cx="2334293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86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五层协议的体系结构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4771631" y="2122349"/>
            <a:ext cx="2633191" cy="3117849"/>
            <a:chOff x="3578724" y="1591761"/>
            <a:chExt cx="1974894" cy="2338387"/>
          </a:xfrm>
        </p:grpSpPr>
        <p:sp>
          <p:nvSpPr>
            <p:cNvPr id="23" name="AutoShape 66"/>
            <p:cNvSpPr>
              <a:spLocks noChangeArrowheads="1"/>
            </p:cNvSpPr>
            <p:nvPr/>
          </p:nvSpPr>
          <p:spPr bwMode="auto">
            <a:xfrm>
              <a:off x="3647070" y="1591761"/>
              <a:ext cx="1889125" cy="2338387"/>
            </a:xfrm>
            <a:prstGeom prst="cube">
              <a:avLst>
                <a:gd name="adj" fmla="val 9144"/>
              </a:avLst>
            </a:prstGeom>
            <a:solidFill>
              <a:srgbClr val="7CE07C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69"/>
            <p:cNvSpPr/>
            <p:nvPr/>
          </p:nvSpPr>
          <p:spPr bwMode="auto">
            <a:xfrm>
              <a:off x="3642309" y="2488698"/>
              <a:ext cx="1911309" cy="200366"/>
            </a:xfrm>
            <a:custGeom>
              <a:avLst/>
              <a:gdLst>
                <a:gd name="T0" fmla="*/ 2147483647 w 1684"/>
                <a:gd name="T1" fmla="*/ 0 h 176"/>
                <a:gd name="T2" fmla="*/ 2147483647 w 1684"/>
                <a:gd name="T3" fmla="*/ 2147483647 h 176"/>
                <a:gd name="T4" fmla="*/ 0 w 1684"/>
                <a:gd name="T5" fmla="*/ 2147483647 h 176"/>
                <a:gd name="T6" fmla="*/ 0 60000 65536"/>
                <a:gd name="T7" fmla="*/ 0 60000 65536"/>
                <a:gd name="T8" fmla="*/ 0 60000 65536"/>
                <a:gd name="T9" fmla="*/ 0 w 1684"/>
                <a:gd name="T10" fmla="*/ 0 h 176"/>
                <a:gd name="T11" fmla="*/ 1684 w 1684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4" h="176">
                  <a:moveTo>
                    <a:pt x="1684" y="0"/>
                  </a:moveTo>
                  <a:lnTo>
                    <a:pt x="1528" y="172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" name="Freeform 70"/>
            <p:cNvSpPr/>
            <p:nvPr/>
          </p:nvSpPr>
          <p:spPr bwMode="auto">
            <a:xfrm>
              <a:off x="3642309" y="2790240"/>
              <a:ext cx="1907824" cy="212561"/>
            </a:xfrm>
            <a:custGeom>
              <a:avLst/>
              <a:gdLst>
                <a:gd name="T0" fmla="*/ 2147483647 w 1679"/>
                <a:gd name="T1" fmla="*/ 0 h 186"/>
                <a:gd name="T2" fmla="*/ 2147483647 w 1679"/>
                <a:gd name="T3" fmla="*/ 2147483647 h 186"/>
                <a:gd name="T4" fmla="*/ 0 w 1679"/>
                <a:gd name="T5" fmla="*/ 2147483647 h 186"/>
                <a:gd name="T6" fmla="*/ 0 60000 65536"/>
                <a:gd name="T7" fmla="*/ 0 60000 65536"/>
                <a:gd name="T8" fmla="*/ 0 60000 65536"/>
                <a:gd name="T9" fmla="*/ 0 w 1679"/>
                <a:gd name="T10" fmla="*/ 0 h 186"/>
                <a:gd name="T11" fmla="*/ 1679 w 1679"/>
                <a:gd name="T12" fmla="*/ 186 h 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9" h="186">
                  <a:moveTo>
                    <a:pt x="1679" y="0"/>
                  </a:moveTo>
                  <a:lnTo>
                    <a:pt x="1525" y="186"/>
                  </a:lnTo>
                  <a:lnTo>
                    <a:pt x="0" y="183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6" name="Freeform 71"/>
            <p:cNvSpPr/>
            <p:nvPr/>
          </p:nvSpPr>
          <p:spPr bwMode="auto">
            <a:xfrm>
              <a:off x="3642309" y="3122027"/>
              <a:ext cx="1893886" cy="184684"/>
            </a:xfrm>
            <a:custGeom>
              <a:avLst/>
              <a:gdLst>
                <a:gd name="T0" fmla="*/ 2147483647 w 1668"/>
                <a:gd name="T1" fmla="*/ 0 h 162"/>
                <a:gd name="T2" fmla="*/ 2147483647 w 1668"/>
                <a:gd name="T3" fmla="*/ 2147483647 h 162"/>
                <a:gd name="T4" fmla="*/ 0 w 1668"/>
                <a:gd name="T5" fmla="*/ 2147483647 h 162"/>
                <a:gd name="T6" fmla="*/ 0 60000 65536"/>
                <a:gd name="T7" fmla="*/ 0 60000 65536"/>
                <a:gd name="T8" fmla="*/ 0 60000 65536"/>
                <a:gd name="T9" fmla="*/ 0 w 1668"/>
                <a:gd name="T10" fmla="*/ 0 h 162"/>
                <a:gd name="T11" fmla="*/ 1668 w 1668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8" h="162">
                  <a:moveTo>
                    <a:pt x="1668" y="0"/>
                  </a:moveTo>
                  <a:lnTo>
                    <a:pt x="1527" y="160"/>
                  </a:lnTo>
                  <a:lnTo>
                    <a:pt x="0" y="16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7" name="Text Box 73"/>
            <p:cNvSpPr txBox="1">
              <a:spLocks noChangeArrowheads="1"/>
            </p:cNvSpPr>
            <p:nvPr/>
          </p:nvSpPr>
          <p:spPr bwMode="auto">
            <a:xfrm>
              <a:off x="3647071" y="1844173"/>
              <a:ext cx="1687178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28" name="Text Box 15"/>
            <p:cNvSpPr txBox="1">
              <a:spLocks noChangeArrowheads="1"/>
            </p:cNvSpPr>
            <p:nvPr/>
          </p:nvSpPr>
          <p:spPr bwMode="auto">
            <a:xfrm>
              <a:off x="3642308" y="3374523"/>
              <a:ext cx="1635125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网络接口层</a:t>
              </a:r>
            </a:p>
          </p:txBody>
        </p: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3642309" y="3009398"/>
              <a:ext cx="169194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  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网际层 </a:t>
              </a: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  <p:sp>
          <p:nvSpPr>
            <p:cNvPr id="30" name="Text Box 16"/>
            <p:cNvSpPr txBox="1">
              <a:spLocks noChangeArrowheads="1"/>
            </p:cNvSpPr>
            <p:nvPr/>
          </p:nvSpPr>
          <p:spPr bwMode="auto">
            <a:xfrm>
              <a:off x="3693324" y="2104523"/>
              <a:ext cx="1631600" cy="407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各种应用层协议，如</a:t>
              </a:r>
            </a:p>
            <a:p>
              <a:pPr algn="ctr"/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DNS, HTTP, SMTP </a:t>
              </a:r>
              <a:r>
                <a:rPr kumimoji="1" lang="zh-CN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31" name="Text Box 41"/>
            <p:cNvSpPr txBox="1">
              <a:spLocks noChangeArrowheads="1"/>
            </p:cNvSpPr>
            <p:nvPr/>
          </p:nvSpPr>
          <p:spPr bwMode="auto">
            <a:xfrm>
              <a:off x="3656395" y="2709361"/>
              <a:ext cx="1734369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 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 </a:t>
              </a: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(TCP 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 </a:t>
              </a: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UDP)</a:t>
              </a: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3578724" y="3609473"/>
              <a:ext cx="1826462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（这一层并没有具体内容）</a:t>
              </a:r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7112332" y="4391637"/>
            <a:ext cx="1252957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12332" y="5229948"/>
            <a:ext cx="1252957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8290429" y="2164793"/>
            <a:ext cx="1788583" cy="3067051"/>
            <a:chOff x="6217820" y="1623594"/>
            <a:chExt cx="1341437" cy="2300288"/>
          </a:xfrm>
        </p:grpSpPr>
        <p:sp>
          <p:nvSpPr>
            <p:cNvPr id="36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8" name="Freeform 102"/>
            <p:cNvSpPr/>
            <p:nvPr/>
          </p:nvSpPr>
          <p:spPr bwMode="auto">
            <a:xfrm>
              <a:off x="6220995" y="281747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9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0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1" name="Text Box 106"/>
            <p:cNvSpPr txBox="1">
              <a:spLocks noChangeArrowheads="1"/>
            </p:cNvSpPr>
            <p:nvPr/>
          </p:nvSpPr>
          <p:spPr bwMode="auto">
            <a:xfrm>
              <a:off x="6667082" y="2698332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42" name="Text Box 107"/>
            <p:cNvSpPr txBox="1">
              <a:spLocks noChangeArrowheads="1"/>
            </p:cNvSpPr>
            <p:nvPr/>
          </p:nvSpPr>
          <p:spPr bwMode="auto">
            <a:xfrm>
              <a:off x="6675020" y="3023769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43" name="Text Box 108"/>
            <p:cNvSpPr txBox="1">
              <a:spLocks noChangeArrowheads="1"/>
            </p:cNvSpPr>
            <p:nvPr/>
          </p:nvSpPr>
          <p:spPr bwMode="auto">
            <a:xfrm>
              <a:off x="6675020" y="2020469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44" name="Text Box 110"/>
            <p:cNvSpPr txBox="1">
              <a:spLocks noChangeArrowheads="1"/>
            </p:cNvSpPr>
            <p:nvPr/>
          </p:nvSpPr>
          <p:spPr bwMode="auto">
            <a:xfrm>
              <a:off x="6571832" y="3319044"/>
              <a:ext cx="841817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45" name="Text Box 111"/>
            <p:cNvSpPr txBox="1">
              <a:spLocks noChangeArrowheads="1"/>
            </p:cNvSpPr>
            <p:nvPr/>
          </p:nvSpPr>
          <p:spPr bwMode="auto">
            <a:xfrm>
              <a:off x="6675020" y="3633369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46" name="Text Box 112"/>
            <p:cNvSpPr txBox="1">
              <a:spLocks noChangeArrowheads="1"/>
            </p:cNvSpPr>
            <p:nvPr/>
          </p:nvSpPr>
          <p:spPr bwMode="auto">
            <a:xfrm>
              <a:off x="6282907" y="1629944"/>
              <a:ext cx="225061" cy="2274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90000"/>
                </a:lnSpc>
              </a:pPr>
              <a:endParaRPr kumimoji="1" lang="en-US" altLang="zh-CN" sz="146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90000"/>
                </a:lnSpc>
              </a:pPr>
              <a:endParaRPr kumimoji="1" lang="en-US" altLang="zh-CN" sz="146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ACE471-8A5E-A805-A0F2-3708A9ED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C6F68B-123B-BF4B-5D19-6DC566F2F6CA}"/>
              </a:ext>
            </a:extLst>
          </p:cNvPr>
          <p:cNvSpPr/>
          <p:nvPr/>
        </p:nvSpPr>
        <p:spPr>
          <a:xfrm>
            <a:off x="4841797" y="4306720"/>
            <a:ext cx="5410084" cy="1018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8CD2548-120A-05DA-DD7C-6C74A66F090A}"/>
              </a:ext>
            </a:extLst>
          </p:cNvPr>
          <p:cNvSpPr/>
          <p:nvPr/>
        </p:nvSpPr>
        <p:spPr>
          <a:xfrm>
            <a:off x="1957534" y="2304146"/>
            <a:ext cx="5410084" cy="1303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9038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673430" y="1560577"/>
            <a:ext cx="10845141" cy="42671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grpSp>
        <p:nvGrpSpPr>
          <p:cNvPr id="55" name="组合 54"/>
          <p:cNvGrpSpPr/>
          <p:nvPr/>
        </p:nvGrpSpPr>
        <p:grpSpPr>
          <a:xfrm>
            <a:off x="1317464" y="1903666"/>
            <a:ext cx="2318751" cy="3601251"/>
            <a:chOff x="6217820" y="1623594"/>
            <a:chExt cx="1341437" cy="2313863"/>
          </a:xfrm>
        </p:grpSpPr>
        <p:sp>
          <p:nvSpPr>
            <p:cNvPr id="56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133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133">
                <a:solidFill>
                  <a:schemeClr val="bg1"/>
                </a:solidFill>
              </a:endParaRPr>
            </a:p>
          </p:txBody>
        </p:sp>
        <p:sp>
          <p:nvSpPr>
            <p:cNvPr id="58" name="Freeform 102"/>
            <p:cNvSpPr/>
            <p:nvPr/>
          </p:nvSpPr>
          <p:spPr bwMode="auto">
            <a:xfrm>
              <a:off x="6220995" y="281632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133">
                <a:solidFill>
                  <a:schemeClr val="bg1"/>
                </a:solidFill>
              </a:endParaRPr>
            </a:p>
          </p:txBody>
        </p:sp>
        <p:sp>
          <p:nvSpPr>
            <p:cNvPr id="59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133">
                <a:solidFill>
                  <a:schemeClr val="bg1"/>
                </a:solidFill>
              </a:endParaRPr>
            </a:p>
          </p:txBody>
        </p:sp>
        <p:sp>
          <p:nvSpPr>
            <p:cNvPr id="60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133">
                <a:solidFill>
                  <a:schemeClr val="bg1"/>
                </a:solidFill>
              </a:endParaRPr>
            </a:p>
          </p:txBody>
        </p:sp>
        <p:sp>
          <p:nvSpPr>
            <p:cNvPr id="61" name="Text Box 106"/>
            <p:cNvSpPr txBox="1">
              <a:spLocks noChangeArrowheads="1"/>
            </p:cNvSpPr>
            <p:nvPr/>
          </p:nvSpPr>
          <p:spPr bwMode="auto">
            <a:xfrm>
              <a:off x="6592838" y="2698332"/>
              <a:ext cx="582571" cy="270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133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62" name="Text Box 107"/>
            <p:cNvSpPr txBox="1">
              <a:spLocks noChangeArrowheads="1"/>
            </p:cNvSpPr>
            <p:nvPr/>
          </p:nvSpPr>
          <p:spPr bwMode="auto">
            <a:xfrm>
              <a:off x="6600776" y="3023769"/>
              <a:ext cx="582571" cy="270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133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3" name="Text Box 108"/>
            <p:cNvSpPr txBox="1">
              <a:spLocks noChangeArrowheads="1"/>
            </p:cNvSpPr>
            <p:nvPr/>
          </p:nvSpPr>
          <p:spPr bwMode="auto">
            <a:xfrm>
              <a:off x="6600776" y="2020469"/>
              <a:ext cx="582571" cy="270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133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64" name="Text Box 110"/>
            <p:cNvSpPr txBox="1">
              <a:spLocks noChangeArrowheads="1"/>
            </p:cNvSpPr>
            <p:nvPr/>
          </p:nvSpPr>
          <p:spPr bwMode="auto">
            <a:xfrm>
              <a:off x="6497588" y="3319044"/>
              <a:ext cx="899729" cy="270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133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5" name="Text Box 111"/>
            <p:cNvSpPr txBox="1">
              <a:spLocks noChangeArrowheads="1"/>
            </p:cNvSpPr>
            <p:nvPr/>
          </p:nvSpPr>
          <p:spPr bwMode="auto">
            <a:xfrm>
              <a:off x="6600776" y="3633369"/>
              <a:ext cx="582571" cy="270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133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6" name="Text Box 112"/>
            <p:cNvSpPr txBox="1">
              <a:spLocks noChangeArrowheads="1"/>
            </p:cNvSpPr>
            <p:nvPr/>
          </p:nvSpPr>
          <p:spPr bwMode="auto">
            <a:xfrm>
              <a:off x="6239598" y="1629944"/>
              <a:ext cx="204206" cy="2307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5000"/>
                </a:lnSpc>
              </a:pPr>
              <a:endParaRPr kumimoji="1" lang="en-US" altLang="zh-CN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2133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55000"/>
                </a:lnSpc>
              </a:pPr>
              <a:endParaRPr kumimoji="1" lang="en-US" altLang="zh-CN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2133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2133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2133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2133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10" name="线形标注 1 9"/>
          <p:cNvSpPr/>
          <p:nvPr/>
        </p:nvSpPr>
        <p:spPr>
          <a:xfrm>
            <a:off x="4317891" y="1913549"/>
            <a:ext cx="6772551" cy="3569497"/>
          </a:xfrm>
          <a:prstGeom prst="borderCallout1">
            <a:avLst>
              <a:gd name="adj1" fmla="val 48217"/>
              <a:gd name="adj2" fmla="val 189"/>
              <a:gd name="adj3" fmla="val 92748"/>
              <a:gd name="adj4" fmla="val -18474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380990" indent="-380990">
              <a:lnSpc>
                <a:spcPts val="3733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）的传输。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0990" indent="-380990">
              <a:lnSpc>
                <a:spcPts val="3733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确定连接电缆的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插头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应当有多少根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引脚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，以及各引脚应如何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0990" indent="-380990">
              <a:lnSpc>
                <a:spcPts val="3733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传递信息所利用的一些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物理媒体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，如双绞线、同轴电缆、光缆、无线信道等，并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不在物理层协议之内，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而是在物理层协议的下面。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各层的主要功能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842246B-A9C1-4FB4-7376-DB7B859B6C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37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主要任务：确定与传输媒体的</a:t>
            </a:r>
            <a:r>
              <a:rPr lang="zh-CN" altLang="en-US" dirty="0">
                <a:solidFill>
                  <a:srgbClr val="C00000"/>
                </a:solidFill>
              </a:rPr>
              <a:t>接口</a:t>
            </a:r>
            <a:r>
              <a:rPr lang="zh-CN" altLang="en-US" dirty="0"/>
              <a:t>的一些特性。</a:t>
            </a:r>
            <a:r>
              <a:rPr lang="en-US" altLang="zh-CN" dirty="0"/>
              <a:t>4 </a:t>
            </a:r>
            <a:r>
              <a:rPr lang="zh-CN" altLang="en-US" dirty="0"/>
              <a:t>个特性：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机械特性：</a:t>
            </a:r>
            <a:r>
              <a:rPr lang="zh-CN" altLang="en-US" dirty="0"/>
              <a:t>指明接口所用接线器的形状和尺寸、引线数目和排列、固定和锁定装置等。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电气特性：</a:t>
            </a:r>
            <a:r>
              <a:rPr lang="zh-CN" altLang="en-US" dirty="0"/>
              <a:t>指明在接口电缆的各条线上出现的电压的范围、传输速率等。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功能特性：</a:t>
            </a:r>
            <a:r>
              <a:rPr lang="zh-CN" altLang="en-US" dirty="0"/>
              <a:t>指明某条线上出现的某一电平的电压的意义。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过程特性：</a:t>
            </a:r>
            <a:r>
              <a:rPr lang="zh-CN" altLang="en-US" dirty="0"/>
              <a:t>指明对于不同功能的各种可能事件的出现顺序。 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物理层的主要任务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ECC6B0-8FC6-E7BD-D36D-1B1082038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82" y="4748676"/>
            <a:ext cx="1927553" cy="12969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E9CC97C-2F26-6626-D2CF-8579CDB82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724" y="4748676"/>
            <a:ext cx="2038083" cy="129696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789E01A-4316-BD95-36E5-57B5A7532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449" y="4748674"/>
            <a:ext cx="2011495" cy="1296961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9D15CD-5F7B-D2A6-6EA0-72381F6902A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854324" y="4793456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57E638-60E9-4408-A97F-694118E22470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21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最重要的一个性能指标。</a:t>
            </a:r>
            <a:endParaRPr lang="en-US" altLang="zh-CN" dirty="0"/>
          </a:p>
          <a:p>
            <a:r>
              <a:rPr lang="zh-CN" altLang="en-US" dirty="0"/>
              <a:t>指的是</a:t>
            </a:r>
            <a:r>
              <a:rPr lang="zh-CN" altLang="en-US" dirty="0">
                <a:solidFill>
                  <a:srgbClr val="C00000"/>
                </a:solidFill>
              </a:rPr>
              <a:t>数据的传送速率，</a:t>
            </a:r>
            <a:r>
              <a:rPr lang="zh-CN" altLang="en-US" dirty="0"/>
              <a:t>也称为</a:t>
            </a:r>
            <a:r>
              <a:rPr lang="zh-CN" altLang="en-US" dirty="0">
                <a:solidFill>
                  <a:srgbClr val="C00000"/>
                </a:solidFill>
              </a:rPr>
              <a:t>数据率</a:t>
            </a:r>
            <a:r>
              <a:rPr lang="zh-CN" altLang="en-US" dirty="0"/>
              <a:t> </a:t>
            </a:r>
            <a:r>
              <a:rPr lang="en-US" altLang="zh-CN" dirty="0"/>
              <a:t>(data rate) 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比特率</a:t>
            </a:r>
            <a:r>
              <a:rPr lang="zh-CN" altLang="en-US" dirty="0"/>
              <a:t> </a:t>
            </a:r>
            <a:r>
              <a:rPr lang="en-US" altLang="zh-CN" dirty="0"/>
              <a:t>(bit rate)</a:t>
            </a:r>
            <a:r>
              <a:rPr lang="zh-CN" altLang="en-US" dirty="0"/>
              <a:t>，指理想状态下，一定时间内网络信道能通过的最大数据量。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单位：</a:t>
            </a:r>
            <a:r>
              <a:rPr lang="en-US" altLang="zh-CN" dirty="0"/>
              <a:t>bit/s</a:t>
            </a:r>
            <a:r>
              <a:rPr lang="zh-CN" altLang="en-US" dirty="0"/>
              <a:t>，或 </a:t>
            </a:r>
            <a:r>
              <a:rPr lang="en-US" altLang="zh-CN" dirty="0" err="1"/>
              <a:t>kbit</a:t>
            </a:r>
            <a:r>
              <a:rPr lang="en-US" altLang="zh-CN" dirty="0"/>
              <a:t>/s</a:t>
            </a:r>
            <a:r>
              <a:rPr lang="zh-CN" altLang="en-US" dirty="0"/>
              <a:t>、</a:t>
            </a:r>
            <a:r>
              <a:rPr lang="en-US" altLang="zh-CN" dirty="0"/>
              <a:t>Mbit/s</a:t>
            </a:r>
            <a:r>
              <a:rPr lang="zh-CN" altLang="en-US" dirty="0"/>
              <a:t>、 </a:t>
            </a:r>
            <a:r>
              <a:rPr lang="en-US" altLang="zh-CN" dirty="0" err="1"/>
              <a:t>Gbit</a:t>
            </a:r>
            <a:r>
              <a:rPr lang="en-US" altLang="zh-CN" dirty="0"/>
              <a:t>/s </a:t>
            </a:r>
            <a:r>
              <a:rPr lang="zh-CN" altLang="en-US" dirty="0"/>
              <a:t>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例如 </a:t>
            </a:r>
            <a:r>
              <a:rPr lang="en-US" altLang="zh-CN" dirty="0"/>
              <a:t>4 </a:t>
            </a:r>
            <a:r>
              <a:rPr lang="en-US" altLang="zh-CN" dirty="0">
                <a:sym typeface="Symbol" pitchFamily="18" charset="2"/>
              </a:rPr>
              <a:t></a:t>
            </a:r>
            <a:r>
              <a:rPr lang="en-US" altLang="zh-CN" dirty="0"/>
              <a:t> 10</a:t>
            </a:r>
            <a:r>
              <a:rPr lang="en-US" altLang="zh-CN" baseline="30000" dirty="0"/>
              <a:t>10  </a:t>
            </a:r>
            <a:r>
              <a:rPr lang="en-US" altLang="zh-CN" dirty="0"/>
              <a:t>bit/s </a:t>
            </a:r>
            <a:r>
              <a:rPr lang="zh-CN" altLang="zh-CN" dirty="0"/>
              <a:t>的数据率就记为</a:t>
            </a:r>
            <a:r>
              <a:rPr lang="en-US" altLang="zh-CN" dirty="0"/>
              <a:t> 40 </a:t>
            </a:r>
            <a:r>
              <a:rPr lang="en-US" altLang="zh-CN" dirty="0" err="1"/>
              <a:t>Gbit</a:t>
            </a:r>
            <a:r>
              <a:rPr lang="en-US" altLang="zh-CN" dirty="0"/>
              <a:t>/s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速率往往是指</a:t>
            </a:r>
            <a:r>
              <a:rPr lang="zh-CN" altLang="en-US" dirty="0">
                <a:solidFill>
                  <a:srgbClr val="C00000"/>
                </a:solidFill>
              </a:rPr>
              <a:t>额定速率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标称速率，</a:t>
            </a:r>
            <a:r>
              <a:rPr lang="zh-CN" altLang="en-US" dirty="0"/>
              <a:t>非实际运行速率。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速率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23839" y="4511705"/>
            <a:ext cx="9637488" cy="114962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1224521" y="4571376"/>
            <a:ext cx="9362636" cy="942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67"/>
              </a:lnSpc>
            </a:pPr>
            <a:r>
              <a:rPr lang="zh-CN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千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en-US" altLang="zh-CN" sz="2133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1024</a:t>
            </a:r>
            <a:r>
              <a:rPr lang="zh-CN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，兆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en-US" altLang="zh-CN" sz="2133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1024 K</a:t>
            </a:r>
            <a:r>
              <a:rPr lang="zh-CN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，吉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en-US" altLang="zh-CN" sz="2133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1024 M</a:t>
            </a:r>
          </a:p>
          <a:p>
            <a:pPr>
              <a:lnSpc>
                <a:spcPts val="3467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(Byte) =  8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比特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(bit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52FA23-3764-D698-E5A0-9DEFA2B4A7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A21812-61C7-0855-FABC-A30052B658D7}"/>
              </a:ext>
            </a:extLst>
          </p:cNvPr>
          <p:cNvSpPr txBox="1"/>
          <p:nvPr/>
        </p:nvSpPr>
        <p:spPr>
          <a:xfrm>
            <a:off x="1224519" y="5849337"/>
            <a:ext cx="9362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1Kbit/s = 10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/>
              <a:t>bit/s           1Mbit/s = 10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400" dirty="0"/>
              <a:t>bit/s            1Gbit/s = 10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en-US" altLang="zh-CN" sz="2400" dirty="0"/>
              <a:t>bit/s           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775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80990" indent="-380990" eaLnBrk="0" hangingPunct="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实际上信道不是理想的</a:t>
            </a:r>
            <a:endParaRPr lang="en-US" altLang="zh-CN" dirty="0">
              <a:solidFill>
                <a:srgbClr val="0000FF"/>
              </a:solidFill>
            </a:endParaRPr>
          </a:p>
          <a:p>
            <a:pPr marL="380990" indent="-380990" eaLnBrk="0" hangingPunct="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噪声存在与所有电子设备和通信信道中</a:t>
            </a:r>
            <a:endParaRPr lang="en-US" altLang="zh-CN" dirty="0">
              <a:solidFill>
                <a:srgbClr val="0000FF"/>
              </a:solidFill>
            </a:endParaRPr>
          </a:p>
          <a:p>
            <a:pPr marL="380990" indent="-380990" eaLnBrk="0" hangingPunct="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信噪比</a:t>
            </a:r>
            <a:r>
              <a:rPr lang="zh-CN" altLang="en-US" dirty="0"/>
              <a:t>就是信号的平均</a:t>
            </a:r>
            <a:r>
              <a:rPr lang="zh-CN" altLang="en-US" dirty="0">
                <a:solidFill>
                  <a:srgbClr val="FF0000"/>
                </a:solidFill>
              </a:rPr>
              <a:t>功率</a:t>
            </a:r>
            <a:r>
              <a:rPr lang="zh-CN" altLang="en-US" dirty="0"/>
              <a:t>和噪声的平均</a:t>
            </a:r>
            <a:r>
              <a:rPr lang="zh-CN" altLang="en-US" dirty="0">
                <a:solidFill>
                  <a:srgbClr val="FF0000"/>
                </a:solidFill>
              </a:rPr>
              <a:t>功率</a:t>
            </a:r>
            <a:r>
              <a:rPr lang="zh-CN" altLang="en-US" dirty="0"/>
              <a:t>之比。常记为 </a:t>
            </a:r>
            <a:r>
              <a:rPr lang="en-US" altLang="zh-CN" i="1" dirty="0"/>
              <a:t>S/N</a:t>
            </a:r>
            <a:r>
              <a:rPr lang="zh-CN" altLang="en-US" dirty="0"/>
              <a:t>，并用分贝 </a:t>
            </a:r>
            <a:r>
              <a:rPr lang="en-US" altLang="zh-CN" dirty="0"/>
              <a:t>(dB) </a:t>
            </a:r>
            <a:r>
              <a:rPr lang="zh-CN" altLang="en-US" dirty="0"/>
              <a:t>作为度量单位。即：</a:t>
            </a:r>
            <a:endParaRPr lang="en-US" altLang="zh-CN" dirty="0"/>
          </a:p>
          <a:p>
            <a:pPr marL="380990" indent="-380990" eaLnBrk="0" hangingPunct="0">
              <a:buClr>
                <a:srgbClr val="0070C0"/>
              </a:buClr>
            </a:pPr>
            <a:endParaRPr lang="zh-CN" altLang="en-US" dirty="0"/>
          </a:p>
          <a:p>
            <a:pPr marL="380990" indent="-380990" eaLnBrk="0" hangingPunct="0">
              <a:buClr>
                <a:srgbClr val="0070C0"/>
              </a:buClr>
            </a:pPr>
            <a:endParaRPr lang="en-US" altLang="zh-CN" dirty="0"/>
          </a:p>
          <a:p>
            <a:pPr marL="380990" indent="-380990" eaLnBrk="0" hangingPunct="0">
              <a:buClr>
                <a:srgbClr val="0070C0"/>
              </a:buClr>
            </a:pPr>
            <a:r>
              <a:rPr lang="zh-CN" altLang="en-US" dirty="0"/>
              <a:t>例如：当 </a:t>
            </a:r>
            <a:r>
              <a:rPr lang="en-US" altLang="zh-CN" i="1" dirty="0"/>
              <a:t>S/N </a:t>
            </a:r>
            <a:r>
              <a:rPr lang="en-US" altLang="zh-CN" dirty="0"/>
              <a:t>=10 </a:t>
            </a:r>
            <a:r>
              <a:rPr lang="zh-CN" altLang="en-US" dirty="0"/>
              <a:t>时，信噪比为</a:t>
            </a:r>
            <a:r>
              <a:rPr lang="en-US" altLang="zh-CN" dirty="0"/>
              <a:t>10dB</a:t>
            </a:r>
            <a:r>
              <a:rPr lang="zh-CN" altLang="en-US" dirty="0"/>
              <a:t>，而当 </a:t>
            </a:r>
            <a:r>
              <a:rPr lang="en-US" altLang="zh-CN" i="1" dirty="0"/>
              <a:t>S/N </a:t>
            </a:r>
            <a:r>
              <a:rPr lang="en-US" altLang="zh-CN" dirty="0"/>
              <a:t>=1000 </a:t>
            </a:r>
            <a:r>
              <a:rPr lang="zh-CN" altLang="en-US" dirty="0"/>
              <a:t>时，信噪比为</a:t>
            </a:r>
            <a:r>
              <a:rPr lang="en-US" altLang="zh-CN" dirty="0"/>
              <a:t>30dB</a:t>
            </a:r>
            <a:r>
              <a:rPr lang="zh-CN" altLang="en-US" dirty="0"/>
              <a:t>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信噪比</a:t>
            </a:r>
          </a:p>
        </p:txBody>
      </p:sp>
      <p:sp>
        <p:nvSpPr>
          <p:cNvPr id="4" name="矩形 3"/>
          <p:cNvSpPr/>
          <p:nvPr/>
        </p:nvSpPr>
        <p:spPr>
          <a:xfrm>
            <a:off x="2090058" y="3535580"/>
            <a:ext cx="7500983" cy="584775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pt-BR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信噪比</a:t>
            </a:r>
            <a:r>
              <a:rPr lang="pt-BR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(dB) = 10 log</a:t>
            </a:r>
            <a:r>
              <a:rPr lang="pt-BR" altLang="zh-CN" sz="32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pt-BR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(S/N) (dB) </a:t>
            </a:r>
            <a:endParaRPr lang="zh-CN" altLang="en-US" sz="3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1AE312-4D81-38EC-D7CC-55E3C2303D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854324" y="4793456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57E638-60E9-4408-A97F-694118E22470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60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80990" indent="-380990" eaLnBrk="0" hangingPunct="0">
              <a:lnSpc>
                <a:spcPts val="4400"/>
              </a:lnSpc>
              <a:buClr>
                <a:srgbClr val="0070C0"/>
              </a:buClr>
            </a:pPr>
            <a:r>
              <a:rPr lang="zh-CN" altLang="en-US" dirty="0"/>
              <a:t>信道的</a:t>
            </a:r>
            <a:r>
              <a:rPr lang="zh-CN" altLang="en-US" dirty="0">
                <a:solidFill>
                  <a:srgbClr val="C00000"/>
                </a:solidFill>
              </a:rPr>
              <a:t>极限</a:t>
            </a:r>
            <a:r>
              <a:rPr lang="zh-CN" altLang="en-US" dirty="0"/>
              <a:t>信息传输速率 </a:t>
            </a:r>
            <a:r>
              <a:rPr lang="en-US" altLang="zh-CN" i="1" dirty="0"/>
              <a:t>C  </a:t>
            </a:r>
            <a:r>
              <a:rPr lang="zh-CN" altLang="en-US" dirty="0"/>
              <a:t>可表达为：</a:t>
            </a:r>
            <a:endParaRPr lang="en-US" altLang="zh-CN" dirty="0"/>
          </a:p>
          <a:p>
            <a:pPr marL="380990" indent="-380990" eaLnBrk="0" hangingPunct="0">
              <a:lnSpc>
                <a:spcPts val="4400"/>
              </a:lnSpc>
              <a:buClr>
                <a:srgbClr val="0070C0"/>
              </a:buClr>
            </a:pP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香农公式</a:t>
            </a:r>
          </a:p>
        </p:txBody>
      </p:sp>
      <p:sp>
        <p:nvSpPr>
          <p:cNvPr id="4" name="矩形 3"/>
          <p:cNvSpPr/>
          <p:nvPr/>
        </p:nvSpPr>
        <p:spPr>
          <a:xfrm>
            <a:off x="1297718" y="2104639"/>
            <a:ext cx="5735866" cy="58477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= W log</a:t>
            </a:r>
            <a:r>
              <a:rPr lang="en-US" altLang="zh-CN" sz="32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(1+S/N)  (bit/s) </a:t>
            </a:r>
          </a:p>
        </p:txBody>
      </p:sp>
      <p:sp>
        <p:nvSpPr>
          <p:cNvPr id="5" name="矩形 4"/>
          <p:cNvSpPr/>
          <p:nvPr/>
        </p:nvSpPr>
        <p:spPr>
          <a:xfrm>
            <a:off x="7296000" y="2046579"/>
            <a:ext cx="4840405" cy="169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endParaRPr lang="en-US" altLang="zh-CN" sz="213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信道的带宽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(Hz)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为信道内所传信号的平均功率；</a:t>
            </a:r>
            <a:endParaRPr lang="en-US" altLang="zh-CN" sz="213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为信道内部的高斯噪声功率。 </a:t>
            </a:r>
          </a:p>
        </p:txBody>
      </p:sp>
      <p:sp>
        <p:nvSpPr>
          <p:cNvPr id="6" name="对角圆角矩形 5"/>
          <p:cNvSpPr/>
          <p:nvPr/>
        </p:nvSpPr>
        <p:spPr>
          <a:xfrm>
            <a:off x="1064169" y="3908867"/>
            <a:ext cx="10094412" cy="2050499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3"/>
          </a:p>
        </p:txBody>
      </p:sp>
      <p:sp>
        <p:nvSpPr>
          <p:cNvPr id="7" name="矩形 6"/>
          <p:cNvSpPr/>
          <p:nvPr/>
        </p:nvSpPr>
        <p:spPr>
          <a:xfrm>
            <a:off x="1242423" y="3990855"/>
            <a:ext cx="9672317" cy="1848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3467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香农公式表明：信道的带宽或信道中的信噪比越大，则信息的极限传输速率就越高。 </a:t>
            </a:r>
          </a:p>
          <a:p>
            <a:pPr marL="380990" indent="-380990">
              <a:lnSpc>
                <a:spcPts val="3467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香农公式的意义在于：只要信息传输速率低于信道的极限信息传输速率，就一定可以找到某种办法来实现无差错的传输。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C2267A3-D0A0-CB49-99E6-57AB46E4753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854324" y="4793456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57E638-60E9-4408-A97F-694118E22470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037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具体的信道所能通过的频率范围总是有限的。信号中的许多高频分量往往不能通过信道。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码间串扰：</a:t>
            </a:r>
            <a:r>
              <a:rPr lang="zh-CN" altLang="en-US" dirty="0"/>
              <a:t>接收端收到的信号波形</a:t>
            </a:r>
            <a:r>
              <a:rPr lang="zh-CN" altLang="en-US" dirty="0">
                <a:solidFill>
                  <a:srgbClr val="C00000"/>
                </a:solidFill>
              </a:rPr>
              <a:t>失去</a:t>
            </a:r>
            <a:r>
              <a:rPr lang="zh-CN" altLang="en-US" dirty="0"/>
              <a:t>了码元之间的清晰界限。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信道能够通过的频率范围</a:t>
            </a:r>
          </a:p>
        </p:txBody>
      </p:sp>
      <p:sp>
        <p:nvSpPr>
          <p:cNvPr id="6" name="矩形 5"/>
          <p:cNvSpPr/>
          <p:nvPr/>
        </p:nvSpPr>
        <p:spPr>
          <a:xfrm>
            <a:off x="3499510" y="3075426"/>
            <a:ext cx="7497565" cy="58477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码元传输的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 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32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2W 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（码元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秒）</a:t>
            </a:r>
            <a:endParaRPr lang="en-US" altLang="zh-CN" sz="3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对角圆角矩形 6"/>
          <p:cNvSpPr/>
          <p:nvPr/>
        </p:nvSpPr>
        <p:spPr>
          <a:xfrm>
            <a:off x="1215110" y="3928902"/>
            <a:ext cx="9842452" cy="162008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3"/>
          </a:p>
        </p:txBody>
      </p:sp>
      <p:sp>
        <p:nvSpPr>
          <p:cNvPr id="8" name="矩形 7"/>
          <p:cNvSpPr/>
          <p:nvPr/>
        </p:nvSpPr>
        <p:spPr>
          <a:xfrm>
            <a:off x="1393364" y="4010890"/>
            <a:ext cx="9482249" cy="139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467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在带宽为 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 (Hz)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的低通信道中，若不考虑噪声影响，则码元传输的最高速率是 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2W (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码元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秒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。传输速率超过此上限，就会出现严重的码间串扰的问题，使接收端对码元的判决（即识别）成为</a:t>
            </a:r>
            <a:r>
              <a:rPr lang="zh-CN" altLang="en-US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不可能。</a:t>
            </a:r>
          </a:p>
        </p:txBody>
      </p:sp>
      <p:sp>
        <p:nvSpPr>
          <p:cNvPr id="9" name="矩形 8"/>
          <p:cNvSpPr/>
          <p:nvPr/>
        </p:nvSpPr>
        <p:spPr>
          <a:xfrm>
            <a:off x="1215110" y="3075426"/>
            <a:ext cx="2236510" cy="58477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奈氏准则：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A27788-F129-C34D-1B7F-8089D0A486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854324" y="4793456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57E638-60E9-4408-A97F-694118E22470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38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2"/>
          <p:cNvGraphicFramePr/>
          <p:nvPr/>
        </p:nvGraphicFramePr>
        <p:xfrm>
          <a:off x="674487" y="1443026"/>
          <a:ext cx="10845142" cy="3680885"/>
        </p:xfrm>
        <a:graphic>
          <a:graphicData uri="http://schemas.openxmlformats.org/drawingml/2006/table">
            <a:tbl>
              <a:tblPr firstRow="1" firstCol="1" bandRow="1" bandCol="1">
                <a:tableStyleId>{93296810-A885-4BE3-A3E7-6D5BEEA58F35}</a:tableStyleId>
              </a:tblPr>
              <a:tblGrid>
                <a:gridCol w="1356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8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优点</a:t>
                      </a:r>
                      <a:endParaRPr kumimoji="0" 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43996" marR="143996" marT="96033" marB="960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所采用的手段</a:t>
                      </a:r>
                      <a:endParaRPr kumimoji="0" 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9997" marR="119997" marT="62421" marB="624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高效</a:t>
                      </a:r>
                      <a:endParaRPr kumimoji="0" 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9997" marR="119997" marT="62421" marB="624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在分组传输的过程中</a:t>
                      </a: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动态分配</a:t>
                      </a: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传输带宽，对通信链路是</a:t>
                      </a: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逐段</a:t>
                      </a: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占用</a:t>
                      </a:r>
                      <a:r>
                        <a:rPr kumimoji="0" lang="zh-CN" altLang="en-US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kumimoji="0" 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9997" marR="119997" marT="62421" marB="624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50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灵活</a:t>
                      </a:r>
                      <a:endParaRPr kumimoji="0" 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9997" marR="119997" marT="62421" marB="624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为每一个分组</a:t>
                      </a: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独立</a:t>
                      </a: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地选择最合适的转发路由</a:t>
                      </a:r>
                      <a:r>
                        <a:rPr kumimoji="0" lang="zh-CN" altLang="en-US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kumimoji="0" 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9997" marR="119997" marT="62421" marB="624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9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迅速</a:t>
                      </a:r>
                      <a:endParaRPr kumimoji="0" 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9997" marR="119997" marT="62421" marB="624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以分组作为传送单位，可以</a:t>
                      </a: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不先建立连接</a:t>
                      </a: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就能向其他主机发送分组</a:t>
                      </a:r>
                      <a:r>
                        <a:rPr kumimoji="0" lang="zh-CN" altLang="en-US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kumimoji="0" 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9997" marR="119997" marT="62421" marB="624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05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可靠</a:t>
                      </a:r>
                      <a:endParaRPr kumimoji="0" 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9997" marR="119997" marT="62421" marB="624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保证可靠性的网络协议；分布式多路由的分组交换网，使网络有很好的生存性</a:t>
                      </a:r>
                      <a:r>
                        <a:rPr kumimoji="0" lang="zh-CN" altLang="en-US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kumimoji="0" 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9997" marR="119997" marT="62421" marB="624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分组交换的优点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B11A41-7F47-F0A7-B3BD-815FD64C2B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131811-56CA-4D5A-B5FC-AB4293B642E7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4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5302</TotalTime>
  <Words>3712</Words>
  <Application>Microsoft Office PowerPoint</Application>
  <PresentationFormat>宽屏</PresentationFormat>
  <Paragraphs>585</Paragraphs>
  <Slides>43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等线</vt:lpstr>
      <vt:lpstr>等线 Light</vt:lpstr>
      <vt:lpstr>黑体</vt:lpstr>
      <vt:lpstr>宋体</vt:lpstr>
      <vt:lpstr>微软雅黑</vt:lpstr>
      <vt:lpstr>Arial</vt:lpstr>
      <vt:lpstr>Arial Rounded MT Bold</vt:lpstr>
      <vt:lpstr>Symbol</vt:lpstr>
      <vt:lpstr>Times New Roman</vt:lpstr>
      <vt:lpstr>Wingdings</vt:lpstr>
      <vt:lpstr>Office 主题​​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pai peng</dc:creator>
  <cp:lastModifiedBy>pai peng</cp:lastModifiedBy>
  <cp:revision>4</cp:revision>
  <dcterms:created xsi:type="dcterms:W3CDTF">2025-05-21T11:44:08Z</dcterms:created>
  <dcterms:modified xsi:type="dcterms:W3CDTF">2025-06-12T15:37:20Z</dcterms:modified>
</cp:coreProperties>
</file>