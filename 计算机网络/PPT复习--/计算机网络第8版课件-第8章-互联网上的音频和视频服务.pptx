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0"/>
  </p:notesMasterIdLst>
  <p:sldIdLst>
    <p:sldId id="257" r:id="rId2"/>
    <p:sldId id="504" r:id="rId3"/>
    <p:sldId id="258" r:id="rId4"/>
    <p:sldId id="259" r:id="rId5"/>
    <p:sldId id="510" r:id="rId6"/>
    <p:sldId id="511" r:id="rId7"/>
    <p:sldId id="414" r:id="rId8"/>
    <p:sldId id="417" r:id="rId9"/>
    <p:sldId id="261" r:id="rId10"/>
    <p:sldId id="420" r:id="rId11"/>
    <p:sldId id="418" r:id="rId12"/>
    <p:sldId id="423" r:id="rId13"/>
    <p:sldId id="421" r:id="rId14"/>
    <p:sldId id="426" r:id="rId15"/>
    <p:sldId id="425" r:id="rId16"/>
    <p:sldId id="432" r:id="rId17"/>
    <p:sldId id="431" r:id="rId18"/>
    <p:sldId id="525" r:id="rId19"/>
    <p:sldId id="429" r:id="rId20"/>
    <p:sldId id="428" r:id="rId21"/>
    <p:sldId id="436" r:id="rId22"/>
    <p:sldId id="610" r:id="rId23"/>
    <p:sldId id="434" r:id="rId24"/>
    <p:sldId id="433" r:id="rId25"/>
    <p:sldId id="617" r:id="rId26"/>
    <p:sldId id="440" r:id="rId27"/>
    <p:sldId id="439" r:id="rId28"/>
    <p:sldId id="438" r:id="rId29"/>
    <p:sldId id="437" r:id="rId30"/>
    <p:sldId id="443" r:id="rId31"/>
    <p:sldId id="442" r:id="rId32"/>
    <p:sldId id="441" r:id="rId33"/>
    <p:sldId id="532" r:id="rId34"/>
    <p:sldId id="445" r:id="rId35"/>
    <p:sldId id="444" r:id="rId36"/>
    <p:sldId id="448" r:id="rId37"/>
    <p:sldId id="449" r:id="rId38"/>
    <p:sldId id="618" r:id="rId39"/>
    <p:sldId id="447" r:id="rId40"/>
    <p:sldId id="619" r:id="rId41"/>
    <p:sldId id="620" r:id="rId42"/>
    <p:sldId id="621" r:id="rId43"/>
    <p:sldId id="622" r:id="rId44"/>
    <p:sldId id="623" r:id="rId45"/>
    <p:sldId id="624" r:id="rId46"/>
    <p:sldId id="625" r:id="rId47"/>
    <p:sldId id="626" r:id="rId48"/>
    <p:sldId id="627" r:id="rId49"/>
    <p:sldId id="628" r:id="rId50"/>
    <p:sldId id="451" r:id="rId51"/>
    <p:sldId id="554" r:id="rId52"/>
    <p:sldId id="452" r:id="rId53"/>
    <p:sldId id="457" r:id="rId54"/>
    <p:sldId id="456" r:id="rId55"/>
    <p:sldId id="612" r:id="rId56"/>
    <p:sldId id="616" r:id="rId57"/>
    <p:sldId id="614" r:id="rId58"/>
    <p:sldId id="629" r:id="rId59"/>
    <p:sldId id="462" r:id="rId60"/>
    <p:sldId id="461" r:id="rId61"/>
    <p:sldId id="460" r:id="rId62"/>
    <p:sldId id="459" r:id="rId63"/>
    <p:sldId id="458" r:id="rId64"/>
    <p:sldId id="565" r:id="rId65"/>
    <p:sldId id="468" r:id="rId66"/>
    <p:sldId id="467" r:id="rId67"/>
    <p:sldId id="566" r:id="rId68"/>
    <p:sldId id="567" r:id="rId69"/>
    <p:sldId id="630" r:id="rId70"/>
    <p:sldId id="631" r:id="rId71"/>
    <p:sldId id="632" r:id="rId72"/>
    <p:sldId id="633" r:id="rId73"/>
    <p:sldId id="634" r:id="rId74"/>
    <p:sldId id="635" r:id="rId75"/>
    <p:sldId id="573" r:id="rId76"/>
    <p:sldId id="636" r:id="rId77"/>
    <p:sldId id="574" r:id="rId78"/>
    <p:sldId id="575" r:id="rId79"/>
    <p:sldId id="576" r:id="rId80"/>
    <p:sldId id="637" r:id="rId81"/>
    <p:sldId id="578" r:id="rId82"/>
    <p:sldId id="579" r:id="rId83"/>
    <p:sldId id="580" r:id="rId84"/>
    <p:sldId id="581" r:id="rId85"/>
    <p:sldId id="582" r:id="rId86"/>
    <p:sldId id="583" r:id="rId87"/>
    <p:sldId id="638" r:id="rId88"/>
    <p:sldId id="639" r:id="rId89"/>
    <p:sldId id="586" r:id="rId90"/>
    <p:sldId id="587" r:id="rId91"/>
    <p:sldId id="588" r:id="rId92"/>
    <p:sldId id="589" r:id="rId93"/>
    <p:sldId id="590" r:id="rId94"/>
    <p:sldId id="641" r:id="rId95"/>
    <p:sldId id="642" r:id="rId96"/>
    <p:sldId id="591" r:id="rId97"/>
    <p:sldId id="593" r:id="rId98"/>
    <p:sldId id="643" r:id="rId99"/>
    <p:sldId id="594" r:id="rId100"/>
    <p:sldId id="595" r:id="rId101"/>
    <p:sldId id="596" r:id="rId102"/>
    <p:sldId id="597" r:id="rId103"/>
    <p:sldId id="598" r:id="rId104"/>
    <p:sldId id="599" r:id="rId105"/>
    <p:sldId id="645" r:id="rId106"/>
    <p:sldId id="601" r:id="rId107"/>
    <p:sldId id="602" r:id="rId108"/>
    <p:sldId id="604" r:id="rId109"/>
  </p:sldIdLst>
  <p:sldSz cx="9144000" cy="5143500" type="screen16x9"/>
  <p:notesSz cx="6858000" cy="9144000"/>
  <p:embeddedFontLst>
    <p:embeddedFont>
      <p:font typeface="微软雅黑" panose="020B0503020204020204" pitchFamily="34" charset="-122"/>
      <p:regular r:id="rId111"/>
      <p:bold r:id="rId11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CC"/>
    <a:srgbClr val="CC00CC"/>
    <a:srgbClr val="CC00FF"/>
    <a:srgbClr val="000066"/>
    <a:srgbClr val="FFFF99"/>
    <a:srgbClr val="00FFFF"/>
    <a:srgbClr val="99FFCC"/>
    <a:srgbClr val="FFCC66"/>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0" autoAdjust="0"/>
    <p:restoredTop sz="95026" autoAdjust="0"/>
  </p:normalViewPr>
  <p:slideViewPr>
    <p:cSldViewPr snapToGrid="0">
      <p:cViewPr varScale="1">
        <p:scale>
          <a:sx n="103" d="100"/>
          <a:sy n="103" d="100"/>
        </p:scale>
        <p:origin x="792"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2.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fntdata"/></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52BF93-D6EE-4740-AD78-25E3EC69E731}"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zh-CN" altLang="en-US"/>
        </a:p>
      </dgm:t>
    </dgm:pt>
    <dgm:pt modelId="{2D60C2BA-FA76-4EF7-B3D5-42C862287F9B}">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迅速转发 </a:t>
          </a:r>
          <a:r>
            <a:rPr lang="en-US" altLang="en-US" sz="1600" b="1" dirty="0">
              <a:latin typeface="微软雅黑" panose="020B0503020204020204" pitchFamily="34" charset="-122"/>
              <a:ea typeface="微软雅黑" panose="020B0503020204020204" pitchFamily="34" charset="-122"/>
            </a:rPr>
            <a:t>PHB</a:t>
          </a:r>
          <a:endParaRPr lang="zh-CN" altLang="en-US" sz="1600" b="1" dirty="0">
            <a:latin typeface="微软雅黑" panose="020B0503020204020204" pitchFamily="34" charset="-122"/>
            <a:ea typeface="微软雅黑" panose="020B0503020204020204" pitchFamily="34" charset="-122"/>
          </a:endParaRPr>
        </a:p>
      </dgm:t>
    </dgm:pt>
    <dgm:pt modelId="{7B7BED97-E213-44AA-AD3A-BB9686685F67}" type="parTrans" cxnId="{16A75BAF-BC7C-41A8-8532-11A1BF2E3992}">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CACDB2E7-EB03-4714-A421-1297E59EC43C}" type="sibTrans" cxnId="{16A75BAF-BC7C-41A8-8532-11A1BF2E3992}">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53A28961-1191-4568-9E33-32FBC2D07A98}">
      <dgm:prSet phldrT="[文本]" custT="1"/>
      <dgm:spPr/>
      <dgm:t>
        <a:bodyPr/>
        <a:lstStyle/>
        <a:p>
          <a:pPr>
            <a:lnSpc>
              <a:spcPts val="2400"/>
            </a:lnSpc>
            <a:spcBef>
              <a:spcPts val="0"/>
            </a:spcBef>
            <a:spcAft>
              <a:spcPts val="0"/>
            </a:spcAft>
          </a:pPr>
          <a:r>
            <a:rPr lang="en-US" altLang="en-US" sz="1400" b="1" dirty="0">
              <a:latin typeface="微软雅黑" panose="020B0503020204020204" pitchFamily="34" charset="-122"/>
              <a:ea typeface="微软雅黑" panose="020B0503020204020204" pitchFamily="34" charset="-122"/>
            </a:rPr>
            <a:t>EF PHB (Expedited Forwarding PHB)</a:t>
          </a:r>
          <a:r>
            <a:rPr lang="zh-CN" altLang="en-US" sz="1400" b="1" dirty="0">
              <a:latin typeface="微软雅黑" panose="020B0503020204020204" pitchFamily="34" charset="-122"/>
              <a:ea typeface="微软雅黑" panose="020B0503020204020204" pitchFamily="34" charset="-122"/>
            </a:rPr>
            <a:t>。</a:t>
          </a:r>
        </a:p>
      </dgm:t>
    </dgm:pt>
    <dgm:pt modelId="{ACCE000D-1BA1-46DA-A0C4-B6BE0434ED53}" type="parTrans" cxnId="{FF4676C7-66E7-45C5-8A1F-33D0DF2F18E7}">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410CF133-9EB5-4AEF-8F00-64E85ADA1DDB}" type="sibTrans" cxnId="{FF4676C7-66E7-45C5-8A1F-33D0DF2F18E7}">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7F8F7F1E-851F-4309-8E1B-FAB30919A630}">
      <dgm:prSet phldrT="[文本]" custT="1"/>
      <dgm:spPr/>
      <dgm:t>
        <a:bodyPr/>
        <a:lstStyle/>
        <a:p>
          <a:pPr>
            <a:lnSpc>
              <a:spcPts val="2400"/>
            </a:lnSpc>
            <a:spcBef>
              <a:spcPts val="0"/>
            </a:spcBef>
            <a:spcAft>
              <a:spcPts val="0"/>
            </a:spcAft>
          </a:pPr>
          <a:r>
            <a:rPr lang="zh-CN" altLang="en-US" sz="1600" b="1" dirty="0">
              <a:latin typeface="微软雅黑" panose="020B0503020204020204" pitchFamily="34" charset="-122"/>
              <a:ea typeface="微软雅黑" panose="020B0503020204020204" pitchFamily="34" charset="-122"/>
            </a:rPr>
            <a:t>确保转发 </a:t>
          </a:r>
          <a:r>
            <a:rPr lang="en-US" altLang="en-US" sz="1600" b="1" dirty="0">
              <a:latin typeface="微软雅黑" panose="020B0503020204020204" pitchFamily="34" charset="-122"/>
              <a:ea typeface="微软雅黑" panose="020B0503020204020204" pitchFamily="34" charset="-122"/>
            </a:rPr>
            <a:t>PHB</a:t>
          </a:r>
          <a:endParaRPr lang="zh-CN" altLang="en-US" sz="1600" b="1" dirty="0">
            <a:latin typeface="微软雅黑" panose="020B0503020204020204" pitchFamily="34" charset="-122"/>
            <a:ea typeface="微软雅黑" panose="020B0503020204020204" pitchFamily="34" charset="-122"/>
          </a:endParaRPr>
        </a:p>
      </dgm:t>
    </dgm:pt>
    <dgm:pt modelId="{C5A3FAEC-06FE-4AC2-8D00-31588FF9ED83}" type="parTrans" cxnId="{7127AA3A-023A-43F4-89AA-4833378D8F1F}">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BD9070B7-6740-4478-9F39-2CE312A84E91}" type="sibTrans" cxnId="{7127AA3A-023A-43F4-89AA-4833378D8F1F}">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CEFC629F-4DF5-456B-941F-E3D00629F1F9}">
      <dgm:prSet phldrT="[文本]" custT="1"/>
      <dgm:spPr/>
      <dgm:t>
        <a:bodyPr/>
        <a:lstStyle/>
        <a:p>
          <a:pPr>
            <a:lnSpc>
              <a:spcPts val="2400"/>
            </a:lnSpc>
            <a:spcBef>
              <a:spcPts val="0"/>
            </a:spcBef>
            <a:spcAft>
              <a:spcPts val="0"/>
            </a:spcAft>
          </a:pPr>
          <a:r>
            <a:rPr lang="en-US" altLang="en-US" sz="1400" b="1" dirty="0">
              <a:latin typeface="微软雅黑" panose="020B0503020204020204" pitchFamily="34" charset="-122"/>
              <a:ea typeface="微软雅黑" panose="020B0503020204020204" pitchFamily="34" charset="-122"/>
            </a:rPr>
            <a:t>AF PHB (Assured Forwarding PHB)</a:t>
          </a:r>
          <a:r>
            <a:rPr lang="zh-CN" altLang="en-US" sz="1400" b="1" dirty="0">
              <a:latin typeface="微软雅黑" panose="020B0503020204020204" pitchFamily="34" charset="-122"/>
              <a:ea typeface="微软雅黑" panose="020B0503020204020204" pitchFamily="34" charset="-122"/>
            </a:rPr>
            <a:t>。</a:t>
          </a:r>
        </a:p>
      </dgm:t>
    </dgm:pt>
    <dgm:pt modelId="{B5D0CD28-9792-45E2-95A2-93FF3BD61BB0}" type="parTrans" cxnId="{71E03513-72C4-43D0-86FA-2C32FB3AA651}">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4ACC93EF-8A97-4875-891E-5DED77EA4248}" type="sibTrans" cxnId="{71E03513-72C4-43D0-86FA-2C32FB3AA651}">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318C2F33-9327-4EF8-9CE1-83B0FE23CC9B}">
      <dgm:prSet phldrT="[文本]"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将通信量划分为</a:t>
          </a:r>
          <a:r>
            <a:rPr lang="zh-CN" altLang="en-US" sz="1400" b="1" dirty="0">
              <a:solidFill>
                <a:srgbClr val="0000FF"/>
              </a:solidFill>
              <a:latin typeface="微软雅黑" panose="020B0503020204020204" pitchFamily="34" charset="-122"/>
              <a:ea typeface="微软雅黑" panose="020B0503020204020204" pitchFamily="34" charset="-122"/>
            </a:rPr>
            <a:t>四个等级</a:t>
          </a:r>
          <a:r>
            <a:rPr lang="zh-CN" altLang="en-US" sz="1400" b="1" dirty="0">
              <a:latin typeface="微软雅黑" panose="020B0503020204020204" pitchFamily="34" charset="-122"/>
              <a:ea typeface="微软雅黑" panose="020B0503020204020204" pitchFamily="34" charset="-122"/>
            </a:rPr>
            <a:t>，给每一种等级提供</a:t>
          </a:r>
          <a:r>
            <a:rPr lang="zh-CN" altLang="en-US" sz="1400" b="1" dirty="0">
              <a:solidFill>
                <a:srgbClr val="0000FF"/>
              </a:solidFill>
              <a:latin typeface="微软雅黑" panose="020B0503020204020204" pitchFamily="34" charset="-122"/>
              <a:ea typeface="微软雅黑" panose="020B0503020204020204" pitchFamily="34" charset="-122"/>
            </a:rPr>
            <a:t>最低数量</a:t>
          </a:r>
          <a:r>
            <a:rPr lang="zh-CN" altLang="en-US" sz="1400" b="1" dirty="0">
              <a:latin typeface="微软雅黑" panose="020B0503020204020204" pitchFamily="34" charset="-122"/>
              <a:ea typeface="微软雅黑" panose="020B0503020204020204" pitchFamily="34" charset="-122"/>
            </a:rPr>
            <a:t>的带宽和缓存空间。</a:t>
          </a:r>
        </a:p>
      </dgm:t>
    </dgm:pt>
    <dgm:pt modelId="{1AFB66B6-FD4C-4E9B-925D-6DA4F26E034C}" type="parTrans" cxnId="{40EB9F4C-476C-49BD-A27E-557FE49BC456}">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63A9FEF4-A703-4D4E-B5A8-EF5227CE27BE}" type="sibTrans" cxnId="{40EB9F4C-476C-49BD-A27E-557FE49BC456}">
      <dgm:prSet/>
      <dgm:spPr/>
      <dgm:t>
        <a:bodyPr/>
        <a:lstStyle/>
        <a:p>
          <a:pPr>
            <a:lnSpc>
              <a:spcPts val="2400"/>
            </a:lnSpc>
            <a:spcBef>
              <a:spcPts val="0"/>
            </a:spcBef>
            <a:spcAft>
              <a:spcPts val="0"/>
            </a:spcAft>
          </a:pPr>
          <a:endParaRPr lang="zh-CN" altLang="en-US" sz="1200" b="1">
            <a:latin typeface="微软雅黑" panose="020B0503020204020204" pitchFamily="34" charset="-122"/>
            <a:ea typeface="微软雅黑" panose="020B0503020204020204" pitchFamily="34" charset="-122"/>
          </a:endParaRPr>
        </a:p>
      </dgm:t>
    </dgm:pt>
    <dgm:pt modelId="{639EB764-3517-4BF1-8C5D-5C719B42F3A6}">
      <dgm:prSet phldrT="[文本]"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离开路由器的通信量的数据率必须</a:t>
          </a:r>
          <a:r>
            <a:rPr lang="zh-CN" altLang="en-US" sz="1400" b="1" dirty="0">
              <a:solidFill>
                <a:srgbClr val="0000FF"/>
              </a:solidFill>
              <a:latin typeface="微软雅黑" panose="020B0503020204020204" pitchFamily="34" charset="-122"/>
              <a:ea typeface="微软雅黑" panose="020B0503020204020204" pitchFamily="34" charset="-122"/>
            </a:rPr>
            <a:t>等于或大于</a:t>
          </a:r>
          <a:r>
            <a:rPr lang="zh-CN" altLang="en-US" sz="1400" b="1" dirty="0">
              <a:latin typeface="微软雅黑" panose="020B0503020204020204" pitchFamily="34" charset="-122"/>
              <a:ea typeface="微软雅黑" panose="020B0503020204020204" pitchFamily="34" charset="-122"/>
            </a:rPr>
            <a:t>某一数值。</a:t>
          </a:r>
        </a:p>
      </dgm:t>
    </dgm:pt>
    <dgm:pt modelId="{E139A98C-F2E5-4523-8458-7609E8856CF3}" type="parTrans" cxnId="{56897D62-BEC6-4A0C-9C67-6EDDE266A204}">
      <dgm:prSet/>
      <dgm:spPr/>
      <dgm:t>
        <a:bodyPr/>
        <a:lstStyle/>
        <a:p>
          <a:pPr>
            <a:lnSpc>
              <a:spcPts val="2400"/>
            </a:lnSpc>
            <a:spcBef>
              <a:spcPts val="0"/>
            </a:spcBef>
            <a:spcAft>
              <a:spcPts val="0"/>
            </a:spcAft>
          </a:pPr>
          <a:endParaRPr lang="zh-CN" altLang="en-US" sz="1200"/>
        </a:p>
      </dgm:t>
    </dgm:pt>
    <dgm:pt modelId="{C07CF4F1-101F-41AD-B2F2-9B181802EBBD}" type="sibTrans" cxnId="{56897D62-BEC6-4A0C-9C67-6EDDE266A204}">
      <dgm:prSet/>
      <dgm:spPr/>
      <dgm:t>
        <a:bodyPr/>
        <a:lstStyle/>
        <a:p>
          <a:pPr>
            <a:lnSpc>
              <a:spcPts val="2400"/>
            </a:lnSpc>
            <a:spcBef>
              <a:spcPts val="0"/>
            </a:spcBef>
            <a:spcAft>
              <a:spcPts val="0"/>
            </a:spcAft>
          </a:pPr>
          <a:endParaRPr lang="zh-CN" altLang="en-US" sz="1200"/>
        </a:p>
      </dgm:t>
    </dgm:pt>
    <dgm:pt modelId="{4A928DB5-94A1-41F7-BD44-0DBB267E728A}">
      <dgm:prSet phldrT="[文本]"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用来构造通过 </a:t>
          </a:r>
          <a:r>
            <a:rPr lang="en-US" altLang="en-US" sz="1400" b="1" dirty="0">
              <a:latin typeface="微软雅黑" panose="020B0503020204020204" pitchFamily="34" charset="-122"/>
              <a:ea typeface="微软雅黑" panose="020B0503020204020204" pitchFamily="34" charset="-122"/>
            </a:rPr>
            <a:t>DS </a:t>
          </a:r>
          <a:r>
            <a:rPr lang="zh-CN" altLang="en-US" sz="1400" b="1" dirty="0">
              <a:latin typeface="微软雅黑" panose="020B0503020204020204" pitchFamily="34" charset="-122"/>
              <a:ea typeface="微软雅黑" panose="020B0503020204020204" pitchFamily="34" charset="-122"/>
            </a:rPr>
            <a:t>域的低丢失率、低时延、低时延抖动、确保带宽的端到端服务（即不排队或很少排队）。</a:t>
          </a:r>
        </a:p>
      </dgm:t>
    </dgm:pt>
    <dgm:pt modelId="{00688BAC-D865-482B-8EF0-064818FB499F}" type="parTrans" cxnId="{CC915BF3-3309-4A96-A25D-81FD197AC4BD}">
      <dgm:prSet/>
      <dgm:spPr/>
      <dgm:t>
        <a:bodyPr/>
        <a:lstStyle/>
        <a:p>
          <a:pPr>
            <a:lnSpc>
              <a:spcPts val="2400"/>
            </a:lnSpc>
            <a:spcBef>
              <a:spcPts val="0"/>
            </a:spcBef>
            <a:spcAft>
              <a:spcPts val="0"/>
            </a:spcAft>
          </a:pPr>
          <a:endParaRPr lang="zh-CN" altLang="en-US" sz="1200"/>
        </a:p>
      </dgm:t>
    </dgm:pt>
    <dgm:pt modelId="{21978812-193A-42EB-9A3E-0057A2E58A4F}" type="sibTrans" cxnId="{CC915BF3-3309-4A96-A25D-81FD197AC4BD}">
      <dgm:prSet/>
      <dgm:spPr/>
      <dgm:t>
        <a:bodyPr/>
        <a:lstStyle/>
        <a:p>
          <a:pPr>
            <a:lnSpc>
              <a:spcPts val="2400"/>
            </a:lnSpc>
            <a:spcBef>
              <a:spcPts val="0"/>
            </a:spcBef>
            <a:spcAft>
              <a:spcPts val="0"/>
            </a:spcAft>
          </a:pPr>
          <a:endParaRPr lang="zh-CN" altLang="en-US" sz="1200"/>
        </a:p>
      </dgm:t>
    </dgm:pt>
    <dgm:pt modelId="{D6173F75-3EAF-4351-907C-2BE08DC3D38B}">
      <dgm:prSet phldrT="[文本]"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这种服务对端点来说像点对点连接或虚拟租用线，又称为 </a:t>
          </a:r>
          <a:r>
            <a:rPr lang="en-US" altLang="en-US" sz="1400" b="1" dirty="0">
              <a:latin typeface="微软雅黑" panose="020B0503020204020204" pitchFamily="34" charset="-122"/>
              <a:ea typeface="微软雅黑" panose="020B0503020204020204" pitchFamily="34" charset="-122"/>
            </a:rPr>
            <a:t>Premium</a:t>
          </a:r>
          <a:r>
            <a:rPr lang="zh-CN" altLang="en-US" sz="1400" b="1" dirty="0">
              <a:latin typeface="微软雅黑" panose="020B0503020204020204" pitchFamily="34" charset="-122"/>
              <a:ea typeface="微软雅黑" panose="020B0503020204020204" pitchFamily="34" charset="-122"/>
            </a:rPr>
            <a:t>（优质）服务。</a:t>
          </a:r>
        </a:p>
      </dgm:t>
    </dgm:pt>
    <dgm:pt modelId="{45426620-A597-4457-AC7F-1BD3522B9622}" type="parTrans" cxnId="{9381CFD1-52AD-48B9-BA98-6DC060CA3A39}">
      <dgm:prSet/>
      <dgm:spPr/>
      <dgm:t>
        <a:bodyPr/>
        <a:lstStyle/>
        <a:p>
          <a:pPr>
            <a:lnSpc>
              <a:spcPts val="2400"/>
            </a:lnSpc>
            <a:spcBef>
              <a:spcPts val="0"/>
            </a:spcBef>
            <a:spcAft>
              <a:spcPts val="0"/>
            </a:spcAft>
          </a:pPr>
          <a:endParaRPr lang="zh-CN" altLang="en-US" sz="1400"/>
        </a:p>
      </dgm:t>
    </dgm:pt>
    <dgm:pt modelId="{40D4AC11-C9CA-4974-B814-9EABAF50E0D4}" type="sibTrans" cxnId="{9381CFD1-52AD-48B9-BA98-6DC060CA3A39}">
      <dgm:prSet/>
      <dgm:spPr/>
      <dgm:t>
        <a:bodyPr/>
        <a:lstStyle/>
        <a:p>
          <a:pPr>
            <a:lnSpc>
              <a:spcPts val="2400"/>
            </a:lnSpc>
            <a:spcBef>
              <a:spcPts val="0"/>
            </a:spcBef>
            <a:spcAft>
              <a:spcPts val="0"/>
            </a:spcAft>
          </a:pPr>
          <a:endParaRPr lang="zh-CN" altLang="en-US" sz="1400"/>
        </a:p>
      </dgm:t>
    </dgm:pt>
    <dgm:pt modelId="{04DFDD78-8A15-4BD0-858A-0B50CAAD5F75}">
      <dgm:prSet custT="1"/>
      <dgm:spPr/>
      <dgm:t>
        <a:bodyPr/>
        <a:lstStyle/>
        <a:p>
          <a:pPr>
            <a:lnSpc>
              <a:spcPts val="24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对于其中的每一个等级</a:t>
          </a:r>
          <a:r>
            <a:rPr lang="zh-CN" altLang="en-US" sz="1400" b="1" dirty="0">
              <a:solidFill>
                <a:srgbClr val="0000FF"/>
              </a:solidFill>
              <a:latin typeface="微软雅黑" panose="020B0503020204020204" pitchFamily="34" charset="-122"/>
              <a:ea typeface="微软雅黑" panose="020B0503020204020204" pitchFamily="34" charset="-122"/>
            </a:rPr>
            <a:t>再划分出三个“丢弃优先级” </a:t>
          </a:r>
          <a:r>
            <a:rPr lang="zh-CN" altLang="en-US" sz="1400" b="1" dirty="0">
              <a:latin typeface="微软雅黑" panose="020B0503020204020204" pitchFamily="34" charset="-122"/>
              <a:ea typeface="微软雅黑" panose="020B0503020204020204" pitchFamily="34" charset="-122"/>
            </a:rPr>
            <a:t>。当发生网络拥塞时，对于每一个等级的 </a:t>
          </a:r>
          <a:r>
            <a:rPr lang="en-US" altLang="en-US" sz="1400" b="1" dirty="0">
              <a:latin typeface="微软雅黑" panose="020B0503020204020204" pitchFamily="34" charset="-122"/>
              <a:ea typeface="微软雅黑" panose="020B0503020204020204" pitchFamily="34" charset="-122"/>
            </a:rPr>
            <a:t>AF</a:t>
          </a:r>
          <a:r>
            <a:rPr lang="zh-CN" altLang="en-US" sz="1400" b="1" dirty="0">
              <a:latin typeface="微软雅黑" panose="020B0503020204020204" pitchFamily="34" charset="-122"/>
              <a:ea typeface="微软雅黑" panose="020B0503020204020204" pitchFamily="34" charset="-122"/>
            </a:rPr>
            <a:t>，路由器首先丢弃“丢弃优先级”较高的分组。</a:t>
          </a:r>
        </a:p>
      </dgm:t>
    </dgm:pt>
    <dgm:pt modelId="{57CE4FC3-DBB5-4FD9-9C3C-8CA313477EA4}" type="parTrans" cxnId="{0D728548-EFF4-44A2-8971-A6DBFA9DA144}">
      <dgm:prSet/>
      <dgm:spPr/>
      <dgm:t>
        <a:bodyPr/>
        <a:lstStyle/>
        <a:p>
          <a:pPr>
            <a:lnSpc>
              <a:spcPts val="2400"/>
            </a:lnSpc>
            <a:spcBef>
              <a:spcPts val="0"/>
            </a:spcBef>
            <a:spcAft>
              <a:spcPts val="0"/>
            </a:spcAft>
          </a:pPr>
          <a:endParaRPr lang="zh-CN" altLang="en-US" sz="1600"/>
        </a:p>
      </dgm:t>
    </dgm:pt>
    <dgm:pt modelId="{667F958F-1160-4355-A7E7-94AA7F8C2516}" type="sibTrans" cxnId="{0D728548-EFF4-44A2-8971-A6DBFA9DA144}">
      <dgm:prSet/>
      <dgm:spPr/>
      <dgm:t>
        <a:bodyPr/>
        <a:lstStyle/>
        <a:p>
          <a:pPr>
            <a:lnSpc>
              <a:spcPts val="2400"/>
            </a:lnSpc>
            <a:spcBef>
              <a:spcPts val="0"/>
            </a:spcBef>
            <a:spcAft>
              <a:spcPts val="0"/>
            </a:spcAft>
          </a:pPr>
          <a:endParaRPr lang="zh-CN" altLang="en-US" sz="1600"/>
        </a:p>
      </dgm:t>
    </dgm:pt>
    <dgm:pt modelId="{8A81C3A0-60D0-4A09-8350-C615DAAD72A8}" type="pres">
      <dgm:prSet presAssocID="{7F52BF93-D6EE-4740-AD78-25E3EC69E731}" presName="Name0" presStyleCnt="0">
        <dgm:presLayoutVars>
          <dgm:dir/>
          <dgm:animLvl val="lvl"/>
          <dgm:resizeHandles val="exact"/>
        </dgm:presLayoutVars>
      </dgm:prSet>
      <dgm:spPr/>
    </dgm:pt>
    <dgm:pt modelId="{9093870F-DE11-4D8B-AE94-042045217BA5}" type="pres">
      <dgm:prSet presAssocID="{2D60C2BA-FA76-4EF7-B3D5-42C862287F9B}" presName="composite" presStyleCnt="0"/>
      <dgm:spPr/>
    </dgm:pt>
    <dgm:pt modelId="{D0C0CB7E-6136-4635-9AC0-112BB9B4E5E2}" type="pres">
      <dgm:prSet presAssocID="{2D60C2BA-FA76-4EF7-B3D5-42C862287F9B}" presName="parTx" presStyleLbl="alignNode1" presStyleIdx="0" presStyleCnt="2">
        <dgm:presLayoutVars>
          <dgm:chMax val="0"/>
          <dgm:chPref val="0"/>
          <dgm:bulletEnabled val="1"/>
        </dgm:presLayoutVars>
      </dgm:prSet>
      <dgm:spPr/>
    </dgm:pt>
    <dgm:pt modelId="{7183134A-D480-4461-B7E8-C77A4B90A760}" type="pres">
      <dgm:prSet presAssocID="{2D60C2BA-FA76-4EF7-B3D5-42C862287F9B}" presName="desTx" presStyleLbl="alignAccFollowNode1" presStyleIdx="0" presStyleCnt="2">
        <dgm:presLayoutVars>
          <dgm:bulletEnabled val="1"/>
        </dgm:presLayoutVars>
      </dgm:prSet>
      <dgm:spPr/>
    </dgm:pt>
    <dgm:pt modelId="{9653826E-8716-4543-96DB-23B2B74200E0}" type="pres">
      <dgm:prSet presAssocID="{CACDB2E7-EB03-4714-A421-1297E59EC43C}" presName="space" presStyleCnt="0"/>
      <dgm:spPr/>
    </dgm:pt>
    <dgm:pt modelId="{22DC2BC9-4243-4BCC-A3A5-ED618683B0DB}" type="pres">
      <dgm:prSet presAssocID="{7F8F7F1E-851F-4309-8E1B-FAB30919A630}" presName="composite" presStyleCnt="0"/>
      <dgm:spPr/>
    </dgm:pt>
    <dgm:pt modelId="{0DFD9E3B-76A2-4F5F-BD45-38491603F53F}" type="pres">
      <dgm:prSet presAssocID="{7F8F7F1E-851F-4309-8E1B-FAB30919A630}" presName="parTx" presStyleLbl="alignNode1" presStyleIdx="1" presStyleCnt="2">
        <dgm:presLayoutVars>
          <dgm:chMax val="0"/>
          <dgm:chPref val="0"/>
          <dgm:bulletEnabled val="1"/>
        </dgm:presLayoutVars>
      </dgm:prSet>
      <dgm:spPr/>
    </dgm:pt>
    <dgm:pt modelId="{3B74DCCB-75E6-4983-B2F9-E8BC2554D25B}" type="pres">
      <dgm:prSet presAssocID="{7F8F7F1E-851F-4309-8E1B-FAB30919A630}" presName="desTx" presStyleLbl="alignAccFollowNode1" presStyleIdx="1" presStyleCnt="2">
        <dgm:presLayoutVars>
          <dgm:bulletEnabled val="1"/>
        </dgm:presLayoutVars>
      </dgm:prSet>
      <dgm:spPr/>
    </dgm:pt>
  </dgm:ptLst>
  <dgm:cxnLst>
    <dgm:cxn modelId="{71E03513-72C4-43D0-86FA-2C32FB3AA651}" srcId="{7F8F7F1E-851F-4309-8E1B-FAB30919A630}" destId="{CEFC629F-4DF5-456B-941F-E3D00629F1F9}" srcOrd="0" destOrd="0" parTransId="{B5D0CD28-9792-45E2-95A2-93FF3BD61BB0}" sibTransId="{4ACC93EF-8A97-4875-891E-5DED77EA4248}"/>
    <dgm:cxn modelId="{AFD40214-E57F-4C63-B05F-400DD47473D8}" type="presOf" srcId="{CEFC629F-4DF5-456B-941F-E3D00629F1F9}" destId="{3B74DCCB-75E6-4983-B2F9-E8BC2554D25B}" srcOrd="0" destOrd="0" presId="urn:microsoft.com/office/officeart/2005/8/layout/hList1"/>
    <dgm:cxn modelId="{7A99FC1B-D7B7-44EB-94D4-1CA3D376F1D0}" type="presOf" srcId="{D6173F75-3EAF-4351-907C-2BE08DC3D38B}" destId="{7183134A-D480-4461-B7E8-C77A4B90A760}" srcOrd="0" destOrd="3" presId="urn:microsoft.com/office/officeart/2005/8/layout/hList1"/>
    <dgm:cxn modelId="{9A4FC323-A576-490C-B8BC-5C93F63B0FC4}" type="presOf" srcId="{04DFDD78-8A15-4BD0-858A-0B50CAAD5F75}" destId="{3B74DCCB-75E6-4983-B2F9-E8BC2554D25B}" srcOrd="0" destOrd="2" presId="urn:microsoft.com/office/officeart/2005/8/layout/hList1"/>
    <dgm:cxn modelId="{68746C35-BAF3-42A1-881E-5839CAF0D466}" type="presOf" srcId="{53A28961-1191-4568-9E33-32FBC2D07A98}" destId="{7183134A-D480-4461-B7E8-C77A4B90A760}" srcOrd="0" destOrd="0" presId="urn:microsoft.com/office/officeart/2005/8/layout/hList1"/>
    <dgm:cxn modelId="{82876737-ECC7-4EE3-8F5E-A051C32CDF7C}" type="presOf" srcId="{2D60C2BA-FA76-4EF7-B3D5-42C862287F9B}" destId="{D0C0CB7E-6136-4635-9AC0-112BB9B4E5E2}" srcOrd="0" destOrd="0" presId="urn:microsoft.com/office/officeart/2005/8/layout/hList1"/>
    <dgm:cxn modelId="{7127AA3A-023A-43F4-89AA-4833378D8F1F}" srcId="{7F52BF93-D6EE-4740-AD78-25E3EC69E731}" destId="{7F8F7F1E-851F-4309-8E1B-FAB30919A630}" srcOrd="1" destOrd="0" parTransId="{C5A3FAEC-06FE-4AC2-8D00-31588FF9ED83}" sibTransId="{BD9070B7-6740-4478-9F39-2CE312A84E91}"/>
    <dgm:cxn modelId="{56897D62-BEC6-4A0C-9C67-6EDDE266A204}" srcId="{2D60C2BA-FA76-4EF7-B3D5-42C862287F9B}" destId="{639EB764-3517-4BF1-8C5D-5C719B42F3A6}" srcOrd="1" destOrd="0" parTransId="{E139A98C-F2E5-4523-8458-7609E8856CF3}" sibTransId="{C07CF4F1-101F-41AD-B2F2-9B181802EBBD}"/>
    <dgm:cxn modelId="{0D728548-EFF4-44A2-8971-A6DBFA9DA144}" srcId="{7F8F7F1E-851F-4309-8E1B-FAB30919A630}" destId="{04DFDD78-8A15-4BD0-858A-0B50CAAD5F75}" srcOrd="2" destOrd="0" parTransId="{57CE4FC3-DBB5-4FD9-9C3C-8CA313477EA4}" sibTransId="{667F958F-1160-4355-A7E7-94AA7F8C2516}"/>
    <dgm:cxn modelId="{40EB9F4C-476C-49BD-A27E-557FE49BC456}" srcId="{7F8F7F1E-851F-4309-8E1B-FAB30919A630}" destId="{318C2F33-9327-4EF8-9CE1-83B0FE23CC9B}" srcOrd="1" destOrd="0" parTransId="{1AFB66B6-FD4C-4E9B-925D-6DA4F26E034C}" sibTransId="{63A9FEF4-A703-4D4E-B5A8-EF5227CE27BE}"/>
    <dgm:cxn modelId="{F4AF077D-F9DB-4D70-9AB8-BEA6EBD68558}" type="presOf" srcId="{7F8F7F1E-851F-4309-8E1B-FAB30919A630}" destId="{0DFD9E3B-76A2-4F5F-BD45-38491603F53F}" srcOrd="0" destOrd="0" presId="urn:microsoft.com/office/officeart/2005/8/layout/hList1"/>
    <dgm:cxn modelId="{03DCADA4-23EF-4FAE-B31E-B83657C73936}" type="presOf" srcId="{7F52BF93-D6EE-4740-AD78-25E3EC69E731}" destId="{8A81C3A0-60D0-4A09-8350-C615DAAD72A8}" srcOrd="0" destOrd="0" presId="urn:microsoft.com/office/officeart/2005/8/layout/hList1"/>
    <dgm:cxn modelId="{16A75BAF-BC7C-41A8-8532-11A1BF2E3992}" srcId="{7F52BF93-D6EE-4740-AD78-25E3EC69E731}" destId="{2D60C2BA-FA76-4EF7-B3D5-42C862287F9B}" srcOrd="0" destOrd="0" parTransId="{7B7BED97-E213-44AA-AD3A-BB9686685F67}" sibTransId="{CACDB2E7-EB03-4714-A421-1297E59EC43C}"/>
    <dgm:cxn modelId="{8D9C5FB0-6688-4CFB-8B07-66C5FA8033DE}" type="presOf" srcId="{639EB764-3517-4BF1-8C5D-5C719B42F3A6}" destId="{7183134A-D480-4461-B7E8-C77A4B90A760}" srcOrd="0" destOrd="1" presId="urn:microsoft.com/office/officeart/2005/8/layout/hList1"/>
    <dgm:cxn modelId="{78B521C0-46A8-4EA0-B202-4C304AD5D886}" type="presOf" srcId="{318C2F33-9327-4EF8-9CE1-83B0FE23CC9B}" destId="{3B74DCCB-75E6-4983-B2F9-E8BC2554D25B}" srcOrd="0" destOrd="1" presId="urn:microsoft.com/office/officeart/2005/8/layout/hList1"/>
    <dgm:cxn modelId="{F80F39C5-4369-4D88-BFE3-60B68242C4DF}" type="presOf" srcId="{4A928DB5-94A1-41F7-BD44-0DBB267E728A}" destId="{7183134A-D480-4461-B7E8-C77A4B90A760}" srcOrd="0" destOrd="2" presId="urn:microsoft.com/office/officeart/2005/8/layout/hList1"/>
    <dgm:cxn modelId="{FF4676C7-66E7-45C5-8A1F-33D0DF2F18E7}" srcId="{2D60C2BA-FA76-4EF7-B3D5-42C862287F9B}" destId="{53A28961-1191-4568-9E33-32FBC2D07A98}" srcOrd="0" destOrd="0" parTransId="{ACCE000D-1BA1-46DA-A0C4-B6BE0434ED53}" sibTransId="{410CF133-9EB5-4AEF-8F00-64E85ADA1DDB}"/>
    <dgm:cxn modelId="{9381CFD1-52AD-48B9-BA98-6DC060CA3A39}" srcId="{2D60C2BA-FA76-4EF7-B3D5-42C862287F9B}" destId="{D6173F75-3EAF-4351-907C-2BE08DC3D38B}" srcOrd="3" destOrd="0" parTransId="{45426620-A597-4457-AC7F-1BD3522B9622}" sibTransId="{40D4AC11-C9CA-4974-B814-9EABAF50E0D4}"/>
    <dgm:cxn modelId="{CC915BF3-3309-4A96-A25D-81FD197AC4BD}" srcId="{2D60C2BA-FA76-4EF7-B3D5-42C862287F9B}" destId="{4A928DB5-94A1-41F7-BD44-0DBB267E728A}" srcOrd="2" destOrd="0" parTransId="{00688BAC-D865-482B-8EF0-064818FB499F}" sibTransId="{21978812-193A-42EB-9A3E-0057A2E58A4F}"/>
    <dgm:cxn modelId="{EFB1127D-6157-471A-BC53-D44BB6E7BAFE}" type="presParOf" srcId="{8A81C3A0-60D0-4A09-8350-C615DAAD72A8}" destId="{9093870F-DE11-4D8B-AE94-042045217BA5}" srcOrd="0" destOrd="0" presId="urn:microsoft.com/office/officeart/2005/8/layout/hList1"/>
    <dgm:cxn modelId="{F33EB6C2-40C2-40F4-84CA-DCC334B06874}" type="presParOf" srcId="{9093870F-DE11-4D8B-AE94-042045217BA5}" destId="{D0C0CB7E-6136-4635-9AC0-112BB9B4E5E2}" srcOrd="0" destOrd="0" presId="urn:microsoft.com/office/officeart/2005/8/layout/hList1"/>
    <dgm:cxn modelId="{C9C16CA6-19BE-4900-92F8-6A98A6F86C59}" type="presParOf" srcId="{9093870F-DE11-4D8B-AE94-042045217BA5}" destId="{7183134A-D480-4461-B7E8-C77A4B90A760}" srcOrd="1" destOrd="0" presId="urn:microsoft.com/office/officeart/2005/8/layout/hList1"/>
    <dgm:cxn modelId="{ACA56D85-0426-4EF2-BFB8-97969EB27DC2}" type="presParOf" srcId="{8A81C3A0-60D0-4A09-8350-C615DAAD72A8}" destId="{9653826E-8716-4543-96DB-23B2B74200E0}" srcOrd="1" destOrd="0" presId="urn:microsoft.com/office/officeart/2005/8/layout/hList1"/>
    <dgm:cxn modelId="{C7A35610-B2FA-4D03-83AB-EDE104D8177B}" type="presParOf" srcId="{8A81C3A0-60D0-4A09-8350-C615DAAD72A8}" destId="{22DC2BC9-4243-4BCC-A3A5-ED618683B0DB}" srcOrd="2" destOrd="0" presId="urn:microsoft.com/office/officeart/2005/8/layout/hList1"/>
    <dgm:cxn modelId="{E94308E9-F841-4200-9783-5D7880A65890}" type="presParOf" srcId="{22DC2BC9-4243-4BCC-A3A5-ED618683B0DB}" destId="{0DFD9E3B-76A2-4F5F-BD45-38491603F53F}" srcOrd="0" destOrd="0" presId="urn:microsoft.com/office/officeart/2005/8/layout/hList1"/>
    <dgm:cxn modelId="{54B6071F-F8FE-44C7-BB3B-96EE3F76C1E7}" type="presParOf" srcId="{22DC2BC9-4243-4BCC-A3A5-ED618683B0DB}" destId="{3B74DCCB-75E6-4983-B2F9-E8BC2554D25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C0CB7E-6136-4635-9AC0-112BB9B4E5E2}">
      <dsp:nvSpPr>
        <dsp:cNvPr id="0" name=""/>
        <dsp:cNvSpPr/>
      </dsp:nvSpPr>
      <dsp:spPr>
        <a:xfrm>
          <a:off x="38" y="12456"/>
          <a:ext cx="3675871" cy="60480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ts val="24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迅速转发 </a:t>
          </a:r>
          <a:r>
            <a:rPr lang="en-US" altLang="en-US" sz="1600" b="1" kern="1200" dirty="0">
              <a:latin typeface="微软雅黑" panose="020B0503020204020204" pitchFamily="34" charset="-122"/>
              <a:ea typeface="微软雅黑" panose="020B0503020204020204" pitchFamily="34" charset="-122"/>
            </a:rPr>
            <a:t>PHB</a:t>
          </a:r>
          <a:endParaRPr lang="zh-CN" altLang="en-US" sz="1600" b="1" kern="1200" dirty="0">
            <a:latin typeface="微软雅黑" panose="020B0503020204020204" pitchFamily="34" charset="-122"/>
            <a:ea typeface="微软雅黑" panose="020B0503020204020204" pitchFamily="34" charset="-122"/>
          </a:endParaRPr>
        </a:p>
      </dsp:txBody>
      <dsp:txXfrm>
        <a:off x="38" y="12456"/>
        <a:ext cx="3675871" cy="604800"/>
      </dsp:txXfrm>
    </dsp:sp>
    <dsp:sp modelId="{7183134A-D480-4461-B7E8-C77A4B90A760}">
      <dsp:nvSpPr>
        <dsp:cNvPr id="0" name=""/>
        <dsp:cNvSpPr/>
      </dsp:nvSpPr>
      <dsp:spPr>
        <a:xfrm>
          <a:off x="38" y="617257"/>
          <a:ext cx="3675871" cy="265167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ts val="2400"/>
            </a:lnSpc>
            <a:spcBef>
              <a:spcPct val="0"/>
            </a:spcBef>
            <a:spcAft>
              <a:spcPts val="0"/>
            </a:spcAft>
            <a:buChar char="•"/>
          </a:pPr>
          <a:r>
            <a:rPr lang="en-US" altLang="en-US" sz="1400" b="1" kern="1200" dirty="0">
              <a:latin typeface="微软雅黑" panose="020B0503020204020204" pitchFamily="34" charset="-122"/>
              <a:ea typeface="微软雅黑" panose="020B0503020204020204" pitchFamily="34" charset="-122"/>
            </a:rPr>
            <a:t>EF PHB (Expedited Forwarding PHB)</a:t>
          </a:r>
          <a:r>
            <a:rPr lang="zh-CN" altLang="en-US" sz="1400" b="1" kern="1200" dirty="0">
              <a:latin typeface="微软雅黑" panose="020B0503020204020204" pitchFamily="34" charset="-122"/>
              <a:ea typeface="微软雅黑" panose="020B0503020204020204" pitchFamily="34" charset="-122"/>
            </a:rPr>
            <a:t>。</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离开路由器的通信量的数据率必须</a:t>
          </a:r>
          <a:r>
            <a:rPr lang="zh-CN" altLang="en-US" sz="1400" b="1" kern="1200" dirty="0">
              <a:solidFill>
                <a:srgbClr val="0000FF"/>
              </a:solidFill>
              <a:latin typeface="微软雅黑" panose="020B0503020204020204" pitchFamily="34" charset="-122"/>
              <a:ea typeface="微软雅黑" panose="020B0503020204020204" pitchFamily="34" charset="-122"/>
            </a:rPr>
            <a:t>等于或大于</a:t>
          </a:r>
          <a:r>
            <a:rPr lang="zh-CN" altLang="en-US" sz="1400" b="1" kern="1200" dirty="0">
              <a:latin typeface="微软雅黑" panose="020B0503020204020204" pitchFamily="34" charset="-122"/>
              <a:ea typeface="微软雅黑" panose="020B0503020204020204" pitchFamily="34" charset="-122"/>
            </a:rPr>
            <a:t>某一数值。</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用来构造通过 </a:t>
          </a:r>
          <a:r>
            <a:rPr lang="en-US" altLang="en-US" sz="1400" b="1" kern="1200" dirty="0">
              <a:latin typeface="微软雅黑" panose="020B0503020204020204" pitchFamily="34" charset="-122"/>
              <a:ea typeface="微软雅黑" panose="020B0503020204020204" pitchFamily="34" charset="-122"/>
            </a:rPr>
            <a:t>DS </a:t>
          </a:r>
          <a:r>
            <a:rPr lang="zh-CN" altLang="en-US" sz="1400" b="1" kern="1200" dirty="0">
              <a:latin typeface="微软雅黑" panose="020B0503020204020204" pitchFamily="34" charset="-122"/>
              <a:ea typeface="微软雅黑" panose="020B0503020204020204" pitchFamily="34" charset="-122"/>
            </a:rPr>
            <a:t>域的低丢失率、低时延、低时延抖动、确保带宽的端到端服务（即不排队或很少排队）。</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这种服务对端点来说像点对点连接或虚拟租用线，又称为 </a:t>
          </a:r>
          <a:r>
            <a:rPr lang="en-US" altLang="en-US" sz="1400" b="1" kern="1200" dirty="0">
              <a:latin typeface="微软雅黑" panose="020B0503020204020204" pitchFamily="34" charset="-122"/>
              <a:ea typeface="微软雅黑" panose="020B0503020204020204" pitchFamily="34" charset="-122"/>
            </a:rPr>
            <a:t>Premium</a:t>
          </a:r>
          <a:r>
            <a:rPr lang="zh-CN" altLang="en-US" sz="1400" b="1" kern="1200" dirty="0">
              <a:latin typeface="微软雅黑" panose="020B0503020204020204" pitchFamily="34" charset="-122"/>
              <a:ea typeface="微软雅黑" panose="020B0503020204020204" pitchFamily="34" charset="-122"/>
            </a:rPr>
            <a:t>（优质）服务。</a:t>
          </a:r>
        </a:p>
      </dsp:txBody>
      <dsp:txXfrm>
        <a:off x="38" y="617257"/>
        <a:ext cx="3675871" cy="2651670"/>
      </dsp:txXfrm>
    </dsp:sp>
    <dsp:sp modelId="{0DFD9E3B-76A2-4F5F-BD45-38491603F53F}">
      <dsp:nvSpPr>
        <dsp:cNvPr id="0" name=""/>
        <dsp:cNvSpPr/>
      </dsp:nvSpPr>
      <dsp:spPr>
        <a:xfrm>
          <a:off x="4190531" y="12456"/>
          <a:ext cx="3675871" cy="604800"/>
        </a:xfrm>
        <a:prstGeom prst="rect">
          <a:avLst/>
        </a:prstGeom>
        <a:solidFill>
          <a:schemeClr val="accent3">
            <a:hueOff val="11250264"/>
            <a:satOff val="-16880"/>
            <a:lumOff val="-2745"/>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ts val="2400"/>
            </a:lnSpc>
            <a:spcBef>
              <a:spcPct val="0"/>
            </a:spcBef>
            <a:spcAft>
              <a:spcPts val="0"/>
            </a:spcAft>
            <a:buNone/>
          </a:pPr>
          <a:r>
            <a:rPr lang="zh-CN" altLang="en-US" sz="1600" b="1" kern="1200" dirty="0">
              <a:latin typeface="微软雅黑" panose="020B0503020204020204" pitchFamily="34" charset="-122"/>
              <a:ea typeface="微软雅黑" panose="020B0503020204020204" pitchFamily="34" charset="-122"/>
            </a:rPr>
            <a:t>确保转发 </a:t>
          </a:r>
          <a:r>
            <a:rPr lang="en-US" altLang="en-US" sz="1600" b="1" kern="1200" dirty="0">
              <a:latin typeface="微软雅黑" panose="020B0503020204020204" pitchFamily="34" charset="-122"/>
              <a:ea typeface="微软雅黑" panose="020B0503020204020204" pitchFamily="34" charset="-122"/>
            </a:rPr>
            <a:t>PHB</a:t>
          </a:r>
          <a:endParaRPr lang="zh-CN" altLang="en-US" sz="1600" b="1" kern="1200" dirty="0">
            <a:latin typeface="微软雅黑" panose="020B0503020204020204" pitchFamily="34" charset="-122"/>
            <a:ea typeface="微软雅黑" panose="020B0503020204020204" pitchFamily="34" charset="-122"/>
          </a:endParaRPr>
        </a:p>
      </dsp:txBody>
      <dsp:txXfrm>
        <a:off x="4190531" y="12456"/>
        <a:ext cx="3675871" cy="604800"/>
      </dsp:txXfrm>
    </dsp:sp>
    <dsp:sp modelId="{3B74DCCB-75E6-4983-B2F9-E8BC2554D25B}">
      <dsp:nvSpPr>
        <dsp:cNvPr id="0" name=""/>
        <dsp:cNvSpPr/>
      </dsp:nvSpPr>
      <dsp:spPr>
        <a:xfrm>
          <a:off x="4190531" y="617257"/>
          <a:ext cx="3675871" cy="2651670"/>
        </a:xfrm>
        <a:prstGeom prst="rect">
          <a:avLst/>
        </a:prstGeom>
        <a:solidFill>
          <a:schemeClr val="accent3">
            <a:tint val="40000"/>
            <a:alpha val="90000"/>
            <a:hueOff val="10716854"/>
            <a:satOff val="-13793"/>
            <a:lumOff val="-1075"/>
            <a:alphaOff val="0"/>
          </a:schemeClr>
        </a:solidFill>
        <a:ln w="25400" cap="flat" cmpd="sng" algn="ctr">
          <a:solidFill>
            <a:schemeClr val="accent3">
              <a:tint val="40000"/>
              <a:alpha val="90000"/>
              <a:hueOff val="10716854"/>
              <a:satOff val="-13793"/>
              <a:lumOff val="-107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ts val="2400"/>
            </a:lnSpc>
            <a:spcBef>
              <a:spcPct val="0"/>
            </a:spcBef>
            <a:spcAft>
              <a:spcPts val="0"/>
            </a:spcAft>
            <a:buChar char="•"/>
          </a:pPr>
          <a:r>
            <a:rPr lang="en-US" altLang="en-US" sz="1400" b="1" kern="1200" dirty="0">
              <a:latin typeface="微软雅黑" panose="020B0503020204020204" pitchFamily="34" charset="-122"/>
              <a:ea typeface="微软雅黑" panose="020B0503020204020204" pitchFamily="34" charset="-122"/>
            </a:rPr>
            <a:t>AF PHB (Assured Forwarding PHB)</a:t>
          </a:r>
          <a:r>
            <a:rPr lang="zh-CN" altLang="en-US" sz="1400" b="1" kern="1200" dirty="0">
              <a:latin typeface="微软雅黑" panose="020B0503020204020204" pitchFamily="34" charset="-122"/>
              <a:ea typeface="微软雅黑" panose="020B0503020204020204" pitchFamily="34" charset="-122"/>
            </a:rPr>
            <a:t>。</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将通信量划分为</a:t>
          </a:r>
          <a:r>
            <a:rPr lang="zh-CN" altLang="en-US" sz="1400" b="1" kern="1200" dirty="0">
              <a:solidFill>
                <a:srgbClr val="0000FF"/>
              </a:solidFill>
              <a:latin typeface="微软雅黑" panose="020B0503020204020204" pitchFamily="34" charset="-122"/>
              <a:ea typeface="微软雅黑" panose="020B0503020204020204" pitchFamily="34" charset="-122"/>
            </a:rPr>
            <a:t>四个等级</a:t>
          </a:r>
          <a:r>
            <a:rPr lang="zh-CN" altLang="en-US" sz="1400" b="1" kern="1200" dirty="0">
              <a:latin typeface="微软雅黑" panose="020B0503020204020204" pitchFamily="34" charset="-122"/>
              <a:ea typeface="微软雅黑" panose="020B0503020204020204" pitchFamily="34" charset="-122"/>
            </a:rPr>
            <a:t>，给每一种等级提供</a:t>
          </a:r>
          <a:r>
            <a:rPr lang="zh-CN" altLang="en-US" sz="1400" b="1" kern="1200" dirty="0">
              <a:solidFill>
                <a:srgbClr val="0000FF"/>
              </a:solidFill>
              <a:latin typeface="微软雅黑" panose="020B0503020204020204" pitchFamily="34" charset="-122"/>
              <a:ea typeface="微软雅黑" panose="020B0503020204020204" pitchFamily="34" charset="-122"/>
            </a:rPr>
            <a:t>最低数量</a:t>
          </a:r>
          <a:r>
            <a:rPr lang="zh-CN" altLang="en-US" sz="1400" b="1" kern="1200" dirty="0">
              <a:latin typeface="微软雅黑" panose="020B0503020204020204" pitchFamily="34" charset="-122"/>
              <a:ea typeface="微软雅黑" panose="020B0503020204020204" pitchFamily="34" charset="-122"/>
            </a:rPr>
            <a:t>的带宽和缓存空间。</a:t>
          </a:r>
        </a:p>
        <a:p>
          <a:pPr marL="114300" lvl="1" indent="-114300" algn="l" defTabSz="6223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对于其中的每一个等级</a:t>
          </a:r>
          <a:r>
            <a:rPr lang="zh-CN" altLang="en-US" sz="1400" b="1" kern="1200" dirty="0">
              <a:solidFill>
                <a:srgbClr val="0000FF"/>
              </a:solidFill>
              <a:latin typeface="微软雅黑" panose="020B0503020204020204" pitchFamily="34" charset="-122"/>
              <a:ea typeface="微软雅黑" panose="020B0503020204020204" pitchFamily="34" charset="-122"/>
            </a:rPr>
            <a:t>再划分出三个“丢弃优先级” </a:t>
          </a:r>
          <a:r>
            <a:rPr lang="zh-CN" altLang="en-US" sz="1400" b="1" kern="1200" dirty="0">
              <a:latin typeface="微软雅黑" panose="020B0503020204020204" pitchFamily="34" charset="-122"/>
              <a:ea typeface="微软雅黑" panose="020B0503020204020204" pitchFamily="34" charset="-122"/>
            </a:rPr>
            <a:t>。当发生网络拥塞时，对于每一个等级的 </a:t>
          </a:r>
          <a:r>
            <a:rPr lang="en-US" altLang="en-US" sz="1400" b="1" kern="1200" dirty="0">
              <a:latin typeface="微软雅黑" panose="020B0503020204020204" pitchFamily="34" charset="-122"/>
              <a:ea typeface="微软雅黑" panose="020B0503020204020204" pitchFamily="34" charset="-122"/>
            </a:rPr>
            <a:t>AF</a:t>
          </a:r>
          <a:r>
            <a:rPr lang="zh-CN" altLang="en-US" sz="1400" b="1" kern="1200" dirty="0">
              <a:latin typeface="微软雅黑" panose="020B0503020204020204" pitchFamily="34" charset="-122"/>
              <a:ea typeface="微软雅黑" panose="020B0503020204020204" pitchFamily="34" charset="-122"/>
            </a:rPr>
            <a:t>，路由器首先丢弃“丢弃优先级”较高的分组。</a:t>
          </a:r>
        </a:p>
      </dsp:txBody>
      <dsp:txXfrm>
        <a:off x="4190531" y="617257"/>
        <a:ext cx="3675871" cy="265167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2024/5/30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a:t>
            </a:fld>
            <a:endParaRPr lang="zh-CN" altLang="en-US"/>
          </a:p>
        </p:txBody>
      </p:sp>
    </p:spTree>
    <p:extLst>
      <p:ext uri="{BB962C8B-B14F-4D97-AF65-F5344CB8AC3E}">
        <p14:creationId xmlns:p14="http://schemas.microsoft.com/office/powerpoint/2010/main" val="418279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a:t>
            </a:fld>
            <a:endParaRPr lang="zh-CN" altLang="en-US"/>
          </a:p>
        </p:txBody>
      </p:sp>
    </p:spTree>
    <p:extLst>
      <p:ext uri="{BB962C8B-B14F-4D97-AF65-F5344CB8AC3E}">
        <p14:creationId xmlns:p14="http://schemas.microsoft.com/office/powerpoint/2010/main" val="3932615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a:t>
            </a:fld>
            <a:endParaRPr lang="zh-CN" altLang="en-US"/>
          </a:p>
        </p:txBody>
      </p:sp>
    </p:spTree>
    <p:extLst>
      <p:ext uri="{BB962C8B-B14F-4D97-AF65-F5344CB8AC3E}">
        <p14:creationId xmlns:p14="http://schemas.microsoft.com/office/powerpoint/2010/main" val="2748727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a:t>
            </a:fld>
            <a:endParaRPr lang="zh-CN" altLang="en-US"/>
          </a:p>
        </p:txBody>
      </p:sp>
    </p:spTree>
    <p:extLst>
      <p:ext uri="{BB962C8B-B14F-4D97-AF65-F5344CB8AC3E}">
        <p14:creationId xmlns:p14="http://schemas.microsoft.com/office/powerpoint/2010/main" val="3465235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21</a:t>
            </a:fld>
            <a:endParaRPr lang="zh-CN" altLang="en-US"/>
          </a:p>
        </p:txBody>
      </p:sp>
    </p:spTree>
    <p:extLst>
      <p:ext uri="{BB962C8B-B14F-4D97-AF65-F5344CB8AC3E}">
        <p14:creationId xmlns:p14="http://schemas.microsoft.com/office/powerpoint/2010/main" val="59722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30</a:t>
            </a:fld>
            <a:endParaRPr lang="zh-CN" altLang="en-US"/>
          </a:p>
        </p:txBody>
      </p:sp>
    </p:spTree>
    <p:extLst>
      <p:ext uri="{BB962C8B-B14F-4D97-AF65-F5344CB8AC3E}">
        <p14:creationId xmlns:p14="http://schemas.microsoft.com/office/powerpoint/2010/main" val="312958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57</a:t>
            </a:fld>
            <a:endParaRPr lang="zh-CN" altLang="en-US"/>
          </a:p>
        </p:txBody>
      </p:sp>
    </p:spTree>
    <p:extLst>
      <p:ext uri="{BB962C8B-B14F-4D97-AF65-F5344CB8AC3E}">
        <p14:creationId xmlns:p14="http://schemas.microsoft.com/office/powerpoint/2010/main" val="3132856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58</a:t>
            </a:fld>
            <a:endParaRPr lang="zh-CN" altLang="en-US"/>
          </a:p>
        </p:txBody>
      </p:sp>
    </p:spTree>
    <p:extLst>
      <p:ext uri="{BB962C8B-B14F-4D97-AF65-F5344CB8AC3E}">
        <p14:creationId xmlns:p14="http://schemas.microsoft.com/office/powerpoint/2010/main" val="497318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75</a:t>
            </a:fld>
            <a:endParaRPr lang="zh-CN" altLang="en-US"/>
          </a:p>
        </p:txBody>
      </p:sp>
    </p:spTree>
    <p:extLst>
      <p:ext uri="{BB962C8B-B14F-4D97-AF65-F5344CB8AC3E}">
        <p14:creationId xmlns:p14="http://schemas.microsoft.com/office/powerpoint/2010/main" val="1613735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76</a:t>
            </a:fld>
            <a:endParaRPr lang="zh-CN" altLang="en-US"/>
          </a:p>
        </p:txBody>
      </p:sp>
    </p:spTree>
    <p:extLst>
      <p:ext uri="{BB962C8B-B14F-4D97-AF65-F5344CB8AC3E}">
        <p14:creationId xmlns:p14="http://schemas.microsoft.com/office/powerpoint/2010/main" val="1922221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104</a:t>
            </a:fld>
            <a:endParaRPr lang="zh-CN" altLang="en-US"/>
          </a:p>
        </p:txBody>
      </p:sp>
    </p:spTree>
    <p:extLst>
      <p:ext uri="{BB962C8B-B14F-4D97-AF65-F5344CB8AC3E}">
        <p14:creationId xmlns:p14="http://schemas.microsoft.com/office/powerpoint/2010/main" val="2428639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107</a:t>
            </a:fld>
            <a:endParaRPr lang="zh-CN" altLang="en-US"/>
          </a:p>
        </p:txBody>
      </p:sp>
    </p:spTree>
    <p:extLst>
      <p:ext uri="{BB962C8B-B14F-4D97-AF65-F5344CB8AC3E}">
        <p14:creationId xmlns:p14="http://schemas.microsoft.com/office/powerpoint/2010/main" val="2952381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41223" y="4662544"/>
            <a:ext cx="1125345" cy="267703"/>
          </a:xfrm>
          <a:prstGeom prst="rect">
            <a:avLst/>
          </a:prstGeom>
        </p:spPr>
      </p:pic>
      <p:sp>
        <p:nvSpPr>
          <p:cNvPr id="12" name="Line 3"/>
          <p:cNvSpPr>
            <a:spLocks noChangeShapeType="1"/>
          </p:cNvSpPr>
          <p:nvPr userDrawn="1"/>
        </p:nvSpPr>
        <p:spPr bwMode="auto">
          <a:xfrm>
            <a:off x="1266568" y="4803998"/>
            <a:ext cx="6942395"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9"/>
          <p:cNvSpPr>
            <a:spLocks noChangeArrowheads="1"/>
          </p:cNvSpPr>
          <p:nvPr userDrawn="1"/>
        </p:nvSpPr>
        <p:spPr bwMode="auto">
          <a:xfrm>
            <a:off x="8208962" y="4394656"/>
            <a:ext cx="609917" cy="609917"/>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cs typeface="Arial" charset="0"/>
            </a:endParaRPr>
          </a:p>
        </p:txBody>
      </p:sp>
      <p:pic>
        <p:nvPicPr>
          <p:cNvPr id="16" name="图片 15"/>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pic>
        <p:nvPicPr>
          <p:cNvPr id="20" name="图片 1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392827" y="149234"/>
            <a:ext cx="358346" cy="458684"/>
          </a:xfrm>
          <a:prstGeom prst="rect">
            <a:avLst/>
          </a:prstGeom>
        </p:spPr>
      </p:pic>
      <p:sp>
        <p:nvSpPr>
          <p:cNvPr id="21" name="Line 3"/>
          <p:cNvSpPr>
            <a:spLocks noChangeShapeType="1"/>
          </p:cNvSpPr>
          <p:nvPr userDrawn="1"/>
        </p:nvSpPr>
        <p:spPr bwMode="auto">
          <a:xfrm>
            <a:off x="0" y="428092"/>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矩形 21"/>
          <p:cNvSpPr/>
          <p:nvPr userDrawn="1"/>
        </p:nvSpPr>
        <p:spPr>
          <a:xfrm>
            <a:off x="4262908" y="123478"/>
            <a:ext cx="598868" cy="465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Line 3"/>
          <p:cNvSpPr>
            <a:spLocks noChangeShapeType="1"/>
          </p:cNvSpPr>
          <p:nvPr userDrawn="1"/>
        </p:nvSpPr>
        <p:spPr bwMode="auto">
          <a:xfrm>
            <a:off x="0" y="301530"/>
            <a:ext cx="2835464"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24" name="Rectangle 4"/>
          <p:cNvSpPr>
            <a:spLocks noChangeArrowheads="1"/>
          </p:cNvSpPr>
          <p:nvPr userDrawn="1"/>
        </p:nvSpPr>
        <p:spPr bwMode="auto">
          <a:xfrm>
            <a:off x="4810742" y="164227"/>
            <a:ext cx="1065212"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fr-FR" sz="1100" b="1" dirty="0">
                <a:solidFill>
                  <a:srgbClr val="0070C0"/>
                </a:solidFill>
                <a:latin typeface="微软雅黑" pitchFamily="34" charset="-122"/>
                <a:ea typeface="微软雅黑" pitchFamily="34" charset="-122"/>
              </a:rPr>
              <a:t>谢希仁 编著</a:t>
            </a:r>
          </a:p>
        </p:txBody>
      </p:sp>
      <p:sp>
        <p:nvSpPr>
          <p:cNvPr id="25" name="Rectangle 5"/>
          <p:cNvSpPr>
            <a:spLocks noChangeArrowheads="1"/>
          </p:cNvSpPr>
          <p:nvPr userDrawn="1"/>
        </p:nvSpPr>
        <p:spPr bwMode="auto">
          <a:xfrm>
            <a:off x="2835464" y="164857"/>
            <a:ext cx="1492716"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dirty="0">
                <a:solidFill>
                  <a:srgbClr val="0070C0"/>
                </a:solidFill>
                <a:latin typeface="微软雅黑" pitchFamily="34" charset="-122"/>
                <a:ea typeface="微软雅黑" pitchFamily="34" charset="-122"/>
              </a:rPr>
              <a:t>计算机网络 </a:t>
            </a:r>
            <a:r>
              <a:rPr lang="en-US" altLang="zh-CN" sz="1100" b="1" dirty="0">
                <a:solidFill>
                  <a:srgbClr val="0070C0"/>
                </a:solidFill>
                <a:latin typeface="微软雅黑" pitchFamily="34" charset="-122"/>
                <a:ea typeface="微软雅黑" pitchFamily="34" charset="-122"/>
              </a:rPr>
              <a:t>(</a:t>
            </a:r>
            <a:r>
              <a:rPr lang="zh-CN" altLang="en-US" sz="1100" b="1" dirty="0">
                <a:solidFill>
                  <a:srgbClr val="0070C0"/>
                </a:solidFill>
                <a:latin typeface="微软雅黑" pitchFamily="34" charset="-122"/>
                <a:ea typeface="微软雅黑" pitchFamily="34" charset="-122"/>
              </a:rPr>
              <a:t>第 </a:t>
            </a:r>
            <a:r>
              <a:rPr lang="en-US" altLang="zh-CN" sz="1100" b="1" dirty="0">
                <a:solidFill>
                  <a:srgbClr val="0070C0"/>
                </a:solidFill>
                <a:latin typeface="微软雅黑" pitchFamily="34" charset="-122"/>
                <a:ea typeface="微软雅黑" pitchFamily="34" charset="-122"/>
              </a:rPr>
              <a:t>8 </a:t>
            </a:r>
            <a:r>
              <a:rPr lang="zh-CN" altLang="en-US" sz="1100" b="1" dirty="0">
                <a:solidFill>
                  <a:srgbClr val="0070C0"/>
                </a:solidFill>
                <a:latin typeface="微软雅黑" pitchFamily="34" charset="-122"/>
                <a:ea typeface="微软雅黑" pitchFamily="34" charset="-122"/>
              </a:rPr>
              <a:t>版</a:t>
            </a:r>
            <a:r>
              <a:rPr lang="en-US" altLang="zh-CN" sz="1100" b="1" dirty="0">
                <a:solidFill>
                  <a:srgbClr val="0070C0"/>
                </a:solidFill>
                <a:latin typeface="微软雅黑" pitchFamily="34" charset="-122"/>
                <a:ea typeface="微软雅黑" pitchFamily="34" charset="-122"/>
              </a:rPr>
              <a:t>)</a:t>
            </a:r>
            <a:endParaRPr lang="fr-FR" sz="1100" b="1" dirty="0">
              <a:solidFill>
                <a:srgbClr val="0070C0"/>
              </a:solidFill>
              <a:latin typeface="微软雅黑" pitchFamily="34" charset="-122"/>
              <a:ea typeface="微软雅黑" pitchFamily="34" charset="-122"/>
            </a:endParaRPr>
          </a:p>
        </p:txBody>
      </p:sp>
      <p:sp>
        <p:nvSpPr>
          <p:cNvPr id="26" name="椭圆 25"/>
          <p:cNvSpPr/>
          <p:nvPr userDrawn="1"/>
        </p:nvSpPr>
        <p:spPr>
          <a:xfrm>
            <a:off x="2793115"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sp>
        <p:nvSpPr>
          <p:cNvPr id="31" name="Line 3"/>
          <p:cNvSpPr>
            <a:spLocks noChangeShapeType="1"/>
          </p:cNvSpPr>
          <p:nvPr userDrawn="1"/>
        </p:nvSpPr>
        <p:spPr bwMode="auto">
          <a:xfrm>
            <a:off x="5713428" y="301530"/>
            <a:ext cx="3430572"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32" name="椭圆 31"/>
          <p:cNvSpPr/>
          <p:nvPr userDrawn="1"/>
        </p:nvSpPr>
        <p:spPr>
          <a:xfrm>
            <a:off x="5710547"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pic>
        <p:nvPicPr>
          <p:cNvPr id="33" name="图片 3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388612" y="149234"/>
            <a:ext cx="358346" cy="458684"/>
          </a:xfrm>
          <a:prstGeom prst="rect">
            <a:avLst/>
          </a:prstGeom>
        </p:spPr>
      </p:pic>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wm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wm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wm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wm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3490727" y="1816886"/>
            <a:ext cx="5487400" cy="1785104"/>
          </a:xfrm>
          <a:prstGeom prst="rect">
            <a:avLst/>
          </a:prstGeom>
        </p:spPr>
        <p:txBody>
          <a:bodyPr wrap="none">
            <a:spAutoFit/>
          </a:bodyPr>
          <a:lstStyle/>
          <a:p>
            <a:pPr algn="ctr" eaLnBrk="0" hangingPunct="0"/>
            <a:r>
              <a:rPr lang="zh-CN" altLang="en-US" sz="5500" b="1" dirty="0">
                <a:solidFill>
                  <a:schemeClr val="bg1"/>
                </a:solidFill>
                <a:latin typeface="微软雅黑" pitchFamily="34" charset="-122"/>
                <a:ea typeface="微软雅黑" pitchFamily="34" charset="-122"/>
              </a:rPr>
              <a:t>互</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联</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网</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上</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的</a:t>
            </a:r>
            <a:endParaRPr lang="en-US" altLang="zh-CN" sz="5500" b="1" dirty="0">
              <a:solidFill>
                <a:schemeClr val="bg1"/>
              </a:solidFill>
              <a:latin typeface="微软雅黑" pitchFamily="34" charset="-122"/>
              <a:ea typeface="微软雅黑" pitchFamily="34" charset="-122"/>
            </a:endParaRPr>
          </a:p>
          <a:p>
            <a:pPr algn="ctr" eaLnBrk="0" hangingPunct="0"/>
            <a:r>
              <a:rPr lang="zh-CN" altLang="en-US" sz="5500" b="1" dirty="0">
                <a:solidFill>
                  <a:schemeClr val="bg1"/>
                </a:solidFill>
                <a:latin typeface="微软雅黑" pitchFamily="34" charset="-122"/>
                <a:ea typeface="微软雅黑" pitchFamily="34" charset="-122"/>
              </a:rPr>
              <a:t>音</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频</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和</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视</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频</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服</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务</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334268"/>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8 章</a:t>
            </a:r>
          </a:p>
        </p:txBody>
      </p:sp>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8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5601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9"/>
          <p:cNvSpPr>
            <a:spLocks noChangeArrowheads="1"/>
          </p:cNvSpPr>
          <p:nvPr/>
        </p:nvSpPr>
        <p:spPr bwMode="auto">
          <a:xfrm>
            <a:off x="1736635" y="1244645"/>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20" name="Rectangle 10"/>
          <p:cNvSpPr>
            <a:spLocks noChangeArrowheads="1"/>
          </p:cNvSpPr>
          <p:nvPr/>
        </p:nvSpPr>
        <p:spPr bwMode="auto">
          <a:xfrm>
            <a:off x="1736635" y="172476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21" name="Rectangle 11"/>
          <p:cNvSpPr>
            <a:spLocks noChangeArrowheads="1"/>
          </p:cNvSpPr>
          <p:nvPr/>
        </p:nvSpPr>
        <p:spPr bwMode="auto">
          <a:xfrm>
            <a:off x="1736635" y="221476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22" name="Rectangle 12"/>
          <p:cNvSpPr>
            <a:spLocks noChangeArrowheads="1"/>
          </p:cNvSpPr>
          <p:nvPr/>
        </p:nvSpPr>
        <p:spPr bwMode="auto">
          <a:xfrm>
            <a:off x="1736635" y="270325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charset="-122"/>
            </a:endParaRPr>
          </a:p>
        </p:txBody>
      </p:sp>
      <p:sp>
        <p:nvSpPr>
          <p:cNvPr id="25" name="Line 16"/>
          <p:cNvSpPr>
            <a:spLocks noChangeShapeType="1"/>
          </p:cNvSpPr>
          <p:nvPr/>
        </p:nvSpPr>
        <p:spPr bwMode="auto">
          <a:xfrm>
            <a:off x="2484345" y="1063474"/>
            <a:ext cx="0" cy="225113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Rectangle 17"/>
          <p:cNvSpPr>
            <a:spLocks noChangeArrowheads="1"/>
          </p:cNvSpPr>
          <p:nvPr/>
        </p:nvSpPr>
        <p:spPr bwMode="auto">
          <a:xfrm>
            <a:off x="1768382" y="1086504"/>
            <a:ext cx="5661539" cy="2041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800"/>
              </a:lnSpc>
            </a:pPr>
            <a:r>
              <a:rPr lang="en-US" altLang="zh-CN" sz="2000" b="1" dirty="0">
                <a:solidFill>
                  <a:schemeClr val="bg1"/>
                </a:solidFill>
                <a:latin typeface="微软雅黑" pitchFamily="34" charset="-122"/>
                <a:ea typeface="微软雅黑" pitchFamily="34" charset="-122"/>
              </a:rPr>
              <a:t>8.1                                                            </a:t>
            </a:r>
            <a:r>
              <a:rPr lang="zh-CN" altLang="en-US" sz="2000" b="1" dirty="0">
                <a:solidFill>
                  <a:schemeClr val="bg1"/>
                </a:solidFill>
                <a:latin typeface="微软雅黑" pitchFamily="34" charset="-122"/>
                <a:ea typeface="微软雅黑" pitchFamily="34" charset="-122"/>
              </a:rPr>
              <a:t>概述</a:t>
            </a:r>
          </a:p>
          <a:p>
            <a:pPr>
              <a:lnSpc>
                <a:spcPts val="3800"/>
              </a:lnSpc>
            </a:pPr>
            <a:r>
              <a:rPr lang="en-US" altLang="zh-CN" sz="2000" b="1" dirty="0">
                <a:solidFill>
                  <a:schemeClr val="bg1"/>
                </a:solidFill>
                <a:latin typeface="微软雅黑" pitchFamily="34" charset="-122"/>
                <a:ea typeface="微软雅黑" pitchFamily="34" charset="-122"/>
              </a:rPr>
              <a:t>8.2                                      </a:t>
            </a:r>
            <a:r>
              <a:rPr lang="zh-CN" altLang="en-US" sz="2000" b="1" dirty="0">
                <a:solidFill>
                  <a:schemeClr val="bg1"/>
                </a:solidFill>
                <a:latin typeface="微软雅黑" pitchFamily="34" charset="-122"/>
                <a:ea typeface="微软雅黑" pitchFamily="34" charset="-122"/>
              </a:rPr>
              <a:t>流式存储音频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a:t>
            </a:r>
          </a:p>
          <a:p>
            <a:pPr>
              <a:lnSpc>
                <a:spcPts val="3800"/>
              </a:lnSpc>
            </a:pPr>
            <a:r>
              <a:rPr lang="en-US" altLang="zh-CN" sz="2000" b="1" dirty="0">
                <a:solidFill>
                  <a:schemeClr val="bg1"/>
                </a:solidFill>
                <a:latin typeface="微软雅黑" pitchFamily="34" charset="-122"/>
                <a:ea typeface="微软雅黑" pitchFamily="34" charset="-122"/>
              </a:rPr>
              <a:t>8.3                                         </a:t>
            </a:r>
            <a:r>
              <a:rPr lang="zh-CN" altLang="en-US" sz="2000" b="1" dirty="0">
                <a:solidFill>
                  <a:schemeClr val="bg1"/>
                </a:solidFill>
                <a:latin typeface="微软雅黑" pitchFamily="34" charset="-122"/>
                <a:ea typeface="微软雅黑" pitchFamily="34" charset="-122"/>
              </a:rPr>
              <a:t>交互式音频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a:t>
            </a:r>
          </a:p>
          <a:p>
            <a:pPr>
              <a:lnSpc>
                <a:spcPts val="3800"/>
              </a:lnSpc>
            </a:pPr>
            <a:r>
              <a:rPr lang="en-US" altLang="zh-CN" sz="2000" b="1" dirty="0">
                <a:solidFill>
                  <a:schemeClr val="bg1"/>
                </a:solidFill>
                <a:latin typeface="微软雅黑" pitchFamily="34" charset="-122"/>
                <a:ea typeface="微软雅黑" pitchFamily="34" charset="-122"/>
              </a:rPr>
              <a:t>8.4                    </a:t>
            </a:r>
            <a:r>
              <a:rPr lang="zh-CN" altLang="en-US" sz="2000" b="1" dirty="0">
                <a:solidFill>
                  <a:schemeClr val="bg1"/>
                </a:solidFill>
                <a:latin typeface="微软雅黑" pitchFamily="34" charset="-122"/>
                <a:ea typeface="微软雅黑" pitchFamily="34" charset="-122"/>
              </a:rPr>
              <a:t>改进“尽最大努力交付”的服务</a:t>
            </a:r>
          </a:p>
        </p:txBody>
      </p:sp>
    </p:spTree>
    <p:extLst>
      <p:ext uri="{BB962C8B-B14F-4D97-AF65-F5344CB8AC3E}">
        <p14:creationId xmlns:p14="http://schemas.microsoft.com/office/powerpoint/2010/main" val="32725926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45145" y="999995"/>
            <a:ext cx="8053711" cy="1785104"/>
          </a:xfrm>
          <a:prstGeom prst="rect">
            <a:avLst/>
          </a:prstGeom>
        </p:spPr>
        <p:txBody>
          <a:bodyPr wrap="square">
            <a:spAutoFit/>
          </a:bodyPr>
          <a:lstStyle/>
          <a:p>
            <a:pPr marL="357188" indent="-357188"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许多用户开始利用互联网传送音频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视频信息。</a:t>
            </a:r>
            <a:endParaRPr lang="en-US" altLang="zh-CN" sz="2000" b="1" dirty="0">
              <a:latin typeface="微软雅黑" pitchFamily="34" charset="-122"/>
              <a:ea typeface="微软雅黑" pitchFamily="34" charset="-122"/>
            </a:endParaRPr>
          </a:p>
          <a:p>
            <a:pPr marL="357188" indent="-357188"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在许多情况下，这种音频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视频常称为多媒体信息。</a:t>
            </a:r>
            <a:endParaRPr lang="en-US" altLang="zh-CN" sz="2000" b="1" dirty="0">
              <a:latin typeface="微软雅黑" pitchFamily="34" charset="-122"/>
              <a:ea typeface="微软雅黑" pitchFamily="34" charset="-122"/>
            </a:endParaRPr>
          </a:p>
          <a:p>
            <a:pPr marL="357188" indent="-357188"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多媒体信息：</a:t>
            </a:r>
            <a:r>
              <a:rPr lang="zh-CN" altLang="en-US" sz="2000" b="1" dirty="0">
                <a:latin typeface="微软雅黑" pitchFamily="34" charset="-122"/>
                <a:ea typeface="微软雅黑" pitchFamily="34" charset="-122"/>
              </a:rPr>
              <a:t>内容上相互关联的文本、图形、图像、声音、动画和活动图像等所形成的复合数据信息。</a:t>
            </a:r>
          </a:p>
        </p:txBody>
      </p:sp>
      <p:sp>
        <p:nvSpPr>
          <p:cNvPr id="5" name="AutoShape 5"/>
          <p:cNvSpPr>
            <a:spLocks noChangeArrowheads="1"/>
          </p:cNvSpPr>
          <p:nvPr/>
        </p:nvSpPr>
        <p:spPr bwMode="auto">
          <a:xfrm>
            <a:off x="545144" y="61211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3847285" y="569848"/>
            <a:ext cx="14494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8.1</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概述</a:t>
            </a:r>
          </a:p>
        </p:txBody>
      </p:sp>
    </p:spTree>
    <p:extLst>
      <p:ext uri="{BB962C8B-B14F-4D97-AF65-F5344CB8AC3E}">
        <p14:creationId xmlns:p14="http://schemas.microsoft.com/office/powerpoint/2010/main" val="14007001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9472" y="972913"/>
            <a:ext cx="8129016"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4013" indent="-354013" eaLnBrk="0" hangingPunct="0">
              <a:lnSpc>
                <a:spcPts val="3300"/>
              </a:lnSpc>
              <a:buClr>
                <a:srgbClr val="7030A0"/>
              </a:buClr>
              <a:buFont typeface="+mj-lt"/>
              <a:buAutoNum type="arabicPeriod"/>
            </a:pPr>
            <a:r>
              <a:rPr lang="zh-CN" altLang="en-US" sz="2000" b="1" dirty="0">
                <a:highlight>
                  <a:srgbClr val="FFFF00"/>
                </a:highlight>
                <a:latin typeface="微软雅黑" pitchFamily="34" charset="-122"/>
                <a:ea typeface="微软雅黑" pitchFamily="34" charset="-122"/>
              </a:rPr>
              <a:t>信息量很大</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标准语音：</a:t>
            </a:r>
            <a:r>
              <a:rPr lang="en-US" altLang="zh-CN" sz="2000" b="1" dirty="0">
                <a:latin typeface="微软雅黑" pitchFamily="34" charset="-122"/>
                <a:ea typeface="微软雅黑" pitchFamily="34" charset="-122"/>
              </a:rPr>
              <a:t>64 </a:t>
            </a:r>
            <a:r>
              <a:rPr lang="en-US" altLang="zh-CN" sz="2000" b="1" dirty="0" err="1">
                <a:latin typeface="微软雅黑" pitchFamily="34" charset="-122"/>
                <a:ea typeface="微软雅黑" pitchFamily="34" charset="-122"/>
              </a:rPr>
              <a:t>kbit</a:t>
            </a:r>
            <a:r>
              <a:rPr lang="en-US" altLang="zh-CN" sz="2000" b="1" dirty="0">
                <a:latin typeface="微软雅黑" pitchFamily="34" charset="-122"/>
                <a:ea typeface="微软雅黑" pitchFamily="34" charset="-122"/>
              </a:rPr>
              <a:t>/s ( PCM</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8 kHz </a:t>
            </a:r>
            <a:r>
              <a:rPr lang="zh-CN" altLang="en-US" sz="2000" b="1" dirty="0">
                <a:latin typeface="微软雅黑" pitchFamily="34" charset="-122"/>
                <a:ea typeface="微软雅黑" pitchFamily="34" charset="-122"/>
              </a:rPr>
              <a:t>速率采样，</a:t>
            </a:r>
            <a:r>
              <a:rPr lang="en-US" altLang="zh-CN" sz="2000" b="1" dirty="0">
                <a:latin typeface="微软雅黑" pitchFamily="34" charset="-122"/>
                <a:ea typeface="微软雅黑" pitchFamily="34" charset="-122"/>
              </a:rPr>
              <a:t>8 </a:t>
            </a:r>
            <a:r>
              <a:rPr lang="zh-CN" altLang="en-US" sz="2000" b="1" dirty="0">
                <a:latin typeface="微软雅黑" pitchFamily="34" charset="-122"/>
                <a:ea typeface="微软雅黑" pitchFamily="34" charset="-122"/>
              </a:rPr>
              <a:t>位编码）；</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高质量立体声音乐 </a:t>
            </a:r>
            <a:r>
              <a:rPr lang="en-US" altLang="zh-CN" sz="2000" b="1" dirty="0">
                <a:solidFill>
                  <a:srgbClr val="0000FF"/>
                </a:solidFill>
                <a:latin typeface="微软雅黑" pitchFamily="34" charset="-122"/>
                <a:ea typeface="微软雅黑" pitchFamily="34" charset="-122"/>
              </a:rPr>
              <a:t>CD</a:t>
            </a:r>
            <a:r>
              <a:rPr lang="zh-CN" altLang="en-US" sz="2000" b="1" dirty="0">
                <a:solidFill>
                  <a:srgbClr val="0000FF"/>
                </a:solidFill>
                <a:latin typeface="微软雅黑" pitchFamily="34" charset="-122"/>
                <a:ea typeface="微软雅黑" pitchFamily="34" charset="-122"/>
              </a:rPr>
              <a:t>：</a:t>
            </a:r>
            <a:r>
              <a:rPr lang="en-US" altLang="zh-CN" sz="2000" b="1" dirty="0">
                <a:latin typeface="微软雅黑" pitchFamily="34" charset="-122"/>
                <a:ea typeface="微软雅黑" pitchFamily="34" charset="-122"/>
              </a:rPr>
              <a:t>1.4 Mbit/s</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PCM</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44.1 kHz </a:t>
            </a:r>
            <a:r>
              <a:rPr lang="zh-CN" altLang="en-US" sz="2000" b="1" dirty="0">
                <a:latin typeface="微软雅黑" pitchFamily="34" charset="-122"/>
                <a:ea typeface="微软雅黑" pitchFamily="34" charset="-122"/>
              </a:rPr>
              <a:t>速率采样，</a:t>
            </a:r>
            <a:r>
              <a:rPr lang="en-US" altLang="zh-CN" sz="2000" b="1" dirty="0">
                <a:latin typeface="微软雅黑" pitchFamily="34" charset="-122"/>
                <a:ea typeface="微软雅黑" pitchFamily="34" charset="-122"/>
              </a:rPr>
              <a:t>16 </a:t>
            </a:r>
            <a:r>
              <a:rPr lang="zh-CN" altLang="en-US" sz="2000" b="1" dirty="0">
                <a:latin typeface="微软雅黑" pitchFamily="34" charset="-122"/>
                <a:ea typeface="微软雅黑" pitchFamily="34" charset="-122"/>
              </a:rPr>
              <a:t>位编码）；</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数码照片 </a:t>
            </a:r>
            <a:r>
              <a:rPr lang="en-US" altLang="zh-CN" sz="2000" b="1" dirty="0">
                <a:solidFill>
                  <a:srgbClr val="0000FF"/>
                </a:solidFill>
                <a:latin typeface="微软雅黑" pitchFamily="34" charset="-122"/>
                <a:ea typeface="微软雅黑" pitchFamily="34" charset="-122"/>
              </a:rPr>
              <a:t>(1280 × 960)</a:t>
            </a:r>
            <a:r>
              <a:rPr lang="zh-CN" altLang="en-US" sz="2000" b="1" dirty="0">
                <a:solidFill>
                  <a:srgbClr val="0000FF"/>
                </a:solidFill>
                <a:latin typeface="微软雅黑" pitchFamily="34" charset="-122"/>
                <a:ea typeface="微软雅黑" pitchFamily="34" charset="-122"/>
              </a:rPr>
              <a:t>：</a:t>
            </a:r>
            <a:r>
              <a:rPr lang="en-US" altLang="zh-CN" sz="2000" b="1" dirty="0">
                <a:latin typeface="微软雅黑" pitchFamily="34" charset="-122"/>
                <a:ea typeface="微软雅黑" pitchFamily="34" charset="-122"/>
              </a:rPr>
              <a:t>3.52 MB</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位编码）；</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彩色电视：</a:t>
            </a:r>
            <a:r>
              <a:rPr lang="en-US" altLang="zh-CN" sz="2000" b="1" dirty="0">
                <a:highlight>
                  <a:srgbClr val="FFFF00"/>
                </a:highlight>
                <a:latin typeface="微软雅黑" pitchFamily="34" charset="-122"/>
                <a:ea typeface="微软雅黑" pitchFamily="34" charset="-122"/>
              </a:rPr>
              <a:t>250 Mbit/s</a:t>
            </a:r>
            <a:r>
              <a:rPr lang="zh-CN" altLang="en-US" sz="2000" b="1" dirty="0">
                <a:latin typeface="微软雅黑" pitchFamily="34" charset="-122"/>
                <a:ea typeface="微软雅黑" pitchFamily="34" charset="-122"/>
              </a:rPr>
              <a:t>。</a:t>
            </a:r>
          </a:p>
          <a:p>
            <a:pPr marL="354013" indent="-354013" eaLnBrk="0" hangingPunct="0">
              <a:lnSpc>
                <a:spcPts val="3300"/>
              </a:lnSpc>
              <a:buClr>
                <a:srgbClr val="7030A0"/>
              </a:buClr>
              <a:buFont typeface="+mj-lt"/>
              <a:buAutoNum type="arabicPeriod" startAt="2"/>
            </a:pPr>
            <a:r>
              <a:rPr lang="zh-CN" altLang="en-US" sz="2000" b="1" dirty="0">
                <a:highlight>
                  <a:srgbClr val="FFFF00"/>
                </a:highlight>
                <a:latin typeface="微软雅黑" pitchFamily="34" charset="-122"/>
                <a:ea typeface="微软雅黑" pitchFamily="34" charset="-122"/>
              </a:rPr>
              <a:t>在传输多媒体数据时，对时延和时延抖动均有较高的要求</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625475" lvl="1" indent="-354013" eaLnBrk="0" hangingPunct="0">
              <a:lnSpc>
                <a:spcPts val="3300"/>
              </a:lnSpc>
              <a:buClr>
                <a:srgbClr val="000099"/>
              </a:buClr>
              <a:buSzPct val="85000"/>
              <a:buFont typeface="Wingdings" panose="05000000000000000000" pitchFamily="2" charset="2"/>
              <a:buChar char="u"/>
            </a:pPr>
            <a:r>
              <a:rPr lang="zh-CN" altLang="en-US" sz="2000" b="1" dirty="0">
                <a:solidFill>
                  <a:srgbClr val="C00000"/>
                </a:solidFill>
                <a:highlight>
                  <a:srgbClr val="FFFF00"/>
                </a:highlight>
                <a:latin typeface="微软雅黑" pitchFamily="34" charset="-122"/>
                <a:ea typeface="微软雅黑" pitchFamily="34" charset="-122"/>
              </a:rPr>
              <a:t>边传输边播放。</a:t>
            </a:r>
          </a:p>
        </p:txBody>
      </p:sp>
      <p:sp>
        <p:nvSpPr>
          <p:cNvPr id="6" name="AutoShape 5"/>
          <p:cNvSpPr>
            <a:spLocks noChangeArrowheads="1"/>
          </p:cNvSpPr>
          <p:nvPr/>
        </p:nvSpPr>
        <p:spPr bwMode="auto">
          <a:xfrm>
            <a:off x="509473" y="6130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820585" y="579883"/>
            <a:ext cx="3518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多媒体信息的两个最主要特点</a:t>
            </a:r>
            <a:endParaRPr lang="fr-FR" altLang="zh-CN" sz="2000" b="1" dirty="0">
              <a:highlight>
                <a:srgbClr val="FFFF00"/>
              </a:highlight>
              <a:latin typeface="微软雅黑" pitchFamily="34" charset="-122"/>
              <a:ea typeface="微软雅黑" pitchFamily="34" charset="-122"/>
            </a:endParaRPr>
          </a:p>
        </p:txBody>
      </p:sp>
    </p:spTree>
    <p:extLst>
      <p:ext uri="{BB962C8B-B14F-4D97-AF65-F5344CB8AC3E}">
        <p14:creationId xmlns:p14="http://schemas.microsoft.com/office/powerpoint/2010/main" val="26169022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09474" y="2611856"/>
            <a:ext cx="8129015" cy="13766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5" name="对象 104"/>
          <p:cNvGraphicFramePr>
            <a:graphicFrameLocks noChangeAspect="1"/>
          </p:cNvGraphicFramePr>
          <p:nvPr>
            <p:extLst>
              <p:ext uri="{D42A27DB-BD31-4B8C-83A1-F6EECF244321}">
                <p14:modId xmlns:p14="http://schemas.microsoft.com/office/powerpoint/2010/main" val="1817133184"/>
              </p:ext>
            </p:extLst>
          </p:nvPr>
        </p:nvGraphicFramePr>
        <p:xfrm>
          <a:off x="5365977" y="2912662"/>
          <a:ext cx="1343540" cy="831847"/>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5977" y="2912662"/>
                        <a:ext cx="1343540" cy="831847"/>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6"/>
          <p:cNvSpPr>
            <a:spLocks noChangeArrowheads="1"/>
          </p:cNvSpPr>
          <p:nvPr/>
        </p:nvSpPr>
        <p:spPr bwMode="auto">
          <a:xfrm>
            <a:off x="509474" y="980942"/>
            <a:ext cx="8129015" cy="1631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模拟的多媒体信号经过采样和模数转换变为数字信号，再组装成分组。这些分组的发送时间间隔是</a:t>
            </a:r>
            <a:r>
              <a:rPr lang="zh-CN" altLang="en-US" sz="2000" b="1" dirty="0">
                <a:solidFill>
                  <a:srgbClr val="C00000"/>
                </a:solidFill>
                <a:latin typeface="微软雅黑" pitchFamily="34" charset="-122"/>
                <a:ea typeface="微软雅黑" pitchFamily="34" charset="-122"/>
              </a:rPr>
              <a:t>恒定的（等时的）。</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传统互联网中，每个分组被独立传送，到达接收端时就变成为</a:t>
            </a:r>
            <a:r>
              <a:rPr lang="zh-CN" altLang="en-US" sz="2000" b="1" dirty="0">
                <a:solidFill>
                  <a:srgbClr val="C00000"/>
                </a:solidFill>
                <a:latin typeface="微软雅黑" pitchFamily="34" charset="-122"/>
                <a:ea typeface="微软雅黑" pitchFamily="34" charset="-122"/>
              </a:rPr>
              <a:t>非等时的。</a:t>
            </a:r>
          </a:p>
        </p:txBody>
      </p:sp>
      <p:sp>
        <p:nvSpPr>
          <p:cNvPr id="7" name="AutoShape 5"/>
          <p:cNvSpPr>
            <a:spLocks noChangeArrowheads="1"/>
          </p:cNvSpPr>
          <p:nvPr/>
        </p:nvSpPr>
        <p:spPr bwMode="auto">
          <a:xfrm>
            <a:off x="509475" y="60794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3423315" y="574736"/>
            <a:ext cx="23134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互联网是</a:t>
            </a:r>
            <a:r>
              <a:rPr lang="zh-CN" altLang="en-US" sz="2000" b="1" dirty="0">
                <a:solidFill>
                  <a:srgbClr val="FFFF00"/>
                </a:solidFill>
                <a:latin typeface="微软雅黑" pitchFamily="34" charset="-122"/>
                <a:ea typeface="微软雅黑" pitchFamily="34" charset="-122"/>
              </a:rPr>
              <a:t>非等时</a:t>
            </a:r>
            <a:r>
              <a:rPr lang="zh-CN" altLang="en-US" sz="2000" b="1" dirty="0">
                <a:solidFill>
                  <a:schemeClr val="bg1"/>
                </a:solidFill>
                <a:latin typeface="微软雅黑" pitchFamily="34" charset="-122"/>
                <a:ea typeface="微软雅黑" pitchFamily="34" charset="-122"/>
              </a:rPr>
              <a:t>的</a:t>
            </a:r>
            <a:endParaRPr lang="fr-FR" altLang="zh-CN" sz="2000" b="1" dirty="0">
              <a:solidFill>
                <a:schemeClr val="bg1"/>
              </a:solidFill>
              <a:latin typeface="微软雅黑" pitchFamily="34" charset="-122"/>
              <a:ea typeface="微软雅黑" pitchFamily="34" charset="-122"/>
            </a:endParaRPr>
          </a:p>
        </p:txBody>
      </p:sp>
      <p:sp>
        <p:nvSpPr>
          <p:cNvPr id="63" name="Text Box 55"/>
          <p:cNvSpPr txBox="1">
            <a:spLocks noChangeArrowheads="1"/>
          </p:cNvSpPr>
          <p:nvPr/>
        </p:nvSpPr>
        <p:spPr bwMode="auto">
          <a:xfrm>
            <a:off x="5188461" y="3285221"/>
            <a:ext cx="26295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t</a:t>
            </a:r>
          </a:p>
        </p:txBody>
      </p:sp>
      <p:sp>
        <p:nvSpPr>
          <p:cNvPr id="68" name="Text Box 60"/>
          <p:cNvSpPr txBox="1">
            <a:spLocks noChangeArrowheads="1"/>
          </p:cNvSpPr>
          <p:nvPr/>
        </p:nvSpPr>
        <p:spPr bwMode="auto">
          <a:xfrm>
            <a:off x="7734222" y="3285221"/>
            <a:ext cx="26295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t</a:t>
            </a:r>
          </a:p>
        </p:txBody>
      </p:sp>
      <p:sp>
        <p:nvSpPr>
          <p:cNvPr id="70" name="Text Box 62"/>
          <p:cNvSpPr txBox="1">
            <a:spLocks noChangeArrowheads="1"/>
          </p:cNvSpPr>
          <p:nvPr/>
        </p:nvSpPr>
        <p:spPr bwMode="auto">
          <a:xfrm>
            <a:off x="5640094" y="3168901"/>
            <a:ext cx="7360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互联网</a:t>
            </a:r>
          </a:p>
        </p:txBody>
      </p:sp>
      <p:sp>
        <p:nvSpPr>
          <p:cNvPr id="71" name="AutoShape 63"/>
          <p:cNvSpPr>
            <a:spLocks noChangeArrowheads="1"/>
          </p:cNvSpPr>
          <p:nvPr/>
        </p:nvSpPr>
        <p:spPr bwMode="auto">
          <a:xfrm>
            <a:off x="5359522" y="3250937"/>
            <a:ext cx="275092" cy="95442"/>
          </a:xfrm>
          <a:prstGeom prst="rightArrow">
            <a:avLst>
              <a:gd name="adj1" fmla="val 50000"/>
              <a:gd name="adj2" fmla="val 65365"/>
            </a:avLst>
          </a:prstGeom>
          <a:solidFill>
            <a:srgbClr val="CC00CC"/>
          </a:solidFill>
          <a:ln w="9525">
            <a:no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72" name="AutoShape 64"/>
          <p:cNvSpPr>
            <a:spLocks noChangeArrowheads="1"/>
          </p:cNvSpPr>
          <p:nvPr/>
        </p:nvSpPr>
        <p:spPr bwMode="auto">
          <a:xfrm>
            <a:off x="6315220" y="3250937"/>
            <a:ext cx="275092" cy="95442"/>
          </a:xfrm>
          <a:prstGeom prst="rightArrow">
            <a:avLst>
              <a:gd name="adj1" fmla="val 50000"/>
              <a:gd name="adj2" fmla="val 65365"/>
            </a:avLst>
          </a:prstGeom>
          <a:solidFill>
            <a:srgbClr val="CC00CC"/>
          </a:solidFill>
          <a:ln w="9525">
            <a:no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nvGrpSpPr>
          <p:cNvPr id="73" name="Group 65"/>
          <p:cNvGrpSpPr>
            <a:grpSpLocks/>
          </p:cNvGrpSpPr>
          <p:nvPr/>
        </p:nvGrpSpPr>
        <p:grpSpPr bwMode="auto">
          <a:xfrm>
            <a:off x="1468688" y="2821937"/>
            <a:ext cx="1350363" cy="747631"/>
            <a:chOff x="-480" y="1638"/>
            <a:chExt cx="1358" cy="752"/>
          </a:xfrm>
        </p:grpSpPr>
        <p:sp>
          <p:nvSpPr>
            <p:cNvPr id="74" name="Line 66"/>
            <p:cNvSpPr>
              <a:spLocks noChangeShapeType="1"/>
            </p:cNvSpPr>
            <p:nvPr/>
          </p:nvSpPr>
          <p:spPr bwMode="auto">
            <a:xfrm>
              <a:off x="-480" y="2217"/>
              <a:ext cx="1104"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5" name="Freeform 67"/>
            <p:cNvSpPr>
              <a:spLocks/>
            </p:cNvSpPr>
            <p:nvPr/>
          </p:nvSpPr>
          <p:spPr bwMode="auto">
            <a:xfrm>
              <a:off x="-472" y="1968"/>
              <a:ext cx="901" cy="192"/>
            </a:xfrm>
            <a:custGeom>
              <a:avLst/>
              <a:gdLst>
                <a:gd name="T0" fmla="*/ 0 w 901"/>
                <a:gd name="T1" fmla="*/ 132 h 192"/>
                <a:gd name="T2" fmla="*/ 52 w 901"/>
                <a:gd name="T3" fmla="*/ 117 h 192"/>
                <a:gd name="T4" fmla="*/ 60 w 901"/>
                <a:gd name="T5" fmla="*/ 94 h 192"/>
                <a:gd name="T6" fmla="*/ 75 w 901"/>
                <a:gd name="T7" fmla="*/ 72 h 192"/>
                <a:gd name="T8" fmla="*/ 142 w 901"/>
                <a:gd name="T9" fmla="*/ 50 h 192"/>
                <a:gd name="T10" fmla="*/ 217 w 901"/>
                <a:gd name="T11" fmla="*/ 109 h 192"/>
                <a:gd name="T12" fmla="*/ 269 w 901"/>
                <a:gd name="T13" fmla="*/ 109 h 192"/>
                <a:gd name="T14" fmla="*/ 284 w 901"/>
                <a:gd name="T15" fmla="*/ 87 h 192"/>
                <a:gd name="T16" fmla="*/ 307 w 901"/>
                <a:gd name="T17" fmla="*/ 72 h 192"/>
                <a:gd name="T18" fmla="*/ 359 w 901"/>
                <a:gd name="T19" fmla="*/ 12 h 192"/>
                <a:gd name="T20" fmla="*/ 419 w 901"/>
                <a:gd name="T21" fmla="*/ 57 h 192"/>
                <a:gd name="T22" fmla="*/ 479 w 901"/>
                <a:gd name="T23" fmla="*/ 139 h 192"/>
                <a:gd name="T24" fmla="*/ 539 w 901"/>
                <a:gd name="T25" fmla="*/ 177 h 192"/>
                <a:gd name="T26" fmla="*/ 584 w 901"/>
                <a:gd name="T27" fmla="*/ 192 h 192"/>
                <a:gd name="T28" fmla="*/ 673 w 901"/>
                <a:gd name="T29" fmla="*/ 154 h 192"/>
                <a:gd name="T30" fmla="*/ 718 w 901"/>
                <a:gd name="T31" fmla="*/ 64 h 192"/>
                <a:gd name="T32" fmla="*/ 741 w 901"/>
                <a:gd name="T33" fmla="*/ 57 h 192"/>
                <a:gd name="T34" fmla="*/ 838 w 901"/>
                <a:gd name="T35" fmla="*/ 94 h 192"/>
                <a:gd name="T36" fmla="*/ 856 w 901"/>
                <a:gd name="T37" fmla="*/ 111 h 192"/>
                <a:gd name="T38" fmla="*/ 870 w 901"/>
                <a:gd name="T39" fmla="*/ 116 h 192"/>
                <a:gd name="T40" fmla="*/ 901 w 901"/>
                <a:gd name="T41" fmla="*/ 12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01" h="192">
                  <a:moveTo>
                    <a:pt x="0" y="132"/>
                  </a:moveTo>
                  <a:cubicBezTo>
                    <a:pt x="17" y="127"/>
                    <a:pt x="39" y="130"/>
                    <a:pt x="52" y="117"/>
                  </a:cubicBezTo>
                  <a:cubicBezTo>
                    <a:pt x="58" y="111"/>
                    <a:pt x="56" y="101"/>
                    <a:pt x="60" y="94"/>
                  </a:cubicBezTo>
                  <a:cubicBezTo>
                    <a:pt x="64" y="86"/>
                    <a:pt x="68" y="78"/>
                    <a:pt x="75" y="72"/>
                  </a:cubicBezTo>
                  <a:cubicBezTo>
                    <a:pt x="93" y="57"/>
                    <a:pt x="142" y="50"/>
                    <a:pt x="142" y="50"/>
                  </a:cubicBezTo>
                  <a:cubicBezTo>
                    <a:pt x="195" y="66"/>
                    <a:pt x="178" y="83"/>
                    <a:pt x="217" y="109"/>
                  </a:cubicBezTo>
                  <a:cubicBezTo>
                    <a:pt x="231" y="150"/>
                    <a:pt x="240" y="129"/>
                    <a:pt x="269" y="109"/>
                  </a:cubicBezTo>
                  <a:cubicBezTo>
                    <a:pt x="274" y="102"/>
                    <a:pt x="278" y="93"/>
                    <a:pt x="284" y="87"/>
                  </a:cubicBezTo>
                  <a:cubicBezTo>
                    <a:pt x="291" y="81"/>
                    <a:pt x="301" y="79"/>
                    <a:pt x="307" y="72"/>
                  </a:cubicBezTo>
                  <a:cubicBezTo>
                    <a:pt x="370" y="0"/>
                    <a:pt x="308" y="47"/>
                    <a:pt x="359" y="12"/>
                  </a:cubicBezTo>
                  <a:cubicBezTo>
                    <a:pt x="387" y="22"/>
                    <a:pt x="394" y="40"/>
                    <a:pt x="419" y="57"/>
                  </a:cubicBezTo>
                  <a:cubicBezTo>
                    <a:pt x="431" y="94"/>
                    <a:pt x="448" y="118"/>
                    <a:pt x="479" y="139"/>
                  </a:cubicBezTo>
                  <a:cubicBezTo>
                    <a:pt x="503" y="175"/>
                    <a:pt x="486" y="159"/>
                    <a:pt x="539" y="177"/>
                  </a:cubicBezTo>
                  <a:cubicBezTo>
                    <a:pt x="554" y="182"/>
                    <a:pt x="584" y="192"/>
                    <a:pt x="584" y="192"/>
                  </a:cubicBezTo>
                  <a:cubicBezTo>
                    <a:pt x="615" y="181"/>
                    <a:pt x="642" y="165"/>
                    <a:pt x="673" y="154"/>
                  </a:cubicBezTo>
                  <a:cubicBezTo>
                    <a:pt x="679" y="137"/>
                    <a:pt x="705" y="75"/>
                    <a:pt x="718" y="64"/>
                  </a:cubicBezTo>
                  <a:cubicBezTo>
                    <a:pt x="724" y="59"/>
                    <a:pt x="733" y="59"/>
                    <a:pt x="741" y="57"/>
                  </a:cubicBezTo>
                  <a:cubicBezTo>
                    <a:pt x="791" y="63"/>
                    <a:pt x="812" y="55"/>
                    <a:pt x="838" y="94"/>
                  </a:cubicBezTo>
                  <a:cubicBezTo>
                    <a:pt x="856" y="101"/>
                    <a:pt x="851" y="107"/>
                    <a:pt x="856" y="111"/>
                  </a:cubicBezTo>
                  <a:cubicBezTo>
                    <a:pt x="861" y="115"/>
                    <a:pt x="863" y="114"/>
                    <a:pt x="870" y="116"/>
                  </a:cubicBezTo>
                  <a:cubicBezTo>
                    <a:pt x="877" y="118"/>
                    <a:pt x="896" y="122"/>
                    <a:pt x="901" y="123"/>
                  </a:cubicBezTo>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Text Box 68"/>
            <p:cNvSpPr txBox="1">
              <a:spLocks noChangeArrowheads="1"/>
            </p:cNvSpPr>
            <p:nvPr/>
          </p:nvSpPr>
          <p:spPr bwMode="auto">
            <a:xfrm>
              <a:off x="614" y="2080"/>
              <a:ext cx="26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t</a:t>
              </a:r>
            </a:p>
          </p:txBody>
        </p:sp>
        <p:sp>
          <p:nvSpPr>
            <p:cNvPr id="77" name="Text Box 69"/>
            <p:cNvSpPr txBox="1">
              <a:spLocks noChangeArrowheads="1"/>
            </p:cNvSpPr>
            <p:nvPr/>
          </p:nvSpPr>
          <p:spPr bwMode="auto">
            <a:xfrm>
              <a:off x="-409" y="1638"/>
              <a:ext cx="92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模拟信号</a:t>
              </a:r>
            </a:p>
          </p:txBody>
        </p:sp>
      </p:grpSp>
      <p:grpSp>
        <p:nvGrpSpPr>
          <p:cNvPr id="78" name="Group 70"/>
          <p:cNvGrpSpPr>
            <a:grpSpLocks/>
          </p:cNvGrpSpPr>
          <p:nvPr/>
        </p:nvGrpSpPr>
        <p:grpSpPr bwMode="auto">
          <a:xfrm>
            <a:off x="2815369" y="2814980"/>
            <a:ext cx="1393452" cy="778451"/>
            <a:chOff x="873" y="1611"/>
            <a:chExt cx="1399" cy="783"/>
          </a:xfrm>
        </p:grpSpPr>
        <p:sp>
          <p:nvSpPr>
            <p:cNvPr id="79" name="Line 71"/>
            <p:cNvSpPr>
              <a:spLocks noChangeShapeType="1"/>
            </p:cNvSpPr>
            <p:nvPr/>
          </p:nvSpPr>
          <p:spPr bwMode="auto">
            <a:xfrm>
              <a:off x="914" y="2207"/>
              <a:ext cx="1104"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0" name="Freeform 72"/>
            <p:cNvSpPr>
              <a:spLocks/>
            </p:cNvSpPr>
            <p:nvPr/>
          </p:nvSpPr>
          <p:spPr bwMode="auto">
            <a:xfrm>
              <a:off x="963" y="2080"/>
              <a:ext cx="1" cy="128"/>
            </a:xfrm>
            <a:custGeom>
              <a:avLst/>
              <a:gdLst>
                <a:gd name="T0" fmla="*/ 0 w 1"/>
                <a:gd name="T1" fmla="*/ 128 h 128"/>
                <a:gd name="T2" fmla="*/ 1 w 1"/>
                <a:gd name="T3" fmla="*/ 0 h 128"/>
              </a:gdLst>
              <a:ahLst/>
              <a:cxnLst>
                <a:cxn ang="0">
                  <a:pos x="T0" y="T1"/>
                </a:cxn>
                <a:cxn ang="0">
                  <a:pos x="T2" y="T3"/>
                </a:cxn>
              </a:cxnLst>
              <a:rect l="0" t="0" r="r" b="b"/>
              <a:pathLst>
                <a:path w="1" h="128">
                  <a:moveTo>
                    <a:pt x="0" y="128"/>
                  </a:moveTo>
                  <a:lnTo>
                    <a:pt x="1"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1" name="Freeform 73"/>
            <p:cNvSpPr>
              <a:spLocks/>
            </p:cNvSpPr>
            <p:nvPr/>
          </p:nvSpPr>
          <p:spPr bwMode="auto">
            <a:xfrm>
              <a:off x="1011" y="2023"/>
              <a:ext cx="1" cy="185"/>
            </a:xfrm>
            <a:custGeom>
              <a:avLst/>
              <a:gdLst>
                <a:gd name="T0" fmla="*/ 0 w 1"/>
                <a:gd name="T1" fmla="*/ 185 h 185"/>
                <a:gd name="T2" fmla="*/ 1 w 1"/>
                <a:gd name="T3" fmla="*/ 0 h 185"/>
              </a:gdLst>
              <a:ahLst/>
              <a:cxnLst>
                <a:cxn ang="0">
                  <a:pos x="T0" y="T1"/>
                </a:cxn>
                <a:cxn ang="0">
                  <a:pos x="T2" y="T3"/>
                </a:cxn>
              </a:cxnLst>
              <a:rect l="0" t="0" r="r" b="b"/>
              <a:pathLst>
                <a:path w="1" h="185">
                  <a:moveTo>
                    <a:pt x="0" y="185"/>
                  </a:moveTo>
                  <a:lnTo>
                    <a:pt x="1"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2" name="Line 74"/>
            <p:cNvSpPr>
              <a:spLocks noChangeShapeType="1"/>
            </p:cNvSpPr>
            <p:nvPr/>
          </p:nvSpPr>
          <p:spPr bwMode="auto">
            <a:xfrm flipH="1" flipV="1">
              <a:off x="1058" y="2010"/>
              <a:ext cx="0" cy="197"/>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3" name="Line 75"/>
            <p:cNvSpPr>
              <a:spLocks noChangeShapeType="1"/>
            </p:cNvSpPr>
            <p:nvPr/>
          </p:nvSpPr>
          <p:spPr bwMode="auto">
            <a:xfrm flipV="1">
              <a:off x="1106" y="2032"/>
              <a:ext cx="0" cy="175"/>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4" name="Line 76"/>
            <p:cNvSpPr>
              <a:spLocks noChangeShapeType="1"/>
            </p:cNvSpPr>
            <p:nvPr/>
          </p:nvSpPr>
          <p:spPr bwMode="auto">
            <a:xfrm flipV="1">
              <a:off x="1154" y="2092"/>
              <a:ext cx="0" cy="115"/>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5" name="Freeform 77"/>
            <p:cNvSpPr>
              <a:spLocks/>
            </p:cNvSpPr>
            <p:nvPr/>
          </p:nvSpPr>
          <p:spPr bwMode="auto">
            <a:xfrm>
              <a:off x="1202" y="2053"/>
              <a:ext cx="1" cy="155"/>
            </a:xfrm>
            <a:custGeom>
              <a:avLst/>
              <a:gdLst>
                <a:gd name="T0" fmla="*/ 0 w 1"/>
                <a:gd name="T1" fmla="*/ 155 h 155"/>
                <a:gd name="T2" fmla="*/ 0 w 1"/>
                <a:gd name="T3" fmla="*/ 0 h 155"/>
              </a:gdLst>
              <a:ahLst/>
              <a:cxnLst>
                <a:cxn ang="0">
                  <a:pos x="T0" y="T1"/>
                </a:cxn>
                <a:cxn ang="0">
                  <a:pos x="T2" y="T3"/>
                </a:cxn>
              </a:cxnLst>
              <a:rect l="0" t="0" r="r" b="b"/>
              <a:pathLst>
                <a:path w="1" h="155">
                  <a:moveTo>
                    <a:pt x="0" y="155"/>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6" name="Freeform 78"/>
            <p:cNvSpPr>
              <a:spLocks/>
            </p:cNvSpPr>
            <p:nvPr/>
          </p:nvSpPr>
          <p:spPr bwMode="auto">
            <a:xfrm>
              <a:off x="1251" y="2003"/>
              <a:ext cx="1" cy="205"/>
            </a:xfrm>
            <a:custGeom>
              <a:avLst/>
              <a:gdLst>
                <a:gd name="T0" fmla="*/ 0 w 1"/>
                <a:gd name="T1" fmla="*/ 205 h 205"/>
                <a:gd name="T2" fmla="*/ 1 w 1"/>
                <a:gd name="T3" fmla="*/ 0 h 205"/>
              </a:gdLst>
              <a:ahLst/>
              <a:cxnLst>
                <a:cxn ang="0">
                  <a:pos x="T0" y="T1"/>
                </a:cxn>
                <a:cxn ang="0">
                  <a:pos x="T2" y="T3"/>
                </a:cxn>
              </a:cxnLst>
              <a:rect l="0" t="0" r="r" b="b"/>
              <a:pathLst>
                <a:path w="1" h="205">
                  <a:moveTo>
                    <a:pt x="0" y="205"/>
                  </a:moveTo>
                  <a:lnTo>
                    <a:pt x="1"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7" name="Freeform 79"/>
            <p:cNvSpPr>
              <a:spLocks/>
            </p:cNvSpPr>
            <p:nvPr/>
          </p:nvSpPr>
          <p:spPr bwMode="auto">
            <a:xfrm>
              <a:off x="1298" y="1979"/>
              <a:ext cx="1" cy="228"/>
            </a:xfrm>
            <a:custGeom>
              <a:avLst/>
              <a:gdLst>
                <a:gd name="T0" fmla="*/ 0 w 1"/>
                <a:gd name="T1" fmla="*/ 228 h 228"/>
                <a:gd name="T2" fmla="*/ 0 w 1"/>
                <a:gd name="T3" fmla="*/ 0 h 228"/>
              </a:gdLst>
              <a:ahLst/>
              <a:cxnLst>
                <a:cxn ang="0">
                  <a:pos x="T0" y="T1"/>
                </a:cxn>
                <a:cxn ang="0">
                  <a:pos x="T2" y="T3"/>
                </a:cxn>
              </a:cxnLst>
              <a:rect l="0" t="0" r="r" b="b"/>
              <a:pathLst>
                <a:path w="1" h="228">
                  <a:moveTo>
                    <a:pt x="0" y="228"/>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8" name="Freeform 80"/>
            <p:cNvSpPr>
              <a:spLocks/>
            </p:cNvSpPr>
            <p:nvPr/>
          </p:nvSpPr>
          <p:spPr bwMode="auto">
            <a:xfrm>
              <a:off x="1346" y="2026"/>
              <a:ext cx="1" cy="181"/>
            </a:xfrm>
            <a:custGeom>
              <a:avLst/>
              <a:gdLst>
                <a:gd name="T0" fmla="*/ 0 w 1"/>
                <a:gd name="T1" fmla="*/ 181 h 181"/>
                <a:gd name="T2" fmla="*/ 0 w 1"/>
                <a:gd name="T3" fmla="*/ 0 h 181"/>
              </a:gdLst>
              <a:ahLst/>
              <a:cxnLst>
                <a:cxn ang="0">
                  <a:pos x="T0" y="T1"/>
                </a:cxn>
                <a:cxn ang="0">
                  <a:pos x="T2" y="T3"/>
                </a:cxn>
              </a:cxnLst>
              <a:rect l="0" t="0" r="r" b="b"/>
              <a:pathLst>
                <a:path w="1" h="181">
                  <a:moveTo>
                    <a:pt x="0" y="181"/>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9" name="Freeform 81"/>
            <p:cNvSpPr>
              <a:spLocks/>
            </p:cNvSpPr>
            <p:nvPr/>
          </p:nvSpPr>
          <p:spPr bwMode="auto">
            <a:xfrm>
              <a:off x="1394" y="2092"/>
              <a:ext cx="1" cy="115"/>
            </a:xfrm>
            <a:custGeom>
              <a:avLst/>
              <a:gdLst>
                <a:gd name="T0" fmla="*/ 0 w 1"/>
                <a:gd name="T1" fmla="*/ 115 h 115"/>
                <a:gd name="T2" fmla="*/ 0 w 1"/>
                <a:gd name="T3" fmla="*/ 0 h 115"/>
              </a:gdLst>
              <a:ahLst/>
              <a:cxnLst>
                <a:cxn ang="0">
                  <a:pos x="T0" y="T1"/>
                </a:cxn>
                <a:cxn ang="0">
                  <a:pos x="T2" y="T3"/>
                </a:cxn>
              </a:cxnLst>
              <a:rect l="0" t="0" r="r" b="b"/>
              <a:pathLst>
                <a:path w="1" h="115">
                  <a:moveTo>
                    <a:pt x="0" y="115"/>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0" name="Freeform 82"/>
            <p:cNvSpPr>
              <a:spLocks/>
            </p:cNvSpPr>
            <p:nvPr/>
          </p:nvSpPr>
          <p:spPr bwMode="auto">
            <a:xfrm>
              <a:off x="1442" y="2129"/>
              <a:ext cx="1" cy="78"/>
            </a:xfrm>
            <a:custGeom>
              <a:avLst/>
              <a:gdLst>
                <a:gd name="T0" fmla="*/ 0 w 1"/>
                <a:gd name="T1" fmla="*/ 78 h 78"/>
                <a:gd name="T2" fmla="*/ 0 w 1"/>
                <a:gd name="T3" fmla="*/ 0 h 78"/>
              </a:gdLst>
              <a:ahLst/>
              <a:cxnLst>
                <a:cxn ang="0">
                  <a:pos x="T0" y="T1"/>
                </a:cxn>
                <a:cxn ang="0">
                  <a:pos x="T2" y="T3"/>
                </a:cxn>
              </a:cxnLst>
              <a:rect l="0" t="0" r="r" b="b"/>
              <a:pathLst>
                <a:path w="1" h="78">
                  <a:moveTo>
                    <a:pt x="0" y="78"/>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1" name="Freeform 83"/>
            <p:cNvSpPr>
              <a:spLocks/>
            </p:cNvSpPr>
            <p:nvPr/>
          </p:nvSpPr>
          <p:spPr bwMode="auto">
            <a:xfrm>
              <a:off x="1490" y="2146"/>
              <a:ext cx="1" cy="61"/>
            </a:xfrm>
            <a:custGeom>
              <a:avLst/>
              <a:gdLst>
                <a:gd name="T0" fmla="*/ 0 w 1"/>
                <a:gd name="T1" fmla="*/ 61 h 61"/>
                <a:gd name="T2" fmla="*/ 0 w 1"/>
                <a:gd name="T3" fmla="*/ 0 h 61"/>
              </a:gdLst>
              <a:ahLst/>
              <a:cxnLst>
                <a:cxn ang="0">
                  <a:pos x="T0" y="T1"/>
                </a:cxn>
                <a:cxn ang="0">
                  <a:pos x="T2" y="T3"/>
                </a:cxn>
              </a:cxnLst>
              <a:rect l="0" t="0" r="r" b="b"/>
              <a:pathLst>
                <a:path w="1" h="61">
                  <a:moveTo>
                    <a:pt x="0" y="61"/>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2" name="Freeform 84"/>
            <p:cNvSpPr>
              <a:spLocks/>
            </p:cNvSpPr>
            <p:nvPr/>
          </p:nvSpPr>
          <p:spPr bwMode="auto">
            <a:xfrm>
              <a:off x="1538" y="2138"/>
              <a:ext cx="1" cy="69"/>
            </a:xfrm>
            <a:custGeom>
              <a:avLst/>
              <a:gdLst>
                <a:gd name="T0" fmla="*/ 0 w 1"/>
                <a:gd name="T1" fmla="*/ 69 h 69"/>
                <a:gd name="T2" fmla="*/ 0 w 1"/>
                <a:gd name="T3" fmla="*/ 0 h 69"/>
              </a:gdLst>
              <a:ahLst/>
              <a:cxnLst>
                <a:cxn ang="0">
                  <a:pos x="T0" y="T1"/>
                </a:cxn>
                <a:cxn ang="0">
                  <a:pos x="T2" y="T3"/>
                </a:cxn>
              </a:cxnLst>
              <a:rect l="0" t="0" r="r" b="b"/>
              <a:pathLst>
                <a:path w="1" h="69">
                  <a:moveTo>
                    <a:pt x="0" y="69"/>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3" name="Freeform 85"/>
            <p:cNvSpPr>
              <a:spLocks/>
            </p:cNvSpPr>
            <p:nvPr/>
          </p:nvSpPr>
          <p:spPr bwMode="auto">
            <a:xfrm>
              <a:off x="1586" y="2117"/>
              <a:ext cx="1" cy="90"/>
            </a:xfrm>
            <a:custGeom>
              <a:avLst/>
              <a:gdLst>
                <a:gd name="T0" fmla="*/ 0 w 1"/>
                <a:gd name="T1" fmla="*/ 90 h 90"/>
                <a:gd name="T2" fmla="*/ 0 w 1"/>
                <a:gd name="T3" fmla="*/ 0 h 90"/>
              </a:gdLst>
              <a:ahLst/>
              <a:cxnLst>
                <a:cxn ang="0">
                  <a:pos x="T0" y="T1"/>
                </a:cxn>
                <a:cxn ang="0">
                  <a:pos x="T2" y="T3"/>
                </a:cxn>
              </a:cxnLst>
              <a:rect l="0" t="0" r="r" b="b"/>
              <a:pathLst>
                <a:path w="1" h="90">
                  <a:moveTo>
                    <a:pt x="0" y="90"/>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4" name="Freeform 86"/>
            <p:cNvSpPr>
              <a:spLocks/>
            </p:cNvSpPr>
            <p:nvPr/>
          </p:nvSpPr>
          <p:spPr bwMode="auto">
            <a:xfrm>
              <a:off x="1634" y="2030"/>
              <a:ext cx="1" cy="177"/>
            </a:xfrm>
            <a:custGeom>
              <a:avLst/>
              <a:gdLst>
                <a:gd name="T0" fmla="*/ 0 w 1"/>
                <a:gd name="T1" fmla="*/ 177 h 177"/>
                <a:gd name="T2" fmla="*/ 0 w 1"/>
                <a:gd name="T3" fmla="*/ 0 h 177"/>
              </a:gdLst>
              <a:ahLst/>
              <a:cxnLst>
                <a:cxn ang="0">
                  <a:pos x="T0" y="T1"/>
                </a:cxn>
                <a:cxn ang="0">
                  <a:pos x="T2" y="T3"/>
                </a:cxn>
              </a:cxnLst>
              <a:rect l="0" t="0" r="r" b="b"/>
              <a:pathLst>
                <a:path w="1" h="177">
                  <a:moveTo>
                    <a:pt x="0" y="177"/>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5" name="Freeform 87"/>
            <p:cNvSpPr>
              <a:spLocks/>
            </p:cNvSpPr>
            <p:nvPr/>
          </p:nvSpPr>
          <p:spPr bwMode="auto">
            <a:xfrm>
              <a:off x="1682" y="2020"/>
              <a:ext cx="1" cy="187"/>
            </a:xfrm>
            <a:custGeom>
              <a:avLst/>
              <a:gdLst>
                <a:gd name="T0" fmla="*/ 0 w 1"/>
                <a:gd name="T1" fmla="*/ 187 h 187"/>
                <a:gd name="T2" fmla="*/ 0 w 1"/>
                <a:gd name="T3" fmla="*/ 0 h 187"/>
              </a:gdLst>
              <a:ahLst/>
              <a:cxnLst>
                <a:cxn ang="0">
                  <a:pos x="T0" y="T1"/>
                </a:cxn>
                <a:cxn ang="0">
                  <a:pos x="T2" y="T3"/>
                </a:cxn>
              </a:cxnLst>
              <a:rect l="0" t="0" r="r" b="b"/>
              <a:pathLst>
                <a:path w="1" h="187">
                  <a:moveTo>
                    <a:pt x="0" y="187"/>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6" name="Line 88"/>
            <p:cNvSpPr>
              <a:spLocks noChangeShapeType="1"/>
            </p:cNvSpPr>
            <p:nvPr/>
          </p:nvSpPr>
          <p:spPr bwMode="auto">
            <a:xfrm flipV="1">
              <a:off x="1730" y="2024"/>
              <a:ext cx="0" cy="183"/>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7" name="Freeform 89"/>
            <p:cNvSpPr>
              <a:spLocks/>
            </p:cNvSpPr>
            <p:nvPr/>
          </p:nvSpPr>
          <p:spPr bwMode="auto">
            <a:xfrm>
              <a:off x="1778" y="2066"/>
              <a:ext cx="1" cy="142"/>
            </a:xfrm>
            <a:custGeom>
              <a:avLst/>
              <a:gdLst>
                <a:gd name="T0" fmla="*/ 0 w 1"/>
                <a:gd name="T1" fmla="*/ 142 h 142"/>
                <a:gd name="T2" fmla="*/ 0 w 1"/>
                <a:gd name="T3" fmla="*/ 0 h 142"/>
              </a:gdLst>
              <a:ahLst/>
              <a:cxnLst>
                <a:cxn ang="0">
                  <a:pos x="T0" y="T1"/>
                </a:cxn>
                <a:cxn ang="0">
                  <a:pos x="T2" y="T3"/>
                </a:cxn>
              </a:cxnLst>
              <a:rect l="0" t="0" r="r" b="b"/>
              <a:pathLst>
                <a:path w="1" h="142">
                  <a:moveTo>
                    <a:pt x="0" y="142"/>
                  </a:moveTo>
                  <a:lnTo>
                    <a:pt x="0" y="0"/>
                  </a:lnTo>
                </a:path>
              </a:pathLst>
            </a:custGeom>
            <a:noFill/>
            <a:ln w="19050" cmpd="sng">
              <a:solidFill>
                <a:schemeClr val="tx1"/>
              </a:solidFill>
              <a:round/>
              <a:headEnd type="none" w="med"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8" name="Text Box 90"/>
            <p:cNvSpPr txBox="1">
              <a:spLocks noChangeArrowheads="1"/>
            </p:cNvSpPr>
            <p:nvPr/>
          </p:nvSpPr>
          <p:spPr bwMode="auto">
            <a:xfrm>
              <a:off x="2008" y="2084"/>
              <a:ext cx="264" cy="3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t</a:t>
              </a:r>
            </a:p>
          </p:txBody>
        </p:sp>
        <p:sp>
          <p:nvSpPr>
            <p:cNvPr id="99" name="Text Box 91"/>
            <p:cNvSpPr txBox="1">
              <a:spLocks noChangeArrowheads="1"/>
            </p:cNvSpPr>
            <p:nvPr/>
          </p:nvSpPr>
          <p:spPr bwMode="auto">
            <a:xfrm>
              <a:off x="873" y="1611"/>
              <a:ext cx="1289" cy="3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采样后的信号</a:t>
              </a:r>
            </a:p>
          </p:txBody>
        </p:sp>
      </p:grpSp>
      <p:grpSp>
        <p:nvGrpSpPr>
          <p:cNvPr id="3" name="组合 2"/>
          <p:cNvGrpSpPr/>
          <p:nvPr/>
        </p:nvGrpSpPr>
        <p:grpSpPr>
          <a:xfrm>
            <a:off x="4154137" y="2805241"/>
            <a:ext cx="1099273" cy="603259"/>
            <a:chOff x="4099052" y="3031662"/>
            <a:chExt cx="1099273" cy="603259"/>
          </a:xfrm>
        </p:grpSpPr>
        <p:sp>
          <p:nvSpPr>
            <p:cNvPr id="59" name="Freeform 51"/>
            <p:cNvSpPr>
              <a:spLocks/>
            </p:cNvSpPr>
            <p:nvPr/>
          </p:nvSpPr>
          <p:spPr bwMode="auto">
            <a:xfrm>
              <a:off x="4290849"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0" name="Freeform 52"/>
            <p:cNvSpPr>
              <a:spLocks/>
            </p:cNvSpPr>
            <p:nvPr/>
          </p:nvSpPr>
          <p:spPr bwMode="auto">
            <a:xfrm>
              <a:off x="4529774"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1" name="Freeform 53"/>
            <p:cNvSpPr>
              <a:spLocks/>
            </p:cNvSpPr>
            <p:nvPr/>
          </p:nvSpPr>
          <p:spPr bwMode="auto">
            <a:xfrm>
              <a:off x="4768699"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2" name="Freeform 54"/>
            <p:cNvSpPr>
              <a:spLocks/>
            </p:cNvSpPr>
            <p:nvPr/>
          </p:nvSpPr>
          <p:spPr bwMode="auto">
            <a:xfrm>
              <a:off x="5007623"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100" name="Text Box 92"/>
            <p:cNvSpPr txBox="1">
              <a:spLocks noChangeArrowheads="1"/>
            </p:cNvSpPr>
            <p:nvPr/>
          </p:nvSpPr>
          <p:spPr bwMode="auto">
            <a:xfrm>
              <a:off x="4213724" y="3031662"/>
              <a:ext cx="9186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构成分组</a:t>
              </a:r>
            </a:p>
          </p:txBody>
        </p:sp>
        <p:sp>
          <p:nvSpPr>
            <p:cNvPr id="58" name="Line 50"/>
            <p:cNvSpPr>
              <a:spLocks noChangeShapeType="1"/>
            </p:cNvSpPr>
            <p:nvPr/>
          </p:nvSpPr>
          <p:spPr bwMode="auto">
            <a:xfrm>
              <a:off x="4099052" y="3634921"/>
              <a:ext cx="1099273"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101" name="Text Box 93"/>
          <p:cNvSpPr txBox="1">
            <a:spLocks noChangeArrowheads="1"/>
          </p:cNvSpPr>
          <p:nvPr/>
        </p:nvSpPr>
        <p:spPr bwMode="auto">
          <a:xfrm>
            <a:off x="4337977" y="3436338"/>
            <a:ext cx="9186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恒定速率</a:t>
            </a:r>
          </a:p>
        </p:txBody>
      </p:sp>
      <p:grpSp>
        <p:nvGrpSpPr>
          <p:cNvPr id="4" name="组合 3"/>
          <p:cNvGrpSpPr/>
          <p:nvPr/>
        </p:nvGrpSpPr>
        <p:grpSpPr>
          <a:xfrm>
            <a:off x="6702130" y="3215628"/>
            <a:ext cx="1101393" cy="528485"/>
            <a:chOff x="6680096" y="3442049"/>
            <a:chExt cx="1101393" cy="528485"/>
          </a:xfrm>
        </p:grpSpPr>
        <p:sp>
          <p:nvSpPr>
            <p:cNvPr id="64" name="Freeform 56"/>
            <p:cNvSpPr>
              <a:spLocks/>
            </p:cNvSpPr>
            <p:nvPr/>
          </p:nvSpPr>
          <p:spPr bwMode="auto">
            <a:xfrm>
              <a:off x="6860606" y="3444037"/>
              <a:ext cx="47127"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5" name="Freeform 57"/>
            <p:cNvSpPr>
              <a:spLocks/>
            </p:cNvSpPr>
            <p:nvPr/>
          </p:nvSpPr>
          <p:spPr bwMode="auto">
            <a:xfrm>
              <a:off x="7051306" y="3444037"/>
              <a:ext cx="48224"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6" name="Freeform 58"/>
            <p:cNvSpPr>
              <a:spLocks/>
            </p:cNvSpPr>
            <p:nvPr/>
          </p:nvSpPr>
          <p:spPr bwMode="auto">
            <a:xfrm>
              <a:off x="7433807" y="3444037"/>
              <a:ext cx="48224"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7" name="Freeform 59"/>
            <p:cNvSpPr>
              <a:spLocks/>
            </p:cNvSpPr>
            <p:nvPr/>
          </p:nvSpPr>
          <p:spPr bwMode="auto">
            <a:xfrm>
              <a:off x="7541214" y="3442049"/>
              <a:ext cx="48224" cy="190884"/>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p:spPr>
          <p:txBody>
            <a:bodyPr/>
            <a:lstStyle/>
            <a:p>
              <a:endParaRPr lang="zh-CN" altLang="en-US" sz="1400" b="1">
                <a:latin typeface="微软雅黑" pitchFamily="34" charset="-122"/>
                <a:ea typeface="微软雅黑" pitchFamily="34" charset="-122"/>
              </a:endParaRPr>
            </a:p>
          </p:txBody>
        </p:sp>
        <p:sp>
          <p:nvSpPr>
            <p:cNvPr id="69" name="Line 61"/>
            <p:cNvSpPr>
              <a:spLocks noChangeShapeType="1"/>
            </p:cNvSpPr>
            <p:nvPr/>
          </p:nvSpPr>
          <p:spPr bwMode="auto">
            <a:xfrm>
              <a:off x="6680096" y="3634921"/>
              <a:ext cx="104086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02" name="Text Box 94"/>
            <p:cNvSpPr txBox="1">
              <a:spLocks noChangeArrowheads="1"/>
            </p:cNvSpPr>
            <p:nvPr/>
          </p:nvSpPr>
          <p:spPr bwMode="auto">
            <a:xfrm>
              <a:off x="6680096" y="3662757"/>
              <a:ext cx="110139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00000"/>
                  </a:solidFill>
                  <a:latin typeface="微软雅黑" pitchFamily="34" charset="-122"/>
                  <a:ea typeface="微软雅黑" pitchFamily="34" charset="-122"/>
                </a:rPr>
                <a:t>非恒定速率</a:t>
              </a:r>
            </a:p>
          </p:txBody>
        </p:sp>
      </p:grpSp>
      <p:sp>
        <p:nvSpPr>
          <p:cNvPr id="103" name="AutoShape 95"/>
          <p:cNvSpPr>
            <a:spLocks noChangeArrowheads="1"/>
          </p:cNvSpPr>
          <p:nvPr/>
        </p:nvSpPr>
        <p:spPr bwMode="auto">
          <a:xfrm>
            <a:off x="3918214" y="3250937"/>
            <a:ext cx="275092" cy="95442"/>
          </a:xfrm>
          <a:prstGeom prst="rightArrow">
            <a:avLst>
              <a:gd name="adj1" fmla="val 50000"/>
              <a:gd name="adj2" fmla="val 65365"/>
            </a:avLst>
          </a:prstGeom>
          <a:solidFill>
            <a:srgbClr val="CC00CC"/>
          </a:solidFill>
          <a:ln w="9525">
            <a:no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104" name="AutoShape 96"/>
          <p:cNvSpPr>
            <a:spLocks noChangeArrowheads="1"/>
          </p:cNvSpPr>
          <p:nvPr/>
        </p:nvSpPr>
        <p:spPr bwMode="auto">
          <a:xfrm>
            <a:off x="2560289" y="3227076"/>
            <a:ext cx="273996" cy="95442"/>
          </a:xfrm>
          <a:prstGeom prst="rightArrow">
            <a:avLst>
              <a:gd name="adj1" fmla="val 50000"/>
              <a:gd name="adj2" fmla="val 65104"/>
            </a:avLst>
          </a:prstGeom>
          <a:solidFill>
            <a:srgbClr val="CC00CC"/>
          </a:solidFill>
          <a:ln w="9525">
            <a:no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Tree>
    <p:extLst>
      <p:ext uri="{BB962C8B-B14F-4D97-AF65-F5344CB8AC3E}">
        <p14:creationId xmlns:p14="http://schemas.microsoft.com/office/powerpoint/2010/main" val="23296555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6"/>
          <p:cNvSpPr>
            <a:spLocks noChangeArrowheads="1"/>
          </p:cNvSpPr>
          <p:nvPr/>
        </p:nvSpPr>
        <p:spPr bwMode="auto">
          <a:xfrm>
            <a:off x="509474" y="980582"/>
            <a:ext cx="8280843" cy="124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接收端设置适当大小的</a:t>
            </a:r>
            <a:r>
              <a:rPr lang="zh-CN" altLang="en-US" sz="2000" b="1" dirty="0">
                <a:solidFill>
                  <a:srgbClr val="C00000"/>
                </a:solidFill>
                <a:latin typeface="微软雅黑" pitchFamily="34" charset="-122"/>
                <a:ea typeface="微软雅黑" pitchFamily="34" charset="-122"/>
              </a:rPr>
              <a:t>缓存。</a:t>
            </a:r>
            <a:r>
              <a:rPr lang="zh-CN" altLang="en-US" sz="2000" b="1" dirty="0">
                <a:latin typeface="微软雅黑" pitchFamily="34" charset="-122"/>
                <a:ea typeface="微软雅黑" pitchFamily="34" charset="-122"/>
              </a:rPr>
              <a:t>当缓存中的分组数达到一定的数量后，再以恒定速率按顺序把分组读出进行还原播放。</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缓存实际上就是一个先进先出的队列。</a:t>
            </a:r>
          </a:p>
        </p:txBody>
      </p:sp>
      <p:sp>
        <p:nvSpPr>
          <p:cNvPr id="5" name="AutoShape 5"/>
          <p:cNvSpPr>
            <a:spLocks noChangeArrowheads="1"/>
          </p:cNvSpPr>
          <p:nvPr/>
        </p:nvSpPr>
        <p:spPr bwMode="auto">
          <a:xfrm>
            <a:off x="509474" y="6075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820774" y="574376"/>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实现等时：</a:t>
            </a:r>
            <a:r>
              <a:rPr lang="zh-CN" altLang="en-US" sz="2000" b="1" dirty="0">
                <a:solidFill>
                  <a:schemeClr val="bg1"/>
                </a:solidFill>
                <a:latin typeface="微软雅黑" pitchFamily="34" charset="-122"/>
                <a:ea typeface="微软雅黑" pitchFamily="34" charset="-122"/>
              </a:rPr>
              <a:t>在接收端设置缓存</a:t>
            </a:r>
            <a:endParaRPr lang="fr-FR" altLang="zh-CN" sz="2000" b="1" dirty="0">
              <a:solidFill>
                <a:schemeClr val="bg1"/>
              </a:solidFill>
              <a:latin typeface="微软雅黑" pitchFamily="34" charset="-122"/>
              <a:ea typeface="微软雅黑" pitchFamily="34" charset="-122"/>
            </a:endParaRPr>
          </a:p>
        </p:txBody>
      </p:sp>
      <p:sp>
        <p:nvSpPr>
          <p:cNvPr id="2" name="圆角矩形 1"/>
          <p:cNvSpPr/>
          <p:nvPr/>
        </p:nvSpPr>
        <p:spPr>
          <a:xfrm>
            <a:off x="509474" y="2227077"/>
            <a:ext cx="8129015" cy="17965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Rectangle 120"/>
          <p:cNvSpPr>
            <a:spLocks noChangeArrowheads="1"/>
          </p:cNvSpPr>
          <p:nvPr/>
        </p:nvSpPr>
        <p:spPr bwMode="auto">
          <a:xfrm>
            <a:off x="3902706" y="2966201"/>
            <a:ext cx="1378373" cy="436118"/>
          </a:xfrm>
          <a:prstGeom prst="rect">
            <a:avLst/>
          </a:prstGeom>
          <a:solidFill>
            <a:srgbClr val="00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58" name="Line 86"/>
          <p:cNvSpPr>
            <a:spLocks noChangeShapeType="1"/>
          </p:cNvSpPr>
          <p:nvPr/>
        </p:nvSpPr>
        <p:spPr bwMode="auto">
          <a:xfrm>
            <a:off x="6150870" y="3364976"/>
            <a:ext cx="2100791"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59" name="Freeform 87"/>
          <p:cNvSpPr>
            <a:spLocks/>
          </p:cNvSpPr>
          <p:nvPr/>
        </p:nvSpPr>
        <p:spPr bwMode="auto">
          <a:xfrm>
            <a:off x="6776483" y="2999544"/>
            <a:ext cx="76576"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FFFF66"/>
          </a:solidFill>
          <a:ln w="9525" cap="flat">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0" name="Freeform 88"/>
          <p:cNvSpPr>
            <a:spLocks/>
          </p:cNvSpPr>
          <p:nvPr/>
        </p:nvSpPr>
        <p:spPr bwMode="auto">
          <a:xfrm>
            <a:off x="7163699"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1" name="Freeform 89"/>
          <p:cNvSpPr>
            <a:spLocks/>
          </p:cNvSpPr>
          <p:nvPr/>
        </p:nvSpPr>
        <p:spPr bwMode="auto">
          <a:xfrm>
            <a:off x="7552360"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2" name="Freeform 90"/>
          <p:cNvSpPr>
            <a:spLocks/>
          </p:cNvSpPr>
          <p:nvPr/>
        </p:nvSpPr>
        <p:spPr bwMode="auto">
          <a:xfrm>
            <a:off x="7906185"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3" name="Text Box 91"/>
          <p:cNvSpPr txBox="1">
            <a:spLocks noChangeArrowheads="1"/>
          </p:cNvSpPr>
          <p:nvPr/>
        </p:nvSpPr>
        <p:spPr bwMode="auto">
          <a:xfrm>
            <a:off x="8237212" y="3171910"/>
            <a:ext cx="323643" cy="38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FF"/>
                </a:solidFill>
                <a:latin typeface="微软雅黑" pitchFamily="34" charset="-122"/>
                <a:ea typeface="微软雅黑" pitchFamily="34" charset="-122"/>
              </a:rPr>
              <a:t>t</a:t>
            </a:r>
          </a:p>
        </p:txBody>
      </p:sp>
      <p:sp>
        <p:nvSpPr>
          <p:cNvPr id="66" name="Freeform 94"/>
          <p:cNvSpPr>
            <a:spLocks/>
          </p:cNvSpPr>
          <p:nvPr/>
        </p:nvSpPr>
        <p:spPr bwMode="auto">
          <a:xfrm>
            <a:off x="3355113" y="2958199"/>
            <a:ext cx="1941859" cy="452123"/>
          </a:xfrm>
          <a:custGeom>
            <a:avLst/>
            <a:gdLst>
              <a:gd name="T0" fmla="*/ 0 w 1200"/>
              <a:gd name="T1" fmla="*/ 0 h 240"/>
              <a:gd name="T2" fmla="*/ 1200 w 1200"/>
              <a:gd name="T3" fmla="*/ 0 h 240"/>
              <a:gd name="T4" fmla="*/ 1200 w 1200"/>
              <a:gd name="T5" fmla="*/ 240 h 240"/>
              <a:gd name="T6" fmla="*/ 0 w 1200"/>
              <a:gd name="T7" fmla="*/ 240 h 240"/>
            </a:gdLst>
            <a:ahLst/>
            <a:cxnLst>
              <a:cxn ang="0">
                <a:pos x="T0" y="T1"/>
              </a:cxn>
              <a:cxn ang="0">
                <a:pos x="T2" y="T3"/>
              </a:cxn>
              <a:cxn ang="0">
                <a:pos x="T4" y="T5"/>
              </a:cxn>
              <a:cxn ang="0">
                <a:pos x="T6" y="T7"/>
              </a:cxn>
            </a:cxnLst>
            <a:rect l="0" t="0" r="r" b="b"/>
            <a:pathLst>
              <a:path w="1200" h="240">
                <a:moveTo>
                  <a:pt x="0" y="0"/>
                </a:moveTo>
                <a:lnTo>
                  <a:pt x="1200" y="0"/>
                </a:lnTo>
                <a:lnTo>
                  <a:pt x="1200" y="240"/>
                </a:lnTo>
                <a:lnTo>
                  <a:pt x="0" y="240"/>
                </a:lnTo>
              </a:path>
            </a:pathLst>
          </a:custGeom>
          <a:noFill/>
          <a:ln w="190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7" name="Line 95"/>
          <p:cNvSpPr>
            <a:spLocks noChangeShapeType="1"/>
          </p:cNvSpPr>
          <p:nvPr/>
        </p:nvSpPr>
        <p:spPr bwMode="auto">
          <a:xfrm>
            <a:off x="5142375"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8" name="Line 96"/>
          <p:cNvSpPr>
            <a:spLocks noChangeShapeType="1"/>
          </p:cNvSpPr>
          <p:nvPr/>
        </p:nvSpPr>
        <p:spPr bwMode="auto">
          <a:xfrm>
            <a:off x="4986332"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9" name="Line 97"/>
          <p:cNvSpPr>
            <a:spLocks noChangeShapeType="1"/>
          </p:cNvSpPr>
          <p:nvPr/>
        </p:nvSpPr>
        <p:spPr bwMode="auto">
          <a:xfrm>
            <a:off x="4831735"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0" name="Line 98"/>
          <p:cNvSpPr>
            <a:spLocks noChangeShapeType="1"/>
          </p:cNvSpPr>
          <p:nvPr/>
        </p:nvSpPr>
        <p:spPr bwMode="auto">
          <a:xfrm>
            <a:off x="4675693"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1" name="Line 99"/>
          <p:cNvSpPr>
            <a:spLocks noChangeShapeType="1"/>
          </p:cNvSpPr>
          <p:nvPr/>
        </p:nvSpPr>
        <p:spPr bwMode="auto">
          <a:xfrm>
            <a:off x="4521095"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2" name="Line 100"/>
          <p:cNvSpPr>
            <a:spLocks noChangeShapeType="1"/>
          </p:cNvSpPr>
          <p:nvPr/>
        </p:nvSpPr>
        <p:spPr bwMode="auto">
          <a:xfrm>
            <a:off x="4365053"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3" name="Line 101"/>
          <p:cNvSpPr>
            <a:spLocks noChangeShapeType="1"/>
          </p:cNvSpPr>
          <p:nvPr/>
        </p:nvSpPr>
        <p:spPr bwMode="auto">
          <a:xfrm>
            <a:off x="4210456"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4" name="Line 102"/>
          <p:cNvSpPr>
            <a:spLocks noChangeShapeType="1"/>
          </p:cNvSpPr>
          <p:nvPr/>
        </p:nvSpPr>
        <p:spPr bwMode="auto">
          <a:xfrm>
            <a:off x="4054414"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75" name="Line 103"/>
          <p:cNvSpPr>
            <a:spLocks noChangeShapeType="1"/>
          </p:cNvSpPr>
          <p:nvPr/>
        </p:nvSpPr>
        <p:spPr bwMode="auto">
          <a:xfrm>
            <a:off x="3899816" y="2958199"/>
            <a:ext cx="0" cy="45212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grpSp>
        <p:nvGrpSpPr>
          <p:cNvPr id="3" name="组合 2"/>
          <p:cNvGrpSpPr/>
          <p:nvPr/>
        </p:nvGrpSpPr>
        <p:grpSpPr>
          <a:xfrm>
            <a:off x="3877889" y="2643060"/>
            <a:ext cx="1544012" cy="1243417"/>
            <a:chOff x="3877889" y="2993650"/>
            <a:chExt cx="1544012" cy="1243417"/>
          </a:xfrm>
        </p:grpSpPr>
        <p:sp>
          <p:nvSpPr>
            <p:cNvPr id="64" name="Line 92"/>
            <p:cNvSpPr>
              <a:spLocks noChangeShapeType="1"/>
            </p:cNvSpPr>
            <p:nvPr/>
          </p:nvSpPr>
          <p:spPr bwMode="auto">
            <a:xfrm>
              <a:off x="3899816" y="3893962"/>
              <a:ext cx="1397156" cy="0"/>
            </a:xfrm>
            <a:prstGeom prst="line">
              <a:avLst/>
            </a:prstGeom>
            <a:noFill/>
            <a:ln w="19050">
              <a:solidFill>
                <a:srgbClr val="9900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65" name="Text Box 93"/>
            <p:cNvSpPr txBox="1">
              <a:spLocks noChangeArrowheads="1"/>
            </p:cNvSpPr>
            <p:nvPr/>
          </p:nvSpPr>
          <p:spPr bwMode="auto">
            <a:xfrm>
              <a:off x="3877889" y="3898513"/>
              <a:ext cx="1544012"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i="1" dirty="0">
                  <a:solidFill>
                    <a:srgbClr val="0000FF"/>
                  </a:solidFill>
                  <a:latin typeface="微软雅黑" pitchFamily="34" charset="-122"/>
                  <a:ea typeface="微软雅黑" pitchFamily="34" charset="-122"/>
                </a:rPr>
                <a:t>T</a:t>
              </a:r>
              <a:r>
                <a:rPr kumimoji="1" lang="zh-CN" altLang="en-US" sz="1600" b="1" i="1" dirty="0">
                  <a:solidFill>
                    <a:srgbClr val="0000FF"/>
                  </a:solidFill>
                  <a:latin typeface="微软雅黑" pitchFamily="34" charset="-122"/>
                  <a:ea typeface="微软雅黑" pitchFamily="34" charset="-122"/>
                </a:rPr>
                <a:t>（播放时延）</a:t>
              </a:r>
              <a:endParaRPr kumimoji="1" lang="en-US" altLang="zh-CN" sz="1600" b="1" i="1" dirty="0">
                <a:solidFill>
                  <a:srgbClr val="0000FF"/>
                </a:solidFill>
                <a:latin typeface="微软雅黑" pitchFamily="34" charset="-122"/>
                <a:ea typeface="微软雅黑" pitchFamily="34" charset="-122"/>
              </a:endParaRPr>
            </a:p>
          </p:txBody>
        </p:sp>
        <p:sp>
          <p:nvSpPr>
            <p:cNvPr id="76" name="Text Box 104"/>
            <p:cNvSpPr txBox="1">
              <a:spLocks noChangeArrowheads="1"/>
            </p:cNvSpPr>
            <p:nvPr/>
          </p:nvSpPr>
          <p:spPr bwMode="auto">
            <a:xfrm>
              <a:off x="3987386" y="2993650"/>
              <a:ext cx="1346587" cy="308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FF"/>
                  </a:solidFill>
                  <a:latin typeface="微软雅黑" pitchFamily="34" charset="-122"/>
                  <a:ea typeface="微软雅黑" pitchFamily="34" charset="-122"/>
                </a:rPr>
                <a:t>缓存（队列）</a:t>
              </a:r>
            </a:p>
          </p:txBody>
        </p:sp>
      </p:grpSp>
      <p:sp>
        <p:nvSpPr>
          <p:cNvPr id="77" name="AutoShape 105"/>
          <p:cNvSpPr>
            <a:spLocks noChangeArrowheads="1"/>
          </p:cNvSpPr>
          <p:nvPr/>
        </p:nvSpPr>
        <p:spPr bwMode="auto">
          <a:xfrm>
            <a:off x="2986680" y="3091569"/>
            <a:ext cx="446454" cy="134703"/>
          </a:xfrm>
          <a:prstGeom prst="rightArrow">
            <a:avLst>
              <a:gd name="adj1" fmla="val 50000"/>
              <a:gd name="adj2" fmla="val 56387"/>
            </a:avLst>
          </a:prstGeom>
          <a:solidFill>
            <a:srgbClr val="CC00CC"/>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78" name="AutoShape 106"/>
          <p:cNvSpPr>
            <a:spLocks noChangeArrowheads="1"/>
          </p:cNvSpPr>
          <p:nvPr/>
        </p:nvSpPr>
        <p:spPr bwMode="auto">
          <a:xfrm>
            <a:off x="5529590" y="3091569"/>
            <a:ext cx="447899" cy="134703"/>
          </a:xfrm>
          <a:prstGeom prst="rightArrow">
            <a:avLst>
              <a:gd name="adj1" fmla="val 50000"/>
              <a:gd name="adj2" fmla="val 56569"/>
            </a:avLst>
          </a:prstGeom>
          <a:solidFill>
            <a:srgbClr val="CC00CC"/>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79" name="Text Box 107"/>
          <p:cNvSpPr txBox="1">
            <a:spLocks noChangeArrowheads="1"/>
          </p:cNvSpPr>
          <p:nvPr/>
        </p:nvSpPr>
        <p:spPr bwMode="auto">
          <a:xfrm>
            <a:off x="6957451" y="3384238"/>
            <a:ext cx="1128416" cy="38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恒定速率</a:t>
            </a:r>
          </a:p>
        </p:txBody>
      </p:sp>
      <p:sp>
        <p:nvSpPr>
          <p:cNvPr id="80" name="Freeform 108"/>
          <p:cNvSpPr>
            <a:spLocks/>
          </p:cNvSpPr>
          <p:nvPr/>
        </p:nvSpPr>
        <p:spPr bwMode="auto">
          <a:xfrm>
            <a:off x="1255767"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1" name="Freeform 109"/>
          <p:cNvSpPr>
            <a:spLocks/>
          </p:cNvSpPr>
          <p:nvPr/>
        </p:nvSpPr>
        <p:spPr bwMode="auto">
          <a:xfrm>
            <a:off x="1566407"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2" name="Freeform 110"/>
          <p:cNvSpPr>
            <a:spLocks/>
          </p:cNvSpPr>
          <p:nvPr/>
        </p:nvSpPr>
        <p:spPr bwMode="auto">
          <a:xfrm>
            <a:off x="2187686"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3" name="Freeform 111"/>
          <p:cNvSpPr>
            <a:spLocks/>
          </p:cNvSpPr>
          <p:nvPr/>
        </p:nvSpPr>
        <p:spPr bwMode="auto">
          <a:xfrm>
            <a:off x="2362511" y="2996876"/>
            <a:ext cx="78021" cy="364099"/>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4" name="Text Box 112"/>
          <p:cNvSpPr txBox="1">
            <a:spLocks noChangeArrowheads="1"/>
          </p:cNvSpPr>
          <p:nvPr/>
        </p:nvSpPr>
        <p:spPr bwMode="auto">
          <a:xfrm>
            <a:off x="2657258" y="3102238"/>
            <a:ext cx="323643" cy="38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FF"/>
                </a:solidFill>
                <a:latin typeface="微软雅黑" pitchFamily="34" charset="-122"/>
                <a:ea typeface="微软雅黑" pitchFamily="34" charset="-122"/>
              </a:rPr>
              <a:t>t</a:t>
            </a:r>
          </a:p>
        </p:txBody>
      </p:sp>
      <p:sp>
        <p:nvSpPr>
          <p:cNvPr id="85" name="Line 113"/>
          <p:cNvSpPr>
            <a:spLocks noChangeShapeType="1"/>
          </p:cNvSpPr>
          <p:nvPr/>
        </p:nvSpPr>
        <p:spPr bwMode="auto">
          <a:xfrm>
            <a:off x="715399" y="3364976"/>
            <a:ext cx="1938969"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6" name="Text Box 114"/>
          <p:cNvSpPr txBox="1">
            <a:spLocks noChangeArrowheads="1"/>
          </p:cNvSpPr>
          <p:nvPr/>
        </p:nvSpPr>
        <p:spPr bwMode="auto">
          <a:xfrm>
            <a:off x="1095709" y="3374312"/>
            <a:ext cx="116164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C00000"/>
                </a:solidFill>
                <a:latin typeface="微软雅黑" pitchFamily="34" charset="-122"/>
                <a:ea typeface="微软雅黑" pitchFamily="34" charset="-122"/>
              </a:rPr>
              <a:t>非恒定速率</a:t>
            </a:r>
          </a:p>
        </p:txBody>
      </p:sp>
      <p:sp>
        <p:nvSpPr>
          <p:cNvPr id="87" name="Freeform 115"/>
          <p:cNvSpPr>
            <a:spLocks/>
          </p:cNvSpPr>
          <p:nvPr/>
        </p:nvSpPr>
        <p:spPr bwMode="auto">
          <a:xfrm>
            <a:off x="869996" y="2999544"/>
            <a:ext cx="78021"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8" name="Freeform 116"/>
          <p:cNvSpPr>
            <a:spLocks/>
          </p:cNvSpPr>
          <p:nvPr/>
        </p:nvSpPr>
        <p:spPr bwMode="auto">
          <a:xfrm>
            <a:off x="6384933" y="2999544"/>
            <a:ext cx="76576" cy="365432"/>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89" name="Text Box 117"/>
          <p:cNvSpPr txBox="1">
            <a:spLocks noChangeArrowheads="1"/>
          </p:cNvSpPr>
          <p:nvPr/>
        </p:nvSpPr>
        <p:spPr bwMode="auto">
          <a:xfrm>
            <a:off x="5471724" y="2321932"/>
            <a:ext cx="13233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latin typeface="微软雅黑" pitchFamily="34" charset="-122"/>
                <a:ea typeface="微软雅黑" pitchFamily="34" charset="-122"/>
              </a:rPr>
              <a:t>有可能发生</a:t>
            </a:r>
          </a:p>
          <a:p>
            <a:pPr algn="ctr"/>
            <a:r>
              <a:rPr kumimoji="1" lang="zh-CN" altLang="en-US" sz="1400" b="1" dirty="0">
                <a:latin typeface="微软雅黑" pitchFamily="34" charset="-122"/>
                <a:ea typeface="微软雅黑" pitchFamily="34" charset="-122"/>
              </a:rPr>
              <a:t>分组丢失</a:t>
            </a:r>
          </a:p>
        </p:txBody>
      </p:sp>
      <p:sp>
        <p:nvSpPr>
          <p:cNvPr id="90" name="Line 118"/>
          <p:cNvSpPr>
            <a:spLocks noChangeShapeType="1"/>
          </p:cNvSpPr>
          <p:nvPr/>
        </p:nvSpPr>
        <p:spPr bwMode="auto">
          <a:xfrm>
            <a:off x="6533558" y="2748145"/>
            <a:ext cx="235380" cy="21947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42" name="Text Box 117"/>
          <p:cNvSpPr txBox="1">
            <a:spLocks noChangeArrowheads="1"/>
          </p:cNvSpPr>
          <p:nvPr/>
        </p:nvSpPr>
        <p:spPr bwMode="auto">
          <a:xfrm>
            <a:off x="6905197" y="2466694"/>
            <a:ext cx="13233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solidFill>
                  <a:srgbClr val="C00000"/>
                </a:solidFill>
                <a:latin typeface="微软雅黑" pitchFamily="34" charset="-122"/>
                <a:ea typeface="微软雅黑" pitchFamily="34" charset="-122"/>
              </a:rPr>
              <a:t>经过缓存</a:t>
            </a:r>
            <a:endParaRPr kumimoji="1" lang="en-US" altLang="zh-CN" sz="1400" b="1" dirty="0">
              <a:solidFill>
                <a:srgbClr val="C00000"/>
              </a:solidFill>
              <a:latin typeface="微软雅黑" pitchFamily="34" charset="-122"/>
              <a:ea typeface="微软雅黑" pitchFamily="34" charset="-122"/>
            </a:endParaRPr>
          </a:p>
          <a:p>
            <a:pPr algn="ctr"/>
            <a:r>
              <a:rPr kumimoji="1" lang="zh-CN" altLang="en-US" sz="1400" b="1" dirty="0">
                <a:solidFill>
                  <a:srgbClr val="C00000"/>
                </a:solidFill>
                <a:latin typeface="微软雅黑" pitchFamily="34" charset="-122"/>
                <a:ea typeface="微软雅黑" pitchFamily="34" charset="-122"/>
              </a:rPr>
              <a:t>变成等时的</a:t>
            </a:r>
          </a:p>
        </p:txBody>
      </p:sp>
    </p:spTree>
    <p:extLst>
      <p:ext uri="{BB962C8B-B14F-4D97-AF65-F5344CB8AC3E}">
        <p14:creationId xmlns:p14="http://schemas.microsoft.com/office/powerpoint/2010/main" val="24179966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圆角矩形 112"/>
          <p:cNvSpPr/>
          <p:nvPr/>
        </p:nvSpPr>
        <p:spPr>
          <a:xfrm>
            <a:off x="512573" y="1007699"/>
            <a:ext cx="8125916" cy="35555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 name="Group 96"/>
          <p:cNvGrpSpPr>
            <a:grpSpLocks/>
          </p:cNvGrpSpPr>
          <p:nvPr/>
        </p:nvGrpSpPr>
        <p:grpSpPr bwMode="auto">
          <a:xfrm>
            <a:off x="1904731" y="1092207"/>
            <a:ext cx="5291607" cy="449638"/>
            <a:chOff x="201" y="458"/>
            <a:chExt cx="5323" cy="490"/>
          </a:xfrm>
        </p:grpSpPr>
        <p:sp>
          <p:nvSpPr>
            <p:cNvPr id="6" name="Line 6"/>
            <p:cNvSpPr>
              <a:spLocks noChangeShapeType="1"/>
            </p:cNvSpPr>
            <p:nvPr/>
          </p:nvSpPr>
          <p:spPr bwMode="auto">
            <a:xfrm flipV="1">
              <a:off x="960"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 name="Line 7"/>
            <p:cNvSpPr>
              <a:spLocks noChangeShapeType="1"/>
            </p:cNvSpPr>
            <p:nvPr/>
          </p:nvSpPr>
          <p:spPr bwMode="auto">
            <a:xfrm flipV="1">
              <a:off x="1296"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 name="Line 8"/>
            <p:cNvSpPr>
              <a:spLocks noChangeShapeType="1"/>
            </p:cNvSpPr>
            <p:nvPr/>
          </p:nvSpPr>
          <p:spPr bwMode="auto">
            <a:xfrm flipV="1">
              <a:off x="1632"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 name="Line 9"/>
            <p:cNvSpPr>
              <a:spLocks noChangeShapeType="1"/>
            </p:cNvSpPr>
            <p:nvPr/>
          </p:nvSpPr>
          <p:spPr bwMode="auto">
            <a:xfrm flipV="1">
              <a:off x="1968"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 name="Line 10"/>
            <p:cNvSpPr>
              <a:spLocks noChangeShapeType="1"/>
            </p:cNvSpPr>
            <p:nvPr/>
          </p:nvSpPr>
          <p:spPr bwMode="auto">
            <a:xfrm flipV="1">
              <a:off x="2304"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Line 11"/>
            <p:cNvSpPr>
              <a:spLocks noChangeShapeType="1"/>
            </p:cNvSpPr>
            <p:nvPr/>
          </p:nvSpPr>
          <p:spPr bwMode="auto">
            <a:xfrm flipV="1">
              <a:off x="2640" y="480"/>
              <a:ext cx="0" cy="19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2" name="Text Box 12"/>
            <p:cNvSpPr txBox="1">
              <a:spLocks noChangeArrowheads="1"/>
            </p:cNvSpPr>
            <p:nvPr/>
          </p:nvSpPr>
          <p:spPr bwMode="auto">
            <a:xfrm>
              <a:off x="201" y="458"/>
              <a:ext cx="72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90000"/>
                </a:lnSpc>
              </a:pPr>
              <a:r>
                <a:rPr kumimoji="1" lang="zh-CN" altLang="en-US" sz="1000" b="1" dirty="0">
                  <a:latin typeface="微软雅黑" pitchFamily="34" charset="-122"/>
                  <a:ea typeface="微软雅黑" pitchFamily="34" charset="-122"/>
                </a:rPr>
                <a:t>分组发出</a:t>
              </a:r>
            </a:p>
          </p:txBody>
        </p:sp>
        <p:sp>
          <p:nvSpPr>
            <p:cNvPr id="13" name="Text Box 13"/>
            <p:cNvSpPr txBox="1">
              <a:spLocks noChangeArrowheads="1"/>
            </p:cNvSpPr>
            <p:nvPr/>
          </p:nvSpPr>
          <p:spPr bwMode="auto">
            <a:xfrm>
              <a:off x="788" y="663"/>
              <a:ext cx="20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 1      2      3      4      5      6</a:t>
              </a:r>
            </a:p>
          </p:txBody>
        </p:sp>
        <p:sp>
          <p:nvSpPr>
            <p:cNvPr id="14" name="Text Box 14"/>
            <p:cNvSpPr txBox="1">
              <a:spLocks noChangeArrowheads="1"/>
            </p:cNvSpPr>
            <p:nvPr/>
          </p:nvSpPr>
          <p:spPr bwMode="auto">
            <a:xfrm>
              <a:off x="5280" y="525"/>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latin typeface="微软雅黑" pitchFamily="34" charset="-122"/>
                  <a:ea typeface="微软雅黑" pitchFamily="34" charset="-122"/>
                </a:rPr>
                <a:t>t</a:t>
              </a:r>
            </a:p>
          </p:txBody>
        </p:sp>
        <p:sp>
          <p:nvSpPr>
            <p:cNvPr id="5" name="Line 5"/>
            <p:cNvSpPr>
              <a:spLocks noChangeShapeType="1"/>
            </p:cNvSpPr>
            <p:nvPr/>
          </p:nvSpPr>
          <p:spPr bwMode="auto">
            <a:xfrm>
              <a:off x="315" y="672"/>
              <a:ext cx="5013"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15" name="Group 103"/>
          <p:cNvGrpSpPr>
            <a:grpSpLocks/>
          </p:cNvGrpSpPr>
          <p:nvPr/>
        </p:nvGrpSpPr>
        <p:grpSpPr bwMode="auto">
          <a:xfrm>
            <a:off x="1916661" y="1502389"/>
            <a:ext cx="5136527" cy="2529914"/>
            <a:chOff x="213" y="905"/>
            <a:chExt cx="5167" cy="2757"/>
          </a:xfrm>
        </p:grpSpPr>
        <p:sp>
          <p:nvSpPr>
            <p:cNvPr id="16" name="Text Box 34"/>
            <p:cNvSpPr txBox="1">
              <a:spLocks noChangeArrowheads="1"/>
            </p:cNvSpPr>
            <p:nvPr/>
          </p:nvSpPr>
          <p:spPr bwMode="auto">
            <a:xfrm>
              <a:off x="213" y="905"/>
              <a:ext cx="8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000" b="1" dirty="0">
                  <a:latin typeface="微软雅黑" pitchFamily="34" charset="-122"/>
                  <a:ea typeface="微软雅黑" pitchFamily="34" charset="-122"/>
                </a:rPr>
                <a:t>到达分组数</a:t>
              </a:r>
            </a:p>
          </p:txBody>
        </p:sp>
        <p:grpSp>
          <p:nvGrpSpPr>
            <p:cNvPr id="17" name="Group 102"/>
            <p:cNvGrpSpPr>
              <a:grpSpLocks/>
            </p:cNvGrpSpPr>
            <p:nvPr/>
          </p:nvGrpSpPr>
          <p:grpSpPr bwMode="auto">
            <a:xfrm>
              <a:off x="351" y="1104"/>
              <a:ext cx="321" cy="2256"/>
              <a:chOff x="351" y="1104"/>
              <a:chExt cx="321" cy="2256"/>
            </a:xfrm>
          </p:grpSpPr>
          <p:sp>
            <p:nvSpPr>
              <p:cNvPr id="37" name="Line 25"/>
              <p:cNvSpPr>
                <a:spLocks noChangeShapeType="1"/>
              </p:cNvSpPr>
              <p:nvPr/>
            </p:nvSpPr>
            <p:spPr bwMode="auto">
              <a:xfrm>
                <a:off x="624" y="1104"/>
                <a:ext cx="0" cy="2256"/>
              </a:xfrm>
              <a:prstGeom prst="line">
                <a:avLst/>
              </a:prstGeom>
              <a:noFill/>
              <a:ln w="19050">
                <a:solidFill>
                  <a:srgbClr val="000099"/>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8" name="Line 27"/>
              <p:cNvSpPr>
                <a:spLocks noChangeShapeType="1"/>
              </p:cNvSpPr>
              <p:nvPr/>
            </p:nvSpPr>
            <p:spPr bwMode="auto">
              <a:xfrm rot="5400000" flipV="1">
                <a:off x="624" y="2976"/>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9" name="Line 28"/>
              <p:cNvSpPr>
                <a:spLocks noChangeShapeType="1"/>
              </p:cNvSpPr>
              <p:nvPr/>
            </p:nvSpPr>
            <p:spPr bwMode="auto">
              <a:xfrm rot="5400000" flipV="1">
                <a:off x="624" y="2640"/>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0" name="Line 29"/>
              <p:cNvSpPr>
                <a:spLocks noChangeShapeType="1"/>
              </p:cNvSpPr>
              <p:nvPr/>
            </p:nvSpPr>
            <p:spPr bwMode="auto">
              <a:xfrm rot="5400000" flipV="1">
                <a:off x="624" y="2304"/>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1" name="Line 30"/>
              <p:cNvSpPr>
                <a:spLocks noChangeShapeType="1"/>
              </p:cNvSpPr>
              <p:nvPr/>
            </p:nvSpPr>
            <p:spPr bwMode="auto">
              <a:xfrm rot="5400000" flipV="1">
                <a:off x="624" y="1968"/>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2" name="Line 31"/>
              <p:cNvSpPr>
                <a:spLocks noChangeShapeType="1"/>
              </p:cNvSpPr>
              <p:nvPr/>
            </p:nvSpPr>
            <p:spPr bwMode="auto">
              <a:xfrm rot="5400000" flipV="1">
                <a:off x="624" y="163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3" name="Line 32"/>
              <p:cNvSpPr>
                <a:spLocks noChangeShapeType="1"/>
              </p:cNvSpPr>
              <p:nvPr/>
            </p:nvSpPr>
            <p:spPr bwMode="auto">
              <a:xfrm rot="5400000" flipV="1">
                <a:off x="624" y="1296"/>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44" name="Text Box 35"/>
              <p:cNvSpPr txBox="1">
                <a:spLocks noChangeArrowheads="1"/>
              </p:cNvSpPr>
              <p:nvPr/>
            </p:nvSpPr>
            <p:spPr bwMode="auto">
              <a:xfrm>
                <a:off x="351" y="1120"/>
                <a:ext cx="273" cy="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ts val="2400"/>
                  </a:lnSpc>
                </a:pPr>
                <a:r>
                  <a:rPr kumimoji="1" lang="en-US" altLang="zh-CN" sz="1100" b="1" dirty="0">
                    <a:latin typeface="微软雅黑" pitchFamily="34" charset="-122"/>
                    <a:ea typeface="微软雅黑" pitchFamily="34" charset="-122"/>
                  </a:rPr>
                  <a:t>6</a:t>
                </a:r>
              </a:p>
              <a:p>
                <a:pPr>
                  <a:lnSpc>
                    <a:spcPts val="2400"/>
                  </a:lnSpc>
                </a:pPr>
                <a:r>
                  <a:rPr kumimoji="1" lang="en-US" altLang="zh-CN" sz="1100" b="1" dirty="0">
                    <a:latin typeface="微软雅黑" pitchFamily="34" charset="-122"/>
                    <a:ea typeface="微软雅黑" pitchFamily="34" charset="-122"/>
                  </a:rPr>
                  <a:t>5</a:t>
                </a:r>
              </a:p>
              <a:p>
                <a:pPr>
                  <a:lnSpc>
                    <a:spcPts val="2400"/>
                  </a:lnSpc>
                </a:pPr>
                <a:r>
                  <a:rPr kumimoji="1" lang="en-US" altLang="zh-CN" sz="1100" b="1" dirty="0">
                    <a:latin typeface="微软雅黑" pitchFamily="34" charset="-122"/>
                    <a:ea typeface="微软雅黑" pitchFamily="34" charset="-122"/>
                  </a:rPr>
                  <a:t>4</a:t>
                </a:r>
              </a:p>
              <a:p>
                <a:pPr>
                  <a:lnSpc>
                    <a:spcPts val="2400"/>
                  </a:lnSpc>
                </a:pPr>
                <a:r>
                  <a:rPr kumimoji="1" lang="en-US" altLang="zh-CN" sz="1100" b="1" dirty="0">
                    <a:latin typeface="微软雅黑" pitchFamily="34" charset="-122"/>
                    <a:ea typeface="微软雅黑" pitchFamily="34" charset="-122"/>
                  </a:rPr>
                  <a:t>3</a:t>
                </a:r>
              </a:p>
              <a:p>
                <a:pPr>
                  <a:lnSpc>
                    <a:spcPts val="2400"/>
                  </a:lnSpc>
                </a:pPr>
                <a:r>
                  <a:rPr kumimoji="1" lang="en-US" altLang="zh-CN" sz="1100" b="1" dirty="0">
                    <a:latin typeface="微软雅黑" pitchFamily="34" charset="-122"/>
                    <a:ea typeface="微软雅黑" pitchFamily="34" charset="-122"/>
                  </a:rPr>
                  <a:t>2</a:t>
                </a:r>
              </a:p>
              <a:p>
                <a:pPr>
                  <a:lnSpc>
                    <a:spcPts val="2400"/>
                  </a:lnSpc>
                </a:pPr>
                <a:r>
                  <a:rPr kumimoji="1" lang="en-US" altLang="zh-CN" sz="1100" b="1" dirty="0">
                    <a:latin typeface="微软雅黑" pitchFamily="34" charset="-122"/>
                    <a:ea typeface="微软雅黑" pitchFamily="34" charset="-122"/>
                  </a:rPr>
                  <a:t>1</a:t>
                </a:r>
              </a:p>
            </p:txBody>
          </p:sp>
        </p:grpSp>
        <p:grpSp>
          <p:nvGrpSpPr>
            <p:cNvPr id="18" name="Group 101"/>
            <p:cNvGrpSpPr>
              <a:grpSpLocks/>
            </p:cNvGrpSpPr>
            <p:nvPr/>
          </p:nvGrpSpPr>
          <p:grpSpPr bwMode="auto">
            <a:xfrm>
              <a:off x="624" y="3213"/>
              <a:ext cx="4756" cy="449"/>
              <a:chOff x="624" y="3213"/>
              <a:chExt cx="4756" cy="449"/>
            </a:xfrm>
          </p:grpSpPr>
          <p:sp>
            <p:nvSpPr>
              <p:cNvPr id="19" name="Text Box 84"/>
              <p:cNvSpPr txBox="1">
                <a:spLocks noChangeArrowheads="1"/>
              </p:cNvSpPr>
              <p:nvPr/>
            </p:nvSpPr>
            <p:spPr bwMode="auto">
              <a:xfrm>
                <a:off x="835" y="3377"/>
                <a:ext cx="2008"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1      2      3      4      5      6</a:t>
                </a:r>
              </a:p>
            </p:txBody>
          </p:sp>
          <p:sp>
            <p:nvSpPr>
              <p:cNvPr id="22" name="Line 36"/>
              <p:cNvSpPr>
                <a:spLocks noChangeShapeType="1"/>
              </p:cNvSpPr>
              <p:nvPr/>
            </p:nvSpPr>
            <p:spPr bwMode="auto">
              <a:xfrm>
                <a:off x="624" y="3360"/>
                <a:ext cx="4512" cy="0"/>
              </a:xfrm>
              <a:prstGeom prst="line">
                <a:avLst/>
              </a:prstGeom>
              <a:noFill/>
              <a:ln w="19050">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Line 37"/>
              <p:cNvSpPr>
                <a:spLocks noChangeShapeType="1"/>
              </p:cNvSpPr>
              <p:nvPr/>
            </p:nvSpPr>
            <p:spPr bwMode="auto">
              <a:xfrm rot="10800000" flipV="1">
                <a:off x="960"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4" name="Line 38"/>
              <p:cNvSpPr>
                <a:spLocks noChangeShapeType="1"/>
              </p:cNvSpPr>
              <p:nvPr/>
            </p:nvSpPr>
            <p:spPr bwMode="auto">
              <a:xfrm rot="10800000" flipV="1">
                <a:off x="1296"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Line 39"/>
              <p:cNvSpPr>
                <a:spLocks noChangeShapeType="1"/>
              </p:cNvSpPr>
              <p:nvPr/>
            </p:nvSpPr>
            <p:spPr bwMode="auto">
              <a:xfrm rot="10800000" flipV="1">
                <a:off x="1632"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6" name="Line 40"/>
              <p:cNvSpPr>
                <a:spLocks noChangeShapeType="1"/>
              </p:cNvSpPr>
              <p:nvPr/>
            </p:nvSpPr>
            <p:spPr bwMode="auto">
              <a:xfrm rot="10800000" flipV="1">
                <a:off x="1968"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Line 41"/>
              <p:cNvSpPr>
                <a:spLocks noChangeShapeType="1"/>
              </p:cNvSpPr>
              <p:nvPr/>
            </p:nvSpPr>
            <p:spPr bwMode="auto">
              <a:xfrm rot="10800000" flipV="1">
                <a:off x="2304"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8" name="Line 42"/>
              <p:cNvSpPr>
                <a:spLocks noChangeShapeType="1"/>
              </p:cNvSpPr>
              <p:nvPr/>
            </p:nvSpPr>
            <p:spPr bwMode="auto">
              <a:xfrm rot="10800000" flipV="1">
                <a:off x="2640"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Line 43"/>
              <p:cNvSpPr>
                <a:spLocks noChangeShapeType="1"/>
              </p:cNvSpPr>
              <p:nvPr/>
            </p:nvSpPr>
            <p:spPr bwMode="auto">
              <a:xfrm rot="10800000" flipV="1">
                <a:off x="2976"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0" name="Line 44"/>
              <p:cNvSpPr>
                <a:spLocks noChangeShapeType="1"/>
              </p:cNvSpPr>
              <p:nvPr/>
            </p:nvSpPr>
            <p:spPr bwMode="auto">
              <a:xfrm rot="10800000" flipV="1">
                <a:off x="3312"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1" name="Line 45"/>
              <p:cNvSpPr>
                <a:spLocks noChangeShapeType="1"/>
              </p:cNvSpPr>
              <p:nvPr/>
            </p:nvSpPr>
            <p:spPr bwMode="auto">
              <a:xfrm rot="10800000" flipV="1">
                <a:off x="3648"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2" name="Line 46"/>
              <p:cNvSpPr>
                <a:spLocks noChangeShapeType="1"/>
              </p:cNvSpPr>
              <p:nvPr/>
            </p:nvSpPr>
            <p:spPr bwMode="auto">
              <a:xfrm rot="10800000" flipV="1">
                <a:off x="3984"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3" name="Line 47"/>
              <p:cNvSpPr>
                <a:spLocks noChangeShapeType="1"/>
              </p:cNvSpPr>
              <p:nvPr/>
            </p:nvSpPr>
            <p:spPr bwMode="auto">
              <a:xfrm rot="10800000" flipV="1">
                <a:off x="4320"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4" name="Line 48"/>
              <p:cNvSpPr>
                <a:spLocks noChangeShapeType="1"/>
              </p:cNvSpPr>
              <p:nvPr/>
            </p:nvSpPr>
            <p:spPr bwMode="auto">
              <a:xfrm rot="10800000" flipV="1">
                <a:off x="4656"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5" name="Line 49"/>
              <p:cNvSpPr>
                <a:spLocks noChangeShapeType="1"/>
              </p:cNvSpPr>
              <p:nvPr/>
            </p:nvSpPr>
            <p:spPr bwMode="auto">
              <a:xfrm rot="10800000" flipV="1">
                <a:off x="4992" y="3312"/>
                <a:ext cx="0" cy="9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36" name="Text Box 50"/>
              <p:cNvSpPr txBox="1">
                <a:spLocks noChangeArrowheads="1"/>
              </p:cNvSpPr>
              <p:nvPr/>
            </p:nvSpPr>
            <p:spPr bwMode="auto">
              <a:xfrm>
                <a:off x="5136" y="3213"/>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latin typeface="微软雅黑" pitchFamily="34" charset="-122"/>
                    <a:ea typeface="微软雅黑" pitchFamily="34" charset="-122"/>
                  </a:rPr>
                  <a:t>t</a:t>
                </a:r>
              </a:p>
            </p:txBody>
          </p:sp>
        </p:grpSp>
      </p:grpSp>
      <p:grpSp>
        <p:nvGrpSpPr>
          <p:cNvPr id="45" name="Group 107"/>
          <p:cNvGrpSpPr>
            <a:grpSpLocks/>
          </p:cNvGrpSpPr>
          <p:nvPr/>
        </p:nvGrpSpPr>
        <p:grpSpPr bwMode="auto">
          <a:xfrm>
            <a:off x="3582777" y="2857735"/>
            <a:ext cx="748560" cy="545075"/>
            <a:chOff x="1889" y="2382"/>
            <a:chExt cx="753" cy="594"/>
          </a:xfrm>
        </p:grpSpPr>
        <p:sp>
          <p:nvSpPr>
            <p:cNvPr id="46" name="Text Box 67"/>
            <p:cNvSpPr txBox="1">
              <a:spLocks noChangeArrowheads="1"/>
            </p:cNvSpPr>
            <p:nvPr/>
          </p:nvSpPr>
          <p:spPr bwMode="auto">
            <a:xfrm>
              <a:off x="1889" y="2382"/>
              <a:ext cx="75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solidFill>
                    <a:srgbClr val="0000FF"/>
                  </a:solidFill>
                  <a:latin typeface="微软雅黑" pitchFamily="34" charset="-122"/>
                  <a:ea typeface="微软雅黑" pitchFamily="34" charset="-122"/>
                </a:rPr>
                <a:t>缓存时间</a:t>
              </a:r>
            </a:p>
          </p:txBody>
        </p:sp>
        <p:sp>
          <p:nvSpPr>
            <p:cNvPr id="47" name="Line 68"/>
            <p:cNvSpPr>
              <a:spLocks noChangeShapeType="1"/>
            </p:cNvSpPr>
            <p:nvPr/>
          </p:nvSpPr>
          <p:spPr bwMode="auto">
            <a:xfrm>
              <a:off x="2304" y="2592"/>
              <a:ext cx="174" cy="264"/>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grpSp>
          <p:nvGrpSpPr>
            <p:cNvPr id="48" name="Group 93"/>
            <p:cNvGrpSpPr>
              <a:grpSpLocks/>
            </p:cNvGrpSpPr>
            <p:nvPr/>
          </p:nvGrpSpPr>
          <p:grpSpPr bwMode="auto">
            <a:xfrm>
              <a:off x="2400" y="2772"/>
              <a:ext cx="160" cy="204"/>
              <a:chOff x="2400" y="2772"/>
              <a:chExt cx="160" cy="204"/>
            </a:xfrm>
          </p:grpSpPr>
          <p:sp>
            <p:nvSpPr>
              <p:cNvPr id="49" name="Line 58"/>
              <p:cNvSpPr>
                <a:spLocks noChangeShapeType="1"/>
              </p:cNvSpPr>
              <p:nvPr/>
            </p:nvSpPr>
            <p:spPr bwMode="auto">
              <a:xfrm>
                <a:off x="2556" y="2772"/>
                <a:ext cx="1" cy="1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sp>
            <p:nvSpPr>
              <p:cNvPr id="50" name="Line 59"/>
              <p:cNvSpPr>
                <a:spLocks noChangeShapeType="1"/>
              </p:cNvSpPr>
              <p:nvPr/>
            </p:nvSpPr>
            <p:spPr bwMode="auto">
              <a:xfrm>
                <a:off x="2402" y="2868"/>
                <a:ext cx="158" cy="1"/>
              </a:xfrm>
              <a:prstGeom prst="line">
                <a:avLst/>
              </a:prstGeom>
              <a:noFill/>
              <a:ln w="12700">
                <a:solidFill>
                  <a:srgbClr val="000099"/>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sp>
            <p:nvSpPr>
              <p:cNvPr id="51" name="Line 69"/>
              <p:cNvSpPr>
                <a:spLocks noChangeShapeType="1"/>
              </p:cNvSpPr>
              <p:nvPr/>
            </p:nvSpPr>
            <p:spPr bwMode="auto">
              <a:xfrm>
                <a:off x="2400" y="2784"/>
                <a:ext cx="0" cy="1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grpSp>
      </p:grpSp>
      <p:grpSp>
        <p:nvGrpSpPr>
          <p:cNvPr id="52" name="Group 112"/>
          <p:cNvGrpSpPr>
            <a:grpSpLocks/>
          </p:cNvGrpSpPr>
          <p:nvPr/>
        </p:nvGrpSpPr>
        <p:grpSpPr bwMode="auto">
          <a:xfrm>
            <a:off x="4095478" y="1833654"/>
            <a:ext cx="3254691" cy="1939877"/>
            <a:chOff x="2394" y="1266"/>
            <a:chExt cx="3274" cy="2114"/>
          </a:xfrm>
        </p:grpSpPr>
        <p:sp>
          <p:nvSpPr>
            <p:cNvPr id="53" name="Line 70"/>
            <p:cNvSpPr>
              <a:spLocks noChangeShapeType="1"/>
            </p:cNvSpPr>
            <p:nvPr/>
          </p:nvSpPr>
          <p:spPr bwMode="auto">
            <a:xfrm flipV="1">
              <a:off x="3144" y="1266"/>
              <a:ext cx="1752" cy="1752"/>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4" name="Oval 71"/>
            <p:cNvSpPr>
              <a:spLocks noChangeArrowheads="1"/>
            </p:cNvSpPr>
            <p:nvPr/>
          </p:nvSpPr>
          <p:spPr bwMode="auto">
            <a:xfrm>
              <a:off x="3114" y="2976"/>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5" name="Oval 72"/>
            <p:cNvSpPr>
              <a:spLocks noChangeArrowheads="1"/>
            </p:cNvSpPr>
            <p:nvPr/>
          </p:nvSpPr>
          <p:spPr bwMode="auto">
            <a:xfrm>
              <a:off x="4789" y="1305"/>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6" name="Oval 73"/>
            <p:cNvSpPr>
              <a:spLocks noChangeArrowheads="1"/>
            </p:cNvSpPr>
            <p:nvPr/>
          </p:nvSpPr>
          <p:spPr bwMode="auto">
            <a:xfrm>
              <a:off x="4446" y="1632"/>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7" name="Oval 74"/>
            <p:cNvSpPr>
              <a:spLocks noChangeArrowheads="1"/>
            </p:cNvSpPr>
            <p:nvPr/>
          </p:nvSpPr>
          <p:spPr bwMode="auto">
            <a:xfrm>
              <a:off x="3450" y="2646"/>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8" name="Oval 75"/>
            <p:cNvSpPr>
              <a:spLocks noChangeArrowheads="1"/>
            </p:cNvSpPr>
            <p:nvPr/>
          </p:nvSpPr>
          <p:spPr bwMode="auto">
            <a:xfrm>
              <a:off x="3780" y="2310"/>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9" name="Oval 76"/>
            <p:cNvSpPr>
              <a:spLocks noChangeArrowheads="1"/>
            </p:cNvSpPr>
            <p:nvPr/>
          </p:nvSpPr>
          <p:spPr bwMode="auto">
            <a:xfrm>
              <a:off x="4104" y="1974"/>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nvGrpSpPr>
            <p:cNvPr id="60" name="Group 111"/>
            <p:cNvGrpSpPr>
              <a:grpSpLocks/>
            </p:cNvGrpSpPr>
            <p:nvPr/>
          </p:nvGrpSpPr>
          <p:grpSpPr bwMode="auto">
            <a:xfrm>
              <a:off x="2394" y="3012"/>
              <a:ext cx="771" cy="368"/>
              <a:chOff x="2394" y="3012"/>
              <a:chExt cx="771" cy="368"/>
            </a:xfrm>
          </p:grpSpPr>
          <p:sp>
            <p:nvSpPr>
              <p:cNvPr id="63" name="Line 77"/>
              <p:cNvSpPr>
                <a:spLocks noChangeShapeType="1"/>
              </p:cNvSpPr>
              <p:nvPr/>
            </p:nvSpPr>
            <p:spPr bwMode="auto">
              <a:xfrm>
                <a:off x="3150" y="3012"/>
                <a:ext cx="0" cy="1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nvGrpSpPr>
              <p:cNvPr id="64" name="Group 94"/>
              <p:cNvGrpSpPr>
                <a:grpSpLocks/>
              </p:cNvGrpSpPr>
              <p:nvPr/>
            </p:nvGrpSpPr>
            <p:grpSpPr bwMode="auto">
              <a:xfrm>
                <a:off x="2394" y="3113"/>
                <a:ext cx="771" cy="267"/>
                <a:chOff x="2394" y="3113"/>
                <a:chExt cx="771" cy="267"/>
              </a:xfrm>
            </p:grpSpPr>
            <p:sp>
              <p:nvSpPr>
                <p:cNvPr id="65" name="Text Box 83"/>
                <p:cNvSpPr txBox="1">
                  <a:spLocks noChangeArrowheads="1"/>
                </p:cNvSpPr>
                <p:nvPr/>
              </p:nvSpPr>
              <p:spPr bwMode="auto">
                <a:xfrm>
                  <a:off x="2412" y="3113"/>
                  <a:ext cx="75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solidFill>
                        <a:srgbClr val="C00000"/>
                      </a:solidFill>
                      <a:latin typeface="微软雅黑" pitchFamily="34" charset="-122"/>
                      <a:ea typeface="微软雅黑" pitchFamily="34" charset="-122"/>
                    </a:rPr>
                    <a:t>缓存时间</a:t>
                  </a:r>
                </a:p>
              </p:txBody>
            </p:sp>
            <p:sp>
              <p:nvSpPr>
                <p:cNvPr id="66" name="Line 78"/>
                <p:cNvSpPr>
                  <a:spLocks noChangeShapeType="1"/>
                </p:cNvSpPr>
                <p:nvPr/>
              </p:nvSpPr>
              <p:spPr bwMode="auto">
                <a:xfrm>
                  <a:off x="2394" y="3117"/>
                  <a:ext cx="750" cy="0"/>
                </a:xfrm>
                <a:prstGeom prst="line">
                  <a:avLst/>
                </a:prstGeom>
                <a:noFill/>
                <a:ln w="1270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sp>
          <p:nvSpPr>
            <p:cNvPr id="61" name="Text Box 81"/>
            <p:cNvSpPr txBox="1">
              <a:spLocks noChangeArrowheads="1"/>
            </p:cNvSpPr>
            <p:nvPr/>
          </p:nvSpPr>
          <p:spPr bwMode="auto">
            <a:xfrm>
              <a:off x="4286" y="2016"/>
              <a:ext cx="138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en-US" altLang="zh-CN" sz="1400" b="1" dirty="0">
                  <a:solidFill>
                    <a:srgbClr val="000099"/>
                  </a:solidFill>
                  <a:latin typeface="微软雅黑" pitchFamily="34" charset="-122"/>
                  <a:ea typeface="微软雅黑" pitchFamily="34" charset="-122"/>
                  <a:sym typeface="Wingdings" pitchFamily="2" charset="2"/>
                </a:rPr>
                <a:t></a:t>
              </a:r>
              <a:r>
                <a:rPr kumimoji="1" lang="en-US" altLang="zh-CN" sz="1100" b="1" dirty="0">
                  <a:solidFill>
                    <a:srgbClr val="CC00CC"/>
                  </a:solidFill>
                  <a:latin typeface="微软雅黑" pitchFamily="34" charset="-122"/>
                  <a:ea typeface="微软雅黑" pitchFamily="34" charset="-122"/>
                  <a:sym typeface="Wingdings" pitchFamily="2" charset="2"/>
                </a:rPr>
                <a:t> </a:t>
              </a:r>
              <a:r>
                <a:rPr kumimoji="1" lang="zh-CN" altLang="en-US" sz="1100" b="1" dirty="0">
                  <a:solidFill>
                    <a:srgbClr val="CC00CC"/>
                  </a:solidFill>
                  <a:latin typeface="微软雅黑" pitchFamily="34" charset="-122"/>
                  <a:ea typeface="微软雅黑" pitchFamily="34" charset="-122"/>
                </a:rPr>
                <a:t>再推迟播放时间</a:t>
              </a:r>
            </a:p>
          </p:txBody>
        </p:sp>
        <p:sp>
          <p:nvSpPr>
            <p:cNvPr id="62" name="Line 82"/>
            <p:cNvSpPr>
              <a:spLocks noChangeShapeType="1"/>
            </p:cNvSpPr>
            <p:nvPr/>
          </p:nvSpPr>
          <p:spPr bwMode="auto">
            <a:xfrm rot="-10800000">
              <a:off x="4332" y="1843"/>
              <a:ext cx="226" cy="226"/>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67" name="Group 104"/>
          <p:cNvGrpSpPr>
            <a:grpSpLocks/>
          </p:cNvGrpSpPr>
          <p:nvPr/>
        </p:nvGrpSpPr>
        <p:grpSpPr bwMode="auto">
          <a:xfrm>
            <a:off x="2659254" y="1905229"/>
            <a:ext cx="2004111" cy="1849949"/>
            <a:chOff x="960" y="1344"/>
            <a:chExt cx="2016" cy="2016"/>
          </a:xfrm>
        </p:grpSpPr>
        <p:sp>
          <p:nvSpPr>
            <p:cNvPr id="68" name="Freeform 4"/>
            <p:cNvSpPr>
              <a:spLocks/>
            </p:cNvSpPr>
            <p:nvPr/>
          </p:nvSpPr>
          <p:spPr bwMode="auto">
            <a:xfrm>
              <a:off x="960" y="1344"/>
              <a:ext cx="2016" cy="2016"/>
            </a:xfrm>
            <a:custGeom>
              <a:avLst/>
              <a:gdLst>
                <a:gd name="T0" fmla="*/ 0 w 2016"/>
                <a:gd name="T1" fmla="*/ 2016 h 2016"/>
                <a:gd name="T2" fmla="*/ 0 w 2016"/>
                <a:gd name="T3" fmla="*/ 1680 h 2016"/>
                <a:gd name="T4" fmla="*/ 336 w 2016"/>
                <a:gd name="T5" fmla="*/ 1680 h 2016"/>
                <a:gd name="T6" fmla="*/ 336 w 2016"/>
                <a:gd name="T7" fmla="*/ 1344 h 2016"/>
                <a:gd name="T8" fmla="*/ 672 w 2016"/>
                <a:gd name="T9" fmla="*/ 1344 h 2016"/>
                <a:gd name="T10" fmla="*/ 672 w 2016"/>
                <a:gd name="T11" fmla="*/ 1008 h 2016"/>
                <a:gd name="T12" fmla="*/ 1008 w 2016"/>
                <a:gd name="T13" fmla="*/ 1008 h 2016"/>
                <a:gd name="T14" fmla="*/ 1008 w 2016"/>
                <a:gd name="T15" fmla="*/ 672 h 2016"/>
                <a:gd name="T16" fmla="*/ 1344 w 2016"/>
                <a:gd name="T17" fmla="*/ 672 h 2016"/>
                <a:gd name="T18" fmla="*/ 1344 w 2016"/>
                <a:gd name="T19" fmla="*/ 336 h 2016"/>
                <a:gd name="T20" fmla="*/ 1680 w 2016"/>
                <a:gd name="T21" fmla="*/ 336 h 2016"/>
                <a:gd name="T22" fmla="*/ 1680 w 2016"/>
                <a:gd name="T23" fmla="*/ 0 h 2016"/>
                <a:gd name="T24" fmla="*/ 2016 w 2016"/>
                <a:gd name="T25"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16" h="2016">
                  <a:moveTo>
                    <a:pt x="0" y="2016"/>
                  </a:moveTo>
                  <a:lnTo>
                    <a:pt x="0" y="1680"/>
                  </a:lnTo>
                  <a:lnTo>
                    <a:pt x="336" y="1680"/>
                  </a:lnTo>
                  <a:lnTo>
                    <a:pt x="336" y="1344"/>
                  </a:lnTo>
                  <a:lnTo>
                    <a:pt x="672" y="1344"/>
                  </a:lnTo>
                  <a:lnTo>
                    <a:pt x="672" y="1008"/>
                  </a:lnTo>
                  <a:lnTo>
                    <a:pt x="1008" y="1008"/>
                  </a:lnTo>
                  <a:lnTo>
                    <a:pt x="1008" y="672"/>
                  </a:lnTo>
                  <a:lnTo>
                    <a:pt x="1344" y="672"/>
                  </a:lnTo>
                  <a:lnTo>
                    <a:pt x="1344" y="336"/>
                  </a:lnTo>
                  <a:lnTo>
                    <a:pt x="1680" y="336"/>
                  </a:lnTo>
                  <a:lnTo>
                    <a:pt x="1680" y="0"/>
                  </a:lnTo>
                  <a:lnTo>
                    <a:pt x="2016" y="0"/>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69" name="Text Box 85"/>
            <p:cNvSpPr txBox="1">
              <a:spLocks noChangeArrowheads="1"/>
            </p:cNvSpPr>
            <p:nvPr/>
          </p:nvSpPr>
          <p:spPr bwMode="auto">
            <a:xfrm>
              <a:off x="1052" y="1662"/>
              <a:ext cx="1179"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latin typeface="微软雅黑" pitchFamily="34" charset="-122"/>
                  <a:ea typeface="微软雅黑" pitchFamily="34" charset="-122"/>
                </a:rPr>
                <a:t>如果网络无时延</a:t>
              </a:r>
            </a:p>
          </p:txBody>
        </p:sp>
        <p:sp>
          <p:nvSpPr>
            <p:cNvPr id="70" name="Line 86"/>
            <p:cNvSpPr>
              <a:spLocks noChangeShapeType="1"/>
            </p:cNvSpPr>
            <p:nvPr/>
          </p:nvSpPr>
          <p:spPr bwMode="auto">
            <a:xfrm>
              <a:off x="1582" y="1888"/>
              <a:ext cx="381" cy="27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71" name="Group 108"/>
          <p:cNvGrpSpPr>
            <a:grpSpLocks/>
          </p:cNvGrpSpPr>
          <p:nvPr/>
        </p:nvGrpSpPr>
        <p:grpSpPr bwMode="auto">
          <a:xfrm>
            <a:off x="4090762" y="1905229"/>
            <a:ext cx="2004111" cy="1849949"/>
            <a:chOff x="2400" y="1344"/>
            <a:chExt cx="2016" cy="2016"/>
          </a:xfrm>
        </p:grpSpPr>
        <p:sp>
          <p:nvSpPr>
            <p:cNvPr id="72" name="Freeform 51"/>
            <p:cNvSpPr>
              <a:spLocks/>
            </p:cNvSpPr>
            <p:nvPr/>
          </p:nvSpPr>
          <p:spPr bwMode="auto">
            <a:xfrm>
              <a:off x="2400" y="1344"/>
              <a:ext cx="2016" cy="2016"/>
            </a:xfrm>
            <a:custGeom>
              <a:avLst/>
              <a:gdLst>
                <a:gd name="T0" fmla="*/ 0 w 2016"/>
                <a:gd name="T1" fmla="*/ 2016 h 2016"/>
                <a:gd name="T2" fmla="*/ 0 w 2016"/>
                <a:gd name="T3" fmla="*/ 1680 h 2016"/>
                <a:gd name="T4" fmla="*/ 396 w 2016"/>
                <a:gd name="T5" fmla="*/ 1680 h 2016"/>
                <a:gd name="T6" fmla="*/ 396 w 2016"/>
                <a:gd name="T7" fmla="*/ 1338 h 2016"/>
                <a:gd name="T8" fmla="*/ 552 w 2016"/>
                <a:gd name="T9" fmla="*/ 1344 h 2016"/>
                <a:gd name="T10" fmla="*/ 552 w 2016"/>
                <a:gd name="T11" fmla="*/ 1014 h 2016"/>
                <a:gd name="T12" fmla="*/ 1266 w 2016"/>
                <a:gd name="T13" fmla="*/ 1014 h 2016"/>
                <a:gd name="T14" fmla="*/ 1266 w 2016"/>
                <a:gd name="T15" fmla="*/ 672 h 2016"/>
                <a:gd name="T16" fmla="*/ 1398 w 2016"/>
                <a:gd name="T17" fmla="*/ 672 h 2016"/>
                <a:gd name="T18" fmla="*/ 1398 w 2016"/>
                <a:gd name="T19" fmla="*/ 336 h 2016"/>
                <a:gd name="T20" fmla="*/ 1614 w 2016"/>
                <a:gd name="T21" fmla="*/ 330 h 2016"/>
                <a:gd name="T22" fmla="*/ 1614 w 2016"/>
                <a:gd name="T23" fmla="*/ 0 h 2016"/>
                <a:gd name="T24" fmla="*/ 2016 w 2016"/>
                <a:gd name="T25"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16" h="2016">
                  <a:moveTo>
                    <a:pt x="0" y="2016"/>
                  </a:moveTo>
                  <a:lnTo>
                    <a:pt x="0" y="1680"/>
                  </a:lnTo>
                  <a:lnTo>
                    <a:pt x="396" y="1680"/>
                  </a:lnTo>
                  <a:lnTo>
                    <a:pt x="396" y="1338"/>
                  </a:lnTo>
                  <a:lnTo>
                    <a:pt x="552" y="1344"/>
                  </a:lnTo>
                  <a:lnTo>
                    <a:pt x="552" y="1014"/>
                  </a:lnTo>
                  <a:lnTo>
                    <a:pt x="1266" y="1014"/>
                  </a:lnTo>
                  <a:lnTo>
                    <a:pt x="1266" y="672"/>
                  </a:lnTo>
                  <a:lnTo>
                    <a:pt x="1398" y="672"/>
                  </a:lnTo>
                  <a:lnTo>
                    <a:pt x="1398" y="336"/>
                  </a:lnTo>
                  <a:lnTo>
                    <a:pt x="1614" y="330"/>
                  </a:lnTo>
                  <a:lnTo>
                    <a:pt x="1614" y="0"/>
                  </a:lnTo>
                  <a:lnTo>
                    <a:pt x="2016" y="0"/>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3" name="Text Box 89"/>
            <p:cNvSpPr txBox="1">
              <a:spLocks noChangeArrowheads="1"/>
            </p:cNvSpPr>
            <p:nvPr/>
          </p:nvSpPr>
          <p:spPr bwMode="auto">
            <a:xfrm>
              <a:off x="2462" y="1862"/>
              <a:ext cx="1037"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latin typeface="微软雅黑" pitchFamily="34" charset="-122"/>
                  <a:ea typeface="微软雅黑" pitchFamily="34" charset="-122"/>
                </a:rPr>
                <a:t>网络出现时延</a:t>
              </a:r>
            </a:p>
          </p:txBody>
        </p:sp>
        <p:sp>
          <p:nvSpPr>
            <p:cNvPr id="74" name="Line 90"/>
            <p:cNvSpPr>
              <a:spLocks noChangeShapeType="1"/>
            </p:cNvSpPr>
            <p:nvPr/>
          </p:nvSpPr>
          <p:spPr bwMode="auto">
            <a:xfrm>
              <a:off x="3089" y="2096"/>
              <a:ext cx="383" cy="245"/>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75" name="Group 105"/>
          <p:cNvGrpSpPr>
            <a:grpSpLocks/>
          </p:cNvGrpSpPr>
          <p:nvPr/>
        </p:nvGrpSpPr>
        <p:grpSpPr bwMode="auto">
          <a:xfrm>
            <a:off x="2677149" y="3423917"/>
            <a:ext cx="1413614" cy="245008"/>
            <a:chOff x="978" y="2999"/>
            <a:chExt cx="1422" cy="267"/>
          </a:xfrm>
        </p:grpSpPr>
        <p:sp>
          <p:nvSpPr>
            <p:cNvPr id="76" name="Line 91"/>
            <p:cNvSpPr>
              <a:spLocks noChangeShapeType="1"/>
            </p:cNvSpPr>
            <p:nvPr/>
          </p:nvSpPr>
          <p:spPr bwMode="auto">
            <a:xfrm>
              <a:off x="978" y="3221"/>
              <a:ext cx="1422" cy="0"/>
            </a:xfrm>
            <a:prstGeom prst="line">
              <a:avLst/>
            </a:prstGeom>
            <a:noFill/>
            <a:ln w="12700">
              <a:solidFill>
                <a:srgbClr val="CC00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sp>
          <p:nvSpPr>
            <p:cNvPr id="77" name="Text Box 92"/>
            <p:cNvSpPr txBox="1">
              <a:spLocks noChangeArrowheads="1"/>
            </p:cNvSpPr>
            <p:nvPr/>
          </p:nvSpPr>
          <p:spPr bwMode="auto">
            <a:xfrm>
              <a:off x="1201" y="2999"/>
              <a:ext cx="1066"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latin typeface="微软雅黑" pitchFamily="34" charset="-122"/>
                  <a:ea typeface="微软雅黑" pitchFamily="34" charset="-122"/>
                </a:rPr>
                <a:t>分组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的时延</a:t>
              </a:r>
            </a:p>
          </p:txBody>
        </p:sp>
      </p:grpSp>
      <p:grpSp>
        <p:nvGrpSpPr>
          <p:cNvPr id="78" name="Group 100"/>
          <p:cNvGrpSpPr>
            <a:grpSpLocks/>
          </p:cNvGrpSpPr>
          <p:nvPr/>
        </p:nvGrpSpPr>
        <p:grpSpPr bwMode="auto">
          <a:xfrm>
            <a:off x="2334187" y="4041620"/>
            <a:ext cx="4766717" cy="456065"/>
            <a:chOff x="633" y="3657"/>
            <a:chExt cx="4795" cy="497"/>
          </a:xfrm>
        </p:grpSpPr>
        <p:sp>
          <p:nvSpPr>
            <p:cNvPr id="79" name="AutoShape 99"/>
            <p:cNvSpPr>
              <a:spLocks noChangeArrowheads="1"/>
            </p:cNvSpPr>
            <p:nvPr/>
          </p:nvSpPr>
          <p:spPr bwMode="auto">
            <a:xfrm>
              <a:off x="1235" y="3724"/>
              <a:ext cx="453" cy="91"/>
            </a:xfrm>
            <a:prstGeom prst="rightArrow">
              <a:avLst>
                <a:gd name="adj1" fmla="val 50000"/>
                <a:gd name="adj2" fmla="val 124451"/>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1" name="Line 16"/>
            <p:cNvSpPr>
              <a:spLocks noChangeShapeType="1"/>
            </p:cNvSpPr>
            <p:nvPr/>
          </p:nvSpPr>
          <p:spPr bwMode="auto">
            <a:xfrm flipV="1">
              <a:off x="2400"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2" name="Line 17"/>
            <p:cNvSpPr>
              <a:spLocks noChangeShapeType="1"/>
            </p:cNvSpPr>
            <p:nvPr/>
          </p:nvSpPr>
          <p:spPr bwMode="auto">
            <a:xfrm flipV="1">
              <a:off x="2775"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3" name="Line 18"/>
            <p:cNvSpPr>
              <a:spLocks noChangeShapeType="1"/>
            </p:cNvSpPr>
            <p:nvPr/>
          </p:nvSpPr>
          <p:spPr bwMode="auto">
            <a:xfrm flipV="1">
              <a:off x="2949"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4" name="Line 19"/>
            <p:cNvSpPr>
              <a:spLocks noChangeShapeType="1"/>
            </p:cNvSpPr>
            <p:nvPr/>
          </p:nvSpPr>
          <p:spPr bwMode="auto">
            <a:xfrm flipV="1">
              <a:off x="3660"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5" name="Line 20"/>
            <p:cNvSpPr>
              <a:spLocks noChangeShapeType="1"/>
            </p:cNvSpPr>
            <p:nvPr/>
          </p:nvSpPr>
          <p:spPr bwMode="auto">
            <a:xfrm flipV="1">
              <a:off x="3792" y="3696"/>
              <a:ext cx="0"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6" name="Line 21"/>
            <p:cNvSpPr>
              <a:spLocks noChangeShapeType="1"/>
            </p:cNvSpPr>
            <p:nvPr/>
          </p:nvSpPr>
          <p:spPr bwMode="auto">
            <a:xfrm flipH="1" flipV="1">
              <a:off x="4008" y="3696"/>
              <a:ext cx="3" cy="192"/>
            </a:xfrm>
            <a:prstGeom prst="line">
              <a:avLst/>
            </a:prstGeom>
            <a:noFill/>
            <a:ln w="28575">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87" name="Text Box 22"/>
            <p:cNvSpPr txBox="1">
              <a:spLocks noChangeArrowheads="1"/>
            </p:cNvSpPr>
            <p:nvPr/>
          </p:nvSpPr>
          <p:spPr bwMode="auto">
            <a:xfrm>
              <a:off x="1677" y="3663"/>
              <a:ext cx="7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zh-CN" altLang="en-US" sz="1000" b="1" dirty="0">
                  <a:solidFill>
                    <a:srgbClr val="CC00CC"/>
                  </a:solidFill>
                  <a:latin typeface="微软雅黑" pitchFamily="34" charset="-122"/>
                  <a:ea typeface="微软雅黑" pitchFamily="34" charset="-122"/>
                </a:rPr>
                <a:t>分组到达</a:t>
              </a:r>
            </a:p>
          </p:txBody>
        </p:sp>
        <p:sp>
          <p:nvSpPr>
            <p:cNvPr id="88" name="Text Box 23"/>
            <p:cNvSpPr txBox="1">
              <a:spLocks noChangeArrowheads="1"/>
            </p:cNvSpPr>
            <p:nvPr/>
          </p:nvSpPr>
          <p:spPr bwMode="auto">
            <a:xfrm>
              <a:off x="2257" y="3869"/>
              <a:ext cx="1966"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1       2   3              4  5   6</a:t>
              </a:r>
            </a:p>
          </p:txBody>
        </p:sp>
        <p:sp>
          <p:nvSpPr>
            <p:cNvPr id="89" name="Text Box 24"/>
            <p:cNvSpPr txBox="1">
              <a:spLocks noChangeArrowheads="1"/>
            </p:cNvSpPr>
            <p:nvPr/>
          </p:nvSpPr>
          <p:spPr bwMode="auto">
            <a:xfrm>
              <a:off x="5184" y="3693"/>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latin typeface="微软雅黑" pitchFamily="34" charset="-122"/>
                  <a:ea typeface="微软雅黑" pitchFamily="34" charset="-122"/>
                </a:rPr>
                <a:t>t</a:t>
              </a:r>
            </a:p>
          </p:txBody>
        </p:sp>
        <p:sp>
          <p:nvSpPr>
            <p:cNvPr id="90" name="Text Box 97"/>
            <p:cNvSpPr txBox="1">
              <a:spLocks noChangeArrowheads="1"/>
            </p:cNvSpPr>
            <p:nvPr/>
          </p:nvSpPr>
          <p:spPr bwMode="auto">
            <a:xfrm>
              <a:off x="633" y="3657"/>
              <a:ext cx="753" cy="267"/>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90000"/>
                </a:lnSpc>
              </a:pPr>
              <a:r>
                <a:rPr kumimoji="1" lang="zh-CN" altLang="en-US" sz="1100" b="1" dirty="0">
                  <a:solidFill>
                    <a:schemeClr val="bg1"/>
                  </a:solidFill>
                  <a:latin typeface="微软雅黑" pitchFamily="34" charset="-122"/>
                  <a:ea typeface="微软雅黑" pitchFamily="34" charset="-122"/>
                </a:rPr>
                <a:t>实际网络</a:t>
              </a:r>
            </a:p>
          </p:txBody>
        </p:sp>
        <p:sp>
          <p:nvSpPr>
            <p:cNvPr id="80" name="Line 15"/>
            <p:cNvSpPr>
              <a:spLocks noChangeShapeType="1"/>
            </p:cNvSpPr>
            <p:nvPr/>
          </p:nvSpPr>
          <p:spPr bwMode="auto">
            <a:xfrm>
              <a:off x="1632" y="3888"/>
              <a:ext cx="3600"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91" name="Group 110"/>
          <p:cNvGrpSpPr>
            <a:grpSpLocks/>
          </p:cNvGrpSpPr>
          <p:nvPr/>
        </p:nvGrpSpPr>
        <p:grpSpPr bwMode="auto">
          <a:xfrm>
            <a:off x="4204090" y="1638199"/>
            <a:ext cx="1759561" cy="1836184"/>
            <a:chOff x="2514" y="1053"/>
            <a:chExt cx="1770" cy="2001"/>
          </a:xfrm>
        </p:grpSpPr>
        <p:sp>
          <p:nvSpPr>
            <p:cNvPr id="92" name="Line 60"/>
            <p:cNvSpPr>
              <a:spLocks noChangeShapeType="1"/>
            </p:cNvSpPr>
            <p:nvPr/>
          </p:nvSpPr>
          <p:spPr bwMode="auto">
            <a:xfrm flipV="1">
              <a:off x="2544" y="1272"/>
              <a:ext cx="1740" cy="1752"/>
            </a:xfrm>
            <a:prstGeom prst="line">
              <a:avLst/>
            </a:prstGeom>
            <a:noFill/>
            <a:ln w="28575">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3" name="Oval 61"/>
            <p:cNvSpPr>
              <a:spLocks noChangeArrowheads="1"/>
            </p:cNvSpPr>
            <p:nvPr/>
          </p:nvSpPr>
          <p:spPr bwMode="auto">
            <a:xfrm>
              <a:off x="2514" y="2982"/>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4" name="Oval 62"/>
            <p:cNvSpPr>
              <a:spLocks noChangeArrowheads="1"/>
            </p:cNvSpPr>
            <p:nvPr/>
          </p:nvSpPr>
          <p:spPr bwMode="auto">
            <a:xfrm>
              <a:off x="4176" y="1302"/>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5" name="Oval 63"/>
            <p:cNvSpPr>
              <a:spLocks noChangeArrowheads="1"/>
            </p:cNvSpPr>
            <p:nvPr/>
          </p:nvSpPr>
          <p:spPr bwMode="auto">
            <a:xfrm>
              <a:off x="3846" y="1638"/>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6" name="Oval 64"/>
            <p:cNvSpPr>
              <a:spLocks noChangeArrowheads="1"/>
            </p:cNvSpPr>
            <p:nvPr/>
          </p:nvSpPr>
          <p:spPr bwMode="auto">
            <a:xfrm>
              <a:off x="2850" y="2652"/>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7" name="Oval 65"/>
            <p:cNvSpPr>
              <a:spLocks noChangeArrowheads="1"/>
            </p:cNvSpPr>
            <p:nvPr/>
          </p:nvSpPr>
          <p:spPr bwMode="auto">
            <a:xfrm>
              <a:off x="3180" y="2316"/>
              <a:ext cx="72" cy="7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98" name="Text Box 79"/>
            <p:cNvSpPr txBox="1">
              <a:spLocks noChangeArrowheads="1"/>
            </p:cNvSpPr>
            <p:nvPr/>
          </p:nvSpPr>
          <p:spPr bwMode="auto">
            <a:xfrm>
              <a:off x="3122" y="1053"/>
              <a:ext cx="957"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en-US" altLang="zh-CN" sz="1400" b="1" dirty="0">
                  <a:solidFill>
                    <a:srgbClr val="000099"/>
                  </a:solidFill>
                  <a:latin typeface="微软雅黑" pitchFamily="34" charset="-122"/>
                  <a:ea typeface="微软雅黑" pitchFamily="34" charset="-122"/>
                  <a:sym typeface="Wingdings" pitchFamily="2" charset="2"/>
                </a:rPr>
                <a:t></a:t>
              </a:r>
              <a:r>
                <a:rPr kumimoji="1" lang="en-US" altLang="zh-CN" sz="1100" b="1" dirty="0">
                  <a:solidFill>
                    <a:srgbClr val="CC00CC"/>
                  </a:solidFill>
                  <a:latin typeface="微软雅黑" pitchFamily="34" charset="-122"/>
                  <a:ea typeface="微软雅黑" pitchFamily="34" charset="-122"/>
                  <a:sym typeface="Wingdings" pitchFamily="2" charset="2"/>
                </a:rPr>
                <a:t> </a:t>
              </a:r>
              <a:r>
                <a:rPr kumimoji="1" lang="zh-CN" altLang="en-US" sz="1100" b="1" dirty="0">
                  <a:solidFill>
                    <a:srgbClr val="CC00CC"/>
                  </a:solidFill>
                  <a:latin typeface="微软雅黑" pitchFamily="34" charset="-122"/>
                  <a:ea typeface="微软雅黑" pitchFamily="34" charset="-122"/>
                </a:rPr>
                <a:t>推迟播放</a:t>
              </a:r>
            </a:p>
          </p:txBody>
        </p:sp>
        <p:sp>
          <p:nvSpPr>
            <p:cNvPr id="99" name="Line 80"/>
            <p:cNvSpPr>
              <a:spLocks noChangeShapeType="1"/>
            </p:cNvSpPr>
            <p:nvPr/>
          </p:nvSpPr>
          <p:spPr bwMode="auto">
            <a:xfrm>
              <a:off x="3582" y="1298"/>
              <a:ext cx="354" cy="30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nvGrpSpPr>
            <p:cNvPr id="100" name="Group 109"/>
            <p:cNvGrpSpPr>
              <a:grpSpLocks/>
            </p:cNvGrpSpPr>
            <p:nvPr/>
          </p:nvGrpSpPr>
          <p:grpSpPr bwMode="auto">
            <a:xfrm>
              <a:off x="2932" y="1520"/>
              <a:ext cx="753" cy="532"/>
              <a:chOff x="2932" y="1520"/>
              <a:chExt cx="753" cy="532"/>
            </a:xfrm>
          </p:grpSpPr>
          <p:sp>
            <p:nvSpPr>
              <p:cNvPr id="101" name="Oval 66"/>
              <p:cNvSpPr>
                <a:spLocks noChangeArrowheads="1"/>
              </p:cNvSpPr>
              <p:nvPr/>
            </p:nvSpPr>
            <p:spPr bwMode="auto">
              <a:xfrm>
                <a:off x="3504" y="1980"/>
                <a:ext cx="72" cy="72"/>
              </a:xfrm>
              <a:prstGeom prst="ellipse">
                <a:avLst/>
              </a:prstGeom>
              <a:solidFill>
                <a:srgbClr val="99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2" name="Line 87"/>
              <p:cNvSpPr>
                <a:spLocks noChangeShapeType="1"/>
              </p:cNvSpPr>
              <p:nvPr/>
            </p:nvSpPr>
            <p:spPr bwMode="auto">
              <a:xfrm>
                <a:off x="3247" y="1743"/>
                <a:ext cx="276" cy="251"/>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3" name="Text Box 88"/>
              <p:cNvSpPr txBox="1">
                <a:spLocks noChangeArrowheads="1"/>
              </p:cNvSpPr>
              <p:nvPr/>
            </p:nvSpPr>
            <p:spPr bwMode="auto">
              <a:xfrm>
                <a:off x="2932" y="1520"/>
                <a:ext cx="75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100" b="1" dirty="0">
                    <a:solidFill>
                      <a:srgbClr val="990000"/>
                    </a:solidFill>
                    <a:latin typeface="微软雅黑" pitchFamily="34" charset="-122"/>
                    <a:ea typeface="微软雅黑" pitchFamily="34" charset="-122"/>
                  </a:rPr>
                  <a:t>分组迟到</a:t>
                </a:r>
              </a:p>
            </p:txBody>
          </p:sp>
        </p:grpSp>
      </p:grpSp>
      <p:grpSp>
        <p:nvGrpSpPr>
          <p:cNvPr id="104" name="Group 95"/>
          <p:cNvGrpSpPr>
            <a:grpSpLocks/>
          </p:cNvGrpSpPr>
          <p:nvPr/>
        </p:nvGrpSpPr>
        <p:grpSpPr bwMode="auto">
          <a:xfrm>
            <a:off x="4092254" y="2224566"/>
            <a:ext cx="1598517" cy="1852702"/>
            <a:chOff x="2400" y="1692"/>
            <a:chExt cx="1608" cy="2019"/>
          </a:xfrm>
        </p:grpSpPr>
        <p:sp>
          <p:nvSpPr>
            <p:cNvPr id="105" name="Line 52"/>
            <p:cNvSpPr>
              <a:spLocks noChangeShapeType="1"/>
            </p:cNvSpPr>
            <p:nvPr/>
          </p:nvSpPr>
          <p:spPr bwMode="auto">
            <a:xfrm>
              <a:off x="2400" y="3360"/>
              <a:ext cx="0" cy="336"/>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6" name="Line 53"/>
            <p:cNvSpPr>
              <a:spLocks noChangeShapeType="1"/>
            </p:cNvSpPr>
            <p:nvPr/>
          </p:nvSpPr>
          <p:spPr bwMode="auto">
            <a:xfrm>
              <a:off x="2784" y="3024"/>
              <a:ext cx="0" cy="678"/>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7" name="Line 54"/>
            <p:cNvSpPr>
              <a:spLocks noChangeShapeType="1"/>
            </p:cNvSpPr>
            <p:nvPr/>
          </p:nvSpPr>
          <p:spPr bwMode="auto">
            <a:xfrm>
              <a:off x="2952" y="2682"/>
              <a:ext cx="0" cy="1008"/>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8" name="Line 55"/>
            <p:cNvSpPr>
              <a:spLocks noChangeShapeType="1"/>
            </p:cNvSpPr>
            <p:nvPr/>
          </p:nvSpPr>
          <p:spPr bwMode="auto">
            <a:xfrm>
              <a:off x="3660" y="2365"/>
              <a:ext cx="0" cy="1331"/>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09" name="Line 56"/>
            <p:cNvSpPr>
              <a:spLocks noChangeShapeType="1"/>
            </p:cNvSpPr>
            <p:nvPr/>
          </p:nvSpPr>
          <p:spPr bwMode="auto">
            <a:xfrm flipH="1">
              <a:off x="3792" y="2034"/>
              <a:ext cx="6" cy="1662"/>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0" name="Line 57"/>
            <p:cNvSpPr>
              <a:spLocks noChangeShapeType="1"/>
            </p:cNvSpPr>
            <p:nvPr/>
          </p:nvSpPr>
          <p:spPr bwMode="auto">
            <a:xfrm flipH="1">
              <a:off x="4008" y="1692"/>
              <a:ext cx="0" cy="2019"/>
            </a:xfrm>
            <a:prstGeom prst="line">
              <a:avLst/>
            </a:prstGeom>
            <a:noFill/>
            <a:ln w="9525">
              <a:solidFill>
                <a:srgbClr val="CC00CC"/>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sp>
        <p:nvSpPr>
          <p:cNvPr id="111" name="AutoShape 5"/>
          <p:cNvSpPr>
            <a:spLocks noChangeArrowheads="1"/>
          </p:cNvSpPr>
          <p:nvPr/>
        </p:nvSpPr>
        <p:spPr bwMode="auto">
          <a:xfrm>
            <a:off x="509474" y="60758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Rectangle 6"/>
          <p:cNvSpPr>
            <a:spLocks noChangeArrowheads="1"/>
          </p:cNvSpPr>
          <p:nvPr/>
        </p:nvSpPr>
        <p:spPr bwMode="auto">
          <a:xfrm>
            <a:off x="2179573" y="574377"/>
            <a:ext cx="4801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缓存：</a:t>
            </a:r>
            <a:r>
              <a:rPr lang="zh-CN" altLang="en-US" sz="2000" b="1" dirty="0">
                <a:solidFill>
                  <a:schemeClr val="bg1"/>
                </a:solidFill>
                <a:latin typeface="微软雅黑" pitchFamily="34" charset="-122"/>
                <a:ea typeface="微软雅黑" pitchFamily="34" charset="-122"/>
              </a:rPr>
              <a:t>消除了时延的抖动，但增加了时延</a:t>
            </a:r>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2500"/>
                                        <p:tgtEl>
                                          <p:spTgt spid="4"/>
                                        </p:tgtEl>
                                      </p:cBhvr>
                                    </p:animEffect>
                                  </p:childTnLst>
                                </p:cTn>
                              </p:par>
                            </p:childTnLst>
                          </p:cTn>
                        </p:par>
                        <p:par>
                          <p:cTn id="13" fill="hold">
                            <p:stCondLst>
                              <p:cond delay="2500"/>
                            </p:stCondLst>
                            <p:childTnLst>
                              <p:par>
                                <p:cTn id="14" presetID="22" presetClass="entr" presetSubtype="4" fill="hold" nodeType="after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wipe(down)">
                                      <p:cBhvr>
                                        <p:cTn id="16" dur="2500"/>
                                        <p:tgtEl>
                                          <p:spTgt spid="6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wipe(left)">
                                      <p:cBhvr>
                                        <p:cTn id="21" dur="2500"/>
                                        <p:tgtEl>
                                          <p:spTgt spid="78"/>
                                        </p:tgtEl>
                                      </p:cBhvr>
                                    </p:animEffect>
                                  </p:childTnLst>
                                </p:cTn>
                              </p:par>
                            </p:childTnLst>
                          </p:cTn>
                        </p:par>
                        <p:par>
                          <p:cTn id="22" fill="hold">
                            <p:stCondLst>
                              <p:cond delay="2500"/>
                            </p:stCondLst>
                            <p:childTnLst>
                              <p:par>
                                <p:cTn id="23" presetID="22" presetClass="entr" presetSubtype="8"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wipe(left)">
                                      <p:cBhvr>
                                        <p:cTn id="25" dur="1500"/>
                                        <p:tgtEl>
                                          <p:spTgt spid="75"/>
                                        </p:tgtEl>
                                      </p:cBhvr>
                                    </p:animEffect>
                                  </p:childTnLst>
                                </p:cTn>
                              </p:par>
                            </p:childTnLst>
                          </p:cTn>
                        </p:par>
                        <p:par>
                          <p:cTn id="26" fill="hold">
                            <p:stCondLst>
                              <p:cond delay="4000"/>
                            </p:stCondLst>
                            <p:childTnLst>
                              <p:par>
                                <p:cTn id="27" presetID="22" presetClass="entr" presetSubtype="4" fill="hold" nodeType="afterEffect">
                                  <p:stCondLst>
                                    <p:cond delay="0"/>
                                  </p:stCondLst>
                                  <p:childTnLst>
                                    <p:set>
                                      <p:cBhvr>
                                        <p:cTn id="28" dur="1" fill="hold">
                                          <p:stCondLst>
                                            <p:cond delay="0"/>
                                          </p:stCondLst>
                                        </p:cTn>
                                        <p:tgtEl>
                                          <p:spTgt spid="71"/>
                                        </p:tgtEl>
                                        <p:attrNameLst>
                                          <p:attrName>style.visibility</p:attrName>
                                        </p:attrNameLst>
                                      </p:cBhvr>
                                      <p:to>
                                        <p:strVal val="visible"/>
                                      </p:to>
                                    </p:set>
                                    <p:animEffect transition="in" filter="wipe(down)">
                                      <p:cBhvr>
                                        <p:cTn id="29" dur="2000"/>
                                        <p:tgtEl>
                                          <p:spTgt spid="71"/>
                                        </p:tgtEl>
                                      </p:cBhvr>
                                    </p:animEffect>
                                  </p:childTnLst>
                                </p:cTn>
                              </p:par>
                            </p:childTnLst>
                          </p:cTn>
                        </p:par>
                        <p:par>
                          <p:cTn id="30" fill="hold">
                            <p:stCondLst>
                              <p:cond delay="6000"/>
                            </p:stCondLst>
                            <p:childTnLst>
                              <p:par>
                                <p:cTn id="31" presetID="22" presetClass="entr" presetSubtype="4" fill="hold"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wipe(down)">
                                      <p:cBhvr>
                                        <p:cTn id="33" dur="1750"/>
                                        <p:tgtEl>
                                          <p:spTgt spid="104"/>
                                        </p:tgtEl>
                                      </p:cBhvr>
                                    </p:animEffect>
                                  </p:childTnLst>
                                </p:cTn>
                              </p:par>
                            </p:childTnLst>
                          </p:cTn>
                        </p:par>
                        <p:par>
                          <p:cTn id="34" fill="hold">
                            <p:stCondLst>
                              <p:cond delay="7750"/>
                            </p:stCondLst>
                            <p:childTnLst>
                              <p:par>
                                <p:cTn id="35" presetID="22" presetClass="entr" presetSubtype="1"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up)">
                                      <p:cBhvr>
                                        <p:cTn id="37" dur="1250"/>
                                        <p:tgtEl>
                                          <p:spTgt spid="45"/>
                                        </p:tgtEl>
                                      </p:cBhvr>
                                    </p:animEffect>
                                  </p:childTnLst>
                                </p:cTn>
                              </p:par>
                              <p:par>
                                <p:cTn id="38" presetID="22" presetClass="entr" presetSubtype="4" fill="hold" nodeType="withEffect">
                                  <p:stCondLst>
                                    <p:cond delay="0"/>
                                  </p:stCondLst>
                                  <p:childTnLst>
                                    <p:set>
                                      <p:cBhvr>
                                        <p:cTn id="39" dur="1" fill="hold">
                                          <p:stCondLst>
                                            <p:cond delay="0"/>
                                          </p:stCondLst>
                                        </p:cTn>
                                        <p:tgtEl>
                                          <p:spTgt spid="91"/>
                                        </p:tgtEl>
                                        <p:attrNameLst>
                                          <p:attrName>style.visibility</p:attrName>
                                        </p:attrNameLst>
                                      </p:cBhvr>
                                      <p:to>
                                        <p:strVal val="visible"/>
                                      </p:to>
                                    </p:set>
                                    <p:animEffect transition="in" filter="wipe(down)">
                                      <p:cBhvr>
                                        <p:cTn id="40" dur="2250"/>
                                        <p:tgtEl>
                                          <p:spTgt spid="9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wipe(down)">
                                      <p:cBhvr>
                                        <p:cTn id="45"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5" y="953792"/>
            <a:ext cx="8260056"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在传送</a:t>
            </a:r>
            <a:r>
              <a:rPr lang="zh-CN" altLang="en-US" b="1" dirty="0">
                <a:solidFill>
                  <a:srgbClr val="C00000"/>
                </a:solidFill>
                <a:latin typeface="微软雅黑" pitchFamily="34" charset="-122"/>
                <a:ea typeface="微软雅黑" pitchFamily="34" charset="-122"/>
              </a:rPr>
              <a:t>时延敏感 </a:t>
            </a:r>
            <a:r>
              <a:rPr lang="en-US" altLang="zh-CN" b="1" dirty="0">
                <a:latin typeface="微软雅黑" pitchFamily="34" charset="-122"/>
                <a:ea typeface="微软雅黑" pitchFamily="34" charset="-122"/>
              </a:rPr>
              <a:t>(delay sensitive) </a:t>
            </a:r>
            <a:r>
              <a:rPr lang="zh-CN" altLang="en-US" b="1" dirty="0">
                <a:latin typeface="微软雅黑" pitchFamily="34" charset="-122"/>
                <a:ea typeface="微软雅黑" pitchFamily="34" charset="-122"/>
              </a:rPr>
              <a:t>的实时数据时，不仅</a:t>
            </a:r>
            <a:r>
              <a:rPr lang="zh-CN" altLang="en-US" b="1" dirty="0">
                <a:solidFill>
                  <a:srgbClr val="0000FF"/>
                </a:solidFill>
                <a:latin typeface="微软雅黑" pitchFamily="34" charset="-122"/>
                <a:ea typeface="微软雅黑" pitchFamily="34" charset="-122"/>
              </a:rPr>
              <a:t>传输时延</a:t>
            </a:r>
            <a:r>
              <a:rPr lang="zh-CN" altLang="en-US" b="1" dirty="0">
                <a:latin typeface="微软雅黑" pitchFamily="34" charset="-122"/>
                <a:ea typeface="微软雅黑" pitchFamily="34" charset="-122"/>
              </a:rPr>
              <a:t>不能太大，而且</a:t>
            </a:r>
            <a:r>
              <a:rPr lang="zh-CN" altLang="en-US" b="1" dirty="0">
                <a:solidFill>
                  <a:srgbClr val="C00000"/>
                </a:solidFill>
                <a:latin typeface="微软雅黑" pitchFamily="34" charset="-122"/>
                <a:ea typeface="微软雅黑" pitchFamily="34" charset="-122"/>
              </a:rPr>
              <a:t>时延抖动</a:t>
            </a:r>
            <a:r>
              <a:rPr lang="zh-CN" altLang="en-US" b="1" dirty="0">
                <a:latin typeface="微软雅黑" pitchFamily="34" charset="-122"/>
                <a:ea typeface="微软雅黑" pitchFamily="34" charset="-122"/>
              </a:rPr>
              <a:t>也必须受到限制。</a:t>
            </a: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传送实时数据时，少量分组的</a:t>
            </a:r>
            <a:r>
              <a:rPr lang="zh-CN" altLang="en-US" b="1" dirty="0">
                <a:solidFill>
                  <a:srgbClr val="0000FF"/>
                </a:solidFill>
                <a:latin typeface="微软雅黑" pitchFamily="34" charset="-122"/>
                <a:ea typeface="微软雅黑" pitchFamily="34" charset="-122"/>
              </a:rPr>
              <a:t>丢失</a:t>
            </a:r>
            <a:r>
              <a:rPr lang="zh-CN" altLang="en-US" b="1" dirty="0">
                <a:latin typeface="微软雅黑" pitchFamily="34" charset="-122"/>
                <a:ea typeface="微软雅黑" pitchFamily="34" charset="-122"/>
              </a:rPr>
              <a:t>对播放效果的影响并不大（因为是由人主观评价的），是可以容忍的。</a:t>
            </a:r>
          </a:p>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丢失容忍 </a:t>
            </a:r>
            <a:r>
              <a:rPr lang="en-US" altLang="zh-CN" b="1" dirty="0">
                <a:solidFill>
                  <a:srgbClr val="0000FF"/>
                </a:solidFill>
                <a:latin typeface="微软雅黑" pitchFamily="34" charset="-122"/>
                <a:ea typeface="微软雅黑" pitchFamily="34" charset="-122"/>
              </a:rPr>
              <a:t>(loss tolerant) </a:t>
            </a:r>
            <a:r>
              <a:rPr lang="zh-CN" altLang="en-US" b="1" dirty="0">
                <a:solidFill>
                  <a:srgbClr val="0000FF"/>
                </a:solidFill>
                <a:latin typeface="微软雅黑" pitchFamily="34" charset="-122"/>
                <a:ea typeface="微软雅黑" pitchFamily="34" charset="-122"/>
              </a:rPr>
              <a:t>是实时数据的另一个重要特点。</a:t>
            </a:r>
            <a:endParaRPr lang="en-US" altLang="zh-CN" b="1" dirty="0">
              <a:solidFill>
                <a:srgbClr val="0000FF"/>
              </a:solidFill>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发送多媒体分组时应当给每一个分组加上</a:t>
            </a:r>
            <a:r>
              <a:rPr lang="zh-CN" altLang="en-US" b="1" dirty="0">
                <a:solidFill>
                  <a:srgbClr val="C00000"/>
                </a:solidFill>
                <a:latin typeface="微软雅黑" pitchFamily="34" charset="-122"/>
                <a:ea typeface="微软雅黑" pitchFamily="34" charset="-122"/>
              </a:rPr>
              <a:t>序号，</a:t>
            </a:r>
            <a:r>
              <a:rPr lang="zh-CN" altLang="en-US" b="1" dirty="0">
                <a:latin typeface="微软雅黑" pitchFamily="34" charset="-122"/>
                <a:ea typeface="微软雅黑" pitchFamily="34" charset="-122"/>
              </a:rPr>
              <a:t>以按序还原和播放分组。</a:t>
            </a:r>
            <a:endParaRPr lang="en-US" altLang="zh-CN"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增加一个</a:t>
            </a:r>
            <a:r>
              <a:rPr lang="zh-CN" altLang="en-US" b="1" dirty="0">
                <a:solidFill>
                  <a:srgbClr val="C00000"/>
                </a:solidFill>
                <a:latin typeface="微软雅黑" pitchFamily="34" charset="-122"/>
                <a:ea typeface="微软雅黑" pitchFamily="34" charset="-122"/>
              </a:rPr>
              <a:t>时间戳</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(timestamp)</a:t>
            </a:r>
            <a:r>
              <a:rPr lang="zh-CN" altLang="en-US" b="1" dirty="0">
                <a:latin typeface="微软雅黑" pitchFamily="34" charset="-122"/>
                <a:ea typeface="微软雅黑" pitchFamily="34" charset="-122"/>
              </a:rPr>
              <a:t>，告诉接收端分组的产生时间。</a:t>
            </a:r>
          </a:p>
          <a:p>
            <a:pPr marL="342900" indent="-342900" eaLnBrk="0" hangingPunct="0">
              <a:lnSpc>
                <a:spcPts val="2800"/>
              </a:lnSpc>
              <a:buClr>
                <a:srgbClr val="0070C0"/>
              </a:buClr>
              <a:buFont typeface="Wingdings" pitchFamily="2" charset="2"/>
              <a:buChar char="l"/>
            </a:pPr>
            <a:endParaRPr lang="en-US" altLang="zh-CN"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endParaRPr lang="zh-CN" altLang="en-US" b="1" dirty="0">
              <a:latin typeface="微软雅黑" pitchFamily="34" charset="-122"/>
              <a:ea typeface="微软雅黑" pitchFamily="34" charset="-122"/>
            </a:endParaRPr>
          </a:p>
        </p:txBody>
      </p:sp>
      <p:sp>
        <p:nvSpPr>
          <p:cNvPr id="3" name="AutoShape 5"/>
          <p:cNvSpPr>
            <a:spLocks noChangeArrowheads="1"/>
          </p:cNvSpPr>
          <p:nvPr/>
        </p:nvSpPr>
        <p:spPr bwMode="auto">
          <a:xfrm>
            <a:off x="509475" y="6069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551562" y="573713"/>
            <a:ext cx="2056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需要注意的问题 </a:t>
            </a:r>
            <a:endParaRPr lang="fr-FR" altLang="zh-CN" sz="2000" b="1" dirty="0">
              <a:solidFill>
                <a:schemeClr val="bg1"/>
              </a:solidFill>
              <a:latin typeface="微软雅黑" pitchFamily="34" charset="-122"/>
              <a:ea typeface="微软雅黑" pitchFamily="34" charset="-122"/>
            </a:endParaRPr>
          </a:p>
        </p:txBody>
      </p:sp>
      <p:grpSp>
        <p:nvGrpSpPr>
          <p:cNvPr id="6" name="组合 5"/>
          <p:cNvGrpSpPr/>
          <p:nvPr/>
        </p:nvGrpSpPr>
        <p:grpSpPr>
          <a:xfrm>
            <a:off x="1412495" y="3494380"/>
            <a:ext cx="6494887" cy="1149475"/>
            <a:chOff x="502922" y="2655525"/>
            <a:chExt cx="7401246" cy="1261156"/>
          </a:xfrm>
        </p:grpSpPr>
        <p:sp>
          <p:nvSpPr>
            <p:cNvPr id="7" name="对角圆角矩形 6"/>
            <p:cNvSpPr/>
            <p:nvPr/>
          </p:nvSpPr>
          <p:spPr>
            <a:xfrm>
              <a:off x="502922" y="2655525"/>
              <a:ext cx="7401246" cy="126115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29485" y="2718745"/>
              <a:ext cx="6923733" cy="1090213"/>
            </a:xfrm>
            <a:prstGeom prst="rect">
              <a:avLst/>
            </a:prstGeom>
          </p:spPr>
          <p:txBody>
            <a:bodyPr wrap="square">
              <a:spAutoFit/>
            </a:bodyPr>
            <a:lstStyle/>
            <a:p>
              <a:pPr>
                <a:lnSpc>
                  <a:spcPts val="2400"/>
                </a:lnSpc>
              </a:pPr>
              <a:r>
                <a:rPr lang="zh-CN" altLang="en-US" b="1" dirty="0">
                  <a:solidFill>
                    <a:schemeClr val="bg1"/>
                  </a:solidFill>
                  <a:latin typeface="微软雅黑" pitchFamily="34" charset="-122"/>
                  <a:ea typeface="微软雅黑" pitchFamily="34" charset="-122"/>
                </a:rPr>
                <a:t>有了序号和时间戳，再采用适当的算法，接收端就知道应在什么时间开始播放缓存中的分组，既可减少分组的丢失率，也可使播放的延迟在可容忍的范围之内。</a:t>
              </a:r>
            </a:p>
          </p:txBody>
        </p:sp>
      </p:gr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76770"/>
            <a:ext cx="8246337"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大量使用光缆和高速路由器</a:t>
            </a:r>
            <a:r>
              <a:rPr lang="zh-CN" altLang="en-US" sz="2000" b="1" dirty="0">
                <a:latin typeface="微软雅黑" pitchFamily="34" charset="-122"/>
                <a:ea typeface="微软雅黑" pitchFamily="34" charset="-122"/>
              </a:rPr>
              <a:t>，网络的时延和时延抖动就可以足够小，在互联网上传送实时数据就不会有问题。</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从根本改变互联网的协议栈，</a:t>
            </a:r>
            <a:r>
              <a:rPr lang="zh-CN" altLang="en-US" sz="2000" b="1" dirty="0">
                <a:latin typeface="微软雅黑" pitchFamily="34" charset="-122"/>
                <a:ea typeface="微软雅黑" pitchFamily="34" charset="-122"/>
              </a:rPr>
              <a:t>把互联网改造为能够对</a:t>
            </a:r>
            <a:r>
              <a:rPr lang="zh-CN" altLang="en-US" sz="2000" b="1" dirty="0">
                <a:solidFill>
                  <a:srgbClr val="C00000"/>
                </a:solidFill>
                <a:latin typeface="微软雅黑" pitchFamily="34" charset="-122"/>
                <a:ea typeface="微软雅黑" pitchFamily="34" charset="-122"/>
              </a:rPr>
              <a:t>端到端</a:t>
            </a:r>
            <a:r>
              <a:rPr lang="zh-CN" altLang="en-US" sz="2000" b="1" dirty="0">
                <a:latin typeface="微软雅黑" pitchFamily="34" charset="-122"/>
                <a:ea typeface="微软雅黑" pitchFamily="34" charset="-122"/>
              </a:rPr>
              <a:t>的带宽实现</a:t>
            </a:r>
            <a:r>
              <a:rPr lang="zh-CN" altLang="en-US" sz="2000" b="1" dirty="0">
                <a:solidFill>
                  <a:srgbClr val="C00000"/>
                </a:solidFill>
                <a:latin typeface="微软雅黑" pitchFamily="34" charset="-122"/>
                <a:ea typeface="微软雅黑" pitchFamily="34" charset="-122"/>
              </a:rPr>
              <a:t>预留</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(reservation)</a:t>
            </a:r>
            <a:r>
              <a:rPr lang="zh-CN" altLang="en-US" sz="2000" b="1" dirty="0">
                <a:latin typeface="微软雅黑" pitchFamily="34" charset="-122"/>
                <a:ea typeface="微软雅黑" pitchFamily="34" charset="-122"/>
              </a:rPr>
              <a:t>，把</a:t>
            </a:r>
            <a:r>
              <a:rPr lang="zh-CN" altLang="en-US" sz="2000" b="1" dirty="0">
                <a:solidFill>
                  <a:srgbClr val="C00000"/>
                </a:solidFill>
                <a:latin typeface="微软雅黑" pitchFamily="34" charset="-122"/>
                <a:ea typeface="微软雅黑" pitchFamily="34" charset="-122"/>
              </a:rPr>
              <a:t>无连接协议</a:t>
            </a:r>
            <a:r>
              <a:rPr lang="zh-CN" altLang="en-US" sz="2000" b="1" dirty="0">
                <a:latin typeface="微软雅黑" pitchFamily="34" charset="-122"/>
                <a:ea typeface="微软雅黑" pitchFamily="34" charset="-122"/>
              </a:rPr>
              <a:t>的互联网转变为</a:t>
            </a:r>
            <a:r>
              <a:rPr lang="zh-CN" altLang="en-US" sz="2000" b="1" dirty="0">
                <a:solidFill>
                  <a:srgbClr val="C00000"/>
                </a:solidFill>
                <a:latin typeface="微软雅黑" pitchFamily="34" charset="-122"/>
                <a:ea typeface="微软雅黑" pitchFamily="34" charset="-122"/>
              </a:rPr>
              <a:t>面向连接</a:t>
            </a:r>
            <a:r>
              <a:rPr lang="zh-CN" altLang="en-US" sz="2000" b="1" dirty="0">
                <a:latin typeface="微软雅黑" pitchFamily="34" charset="-122"/>
                <a:ea typeface="微软雅黑" pitchFamily="34" charset="-122"/>
              </a:rPr>
              <a:t>的网络。 </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部分改动互联网的协议栈，</a:t>
            </a:r>
            <a:r>
              <a:rPr lang="zh-CN" altLang="en-US" sz="2000" b="1" dirty="0">
                <a:latin typeface="微软雅黑" pitchFamily="34" charset="-122"/>
                <a:ea typeface="微软雅黑" pitchFamily="34" charset="-122"/>
              </a:rPr>
              <a:t>付出的代价较小，也能够使多媒体信息在互联网上的传输质量得到改进。 </a:t>
            </a:r>
          </a:p>
        </p:txBody>
      </p:sp>
      <p:sp>
        <p:nvSpPr>
          <p:cNvPr id="3" name="AutoShape 5"/>
          <p:cNvSpPr>
            <a:spLocks noChangeArrowheads="1"/>
          </p:cNvSpPr>
          <p:nvPr/>
        </p:nvSpPr>
        <p:spPr bwMode="auto">
          <a:xfrm>
            <a:off x="509475" y="61274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166839" y="579529"/>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必须改造现有的互联网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354610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69594"/>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大体上可分为</a:t>
            </a:r>
            <a:r>
              <a:rPr lang="zh-CN" altLang="en-US" sz="2000" b="1" dirty="0">
                <a:solidFill>
                  <a:srgbClr val="C00000"/>
                </a:solidFill>
                <a:latin typeface="微软雅黑" pitchFamily="34" charset="-122"/>
                <a:ea typeface="微软雅黑" pitchFamily="34" charset="-122"/>
              </a:rPr>
              <a:t>三种类型：</a:t>
            </a:r>
          </a:p>
          <a:p>
            <a:pPr marL="354013" indent="-354013" eaLnBrk="0" hangingPunct="0">
              <a:lnSpc>
                <a:spcPts val="3300"/>
              </a:lnSpc>
              <a:buClr>
                <a:srgbClr val="9900CC"/>
              </a:buClr>
              <a:buFont typeface="+mj-lt"/>
              <a:buAutoNum type="arabicPeriod"/>
            </a:pPr>
            <a:r>
              <a:rPr lang="zh-CN" altLang="en-US" sz="2000" b="1" dirty="0">
                <a:solidFill>
                  <a:srgbClr val="0000FF"/>
                </a:solidFill>
                <a:highlight>
                  <a:srgbClr val="FFFF00"/>
                </a:highlight>
                <a:latin typeface="微软雅黑" pitchFamily="34" charset="-122"/>
                <a:ea typeface="微软雅黑" pitchFamily="34" charset="-122"/>
              </a:rPr>
              <a:t>流式</a:t>
            </a:r>
            <a:r>
              <a:rPr lang="zh-CN" altLang="en-US" sz="2000" b="1" dirty="0">
                <a:highlight>
                  <a:srgbClr val="FFFF00"/>
                </a:highlight>
                <a:latin typeface="微软雅黑" pitchFamily="34" charset="-122"/>
                <a:ea typeface="微软雅黑" pitchFamily="34" charset="-122"/>
              </a:rPr>
              <a:t> </a:t>
            </a:r>
            <a:r>
              <a:rPr lang="en-US" altLang="zh-CN" sz="2000" b="1" dirty="0">
                <a:highlight>
                  <a:srgbClr val="FFFF00"/>
                </a:highlight>
                <a:latin typeface="微软雅黑" pitchFamily="34" charset="-122"/>
                <a:ea typeface="微软雅黑" pitchFamily="34" charset="-122"/>
              </a:rPr>
              <a:t>(streaming) </a:t>
            </a:r>
            <a:r>
              <a:rPr lang="zh-CN" altLang="en-US" sz="2000" b="1" dirty="0">
                <a:highlight>
                  <a:srgbClr val="FFFF00"/>
                </a:highlight>
                <a:latin typeface="微软雅黑" pitchFamily="34" charset="-122"/>
                <a:ea typeface="微软雅黑" pitchFamily="34" charset="-122"/>
              </a:rPr>
              <a:t>存储音频</a:t>
            </a:r>
            <a:r>
              <a:rPr lang="en-US" altLang="zh-CN" sz="2000" b="1" dirty="0">
                <a:highlight>
                  <a:srgbClr val="FFFF00"/>
                </a:highlight>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视频 </a:t>
            </a:r>
            <a:r>
              <a:rPr lang="en-US" altLang="zh-CN" sz="2000" b="1" dirty="0">
                <a:highlight>
                  <a:srgbClr val="FFFF00"/>
                </a:highlight>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边下载边播放。</a:t>
            </a:r>
            <a:endParaRPr lang="en-US" altLang="zh-CN" sz="2000" b="1" dirty="0">
              <a:highlight>
                <a:srgbClr val="FFFF00"/>
              </a:highlight>
              <a:latin typeface="微软雅黑" pitchFamily="34" charset="-122"/>
              <a:ea typeface="微软雅黑" pitchFamily="34" charset="-122"/>
            </a:endParaRPr>
          </a:p>
          <a:p>
            <a:pPr marL="714375" lvl="1" indent="-354013" eaLnBrk="0" hangingPunct="0">
              <a:lnSpc>
                <a:spcPts val="3300"/>
              </a:lnSpc>
              <a:buClr>
                <a:srgbClr val="000099"/>
              </a:buClr>
              <a:buSzPct val="85000"/>
              <a:buFont typeface="Wingdings" panose="05000000000000000000" pitchFamily="2" charset="2"/>
              <a:buChar char="u"/>
            </a:pPr>
            <a:r>
              <a:rPr lang="zh-CN" altLang="en-US" sz="2000" b="1" dirty="0">
                <a:highlight>
                  <a:srgbClr val="FFFF00"/>
                </a:highlight>
                <a:latin typeface="微软雅黑" pitchFamily="34" charset="-122"/>
                <a:ea typeface="微软雅黑" pitchFamily="34" charset="-122"/>
              </a:rPr>
              <a:t>播放时并没有把“下载”的内容存储在硬盘上。</a:t>
            </a:r>
          </a:p>
          <a:p>
            <a:pPr marL="714375" lvl="1" indent="-354013" eaLnBrk="0" hangingPunct="0">
              <a:lnSpc>
                <a:spcPts val="3300"/>
              </a:lnSpc>
              <a:buClr>
                <a:srgbClr val="000099"/>
              </a:buClr>
              <a:buSzPct val="85000"/>
              <a:buFont typeface="Wingdings" panose="05000000000000000000" pitchFamily="2" charset="2"/>
              <a:buChar char="u"/>
            </a:pPr>
            <a:r>
              <a:rPr lang="zh-CN" altLang="en-US" sz="2000" b="1" dirty="0">
                <a:highlight>
                  <a:srgbClr val="FFFF00"/>
                </a:highlight>
                <a:latin typeface="微软雅黑" pitchFamily="34" charset="-122"/>
                <a:ea typeface="微软雅黑" pitchFamily="34" charset="-122"/>
              </a:rPr>
              <a:t>结束后，在用户的硬盘上没有留下有关播放内容的任何痕迹。</a:t>
            </a:r>
          </a:p>
          <a:p>
            <a:pPr marL="354013" indent="-354013" eaLnBrk="0" hangingPunct="0">
              <a:lnSpc>
                <a:spcPts val="3300"/>
              </a:lnSpc>
              <a:buClr>
                <a:srgbClr val="9900CC"/>
              </a:buClr>
              <a:buFont typeface="+mj-lt"/>
              <a:buAutoNum type="arabicPeriod"/>
            </a:pPr>
            <a:r>
              <a:rPr lang="zh-CN" altLang="en-US" sz="2000" b="1" dirty="0">
                <a:solidFill>
                  <a:srgbClr val="0000FF"/>
                </a:solidFill>
                <a:highlight>
                  <a:srgbClr val="FFFF00"/>
                </a:highlight>
                <a:latin typeface="微软雅黑" pitchFamily="34" charset="-122"/>
                <a:ea typeface="微软雅黑" pitchFamily="34" charset="-122"/>
              </a:rPr>
              <a:t>流式实况</a:t>
            </a:r>
            <a:r>
              <a:rPr lang="zh-CN" altLang="en-US" sz="2000" b="1" dirty="0">
                <a:highlight>
                  <a:srgbClr val="FFFF00"/>
                </a:highlight>
                <a:latin typeface="微软雅黑" pitchFamily="34" charset="-122"/>
                <a:ea typeface="微软雅黑" pitchFamily="34" charset="-122"/>
              </a:rPr>
              <a:t>音频</a:t>
            </a:r>
            <a:r>
              <a:rPr lang="en-US" altLang="zh-CN" sz="2000" b="1" dirty="0">
                <a:highlight>
                  <a:srgbClr val="FFFF00"/>
                </a:highlight>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视频 </a:t>
            </a:r>
            <a:r>
              <a:rPr lang="en-US" altLang="zh-CN" sz="2000" b="1" dirty="0">
                <a:highlight>
                  <a:srgbClr val="FFFF00"/>
                </a:highlight>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边录制边发送，连续播放。</a:t>
            </a:r>
          </a:p>
          <a:p>
            <a:pPr marL="354013" indent="-354013" eaLnBrk="0" hangingPunct="0">
              <a:lnSpc>
                <a:spcPts val="3300"/>
              </a:lnSpc>
              <a:buClr>
                <a:srgbClr val="9900CC"/>
              </a:buClr>
              <a:buFont typeface="+mj-lt"/>
              <a:buAutoNum type="arabicPeriod"/>
            </a:pPr>
            <a:r>
              <a:rPr lang="zh-CN" altLang="en-US" sz="2000" b="1" dirty="0">
                <a:solidFill>
                  <a:srgbClr val="0000FF"/>
                </a:solidFill>
                <a:highlight>
                  <a:srgbClr val="FFFF00"/>
                </a:highlight>
                <a:latin typeface="微软雅黑" pitchFamily="34" charset="-122"/>
                <a:ea typeface="微软雅黑" pitchFamily="34" charset="-122"/>
              </a:rPr>
              <a:t>交互式</a:t>
            </a:r>
            <a:r>
              <a:rPr lang="zh-CN" altLang="en-US" sz="2000" b="1" dirty="0">
                <a:highlight>
                  <a:srgbClr val="FFFF00"/>
                </a:highlight>
                <a:latin typeface="微软雅黑" pitchFamily="34" charset="-122"/>
                <a:ea typeface="微软雅黑" pitchFamily="34" charset="-122"/>
              </a:rPr>
              <a:t>音频</a:t>
            </a:r>
            <a:r>
              <a:rPr lang="en-US" altLang="zh-CN" sz="2000" b="1" dirty="0">
                <a:highlight>
                  <a:srgbClr val="FFFF00"/>
                </a:highlight>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视频 </a:t>
            </a:r>
            <a:r>
              <a:rPr lang="en-US" altLang="zh-CN" sz="2000" b="1" dirty="0">
                <a:highlight>
                  <a:srgbClr val="FFFF00"/>
                </a:highlight>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实时交互式通信。</a:t>
            </a:r>
          </a:p>
        </p:txBody>
      </p:sp>
      <p:sp>
        <p:nvSpPr>
          <p:cNvPr id="3" name="AutoShape 5"/>
          <p:cNvSpPr>
            <a:spLocks noChangeArrowheads="1"/>
          </p:cNvSpPr>
          <p:nvPr/>
        </p:nvSpPr>
        <p:spPr bwMode="auto">
          <a:xfrm>
            <a:off x="509475" y="60556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592964" y="572353"/>
            <a:ext cx="39741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highlight>
                  <a:srgbClr val="FFFF00"/>
                </a:highlight>
                <a:latin typeface="微软雅黑" pitchFamily="34" charset="-122"/>
                <a:ea typeface="微软雅黑" pitchFamily="34" charset="-122"/>
              </a:rPr>
              <a:t>互联网提供的音频</a:t>
            </a:r>
            <a:r>
              <a:rPr lang="en-US" altLang="zh-CN" sz="2000" b="1" dirty="0">
                <a:highlight>
                  <a:srgbClr val="FFFF00"/>
                </a:highlight>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视频服务类型 </a:t>
            </a:r>
            <a:endParaRPr lang="fr-FR" altLang="zh-CN" sz="2000" b="1" dirty="0">
              <a:highlight>
                <a:srgbClr val="FFFF00"/>
              </a:highlight>
              <a:latin typeface="微软雅黑" pitchFamily="34" charset="-122"/>
              <a:ea typeface="微软雅黑" pitchFamily="34" charset="-122"/>
            </a:endParaRPr>
          </a:p>
        </p:txBody>
      </p:sp>
    </p:spTree>
    <p:extLst>
      <p:ext uri="{BB962C8B-B14F-4D97-AF65-F5344CB8AC3E}">
        <p14:creationId xmlns:p14="http://schemas.microsoft.com/office/powerpoint/2010/main" val="41632563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9"/>
          <p:cNvSpPr>
            <a:spLocks noChangeArrowheads="1"/>
          </p:cNvSpPr>
          <p:nvPr/>
        </p:nvSpPr>
        <p:spPr bwMode="auto">
          <a:xfrm>
            <a:off x="2629135" y="138929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Rectangle 10"/>
          <p:cNvSpPr>
            <a:spLocks noChangeArrowheads="1"/>
          </p:cNvSpPr>
          <p:nvPr/>
        </p:nvSpPr>
        <p:spPr bwMode="auto">
          <a:xfrm>
            <a:off x="2629135" y="199571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9" name="Rectangle 11"/>
          <p:cNvSpPr>
            <a:spLocks noChangeArrowheads="1"/>
          </p:cNvSpPr>
          <p:nvPr/>
        </p:nvSpPr>
        <p:spPr bwMode="auto">
          <a:xfrm>
            <a:off x="2629135" y="261325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dirty="0">
              <a:solidFill>
                <a:srgbClr val="FFFFFF"/>
              </a:solidFill>
              <a:latin typeface="宋体" charset="-122"/>
            </a:endParaRPr>
          </a:p>
        </p:txBody>
      </p:sp>
      <p:sp>
        <p:nvSpPr>
          <p:cNvPr id="10" name="Line 16"/>
          <p:cNvSpPr>
            <a:spLocks noChangeShapeType="1"/>
          </p:cNvSpPr>
          <p:nvPr/>
        </p:nvSpPr>
        <p:spPr bwMode="auto">
          <a:xfrm>
            <a:off x="3637198" y="1036788"/>
            <a:ext cx="0" cy="2899216"/>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8"/>
          <p:cNvSpPr>
            <a:spLocks noChangeArrowheads="1"/>
          </p:cNvSpPr>
          <p:nvPr/>
        </p:nvSpPr>
        <p:spPr bwMode="auto">
          <a:xfrm>
            <a:off x="2700573" y="1354748"/>
            <a:ext cx="547211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chemeClr val="bg1"/>
                </a:solidFill>
                <a:latin typeface="微软雅黑" pitchFamily="34" charset="-122"/>
                <a:ea typeface="微软雅黑" pitchFamily="34" charset="-122"/>
              </a:rPr>
              <a:t>8.2.1  		     </a:t>
            </a:r>
            <a:r>
              <a:rPr lang="zh-CN" altLang="en-US" sz="2000" b="1" dirty="0">
                <a:solidFill>
                  <a:schemeClr val="bg1"/>
                </a:solidFill>
                <a:latin typeface="微软雅黑" pitchFamily="34" charset="-122"/>
                <a:ea typeface="微软雅黑" pitchFamily="34" charset="-122"/>
              </a:rPr>
              <a:t>具有元文件的万维网服务器</a:t>
            </a:r>
            <a:endParaRPr lang="en-US" altLang="zh-CN" sz="2000" b="1" dirty="0">
              <a:solidFill>
                <a:schemeClr val="bg1"/>
              </a:solidFill>
              <a:latin typeface="微软雅黑" pitchFamily="34" charset="-122"/>
              <a:ea typeface="微软雅黑" pitchFamily="34" charset="-122"/>
            </a:endParaRPr>
          </a:p>
          <a:p>
            <a:endParaRPr lang="zh-CN" altLang="en-US" sz="2000" b="1" dirty="0">
              <a:solidFill>
                <a:schemeClr val="bg1"/>
              </a:solidFill>
              <a:latin typeface="微软雅黑" pitchFamily="34" charset="-122"/>
              <a:ea typeface="微软雅黑" pitchFamily="34" charset="-122"/>
            </a:endParaRPr>
          </a:p>
          <a:p>
            <a:r>
              <a:rPr lang="en-US" altLang="zh-CN" sz="2000" b="1" dirty="0">
                <a:solidFill>
                  <a:schemeClr val="bg1"/>
                </a:solidFill>
                <a:latin typeface="微软雅黑" pitchFamily="34" charset="-122"/>
                <a:ea typeface="微软雅黑" pitchFamily="34" charset="-122"/>
              </a:rPr>
              <a:t>8.2.2 				    </a:t>
            </a:r>
            <a:r>
              <a:rPr lang="zh-CN" altLang="en-US" sz="2000" b="1" dirty="0">
                <a:solidFill>
                  <a:schemeClr val="bg1"/>
                </a:solidFill>
                <a:latin typeface="微软雅黑" pitchFamily="34" charset="-122"/>
                <a:ea typeface="微软雅黑" pitchFamily="34" charset="-122"/>
              </a:rPr>
              <a:t>媒体服务器</a:t>
            </a:r>
            <a:endParaRPr lang="en-US" altLang="zh-CN" sz="2000" b="1" dirty="0">
              <a:solidFill>
                <a:schemeClr val="bg1"/>
              </a:solidFill>
              <a:latin typeface="微软雅黑" pitchFamily="34" charset="-122"/>
              <a:ea typeface="微软雅黑" pitchFamily="34" charset="-122"/>
            </a:endParaRPr>
          </a:p>
          <a:p>
            <a:endParaRPr lang="zh-CN" altLang="en-US" sz="2000" b="1" dirty="0">
              <a:solidFill>
                <a:schemeClr val="bg1"/>
              </a:solidFill>
              <a:latin typeface="微软雅黑" pitchFamily="34" charset="-122"/>
              <a:ea typeface="微软雅黑" pitchFamily="34" charset="-122"/>
            </a:endParaRPr>
          </a:p>
          <a:p>
            <a:r>
              <a:rPr lang="en-US" altLang="zh-CN" sz="2000" b="1" dirty="0">
                <a:solidFill>
                  <a:schemeClr val="bg1"/>
                </a:solidFill>
                <a:latin typeface="微软雅黑" pitchFamily="34" charset="-122"/>
                <a:ea typeface="微软雅黑" pitchFamily="34" charset="-122"/>
              </a:rPr>
              <a:t>8.2.3 			   </a:t>
            </a:r>
            <a:r>
              <a:rPr lang="zh-CN" altLang="en-US" sz="2000" b="1" dirty="0">
                <a:solidFill>
                  <a:schemeClr val="bg1"/>
                </a:solidFill>
                <a:latin typeface="微软雅黑" pitchFamily="34" charset="-122"/>
                <a:ea typeface="微软雅黑" pitchFamily="34" charset="-122"/>
              </a:rPr>
              <a:t>实时流式协议 </a:t>
            </a:r>
            <a:r>
              <a:rPr lang="en-US" altLang="zh-CN" sz="2000" b="1" dirty="0">
                <a:solidFill>
                  <a:schemeClr val="bg1"/>
                </a:solidFill>
                <a:latin typeface="微软雅黑" pitchFamily="34" charset="-122"/>
                <a:ea typeface="微软雅黑" pitchFamily="34" charset="-122"/>
              </a:rPr>
              <a:t>RTSP</a:t>
            </a:r>
          </a:p>
        </p:txBody>
      </p:sp>
      <p:sp>
        <p:nvSpPr>
          <p:cNvPr id="12" name="Rectangle 27"/>
          <p:cNvSpPr>
            <a:spLocks noChangeArrowheads="1"/>
          </p:cNvSpPr>
          <p:nvPr/>
        </p:nvSpPr>
        <p:spPr bwMode="auto">
          <a:xfrm>
            <a:off x="639730" y="138929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3" name="Rectangle 29"/>
          <p:cNvSpPr>
            <a:spLocks noChangeArrowheads="1"/>
          </p:cNvSpPr>
          <p:nvPr/>
        </p:nvSpPr>
        <p:spPr bwMode="auto">
          <a:xfrm>
            <a:off x="648619" y="148422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8.2</a:t>
            </a:r>
          </a:p>
          <a:p>
            <a:r>
              <a:rPr lang="zh-CN" altLang="en-US" sz="2000" b="1" dirty="0">
                <a:solidFill>
                  <a:schemeClr val="bg1"/>
                </a:solidFill>
                <a:latin typeface="微软雅黑" pitchFamily="34" charset="-122"/>
                <a:ea typeface="微软雅黑" pitchFamily="34" charset="-122"/>
              </a:rPr>
              <a:t>流式存储</a:t>
            </a:r>
            <a:endParaRPr lang="en-US" altLang="zh-CN" sz="2000" b="1" dirty="0">
              <a:solidFill>
                <a:schemeClr val="bg1"/>
              </a:solidFill>
              <a:latin typeface="微软雅黑" pitchFamily="34" charset="-122"/>
              <a:ea typeface="微软雅黑" pitchFamily="34" charset="-122"/>
            </a:endParaRPr>
          </a:p>
          <a:p>
            <a:r>
              <a:rPr lang="zh-CN" altLang="en-US" sz="2000" b="1" dirty="0">
                <a:solidFill>
                  <a:schemeClr val="bg1"/>
                </a:solidFill>
                <a:latin typeface="微软雅黑" pitchFamily="34" charset="-122"/>
                <a:ea typeface="微软雅黑" pitchFamily="34" charset="-122"/>
              </a:rPr>
              <a:t>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a:t>
            </a:r>
          </a:p>
        </p:txBody>
      </p:sp>
    </p:spTree>
    <p:extLst>
      <p:ext uri="{BB962C8B-B14F-4D97-AF65-F5344CB8AC3E}">
        <p14:creationId xmlns:p14="http://schemas.microsoft.com/office/powerpoint/2010/main" val="34440222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511896" y="1774223"/>
            <a:ext cx="8129015" cy="26497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46"/>
          <p:cNvSpPr>
            <a:spLocks noChangeArrowheads="1"/>
          </p:cNvSpPr>
          <p:nvPr/>
        </p:nvSpPr>
        <p:spPr bwMode="auto">
          <a:xfrm>
            <a:off x="545144" y="1004523"/>
            <a:ext cx="8020886" cy="810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en-US" altLang="zh-CN"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存储</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a:t>
            </a:r>
            <a:r>
              <a:rPr lang="zh-CN" altLang="en-US" sz="2000" b="1" dirty="0">
                <a:solidFill>
                  <a:srgbClr val="C00000"/>
                </a:solidFill>
                <a:latin typeface="微软雅黑" pitchFamily="34" charset="-122"/>
                <a:ea typeface="微软雅黑" pitchFamily="34" charset="-122"/>
              </a:rPr>
              <a:t>不是实时产生的，</a:t>
            </a:r>
            <a:r>
              <a:rPr lang="zh-CN" altLang="en-US" sz="2000" b="1" dirty="0">
                <a:latin typeface="微软雅黑" pitchFamily="34" charset="-122"/>
                <a:ea typeface="微软雅黑" pitchFamily="34" charset="-122"/>
              </a:rPr>
              <a:t>而是已经录制好的，通常存储在光盘或硬盘中。</a:t>
            </a:r>
            <a:endParaRPr lang="en-US" altLang="zh-CN" sz="2000" b="1" dirty="0">
              <a:latin typeface="微软雅黑" pitchFamily="34" charset="-122"/>
              <a:ea typeface="微软雅黑" pitchFamily="34" charset="-122"/>
            </a:endParaRPr>
          </a:p>
        </p:txBody>
      </p:sp>
      <p:sp>
        <p:nvSpPr>
          <p:cNvPr id="6" name="Rectangle 4"/>
          <p:cNvSpPr>
            <a:spLocks noChangeArrowheads="1"/>
          </p:cNvSpPr>
          <p:nvPr/>
        </p:nvSpPr>
        <p:spPr bwMode="auto">
          <a:xfrm>
            <a:off x="2751619" y="2199913"/>
            <a:ext cx="914594" cy="2091608"/>
          </a:xfrm>
          <a:prstGeom prst="rect">
            <a:avLst/>
          </a:prstGeom>
          <a:solidFill>
            <a:srgbClr val="00FFFF"/>
          </a:solidFill>
          <a:ln>
            <a:solidFill>
              <a:schemeClr val="tx1"/>
            </a:solidFill>
          </a:ln>
          <a:effectLst/>
        </p:spPr>
        <p:txBody>
          <a:bodyPr wrap="none" anchor="ctr"/>
          <a:lstStyle/>
          <a:p>
            <a:pPr algn="ctr"/>
            <a:endParaRPr lang="zh-CN" altLang="zh-CN" sz="1400" b="1">
              <a:latin typeface="微软雅黑" pitchFamily="34" charset="-122"/>
              <a:ea typeface="微软雅黑" pitchFamily="34" charset="-122"/>
            </a:endParaRPr>
          </a:p>
        </p:txBody>
      </p:sp>
      <p:sp>
        <p:nvSpPr>
          <p:cNvPr id="7" name="Rectangle 5"/>
          <p:cNvSpPr>
            <a:spLocks noChangeArrowheads="1"/>
          </p:cNvSpPr>
          <p:nvPr/>
        </p:nvSpPr>
        <p:spPr bwMode="auto">
          <a:xfrm>
            <a:off x="6028154" y="2265341"/>
            <a:ext cx="716813" cy="914946"/>
          </a:xfrm>
          <a:prstGeom prst="rect">
            <a:avLst/>
          </a:prstGeom>
          <a:solidFill>
            <a:srgbClr val="CC00CC"/>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万维网</a:t>
            </a:r>
          </a:p>
          <a:p>
            <a:pPr algn="ctr"/>
            <a:r>
              <a:rPr lang="zh-CN" altLang="en-US" sz="1400" b="1">
                <a:solidFill>
                  <a:schemeClr val="bg1"/>
                </a:solidFill>
                <a:latin typeface="微软雅黑" pitchFamily="34" charset="-122"/>
                <a:ea typeface="微软雅黑" pitchFamily="34" charset="-122"/>
              </a:rPr>
              <a:t>服务器</a:t>
            </a:r>
          </a:p>
        </p:txBody>
      </p:sp>
      <p:sp>
        <p:nvSpPr>
          <p:cNvPr id="9" name="Text Box 7"/>
          <p:cNvSpPr txBox="1">
            <a:spLocks noChangeArrowheads="1"/>
          </p:cNvSpPr>
          <p:nvPr/>
        </p:nvSpPr>
        <p:spPr bwMode="auto">
          <a:xfrm>
            <a:off x="2294822" y="1893098"/>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客户机</a:t>
            </a:r>
          </a:p>
        </p:txBody>
      </p:sp>
      <p:sp>
        <p:nvSpPr>
          <p:cNvPr id="10" name="Text Box 8"/>
          <p:cNvSpPr txBox="1">
            <a:spLocks noChangeArrowheads="1"/>
          </p:cNvSpPr>
          <p:nvPr/>
        </p:nvSpPr>
        <p:spPr bwMode="auto">
          <a:xfrm>
            <a:off x="6589486" y="195429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服务器</a:t>
            </a:r>
          </a:p>
        </p:txBody>
      </p:sp>
      <p:sp>
        <p:nvSpPr>
          <p:cNvPr id="12" name="Rectangle 58"/>
          <p:cNvSpPr>
            <a:spLocks noChangeArrowheads="1"/>
          </p:cNvSpPr>
          <p:nvPr/>
        </p:nvSpPr>
        <p:spPr bwMode="auto">
          <a:xfrm>
            <a:off x="2883091" y="3573916"/>
            <a:ext cx="653935" cy="587803"/>
          </a:xfrm>
          <a:prstGeom prst="rect">
            <a:avLst/>
          </a:prstGeom>
          <a:solidFill>
            <a:srgbClr val="993300"/>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媒体</a:t>
            </a:r>
          </a:p>
          <a:p>
            <a:pPr algn="ctr"/>
            <a:r>
              <a:rPr lang="zh-CN" altLang="en-US" sz="1400" b="1" dirty="0">
                <a:solidFill>
                  <a:schemeClr val="bg1"/>
                </a:solidFill>
                <a:latin typeface="微软雅黑" pitchFamily="34" charset="-122"/>
                <a:ea typeface="微软雅黑" pitchFamily="34" charset="-122"/>
              </a:rPr>
              <a:t>播放器</a:t>
            </a:r>
          </a:p>
        </p:txBody>
      </p:sp>
      <p:grpSp>
        <p:nvGrpSpPr>
          <p:cNvPr id="13" name="Group 72"/>
          <p:cNvGrpSpPr>
            <a:grpSpLocks/>
          </p:cNvGrpSpPr>
          <p:nvPr/>
        </p:nvGrpSpPr>
        <p:grpSpPr bwMode="auto">
          <a:xfrm>
            <a:off x="3534740" y="2237896"/>
            <a:ext cx="2455687" cy="338751"/>
            <a:chOff x="1932" y="2210"/>
            <a:chExt cx="2148" cy="321"/>
          </a:xfrm>
        </p:grpSpPr>
        <p:sp>
          <p:nvSpPr>
            <p:cNvPr id="23" name="Line 60"/>
            <p:cNvSpPr>
              <a:spLocks noChangeShapeType="1"/>
            </p:cNvSpPr>
            <p:nvPr/>
          </p:nvSpPr>
          <p:spPr bwMode="auto">
            <a:xfrm rot="-5400000">
              <a:off x="3006" y="1410"/>
              <a:ext cx="0" cy="214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4" name="Text Box 62"/>
            <p:cNvSpPr txBox="1">
              <a:spLocks noChangeArrowheads="1"/>
            </p:cNvSpPr>
            <p:nvPr/>
          </p:nvSpPr>
          <p:spPr bwMode="auto">
            <a:xfrm>
              <a:off x="2057" y="2210"/>
              <a:ext cx="36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25" name="Text Box 64"/>
            <p:cNvSpPr txBox="1">
              <a:spLocks noChangeArrowheads="1"/>
            </p:cNvSpPr>
            <p:nvPr/>
          </p:nvSpPr>
          <p:spPr bwMode="auto">
            <a:xfrm>
              <a:off x="2248" y="2212"/>
              <a:ext cx="1577"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GET: </a:t>
              </a:r>
              <a:r>
                <a:rPr lang="zh-CN" altLang="en-US" sz="1400" b="1" dirty="0">
                  <a:latin typeface="微软雅黑" pitchFamily="34" charset="-122"/>
                  <a:ea typeface="微软雅黑" pitchFamily="34" charset="-122"/>
                </a:rPr>
                <a:t>音频</a:t>
              </a:r>
              <a:r>
                <a:rPr lang="en-US" altLang="zh-CN" sz="1400" b="1" dirty="0">
                  <a:latin typeface="微软雅黑" pitchFamily="34" charset="-122"/>
                  <a:ea typeface="微软雅黑" pitchFamily="34" charset="-122"/>
                </a:rPr>
                <a:t>/</a:t>
              </a:r>
              <a:r>
                <a:rPr lang="zh-CN" altLang="en-US" sz="1400" b="1" dirty="0">
                  <a:latin typeface="微软雅黑" pitchFamily="34" charset="-122"/>
                  <a:ea typeface="微软雅黑" pitchFamily="34" charset="-122"/>
                </a:rPr>
                <a:t>视频文件</a:t>
              </a:r>
            </a:p>
          </p:txBody>
        </p:sp>
      </p:grpSp>
      <p:grpSp>
        <p:nvGrpSpPr>
          <p:cNvPr id="14" name="Group 73"/>
          <p:cNvGrpSpPr>
            <a:grpSpLocks/>
          </p:cNvGrpSpPr>
          <p:nvPr/>
        </p:nvGrpSpPr>
        <p:grpSpPr bwMode="auto">
          <a:xfrm>
            <a:off x="3534740" y="2541825"/>
            <a:ext cx="2586017" cy="338751"/>
            <a:chOff x="1932" y="2498"/>
            <a:chExt cx="2262" cy="321"/>
          </a:xfrm>
        </p:grpSpPr>
        <p:sp>
          <p:nvSpPr>
            <p:cNvPr id="20" name="Line 61"/>
            <p:cNvSpPr>
              <a:spLocks noChangeShapeType="1"/>
            </p:cNvSpPr>
            <p:nvPr/>
          </p:nvSpPr>
          <p:spPr bwMode="auto">
            <a:xfrm rot="-5400000" flipH="1" flipV="1">
              <a:off x="3010" y="1685"/>
              <a:ext cx="10" cy="2165"/>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1" name="Text Box 63"/>
            <p:cNvSpPr txBox="1">
              <a:spLocks noChangeArrowheads="1"/>
            </p:cNvSpPr>
            <p:nvPr/>
          </p:nvSpPr>
          <p:spPr bwMode="auto">
            <a:xfrm>
              <a:off x="3826" y="2498"/>
              <a:ext cx="36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22" name="Text Box 65"/>
            <p:cNvSpPr txBox="1">
              <a:spLocks noChangeArrowheads="1"/>
            </p:cNvSpPr>
            <p:nvPr/>
          </p:nvSpPr>
          <p:spPr bwMode="auto">
            <a:xfrm>
              <a:off x="2871" y="2515"/>
              <a:ext cx="1004"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RESPONSE</a:t>
              </a:r>
            </a:p>
          </p:txBody>
        </p:sp>
      </p:grpSp>
      <p:grpSp>
        <p:nvGrpSpPr>
          <p:cNvPr id="15" name="Group 71"/>
          <p:cNvGrpSpPr>
            <a:grpSpLocks/>
          </p:cNvGrpSpPr>
          <p:nvPr/>
        </p:nvGrpSpPr>
        <p:grpSpPr bwMode="auto">
          <a:xfrm>
            <a:off x="3173466" y="2853145"/>
            <a:ext cx="1578815" cy="719716"/>
            <a:chOff x="1616" y="2793"/>
            <a:chExt cx="1381" cy="682"/>
          </a:xfrm>
        </p:grpSpPr>
        <p:sp>
          <p:nvSpPr>
            <p:cNvPr id="17" name="Line 59"/>
            <p:cNvSpPr>
              <a:spLocks noChangeShapeType="1"/>
            </p:cNvSpPr>
            <p:nvPr/>
          </p:nvSpPr>
          <p:spPr bwMode="auto">
            <a:xfrm>
              <a:off x="1648" y="2793"/>
              <a:ext cx="0" cy="68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Text Box 66"/>
            <p:cNvSpPr txBox="1">
              <a:spLocks noChangeArrowheads="1"/>
            </p:cNvSpPr>
            <p:nvPr/>
          </p:nvSpPr>
          <p:spPr bwMode="auto">
            <a:xfrm>
              <a:off x="1616" y="3003"/>
              <a:ext cx="36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19" name="Text Box 67"/>
            <p:cNvSpPr txBox="1">
              <a:spLocks noChangeArrowheads="1"/>
            </p:cNvSpPr>
            <p:nvPr/>
          </p:nvSpPr>
          <p:spPr bwMode="auto">
            <a:xfrm>
              <a:off x="1819" y="2998"/>
              <a:ext cx="1178"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音频</a:t>
              </a:r>
              <a:r>
                <a:rPr lang="en-US" altLang="zh-CN" sz="1400" b="1" dirty="0">
                  <a:latin typeface="微软雅黑" pitchFamily="34" charset="-122"/>
                  <a:ea typeface="微软雅黑" pitchFamily="34" charset="-122"/>
                </a:rPr>
                <a:t>/</a:t>
              </a:r>
              <a:r>
                <a:rPr lang="zh-CN" altLang="en-US" sz="1400" b="1" dirty="0">
                  <a:latin typeface="微软雅黑" pitchFamily="34" charset="-122"/>
                  <a:ea typeface="微软雅黑" pitchFamily="34" charset="-122"/>
                </a:rPr>
                <a:t>视频文件</a:t>
              </a:r>
            </a:p>
          </p:txBody>
        </p:sp>
      </p:grpSp>
      <p:sp>
        <p:nvSpPr>
          <p:cNvPr id="16" name="Rectangle 68"/>
          <p:cNvSpPr>
            <a:spLocks noChangeArrowheads="1"/>
          </p:cNvSpPr>
          <p:nvPr/>
        </p:nvSpPr>
        <p:spPr bwMode="auto">
          <a:xfrm>
            <a:off x="2883091" y="2417298"/>
            <a:ext cx="653935" cy="587803"/>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浏览器</a:t>
            </a:r>
          </a:p>
        </p:txBody>
      </p:sp>
      <p:pic>
        <p:nvPicPr>
          <p:cNvPr id="75"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8733" y="1870790"/>
            <a:ext cx="498816" cy="498818"/>
          </a:xfrm>
          <a:prstGeom prst="rect">
            <a:avLst/>
          </a:prstGeom>
          <a:noFill/>
          <a:extLst>
            <a:ext uri="{909E8E84-426E-40DD-AFC4-6F175D3DCCD1}">
              <a14:hiddenFill xmlns:a14="http://schemas.microsoft.com/office/drawing/2010/main">
                <a:solidFill>
                  <a:srgbClr val="FFFFFF"/>
                </a:solidFill>
              </a14:hiddenFill>
            </a:ext>
          </a:extLst>
        </p:spPr>
      </p:pic>
      <p:pic>
        <p:nvPicPr>
          <p:cNvPr id="76" name="图片 7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7961" y="1859846"/>
            <a:ext cx="421958" cy="611522"/>
          </a:xfrm>
          <a:prstGeom prst="rect">
            <a:avLst/>
          </a:prstGeom>
        </p:spPr>
      </p:pic>
      <p:sp>
        <p:nvSpPr>
          <p:cNvPr id="77" name="矩形 76"/>
          <p:cNvSpPr/>
          <p:nvPr/>
        </p:nvSpPr>
        <p:spPr>
          <a:xfrm>
            <a:off x="4623592" y="3522662"/>
            <a:ext cx="3789893" cy="707886"/>
          </a:xfrm>
          <a:prstGeom prst="rect">
            <a:avLst/>
          </a:prstGeom>
          <a:solidFill>
            <a:schemeClr val="bg1"/>
          </a:solidFill>
          <a:ln>
            <a:solidFill>
              <a:schemeClr val="tx1"/>
            </a:solidFill>
          </a:ln>
        </p:spPr>
        <p:txBody>
          <a:bodyPr wrap="square">
            <a:spAutoFit/>
          </a:bodyPr>
          <a:lstStyle/>
          <a:p>
            <a:pPr>
              <a:lnSpc>
                <a:spcPts val="2400"/>
              </a:lnSpc>
            </a:pPr>
            <a:r>
              <a:rPr lang="zh-CN" altLang="en-US" sz="1600" b="1" dirty="0">
                <a:latin typeface="微软雅黑" pitchFamily="34" charset="-122"/>
                <a:ea typeface="微软雅黑" pitchFamily="34" charset="-122"/>
              </a:rPr>
              <a:t>注意：传统的下载文件方法并没有涉及到“流式”（即边下载边播放）的概念。</a:t>
            </a:r>
          </a:p>
        </p:txBody>
      </p:sp>
      <p:sp>
        <p:nvSpPr>
          <p:cNvPr id="29" name="AutoShape 5"/>
          <p:cNvSpPr>
            <a:spLocks noChangeArrowheads="1"/>
          </p:cNvSpPr>
          <p:nvPr/>
        </p:nvSpPr>
        <p:spPr bwMode="auto">
          <a:xfrm>
            <a:off x="545144" y="61211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30" name="Rectangle 6"/>
          <p:cNvSpPr>
            <a:spLocks noChangeArrowheads="1"/>
          </p:cNvSpPr>
          <p:nvPr/>
        </p:nvSpPr>
        <p:spPr bwMode="auto">
          <a:xfrm>
            <a:off x="2851019" y="569848"/>
            <a:ext cx="34419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8.2</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流式存储音频</a:t>
            </a:r>
            <a:r>
              <a:rPr lang="en-US" altLang="zh-CN" sz="2400" b="1" dirty="0">
                <a:solidFill>
                  <a:schemeClr val="bg1"/>
                </a:solidFill>
                <a:latin typeface="微软雅黑" pitchFamily="34" charset="-122"/>
                <a:ea typeface="微软雅黑" pitchFamily="34" charset="-122"/>
              </a:rPr>
              <a:t>/</a:t>
            </a:r>
            <a:r>
              <a:rPr lang="zh-CN" altLang="en-US" sz="2400" b="1" dirty="0">
                <a:solidFill>
                  <a:schemeClr val="bg1"/>
                </a:solidFill>
                <a:latin typeface="微软雅黑" pitchFamily="34" charset="-122"/>
                <a:ea typeface="微软雅黑" pitchFamily="34" charset="-122"/>
              </a:rPr>
              <a:t>视频</a:t>
            </a:r>
          </a:p>
        </p:txBody>
      </p:sp>
      <p:sp>
        <p:nvSpPr>
          <p:cNvPr id="4" name="矩形 3"/>
          <p:cNvSpPr/>
          <p:nvPr/>
        </p:nvSpPr>
        <p:spPr>
          <a:xfrm>
            <a:off x="1965041" y="4432166"/>
            <a:ext cx="5542895"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传统浏览器从服务器下载已经录制好的音频</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视频文件步骤</a:t>
            </a:r>
          </a:p>
        </p:txBody>
      </p:sp>
    </p:spTree>
    <p:extLst>
      <p:ext uri="{BB962C8B-B14F-4D97-AF65-F5344CB8AC3E}">
        <p14:creationId xmlns:p14="http://schemas.microsoft.com/office/powerpoint/2010/main" val="14005838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17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175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1750"/>
                                        <p:tgtEl>
                                          <p:spTgt spid="15"/>
                                        </p:tgtEl>
                                      </p:cBhvr>
                                    </p:animEffect>
                                  </p:childTnLst>
                                </p:cTn>
                              </p:par>
                            </p:childTnLst>
                          </p:cTn>
                        </p:par>
                        <p:par>
                          <p:cTn id="18" fill="hold">
                            <p:stCondLst>
                              <p:cond delay="1750"/>
                            </p:stCondLst>
                            <p:childTnLst>
                              <p:par>
                                <p:cTn id="19" presetID="1" presetClass="entr" presetSubtype="0"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AutoShape 12"/>
          <p:cNvSpPr>
            <a:spLocks noChangeArrowheads="1"/>
          </p:cNvSpPr>
          <p:nvPr/>
        </p:nvSpPr>
        <p:spPr bwMode="auto">
          <a:xfrm>
            <a:off x="511896" y="606726"/>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6" name="Rectangle 13"/>
          <p:cNvSpPr>
            <a:spLocks noChangeArrowheads="1"/>
          </p:cNvSpPr>
          <p:nvPr/>
        </p:nvSpPr>
        <p:spPr bwMode="auto">
          <a:xfrm>
            <a:off x="2128458" y="581262"/>
            <a:ext cx="48958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8.2.1  </a:t>
            </a:r>
            <a:r>
              <a:rPr lang="zh-CN" altLang="en-US" sz="2400" b="1" dirty="0">
                <a:solidFill>
                  <a:schemeClr val="bg1"/>
                </a:solidFill>
                <a:latin typeface="微软雅黑" pitchFamily="34" charset="-122"/>
                <a:ea typeface="微软雅黑" pitchFamily="34" charset="-122"/>
              </a:rPr>
              <a:t>具有元文件的万维网服务器 </a:t>
            </a:r>
          </a:p>
        </p:txBody>
      </p:sp>
      <p:sp>
        <p:nvSpPr>
          <p:cNvPr id="5" name="Rectangle 46"/>
          <p:cNvSpPr>
            <a:spLocks noChangeArrowheads="1"/>
          </p:cNvSpPr>
          <p:nvPr/>
        </p:nvSpPr>
        <p:spPr bwMode="auto">
          <a:xfrm>
            <a:off x="471898" y="1059866"/>
            <a:ext cx="8169013"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元文件</a:t>
            </a:r>
            <a:r>
              <a:rPr lang="zh-CN" altLang="en-US" sz="2000" b="1" dirty="0">
                <a:latin typeface="微软雅黑" pitchFamily="34" charset="-122"/>
                <a:ea typeface="微软雅黑" pitchFamily="34" charset="-122"/>
              </a:rPr>
              <a:t>就是一种非常小的文件，它描述或指明其他文件的一些重要信息。这里的元文件保存了有关这个音频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视频文件的信息。 </a:t>
            </a:r>
          </a:p>
        </p:txBody>
      </p:sp>
      <p:sp>
        <p:nvSpPr>
          <p:cNvPr id="6" name="圆角矩形 5"/>
          <p:cNvSpPr/>
          <p:nvPr/>
        </p:nvSpPr>
        <p:spPr>
          <a:xfrm>
            <a:off x="511896" y="1921640"/>
            <a:ext cx="8129015" cy="233390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4"/>
          <p:cNvSpPr>
            <a:spLocks noChangeArrowheads="1"/>
          </p:cNvSpPr>
          <p:nvPr/>
        </p:nvSpPr>
        <p:spPr bwMode="auto">
          <a:xfrm>
            <a:off x="2909058" y="2337712"/>
            <a:ext cx="788692" cy="1740816"/>
          </a:xfrm>
          <a:prstGeom prst="rect">
            <a:avLst/>
          </a:prstGeom>
          <a:solidFill>
            <a:srgbClr val="00FFFF"/>
          </a:solidFill>
          <a:ln w="9525" algn="ctr">
            <a:solidFill>
              <a:schemeClr val="tx1"/>
            </a:solidFill>
            <a:miter lim="800000"/>
            <a:headEnd/>
            <a:tailEnd/>
          </a:ln>
          <a:effectLst/>
        </p:spPr>
        <p:txBody>
          <a:bodyPr wrap="none" anchor="ctr"/>
          <a:lstStyle/>
          <a:p>
            <a:pPr algn="ctr"/>
            <a:endParaRPr lang="zh-CN" altLang="zh-CN" sz="1200" b="1">
              <a:latin typeface="微软雅黑" pitchFamily="34" charset="-122"/>
              <a:ea typeface="微软雅黑" pitchFamily="34" charset="-122"/>
            </a:endParaRPr>
          </a:p>
        </p:txBody>
      </p:sp>
      <p:sp>
        <p:nvSpPr>
          <p:cNvPr id="8" name="Rectangle 5"/>
          <p:cNvSpPr>
            <a:spLocks noChangeArrowheads="1"/>
          </p:cNvSpPr>
          <p:nvPr/>
        </p:nvSpPr>
        <p:spPr bwMode="auto">
          <a:xfrm>
            <a:off x="5741556" y="2391954"/>
            <a:ext cx="618834" cy="1686574"/>
          </a:xfrm>
          <a:prstGeom prst="rect">
            <a:avLst/>
          </a:prstGeom>
          <a:solidFill>
            <a:srgbClr val="CC00CC"/>
          </a:solidFill>
          <a:ln w="9525" algn="ctr">
            <a:solidFill>
              <a:schemeClr val="tx1"/>
            </a:solidFill>
            <a:miter lim="800000"/>
            <a:headEnd/>
            <a:tailEnd/>
          </a:ln>
          <a:effectLst/>
        </p:spPr>
        <p:txBody>
          <a:bodyPr wrap="none" anchor="ctr"/>
          <a:lstStyle/>
          <a:p>
            <a:pPr algn="ctr"/>
            <a:r>
              <a:rPr lang="zh-CN" altLang="en-US" sz="1200" b="1">
                <a:solidFill>
                  <a:schemeClr val="bg1"/>
                </a:solidFill>
                <a:latin typeface="微软雅黑" pitchFamily="34" charset="-122"/>
                <a:ea typeface="微软雅黑" pitchFamily="34" charset="-122"/>
              </a:rPr>
              <a:t>万维网</a:t>
            </a:r>
          </a:p>
          <a:p>
            <a:pPr algn="ctr"/>
            <a:r>
              <a:rPr lang="zh-CN" altLang="en-US" sz="1200" b="1">
                <a:solidFill>
                  <a:schemeClr val="bg1"/>
                </a:solidFill>
                <a:latin typeface="微软雅黑" pitchFamily="34" charset="-122"/>
                <a:ea typeface="微软雅黑" pitchFamily="34" charset="-122"/>
              </a:rPr>
              <a:t>服务器</a:t>
            </a:r>
          </a:p>
        </p:txBody>
      </p:sp>
      <p:sp>
        <p:nvSpPr>
          <p:cNvPr id="10" name="Text Box 7"/>
          <p:cNvSpPr txBox="1">
            <a:spLocks noChangeArrowheads="1"/>
          </p:cNvSpPr>
          <p:nvPr/>
        </p:nvSpPr>
        <p:spPr bwMode="auto">
          <a:xfrm>
            <a:off x="2534623" y="206011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客户机</a:t>
            </a:r>
          </a:p>
        </p:txBody>
      </p:sp>
      <p:sp>
        <p:nvSpPr>
          <p:cNvPr id="11" name="Text Box 8"/>
          <p:cNvSpPr txBox="1">
            <a:spLocks noChangeArrowheads="1"/>
          </p:cNvSpPr>
          <p:nvPr/>
        </p:nvSpPr>
        <p:spPr bwMode="auto">
          <a:xfrm>
            <a:off x="6201995" y="2121870"/>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服务器</a:t>
            </a:r>
          </a:p>
        </p:txBody>
      </p:sp>
      <p:sp>
        <p:nvSpPr>
          <p:cNvPr id="61" name="Rectangle 58"/>
          <p:cNvSpPr>
            <a:spLocks noChangeArrowheads="1"/>
          </p:cNvSpPr>
          <p:nvPr/>
        </p:nvSpPr>
        <p:spPr bwMode="auto">
          <a:xfrm>
            <a:off x="3021991" y="3535265"/>
            <a:ext cx="563745" cy="489022"/>
          </a:xfrm>
          <a:prstGeom prst="rect">
            <a:avLst/>
          </a:prstGeom>
          <a:solidFill>
            <a:srgbClr val="993300"/>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媒体</a:t>
            </a:r>
          </a:p>
          <a:p>
            <a:pPr algn="ctr"/>
            <a:r>
              <a:rPr lang="zh-CN" altLang="en-US" sz="1200" b="1" dirty="0">
                <a:solidFill>
                  <a:schemeClr val="bg1"/>
                </a:solidFill>
                <a:latin typeface="微软雅黑" pitchFamily="34" charset="-122"/>
                <a:ea typeface="微软雅黑" pitchFamily="34" charset="-122"/>
              </a:rPr>
              <a:t>播放器</a:t>
            </a:r>
          </a:p>
        </p:txBody>
      </p:sp>
      <p:grpSp>
        <p:nvGrpSpPr>
          <p:cNvPr id="62" name="Group 77"/>
          <p:cNvGrpSpPr>
            <a:grpSpLocks/>
          </p:cNvGrpSpPr>
          <p:nvPr/>
        </p:nvGrpSpPr>
        <p:grpSpPr bwMode="auto">
          <a:xfrm>
            <a:off x="3247865" y="2881823"/>
            <a:ext cx="835520" cy="653442"/>
            <a:chOff x="1344" y="2744"/>
            <a:chExt cx="910" cy="771"/>
          </a:xfrm>
        </p:grpSpPr>
        <p:sp>
          <p:nvSpPr>
            <p:cNvPr id="63" name="Line 59"/>
            <p:cNvSpPr>
              <a:spLocks noChangeShapeType="1"/>
            </p:cNvSpPr>
            <p:nvPr/>
          </p:nvSpPr>
          <p:spPr bwMode="auto">
            <a:xfrm flipH="1">
              <a:off x="1405" y="2744"/>
              <a:ext cx="0" cy="771"/>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4" name="Text Box 66"/>
            <p:cNvSpPr txBox="1">
              <a:spLocks noChangeArrowheads="1"/>
            </p:cNvSpPr>
            <p:nvPr/>
          </p:nvSpPr>
          <p:spPr bwMode="auto">
            <a:xfrm>
              <a:off x="1344" y="2907"/>
              <a:ext cx="43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65" name="Text Box 67"/>
            <p:cNvSpPr txBox="1">
              <a:spLocks noChangeArrowheads="1"/>
            </p:cNvSpPr>
            <p:nvPr/>
          </p:nvSpPr>
          <p:spPr bwMode="auto">
            <a:xfrm>
              <a:off x="1550" y="2925"/>
              <a:ext cx="7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元文件</a:t>
              </a:r>
            </a:p>
          </p:txBody>
        </p:sp>
      </p:grpSp>
      <p:sp>
        <p:nvSpPr>
          <p:cNvPr id="66" name="Rectangle 68"/>
          <p:cNvSpPr>
            <a:spLocks noChangeArrowheads="1"/>
          </p:cNvSpPr>
          <p:nvPr/>
        </p:nvSpPr>
        <p:spPr bwMode="auto">
          <a:xfrm>
            <a:off x="3021991" y="2501285"/>
            <a:ext cx="563745" cy="489022"/>
          </a:xfrm>
          <a:prstGeom prst="rect">
            <a:avLst/>
          </a:prstGeom>
          <a:solidFill>
            <a:srgbClr val="0000FF"/>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浏览器</a:t>
            </a:r>
          </a:p>
        </p:txBody>
      </p:sp>
      <p:grpSp>
        <p:nvGrpSpPr>
          <p:cNvPr id="67" name="Group 79"/>
          <p:cNvGrpSpPr>
            <a:grpSpLocks/>
          </p:cNvGrpSpPr>
          <p:nvPr/>
        </p:nvGrpSpPr>
        <p:grpSpPr bwMode="auto">
          <a:xfrm>
            <a:off x="3584818" y="2341091"/>
            <a:ext cx="2139293" cy="307649"/>
            <a:chOff x="1711" y="2106"/>
            <a:chExt cx="2330" cy="363"/>
          </a:xfrm>
        </p:grpSpPr>
        <p:sp>
          <p:nvSpPr>
            <p:cNvPr id="68" name="Text Box 62"/>
            <p:cNvSpPr txBox="1">
              <a:spLocks noChangeArrowheads="1"/>
            </p:cNvSpPr>
            <p:nvPr/>
          </p:nvSpPr>
          <p:spPr bwMode="auto">
            <a:xfrm>
              <a:off x="1830" y="2106"/>
              <a:ext cx="43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69" name="Text Box 64"/>
            <p:cNvSpPr txBox="1">
              <a:spLocks noChangeArrowheads="1"/>
            </p:cNvSpPr>
            <p:nvPr/>
          </p:nvSpPr>
          <p:spPr bwMode="auto">
            <a:xfrm>
              <a:off x="2037" y="2136"/>
              <a:ext cx="113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GET: </a:t>
              </a:r>
              <a:r>
                <a:rPr lang="zh-CN" altLang="en-US" sz="1200" b="1" dirty="0">
                  <a:latin typeface="微软雅黑" pitchFamily="34" charset="-122"/>
                  <a:ea typeface="微软雅黑" pitchFamily="34" charset="-122"/>
                </a:rPr>
                <a:t>元文件</a:t>
              </a:r>
            </a:p>
          </p:txBody>
        </p:sp>
        <p:sp>
          <p:nvSpPr>
            <p:cNvPr id="70" name="Line 60"/>
            <p:cNvSpPr>
              <a:spLocks noChangeShapeType="1"/>
            </p:cNvSpPr>
            <p:nvPr/>
          </p:nvSpPr>
          <p:spPr bwMode="auto">
            <a:xfrm rot="16200000">
              <a:off x="2876" y="1259"/>
              <a:ext cx="0" cy="233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71" name="Group 80"/>
          <p:cNvGrpSpPr>
            <a:grpSpLocks/>
          </p:cNvGrpSpPr>
          <p:nvPr/>
        </p:nvGrpSpPr>
        <p:grpSpPr bwMode="auto">
          <a:xfrm>
            <a:off x="3584818" y="2615695"/>
            <a:ext cx="2255899" cy="307651"/>
            <a:chOff x="1711" y="2430"/>
            <a:chExt cx="2457" cy="363"/>
          </a:xfrm>
        </p:grpSpPr>
        <p:sp>
          <p:nvSpPr>
            <p:cNvPr id="72" name="Text Box 63"/>
            <p:cNvSpPr txBox="1">
              <a:spLocks noChangeArrowheads="1"/>
            </p:cNvSpPr>
            <p:nvPr/>
          </p:nvSpPr>
          <p:spPr bwMode="auto">
            <a:xfrm>
              <a:off x="3735" y="2430"/>
              <a:ext cx="43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r>
                <a:rPr lang="en-US" altLang="zh-CN" sz="1400" b="1" dirty="0">
                  <a:latin typeface="微软雅黑" pitchFamily="34" charset="-122"/>
                  <a:ea typeface="微软雅黑" pitchFamily="34" charset="-122"/>
                </a:rPr>
                <a:t> </a:t>
              </a:r>
            </a:p>
          </p:txBody>
        </p:sp>
        <p:sp>
          <p:nvSpPr>
            <p:cNvPr id="73" name="Text Box 65"/>
            <p:cNvSpPr txBox="1">
              <a:spLocks noChangeArrowheads="1"/>
            </p:cNvSpPr>
            <p:nvPr/>
          </p:nvSpPr>
          <p:spPr bwMode="auto">
            <a:xfrm>
              <a:off x="2807" y="2464"/>
              <a:ext cx="11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74" name="Line 61"/>
            <p:cNvSpPr>
              <a:spLocks noChangeShapeType="1"/>
            </p:cNvSpPr>
            <p:nvPr/>
          </p:nvSpPr>
          <p:spPr bwMode="auto">
            <a:xfrm rot="5400000" flipH="1">
              <a:off x="2876" y="1579"/>
              <a:ext cx="0" cy="233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75" name="Group 81"/>
          <p:cNvGrpSpPr>
            <a:grpSpLocks/>
          </p:cNvGrpSpPr>
          <p:nvPr/>
        </p:nvGrpSpPr>
        <p:grpSpPr bwMode="auto">
          <a:xfrm>
            <a:off x="3584818" y="3366592"/>
            <a:ext cx="2139293" cy="307650"/>
            <a:chOff x="1711" y="3316"/>
            <a:chExt cx="2330" cy="363"/>
          </a:xfrm>
        </p:grpSpPr>
        <p:sp>
          <p:nvSpPr>
            <p:cNvPr id="76" name="Text Box 70"/>
            <p:cNvSpPr txBox="1">
              <a:spLocks noChangeArrowheads="1"/>
            </p:cNvSpPr>
            <p:nvPr/>
          </p:nvSpPr>
          <p:spPr bwMode="auto">
            <a:xfrm>
              <a:off x="1810" y="3316"/>
              <a:ext cx="37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endParaRPr lang="en-US" altLang="zh-CN" sz="1400" b="1" dirty="0">
                <a:latin typeface="微软雅黑" pitchFamily="34" charset="-122"/>
                <a:ea typeface="微软雅黑" pitchFamily="34" charset="-122"/>
              </a:endParaRPr>
            </a:p>
          </p:txBody>
        </p:sp>
        <p:sp>
          <p:nvSpPr>
            <p:cNvPr id="77" name="Line 69"/>
            <p:cNvSpPr>
              <a:spLocks noChangeShapeType="1"/>
            </p:cNvSpPr>
            <p:nvPr/>
          </p:nvSpPr>
          <p:spPr bwMode="auto">
            <a:xfrm rot="-5400000">
              <a:off x="2876" y="2479"/>
              <a:ext cx="0" cy="233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8" name="Text Box 73"/>
            <p:cNvSpPr txBox="1">
              <a:spLocks noChangeArrowheads="1"/>
            </p:cNvSpPr>
            <p:nvPr/>
          </p:nvSpPr>
          <p:spPr bwMode="auto">
            <a:xfrm>
              <a:off x="2015" y="3350"/>
              <a:ext cx="171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GET: </a:t>
              </a:r>
              <a:r>
                <a:rPr lang="zh-CN" altLang="en-US" sz="1200" b="1" dirty="0">
                  <a:latin typeface="微软雅黑" pitchFamily="34" charset="-122"/>
                  <a:ea typeface="微软雅黑" pitchFamily="34" charset="-122"/>
                </a:rPr>
                <a:t>音频</a:t>
              </a:r>
              <a:r>
                <a:rPr lang="en-US" altLang="zh-CN" sz="1200" b="1" dirty="0">
                  <a:latin typeface="微软雅黑" pitchFamily="34" charset="-122"/>
                  <a:ea typeface="微软雅黑" pitchFamily="34" charset="-122"/>
                </a:rPr>
                <a:t>/</a:t>
              </a:r>
              <a:r>
                <a:rPr lang="zh-CN" altLang="en-US" sz="1200" b="1" dirty="0">
                  <a:latin typeface="微软雅黑" pitchFamily="34" charset="-122"/>
                  <a:ea typeface="微软雅黑" pitchFamily="34" charset="-122"/>
                </a:rPr>
                <a:t>视频文件</a:t>
              </a:r>
            </a:p>
          </p:txBody>
        </p:sp>
      </p:grpSp>
      <p:grpSp>
        <p:nvGrpSpPr>
          <p:cNvPr id="79" name="Group 82"/>
          <p:cNvGrpSpPr>
            <a:grpSpLocks/>
          </p:cNvGrpSpPr>
          <p:nvPr/>
        </p:nvGrpSpPr>
        <p:grpSpPr bwMode="auto">
          <a:xfrm>
            <a:off x="3584818" y="3647119"/>
            <a:ext cx="2252227" cy="307649"/>
            <a:chOff x="1711" y="3647"/>
            <a:chExt cx="2453" cy="363"/>
          </a:xfrm>
        </p:grpSpPr>
        <p:sp>
          <p:nvSpPr>
            <p:cNvPr id="80" name="Line 71"/>
            <p:cNvSpPr>
              <a:spLocks noChangeShapeType="1"/>
            </p:cNvSpPr>
            <p:nvPr/>
          </p:nvSpPr>
          <p:spPr bwMode="auto">
            <a:xfrm rot="5400000" flipH="1">
              <a:off x="2876" y="2799"/>
              <a:ext cx="0" cy="233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Text Box 72"/>
            <p:cNvSpPr txBox="1">
              <a:spLocks noChangeArrowheads="1"/>
            </p:cNvSpPr>
            <p:nvPr/>
          </p:nvSpPr>
          <p:spPr bwMode="auto">
            <a:xfrm>
              <a:off x="3738" y="3647"/>
              <a:ext cx="42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sym typeface="Wingdings 2" pitchFamily="18" charset="2"/>
                </a:rPr>
                <a:t></a:t>
              </a:r>
              <a:r>
                <a:rPr lang="en-US" altLang="zh-CN" sz="1200" b="1" dirty="0">
                  <a:latin typeface="微软雅黑" pitchFamily="34" charset="-122"/>
                  <a:ea typeface="微软雅黑" pitchFamily="34" charset="-122"/>
                  <a:sym typeface="Wingdings 2" pitchFamily="18" charset="2"/>
                </a:rPr>
                <a:t> </a:t>
              </a:r>
              <a:endParaRPr lang="en-US" altLang="zh-CN" sz="1200" b="1" dirty="0">
                <a:latin typeface="微软雅黑" pitchFamily="34" charset="-122"/>
                <a:ea typeface="微软雅黑" pitchFamily="34" charset="-122"/>
              </a:endParaRPr>
            </a:p>
          </p:txBody>
        </p:sp>
        <p:sp>
          <p:nvSpPr>
            <p:cNvPr id="82" name="Text Box 74"/>
            <p:cNvSpPr txBox="1">
              <a:spLocks noChangeArrowheads="1"/>
            </p:cNvSpPr>
            <p:nvPr/>
          </p:nvSpPr>
          <p:spPr bwMode="auto">
            <a:xfrm>
              <a:off x="2817" y="3675"/>
              <a:ext cx="11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grpSp>
      <p:pic>
        <p:nvPicPr>
          <p:cNvPr id="85"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7846" y="2062382"/>
            <a:ext cx="411416" cy="411417"/>
          </a:xfrm>
          <a:prstGeom prst="rect">
            <a:avLst/>
          </a:prstGeom>
          <a:noFill/>
          <a:extLst>
            <a:ext uri="{909E8E84-426E-40DD-AFC4-6F175D3DCCD1}">
              <a14:hiddenFill xmlns:a14="http://schemas.microsoft.com/office/drawing/2010/main">
                <a:solidFill>
                  <a:srgbClr val="FFFFFF"/>
                </a:solidFill>
              </a14:hiddenFill>
            </a:ext>
          </a:extLst>
        </p:spPr>
      </p:pic>
      <p:pic>
        <p:nvPicPr>
          <p:cNvPr id="86" name="图片 8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6845" y="2012520"/>
            <a:ext cx="382556" cy="535579"/>
          </a:xfrm>
          <a:prstGeom prst="rect">
            <a:avLst/>
          </a:prstGeom>
        </p:spPr>
      </p:pic>
    </p:spTree>
    <p:extLst>
      <p:ext uri="{BB962C8B-B14F-4D97-AF65-F5344CB8AC3E}">
        <p14:creationId xmlns:p14="http://schemas.microsoft.com/office/powerpoint/2010/main" val="14194403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3000"/>
                                        <p:tgtEl>
                                          <p:spTgt spid="67"/>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wipe(right)">
                                      <p:cBhvr>
                                        <p:cTn id="11" dur="3000"/>
                                        <p:tgtEl>
                                          <p:spTgt spid="71"/>
                                        </p:tgtEl>
                                      </p:cBhvr>
                                    </p:animEffect>
                                  </p:childTnLst>
                                </p:cTn>
                              </p:par>
                            </p:childTnLst>
                          </p:cTn>
                        </p:par>
                        <p:par>
                          <p:cTn id="12" fill="hold">
                            <p:stCondLst>
                              <p:cond delay="6000"/>
                            </p:stCondLst>
                            <p:childTnLst>
                              <p:par>
                                <p:cTn id="13" presetID="22" presetClass="entr" presetSubtype="1"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wipe(up)">
                                      <p:cBhvr>
                                        <p:cTn id="15" dur="3000"/>
                                        <p:tgtEl>
                                          <p:spTgt spid="6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5"/>
                                        </p:tgtEl>
                                        <p:attrNameLst>
                                          <p:attrName>style.visibility</p:attrName>
                                        </p:attrNameLst>
                                      </p:cBhvr>
                                      <p:to>
                                        <p:strVal val="visible"/>
                                      </p:to>
                                    </p:set>
                                    <p:animEffect transition="in" filter="wipe(left)">
                                      <p:cBhvr>
                                        <p:cTn id="20" dur="3000"/>
                                        <p:tgtEl>
                                          <p:spTgt spid="75"/>
                                        </p:tgtEl>
                                      </p:cBhvr>
                                    </p:animEffect>
                                  </p:childTnLst>
                                </p:cTn>
                              </p:par>
                            </p:childTnLst>
                          </p:cTn>
                        </p:par>
                        <p:par>
                          <p:cTn id="21" fill="hold">
                            <p:stCondLst>
                              <p:cond delay="3000"/>
                            </p:stCondLst>
                            <p:childTnLst>
                              <p:par>
                                <p:cTn id="22" presetID="22" presetClass="entr" presetSubtype="2" fill="hold" nodeType="after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wipe(right)">
                                      <p:cBhvr>
                                        <p:cTn id="24" dur="30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12"/>
          <p:cNvSpPr>
            <a:spLocks noChangeArrowheads="1"/>
          </p:cNvSpPr>
          <p:nvPr/>
        </p:nvSpPr>
        <p:spPr bwMode="auto">
          <a:xfrm>
            <a:off x="511896" y="613006"/>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7" name="Rectangle 13"/>
          <p:cNvSpPr>
            <a:spLocks noChangeArrowheads="1"/>
          </p:cNvSpPr>
          <p:nvPr/>
        </p:nvSpPr>
        <p:spPr bwMode="auto">
          <a:xfrm>
            <a:off x="3205676" y="587542"/>
            <a:ext cx="27414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8.2.2  </a:t>
            </a:r>
            <a:r>
              <a:rPr lang="zh-CN" altLang="en-US" sz="2400" b="1" dirty="0">
                <a:solidFill>
                  <a:schemeClr val="bg1"/>
                </a:solidFill>
                <a:latin typeface="微软雅黑" pitchFamily="34" charset="-122"/>
                <a:ea typeface="微软雅黑" pitchFamily="34" charset="-122"/>
              </a:rPr>
              <a:t>媒体服务器 </a:t>
            </a:r>
          </a:p>
        </p:txBody>
      </p:sp>
      <p:sp>
        <p:nvSpPr>
          <p:cNvPr id="4" name="Rectangle 46"/>
          <p:cNvSpPr>
            <a:spLocks noChangeArrowheads="1"/>
          </p:cNvSpPr>
          <p:nvPr/>
        </p:nvSpPr>
        <p:spPr bwMode="auto">
          <a:xfrm>
            <a:off x="511895" y="1034617"/>
            <a:ext cx="8222801"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a:t>
            </a:r>
            <a:r>
              <a:rPr lang="zh-CN" altLang="en-US" sz="2000" b="1" dirty="0">
                <a:solidFill>
                  <a:srgbClr val="C00000"/>
                </a:solidFill>
                <a:latin typeface="微软雅黑" pitchFamily="34" charset="-122"/>
                <a:ea typeface="微软雅黑" pitchFamily="34" charset="-122"/>
              </a:rPr>
              <a:t>两个分开的</a:t>
            </a:r>
            <a:r>
              <a:rPr lang="zh-CN" altLang="en-US" sz="2000" b="1" dirty="0">
                <a:latin typeface="微软雅黑" pitchFamily="34" charset="-122"/>
                <a:ea typeface="微软雅黑" pitchFamily="34" charset="-122"/>
              </a:rPr>
              <a:t>服务器：</a:t>
            </a:r>
            <a:r>
              <a:rPr lang="zh-CN" altLang="en-US" sz="2000" b="1" dirty="0">
                <a:solidFill>
                  <a:srgbClr val="0000FF"/>
                </a:solidFill>
                <a:latin typeface="微软雅黑" pitchFamily="34" charset="-122"/>
                <a:ea typeface="微软雅黑" pitchFamily="34" charset="-122"/>
              </a:rPr>
              <a:t>万维网服务器</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媒体服务器</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媒体服务器：</a:t>
            </a:r>
            <a:endParaRPr lang="en-US" altLang="zh-CN" sz="2000" b="1" dirty="0">
              <a:solidFill>
                <a:srgbClr val="C00000"/>
              </a:solidFill>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流式服务器 </a:t>
            </a:r>
            <a:r>
              <a:rPr lang="en-US" altLang="zh-CN" sz="2000" b="1" dirty="0">
                <a:latin typeface="微软雅黑" panose="020B0503020204020204" pitchFamily="34" charset="-122"/>
                <a:ea typeface="微软雅黑" panose="020B0503020204020204" pitchFamily="34" charset="-122"/>
              </a:rPr>
              <a:t>(streaming server)</a:t>
            </a:r>
            <a:r>
              <a:rPr lang="zh-CN" altLang="en-US" sz="2000" b="1" dirty="0">
                <a:latin typeface="微软雅黑" pitchFamily="34" charset="-122"/>
                <a:ea typeface="微软雅黑" pitchFamily="34" charset="-122"/>
              </a:rPr>
              <a:t>，支持流式音频和视频的传送。</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媒体播放器与媒体服务器的</a:t>
            </a:r>
            <a:r>
              <a:rPr lang="zh-CN" altLang="en-US" sz="2000" b="1" dirty="0">
                <a:solidFill>
                  <a:srgbClr val="0000FF"/>
                </a:solidFill>
                <a:latin typeface="微软雅黑" pitchFamily="34" charset="-122"/>
                <a:ea typeface="微软雅黑" pitchFamily="34" charset="-122"/>
              </a:rPr>
              <a:t>关系：</a:t>
            </a:r>
            <a:endParaRPr lang="en-US" altLang="zh-CN" sz="2000" b="1" dirty="0">
              <a:solidFill>
                <a:srgbClr val="0000FF"/>
              </a:solidFill>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solidFill>
                  <a:srgbClr val="C00000"/>
                </a:solidFill>
                <a:latin typeface="微软雅黑" pitchFamily="34" charset="-122"/>
                <a:ea typeface="微软雅黑" pitchFamily="34" charset="-122"/>
              </a:rPr>
              <a:t>客户与服务器</a:t>
            </a:r>
            <a:r>
              <a:rPr lang="zh-CN" altLang="en-US" sz="2000" b="1" dirty="0">
                <a:latin typeface="微软雅黑" pitchFamily="34" charset="-122"/>
                <a:ea typeface="微软雅黑" pitchFamily="34" charset="-122"/>
              </a:rPr>
              <a:t>的关系。 </a:t>
            </a: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媒体播放器向媒体服务器</a:t>
            </a:r>
            <a:r>
              <a:rPr lang="zh-CN" altLang="en-US" sz="2000" b="1" dirty="0">
                <a:solidFill>
                  <a:srgbClr val="C00000"/>
                </a:solidFill>
                <a:latin typeface="微软雅黑" pitchFamily="34" charset="-122"/>
                <a:ea typeface="微软雅黑" pitchFamily="34" charset="-122"/>
              </a:rPr>
              <a:t>请求</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媒体播放器与媒体服务器之间的</a:t>
            </a:r>
            <a:r>
              <a:rPr lang="zh-CN" altLang="en-US" sz="2000" b="1" dirty="0">
                <a:solidFill>
                  <a:srgbClr val="0000FF"/>
                </a:solidFill>
                <a:latin typeface="微软雅黑" pitchFamily="34" charset="-122"/>
                <a:ea typeface="微软雅黑" pitchFamily="34" charset="-122"/>
              </a:rPr>
              <a:t>交互：</a:t>
            </a: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另外的协议。 </a:t>
            </a:r>
          </a:p>
        </p:txBody>
      </p:sp>
    </p:spTree>
    <p:extLst>
      <p:ext uri="{BB962C8B-B14F-4D97-AF65-F5344CB8AC3E}">
        <p14:creationId xmlns:p14="http://schemas.microsoft.com/office/powerpoint/2010/main" val="34208867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9476" y="1023809"/>
            <a:ext cx="8143204" cy="30814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09475" y="6137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543512" y="580583"/>
            <a:ext cx="2056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使用媒体服务器 </a:t>
            </a:r>
            <a:endParaRPr lang="fr-FR" altLang="zh-CN" sz="2000" b="1" dirty="0">
              <a:solidFill>
                <a:schemeClr val="bg1"/>
              </a:solidFill>
              <a:latin typeface="微软雅黑" pitchFamily="34" charset="-122"/>
              <a:ea typeface="微软雅黑" pitchFamily="34" charset="-122"/>
            </a:endParaRPr>
          </a:p>
        </p:txBody>
      </p:sp>
      <p:sp>
        <p:nvSpPr>
          <p:cNvPr id="5" name="Rectangle 5"/>
          <p:cNvSpPr>
            <a:spLocks noChangeArrowheads="1"/>
          </p:cNvSpPr>
          <p:nvPr/>
        </p:nvSpPr>
        <p:spPr bwMode="auto">
          <a:xfrm>
            <a:off x="2085864" y="1717269"/>
            <a:ext cx="1060876" cy="2227792"/>
          </a:xfrm>
          <a:prstGeom prst="rect">
            <a:avLst/>
          </a:prstGeom>
          <a:solidFill>
            <a:srgbClr val="00FFFF"/>
          </a:solidFill>
          <a:ln>
            <a:solidFill>
              <a:schemeClr val="tx1"/>
            </a:solidFill>
          </a:ln>
          <a:effectLst/>
        </p:spPr>
        <p:txBody>
          <a:bodyPr wrap="none" anchor="ctr"/>
          <a:lstStyle/>
          <a:p>
            <a:pPr algn="ctr"/>
            <a:endParaRPr lang="zh-CN" altLang="zh-CN" sz="1600" b="1">
              <a:latin typeface="微软雅黑" pitchFamily="34" charset="-122"/>
              <a:ea typeface="微软雅黑" pitchFamily="34" charset="-122"/>
            </a:endParaRPr>
          </a:p>
        </p:txBody>
      </p:sp>
      <p:sp>
        <p:nvSpPr>
          <p:cNvPr id="6" name="Rectangle 6"/>
          <p:cNvSpPr>
            <a:spLocks noChangeArrowheads="1"/>
          </p:cNvSpPr>
          <p:nvPr/>
        </p:nvSpPr>
        <p:spPr bwMode="auto">
          <a:xfrm>
            <a:off x="5819691" y="1786258"/>
            <a:ext cx="831470" cy="905490"/>
          </a:xfrm>
          <a:prstGeom prst="rect">
            <a:avLst/>
          </a:prstGeom>
          <a:solidFill>
            <a:srgbClr val="CC00CC"/>
          </a:solidFill>
          <a:ln w="9525" algn="ctr">
            <a:solidFill>
              <a:schemeClr val="tx1"/>
            </a:solidFill>
            <a:miter lim="800000"/>
            <a:headEnd/>
            <a:tailEnd/>
          </a:ln>
          <a:effectLst/>
        </p:spPr>
        <p:txBody>
          <a:bodyPr wrap="none" anchor="ctr"/>
          <a:lstStyle/>
          <a:p>
            <a:pPr algn="ctr"/>
            <a:r>
              <a:rPr lang="zh-CN" altLang="en-US" sz="1600" b="1" dirty="0">
                <a:solidFill>
                  <a:schemeClr val="bg1"/>
                </a:solidFill>
                <a:latin typeface="微软雅黑" pitchFamily="34" charset="-122"/>
                <a:ea typeface="微软雅黑" pitchFamily="34" charset="-122"/>
              </a:rPr>
              <a:t>万维网</a:t>
            </a:r>
          </a:p>
          <a:p>
            <a:pPr algn="ctr"/>
            <a:r>
              <a:rPr lang="zh-CN" altLang="en-US" sz="1600" b="1" dirty="0">
                <a:solidFill>
                  <a:schemeClr val="bg1"/>
                </a:solidFill>
                <a:latin typeface="微软雅黑" pitchFamily="34" charset="-122"/>
                <a:ea typeface="微软雅黑" pitchFamily="34" charset="-122"/>
              </a:rPr>
              <a:t>服务器</a:t>
            </a:r>
          </a:p>
        </p:txBody>
      </p:sp>
      <p:sp>
        <p:nvSpPr>
          <p:cNvPr id="57" name="Rectangle 59"/>
          <p:cNvSpPr>
            <a:spLocks noChangeArrowheads="1"/>
          </p:cNvSpPr>
          <p:nvPr/>
        </p:nvSpPr>
        <p:spPr bwMode="auto">
          <a:xfrm>
            <a:off x="2237417" y="3249415"/>
            <a:ext cx="758806" cy="626657"/>
          </a:xfrm>
          <a:prstGeom prst="rect">
            <a:avLst/>
          </a:prstGeom>
          <a:solidFill>
            <a:srgbClr val="993300"/>
          </a:solidFill>
          <a:ln w="9525" algn="ctr">
            <a:solidFill>
              <a:schemeClr val="tx1"/>
            </a:solidFill>
            <a:miter lim="800000"/>
            <a:headEnd/>
            <a:tailEnd/>
          </a:ln>
          <a:effectLst/>
        </p:spPr>
        <p:txBody>
          <a:bodyPr wrap="none" anchor="ctr"/>
          <a:lstStyle/>
          <a:p>
            <a:pPr algn="ctr"/>
            <a:r>
              <a:rPr lang="zh-CN" altLang="en-US" sz="1600" b="1" dirty="0">
                <a:solidFill>
                  <a:schemeClr val="bg1"/>
                </a:solidFill>
                <a:latin typeface="微软雅黑" pitchFamily="34" charset="-122"/>
                <a:ea typeface="微软雅黑" pitchFamily="34" charset="-122"/>
              </a:rPr>
              <a:t>媒体</a:t>
            </a:r>
          </a:p>
          <a:p>
            <a:pPr algn="ctr"/>
            <a:r>
              <a:rPr lang="zh-CN" altLang="en-US" sz="1600" b="1" dirty="0">
                <a:solidFill>
                  <a:schemeClr val="bg1"/>
                </a:solidFill>
                <a:latin typeface="微软雅黑" pitchFamily="34" charset="-122"/>
                <a:ea typeface="微软雅黑" pitchFamily="34" charset="-122"/>
              </a:rPr>
              <a:t>播放器</a:t>
            </a:r>
          </a:p>
        </p:txBody>
      </p:sp>
      <p:grpSp>
        <p:nvGrpSpPr>
          <p:cNvPr id="58" name="Group 83"/>
          <p:cNvGrpSpPr>
            <a:grpSpLocks/>
          </p:cNvGrpSpPr>
          <p:nvPr/>
        </p:nvGrpSpPr>
        <p:grpSpPr bwMode="auto">
          <a:xfrm>
            <a:off x="2577892" y="2412915"/>
            <a:ext cx="1108624" cy="836500"/>
            <a:chOff x="1177" y="2557"/>
            <a:chExt cx="1068" cy="873"/>
          </a:xfrm>
        </p:grpSpPr>
        <p:sp>
          <p:nvSpPr>
            <p:cNvPr id="59" name="Line 60"/>
            <p:cNvSpPr>
              <a:spLocks noChangeShapeType="1"/>
            </p:cNvSpPr>
            <p:nvPr/>
          </p:nvSpPr>
          <p:spPr bwMode="auto">
            <a:xfrm flipH="1">
              <a:off x="1215" y="2557"/>
              <a:ext cx="0" cy="873"/>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0" name="Text Box 67"/>
            <p:cNvSpPr txBox="1">
              <a:spLocks noChangeArrowheads="1"/>
            </p:cNvSpPr>
            <p:nvPr/>
          </p:nvSpPr>
          <p:spPr bwMode="auto">
            <a:xfrm>
              <a:off x="1177" y="2807"/>
              <a:ext cx="434"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61" name="Text Box 68"/>
            <p:cNvSpPr txBox="1">
              <a:spLocks noChangeArrowheads="1"/>
            </p:cNvSpPr>
            <p:nvPr/>
          </p:nvSpPr>
          <p:spPr bwMode="auto">
            <a:xfrm>
              <a:off x="1421" y="2826"/>
              <a:ext cx="824"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元文件</a:t>
              </a:r>
            </a:p>
          </p:txBody>
        </p:sp>
      </p:grpSp>
      <p:sp>
        <p:nvSpPr>
          <p:cNvPr id="62" name="Rectangle 69"/>
          <p:cNvSpPr>
            <a:spLocks noChangeArrowheads="1"/>
          </p:cNvSpPr>
          <p:nvPr/>
        </p:nvSpPr>
        <p:spPr bwMode="auto">
          <a:xfrm>
            <a:off x="2237417" y="1926154"/>
            <a:ext cx="758806" cy="625698"/>
          </a:xfrm>
          <a:prstGeom prst="rect">
            <a:avLst/>
          </a:prstGeom>
          <a:solidFill>
            <a:srgbClr val="0000FF"/>
          </a:solidFill>
          <a:ln w="9525" algn="ctr">
            <a:solidFill>
              <a:schemeClr val="tx1"/>
            </a:solidFill>
            <a:miter lim="800000"/>
            <a:headEnd/>
            <a:tailEnd/>
          </a:ln>
          <a:effectLst/>
        </p:spPr>
        <p:txBody>
          <a:bodyPr wrap="none" anchor="ctr"/>
          <a:lstStyle/>
          <a:p>
            <a:pPr algn="ctr"/>
            <a:r>
              <a:rPr lang="zh-CN" altLang="en-US" sz="1600" b="1" dirty="0">
                <a:solidFill>
                  <a:schemeClr val="bg1"/>
                </a:solidFill>
                <a:latin typeface="微软雅黑" pitchFamily="34" charset="-122"/>
                <a:ea typeface="微软雅黑" pitchFamily="34" charset="-122"/>
              </a:rPr>
              <a:t>浏览器</a:t>
            </a:r>
          </a:p>
        </p:txBody>
      </p:sp>
      <p:grpSp>
        <p:nvGrpSpPr>
          <p:cNvPr id="63" name="Group 79"/>
          <p:cNvGrpSpPr>
            <a:grpSpLocks/>
          </p:cNvGrpSpPr>
          <p:nvPr/>
        </p:nvGrpSpPr>
        <p:grpSpPr bwMode="auto">
          <a:xfrm>
            <a:off x="2994148" y="1727795"/>
            <a:ext cx="2827620" cy="384231"/>
            <a:chOff x="1578" y="1842"/>
            <a:chExt cx="2724" cy="401"/>
          </a:xfrm>
        </p:grpSpPr>
        <p:sp>
          <p:nvSpPr>
            <p:cNvPr id="64" name="Text Box 63"/>
            <p:cNvSpPr txBox="1">
              <a:spLocks noChangeArrowheads="1"/>
            </p:cNvSpPr>
            <p:nvPr/>
          </p:nvSpPr>
          <p:spPr bwMode="auto">
            <a:xfrm>
              <a:off x="1746" y="1842"/>
              <a:ext cx="442"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r>
                <a:rPr lang="en-US" altLang="zh-CN" b="1" dirty="0">
                  <a:latin typeface="微软雅黑" pitchFamily="34" charset="-122"/>
                  <a:ea typeface="微软雅黑" pitchFamily="34" charset="-122"/>
                </a:rPr>
                <a:t> </a:t>
              </a:r>
            </a:p>
          </p:txBody>
        </p:sp>
        <p:sp>
          <p:nvSpPr>
            <p:cNvPr id="65" name="Text Box 65"/>
            <p:cNvSpPr txBox="1">
              <a:spLocks noChangeArrowheads="1"/>
            </p:cNvSpPr>
            <p:nvPr/>
          </p:nvSpPr>
          <p:spPr bwMode="auto">
            <a:xfrm>
              <a:off x="1992" y="1865"/>
              <a:ext cx="1361"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GET: </a:t>
              </a:r>
              <a:r>
                <a:rPr lang="zh-CN" altLang="en-US" sz="1600" b="1" dirty="0">
                  <a:latin typeface="微软雅黑" pitchFamily="34" charset="-122"/>
                  <a:ea typeface="微软雅黑" pitchFamily="34" charset="-122"/>
                </a:rPr>
                <a:t>元文件</a:t>
              </a:r>
            </a:p>
          </p:txBody>
        </p:sp>
        <p:sp>
          <p:nvSpPr>
            <p:cNvPr id="66" name="Line 61"/>
            <p:cNvSpPr>
              <a:spLocks noChangeShapeType="1"/>
            </p:cNvSpPr>
            <p:nvPr/>
          </p:nvSpPr>
          <p:spPr bwMode="auto">
            <a:xfrm rot="-5400000">
              <a:off x="2940" y="832"/>
              <a:ext cx="0" cy="272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67" name="Group 80"/>
          <p:cNvGrpSpPr>
            <a:grpSpLocks/>
          </p:cNvGrpSpPr>
          <p:nvPr/>
        </p:nvGrpSpPr>
        <p:grpSpPr bwMode="auto">
          <a:xfrm>
            <a:off x="2994148" y="2097658"/>
            <a:ext cx="2884712" cy="383273"/>
            <a:chOff x="1578" y="2228"/>
            <a:chExt cx="2779" cy="400"/>
          </a:xfrm>
        </p:grpSpPr>
        <p:sp>
          <p:nvSpPr>
            <p:cNvPr id="68" name="Text Box 64"/>
            <p:cNvSpPr txBox="1">
              <a:spLocks noChangeArrowheads="1"/>
            </p:cNvSpPr>
            <p:nvPr/>
          </p:nvSpPr>
          <p:spPr bwMode="auto">
            <a:xfrm>
              <a:off x="3923" y="2228"/>
              <a:ext cx="434"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69" name="Text Box 66"/>
            <p:cNvSpPr txBox="1">
              <a:spLocks noChangeArrowheads="1"/>
            </p:cNvSpPr>
            <p:nvPr/>
          </p:nvSpPr>
          <p:spPr bwMode="auto">
            <a:xfrm>
              <a:off x="2848" y="2250"/>
              <a:ext cx="1324"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RESPONSE</a:t>
              </a:r>
            </a:p>
          </p:txBody>
        </p:sp>
        <p:sp>
          <p:nvSpPr>
            <p:cNvPr id="70" name="Line 62"/>
            <p:cNvSpPr>
              <a:spLocks noChangeShapeType="1"/>
            </p:cNvSpPr>
            <p:nvPr/>
          </p:nvSpPr>
          <p:spPr bwMode="auto">
            <a:xfrm rot="5400000" flipH="1">
              <a:off x="2940" y="1195"/>
              <a:ext cx="0" cy="272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71" name="Group 82"/>
          <p:cNvGrpSpPr>
            <a:grpSpLocks/>
          </p:cNvGrpSpPr>
          <p:nvPr/>
        </p:nvGrpSpPr>
        <p:grpSpPr bwMode="auto">
          <a:xfrm>
            <a:off x="2994148" y="3059661"/>
            <a:ext cx="2827620" cy="385189"/>
            <a:chOff x="1578" y="3232"/>
            <a:chExt cx="2724" cy="402"/>
          </a:xfrm>
        </p:grpSpPr>
        <p:sp>
          <p:nvSpPr>
            <p:cNvPr id="72" name="Text Box 71"/>
            <p:cNvSpPr txBox="1">
              <a:spLocks noChangeArrowheads="1"/>
            </p:cNvSpPr>
            <p:nvPr/>
          </p:nvSpPr>
          <p:spPr bwMode="auto">
            <a:xfrm>
              <a:off x="1696" y="3232"/>
              <a:ext cx="376"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endParaRPr lang="en-US" altLang="zh-CN" b="1" dirty="0">
                <a:latin typeface="微软雅黑" pitchFamily="34" charset="-122"/>
                <a:ea typeface="微软雅黑" pitchFamily="34" charset="-122"/>
              </a:endParaRPr>
            </a:p>
          </p:txBody>
        </p:sp>
        <p:sp>
          <p:nvSpPr>
            <p:cNvPr id="73" name="Line 70"/>
            <p:cNvSpPr>
              <a:spLocks noChangeShapeType="1"/>
            </p:cNvSpPr>
            <p:nvPr/>
          </p:nvSpPr>
          <p:spPr bwMode="auto">
            <a:xfrm rot="-5400000">
              <a:off x="2940" y="2214"/>
              <a:ext cx="0" cy="272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74" name="Text Box 74"/>
            <p:cNvSpPr txBox="1">
              <a:spLocks noChangeArrowheads="1"/>
            </p:cNvSpPr>
            <p:nvPr/>
          </p:nvSpPr>
          <p:spPr bwMode="auto">
            <a:xfrm>
              <a:off x="1933" y="3256"/>
              <a:ext cx="2096"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GET: </a:t>
              </a:r>
              <a:r>
                <a:rPr lang="zh-CN" altLang="en-US" sz="1600" b="1" dirty="0">
                  <a:latin typeface="微软雅黑" pitchFamily="34" charset="-122"/>
                  <a:ea typeface="微软雅黑" pitchFamily="34" charset="-122"/>
                </a:rPr>
                <a:t>音频</a:t>
              </a:r>
              <a:r>
                <a:rPr lang="en-US" altLang="zh-CN" sz="1600" b="1" dirty="0">
                  <a:latin typeface="微软雅黑" pitchFamily="34" charset="-122"/>
                  <a:ea typeface="微软雅黑" pitchFamily="34" charset="-122"/>
                </a:rPr>
                <a:t>/</a:t>
              </a:r>
              <a:r>
                <a:rPr lang="zh-CN" altLang="en-US" sz="1600" b="1" dirty="0">
                  <a:latin typeface="微软雅黑" pitchFamily="34" charset="-122"/>
                  <a:ea typeface="微软雅黑" pitchFamily="34" charset="-122"/>
                </a:rPr>
                <a:t>视频文件</a:t>
              </a:r>
            </a:p>
          </p:txBody>
        </p:sp>
      </p:grpSp>
      <p:grpSp>
        <p:nvGrpSpPr>
          <p:cNvPr id="75" name="Group 81"/>
          <p:cNvGrpSpPr>
            <a:grpSpLocks/>
          </p:cNvGrpSpPr>
          <p:nvPr/>
        </p:nvGrpSpPr>
        <p:grpSpPr bwMode="auto">
          <a:xfrm>
            <a:off x="2994148" y="3410374"/>
            <a:ext cx="2896132" cy="393814"/>
            <a:chOff x="1578" y="3598"/>
            <a:chExt cx="2790" cy="411"/>
          </a:xfrm>
        </p:grpSpPr>
        <p:sp>
          <p:nvSpPr>
            <p:cNvPr id="76" name="Line 72"/>
            <p:cNvSpPr>
              <a:spLocks noChangeShapeType="1"/>
            </p:cNvSpPr>
            <p:nvPr/>
          </p:nvSpPr>
          <p:spPr bwMode="auto">
            <a:xfrm rot="5400000" flipH="1">
              <a:off x="2940" y="2576"/>
              <a:ext cx="0" cy="272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77" name="Text Box 73"/>
            <p:cNvSpPr txBox="1">
              <a:spLocks noChangeArrowheads="1"/>
            </p:cNvSpPr>
            <p:nvPr/>
          </p:nvSpPr>
          <p:spPr bwMode="auto">
            <a:xfrm>
              <a:off x="3934" y="3598"/>
              <a:ext cx="434"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sym typeface="Wingdings 2" pitchFamily="18" charset="2"/>
                </a:rPr>
                <a:t> </a:t>
              </a:r>
              <a:endParaRPr lang="en-US" altLang="zh-CN" sz="1600" b="1" dirty="0">
                <a:latin typeface="微软雅黑" pitchFamily="34" charset="-122"/>
                <a:ea typeface="微软雅黑" pitchFamily="34" charset="-122"/>
              </a:endParaRPr>
            </a:p>
          </p:txBody>
        </p:sp>
        <p:sp>
          <p:nvSpPr>
            <p:cNvPr id="78" name="Text Box 75"/>
            <p:cNvSpPr txBox="1">
              <a:spLocks noChangeArrowheads="1"/>
            </p:cNvSpPr>
            <p:nvPr/>
          </p:nvSpPr>
          <p:spPr bwMode="auto">
            <a:xfrm>
              <a:off x="2826" y="3631"/>
              <a:ext cx="1324"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RESPONSE</a:t>
              </a:r>
            </a:p>
          </p:txBody>
        </p:sp>
      </p:grpSp>
      <p:sp>
        <p:nvSpPr>
          <p:cNvPr id="79" name="Rectangle 76"/>
          <p:cNvSpPr>
            <a:spLocks noChangeArrowheads="1"/>
          </p:cNvSpPr>
          <p:nvPr/>
        </p:nvSpPr>
        <p:spPr bwMode="auto">
          <a:xfrm>
            <a:off x="5821768" y="3109518"/>
            <a:ext cx="831470" cy="767511"/>
          </a:xfrm>
          <a:prstGeom prst="rect">
            <a:avLst/>
          </a:prstGeom>
          <a:solidFill>
            <a:srgbClr val="009900"/>
          </a:solidFill>
          <a:ln>
            <a:solidFill>
              <a:schemeClr val="tx1"/>
            </a:solidFill>
          </a:ln>
          <a:effectLst/>
        </p:spPr>
        <p:txBody>
          <a:bodyPr wrap="none" anchor="ctr"/>
          <a:lstStyle/>
          <a:p>
            <a:pPr algn="ctr"/>
            <a:r>
              <a:rPr lang="zh-CN" altLang="en-US" sz="1600" b="1" dirty="0">
                <a:solidFill>
                  <a:schemeClr val="bg1"/>
                </a:solidFill>
                <a:latin typeface="微软雅黑" pitchFamily="34" charset="-122"/>
                <a:ea typeface="微软雅黑" pitchFamily="34" charset="-122"/>
              </a:rPr>
              <a:t>媒体</a:t>
            </a:r>
          </a:p>
          <a:p>
            <a:pPr algn="ctr"/>
            <a:r>
              <a:rPr lang="zh-CN" altLang="en-US" sz="1600" b="1" dirty="0">
                <a:solidFill>
                  <a:schemeClr val="bg1"/>
                </a:solidFill>
                <a:latin typeface="微软雅黑" pitchFamily="34" charset="-122"/>
                <a:ea typeface="微软雅黑" pitchFamily="34" charset="-122"/>
              </a:rPr>
              <a:t>服务器</a:t>
            </a:r>
          </a:p>
        </p:txBody>
      </p:sp>
      <p:sp>
        <p:nvSpPr>
          <p:cNvPr id="80" name="Text Box 8"/>
          <p:cNvSpPr txBox="1">
            <a:spLocks noChangeArrowheads="1"/>
          </p:cNvSpPr>
          <p:nvPr/>
        </p:nvSpPr>
        <p:spPr bwMode="auto">
          <a:xfrm>
            <a:off x="2236378" y="1100599"/>
            <a:ext cx="855143" cy="361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客户机</a:t>
            </a:r>
          </a:p>
        </p:txBody>
      </p:sp>
      <p:sp>
        <p:nvSpPr>
          <p:cNvPr id="81" name="Text Box 9"/>
          <p:cNvSpPr txBox="1">
            <a:spLocks noChangeArrowheads="1"/>
          </p:cNvSpPr>
          <p:nvPr/>
        </p:nvSpPr>
        <p:spPr bwMode="auto">
          <a:xfrm>
            <a:off x="5893393" y="1100599"/>
            <a:ext cx="855143" cy="361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latin typeface="微软雅黑" pitchFamily="34" charset="-122"/>
                <a:ea typeface="微软雅黑" pitchFamily="34" charset="-122"/>
              </a:rPr>
              <a:t>服务器</a:t>
            </a:r>
          </a:p>
        </p:txBody>
      </p:sp>
      <p:pic>
        <p:nvPicPr>
          <p:cNvPr id="83"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4497" y="1403888"/>
            <a:ext cx="445685" cy="445685"/>
          </a:xfrm>
          <a:prstGeom prst="rect">
            <a:avLst/>
          </a:prstGeom>
          <a:noFill/>
          <a:extLst>
            <a:ext uri="{909E8E84-426E-40DD-AFC4-6F175D3DCCD1}">
              <a14:hiddenFill xmlns:a14="http://schemas.microsoft.com/office/drawing/2010/main">
                <a:solidFill>
                  <a:srgbClr val="FFFFFF"/>
                </a:solidFill>
              </a14:hiddenFill>
            </a:ext>
          </a:extLst>
        </p:spPr>
      </p:pic>
      <p:pic>
        <p:nvPicPr>
          <p:cNvPr id="84" name="图片 8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51988" y="1523234"/>
            <a:ext cx="331395" cy="409650"/>
          </a:xfrm>
          <a:prstGeom prst="rect">
            <a:avLst/>
          </a:prstGeom>
        </p:spPr>
      </p:pic>
      <p:sp>
        <p:nvSpPr>
          <p:cNvPr id="85" name="矩形 84"/>
          <p:cNvSpPr/>
          <p:nvPr/>
        </p:nvSpPr>
        <p:spPr>
          <a:xfrm>
            <a:off x="6770539" y="2447798"/>
            <a:ext cx="1652558" cy="1220847"/>
          </a:xfrm>
          <a:prstGeom prst="rect">
            <a:avLst/>
          </a:prstGeom>
          <a:solidFill>
            <a:schemeClr val="bg1"/>
          </a:solidFill>
          <a:ln>
            <a:solidFill>
              <a:schemeClr val="tx1"/>
            </a:solidFill>
          </a:ln>
        </p:spPr>
        <p:txBody>
          <a:bodyPr wrap="square">
            <a:spAutoFit/>
          </a:bodyPr>
          <a:lstStyle/>
          <a:p>
            <a:pPr>
              <a:lnSpc>
                <a:spcPts val="2200"/>
              </a:lnSpc>
            </a:pPr>
            <a:r>
              <a:rPr lang="zh-CN" altLang="en-US" sz="1400" b="1" dirty="0">
                <a:latin typeface="微软雅黑" pitchFamily="34" charset="-122"/>
                <a:ea typeface="微软雅黑" pitchFamily="34" charset="-122"/>
              </a:rPr>
              <a:t>媒体播放器不是向万维网服务器、而是向媒体服务器请求音频</a:t>
            </a:r>
            <a:r>
              <a:rPr lang="en-US" altLang="zh-CN" sz="1400" b="1" dirty="0">
                <a:latin typeface="微软雅黑" pitchFamily="34" charset="-122"/>
                <a:ea typeface="微软雅黑" pitchFamily="34" charset="-122"/>
              </a:rPr>
              <a:t>/</a:t>
            </a:r>
            <a:r>
              <a:rPr lang="zh-CN" altLang="en-US" sz="1400" b="1" dirty="0">
                <a:latin typeface="微软雅黑" pitchFamily="34" charset="-122"/>
                <a:ea typeface="微软雅黑" pitchFamily="34" charset="-122"/>
              </a:rPr>
              <a:t>视频文件。</a:t>
            </a:r>
          </a:p>
        </p:txBody>
      </p:sp>
      <p:pic>
        <p:nvPicPr>
          <p:cNvPr id="35" name="图片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51988" y="2808481"/>
            <a:ext cx="331395" cy="409650"/>
          </a:xfrm>
          <a:prstGeom prst="rect">
            <a:avLst/>
          </a:prstGeom>
        </p:spPr>
      </p:pic>
    </p:spTree>
    <p:extLst>
      <p:ext uri="{BB962C8B-B14F-4D97-AF65-F5344CB8AC3E}">
        <p14:creationId xmlns:p14="http://schemas.microsoft.com/office/powerpoint/2010/main" val="36549747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3000"/>
                                        <p:tgtEl>
                                          <p:spTgt spid="63"/>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wipe(right)">
                                      <p:cBhvr>
                                        <p:cTn id="11" dur="3000"/>
                                        <p:tgtEl>
                                          <p:spTgt spid="67"/>
                                        </p:tgtEl>
                                      </p:cBhvr>
                                    </p:animEffect>
                                  </p:childTnLst>
                                </p:cTn>
                              </p:par>
                            </p:childTnLst>
                          </p:cTn>
                        </p:par>
                        <p:par>
                          <p:cTn id="12" fill="hold">
                            <p:stCondLst>
                              <p:cond delay="6000"/>
                            </p:stCondLst>
                            <p:childTnLst>
                              <p:par>
                                <p:cTn id="13" presetID="22" presetClass="entr" presetSubtype="1"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up)">
                                      <p:cBhvr>
                                        <p:cTn id="15" dur="3000"/>
                                        <p:tgtEl>
                                          <p:spTgt spid="5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1"/>
                                        </p:tgtEl>
                                        <p:attrNameLst>
                                          <p:attrName>style.visibility</p:attrName>
                                        </p:attrNameLst>
                                      </p:cBhvr>
                                      <p:to>
                                        <p:strVal val="visible"/>
                                      </p:to>
                                    </p:set>
                                    <p:animEffect transition="in" filter="wipe(left)">
                                      <p:cBhvr>
                                        <p:cTn id="20" dur="3000"/>
                                        <p:tgtEl>
                                          <p:spTgt spid="71"/>
                                        </p:tgtEl>
                                      </p:cBhvr>
                                    </p:animEffect>
                                  </p:childTnLst>
                                </p:cTn>
                              </p:par>
                            </p:childTnLst>
                          </p:cTn>
                        </p:par>
                        <p:par>
                          <p:cTn id="21" fill="hold">
                            <p:stCondLst>
                              <p:cond delay="3000"/>
                            </p:stCondLst>
                            <p:childTnLst>
                              <p:par>
                                <p:cTn id="22" presetID="22" presetClass="entr" presetSubtype="2" fill="hold" nodeType="after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wipe(right)">
                                      <p:cBhvr>
                                        <p:cTn id="24" dur="3000"/>
                                        <p:tgtEl>
                                          <p:spTgt spid="7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5" y="961938"/>
            <a:ext cx="8137724" cy="31700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采用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有以下</a:t>
            </a:r>
            <a:r>
              <a:rPr lang="zh-CN" altLang="en-US" sz="2000" b="1" dirty="0">
                <a:solidFill>
                  <a:srgbClr val="C00000"/>
                </a:solidFill>
                <a:latin typeface="微软雅黑" pitchFamily="34" charset="-122"/>
                <a:ea typeface="微软雅黑" pitchFamily="34" charset="-122"/>
              </a:rPr>
              <a:t>缺点：</a:t>
            </a:r>
          </a:p>
          <a:p>
            <a:pPr marL="682625" indent="-342900" eaLnBrk="0" hangingPunct="0">
              <a:lnSpc>
                <a:spcPts val="3000"/>
              </a:lnSpc>
              <a:buClr>
                <a:srgbClr val="7030A0"/>
              </a:buClr>
              <a:buFont typeface="+mj-lt"/>
              <a:buAutoNum type="arabicPeriod"/>
            </a:pPr>
            <a:r>
              <a:rPr lang="zh-CN" altLang="en-US" sz="2000" b="1" dirty="0">
                <a:latin typeface="微软雅黑" pitchFamily="34" charset="-122"/>
                <a:ea typeface="微软雅黑" pitchFamily="34" charset="-122"/>
              </a:rPr>
              <a:t>由于网络情况多变，接收端的播放器很难做到始终按规定的速率播放。</a:t>
            </a:r>
          </a:p>
          <a:p>
            <a:pPr marL="682625" indent="-342900" eaLnBrk="0" hangingPunct="0">
              <a:lnSpc>
                <a:spcPts val="3000"/>
              </a:lnSpc>
              <a:buClr>
                <a:srgbClr val="7030A0"/>
              </a:buClr>
              <a:buFont typeface="+mj-lt"/>
              <a:buAutoNum type="arabicPeriod"/>
            </a:pPr>
            <a:r>
              <a:rPr lang="zh-CN" altLang="en-US" sz="2000" b="1" dirty="0">
                <a:latin typeface="微软雅黑" pitchFamily="34" charset="-122"/>
                <a:ea typeface="微软雅黑" pitchFamily="34" charset="-122"/>
              </a:rPr>
              <a:t>很多单位的防火墙往往阻拦外部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分组的进入，因而使用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传送多媒体文件时会被防火墙阻拦掉。</a:t>
            </a:r>
          </a:p>
          <a:p>
            <a:pPr marL="682625" indent="-342900" eaLnBrk="0" hangingPunct="0">
              <a:lnSpc>
                <a:spcPts val="3000"/>
              </a:lnSpc>
              <a:buClr>
                <a:srgbClr val="7030A0"/>
              </a:buClr>
              <a:buFont typeface="+mj-lt"/>
              <a:buAutoNum type="arabicPeriod"/>
            </a:pPr>
            <a:r>
              <a:rPr lang="zh-CN" altLang="en-US" sz="2000" b="1" dirty="0">
                <a:latin typeface="微软雅黑" pitchFamily="34" charset="-122"/>
                <a:ea typeface="微软雅黑" pitchFamily="34" charset="-122"/>
              </a:rPr>
              <a:t>使用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传送流式多媒体文件时，如果在用户端希望能够控制媒体的播放，如进行暂停、快进等操作，还需要使用另外的协议</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RTSP</a:t>
            </a:r>
            <a:r>
              <a:rPr lang="zh-CN" altLang="en-US" sz="2000" b="1" dirty="0">
                <a:latin typeface="微软雅黑" pitchFamily="34" charset="-122"/>
                <a:ea typeface="微软雅黑" pitchFamily="34" charset="-122"/>
              </a:rPr>
              <a:t>，增加了成本和复杂性。</a:t>
            </a:r>
          </a:p>
        </p:txBody>
      </p:sp>
      <p:sp>
        <p:nvSpPr>
          <p:cNvPr id="3" name="AutoShape 5"/>
          <p:cNvSpPr>
            <a:spLocks noChangeArrowheads="1"/>
          </p:cNvSpPr>
          <p:nvPr/>
        </p:nvSpPr>
        <p:spPr bwMode="auto">
          <a:xfrm>
            <a:off x="509475" y="60636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667146" y="573150"/>
            <a:ext cx="3819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下载时使用 </a:t>
            </a:r>
            <a:r>
              <a:rPr lang="en-US" altLang="zh-CN" sz="2000" b="1" dirty="0">
                <a:solidFill>
                  <a:srgbClr val="FFFF00"/>
                </a:solidFill>
                <a:latin typeface="微软雅黑" pitchFamily="34" charset="-122"/>
                <a:ea typeface="微软雅黑" pitchFamily="34" charset="-122"/>
              </a:rPr>
              <a:t>TCP</a:t>
            </a:r>
            <a:r>
              <a:rPr lang="zh-CN" altLang="en-US" sz="2000" b="1" dirty="0">
                <a:solidFill>
                  <a:srgbClr val="FFFF00"/>
                </a:solidFill>
                <a:latin typeface="微软雅黑" pitchFamily="34" charset="-122"/>
                <a:ea typeface="微软雅黑" pitchFamily="34" charset="-122"/>
              </a:rPr>
              <a:t>，还是 </a:t>
            </a:r>
            <a:r>
              <a:rPr lang="en-US" altLang="zh-CN" sz="2000" b="1" dirty="0">
                <a:solidFill>
                  <a:srgbClr val="FFFF00"/>
                </a:solidFill>
                <a:latin typeface="微软雅黑" pitchFamily="34" charset="-122"/>
                <a:ea typeface="微软雅黑" pitchFamily="34" charset="-122"/>
              </a:rPr>
              <a:t>UDP</a:t>
            </a:r>
            <a:r>
              <a:rPr lang="zh-CN" altLang="en-US" sz="2000" b="1" dirty="0">
                <a:solidFill>
                  <a:srgbClr val="FFFF00"/>
                </a:solidFill>
                <a:latin typeface="微软雅黑" pitchFamily="34" charset="-122"/>
                <a:ea typeface="微软雅黑" pitchFamily="34" charset="-122"/>
              </a:rPr>
              <a:t>？</a:t>
            </a:r>
            <a:endParaRPr lang="fr-FR" altLang="zh-CN" sz="2000" b="1" dirty="0">
              <a:solidFill>
                <a:srgbClr val="FFFF00"/>
              </a:solidFill>
              <a:latin typeface="微软雅黑" pitchFamily="34" charset="-122"/>
              <a:ea typeface="微软雅黑" pitchFamily="34" charset="-122"/>
            </a:endParaRPr>
          </a:p>
        </p:txBody>
      </p:sp>
    </p:spTree>
    <p:extLst>
      <p:ext uri="{BB962C8B-B14F-4D97-AF65-F5344CB8AC3E}">
        <p14:creationId xmlns:p14="http://schemas.microsoft.com/office/powerpoint/2010/main" val="19403517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9475" y="1800762"/>
            <a:ext cx="8129015" cy="25593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595188" y="2060848"/>
            <a:ext cx="2175566" cy="1680357"/>
          </a:xfrm>
          <a:prstGeom prst="rect">
            <a:avLst/>
          </a:prstGeom>
          <a:solidFill>
            <a:srgbClr val="66FFFF"/>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20" name="矩形 19"/>
          <p:cNvSpPr/>
          <p:nvPr/>
        </p:nvSpPr>
        <p:spPr>
          <a:xfrm>
            <a:off x="5682971" y="2408420"/>
            <a:ext cx="916160" cy="1101496"/>
          </a:xfrm>
          <a:prstGeom prst="rect">
            <a:avLst/>
          </a:prstGeom>
          <a:solidFill>
            <a:srgbClr val="3366FF"/>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1" name="矩形 10"/>
          <p:cNvSpPr/>
          <p:nvPr/>
        </p:nvSpPr>
        <p:spPr>
          <a:xfrm>
            <a:off x="4766810" y="2524703"/>
            <a:ext cx="458081" cy="868930"/>
          </a:xfrm>
          <a:prstGeom prst="rect">
            <a:avLst/>
          </a:prstGeom>
          <a:solidFill>
            <a:srgbClr val="3366FF"/>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2" name="矩形 11"/>
          <p:cNvSpPr/>
          <p:nvPr/>
        </p:nvSpPr>
        <p:spPr>
          <a:xfrm>
            <a:off x="1389888" y="1887062"/>
            <a:ext cx="2117516" cy="1854143"/>
          </a:xfrm>
          <a:prstGeom prst="rect">
            <a:avLst/>
          </a:prstGeom>
          <a:solidFill>
            <a:srgbClr val="6699FF"/>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9" name="矩形 18"/>
          <p:cNvSpPr/>
          <p:nvPr/>
        </p:nvSpPr>
        <p:spPr>
          <a:xfrm>
            <a:off x="1676346" y="2177132"/>
            <a:ext cx="801324" cy="1449068"/>
          </a:xfrm>
          <a:prstGeom prst="rect">
            <a:avLst/>
          </a:prstGeom>
          <a:solidFill>
            <a:schemeClr val="accent6">
              <a:lumMod val="75000"/>
            </a:schemeClr>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5" name="Rectangle 46"/>
          <p:cNvSpPr>
            <a:spLocks noChangeArrowheads="1"/>
          </p:cNvSpPr>
          <p:nvPr/>
        </p:nvSpPr>
        <p:spPr bwMode="auto">
          <a:xfrm>
            <a:off x="509475" y="1015932"/>
            <a:ext cx="8129015"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现在，对流式存储音频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视频的播放，如 </a:t>
            </a:r>
            <a:r>
              <a:rPr lang="en-US" altLang="zh-CN" sz="2000" b="1" dirty="0">
                <a:latin typeface="微软雅黑" pitchFamily="34" charset="-122"/>
                <a:ea typeface="微软雅黑" pitchFamily="34" charset="-122"/>
              </a:rPr>
              <a:t>YouTube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Netflix</a:t>
            </a:r>
            <a:r>
              <a:rPr lang="zh-CN" altLang="en-US" sz="2000" b="1" dirty="0">
                <a:latin typeface="微软雅黑" pitchFamily="34" charset="-122"/>
                <a:ea typeface="微软雅黑" pitchFamily="34" charset="-122"/>
              </a:rPr>
              <a:t>，都是</a:t>
            </a:r>
            <a:r>
              <a:rPr lang="zh-CN" altLang="en-US" sz="2000" b="1" dirty="0">
                <a:solidFill>
                  <a:srgbClr val="C00000"/>
                </a:solidFill>
                <a:latin typeface="微软雅黑" pitchFamily="34" charset="-122"/>
                <a:ea typeface="微软雅黑" pitchFamily="34" charset="-122"/>
              </a:rPr>
              <a:t>采用 </a:t>
            </a:r>
            <a:r>
              <a:rPr lang="en-US" altLang="zh-CN" sz="2000" b="1" dirty="0">
                <a:solidFill>
                  <a:srgbClr val="C00000"/>
                </a:solidFill>
                <a:latin typeface="微软雅黑" pitchFamily="34" charset="-122"/>
                <a:ea typeface="微软雅黑" pitchFamily="34" charset="-122"/>
              </a:rPr>
              <a:t>TCP </a:t>
            </a:r>
            <a:r>
              <a:rPr lang="zh-CN" altLang="en-US" sz="2000" b="1" dirty="0">
                <a:latin typeface="微软雅黑" pitchFamily="34" charset="-122"/>
                <a:ea typeface="微软雅黑" pitchFamily="34" charset="-122"/>
              </a:rPr>
              <a:t>来传送。</a:t>
            </a:r>
          </a:p>
        </p:txBody>
      </p:sp>
      <p:sp>
        <p:nvSpPr>
          <p:cNvPr id="10" name="矩形 9"/>
          <p:cNvSpPr/>
          <p:nvPr/>
        </p:nvSpPr>
        <p:spPr>
          <a:xfrm>
            <a:off x="4938433" y="2524703"/>
            <a:ext cx="286458" cy="867652"/>
          </a:xfrm>
          <a:prstGeom prst="rect">
            <a:avLst/>
          </a:prstGeom>
          <a:solidFill>
            <a:srgbClr val="92D050"/>
          </a:solidFill>
          <a:ln w="9525" algn="ctr">
            <a:solidFill>
              <a:schemeClr val="tx1"/>
            </a:solidFill>
            <a:miter lim="800000"/>
            <a:headEnd/>
            <a:tailEnd/>
          </a:ln>
          <a:effectLst/>
        </p:spPr>
        <p:txBody>
          <a:bodyPr wrap="none" anchor="ctr"/>
          <a:lstStyle/>
          <a:p>
            <a:pPr algn="ctr"/>
            <a:endParaRPr lang="zh-CN" altLang="en-US" b="1">
              <a:solidFill>
                <a:schemeClr val="tx1"/>
              </a:solidFill>
              <a:latin typeface="微软雅黑" pitchFamily="34" charset="-122"/>
              <a:ea typeface="微软雅黑" pitchFamily="34" charset="-122"/>
            </a:endParaRPr>
          </a:p>
        </p:txBody>
      </p:sp>
      <p:sp>
        <p:nvSpPr>
          <p:cNvPr id="13" name="矩形 12"/>
          <p:cNvSpPr/>
          <p:nvPr/>
        </p:nvSpPr>
        <p:spPr>
          <a:xfrm>
            <a:off x="5969428" y="2408420"/>
            <a:ext cx="629703" cy="110149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4" name="矩形 13"/>
          <p:cNvSpPr/>
          <p:nvPr/>
        </p:nvSpPr>
        <p:spPr>
          <a:xfrm>
            <a:off x="1676346" y="2177132"/>
            <a:ext cx="343245" cy="144906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15" name="Text Box 9"/>
          <p:cNvSpPr txBox="1">
            <a:spLocks noChangeArrowheads="1"/>
          </p:cNvSpPr>
          <p:nvPr/>
        </p:nvSpPr>
        <p:spPr bwMode="auto">
          <a:xfrm>
            <a:off x="5639196" y="3741205"/>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客户机</a:t>
            </a:r>
          </a:p>
        </p:txBody>
      </p:sp>
      <p:sp>
        <p:nvSpPr>
          <p:cNvPr id="16" name="Text Box 10"/>
          <p:cNvSpPr txBox="1">
            <a:spLocks noChangeArrowheads="1"/>
          </p:cNvSpPr>
          <p:nvPr/>
        </p:nvSpPr>
        <p:spPr bwMode="auto">
          <a:xfrm>
            <a:off x="2454458" y="3741205"/>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万维网</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服务器</a:t>
            </a:r>
          </a:p>
        </p:txBody>
      </p:sp>
      <p:sp>
        <p:nvSpPr>
          <p:cNvPr id="18" name="矩形 17"/>
          <p:cNvSpPr/>
          <p:nvPr/>
        </p:nvSpPr>
        <p:spPr>
          <a:xfrm>
            <a:off x="2877703" y="2524703"/>
            <a:ext cx="458079" cy="868930"/>
          </a:xfrm>
          <a:prstGeom prst="rect">
            <a:avLst/>
          </a:prstGeom>
          <a:solidFill>
            <a:srgbClr val="66FFFF"/>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21" name="立方体 20"/>
          <p:cNvSpPr/>
          <p:nvPr/>
        </p:nvSpPr>
        <p:spPr>
          <a:xfrm>
            <a:off x="3737076" y="2467200"/>
            <a:ext cx="228410" cy="405075"/>
          </a:xfrm>
          <a:prstGeom prst="cube">
            <a:avLst>
              <a:gd name="adj" fmla="val 84966"/>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23" name="Text Box 10"/>
          <p:cNvSpPr txBox="1">
            <a:spLocks noChangeArrowheads="1"/>
          </p:cNvSpPr>
          <p:nvPr/>
        </p:nvSpPr>
        <p:spPr bwMode="auto">
          <a:xfrm>
            <a:off x="2705371" y="2060848"/>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a:latin typeface="微软雅黑" pitchFamily="34" charset="-122"/>
                <a:ea typeface="微软雅黑" pitchFamily="34" charset="-122"/>
                <a:cs typeface="Times New Roman" pitchFamily="18" charset="0"/>
              </a:rPr>
              <a:t>TCP</a:t>
            </a:r>
          </a:p>
          <a:p>
            <a:pPr algn="ctr" eaLnBrk="1" hangingPunct="1"/>
            <a:r>
              <a:rPr lang="zh-CN" altLang="en-US" sz="1200" b="1" dirty="0">
                <a:latin typeface="微软雅黑" pitchFamily="34" charset="-122"/>
                <a:ea typeface="微软雅黑" pitchFamily="34" charset="-122"/>
              </a:rPr>
              <a:t>发送缓存</a:t>
            </a:r>
          </a:p>
        </p:txBody>
      </p:sp>
      <p:sp>
        <p:nvSpPr>
          <p:cNvPr id="24" name="Text Box 10"/>
          <p:cNvSpPr txBox="1">
            <a:spLocks noChangeArrowheads="1"/>
          </p:cNvSpPr>
          <p:nvPr/>
        </p:nvSpPr>
        <p:spPr bwMode="auto">
          <a:xfrm>
            <a:off x="4575551" y="2074904"/>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a:latin typeface="微软雅黑" pitchFamily="34" charset="-122"/>
                <a:ea typeface="微软雅黑" pitchFamily="34" charset="-122"/>
                <a:cs typeface="Times New Roman" pitchFamily="18" charset="0"/>
              </a:rPr>
              <a:t>TCP</a:t>
            </a:r>
          </a:p>
          <a:p>
            <a:pPr algn="ctr" eaLnBrk="1" hangingPunct="1"/>
            <a:r>
              <a:rPr lang="zh-CN" altLang="en-US" sz="1200" b="1">
                <a:latin typeface="微软雅黑" pitchFamily="34" charset="-122"/>
                <a:ea typeface="微软雅黑" pitchFamily="34" charset="-122"/>
              </a:rPr>
              <a:t>接收缓存</a:t>
            </a:r>
          </a:p>
        </p:txBody>
      </p:sp>
      <p:sp>
        <p:nvSpPr>
          <p:cNvPr id="25" name="Text Box 10"/>
          <p:cNvSpPr txBox="1">
            <a:spLocks noChangeArrowheads="1"/>
          </p:cNvSpPr>
          <p:nvPr/>
        </p:nvSpPr>
        <p:spPr bwMode="auto">
          <a:xfrm>
            <a:off x="1675638" y="188706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latin typeface="微软雅黑" pitchFamily="34" charset="-122"/>
                <a:ea typeface="微软雅黑" pitchFamily="34" charset="-122"/>
              </a:rPr>
              <a:t>视频文件</a:t>
            </a:r>
          </a:p>
        </p:txBody>
      </p:sp>
      <p:sp>
        <p:nvSpPr>
          <p:cNvPr id="26" name="Text Box 10"/>
          <p:cNvSpPr txBox="1">
            <a:spLocks noChangeArrowheads="1"/>
          </p:cNvSpPr>
          <p:nvPr/>
        </p:nvSpPr>
        <p:spPr bwMode="auto">
          <a:xfrm>
            <a:off x="5576956" y="2143907"/>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a:latin typeface="微软雅黑" pitchFamily="34" charset="-122"/>
                <a:ea typeface="微软雅黑" pitchFamily="34" charset="-122"/>
              </a:rPr>
              <a:t>应用程序缓存</a:t>
            </a:r>
          </a:p>
        </p:txBody>
      </p:sp>
      <p:sp>
        <p:nvSpPr>
          <p:cNvPr id="30" name="立方体 29"/>
          <p:cNvSpPr/>
          <p:nvPr/>
        </p:nvSpPr>
        <p:spPr>
          <a:xfrm>
            <a:off x="4022273" y="2467200"/>
            <a:ext cx="229671" cy="405075"/>
          </a:xfrm>
          <a:prstGeom prst="cube">
            <a:avLst>
              <a:gd name="adj" fmla="val 84966"/>
            </a:avLst>
          </a:prstGeom>
          <a:solidFill>
            <a:schemeClr val="accent6">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b="1">
              <a:solidFill>
                <a:schemeClr val="tx1"/>
              </a:solidFill>
              <a:latin typeface="微软雅黑" pitchFamily="34" charset="-122"/>
              <a:ea typeface="微软雅黑" pitchFamily="34" charset="-122"/>
            </a:endParaRPr>
          </a:p>
        </p:txBody>
      </p:sp>
      <p:sp>
        <p:nvSpPr>
          <p:cNvPr id="32" name="Text Box 10"/>
          <p:cNvSpPr txBox="1">
            <a:spLocks noChangeArrowheads="1"/>
          </p:cNvSpPr>
          <p:nvPr/>
        </p:nvSpPr>
        <p:spPr bwMode="auto">
          <a:xfrm>
            <a:off x="6732414" y="2269470"/>
            <a:ext cx="161591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等时地从缓存中把帧读出，解压缩，显示在屏幕上</a:t>
            </a:r>
          </a:p>
        </p:txBody>
      </p:sp>
      <p:sp>
        <p:nvSpPr>
          <p:cNvPr id="33" name="Text Box 9"/>
          <p:cNvSpPr txBox="1">
            <a:spLocks noChangeArrowheads="1"/>
          </p:cNvSpPr>
          <p:nvPr/>
        </p:nvSpPr>
        <p:spPr bwMode="auto">
          <a:xfrm>
            <a:off x="3451647" y="2988558"/>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互联网上传送</a:t>
            </a:r>
          </a:p>
        </p:txBody>
      </p:sp>
      <p:sp>
        <p:nvSpPr>
          <p:cNvPr id="35" name="Text Box 9"/>
          <p:cNvSpPr txBox="1">
            <a:spLocks noChangeArrowheads="1"/>
          </p:cNvSpPr>
          <p:nvPr/>
        </p:nvSpPr>
        <p:spPr bwMode="auto">
          <a:xfrm>
            <a:off x="2076377" y="2467200"/>
            <a:ext cx="3385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已</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发</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送</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的</a:t>
            </a:r>
          </a:p>
        </p:txBody>
      </p:sp>
      <p:sp>
        <p:nvSpPr>
          <p:cNvPr id="36" name="Text Box 9"/>
          <p:cNvSpPr txBox="1">
            <a:spLocks noChangeArrowheads="1"/>
          </p:cNvSpPr>
          <p:nvPr/>
        </p:nvSpPr>
        <p:spPr bwMode="auto">
          <a:xfrm>
            <a:off x="1691489" y="2467200"/>
            <a:ext cx="3385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a:latin typeface="微软雅黑" pitchFamily="34" charset="-122"/>
                <a:ea typeface="微软雅黑" pitchFamily="34" charset="-122"/>
              </a:rPr>
              <a:t>待</a:t>
            </a:r>
            <a:endParaRPr lang="en-US" altLang="zh-CN" sz="1200" b="1">
              <a:latin typeface="微软雅黑" pitchFamily="34" charset="-122"/>
              <a:ea typeface="微软雅黑" pitchFamily="34" charset="-122"/>
            </a:endParaRPr>
          </a:p>
          <a:p>
            <a:pPr eaLnBrk="1" hangingPunct="1"/>
            <a:r>
              <a:rPr lang="zh-CN" altLang="en-US" sz="1200" b="1">
                <a:latin typeface="微软雅黑" pitchFamily="34" charset="-122"/>
                <a:ea typeface="微软雅黑" pitchFamily="34" charset="-122"/>
              </a:rPr>
              <a:t>发</a:t>
            </a:r>
            <a:endParaRPr lang="en-US" altLang="zh-CN" sz="1200" b="1">
              <a:latin typeface="微软雅黑" pitchFamily="34" charset="-122"/>
              <a:ea typeface="微软雅黑" pitchFamily="34" charset="-122"/>
            </a:endParaRPr>
          </a:p>
          <a:p>
            <a:pPr eaLnBrk="1" hangingPunct="1"/>
            <a:r>
              <a:rPr lang="zh-CN" altLang="en-US" sz="1200" b="1">
                <a:latin typeface="微软雅黑" pitchFamily="34" charset="-122"/>
                <a:ea typeface="微软雅黑" pitchFamily="34" charset="-122"/>
              </a:rPr>
              <a:t>送</a:t>
            </a:r>
            <a:endParaRPr lang="en-US" altLang="zh-CN" sz="1200" b="1">
              <a:latin typeface="微软雅黑" pitchFamily="34" charset="-122"/>
              <a:ea typeface="微软雅黑" pitchFamily="34" charset="-122"/>
            </a:endParaRPr>
          </a:p>
          <a:p>
            <a:pPr eaLnBrk="1" hangingPunct="1"/>
            <a:r>
              <a:rPr lang="zh-CN" altLang="en-US" sz="1200" b="1">
                <a:latin typeface="微软雅黑" pitchFamily="34" charset="-122"/>
                <a:ea typeface="微软雅黑" pitchFamily="34" charset="-122"/>
              </a:rPr>
              <a:t>的</a:t>
            </a:r>
          </a:p>
        </p:txBody>
      </p:sp>
      <p:sp>
        <p:nvSpPr>
          <p:cNvPr id="37" name="Text Box 9"/>
          <p:cNvSpPr txBox="1">
            <a:spLocks noChangeArrowheads="1"/>
          </p:cNvSpPr>
          <p:nvPr/>
        </p:nvSpPr>
        <p:spPr bwMode="auto">
          <a:xfrm>
            <a:off x="6141052" y="2524703"/>
            <a:ext cx="3385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latin typeface="微软雅黑" pitchFamily="34" charset="-122"/>
                <a:ea typeface="微软雅黑" pitchFamily="34" charset="-122"/>
              </a:rPr>
              <a:t>已</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收</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到</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的</a:t>
            </a:r>
          </a:p>
        </p:txBody>
      </p:sp>
      <p:grpSp>
        <p:nvGrpSpPr>
          <p:cNvPr id="3" name="组合 2"/>
          <p:cNvGrpSpPr/>
          <p:nvPr/>
        </p:nvGrpSpPr>
        <p:grpSpPr>
          <a:xfrm>
            <a:off x="2398778" y="2640987"/>
            <a:ext cx="478924" cy="307777"/>
            <a:chOff x="2398778" y="2640987"/>
            <a:chExt cx="478924" cy="307777"/>
          </a:xfrm>
        </p:grpSpPr>
        <p:sp>
          <p:nvSpPr>
            <p:cNvPr id="29" name="Line 68"/>
            <p:cNvSpPr>
              <a:spLocks noChangeShapeType="1"/>
            </p:cNvSpPr>
            <p:nvPr/>
          </p:nvSpPr>
          <p:spPr bwMode="auto">
            <a:xfrm rot="16200000">
              <a:off x="2677687" y="2729763"/>
              <a:ext cx="0" cy="400031"/>
            </a:xfrm>
            <a:prstGeom prst="line">
              <a:avLst/>
            </a:prstGeom>
            <a:noFill/>
            <a:ln w="38100">
              <a:solidFill>
                <a:srgbClr val="0000FF"/>
              </a:solidFill>
              <a:round/>
              <a:headEnd/>
              <a:tailEnd type="triangle" w="med" len="lg"/>
            </a:ln>
            <a:effectLst/>
          </p:spPr>
          <p:txBody>
            <a:bodyPr/>
            <a:lstStyle/>
            <a:p>
              <a:pPr>
                <a:defRPr/>
              </a:pPr>
              <a:endParaRPr lang="zh-CN" altLang="en-US" sz="1200" b="1">
                <a:latin typeface="微软雅黑" pitchFamily="34" charset="-122"/>
                <a:ea typeface="微软雅黑" pitchFamily="34" charset="-122"/>
              </a:endParaRPr>
            </a:p>
          </p:txBody>
        </p:sp>
        <p:sp>
          <p:nvSpPr>
            <p:cNvPr id="38" name="TextBox 85"/>
            <p:cNvSpPr txBox="1">
              <a:spLocks noChangeArrowheads="1"/>
            </p:cNvSpPr>
            <p:nvPr/>
          </p:nvSpPr>
          <p:spPr bwMode="auto">
            <a:xfrm>
              <a:off x="2398778" y="2640987"/>
              <a:ext cx="3449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b="1" dirty="0">
                  <a:latin typeface="微软雅黑" pitchFamily="34" charset="-122"/>
                  <a:ea typeface="微软雅黑" pitchFamily="34" charset="-122"/>
                  <a:sym typeface="Wingdings" pitchFamily="2" charset="2"/>
                </a:rPr>
                <a:t></a:t>
              </a:r>
              <a:endParaRPr lang="zh-CN" altLang="en-US" sz="1400" b="1" dirty="0">
                <a:latin typeface="微软雅黑" pitchFamily="34" charset="-122"/>
                <a:ea typeface="微软雅黑" pitchFamily="34" charset="-122"/>
              </a:endParaRPr>
            </a:p>
          </p:txBody>
        </p:sp>
      </p:grpSp>
      <p:grpSp>
        <p:nvGrpSpPr>
          <p:cNvPr id="4" name="组合 3"/>
          <p:cNvGrpSpPr/>
          <p:nvPr/>
        </p:nvGrpSpPr>
        <p:grpSpPr>
          <a:xfrm>
            <a:off x="3231205" y="2640987"/>
            <a:ext cx="1535606" cy="307777"/>
            <a:chOff x="3231205" y="2640987"/>
            <a:chExt cx="1535606" cy="307777"/>
          </a:xfrm>
        </p:grpSpPr>
        <p:sp>
          <p:nvSpPr>
            <p:cNvPr id="34" name="Line 68"/>
            <p:cNvSpPr>
              <a:spLocks noChangeShapeType="1"/>
            </p:cNvSpPr>
            <p:nvPr/>
          </p:nvSpPr>
          <p:spPr bwMode="auto">
            <a:xfrm rot="16200000">
              <a:off x="4051297" y="2214264"/>
              <a:ext cx="0" cy="1431028"/>
            </a:xfrm>
            <a:prstGeom prst="line">
              <a:avLst/>
            </a:prstGeom>
            <a:noFill/>
            <a:ln w="38100">
              <a:solidFill>
                <a:srgbClr val="0000FF"/>
              </a:solidFill>
              <a:round/>
              <a:headEnd/>
              <a:tailEnd type="triangle" w="med" len="lg"/>
            </a:ln>
            <a:effectLst/>
          </p:spPr>
          <p:txBody>
            <a:bodyPr/>
            <a:lstStyle/>
            <a:p>
              <a:pPr>
                <a:defRPr/>
              </a:pPr>
              <a:endParaRPr lang="zh-CN" altLang="en-US" sz="1200" b="1">
                <a:latin typeface="微软雅黑" pitchFamily="34" charset="-122"/>
                <a:ea typeface="微软雅黑" pitchFamily="34" charset="-122"/>
              </a:endParaRPr>
            </a:p>
          </p:txBody>
        </p:sp>
        <p:sp>
          <p:nvSpPr>
            <p:cNvPr id="39" name="TextBox 86"/>
            <p:cNvSpPr txBox="1">
              <a:spLocks noChangeArrowheads="1"/>
            </p:cNvSpPr>
            <p:nvPr/>
          </p:nvSpPr>
          <p:spPr bwMode="auto">
            <a:xfrm>
              <a:off x="3231205" y="2640987"/>
              <a:ext cx="3449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b="1" dirty="0">
                  <a:latin typeface="微软雅黑" pitchFamily="34" charset="-122"/>
                  <a:ea typeface="微软雅黑" pitchFamily="34" charset="-122"/>
                  <a:sym typeface="Wingdings" pitchFamily="2" charset="2"/>
                </a:rPr>
                <a:t></a:t>
              </a:r>
              <a:endParaRPr lang="zh-CN" altLang="en-US" sz="1400" b="1" dirty="0">
                <a:latin typeface="微软雅黑" pitchFamily="34" charset="-122"/>
                <a:ea typeface="微软雅黑" pitchFamily="34" charset="-122"/>
              </a:endParaRPr>
            </a:p>
          </p:txBody>
        </p:sp>
      </p:grpSp>
      <p:grpSp>
        <p:nvGrpSpPr>
          <p:cNvPr id="9" name="组合 8"/>
          <p:cNvGrpSpPr/>
          <p:nvPr/>
        </p:nvGrpSpPr>
        <p:grpSpPr>
          <a:xfrm>
            <a:off x="5169134" y="2640987"/>
            <a:ext cx="513836" cy="307777"/>
            <a:chOff x="5169134" y="2640987"/>
            <a:chExt cx="513836" cy="307777"/>
          </a:xfrm>
        </p:grpSpPr>
        <p:sp>
          <p:nvSpPr>
            <p:cNvPr id="27" name="Line 68"/>
            <p:cNvSpPr>
              <a:spLocks noChangeShapeType="1"/>
            </p:cNvSpPr>
            <p:nvPr/>
          </p:nvSpPr>
          <p:spPr bwMode="auto">
            <a:xfrm rot="16200000">
              <a:off x="5453931" y="2700738"/>
              <a:ext cx="0" cy="458079"/>
            </a:xfrm>
            <a:prstGeom prst="line">
              <a:avLst/>
            </a:prstGeom>
            <a:noFill/>
            <a:ln w="38100">
              <a:solidFill>
                <a:srgbClr val="0000FF"/>
              </a:solidFill>
              <a:round/>
              <a:headEnd/>
              <a:tailEnd type="triangle" w="med" len="lg"/>
            </a:ln>
            <a:effectLst/>
          </p:spPr>
          <p:txBody>
            <a:bodyPr/>
            <a:lstStyle/>
            <a:p>
              <a:pPr>
                <a:defRPr/>
              </a:pPr>
              <a:endParaRPr lang="zh-CN" altLang="en-US" sz="1200" b="1">
                <a:latin typeface="微软雅黑" pitchFamily="34" charset="-122"/>
                <a:ea typeface="微软雅黑" pitchFamily="34" charset="-122"/>
              </a:endParaRPr>
            </a:p>
          </p:txBody>
        </p:sp>
        <p:sp>
          <p:nvSpPr>
            <p:cNvPr id="40" name="TextBox 87"/>
            <p:cNvSpPr txBox="1">
              <a:spLocks noChangeArrowheads="1"/>
            </p:cNvSpPr>
            <p:nvPr/>
          </p:nvSpPr>
          <p:spPr bwMode="auto">
            <a:xfrm>
              <a:off x="5169134" y="2640987"/>
              <a:ext cx="3449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b="1" dirty="0">
                  <a:latin typeface="微软雅黑" pitchFamily="34" charset="-122"/>
                  <a:ea typeface="微软雅黑" pitchFamily="34" charset="-122"/>
                  <a:sym typeface="Wingdings" pitchFamily="2" charset="2"/>
                </a:rPr>
                <a:t></a:t>
              </a:r>
              <a:endParaRPr lang="zh-CN" altLang="en-US" sz="1400" b="1" dirty="0">
                <a:latin typeface="微软雅黑" pitchFamily="34" charset="-122"/>
                <a:ea typeface="微软雅黑" pitchFamily="34" charset="-122"/>
              </a:endParaRPr>
            </a:p>
          </p:txBody>
        </p:sp>
      </p:grpSp>
      <p:grpSp>
        <p:nvGrpSpPr>
          <p:cNvPr id="17" name="组合 16"/>
          <p:cNvGrpSpPr/>
          <p:nvPr/>
        </p:nvGrpSpPr>
        <p:grpSpPr>
          <a:xfrm>
            <a:off x="6534307" y="2640987"/>
            <a:ext cx="1552639" cy="307777"/>
            <a:chOff x="6534307" y="2640987"/>
            <a:chExt cx="1552639" cy="307777"/>
          </a:xfrm>
        </p:grpSpPr>
        <p:sp>
          <p:nvSpPr>
            <p:cNvPr id="28" name="Line 68"/>
            <p:cNvSpPr>
              <a:spLocks noChangeShapeType="1"/>
            </p:cNvSpPr>
            <p:nvPr/>
          </p:nvSpPr>
          <p:spPr bwMode="auto">
            <a:xfrm rot="16200000">
              <a:off x="7343039" y="2185870"/>
              <a:ext cx="0" cy="1487815"/>
            </a:xfrm>
            <a:prstGeom prst="line">
              <a:avLst/>
            </a:prstGeom>
            <a:noFill/>
            <a:ln w="38100">
              <a:solidFill>
                <a:srgbClr val="0000FF"/>
              </a:solidFill>
              <a:round/>
              <a:headEnd/>
              <a:tailEnd type="triangle" w="med" len="lg"/>
            </a:ln>
            <a:effectLst/>
          </p:spPr>
          <p:txBody>
            <a:bodyPr/>
            <a:lstStyle/>
            <a:p>
              <a:pPr>
                <a:defRPr/>
              </a:pPr>
              <a:endParaRPr lang="zh-CN" altLang="en-US" sz="1200" b="1">
                <a:latin typeface="微软雅黑" pitchFamily="34" charset="-122"/>
                <a:ea typeface="微软雅黑" pitchFamily="34" charset="-122"/>
              </a:endParaRPr>
            </a:p>
          </p:txBody>
        </p:sp>
        <p:sp>
          <p:nvSpPr>
            <p:cNvPr id="41" name="TextBox 88"/>
            <p:cNvSpPr txBox="1">
              <a:spLocks noChangeArrowheads="1"/>
            </p:cNvSpPr>
            <p:nvPr/>
          </p:nvSpPr>
          <p:spPr bwMode="auto">
            <a:xfrm>
              <a:off x="6534307" y="2640987"/>
              <a:ext cx="3449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b="1" dirty="0">
                  <a:latin typeface="微软雅黑" pitchFamily="34" charset="-122"/>
                  <a:ea typeface="微软雅黑" pitchFamily="34" charset="-122"/>
                  <a:sym typeface="Wingdings" pitchFamily="2" charset="2"/>
                </a:rPr>
                <a:t></a:t>
              </a:r>
              <a:endParaRPr lang="zh-CN" altLang="en-US" sz="1400" b="1" dirty="0">
                <a:latin typeface="微软雅黑" pitchFamily="34" charset="-122"/>
                <a:ea typeface="微软雅黑" pitchFamily="34" charset="-122"/>
              </a:endParaRPr>
            </a:p>
          </p:txBody>
        </p:sp>
      </p:grpSp>
      <p:pic>
        <p:nvPicPr>
          <p:cNvPr id="90"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3320" y="3647344"/>
            <a:ext cx="493083" cy="493083"/>
          </a:xfrm>
          <a:prstGeom prst="rect">
            <a:avLst/>
          </a:prstGeom>
          <a:noFill/>
          <a:extLst>
            <a:ext uri="{909E8E84-426E-40DD-AFC4-6F175D3DCCD1}">
              <a14:hiddenFill xmlns:a14="http://schemas.microsoft.com/office/drawing/2010/main">
                <a:solidFill>
                  <a:srgbClr val="FFFFFF"/>
                </a:solidFill>
              </a14:hiddenFill>
            </a:ext>
          </a:extLst>
        </p:spPr>
      </p:pic>
      <p:pic>
        <p:nvPicPr>
          <p:cNvPr id="91" name="图片 9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35016" y="3663275"/>
            <a:ext cx="462928" cy="648102"/>
          </a:xfrm>
          <a:prstGeom prst="rect">
            <a:avLst/>
          </a:prstGeom>
        </p:spPr>
      </p:pic>
      <p:sp>
        <p:nvSpPr>
          <p:cNvPr id="42" name="AutoShape 5"/>
          <p:cNvSpPr>
            <a:spLocks noChangeArrowheads="1"/>
          </p:cNvSpPr>
          <p:nvPr/>
        </p:nvSpPr>
        <p:spPr bwMode="auto">
          <a:xfrm>
            <a:off x="509475" y="60636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Rectangle 6"/>
          <p:cNvSpPr>
            <a:spLocks noChangeArrowheads="1"/>
          </p:cNvSpPr>
          <p:nvPr/>
        </p:nvSpPr>
        <p:spPr bwMode="auto">
          <a:xfrm>
            <a:off x="2667146" y="573150"/>
            <a:ext cx="3819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下载时使用 </a:t>
            </a:r>
            <a:r>
              <a:rPr lang="en-US" altLang="zh-CN" sz="2000" b="1" dirty="0">
                <a:solidFill>
                  <a:srgbClr val="FFFF00"/>
                </a:solidFill>
                <a:latin typeface="微软雅黑" pitchFamily="34" charset="-122"/>
                <a:ea typeface="微软雅黑" pitchFamily="34" charset="-122"/>
              </a:rPr>
              <a:t>TCP</a:t>
            </a:r>
            <a:r>
              <a:rPr lang="zh-CN" altLang="en-US" sz="2000" b="1" dirty="0">
                <a:solidFill>
                  <a:srgbClr val="FFFF00"/>
                </a:solidFill>
                <a:latin typeface="微软雅黑" pitchFamily="34" charset="-122"/>
                <a:ea typeface="微软雅黑" pitchFamily="34" charset="-122"/>
              </a:rPr>
              <a:t>，还是 </a:t>
            </a:r>
            <a:r>
              <a:rPr lang="en-US" altLang="zh-CN" sz="2000" b="1" dirty="0">
                <a:solidFill>
                  <a:srgbClr val="FFFF00"/>
                </a:solidFill>
                <a:latin typeface="微软雅黑" pitchFamily="34" charset="-122"/>
                <a:ea typeface="微软雅黑" pitchFamily="34" charset="-122"/>
              </a:rPr>
              <a:t>UDP</a:t>
            </a:r>
            <a:r>
              <a:rPr lang="zh-CN" altLang="en-US" sz="2000" b="1" dirty="0">
                <a:solidFill>
                  <a:srgbClr val="FFFF00"/>
                </a:solidFill>
                <a:latin typeface="微软雅黑" pitchFamily="34" charset="-122"/>
                <a:ea typeface="微软雅黑" pitchFamily="34" charset="-122"/>
              </a:rPr>
              <a:t>？</a:t>
            </a:r>
            <a:endParaRPr lang="fr-FR" altLang="zh-CN" sz="2000" b="1" dirty="0">
              <a:solidFill>
                <a:srgbClr val="FFFF00"/>
              </a:solidFill>
              <a:latin typeface="微软雅黑" pitchFamily="34" charset="-122"/>
              <a:ea typeface="微软雅黑" pitchFamily="34" charset="-122"/>
            </a:endParaRPr>
          </a:p>
        </p:txBody>
      </p:sp>
      <p:sp>
        <p:nvSpPr>
          <p:cNvPr id="2" name="矩形 1"/>
          <p:cNvSpPr/>
          <p:nvPr/>
        </p:nvSpPr>
        <p:spPr>
          <a:xfrm>
            <a:off x="2595154" y="4371716"/>
            <a:ext cx="4119841" cy="369332"/>
          </a:xfrm>
          <a:prstGeom prst="rect">
            <a:avLst/>
          </a:prstGeom>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使用 </a:t>
            </a:r>
            <a:r>
              <a:rPr lang="en-US" altLang="zh-CN" b="1" dirty="0">
                <a:latin typeface="微软雅黑" panose="020B0503020204020204" pitchFamily="34" charset="-122"/>
                <a:ea typeface="微软雅黑" panose="020B0503020204020204" pitchFamily="34" charset="-122"/>
              </a:rPr>
              <a:t>TCP </a:t>
            </a:r>
            <a:r>
              <a:rPr lang="zh-CN" altLang="en-US" b="1" dirty="0">
                <a:latin typeface="微软雅黑" panose="020B0503020204020204" pitchFamily="34" charset="-122"/>
                <a:ea typeface="微软雅黑" panose="020B0503020204020204" pitchFamily="34" charset="-122"/>
              </a:rPr>
              <a:t>传送流式视频的主要步骤</a:t>
            </a:r>
          </a:p>
        </p:txBody>
      </p:sp>
    </p:spTree>
    <p:extLst>
      <p:ext uri="{BB962C8B-B14F-4D97-AF65-F5344CB8AC3E}">
        <p14:creationId xmlns:p14="http://schemas.microsoft.com/office/powerpoint/2010/main" val="374149441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0"/>
                                  </p:stCondLst>
                                  <p:childTnLst>
                                    <p:anim calcmode="discrete" valueType="str">
                                      <p:cBhvr>
                                        <p:cTn id="9"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nodeType="clickEffect">
                                  <p:stCondLst>
                                    <p:cond delay="0"/>
                                  </p:stCondLst>
                                  <p:childTnLst>
                                    <p:anim calcmode="discrete" valueType="str">
                                      <p:cBhvr>
                                        <p:cTn id="13" dur="1000" fill="hold"/>
                                        <p:tgtEl>
                                          <p:spTgt spid="9"/>
                                        </p:tgtEl>
                                        <p:attrNameLst>
                                          <p:attrName>style.visibility</p:attrName>
                                        </p:attrNameLst>
                                      </p:cBhvr>
                                      <p:tavLst>
                                        <p:tav tm="0">
                                          <p:val>
                                            <p:strVal val="hidden"/>
                                          </p:val>
                                        </p:tav>
                                        <p:tav tm="50000">
                                          <p:val>
                                            <p:strVal val="visible"/>
                                          </p:val>
                                        </p:tav>
                                      </p:tavLst>
                                    </p:anim>
                                  </p:childTnLst>
                                </p:cTn>
                              </p:par>
                            </p:childTnLst>
                          </p:cTn>
                        </p:par>
                        <p:par>
                          <p:cTn id="14" fill="hold">
                            <p:stCondLst>
                              <p:cond delay="3000"/>
                            </p:stCondLst>
                            <p:childTnLst>
                              <p:par>
                                <p:cTn id="15" presetID="35" presetClass="emph" presetSubtype="0" repeatCount="3000" fill="hold" nodeType="afterEffect">
                                  <p:stCondLst>
                                    <p:cond delay="0"/>
                                  </p:stCondLst>
                                  <p:childTnLst>
                                    <p:anim calcmode="discrete" valueType="str">
                                      <p:cBhvr>
                                        <p:cTn id="16" dur="1000" fill="hold"/>
                                        <p:tgtEl>
                                          <p:spTgt spid="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64551"/>
            <a:ext cx="812901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如果是观看</a:t>
            </a:r>
            <a:r>
              <a:rPr lang="zh-CN" altLang="en-US" sz="2000" b="1" dirty="0">
                <a:solidFill>
                  <a:srgbClr val="C00000"/>
                </a:solidFill>
                <a:latin typeface="微软雅黑" pitchFamily="34" charset="-122"/>
                <a:ea typeface="微软雅黑" pitchFamily="34" charset="-122"/>
              </a:rPr>
              <a:t>实况</a:t>
            </a:r>
            <a:r>
              <a:rPr lang="zh-CN" altLang="en-US" sz="2000" b="1" dirty="0">
                <a:latin typeface="微软雅黑" pitchFamily="34" charset="-122"/>
                <a:ea typeface="微软雅黑" pitchFamily="34" charset="-122"/>
              </a:rPr>
              <a:t>转播，应当</a:t>
            </a:r>
            <a:r>
              <a:rPr lang="zh-CN" altLang="en-US" sz="2000" b="1" dirty="0">
                <a:solidFill>
                  <a:srgbClr val="C00000"/>
                </a:solidFill>
                <a:latin typeface="微软雅黑" pitchFamily="34" charset="-122"/>
                <a:ea typeface="微软雅黑" pitchFamily="34" charset="-122"/>
              </a:rPr>
              <a:t>首先考虑</a:t>
            </a:r>
            <a:r>
              <a:rPr lang="zh-CN" altLang="en-US" sz="2000" b="1" dirty="0">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来传送。</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若使用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传送，当出现网络严重拥塞时，会产生播放暂停。</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使用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传送时，即使因网络拥塞丢失了一些分组，对观看的感觉也会比突然出现暂停要好些。</a:t>
            </a:r>
          </a:p>
        </p:txBody>
      </p:sp>
      <p:sp>
        <p:nvSpPr>
          <p:cNvPr id="5" name="AutoShape 5"/>
          <p:cNvSpPr>
            <a:spLocks noChangeArrowheads="1"/>
          </p:cNvSpPr>
          <p:nvPr/>
        </p:nvSpPr>
        <p:spPr bwMode="auto">
          <a:xfrm>
            <a:off x="509475" y="60636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667146" y="573150"/>
            <a:ext cx="38198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下载时使用 </a:t>
            </a:r>
            <a:r>
              <a:rPr lang="en-US" altLang="zh-CN" sz="2000" b="1" dirty="0">
                <a:solidFill>
                  <a:srgbClr val="FFFF00"/>
                </a:solidFill>
                <a:latin typeface="微软雅黑" pitchFamily="34" charset="-122"/>
                <a:ea typeface="微软雅黑" pitchFamily="34" charset="-122"/>
              </a:rPr>
              <a:t>TCP</a:t>
            </a:r>
            <a:r>
              <a:rPr lang="zh-CN" altLang="en-US" sz="2000" b="1" dirty="0">
                <a:solidFill>
                  <a:srgbClr val="FFFF00"/>
                </a:solidFill>
                <a:latin typeface="微软雅黑" pitchFamily="34" charset="-122"/>
                <a:ea typeface="微软雅黑" pitchFamily="34" charset="-122"/>
              </a:rPr>
              <a:t>，还是 </a:t>
            </a:r>
            <a:r>
              <a:rPr lang="en-US" altLang="zh-CN" sz="2000" b="1" dirty="0">
                <a:solidFill>
                  <a:srgbClr val="FFFF00"/>
                </a:solidFill>
                <a:latin typeface="微软雅黑" pitchFamily="34" charset="-122"/>
                <a:ea typeface="微软雅黑" pitchFamily="34" charset="-122"/>
              </a:rPr>
              <a:t>UDP</a:t>
            </a:r>
            <a:r>
              <a:rPr lang="zh-CN" altLang="en-US" sz="2000" b="1" dirty="0">
                <a:solidFill>
                  <a:srgbClr val="FFFF00"/>
                </a:solidFill>
                <a:latin typeface="微软雅黑" pitchFamily="34" charset="-122"/>
                <a:ea typeface="微软雅黑" pitchFamily="34" charset="-122"/>
              </a:rPr>
              <a:t>？</a:t>
            </a:r>
            <a:endParaRPr lang="fr-FR" altLang="zh-CN" sz="2000" b="1" dirty="0">
              <a:solidFill>
                <a:srgbClr val="FFFF00"/>
              </a:solidFill>
              <a:latin typeface="微软雅黑" pitchFamily="34" charset="-122"/>
              <a:ea typeface="微软雅黑" pitchFamily="34" charset="-122"/>
            </a:endParaRPr>
          </a:p>
        </p:txBody>
      </p:sp>
    </p:spTree>
    <p:extLst>
      <p:ext uri="{BB962C8B-B14F-4D97-AF65-F5344CB8AC3E}">
        <p14:creationId xmlns:p14="http://schemas.microsoft.com/office/powerpoint/2010/main" val="16293411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12539"/>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657609" y="587075"/>
            <a:ext cx="38375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8.2.3 </a:t>
            </a:r>
            <a:r>
              <a:rPr lang="zh-CN" altLang="en-US" sz="2400" b="1" dirty="0">
                <a:solidFill>
                  <a:schemeClr val="bg1"/>
                </a:solidFill>
                <a:latin typeface="微软雅黑" pitchFamily="34" charset="-122"/>
                <a:ea typeface="微软雅黑" pitchFamily="34" charset="-122"/>
              </a:rPr>
              <a:t>实时流式协议 </a:t>
            </a:r>
            <a:r>
              <a:rPr lang="en-US" altLang="zh-CN" sz="2400" b="1" dirty="0">
                <a:solidFill>
                  <a:schemeClr val="bg1"/>
                </a:solidFill>
                <a:latin typeface="微软雅黑" pitchFamily="34" charset="-122"/>
                <a:ea typeface="微软雅黑" pitchFamily="34" charset="-122"/>
              </a:rPr>
              <a:t>RTSP </a:t>
            </a:r>
          </a:p>
        </p:txBody>
      </p:sp>
      <p:sp>
        <p:nvSpPr>
          <p:cNvPr id="4" name="Rectangle 46"/>
          <p:cNvSpPr>
            <a:spLocks noChangeArrowheads="1"/>
          </p:cNvSpPr>
          <p:nvPr/>
        </p:nvSpPr>
        <p:spPr bwMode="auto">
          <a:xfrm>
            <a:off x="511895" y="1032146"/>
            <a:ext cx="8129017"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实时流式协议 </a:t>
            </a:r>
            <a:r>
              <a:rPr lang="en-US" altLang="zh-CN" sz="2000" b="1" dirty="0">
                <a:solidFill>
                  <a:srgbClr val="C00000"/>
                </a:solidFill>
                <a:latin typeface="微软雅黑" pitchFamily="34" charset="-122"/>
                <a:ea typeface="微软雅黑" pitchFamily="34" charset="-122"/>
              </a:rPr>
              <a:t>RTSP </a:t>
            </a:r>
            <a:r>
              <a:rPr lang="en-US" altLang="zh-CN" sz="2000" b="1" dirty="0">
                <a:latin typeface="微软雅黑" pitchFamily="34" charset="-122"/>
                <a:ea typeface="微软雅黑" pitchFamily="34" charset="-122"/>
              </a:rPr>
              <a:t>(Real-Time Streaming Protocol)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应用层的</a:t>
            </a:r>
            <a:r>
              <a:rPr lang="zh-CN" altLang="en-US" sz="2000" b="1" dirty="0">
                <a:solidFill>
                  <a:srgbClr val="C00000"/>
                </a:solidFill>
                <a:latin typeface="微软雅黑" pitchFamily="34" charset="-122"/>
                <a:ea typeface="微软雅黑" pitchFamily="34" charset="-122"/>
              </a:rPr>
              <a:t>多媒体</a:t>
            </a:r>
            <a:r>
              <a:rPr lang="zh-CN" altLang="en-US" sz="2000" b="1" dirty="0">
                <a:solidFill>
                  <a:srgbClr val="0000FF"/>
                </a:solidFill>
                <a:latin typeface="微软雅黑" pitchFamily="34" charset="-122"/>
                <a:ea typeface="微软雅黑" pitchFamily="34" charset="-122"/>
              </a:rPr>
              <a:t>播放控制协议</a:t>
            </a:r>
            <a:r>
              <a:rPr lang="zh-CN" altLang="en-US" sz="2000" b="1" dirty="0">
                <a:solidFill>
                  <a:srgbClr val="C00000"/>
                </a:solidFill>
                <a:latin typeface="微软雅黑" pitchFamily="34" charset="-122"/>
                <a:ea typeface="微软雅黑" pitchFamily="34" charset="-122"/>
              </a:rPr>
              <a:t>，不传送数据。</a:t>
            </a:r>
            <a:endParaRPr lang="en-US" altLang="zh-CN" sz="2000" b="1" dirty="0">
              <a:solidFill>
                <a:srgbClr val="C00000"/>
              </a:solidFill>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以客户服务器方式工作。</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使用户在播放从互联网下载的实时数据时能够进行控制，如：暂停</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继续、后退、前进等。</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互联网录像机遥控协议</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4785649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1034257"/>
            <a:ext cx="8229084"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是</a:t>
            </a:r>
            <a:r>
              <a:rPr lang="zh-CN" altLang="en-US" sz="2000" b="1" dirty="0">
                <a:solidFill>
                  <a:srgbClr val="C00000"/>
                </a:solidFill>
                <a:latin typeface="微软雅黑" pitchFamily="34" charset="-122"/>
                <a:ea typeface="微软雅黑" pitchFamily="34" charset="-122"/>
              </a:rPr>
              <a:t>有状态</a:t>
            </a:r>
            <a:r>
              <a:rPr lang="zh-CN" altLang="en-US" sz="2000" b="1" dirty="0">
                <a:latin typeface="微软雅黑" pitchFamily="34" charset="-122"/>
                <a:ea typeface="微软雅黑" pitchFamily="34" charset="-122"/>
              </a:rPr>
              <a:t>的协议，它记录客户机所处于的状态（初始化状态、播放状态或暂停状态）。</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控制分组既可在 </a:t>
            </a:r>
            <a:r>
              <a:rPr lang="en-US" altLang="zh-CN" sz="2000" b="1" dirty="0">
                <a:solidFill>
                  <a:srgbClr val="C00000"/>
                </a:solidFill>
                <a:latin typeface="微软雅黑" pitchFamily="34" charset="-122"/>
                <a:ea typeface="微软雅黑" pitchFamily="34" charset="-122"/>
              </a:rPr>
              <a:t>TCP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上传送，也可在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上传送。</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RTSP </a:t>
            </a:r>
            <a:r>
              <a:rPr lang="zh-CN" altLang="en-US" sz="2000" b="1" dirty="0">
                <a:solidFill>
                  <a:srgbClr val="C00000"/>
                </a:solidFill>
                <a:latin typeface="微软雅黑" pitchFamily="34" charset="-122"/>
                <a:ea typeface="微软雅黑" pitchFamily="34" charset="-122"/>
              </a:rPr>
              <a:t>没有定义</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视频的压缩方案，也</a:t>
            </a:r>
            <a:r>
              <a:rPr lang="zh-CN" altLang="en-US" sz="2000" b="1" dirty="0">
                <a:solidFill>
                  <a:srgbClr val="C00000"/>
                </a:solidFill>
                <a:latin typeface="微软雅黑" pitchFamily="34" charset="-122"/>
                <a:ea typeface="微软雅黑" pitchFamily="34" charset="-122"/>
              </a:rPr>
              <a:t>没有规定</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视频在网络中传送时应如何封装在分组中，</a:t>
            </a:r>
            <a:r>
              <a:rPr lang="zh-CN" altLang="en-US" sz="2000" b="1" dirty="0">
                <a:solidFill>
                  <a:srgbClr val="C00000"/>
                </a:solidFill>
                <a:latin typeface="微软雅黑" pitchFamily="34" charset="-122"/>
                <a:ea typeface="微软雅黑" pitchFamily="34" charset="-122"/>
              </a:rPr>
              <a:t>没有规定</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视频流在媒体播放器中应如何缓存。</a:t>
            </a:r>
          </a:p>
        </p:txBody>
      </p:sp>
      <p:sp>
        <p:nvSpPr>
          <p:cNvPr id="5" name="AutoShape 12"/>
          <p:cNvSpPr>
            <a:spLocks noChangeArrowheads="1"/>
          </p:cNvSpPr>
          <p:nvPr/>
        </p:nvSpPr>
        <p:spPr bwMode="auto">
          <a:xfrm>
            <a:off x="511896" y="612539"/>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657609" y="587075"/>
            <a:ext cx="38375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8.2.3 </a:t>
            </a:r>
            <a:r>
              <a:rPr lang="zh-CN" altLang="en-US" sz="2400" b="1" dirty="0">
                <a:solidFill>
                  <a:schemeClr val="bg1"/>
                </a:solidFill>
                <a:latin typeface="微软雅黑" pitchFamily="34" charset="-122"/>
                <a:ea typeface="微软雅黑" pitchFamily="34" charset="-122"/>
              </a:rPr>
              <a:t>实时流式协议 </a:t>
            </a:r>
            <a:r>
              <a:rPr lang="en-US" altLang="zh-CN" sz="2400" b="1" dirty="0">
                <a:solidFill>
                  <a:schemeClr val="bg1"/>
                </a:solidFill>
                <a:latin typeface="微软雅黑" pitchFamily="34" charset="-122"/>
                <a:ea typeface="微软雅黑" pitchFamily="34" charset="-122"/>
              </a:rPr>
              <a:t>RTSP </a:t>
            </a:r>
          </a:p>
        </p:txBody>
      </p:sp>
    </p:spTree>
    <p:extLst>
      <p:ext uri="{BB962C8B-B14F-4D97-AF65-F5344CB8AC3E}">
        <p14:creationId xmlns:p14="http://schemas.microsoft.com/office/powerpoint/2010/main" val="28109587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12573" y="620973"/>
            <a:ext cx="8128800" cy="374071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Rectangle 5"/>
          <p:cNvSpPr>
            <a:spLocks noChangeArrowheads="1"/>
          </p:cNvSpPr>
          <p:nvPr/>
        </p:nvSpPr>
        <p:spPr bwMode="auto">
          <a:xfrm>
            <a:off x="2450593" y="932378"/>
            <a:ext cx="952499" cy="3396372"/>
          </a:xfrm>
          <a:prstGeom prst="rect">
            <a:avLst/>
          </a:prstGeom>
          <a:solidFill>
            <a:srgbClr val="00FFFF"/>
          </a:solidFill>
          <a:ln w="9525" algn="ctr">
            <a:solidFill>
              <a:schemeClr val="tx1"/>
            </a:solidFill>
            <a:miter lim="800000"/>
            <a:headEnd/>
            <a:tailEnd/>
          </a:ln>
          <a:effectLst/>
        </p:spPr>
        <p:txBody>
          <a:bodyPr wrap="none" anchor="ctr"/>
          <a:lstStyle/>
          <a:p>
            <a:pPr algn="ctr"/>
            <a:endParaRPr lang="zh-CN" altLang="zh-CN" sz="1200" b="1">
              <a:latin typeface="微软雅黑" pitchFamily="34" charset="-122"/>
              <a:ea typeface="微软雅黑" pitchFamily="34" charset="-122"/>
            </a:endParaRPr>
          </a:p>
        </p:txBody>
      </p:sp>
      <p:sp>
        <p:nvSpPr>
          <p:cNvPr id="4" name="Rectangle 6"/>
          <p:cNvSpPr>
            <a:spLocks noChangeArrowheads="1"/>
          </p:cNvSpPr>
          <p:nvPr/>
        </p:nvSpPr>
        <p:spPr bwMode="auto">
          <a:xfrm>
            <a:off x="6027387" y="991695"/>
            <a:ext cx="747282" cy="774947"/>
          </a:xfrm>
          <a:prstGeom prst="rect">
            <a:avLst/>
          </a:prstGeom>
          <a:solidFill>
            <a:srgbClr val="CC00CC"/>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万维网</a:t>
            </a:r>
          </a:p>
          <a:p>
            <a:pPr algn="ctr"/>
            <a:r>
              <a:rPr lang="zh-CN" altLang="en-US" sz="1200" b="1" dirty="0">
                <a:solidFill>
                  <a:schemeClr val="bg1"/>
                </a:solidFill>
                <a:latin typeface="微软雅黑" pitchFamily="34" charset="-122"/>
                <a:ea typeface="微软雅黑" pitchFamily="34" charset="-122"/>
              </a:rPr>
              <a:t>服务器</a:t>
            </a:r>
          </a:p>
        </p:txBody>
      </p:sp>
      <p:sp>
        <p:nvSpPr>
          <p:cNvPr id="5" name="Rectangle 59"/>
          <p:cNvSpPr>
            <a:spLocks noChangeArrowheads="1"/>
          </p:cNvSpPr>
          <p:nvPr/>
        </p:nvSpPr>
        <p:spPr bwMode="auto">
          <a:xfrm>
            <a:off x="2587404" y="2183773"/>
            <a:ext cx="679912" cy="2025386"/>
          </a:xfrm>
          <a:prstGeom prst="rect">
            <a:avLst/>
          </a:prstGeom>
          <a:solidFill>
            <a:srgbClr val="993300"/>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媒体</a:t>
            </a:r>
          </a:p>
          <a:p>
            <a:pPr algn="ctr"/>
            <a:r>
              <a:rPr lang="zh-CN" altLang="en-US" sz="1200" b="1" dirty="0">
                <a:solidFill>
                  <a:schemeClr val="bg1"/>
                </a:solidFill>
                <a:latin typeface="微软雅黑" pitchFamily="34" charset="-122"/>
                <a:ea typeface="微软雅黑" pitchFamily="34" charset="-122"/>
              </a:rPr>
              <a:t>播放器</a:t>
            </a:r>
          </a:p>
        </p:txBody>
      </p:sp>
      <p:grpSp>
        <p:nvGrpSpPr>
          <p:cNvPr id="6" name="Group 98"/>
          <p:cNvGrpSpPr>
            <a:grpSpLocks/>
          </p:cNvGrpSpPr>
          <p:nvPr/>
        </p:nvGrpSpPr>
        <p:grpSpPr bwMode="auto">
          <a:xfrm>
            <a:off x="2858956" y="1527460"/>
            <a:ext cx="850928" cy="656313"/>
            <a:chOff x="1051" y="1273"/>
            <a:chExt cx="821" cy="686"/>
          </a:xfrm>
        </p:grpSpPr>
        <p:sp>
          <p:nvSpPr>
            <p:cNvPr id="7" name="Line 60"/>
            <p:cNvSpPr>
              <a:spLocks noChangeShapeType="1"/>
            </p:cNvSpPr>
            <p:nvPr/>
          </p:nvSpPr>
          <p:spPr bwMode="auto">
            <a:xfrm flipH="1">
              <a:off x="1117" y="1273"/>
              <a:ext cx="0" cy="68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Text Box 67"/>
            <p:cNvSpPr txBox="1">
              <a:spLocks noChangeArrowheads="1"/>
            </p:cNvSpPr>
            <p:nvPr/>
          </p:nvSpPr>
          <p:spPr bwMode="auto">
            <a:xfrm>
              <a:off x="1051" y="1439"/>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9" name="Text Box 68"/>
            <p:cNvSpPr txBox="1">
              <a:spLocks noChangeArrowheads="1"/>
            </p:cNvSpPr>
            <p:nvPr/>
          </p:nvSpPr>
          <p:spPr bwMode="auto">
            <a:xfrm>
              <a:off x="1248" y="1471"/>
              <a:ext cx="62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元文件</a:t>
              </a:r>
            </a:p>
          </p:txBody>
        </p:sp>
      </p:grpSp>
      <p:sp>
        <p:nvSpPr>
          <p:cNvPr id="10" name="Rectangle 69"/>
          <p:cNvSpPr>
            <a:spLocks noChangeArrowheads="1"/>
          </p:cNvSpPr>
          <p:nvPr/>
        </p:nvSpPr>
        <p:spPr bwMode="auto">
          <a:xfrm>
            <a:off x="2587404" y="1110328"/>
            <a:ext cx="679912" cy="536722"/>
          </a:xfrm>
          <a:prstGeom prst="rect">
            <a:avLst/>
          </a:prstGeom>
          <a:solidFill>
            <a:srgbClr val="0000FF"/>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浏览器</a:t>
            </a:r>
          </a:p>
        </p:txBody>
      </p:sp>
      <p:sp>
        <p:nvSpPr>
          <p:cNvPr id="11" name="Rectangle 75"/>
          <p:cNvSpPr>
            <a:spLocks noChangeArrowheads="1"/>
          </p:cNvSpPr>
          <p:nvPr/>
        </p:nvSpPr>
        <p:spPr bwMode="auto">
          <a:xfrm>
            <a:off x="6029460" y="2123499"/>
            <a:ext cx="746245" cy="2204293"/>
          </a:xfrm>
          <a:prstGeom prst="rect">
            <a:avLst/>
          </a:prstGeom>
          <a:solidFill>
            <a:srgbClr val="009900"/>
          </a:solidFill>
          <a:ln w="9525" algn="ctr">
            <a:solidFill>
              <a:schemeClr val="tx1"/>
            </a:solidFill>
            <a:miter lim="800000"/>
            <a:headEnd/>
            <a:tailEnd/>
          </a:ln>
          <a:effectLst/>
        </p:spPr>
        <p:txBody>
          <a:bodyPr wrap="none" anchor="ctr"/>
          <a:lstStyle/>
          <a:p>
            <a:pPr algn="ctr"/>
            <a:r>
              <a:rPr lang="zh-CN" altLang="en-US" sz="1200" b="1" dirty="0">
                <a:solidFill>
                  <a:schemeClr val="bg1"/>
                </a:solidFill>
                <a:latin typeface="微软雅黑" pitchFamily="34" charset="-122"/>
                <a:ea typeface="微软雅黑" pitchFamily="34" charset="-122"/>
              </a:rPr>
              <a:t>媒体</a:t>
            </a:r>
          </a:p>
          <a:p>
            <a:pPr algn="ctr"/>
            <a:r>
              <a:rPr lang="zh-CN" altLang="en-US" sz="1200" b="1" dirty="0">
                <a:solidFill>
                  <a:schemeClr val="bg1"/>
                </a:solidFill>
                <a:latin typeface="微软雅黑" pitchFamily="34" charset="-122"/>
                <a:ea typeface="微软雅黑" pitchFamily="34" charset="-122"/>
              </a:rPr>
              <a:t>服务器</a:t>
            </a:r>
          </a:p>
        </p:txBody>
      </p:sp>
      <p:grpSp>
        <p:nvGrpSpPr>
          <p:cNvPr id="12" name="Group 93"/>
          <p:cNvGrpSpPr>
            <a:grpSpLocks/>
          </p:cNvGrpSpPr>
          <p:nvPr/>
        </p:nvGrpSpPr>
        <p:grpSpPr bwMode="auto">
          <a:xfrm>
            <a:off x="3266280" y="943857"/>
            <a:ext cx="2763180" cy="338680"/>
            <a:chOff x="1444" y="663"/>
            <a:chExt cx="2666" cy="354"/>
          </a:xfrm>
        </p:grpSpPr>
        <p:sp>
          <p:nvSpPr>
            <p:cNvPr id="13" name="Text Box 63"/>
            <p:cNvSpPr txBox="1">
              <a:spLocks noChangeArrowheads="1"/>
            </p:cNvSpPr>
            <p:nvPr/>
          </p:nvSpPr>
          <p:spPr bwMode="auto">
            <a:xfrm>
              <a:off x="1565" y="663"/>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14" name="Text Box 65"/>
            <p:cNvSpPr txBox="1">
              <a:spLocks noChangeArrowheads="1"/>
            </p:cNvSpPr>
            <p:nvPr/>
          </p:nvSpPr>
          <p:spPr bwMode="auto">
            <a:xfrm>
              <a:off x="1792" y="701"/>
              <a:ext cx="104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GET : </a:t>
              </a:r>
              <a:r>
                <a:rPr lang="zh-CN" altLang="en-US" sz="1200" b="1" dirty="0">
                  <a:latin typeface="微软雅黑" pitchFamily="34" charset="-122"/>
                  <a:ea typeface="微软雅黑" pitchFamily="34" charset="-122"/>
                </a:rPr>
                <a:t>元文件</a:t>
              </a:r>
            </a:p>
          </p:txBody>
        </p:sp>
        <p:sp>
          <p:nvSpPr>
            <p:cNvPr id="15" name="Line 61"/>
            <p:cNvSpPr>
              <a:spLocks noChangeShapeType="1"/>
            </p:cNvSpPr>
            <p:nvPr/>
          </p:nvSpPr>
          <p:spPr bwMode="auto">
            <a:xfrm rot="-5400000">
              <a:off x="2777" y="-371"/>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16" name="Group 92"/>
          <p:cNvGrpSpPr>
            <a:grpSpLocks/>
          </p:cNvGrpSpPr>
          <p:nvPr/>
        </p:nvGrpSpPr>
        <p:grpSpPr bwMode="auto">
          <a:xfrm>
            <a:off x="3266280" y="1208873"/>
            <a:ext cx="2809820" cy="338681"/>
            <a:chOff x="1444" y="940"/>
            <a:chExt cx="2711" cy="354"/>
          </a:xfrm>
        </p:grpSpPr>
        <p:sp>
          <p:nvSpPr>
            <p:cNvPr id="17" name="Text Box 64"/>
            <p:cNvSpPr txBox="1">
              <a:spLocks noChangeArrowheads="1"/>
            </p:cNvSpPr>
            <p:nvPr/>
          </p:nvSpPr>
          <p:spPr bwMode="auto">
            <a:xfrm>
              <a:off x="3742" y="940"/>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18" name="Text Box 66"/>
            <p:cNvSpPr txBox="1">
              <a:spLocks noChangeArrowheads="1"/>
            </p:cNvSpPr>
            <p:nvPr/>
          </p:nvSpPr>
          <p:spPr bwMode="auto">
            <a:xfrm>
              <a:off x="2897" y="973"/>
              <a:ext cx="97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19" name="Line 62"/>
            <p:cNvSpPr>
              <a:spLocks noChangeShapeType="1"/>
            </p:cNvSpPr>
            <p:nvPr/>
          </p:nvSpPr>
          <p:spPr bwMode="auto">
            <a:xfrm rot="5400000" flipH="1">
              <a:off x="2777" y="-60"/>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20" name="Group 97"/>
          <p:cNvGrpSpPr>
            <a:grpSpLocks/>
          </p:cNvGrpSpPr>
          <p:nvPr/>
        </p:nvGrpSpPr>
        <p:grpSpPr bwMode="auto">
          <a:xfrm>
            <a:off x="3266280" y="1989559"/>
            <a:ext cx="2763180" cy="338681"/>
            <a:chOff x="1444" y="1756"/>
            <a:chExt cx="2666" cy="354"/>
          </a:xfrm>
        </p:grpSpPr>
        <p:sp>
          <p:nvSpPr>
            <p:cNvPr id="21" name="Text Box 4"/>
            <p:cNvSpPr txBox="1">
              <a:spLocks noChangeArrowheads="1"/>
            </p:cNvSpPr>
            <p:nvPr/>
          </p:nvSpPr>
          <p:spPr bwMode="auto">
            <a:xfrm>
              <a:off x="1780" y="1797"/>
              <a:ext cx="66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SETUP</a:t>
              </a:r>
            </a:p>
          </p:txBody>
        </p:sp>
        <p:sp>
          <p:nvSpPr>
            <p:cNvPr id="22" name="Text Box 71"/>
            <p:cNvSpPr txBox="1">
              <a:spLocks noChangeArrowheads="1"/>
            </p:cNvSpPr>
            <p:nvPr/>
          </p:nvSpPr>
          <p:spPr bwMode="auto">
            <a:xfrm>
              <a:off x="1565" y="1756"/>
              <a:ext cx="354"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endParaRPr lang="en-US" altLang="zh-CN" sz="1600" b="1" dirty="0">
                <a:latin typeface="微软雅黑" pitchFamily="34" charset="-122"/>
                <a:ea typeface="微软雅黑" pitchFamily="34" charset="-122"/>
              </a:endParaRPr>
            </a:p>
          </p:txBody>
        </p:sp>
        <p:sp>
          <p:nvSpPr>
            <p:cNvPr id="23" name="Line 70"/>
            <p:cNvSpPr>
              <a:spLocks noChangeShapeType="1"/>
            </p:cNvSpPr>
            <p:nvPr/>
          </p:nvSpPr>
          <p:spPr bwMode="auto">
            <a:xfrm rot="-5400000">
              <a:off x="2777" y="751"/>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24" name="Group 96"/>
          <p:cNvGrpSpPr>
            <a:grpSpLocks/>
          </p:cNvGrpSpPr>
          <p:nvPr/>
        </p:nvGrpSpPr>
        <p:grpSpPr bwMode="auto">
          <a:xfrm>
            <a:off x="3266280" y="2267010"/>
            <a:ext cx="2801528" cy="338681"/>
            <a:chOff x="1444" y="2046"/>
            <a:chExt cx="2703" cy="354"/>
          </a:xfrm>
        </p:grpSpPr>
        <p:sp>
          <p:nvSpPr>
            <p:cNvPr id="25" name="Text Box 73"/>
            <p:cNvSpPr txBox="1">
              <a:spLocks noChangeArrowheads="1"/>
            </p:cNvSpPr>
            <p:nvPr/>
          </p:nvSpPr>
          <p:spPr bwMode="auto">
            <a:xfrm>
              <a:off x="3734" y="2046"/>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 </a:t>
              </a:r>
              <a:endParaRPr lang="en-US" altLang="zh-CN" sz="1600" b="1" dirty="0">
                <a:latin typeface="微软雅黑" pitchFamily="34" charset="-122"/>
                <a:ea typeface="微软雅黑" pitchFamily="34" charset="-122"/>
              </a:endParaRPr>
            </a:p>
          </p:txBody>
        </p:sp>
        <p:sp>
          <p:nvSpPr>
            <p:cNvPr id="26" name="Text Box 74"/>
            <p:cNvSpPr txBox="1">
              <a:spLocks noChangeArrowheads="1"/>
            </p:cNvSpPr>
            <p:nvPr/>
          </p:nvSpPr>
          <p:spPr bwMode="auto">
            <a:xfrm>
              <a:off x="2823" y="2085"/>
              <a:ext cx="97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27" name="Line 72"/>
            <p:cNvSpPr>
              <a:spLocks noChangeShapeType="1"/>
            </p:cNvSpPr>
            <p:nvPr/>
          </p:nvSpPr>
          <p:spPr bwMode="auto">
            <a:xfrm rot="5400000" flipH="1">
              <a:off x="2777" y="1020"/>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28" name="Group 94"/>
          <p:cNvGrpSpPr>
            <a:grpSpLocks/>
          </p:cNvGrpSpPr>
          <p:nvPr/>
        </p:nvGrpSpPr>
        <p:grpSpPr bwMode="auto">
          <a:xfrm>
            <a:off x="3266280" y="2554029"/>
            <a:ext cx="2763180" cy="338681"/>
            <a:chOff x="1444" y="2346"/>
            <a:chExt cx="2666" cy="354"/>
          </a:xfrm>
        </p:grpSpPr>
        <p:sp>
          <p:nvSpPr>
            <p:cNvPr id="29" name="Text Box 76"/>
            <p:cNvSpPr txBox="1">
              <a:spLocks noChangeArrowheads="1"/>
            </p:cNvSpPr>
            <p:nvPr/>
          </p:nvSpPr>
          <p:spPr bwMode="auto">
            <a:xfrm>
              <a:off x="1797" y="2387"/>
              <a:ext cx="55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PLAY</a:t>
              </a:r>
            </a:p>
          </p:txBody>
        </p:sp>
        <p:sp>
          <p:nvSpPr>
            <p:cNvPr id="30" name="Text Box 78"/>
            <p:cNvSpPr txBox="1">
              <a:spLocks noChangeArrowheads="1"/>
            </p:cNvSpPr>
            <p:nvPr/>
          </p:nvSpPr>
          <p:spPr bwMode="auto">
            <a:xfrm>
              <a:off x="1565" y="2346"/>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 </a:t>
              </a:r>
            </a:p>
          </p:txBody>
        </p:sp>
        <p:sp>
          <p:nvSpPr>
            <p:cNvPr id="31" name="Line 77"/>
            <p:cNvSpPr>
              <a:spLocks noChangeShapeType="1"/>
            </p:cNvSpPr>
            <p:nvPr/>
          </p:nvSpPr>
          <p:spPr bwMode="auto">
            <a:xfrm rot="-5400000">
              <a:off x="2777" y="1324"/>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32" name="Group 95"/>
          <p:cNvGrpSpPr>
            <a:grpSpLocks/>
          </p:cNvGrpSpPr>
          <p:nvPr/>
        </p:nvGrpSpPr>
        <p:grpSpPr bwMode="auto">
          <a:xfrm>
            <a:off x="3266280" y="2822872"/>
            <a:ext cx="2809820" cy="338681"/>
            <a:chOff x="1444" y="2627"/>
            <a:chExt cx="2711" cy="354"/>
          </a:xfrm>
        </p:grpSpPr>
        <p:sp>
          <p:nvSpPr>
            <p:cNvPr id="33" name="Text Box 80"/>
            <p:cNvSpPr txBox="1">
              <a:spLocks noChangeArrowheads="1"/>
            </p:cNvSpPr>
            <p:nvPr/>
          </p:nvSpPr>
          <p:spPr bwMode="auto">
            <a:xfrm>
              <a:off x="2826" y="2667"/>
              <a:ext cx="97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34" name="Text Box 81"/>
            <p:cNvSpPr txBox="1">
              <a:spLocks noChangeArrowheads="1"/>
            </p:cNvSpPr>
            <p:nvPr/>
          </p:nvSpPr>
          <p:spPr bwMode="auto">
            <a:xfrm>
              <a:off x="3742" y="2627"/>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sp>
          <p:nvSpPr>
            <p:cNvPr id="35" name="Line 79"/>
            <p:cNvSpPr>
              <a:spLocks noChangeShapeType="1"/>
            </p:cNvSpPr>
            <p:nvPr/>
          </p:nvSpPr>
          <p:spPr bwMode="auto">
            <a:xfrm rot="5400000" flipH="1">
              <a:off x="2777" y="1593"/>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36" name="Group 91"/>
          <p:cNvGrpSpPr>
            <a:grpSpLocks/>
          </p:cNvGrpSpPr>
          <p:nvPr/>
        </p:nvGrpSpPr>
        <p:grpSpPr bwMode="auto">
          <a:xfrm>
            <a:off x="3266280" y="3852301"/>
            <a:ext cx="2809820" cy="338680"/>
            <a:chOff x="1444" y="3703"/>
            <a:chExt cx="2711" cy="354"/>
          </a:xfrm>
        </p:grpSpPr>
        <p:sp>
          <p:nvSpPr>
            <p:cNvPr id="37" name="Line 84"/>
            <p:cNvSpPr>
              <a:spLocks noChangeShapeType="1"/>
            </p:cNvSpPr>
            <p:nvPr/>
          </p:nvSpPr>
          <p:spPr bwMode="auto">
            <a:xfrm rot="5400000" flipH="1">
              <a:off x="2777" y="2687"/>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85"/>
            <p:cNvSpPr txBox="1">
              <a:spLocks noChangeArrowheads="1"/>
            </p:cNvSpPr>
            <p:nvPr/>
          </p:nvSpPr>
          <p:spPr bwMode="auto">
            <a:xfrm>
              <a:off x="2840" y="3740"/>
              <a:ext cx="97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RESPONSE</a:t>
              </a:r>
            </a:p>
          </p:txBody>
        </p:sp>
        <p:sp>
          <p:nvSpPr>
            <p:cNvPr id="39" name="Text Box 88"/>
            <p:cNvSpPr txBox="1">
              <a:spLocks noChangeArrowheads="1"/>
            </p:cNvSpPr>
            <p:nvPr/>
          </p:nvSpPr>
          <p:spPr bwMode="auto">
            <a:xfrm>
              <a:off x="3742" y="3703"/>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grpSp>
      <p:grpSp>
        <p:nvGrpSpPr>
          <p:cNvPr id="40" name="Group 99"/>
          <p:cNvGrpSpPr>
            <a:grpSpLocks/>
          </p:cNvGrpSpPr>
          <p:nvPr/>
        </p:nvGrpSpPr>
        <p:grpSpPr bwMode="auto">
          <a:xfrm>
            <a:off x="3250734" y="3551893"/>
            <a:ext cx="2763180" cy="338681"/>
            <a:chOff x="1429" y="3389"/>
            <a:chExt cx="2666" cy="354"/>
          </a:xfrm>
        </p:grpSpPr>
        <p:sp>
          <p:nvSpPr>
            <p:cNvPr id="41" name="Line 83"/>
            <p:cNvSpPr>
              <a:spLocks noChangeShapeType="1"/>
            </p:cNvSpPr>
            <p:nvPr/>
          </p:nvSpPr>
          <p:spPr bwMode="auto">
            <a:xfrm rot="-5400000">
              <a:off x="2762" y="2369"/>
              <a:ext cx="0" cy="2666"/>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Text Box 86"/>
            <p:cNvSpPr txBox="1">
              <a:spLocks noChangeArrowheads="1"/>
            </p:cNvSpPr>
            <p:nvPr/>
          </p:nvSpPr>
          <p:spPr bwMode="auto">
            <a:xfrm>
              <a:off x="1781" y="3423"/>
              <a:ext cx="109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TEARDOWN</a:t>
              </a:r>
            </a:p>
          </p:txBody>
        </p:sp>
        <p:sp>
          <p:nvSpPr>
            <p:cNvPr id="43" name="Text Box 87"/>
            <p:cNvSpPr txBox="1">
              <a:spLocks noChangeArrowheads="1"/>
            </p:cNvSpPr>
            <p:nvPr/>
          </p:nvSpPr>
          <p:spPr bwMode="auto">
            <a:xfrm>
              <a:off x="1565" y="3389"/>
              <a:ext cx="413"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sym typeface="Wingdings 2" pitchFamily="18" charset="2"/>
                </a:rPr>
                <a:t></a:t>
              </a:r>
              <a:r>
                <a:rPr lang="en-US" altLang="zh-CN" sz="1600" b="1" dirty="0">
                  <a:latin typeface="微软雅黑" pitchFamily="34" charset="-122"/>
                  <a:ea typeface="微软雅黑" pitchFamily="34" charset="-122"/>
                </a:rPr>
                <a:t> </a:t>
              </a:r>
            </a:p>
          </p:txBody>
        </p:sp>
      </p:grpSp>
      <p:grpSp>
        <p:nvGrpSpPr>
          <p:cNvPr id="44" name="组合 43"/>
          <p:cNvGrpSpPr/>
          <p:nvPr/>
        </p:nvGrpSpPr>
        <p:grpSpPr>
          <a:xfrm>
            <a:off x="3412760" y="3196944"/>
            <a:ext cx="2621187" cy="356859"/>
            <a:chOff x="3412760" y="3196944"/>
            <a:chExt cx="2621187" cy="356859"/>
          </a:xfrm>
        </p:grpSpPr>
        <p:sp>
          <p:nvSpPr>
            <p:cNvPr id="45" name="Rectangle 82"/>
            <p:cNvSpPr>
              <a:spLocks noChangeArrowheads="1"/>
            </p:cNvSpPr>
            <p:nvPr/>
          </p:nvSpPr>
          <p:spPr bwMode="auto">
            <a:xfrm>
              <a:off x="3412760" y="3196944"/>
              <a:ext cx="2621187" cy="356859"/>
            </a:xfrm>
            <a:prstGeom prst="rect">
              <a:avLst/>
            </a:prstGeom>
            <a:solidFill>
              <a:schemeClr val="accent6">
                <a:lumMod val="60000"/>
                <a:lumOff val="4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1200" b="1" dirty="0">
                <a:solidFill>
                  <a:srgbClr val="000099"/>
                </a:solidFill>
                <a:effectLst>
                  <a:outerShdw blurRad="38100" dist="38100" dir="2700000" algn="tl">
                    <a:srgbClr val="000000"/>
                  </a:outerShdw>
                </a:effectLst>
                <a:latin typeface="微软雅黑" pitchFamily="34" charset="-122"/>
                <a:ea typeface="微软雅黑" pitchFamily="34" charset="-122"/>
              </a:endParaRPr>
            </a:p>
          </p:txBody>
        </p:sp>
        <p:sp>
          <p:nvSpPr>
            <p:cNvPr id="46" name="矩形 45"/>
            <p:cNvSpPr/>
            <p:nvPr/>
          </p:nvSpPr>
          <p:spPr>
            <a:xfrm>
              <a:off x="4039856" y="3201158"/>
              <a:ext cx="1308370" cy="338554"/>
            </a:xfrm>
            <a:prstGeom prst="rect">
              <a:avLst/>
            </a:prstGeom>
          </p:spPr>
          <p:txBody>
            <a:bodyPr wrap="none">
              <a:spAutoFit/>
            </a:bodyPr>
            <a:lstStyle/>
            <a:p>
              <a:pPr algn="ctr"/>
              <a:r>
                <a:rPr lang="zh-CN" altLang="en-US" sz="1600" b="1" dirty="0">
                  <a:solidFill>
                    <a:srgbClr val="000099"/>
                  </a:solidFill>
                  <a:latin typeface="微软雅黑" pitchFamily="34" charset="-122"/>
                  <a:ea typeface="微软雅黑" pitchFamily="34" charset="-122"/>
                </a:rPr>
                <a:t>音频</a:t>
              </a:r>
              <a:r>
                <a:rPr lang="en-US" altLang="zh-CN" sz="1600" b="1" dirty="0">
                  <a:solidFill>
                    <a:srgbClr val="000099"/>
                  </a:solidFill>
                  <a:latin typeface="微软雅黑" pitchFamily="34" charset="-122"/>
                  <a:ea typeface="微软雅黑" pitchFamily="34" charset="-122"/>
                </a:rPr>
                <a:t>/</a:t>
              </a:r>
              <a:r>
                <a:rPr lang="zh-CN" altLang="en-US" sz="1600" b="1" dirty="0">
                  <a:solidFill>
                    <a:srgbClr val="000099"/>
                  </a:solidFill>
                  <a:latin typeface="微软雅黑" pitchFamily="34" charset="-122"/>
                  <a:ea typeface="微软雅黑" pitchFamily="34" charset="-122"/>
                </a:rPr>
                <a:t>视频流</a:t>
              </a:r>
            </a:p>
          </p:txBody>
        </p:sp>
      </p:grpSp>
      <p:pic>
        <p:nvPicPr>
          <p:cNvPr id="47"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5390" y="702459"/>
            <a:ext cx="349924" cy="349925"/>
          </a:xfrm>
          <a:prstGeom prst="rect">
            <a:avLst/>
          </a:prstGeom>
          <a:noFill/>
          <a:extLst>
            <a:ext uri="{909E8E84-426E-40DD-AFC4-6F175D3DCCD1}">
              <a14:hiddenFill xmlns:a14="http://schemas.microsoft.com/office/drawing/2010/main">
                <a:solidFill>
                  <a:srgbClr val="FFFFFF"/>
                </a:solidFill>
              </a14:hiddenFill>
            </a:ext>
          </a:extLst>
        </p:spPr>
      </p:pic>
      <p:pic>
        <p:nvPicPr>
          <p:cNvPr id="48" name="图片 4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5792" y="775063"/>
            <a:ext cx="333054" cy="379281"/>
          </a:xfrm>
          <a:prstGeom prst="rect">
            <a:avLst/>
          </a:prstGeom>
        </p:spPr>
      </p:pic>
      <p:sp>
        <p:nvSpPr>
          <p:cNvPr id="2" name="矩形 1"/>
          <p:cNvSpPr/>
          <p:nvPr/>
        </p:nvSpPr>
        <p:spPr>
          <a:xfrm>
            <a:off x="2450593" y="4406228"/>
            <a:ext cx="4453511" cy="369332"/>
          </a:xfrm>
          <a:prstGeom prst="rect">
            <a:avLst/>
          </a:prstGeom>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使用 </a:t>
            </a:r>
            <a:r>
              <a:rPr lang="en-US" altLang="zh-CN" b="1" dirty="0">
                <a:latin typeface="微软雅黑" panose="020B0503020204020204" pitchFamily="34" charset="-122"/>
                <a:ea typeface="微软雅黑" panose="020B0503020204020204" pitchFamily="34" charset="-122"/>
              </a:rPr>
              <a:t>RTSP </a:t>
            </a:r>
            <a:r>
              <a:rPr lang="zh-CN" altLang="en-US" b="1" dirty="0">
                <a:latin typeface="微软雅黑" panose="020B0503020204020204" pitchFamily="34" charset="-122"/>
                <a:ea typeface="微软雅黑" panose="020B0503020204020204" pitchFamily="34" charset="-122"/>
              </a:rPr>
              <a:t>的媒体服务器的工作过程</a:t>
            </a:r>
          </a:p>
        </p:txBody>
      </p:sp>
      <p:pic>
        <p:nvPicPr>
          <p:cNvPr id="51" name="图片 5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5792" y="1933858"/>
            <a:ext cx="333054" cy="379281"/>
          </a:xfrm>
          <a:prstGeom prst="rect">
            <a:avLst/>
          </a:prstGeom>
        </p:spPr>
      </p:pic>
    </p:spTree>
    <p:extLst>
      <p:ext uri="{BB962C8B-B14F-4D97-AF65-F5344CB8AC3E}">
        <p14:creationId xmlns:p14="http://schemas.microsoft.com/office/powerpoint/2010/main" val="23809296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3000"/>
                                        <p:tgtEl>
                                          <p:spTgt spid="12"/>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3000"/>
                                        <p:tgtEl>
                                          <p:spTgt spid="16"/>
                                        </p:tgtEl>
                                      </p:cBhvr>
                                    </p:animEffect>
                                  </p:childTnLst>
                                </p:cTn>
                              </p:par>
                            </p:childTnLst>
                          </p:cTn>
                        </p:par>
                        <p:par>
                          <p:cTn id="12" fill="hold">
                            <p:stCondLst>
                              <p:cond delay="6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3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3000"/>
                                        <p:tgtEl>
                                          <p:spTgt spid="20"/>
                                        </p:tgtEl>
                                      </p:cBhvr>
                                    </p:animEffect>
                                  </p:childTnLst>
                                </p:cTn>
                              </p:par>
                            </p:childTnLst>
                          </p:cTn>
                        </p:par>
                        <p:par>
                          <p:cTn id="21" fill="hold">
                            <p:stCondLst>
                              <p:cond delay="3000"/>
                            </p:stCondLst>
                            <p:childTnLst>
                              <p:par>
                                <p:cTn id="22" presetID="22" presetClass="entr" presetSubtype="2" fill="hold"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right)">
                                      <p:cBhvr>
                                        <p:cTn id="24" dur="30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3000"/>
                                        <p:tgtEl>
                                          <p:spTgt spid="28"/>
                                        </p:tgtEl>
                                      </p:cBhvr>
                                    </p:animEffect>
                                  </p:childTnLst>
                                </p:cTn>
                              </p:par>
                            </p:childTnLst>
                          </p:cTn>
                        </p:par>
                        <p:par>
                          <p:cTn id="30" fill="hold">
                            <p:stCondLst>
                              <p:cond delay="3000"/>
                            </p:stCondLst>
                            <p:childTnLst>
                              <p:par>
                                <p:cTn id="31" presetID="22" presetClass="entr" presetSubtype="2" fill="hold"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right)">
                                      <p:cBhvr>
                                        <p:cTn id="33" dur="3000"/>
                                        <p:tgtEl>
                                          <p:spTgt spid="32"/>
                                        </p:tgtEl>
                                      </p:cBhvr>
                                    </p:animEffect>
                                  </p:childTnLst>
                                </p:cTn>
                              </p:par>
                            </p:childTnLst>
                          </p:cTn>
                        </p:par>
                        <p:par>
                          <p:cTn id="34" fill="hold">
                            <p:stCondLst>
                              <p:cond delay="6000"/>
                            </p:stCondLst>
                            <p:childTnLst>
                              <p:par>
                                <p:cTn id="35" presetID="22" presetClass="entr" presetSubtype="2" fill="hold" nodeType="after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right)">
                                      <p:cBhvr>
                                        <p:cTn id="37" dur="30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left)">
                                      <p:cBhvr>
                                        <p:cTn id="42" dur="3000"/>
                                        <p:tgtEl>
                                          <p:spTgt spid="40"/>
                                        </p:tgtEl>
                                      </p:cBhvr>
                                    </p:animEffect>
                                  </p:childTnLst>
                                </p:cTn>
                              </p:par>
                            </p:childTnLst>
                          </p:cTn>
                        </p:par>
                        <p:par>
                          <p:cTn id="43" fill="hold">
                            <p:stCondLst>
                              <p:cond delay="3000"/>
                            </p:stCondLst>
                            <p:childTnLst>
                              <p:par>
                                <p:cTn id="44" presetID="22" presetClass="entr" presetSubtype="2" fill="hold" nodeType="after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wipe(right)">
                                      <p:cBhvr>
                                        <p:cTn id="46" dur="3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8184" y="973113"/>
            <a:ext cx="812030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浏览器向万维网服务器请求音频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万维网服务器从浏览器发送携带有元文件的响应。</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浏览器把收到的元文件传送给媒体播放器。</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客户与媒体服务器的 </a:t>
            </a: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服务器建立连接。</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服务器发送响应 </a:t>
            </a:r>
            <a:r>
              <a:rPr lang="en-US" altLang="zh-CN" sz="2000" b="1" dirty="0">
                <a:latin typeface="微软雅黑" pitchFamily="34" charset="-122"/>
                <a:ea typeface="微软雅黑" pitchFamily="34" charset="-122"/>
              </a:rPr>
              <a:t>RESPONSE </a:t>
            </a:r>
            <a:r>
              <a:rPr lang="zh-CN" altLang="en-US" sz="2000" b="1" dirty="0">
                <a:latin typeface="微软雅黑" pitchFamily="34" charset="-122"/>
                <a:ea typeface="微软雅黑" pitchFamily="34" charset="-122"/>
              </a:rPr>
              <a:t>报文。</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客户发送 </a:t>
            </a:r>
            <a:r>
              <a:rPr lang="en-US" altLang="zh-CN" sz="2000" b="1" dirty="0">
                <a:latin typeface="微软雅黑" pitchFamily="34" charset="-122"/>
                <a:ea typeface="微软雅黑" pitchFamily="34" charset="-122"/>
              </a:rPr>
              <a:t>PLAY </a:t>
            </a:r>
            <a:r>
              <a:rPr lang="zh-CN" altLang="en-US" sz="2000" b="1" dirty="0">
                <a:latin typeface="微软雅黑" pitchFamily="34" charset="-122"/>
                <a:ea typeface="微软雅黑" pitchFamily="34" charset="-122"/>
              </a:rPr>
              <a:t>报文，</a:t>
            </a:r>
            <a:r>
              <a:rPr lang="zh-CN" altLang="en-US" sz="2000" b="1" dirty="0">
                <a:solidFill>
                  <a:srgbClr val="0000FF"/>
                </a:solidFill>
                <a:latin typeface="微软雅黑" pitchFamily="34" charset="-122"/>
                <a:ea typeface="微软雅黑" pitchFamily="34" charset="-122"/>
              </a:rPr>
              <a:t>开始下载</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视频文件。</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服务器发送响应 </a:t>
            </a:r>
            <a:r>
              <a:rPr lang="en-US" altLang="zh-CN" sz="2000" b="1" dirty="0">
                <a:latin typeface="微软雅黑" pitchFamily="34" charset="-122"/>
                <a:ea typeface="微软雅黑" pitchFamily="34" charset="-122"/>
              </a:rPr>
              <a:t>RESPONSE </a:t>
            </a:r>
            <a:r>
              <a:rPr lang="zh-CN" altLang="en-US" sz="2000" b="1" dirty="0">
                <a:latin typeface="微软雅黑" pitchFamily="34" charset="-122"/>
                <a:ea typeface="微软雅黑" pitchFamily="34" charset="-122"/>
              </a:rPr>
              <a:t>报文。</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客户发送 </a:t>
            </a:r>
            <a:r>
              <a:rPr lang="en-US" altLang="zh-CN" sz="2000" b="1" dirty="0">
                <a:latin typeface="微软雅黑" pitchFamily="34" charset="-122"/>
                <a:ea typeface="微软雅黑" pitchFamily="34" charset="-122"/>
              </a:rPr>
              <a:t>TEARDOWN </a:t>
            </a:r>
            <a:r>
              <a:rPr lang="zh-CN" altLang="en-US" sz="2000" b="1" dirty="0">
                <a:latin typeface="微软雅黑" pitchFamily="34" charset="-122"/>
                <a:ea typeface="微软雅黑" pitchFamily="34" charset="-122"/>
              </a:rPr>
              <a:t>报文断开连接。</a:t>
            </a:r>
          </a:p>
          <a:p>
            <a:pPr marL="342900" indent="-342900" eaLnBrk="0" hangingPunct="0">
              <a:lnSpc>
                <a:spcPts val="3000"/>
              </a:lnSpc>
              <a:buClr>
                <a:srgbClr val="000099"/>
              </a:buClr>
              <a:buFont typeface="+mj-lt"/>
              <a:buAutoNum type="arabicPeriod"/>
            </a:pPr>
            <a:r>
              <a:rPr lang="en-US" altLang="zh-CN" sz="2000" b="1" dirty="0">
                <a:latin typeface="微软雅黑" pitchFamily="34" charset="-122"/>
                <a:ea typeface="微软雅黑" pitchFamily="34" charset="-122"/>
              </a:rPr>
              <a:t>RTSP </a:t>
            </a:r>
            <a:r>
              <a:rPr lang="zh-CN" altLang="en-US" sz="2000" b="1" dirty="0">
                <a:latin typeface="微软雅黑" pitchFamily="34" charset="-122"/>
                <a:ea typeface="微软雅黑" pitchFamily="34" charset="-122"/>
              </a:rPr>
              <a:t>服务器发送响应 </a:t>
            </a:r>
            <a:r>
              <a:rPr lang="en-US" altLang="zh-CN" sz="2000" b="1" dirty="0">
                <a:latin typeface="微软雅黑" pitchFamily="34" charset="-122"/>
                <a:ea typeface="微软雅黑" pitchFamily="34" charset="-122"/>
              </a:rPr>
              <a:t>RESPONSE </a:t>
            </a:r>
            <a:r>
              <a:rPr lang="zh-CN" altLang="en-US" sz="2000" b="1" dirty="0">
                <a:latin typeface="微软雅黑" pitchFamily="34" charset="-122"/>
                <a:ea typeface="微软雅黑" pitchFamily="34" charset="-122"/>
              </a:rPr>
              <a:t>报文。 </a:t>
            </a:r>
          </a:p>
        </p:txBody>
      </p:sp>
      <p:sp>
        <p:nvSpPr>
          <p:cNvPr id="3" name="AutoShape 5"/>
          <p:cNvSpPr>
            <a:spLocks noChangeArrowheads="1"/>
          </p:cNvSpPr>
          <p:nvPr/>
        </p:nvSpPr>
        <p:spPr bwMode="auto">
          <a:xfrm>
            <a:off x="509475" y="60882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372785" y="575616"/>
            <a:ext cx="44061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使用 </a:t>
            </a:r>
            <a:r>
              <a:rPr lang="en-US" altLang="zh-CN" sz="2000" b="1" dirty="0">
                <a:solidFill>
                  <a:schemeClr val="bg1"/>
                </a:solidFill>
                <a:latin typeface="微软雅黑" pitchFamily="34" charset="-122"/>
                <a:ea typeface="微软雅黑" pitchFamily="34" charset="-122"/>
              </a:rPr>
              <a:t>RTSP </a:t>
            </a:r>
            <a:r>
              <a:rPr lang="zh-CN" altLang="en-US" sz="2000" b="1" dirty="0">
                <a:solidFill>
                  <a:schemeClr val="bg1"/>
                </a:solidFill>
                <a:latin typeface="微软雅黑" pitchFamily="34" charset="-122"/>
                <a:ea typeface="微软雅黑" pitchFamily="34" charset="-122"/>
              </a:rPr>
              <a:t>的媒体服务器的工作过程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3940655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7"/>
          <p:cNvSpPr>
            <a:spLocks noChangeArrowheads="1"/>
          </p:cNvSpPr>
          <p:nvPr/>
        </p:nvSpPr>
        <p:spPr bwMode="auto">
          <a:xfrm>
            <a:off x="639730" y="170349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79842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8.3</a:t>
            </a:r>
          </a:p>
          <a:p>
            <a:pPr eaLnBrk="0" hangingPunct="0"/>
            <a:r>
              <a:rPr lang="zh-CN" altLang="en-US" sz="2000" b="1" dirty="0">
                <a:solidFill>
                  <a:schemeClr val="bg1"/>
                </a:solidFill>
                <a:latin typeface="微软雅黑" pitchFamily="34" charset="-122"/>
                <a:ea typeface="微软雅黑" pitchFamily="34" charset="-122"/>
              </a:rPr>
              <a:t>交互式音频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a:t>
            </a:r>
            <a:endParaRPr lang="zh-CN" altLang="fr-FR" sz="2000" b="1" dirty="0">
              <a:solidFill>
                <a:schemeClr val="bg1"/>
              </a:solidFill>
              <a:latin typeface="微软雅黑" pitchFamily="34" charset="-122"/>
              <a:ea typeface="微软雅黑" pitchFamily="34" charset="-122"/>
            </a:endParaRPr>
          </a:p>
        </p:txBody>
      </p:sp>
      <p:sp>
        <p:nvSpPr>
          <p:cNvPr id="11" name="Rectangle 10"/>
          <p:cNvSpPr>
            <a:spLocks noChangeArrowheads="1"/>
          </p:cNvSpPr>
          <p:nvPr/>
        </p:nvSpPr>
        <p:spPr bwMode="auto">
          <a:xfrm>
            <a:off x="2629135" y="380671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2" name="Rectangle 9"/>
          <p:cNvSpPr>
            <a:spLocks noChangeArrowheads="1"/>
          </p:cNvSpPr>
          <p:nvPr/>
        </p:nvSpPr>
        <p:spPr bwMode="auto">
          <a:xfrm>
            <a:off x="2629135" y="320588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0"/>
          <p:cNvSpPr>
            <a:spLocks noChangeArrowheads="1"/>
          </p:cNvSpPr>
          <p:nvPr/>
        </p:nvSpPr>
        <p:spPr bwMode="auto">
          <a:xfrm>
            <a:off x="2629135" y="260200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4" name="Rectangle 9"/>
          <p:cNvSpPr>
            <a:spLocks noChangeArrowheads="1"/>
          </p:cNvSpPr>
          <p:nvPr/>
        </p:nvSpPr>
        <p:spPr bwMode="auto">
          <a:xfrm>
            <a:off x="2629135" y="197717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5" name="Rectangle 9"/>
          <p:cNvSpPr>
            <a:spLocks noChangeArrowheads="1"/>
          </p:cNvSpPr>
          <p:nvPr/>
        </p:nvSpPr>
        <p:spPr bwMode="auto">
          <a:xfrm>
            <a:off x="2629135" y="76687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6" name="Rectangle 10"/>
          <p:cNvSpPr>
            <a:spLocks noChangeArrowheads="1"/>
          </p:cNvSpPr>
          <p:nvPr/>
        </p:nvSpPr>
        <p:spPr bwMode="auto">
          <a:xfrm>
            <a:off x="2629135" y="1373295"/>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7" name="Line 16"/>
          <p:cNvSpPr>
            <a:spLocks noChangeShapeType="1"/>
          </p:cNvSpPr>
          <p:nvPr/>
        </p:nvSpPr>
        <p:spPr bwMode="auto">
          <a:xfrm>
            <a:off x="3637198" y="695432"/>
            <a:ext cx="0" cy="364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Rectangle 8"/>
          <p:cNvSpPr>
            <a:spLocks noChangeArrowheads="1"/>
          </p:cNvSpPr>
          <p:nvPr/>
        </p:nvSpPr>
        <p:spPr bwMode="auto">
          <a:xfrm>
            <a:off x="2700573" y="512870"/>
            <a:ext cx="547211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8.3.1  				   IP </a:t>
            </a:r>
            <a:r>
              <a:rPr lang="zh-CN" altLang="en-US" sz="2000" b="1" dirty="0">
                <a:solidFill>
                  <a:schemeClr val="bg1"/>
                </a:solidFill>
                <a:latin typeface="微软雅黑" pitchFamily="34" charset="-122"/>
                <a:ea typeface="微软雅黑" pitchFamily="34" charset="-122"/>
              </a:rPr>
              <a:t>电话概述</a:t>
            </a:r>
          </a:p>
          <a:p>
            <a:pPr eaLnBrk="0" hangingPunct="0">
              <a:lnSpc>
                <a:spcPct val="200000"/>
              </a:lnSpc>
            </a:pPr>
            <a:r>
              <a:rPr lang="en-US" altLang="zh-CN" sz="2000" b="1" dirty="0">
                <a:solidFill>
                  <a:schemeClr val="bg1"/>
                </a:solidFill>
                <a:latin typeface="微软雅黑" pitchFamily="34" charset="-122"/>
                <a:ea typeface="微软雅黑" pitchFamily="34" charset="-122"/>
              </a:rPr>
              <a:t>8.3.2    	 IP </a:t>
            </a:r>
            <a:r>
              <a:rPr lang="zh-CN" altLang="en-US" sz="2000" b="1" dirty="0">
                <a:solidFill>
                  <a:schemeClr val="bg1"/>
                </a:solidFill>
                <a:latin typeface="微软雅黑" pitchFamily="34" charset="-122"/>
                <a:ea typeface="微软雅黑" pitchFamily="34" charset="-122"/>
              </a:rPr>
              <a:t>电话所需要的几种应用协议</a:t>
            </a:r>
          </a:p>
          <a:p>
            <a:pPr eaLnBrk="0" hangingPunct="0">
              <a:lnSpc>
                <a:spcPct val="200000"/>
              </a:lnSpc>
            </a:pPr>
            <a:r>
              <a:rPr lang="en-US" altLang="zh-CN" sz="2000" b="1" dirty="0">
                <a:solidFill>
                  <a:schemeClr val="bg1"/>
                </a:solidFill>
                <a:latin typeface="微软雅黑" pitchFamily="34" charset="-122"/>
                <a:ea typeface="微软雅黑" pitchFamily="34" charset="-122"/>
              </a:rPr>
              <a:t>8.3.3 			     </a:t>
            </a:r>
            <a:r>
              <a:rPr lang="zh-CN" altLang="en-US" sz="2000" b="1" dirty="0">
                <a:solidFill>
                  <a:schemeClr val="bg1"/>
                </a:solidFill>
                <a:latin typeface="微软雅黑" pitchFamily="34" charset="-122"/>
                <a:ea typeface="微软雅黑" pitchFamily="34" charset="-122"/>
              </a:rPr>
              <a:t>实时运输协议 </a:t>
            </a:r>
            <a:r>
              <a:rPr lang="en-US" altLang="zh-CN" sz="2000" b="1" dirty="0">
                <a:solidFill>
                  <a:schemeClr val="bg1"/>
                </a:solidFill>
                <a:latin typeface="微软雅黑" pitchFamily="34" charset="-122"/>
                <a:ea typeface="微软雅黑" pitchFamily="34" charset="-122"/>
              </a:rPr>
              <a:t>RTP</a:t>
            </a:r>
          </a:p>
          <a:p>
            <a:pPr eaLnBrk="0" hangingPunct="0">
              <a:lnSpc>
                <a:spcPct val="200000"/>
              </a:lnSpc>
            </a:pPr>
            <a:r>
              <a:rPr lang="en-US" altLang="zh-CN" sz="2000" b="1" dirty="0">
                <a:solidFill>
                  <a:schemeClr val="bg1"/>
                </a:solidFill>
                <a:latin typeface="微软雅黑" pitchFamily="34" charset="-122"/>
                <a:ea typeface="微软雅黑" pitchFamily="34" charset="-122"/>
              </a:rPr>
              <a:t>8.3.4 		        </a:t>
            </a:r>
            <a:r>
              <a:rPr lang="zh-CN" altLang="en-US" sz="2000" b="1" dirty="0">
                <a:solidFill>
                  <a:schemeClr val="bg1"/>
                </a:solidFill>
                <a:latin typeface="微软雅黑" pitchFamily="34" charset="-122"/>
                <a:ea typeface="微软雅黑" pitchFamily="34" charset="-122"/>
              </a:rPr>
              <a:t>实时运输控制协议 </a:t>
            </a:r>
            <a:r>
              <a:rPr lang="en-US" altLang="zh-CN" sz="2000" b="1" dirty="0">
                <a:solidFill>
                  <a:schemeClr val="bg1"/>
                </a:solidFill>
                <a:latin typeface="微软雅黑" pitchFamily="34" charset="-122"/>
                <a:ea typeface="微软雅黑" pitchFamily="34" charset="-122"/>
              </a:rPr>
              <a:t>RTCP</a:t>
            </a:r>
          </a:p>
          <a:p>
            <a:pPr eaLnBrk="0" hangingPunct="0">
              <a:lnSpc>
                <a:spcPct val="200000"/>
              </a:lnSpc>
            </a:pPr>
            <a:r>
              <a:rPr lang="en-US" altLang="zh-CN" sz="2000" b="1" dirty="0">
                <a:solidFill>
                  <a:schemeClr val="bg1"/>
                </a:solidFill>
                <a:latin typeface="微软雅黑" pitchFamily="34" charset="-122"/>
                <a:ea typeface="微软雅黑" pitchFamily="34" charset="-122"/>
              </a:rPr>
              <a:t>8.3.5  				          H.323</a:t>
            </a:r>
          </a:p>
          <a:p>
            <a:pPr eaLnBrk="0" hangingPunct="0">
              <a:lnSpc>
                <a:spcPct val="200000"/>
              </a:lnSpc>
            </a:pPr>
            <a:r>
              <a:rPr lang="en-US" altLang="zh-CN" sz="2000" b="1" dirty="0">
                <a:solidFill>
                  <a:schemeClr val="bg1"/>
                </a:solidFill>
                <a:latin typeface="微软雅黑" pitchFamily="34" charset="-122"/>
                <a:ea typeface="微软雅黑" pitchFamily="34" charset="-122"/>
              </a:rPr>
              <a:t>8.3.6 			      </a:t>
            </a:r>
            <a:r>
              <a:rPr lang="zh-CN" altLang="en-US" sz="2000" b="1" dirty="0">
                <a:solidFill>
                  <a:schemeClr val="bg1"/>
                </a:solidFill>
                <a:latin typeface="微软雅黑" pitchFamily="34" charset="-122"/>
                <a:ea typeface="微软雅黑" pitchFamily="34" charset="-122"/>
              </a:rPr>
              <a:t>会话发起协议 </a:t>
            </a:r>
            <a:r>
              <a:rPr lang="en-US" altLang="zh-CN" sz="2000" b="1" dirty="0">
                <a:solidFill>
                  <a:schemeClr val="bg1"/>
                </a:solidFill>
                <a:latin typeface="微软雅黑" pitchFamily="34" charset="-122"/>
                <a:ea typeface="微软雅黑" pitchFamily="34" charset="-122"/>
              </a:rPr>
              <a:t>SIP</a:t>
            </a:r>
          </a:p>
        </p:txBody>
      </p:sp>
    </p:spTree>
    <p:extLst>
      <p:ext uri="{BB962C8B-B14F-4D97-AF65-F5344CB8AC3E}">
        <p14:creationId xmlns:p14="http://schemas.microsoft.com/office/powerpoint/2010/main" val="35921191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9474" y="1042281"/>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电话是在互联网上传送多媒体信息。</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多个英文同义词：</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en-US" altLang="zh-CN" sz="2000" b="1" dirty="0">
                <a:latin typeface="微软雅黑" pitchFamily="34" charset="-122"/>
                <a:ea typeface="微软雅黑" pitchFamily="34" charset="-122"/>
              </a:rPr>
              <a:t>VoIP (Voice over IP) </a:t>
            </a:r>
          </a:p>
          <a:p>
            <a:pPr marL="717550" lvl="1" indent="-342900" eaLnBrk="0" hangingPunct="0">
              <a:lnSpc>
                <a:spcPts val="3300"/>
              </a:lnSpc>
              <a:buClr>
                <a:srgbClr val="9900CC"/>
              </a:buClr>
              <a:buSzPct val="85000"/>
              <a:buFont typeface="Wingdings" panose="05000000000000000000" pitchFamily="2" charset="2"/>
              <a:buChar char="u"/>
            </a:pPr>
            <a:r>
              <a:rPr lang="en-US" altLang="zh-CN" sz="2000" b="1" dirty="0">
                <a:latin typeface="微软雅黑" pitchFamily="34" charset="-122"/>
                <a:ea typeface="微软雅黑" pitchFamily="34" charset="-122"/>
              </a:rPr>
              <a:t>Internet Telephony</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en-US" altLang="zh-CN" sz="2000" b="1" dirty="0">
                <a:latin typeface="微软雅黑" pitchFamily="34" charset="-122"/>
                <a:ea typeface="微软雅黑" pitchFamily="34" charset="-122"/>
              </a:rPr>
              <a:t>VON (Voice On the Net)</a:t>
            </a:r>
            <a:endParaRPr lang="zh-CN" altLang="en-US" sz="2000" b="1" dirty="0">
              <a:latin typeface="微软雅黑" pitchFamily="34" charset="-122"/>
              <a:ea typeface="微软雅黑" pitchFamily="34" charset="-122"/>
            </a:endParaRPr>
          </a:p>
        </p:txBody>
      </p:sp>
      <p:sp>
        <p:nvSpPr>
          <p:cNvPr id="10" name="AutoShape 12"/>
          <p:cNvSpPr>
            <a:spLocks noChangeArrowheads="1"/>
          </p:cNvSpPr>
          <p:nvPr/>
        </p:nvSpPr>
        <p:spPr bwMode="auto">
          <a:xfrm>
            <a:off x="511896" y="615452"/>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1" name="Rectangle 13"/>
          <p:cNvSpPr>
            <a:spLocks noChangeArrowheads="1"/>
          </p:cNvSpPr>
          <p:nvPr/>
        </p:nvSpPr>
        <p:spPr bwMode="auto">
          <a:xfrm>
            <a:off x="3207279" y="589988"/>
            <a:ext cx="27382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8.3.1  IP </a:t>
            </a:r>
            <a:r>
              <a:rPr lang="zh-CN" altLang="en-US" sz="2400" b="1" dirty="0">
                <a:solidFill>
                  <a:schemeClr val="bg1"/>
                </a:solidFill>
                <a:latin typeface="微软雅黑" pitchFamily="34" charset="-122"/>
                <a:ea typeface="微软雅黑" pitchFamily="34" charset="-122"/>
              </a:rPr>
              <a:t>电话概述</a:t>
            </a:r>
          </a:p>
        </p:txBody>
      </p:sp>
    </p:spTree>
    <p:extLst>
      <p:ext uri="{BB962C8B-B14F-4D97-AF65-F5344CB8AC3E}">
        <p14:creationId xmlns:p14="http://schemas.microsoft.com/office/powerpoint/2010/main" val="39565642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9474" y="985582"/>
            <a:ext cx="8129015"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狭义的 </a:t>
            </a:r>
            <a:r>
              <a:rPr lang="en-US" altLang="zh-CN" sz="2000" b="1" dirty="0">
                <a:solidFill>
                  <a:srgbClr val="C00000"/>
                </a:solidFill>
                <a:latin typeface="微软雅黑" pitchFamily="34" charset="-122"/>
                <a:ea typeface="微软雅黑" pitchFamily="34" charset="-122"/>
              </a:rPr>
              <a:t>IP </a:t>
            </a:r>
            <a:r>
              <a:rPr lang="zh-CN" altLang="en-US" sz="2000" b="1" dirty="0">
                <a:solidFill>
                  <a:srgbClr val="C00000"/>
                </a:solidFill>
                <a:latin typeface="微软雅黑" pitchFamily="34" charset="-122"/>
                <a:ea typeface="微软雅黑" pitchFamily="34" charset="-122"/>
              </a:rPr>
              <a:t>电话：</a:t>
            </a:r>
            <a:r>
              <a:rPr lang="zh-CN" altLang="en-US" sz="2000" b="1" dirty="0">
                <a:latin typeface="微软雅黑" pitchFamily="34" charset="-122"/>
                <a:ea typeface="微软雅黑" pitchFamily="34" charset="-122"/>
              </a:rPr>
              <a:t>指在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网络上打电话。</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广义的 </a:t>
            </a:r>
            <a:r>
              <a:rPr lang="en-US" altLang="zh-CN" sz="2000" b="1" dirty="0">
                <a:solidFill>
                  <a:srgbClr val="C00000"/>
                </a:solidFill>
                <a:latin typeface="微软雅黑" pitchFamily="34" charset="-122"/>
                <a:ea typeface="微软雅黑" pitchFamily="34" charset="-122"/>
              </a:rPr>
              <a:t>IP </a:t>
            </a:r>
            <a:r>
              <a:rPr lang="zh-CN" altLang="en-US" sz="2000" b="1" dirty="0">
                <a:solidFill>
                  <a:srgbClr val="C00000"/>
                </a:solidFill>
                <a:latin typeface="微软雅黑" pitchFamily="34" charset="-122"/>
                <a:ea typeface="微软雅黑" pitchFamily="34" charset="-122"/>
              </a:rPr>
              <a:t>电话：</a:t>
            </a:r>
            <a:r>
              <a:rPr lang="zh-CN" altLang="en-US" sz="2000" b="1" dirty="0">
                <a:latin typeface="微软雅黑" pitchFamily="34" charset="-122"/>
                <a:ea typeface="微软雅黑" pitchFamily="34" charset="-122"/>
              </a:rPr>
              <a:t>不仅仅是电话通信，而且还可以是在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网络上进行交互式多媒体实时通信（包括话音、视像等），甚至还包括</a:t>
            </a:r>
            <a:r>
              <a:rPr lang="zh-CN" altLang="en-US" sz="2000" b="1" dirty="0">
                <a:solidFill>
                  <a:srgbClr val="0000FF"/>
                </a:solidFill>
                <a:latin typeface="微软雅黑" pitchFamily="34" charset="-122"/>
                <a:ea typeface="微软雅黑" pitchFamily="34" charset="-122"/>
              </a:rPr>
              <a:t>即时传信 </a:t>
            </a:r>
            <a:r>
              <a:rPr lang="en-US" altLang="zh-CN" sz="2000" b="1" dirty="0">
                <a:solidFill>
                  <a:srgbClr val="0000FF"/>
                </a:solidFill>
                <a:latin typeface="微软雅黑" pitchFamily="34" charset="-122"/>
                <a:ea typeface="微软雅黑" pitchFamily="34" charset="-122"/>
              </a:rPr>
              <a:t>IM </a:t>
            </a:r>
            <a:r>
              <a:rPr lang="en-US" altLang="zh-CN" sz="2000" b="1" dirty="0">
                <a:latin typeface="微软雅黑" pitchFamily="34" charset="-122"/>
                <a:ea typeface="微软雅黑" pitchFamily="34" charset="-122"/>
              </a:rPr>
              <a:t>(Instant Messaging)</a:t>
            </a:r>
            <a:r>
              <a:rPr lang="zh-CN" altLang="en-US" sz="2000" b="1" dirty="0">
                <a:latin typeface="微软雅黑" pitchFamily="34" charset="-122"/>
                <a:ea typeface="微软雅黑" pitchFamily="34" charset="-122"/>
              </a:rPr>
              <a:t>。</a:t>
            </a:r>
          </a:p>
        </p:txBody>
      </p:sp>
      <p:sp>
        <p:nvSpPr>
          <p:cNvPr id="6" name="AutoShape 5"/>
          <p:cNvSpPr>
            <a:spLocks noChangeArrowheads="1"/>
          </p:cNvSpPr>
          <p:nvPr/>
        </p:nvSpPr>
        <p:spPr bwMode="auto">
          <a:xfrm>
            <a:off x="509475" y="62129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959551" y="588086"/>
            <a:ext cx="32111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狭义的和广义的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电话</a:t>
            </a:r>
          </a:p>
        </p:txBody>
      </p:sp>
      <p:grpSp>
        <p:nvGrpSpPr>
          <p:cNvPr id="8" name="组合 7"/>
          <p:cNvGrpSpPr/>
          <p:nvPr/>
        </p:nvGrpSpPr>
        <p:grpSpPr>
          <a:xfrm>
            <a:off x="1488261" y="2884785"/>
            <a:ext cx="5739854" cy="1025365"/>
            <a:chOff x="502922" y="2655526"/>
            <a:chExt cx="6903483" cy="1124987"/>
          </a:xfrm>
        </p:grpSpPr>
        <p:sp>
          <p:nvSpPr>
            <p:cNvPr id="9" name="对角圆角矩形 8"/>
            <p:cNvSpPr/>
            <p:nvPr/>
          </p:nvSpPr>
          <p:spPr>
            <a:xfrm>
              <a:off x="502922" y="2655526"/>
              <a:ext cx="6903483" cy="112498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29487" y="2766521"/>
              <a:ext cx="6576918" cy="889222"/>
            </a:xfrm>
            <a:prstGeom prst="rect">
              <a:avLst/>
            </a:prstGeom>
          </p:spPr>
          <p:txBody>
            <a:bodyPr wrap="square">
              <a:spAutoFit/>
            </a:bodyPr>
            <a:lstStyle/>
            <a:p>
              <a:pPr>
                <a:lnSpc>
                  <a:spcPts val="2800"/>
                </a:lnSpc>
              </a:pPr>
              <a:r>
                <a:rPr lang="en-US" altLang="zh-CN" b="1" dirty="0">
                  <a:solidFill>
                    <a:schemeClr val="bg1"/>
                  </a:solidFill>
                  <a:latin typeface="微软雅黑" pitchFamily="34" charset="-122"/>
                  <a:ea typeface="微软雅黑" pitchFamily="34" charset="-122"/>
                </a:rPr>
                <a:t>IP </a:t>
              </a:r>
              <a:r>
                <a:rPr lang="zh-CN" altLang="en-US" b="1" dirty="0">
                  <a:solidFill>
                    <a:schemeClr val="bg1"/>
                  </a:solidFill>
                  <a:latin typeface="微软雅黑" pitchFamily="34" charset="-122"/>
                  <a:ea typeface="微软雅黑" pitchFamily="34" charset="-122"/>
                </a:rPr>
                <a:t>电话可看成是一个正在演进的多媒体服务平台，是话音、视像、数据综合的基础结构。</a:t>
              </a:r>
            </a:p>
          </p:txBody>
        </p:sp>
      </p:grpSp>
    </p:spTree>
    <p:extLst>
      <p:ext uri="{BB962C8B-B14F-4D97-AF65-F5344CB8AC3E}">
        <p14:creationId xmlns:p14="http://schemas.microsoft.com/office/powerpoint/2010/main" val="9852480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3" y="984778"/>
            <a:ext cx="8129017"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公用电话网与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网络的</a:t>
            </a:r>
            <a:r>
              <a:rPr lang="zh-CN" altLang="en-US" sz="2000" b="1" dirty="0">
                <a:solidFill>
                  <a:srgbClr val="C00000"/>
                </a:solidFill>
                <a:latin typeface="微软雅黑" pitchFamily="34" charset="-122"/>
                <a:ea typeface="微软雅黑" pitchFamily="34" charset="-122"/>
              </a:rPr>
              <a:t>接口设备。</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作用：</a:t>
            </a: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在电话呼叫阶段和呼叫释放阶段进行电话信令的转换。</a:t>
            </a: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在通话期间进行话音编码的转换。</a:t>
            </a:r>
            <a:endParaRPr lang="en-US" altLang="zh-CN" sz="2000" b="1" dirty="0">
              <a:latin typeface="微软雅黑" pitchFamily="34" charset="-122"/>
              <a:ea typeface="微软雅黑" pitchFamily="34" charset="-122"/>
            </a:endParaRP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实现 </a:t>
            </a:r>
            <a:r>
              <a:rPr lang="en-US" altLang="zh-CN" sz="2000" b="1" dirty="0">
                <a:latin typeface="微软雅黑" pitchFamily="34" charset="-122"/>
                <a:ea typeface="微软雅黑" pitchFamily="34" charset="-122"/>
              </a:rPr>
              <a:t>PC </a:t>
            </a:r>
            <a:r>
              <a:rPr lang="zh-CN" altLang="en-US" sz="2000" b="1" dirty="0">
                <a:latin typeface="微软雅黑" pitchFamily="34" charset="-122"/>
                <a:ea typeface="微软雅黑" pitchFamily="34" charset="-122"/>
              </a:rPr>
              <a:t>用户到固定电话用户打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电话（仅需经过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电话网关一次），以及固定电话用户之间打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电话（需要经过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电话网关两次）。</a:t>
            </a:r>
          </a:p>
        </p:txBody>
      </p:sp>
      <p:sp>
        <p:nvSpPr>
          <p:cNvPr id="3" name="AutoShape 5"/>
          <p:cNvSpPr>
            <a:spLocks noChangeArrowheads="1"/>
          </p:cNvSpPr>
          <p:nvPr/>
        </p:nvSpPr>
        <p:spPr bwMode="auto">
          <a:xfrm>
            <a:off x="509475" y="62049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51100" y="587281"/>
            <a:ext cx="18517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IP </a:t>
            </a:r>
            <a:r>
              <a:rPr lang="zh-CN" altLang="en-US" sz="2000" b="1" dirty="0">
                <a:solidFill>
                  <a:schemeClr val="bg1"/>
                </a:solidFill>
                <a:latin typeface="微软雅黑" pitchFamily="34" charset="-122"/>
                <a:ea typeface="微软雅黑" pitchFamily="34" charset="-122"/>
              </a:rPr>
              <a:t>电话网关</a:t>
            </a:r>
          </a:p>
        </p:txBody>
      </p:sp>
    </p:spTree>
    <p:extLst>
      <p:ext uri="{BB962C8B-B14F-4D97-AF65-F5344CB8AC3E}">
        <p14:creationId xmlns:p14="http://schemas.microsoft.com/office/powerpoint/2010/main" val="6114774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AutoShape 5"/>
          <p:cNvSpPr>
            <a:spLocks noChangeArrowheads="1"/>
          </p:cNvSpPr>
          <p:nvPr/>
        </p:nvSpPr>
        <p:spPr bwMode="auto">
          <a:xfrm>
            <a:off x="517853" y="619425"/>
            <a:ext cx="8133857"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6" name="矩形 495"/>
          <p:cNvSpPr/>
          <p:nvPr/>
        </p:nvSpPr>
        <p:spPr>
          <a:xfrm>
            <a:off x="637984" y="570113"/>
            <a:ext cx="3414717" cy="400110"/>
          </a:xfrm>
          <a:prstGeom prst="rect">
            <a:avLst/>
          </a:prstGeom>
        </p:spPr>
        <p:txBody>
          <a:bodyPr wrap="none">
            <a:spAutoFit/>
          </a:bodyPr>
          <a:lstStyle/>
          <a:p>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电话网关的几种连接方法 </a:t>
            </a:r>
          </a:p>
        </p:txBody>
      </p:sp>
      <p:sp>
        <p:nvSpPr>
          <p:cNvPr id="2" name="圆角矩形 1"/>
          <p:cNvSpPr/>
          <p:nvPr/>
        </p:nvSpPr>
        <p:spPr>
          <a:xfrm>
            <a:off x="517852" y="968897"/>
            <a:ext cx="8133857" cy="33009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83" name="Group 297"/>
          <p:cNvGrpSpPr>
            <a:grpSpLocks/>
          </p:cNvGrpSpPr>
          <p:nvPr/>
        </p:nvGrpSpPr>
        <p:grpSpPr bwMode="auto">
          <a:xfrm>
            <a:off x="4105207" y="1670269"/>
            <a:ext cx="2329703" cy="2426508"/>
            <a:chOff x="1620" y="1322"/>
            <a:chExt cx="2506" cy="2487"/>
          </a:xfrm>
        </p:grpSpPr>
        <p:sp>
          <p:nvSpPr>
            <p:cNvPr id="484" name="Line 84"/>
            <p:cNvSpPr>
              <a:spLocks noChangeShapeType="1"/>
            </p:cNvSpPr>
            <p:nvPr/>
          </p:nvSpPr>
          <p:spPr bwMode="auto">
            <a:xfrm>
              <a:off x="1620" y="1322"/>
              <a:ext cx="0" cy="2426"/>
            </a:xfrm>
            <a:prstGeom prst="line">
              <a:avLst/>
            </a:prstGeom>
            <a:noFill/>
            <a:ln w="9525">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85" name="Line 85"/>
            <p:cNvSpPr>
              <a:spLocks noChangeShapeType="1"/>
            </p:cNvSpPr>
            <p:nvPr/>
          </p:nvSpPr>
          <p:spPr bwMode="auto">
            <a:xfrm>
              <a:off x="4126" y="1322"/>
              <a:ext cx="0" cy="2426"/>
            </a:xfrm>
            <a:prstGeom prst="line">
              <a:avLst/>
            </a:prstGeom>
            <a:noFill/>
            <a:ln w="9525">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86" name="Line 86"/>
            <p:cNvSpPr>
              <a:spLocks noChangeShapeType="1"/>
            </p:cNvSpPr>
            <p:nvPr/>
          </p:nvSpPr>
          <p:spPr bwMode="auto">
            <a:xfrm>
              <a:off x="1620" y="3657"/>
              <a:ext cx="2506"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87" name="Text Box 87"/>
            <p:cNvSpPr txBox="1">
              <a:spLocks noChangeArrowheads="1"/>
            </p:cNvSpPr>
            <p:nvPr/>
          </p:nvSpPr>
          <p:spPr bwMode="auto">
            <a:xfrm>
              <a:off x="2444" y="3486"/>
              <a:ext cx="861" cy="32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分组交换</a:t>
              </a:r>
            </a:p>
          </p:txBody>
        </p:sp>
      </p:grpSp>
      <p:grpSp>
        <p:nvGrpSpPr>
          <p:cNvPr id="10" name="组合 9"/>
          <p:cNvGrpSpPr/>
          <p:nvPr/>
        </p:nvGrpSpPr>
        <p:grpSpPr>
          <a:xfrm>
            <a:off x="2461354" y="3810204"/>
            <a:ext cx="5651027" cy="287475"/>
            <a:chOff x="1601521" y="3912141"/>
            <a:chExt cx="5651027" cy="287475"/>
          </a:xfrm>
        </p:grpSpPr>
        <p:grpSp>
          <p:nvGrpSpPr>
            <p:cNvPr id="9" name="组合 8"/>
            <p:cNvGrpSpPr/>
            <p:nvPr/>
          </p:nvGrpSpPr>
          <p:grpSpPr>
            <a:xfrm>
              <a:off x="1601521" y="3912141"/>
              <a:ext cx="1643853" cy="277177"/>
              <a:chOff x="1601521" y="3912141"/>
              <a:chExt cx="1643853" cy="277177"/>
            </a:xfrm>
          </p:grpSpPr>
          <p:sp>
            <p:nvSpPr>
              <p:cNvPr id="493" name="Line 88"/>
              <p:cNvSpPr>
                <a:spLocks noChangeShapeType="1"/>
              </p:cNvSpPr>
              <p:nvPr/>
            </p:nvSpPr>
            <p:spPr bwMode="auto">
              <a:xfrm flipV="1">
                <a:off x="1601521" y="4048583"/>
                <a:ext cx="1643853" cy="12443"/>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94" name="Text Box 89"/>
              <p:cNvSpPr txBox="1">
                <a:spLocks noChangeArrowheads="1"/>
              </p:cNvSpPr>
              <p:nvPr/>
            </p:nvSpPr>
            <p:spPr bwMode="auto">
              <a:xfrm>
                <a:off x="2086599" y="3912141"/>
                <a:ext cx="800429" cy="277177"/>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电路交换</a:t>
                </a:r>
              </a:p>
            </p:txBody>
          </p:sp>
        </p:grpSp>
        <p:grpSp>
          <p:nvGrpSpPr>
            <p:cNvPr id="8" name="组合 7"/>
            <p:cNvGrpSpPr/>
            <p:nvPr/>
          </p:nvGrpSpPr>
          <p:grpSpPr>
            <a:xfrm>
              <a:off x="5575076" y="3922439"/>
              <a:ext cx="1677472" cy="277177"/>
              <a:chOff x="5575076" y="3922439"/>
              <a:chExt cx="1677472" cy="277177"/>
            </a:xfrm>
          </p:grpSpPr>
          <p:sp>
            <p:nvSpPr>
              <p:cNvPr id="491" name="Line 68"/>
              <p:cNvSpPr>
                <a:spLocks noChangeShapeType="1"/>
              </p:cNvSpPr>
              <p:nvPr/>
            </p:nvSpPr>
            <p:spPr bwMode="auto">
              <a:xfrm>
                <a:off x="5575076" y="4048585"/>
                <a:ext cx="1677472" cy="2144"/>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92" name="Text Box 90"/>
              <p:cNvSpPr txBox="1">
                <a:spLocks noChangeArrowheads="1"/>
              </p:cNvSpPr>
              <p:nvPr/>
            </p:nvSpPr>
            <p:spPr bwMode="auto">
              <a:xfrm>
                <a:off x="5964285" y="3922439"/>
                <a:ext cx="800429" cy="277177"/>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电路交换</a:t>
                </a:r>
              </a:p>
            </p:txBody>
          </p:sp>
        </p:grpSp>
      </p:grpSp>
      <p:grpSp>
        <p:nvGrpSpPr>
          <p:cNvPr id="7" name="组合 6"/>
          <p:cNvGrpSpPr/>
          <p:nvPr/>
        </p:nvGrpSpPr>
        <p:grpSpPr>
          <a:xfrm>
            <a:off x="2382011" y="2672913"/>
            <a:ext cx="5702560" cy="1102615"/>
            <a:chOff x="1522178" y="2844520"/>
            <a:chExt cx="5702560" cy="1102615"/>
          </a:xfrm>
        </p:grpSpPr>
        <p:sp>
          <p:nvSpPr>
            <p:cNvPr id="167" name="Line 69"/>
            <p:cNvSpPr>
              <a:spLocks noChangeShapeType="1"/>
            </p:cNvSpPr>
            <p:nvPr/>
          </p:nvSpPr>
          <p:spPr bwMode="auto">
            <a:xfrm flipV="1">
              <a:off x="1928060" y="3675105"/>
              <a:ext cx="4963400"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grpSp>
          <p:nvGrpSpPr>
            <p:cNvPr id="368" name="Group 17"/>
            <p:cNvGrpSpPr>
              <a:grpSpLocks/>
            </p:cNvGrpSpPr>
            <p:nvPr/>
          </p:nvGrpSpPr>
          <p:grpSpPr bwMode="auto">
            <a:xfrm>
              <a:off x="5658605" y="3296818"/>
              <a:ext cx="946662" cy="617940"/>
              <a:chOff x="1680" y="240"/>
              <a:chExt cx="2529" cy="1270"/>
            </a:xfrm>
            <a:solidFill>
              <a:schemeClr val="bg1"/>
            </a:solidFill>
          </p:grpSpPr>
          <p:sp>
            <p:nvSpPr>
              <p:cNvPr id="460"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1"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2"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3"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4"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5"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6"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7"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68"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grpSp>
        <p:pic>
          <p:nvPicPr>
            <p:cNvPr id="469" name="图片 46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26152" y="3462062"/>
              <a:ext cx="498586" cy="438755"/>
            </a:xfrm>
            <a:prstGeom prst="rect">
              <a:avLst/>
            </a:prstGeom>
          </p:spPr>
        </p:pic>
        <p:pic>
          <p:nvPicPr>
            <p:cNvPr id="470" name="Picture 2" descr="C:\Users\Administrator\Desktop\TIM图片2018072711202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0628" y="3569595"/>
              <a:ext cx="620497" cy="300321"/>
            </a:xfrm>
            <a:prstGeom prst="rect">
              <a:avLst/>
            </a:prstGeom>
            <a:noFill/>
            <a:extLst>
              <a:ext uri="{909E8E84-426E-40DD-AFC4-6F175D3DCCD1}">
                <a14:hiddenFill xmlns:a14="http://schemas.microsoft.com/office/drawing/2010/main">
                  <a:solidFill>
                    <a:srgbClr val="FFFFFF"/>
                  </a:solidFill>
                </a14:hiddenFill>
              </a:ext>
            </a:extLst>
          </p:spPr>
        </p:pic>
        <p:pic>
          <p:nvPicPr>
            <p:cNvPr id="471" name="Picture 2" descr="C:\Users\Administrator\Desktop\TIM图片2018072711202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2571" y="3546345"/>
              <a:ext cx="620497" cy="300321"/>
            </a:xfrm>
            <a:prstGeom prst="rect">
              <a:avLst/>
            </a:prstGeom>
            <a:noFill/>
            <a:extLst>
              <a:ext uri="{909E8E84-426E-40DD-AFC4-6F175D3DCCD1}">
                <a14:hiddenFill xmlns:a14="http://schemas.microsoft.com/office/drawing/2010/main">
                  <a:solidFill>
                    <a:srgbClr val="FFFFFF"/>
                  </a:solidFill>
                </a14:hiddenFill>
              </a:ext>
            </a:extLst>
          </p:spPr>
        </p:pic>
        <p:grpSp>
          <p:nvGrpSpPr>
            <p:cNvPr id="472" name="Group 17"/>
            <p:cNvGrpSpPr>
              <a:grpSpLocks/>
            </p:cNvGrpSpPr>
            <p:nvPr/>
          </p:nvGrpSpPr>
          <p:grpSpPr bwMode="auto">
            <a:xfrm>
              <a:off x="2247581" y="3298666"/>
              <a:ext cx="946662" cy="617940"/>
              <a:chOff x="1680" y="240"/>
              <a:chExt cx="2529" cy="1270"/>
            </a:xfrm>
            <a:solidFill>
              <a:schemeClr val="bg1"/>
            </a:solidFill>
          </p:grpSpPr>
          <p:sp>
            <p:nvSpPr>
              <p:cNvPr id="473"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4"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5"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6"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7"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8"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79"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80"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81"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grpSp>
        <p:pic>
          <p:nvPicPr>
            <p:cNvPr id="482" name="图片 48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2178" y="3467817"/>
              <a:ext cx="498586" cy="438755"/>
            </a:xfrm>
            <a:prstGeom prst="rect">
              <a:avLst/>
            </a:prstGeom>
          </p:spPr>
        </p:pic>
        <p:grpSp>
          <p:nvGrpSpPr>
            <p:cNvPr id="369" name="Group 107"/>
            <p:cNvGrpSpPr>
              <a:grpSpLocks/>
            </p:cNvGrpSpPr>
            <p:nvPr/>
          </p:nvGrpSpPr>
          <p:grpSpPr bwMode="auto">
            <a:xfrm>
              <a:off x="3823340" y="3403075"/>
              <a:ext cx="1063520" cy="544060"/>
              <a:chOff x="2248" y="820"/>
              <a:chExt cx="2248" cy="883"/>
            </a:xfrm>
          </p:grpSpPr>
          <p:grpSp>
            <p:nvGrpSpPr>
              <p:cNvPr id="370" name="Group 108"/>
              <p:cNvGrpSpPr>
                <a:grpSpLocks/>
              </p:cNvGrpSpPr>
              <p:nvPr/>
            </p:nvGrpSpPr>
            <p:grpSpPr bwMode="auto">
              <a:xfrm>
                <a:off x="3567" y="902"/>
                <a:ext cx="929" cy="759"/>
                <a:chOff x="3567" y="902"/>
                <a:chExt cx="929" cy="759"/>
              </a:xfrm>
            </p:grpSpPr>
            <p:grpSp>
              <p:nvGrpSpPr>
                <p:cNvPr id="400" name="Group 109"/>
                <p:cNvGrpSpPr>
                  <a:grpSpLocks/>
                </p:cNvGrpSpPr>
                <p:nvPr/>
              </p:nvGrpSpPr>
              <p:grpSpPr bwMode="auto">
                <a:xfrm>
                  <a:off x="3926" y="902"/>
                  <a:ext cx="570" cy="611"/>
                  <a:chOff x="3926" y="902"/>
                  <a:chExt cx="570" cy="611"/>
                </a:xfrm>
              </p:grpSpPr>
              <p:grpSp>
                <p:nvGrpSpPr>
                  <p:cNvPr id="405" name="Group 110"/>
                  <p:cNvGrpSpPr>
                    <a:grpSpLocks/>
                  </p:cNvGrpSpPr>
                  <p:nvPr/>
                </p:nvGrpSpPr>
                <p:grpSpPr bwMode="auto">
                  <a:xfrm>
                    <a:off x="4071" y="982"/>
                    <a:ext cx="425" cy="448"/>
                    <a:chOff x="4071" y="982"/>
                    <a:chExt cx="425" cy="448"/>
                  </a:xfrm>
                </p:grpSpPr>
                <p:grpSp>
                  <p:nvGrpSpPr>
                    <p:cNvPr id="415" name="Group 111"/>
                    <p:cNvGrpSpPr>
                      <a:grpSpLocks/>
                    </p:cNvGrpSpPr>
                    <p:nvPr/>
                  </p:nvGrpSpPr>
                  <p:grpSpPr bwMode="auto">
                    <a:xfrm>
                      <a:off x="4071" y="982"/>
                      <a:ext cx="425" cy="448"/>
                      <a:chOff x="4071" y="982"/>
                      <a:chExt cx="425" cy="448"/>
                    </a:xfrm>
                  </p:grpSpPr>
                  <p:grpSp>
                    <p:nvGrpSpPr>
                      <p:cNvPr id="417" name="Group 112"/>
                      <p:cNvGrpSpPr>
                        <a:grpSpLocks/>
                      </p:cNvGrpSpPr>
                      <p:nvPr/>
                    </p:nvGrpSpPr>
                    <p:grpSpPr bwMode="auto">
                      <a:xfrm>
                        <a:off x="4182" y="1010"/>
                        <a:ext cx="314" cy="366"/>
                        <a:chOff x="4182" y="1010"/>
                        <a:chExt cx="314" cy="366"/>
                      </a:xfrm>
                    </p:grpSpPr>
                    <p:grpSp>
                      <p:nvGrpSpPr>
                        <p:cNvPr id="421" name="Group 113"/>
                        <p:cNvGrpSpPr>
                          <a:grpSpLocks/>
                        </p:cNvGrpSpPr>
                        <p:nvPr/>
                      </p:nvGrpSpPr>
                      <p:grpSpPr bwMode="auto">
                        <a:xfrm>
                          <a:off x="4220" y="1010"/>
                          <a:ext cx="276" cy="366"/>
                          <a:chOff x="4220" y="1010"/>
                          <a:chExt cx="276" cy="366"/>
                        </a:xfrm>
                      </p:grpSpPr>
                      <p:sp>
                        <p:nvSpPr>
                          <p:cNvPr id="425"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6"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7"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8"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9"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22"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3"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4"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18"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9"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20"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16"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406" name="Group 126"/>
                  <p:cNvGrpSpPr>
                    <a:grpSpLocks/>
                  </p:cNvGrpSpPr>
                  <p:nvPr/>
                </p:nvGrpSpPr>
                <p:grpSpPr bwMode="auto">
                  <a:xfrm>
                    <a:off x="3926" y="902"/>
                    <a:ext cx="385" cy="556"/>
                    <a:chOff x="3926" y="902"/>
                    <a:chExt cx="385" cy="556"/>
                  </a:xfrm>
                </p:grpSpPr>
                <p:sp>
                  <p:nvSpPr>
                    <p:cNvPr id="409"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0"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1"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2"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13"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14"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07"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08"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401"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02"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03"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404"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71" name="Group 139"/>
              <p:cNvGrpSpPr>
                <a:grpSpLocks/>
              </p:cNvGrpSpPr>
              <p:nvPr/>
            </p:nvGrpSpPr>
            <p:grpSpPr bwMode="auto">
              <a:xfrm>
                <a:off x="2248" y="907"/>
                <a:ext cx="556" cy="525"/>
                <a:chOff x="2248" y="907"/>
                <a:chExt cx="556" cy="525"/>
              </a:xfrm>
            </p:grpSpPr>
            <p:grpSp>
              <p:nvGrpSpPr>
                <p:cNvPr id="385" name="Group 140"/>
                <p:cNvGrpSpPr>
                  <a:grpSpLocks/>
                </p:cNvGrpSpPr>
                <p:nvPr/>
              </p:nvGrpSpPr>
              <p:grpSpPr bwMode="auto">
                <a:xfrm>
                  <a:off x="2248" y="982"/>
                  <a:ext cx="299" cy="314"/>
                  <a:chOff x="2248" y="982"/>
                  <a:chExt cx="299" cy="314"/>
                </a:xfrm>
              </p:grpSpPr>
              <p:sp>
                <p:nvSpPr>
                  <p:cNvPr id="396"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7"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8"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9"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86" name="Group 145"/>
                <p:cNvGrpSpPr>
                  <a:grpSpLocks/>
                </p:cNvGrpSpPr>
                <p:nvPr/>
              </p:nvGrpSpPr>
              <p:grpSpPr bwMode="auto">
                <a:xfrm>
                  <a:off x="2344" y="907"/>
                  <a:ext cx="460" cy="525"/>
                  <a:chOff x="2344" y="907"/>
                  <a:chExt cx="460" cy="525"/>
                </a:xfrm>
              </p:grpSpPr>
              <p:sp>
                <p:nvSpPr>
                  <p:cNvPr id="388"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9"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0"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1"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2"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3"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94"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95"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87"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72" name="Group 155"/>
              <p:cNvGrpSpPr>
                <a:grpSpLocks/>
              </p:cNvGrpSpPr>
              <p:nvPr/>
            </p:nvGrpSpPr>
            <p:grpSpPr bwMode="auto">
              <a:xfrm>
                <a:off x="2529" y="820"/>
                <a:ext cx="1638" cy="883"/>
                <a:chOff x="2529" y="820"/>
                <a:chExt cx="1638" cy="883"/>
              </a:xfrm>
            </p:grpSpPr>
            <p:sp>
              <p:nvSpPr>
                <p:cNvPr id="373"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4"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5"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6"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7"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8"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79"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0"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1"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2"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3"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84"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sp>
          <p:nvSpPr>
            <p:cNvPr id="169" name="Text Box 72"/>
            <p:cNvSpPr txBox="1">
              <a:spLocks noChangeArrowheads="1"/>
            </p:cNvSpPr>
            <p:nvPr/>
          </p:nvSpPr>
          <p:spPr bwMode="auto">
            <a:xfrm>
              <a:off x="2260875" y="3471727"/>
              <a:ext cx="953821"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公用电话网</a:t>
              </a:r>
            </a:p>
          </p:txBody>
        </p:sp>
        <p:sp>
          <p:nvSpPr>
            <p:cNvPr id="170" name="Text Box 73"/>
            <p:cNvSpPr txBox="1">
              <a:spLocks noChangeArrowheads="1"/>
            </p:cNvSpPr>
            <p:nvPr/>
          </p:nvSpPr>
          <p:spPr bwMode="auto">
            <a:xfrm>
              <a:off x="3202613" y="3215762"/>
              <a:ext cx="691215"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电话</a:t>
              </a:r>
            </a:p>
            <a:p>
              <a:pPr algn="ctr">
                <a:lnSpc>
                  <a:spcPct val="85000"/>
                </a:lnSpc>
              </a:pPr>
              <a:r>
                <a:rPr kumimoji="1" lang="zh-CN" altLang="en-US" sz="1200" b="1" dirty="0">
                  <a:solidFill>
                    <a:srgbClr val="0000FF"/>
                  </a:solidFill>
                  <a:latin typeface="微软雅黑" pitchFamily="34" charset="-122"/>
                  <a:ea typeface="微软雅黑" pitchFamily="34" charset="-122"/>
                </a:rPr>
                <a:t> 网关</a:t>
              </a:r>
            </a:p>
          </p:txBody>
        </p:sp>
        <p:sp>
          <p:nvSpPr>
            <p:cNvPr id="174" name="Text Box 77"/>
            <p:cNvSpPr txBox="1">
              <a:spLocks noChangeArrowheads="1"/>
            </p:cNvSpPr>
            <p:nvPr/>
          </p:nvSpPr>
          <p:spPr bwMode="auto">
            <a:xfrm>
              <a:off x="5674549" y="3476017"/>
              <a:ext cx="953821"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公用电话网</a:t>
              </a:r>
            </a:p>
          </p:txBody>
        </p:sp>
        <p:sp>
          <p:nvSpPr>
            <p:cNvPr id="175" name="Text Box 91"/>
            <p:cNvSpPr txBox="1">
              <a:spLocks noChangeArrowheads="1"/>
            </p:cNvSpPr>
            <p:nvPr/>
          </p:nvSpPr>
          <p:spPr bwMode="auto">
            <a:xfrm>
              <a:off x="4879695" y="3219195"/>
              <a:ext cx="691215"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电话</a:t>
              </a:r>
            </a:p>
            <a:p>
              <a:pPr algn="ctr">
                <a:lnSpc>
                  <a:spcPct val="85000"/>
                </a:lnSpc>
              </a:pPr>
              <a:r>
                <a:rPr kumimoji="1" lang="zh-CN" altLang="en-US" sz="1200" b="1" dirty="0">
                  <a:solidFill>
                    <a:srgbClr val="0000FF"/>
                  </a:solidFill>
                  <a:latin typeface="微软雅黑" pitchFamily="34" charset="-122"/>
                  <a:ea typeface="微软雅黑" pitchFamily="34" charset="-122"/>
                </a:rPr>
                <a:t> 网关</a:t>
              </a:r>
            </a:p>
          </p:txBody>
        </p:sp>
        <p:sp>
          <p:nvSpPr>
            <p:cNvPr id="179" name="Text Box 292"/>
            <p:cNvSpPr txBox="1">
              <a:spLocks noChangeArrowheads="1"/>
            </p:cNvSpPr>
            <p:nvPr/>
          </p:nvSpPr>
          <p:spPr bwMode="auto">
            <a:xfrm>
              <a:off x="4015124" y="3532654"/>
              <a:ext cx="646107"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互联网</a:t>
              </a:r>
            </a:p>
          </p:txBody>
        </p:sp>
        <p:sp>
          <p:nvSpPr>
            <p:cNvPr id="180" name="Text Box 300"/>
            <p:cNvSpPr txBox="1">
              <a:spLocks noChangeArrowheads="1"/>
            </p:cNvSpPr>
            <p:nvPr/>
          </p:nvSpPr>
          <p:spPr bwMode="auto">
            <a:xfrm>
              <a:off x="3194243" y="2844520"/>
              <a:ext cx="2441260" cy="338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固定电话机到固定电话机</a:t>
              </a:r>
            </a:p>
          </p:txBody>
        </p:sp>
        <p:sp>
          <p:nvSpPr>
            <p:cNvPr id="181" name="Line 305"/>
            <p:cNvSpPr>
              <a:spLocks noChangeShapeType="1"/>
            </p:cNvSpPr>
            <p:nvPr/>
          </p:nvSpPr>
          <p:spPr bwMode="auto">
            <a:xfrm flipH="1">
              <a:off x="1928059" y="3079558"/>
              <a:ext cx="1266183" cy="366032"/>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82" name="Line 306"/>
            <p:cNvSpPr>
              <a:spLocks noChangeShapeType="1"/>
            </p:cNvSpPr>
            <p:nvPr/>
          </p:nvSpPr>
          <p:spPr bwMode="auto">
            <a:xfrm>
              <a:off x="5597388" y="3079557"/>
              <a:ext cx="1194624" cy="377124"/>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445" name="组合 444"/>
          <p:cNvGrpSpPr/>
          <p:nvPr/>
        </p:nvGrpSpPr>
        <p:grpSpPr>
          <a:xfrm>
            <a:off x="959398" y="1179823"/>
            <a:ext cx="2354471" cy="922983"/>
            <a:chOff x="1936602" y="1085255"/>
            <a:chExt cx="2354471" cy="922983"/>
          </a:xfrm>
        </p:grpSpPr>
        <p:sp>
          <p:nvSpPr>
            <p:cNvPr id="19" name="Line 70"/>
            <p:cNvSpPr>
              <a:spLocks noChangeShapeType="1"/>
            </p:cNvSpPr>
            <p:nvPr/>
          </p:nvSpPr>
          <p:spPr bwMode="auto">
            <a:xfrm>
              <a:off x="2452624" y="1755021"/>
              <a:ext cx="157017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grpSp>
          <p:nvGrpSpPr>
            <p:cNvPr id="245" name="Group 107"/>
            <p:cNvGrpSpPr>
              <a:grpSpLocks/>
            </p:cNvGrpSpPr>
            <p:nvPr/>
          </p:nvGrpSpPr>
          <p:grpSpPr bwMode="auto">
            <a:xfrm>
              <a:off x="2703833" y="1464178"/>
              <a:ext cx="1063520" cy="544060"/>
              <a:chOff x="2248" y="820"/>
              <a:chExt cx="2248" cy="883"/>
            </a:xfrm>
          </p:grpSpPr>
          <p:grpSp>
            <p:nvGrpSpPr>
              <p:cNvPr id="246" name="Group 108"/>
              <p:cNvGrpSpPr>
                <a:grpSpLocks/>
              </p:cNvGrpSpPr>
              <p:nvPr/>
            </p:nvGrpSpPr>
            <p:grpSpPr bwMode="auto">
              <a:xfrm>
                <a:off x="3567" y="902"/>
                <a:ext cx="929" cy="759"/>
                <a:chOff x="3567" y="902"/>
                <a:chExt cx="929" cy="759"/>
              </a:xfrm>
            </p:grpSpPr>
            <p:grpSp>
              <p:nvGrpSpPr>
                <p:cNvPr id="276" name="Group 109"/>
                <p:cNvGrpSpPr>
                  <a:grpSpLocks/>
                </p:cNvGrpSpPr>
                <p:nvPr/>
              </p:nvGrpSpPr>
              <p:grpSpPr bwMode="auto">
                <a:xfrm>
                  <a:off x="3926" y="902"/>
                  <a:ext cx="570" cy="611"/>
                  <a:chOff x="3926" y="902"/>
                  <a:chExt cx="570" cy="611"/>
                </a:xfrm>
              </p:grpSpPr>
              <p:grpSp>
                <p:nvGrpSpPr>
                  <p:cNvPr id="281" name="Group 110"/>
                  <p:cNvGrpSpPr>
                    <a:grpSpLocks/>
                  </p:cNvGrpSpPr>
                  <p:nvPr/>
                </p:nvGrpSpPr>
                <p:grpSpPr bwMode="auto">
                  <a:xfrm>
                    <a:off x="4071" y="982"/>
                    <a:ext cx="425" cy="448"/>
                    <a:chOff x="4071" y="982"/>
                    <a:chExt cx="425" cy="448"/>
                  </a:xfrm>
                </p:grpSpPr>
                <p:grpSp>
                  <p:nvGrpSpPr>
                    <p:cNvPr id="291" name="Group 111"/>
                    <p:cNvGrpSpPr>
                      <a:grpSpLocks/>
                    </p:cNvGrpSpPr>
                    <p:nvPr/>
                  </p:nvGrpSpPr>
                  <p:grpSpPr bwMode="auto">
                    <a:xfrm>
                      <a:off x="4071" y="982"/>
                      <a:ext cx="425" cy="448"/>
                      <a:chOff x="4071" y="982"/>
                      <a:chExt cx="425" cy="448"/>
                    </a:xfrm>
                  </p:grpSpPr>
                  <p:grpSp>
                    <p:nvGrpSpPr>
                      <p:cNvPr id="293" name="Group 112"/>
                      <p:cNvGrpSpPr>
                        <a:grpSpLocks/>
                      </p:cNvGrpSpPr>
                      <p:nvPr/>
                    </p:nvGrpSpPr>
                    <p:grpSpPr bwMode="auto">
                      <a:xfrm>
                        <a:off x="4182" y="1010"/>
                        <a:ext cx="314" cy="366"/>
                        <a:chOff x="4182" y="1010"/>
                        <a:chExt cx="314" cy="366"/>
                      </a:xfrm>
                    </p:grpSpPr>
                    <p:grpSp>
                      <p:nvGrpSpPr>
                        <p:cNvPr id="297" name="Group 113"/>
                        <p:cNvGrpSpPr>
                          <a:grpSpLocks/>
                        </p:cNvGrpSpPr>
                        <p:nvPr/>
                      </p:nvGrpSpPr>
                      <p:grpSpPr bwMode="auto">
                        <a:xfrm>
                          <a:off x="4220" y="1010"/>
                          <a:ext cx="276" cy="366"/>
                          <a:chOff x="4220" y="1010"/>
                          <a:chExt cx="276" cy="366"/>
                        </a:xfrm>
                      </p:grpSpPr>
                      <p:sp>
                        <p:nvSpPr>
                          <p:cNvPr id="301"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2"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3"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4"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5"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98"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99"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0"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94"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95"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96"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92"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282" name="Group 126"/>
                  <p:cNvGrpSpPr>
                    <a:grpSpLocks/>
                  </p:cNvGrpSpPr>
                  <p:nvPr/>
                </p:nvGrpSpPr>
                <p:grpSpPr bwMode="auto">
                  <a:xfrm>
                    <a:off x="3926" y="902"/>
                    <a:ext cx="385" cy="556"/>
                    <a:chOff x="3926" y="902"/>
                    <a:chExt cx="385" cy="556"/>
                  </a:xfrm>
                </p:grpSpPr>
                <p:sp>
                  <p:nvSpPr>
                    <p:cNvPr id="285"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6"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7"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8"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9"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90"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83"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4"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77"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8"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9"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0"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247" name="Group 139"/>
              <p:cNvGrpSpPr>
                <a:grpSpLocks/>
              </p:cNvGrpSpPr>
              <p:nvPr/>
            </p:nvGrpSpPr>
            <p:grpSpPr bwMode="auto">
              <a:xfrm>
                <a:off x="2248" y="907"/>
                <a:ext cx="556" cy="525"/>
                <a:chOff x="2248" y="907"/>
                <a:chExt cx="556" cy="525"/>
              </a:xfrm>
            </p:grpSpPr>
            <p:grpSp>
              <p:nvGrpSpPr>
                <p:cNvPr id="261" name="Group 140"/>
                <p:cNvGrpSpPr>
                  <a:grpSpLocks/>
                </p:cNvGrpSpPr>
                <p:nvPr/>
              </p:nvGrpSpPr>
              <p:grpSpPr bwMode="auto">
                <a:xfrm>
                  <a:off x="2248" y="982"/>
                  <a:ext cx="299" cy="314"/>
                  <a:chOff x="2248" y="982"/>
                  <a:chExt cx="299" cy="314"/>
                </a:xfrm>
              </p:grpSpPr>
              <p:sp>
                <p:nvSpPr>
                  <p:cNvPr id="272"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3"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4"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5"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262" name="Group 145"/>
                <p:cNvGrpSpPr>
                  <a:grpSpLocks/>
                </p:cNvGrpSpPr>
                <p:nvPr/>
              </p:nvGrpSpPr>
              <p:grpSpPr bwMode="auto">
                <a:xfrm>
                  <a:off x="2344" y="907"/>
                  <a:ext cx="460" cy="525"/>
                  <a:chOff x="2344" y="907"/>
                  <a:chExt cx="460" cy="525"/>
                </a:xfrm>
              </p:grpSpPr>
              <p:sp>
                <p:nvSpPr>
                  <p:cNvPr id="264"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5"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6"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7"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8"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9"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0"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71"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63"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248" name="Group 155"/>
              <p:cNvGrpSpPr>
                <a:grpSpLocks/>
              </p:cNvGrpSpPr>
              <p:nvPr/>
            </p:nvGrpSpPr>
            <p:grpSpPr bwMode="auto">
              <a:xfrm>
                <a:off x="2529" y="820"/>
                <a:ext cx="1638" cy="883"/>
                <a:chOff x="2529" y="820"/>
                <a:chExt cx="1638" cy="883"/>
              </a:xfrm>
            </p:grpSpPr>
            <p:sp>
              <p:nvSpPr>
                <p:cNvPr id="249"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0"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1"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2"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3"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4"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5"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6"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7"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8"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9"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0"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sp>
          <p:nvSpPr>
            <p:cNvPr id="22" name="Freeform 98"/>
            <p:cNvSpPr>
              <a:spLocks/>
            </p:cNvSpPr>
            <p:nvPr/>
          </p:nvSpPr>
          <p:spPr bwMode="auto">
            <a:xfrm>
              <a:off x="2130035" y="163488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n>
                  <a:solidFill>
                    <a:srgbClr val="0000FF"/>
                  </a:solidFill>
                </a:ln>
                <a:solidFill>
                  <a:srgbClr val="0000FF"/>
                </a:solidFill>
                <a:latin typeface="微软雅黑" pitchFamily="34" charset="-122"/>
                <a:ea typeface="微软雅黑" pitchFamily="34" charset="-122"/>
              </a:endParaRPr>
            </a:p>
          </p:txBody>
        </p:sp>
        <p:sp>
          <p:nvSpPr>
            <p:cNvPr id="25" name="Freeform 106"/>
            <p:cNvSpPr>
              <a:spLocks/>
            </p:cNvSpPr>
            <p:nvPr/>
          </p:nvSpPr>
          <p:spPr bwMode="auto">
            <a:xfrm>
              <a:off x="3901948" y="1645179"/>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n>
                  <a:solidFill>
                    <a:srgbClr val="0000FF"/>
                  </a:solidFill>
                </a:ln>
                <a:solidFill>
                  <a:srgbClr val="0000FF"/>
                </a:solidFill>
                <a:latin typeface="微软雅黑" pitchFamily="34" charset="-122"/>
                <a:ea typeface="微软雅黑" pitchFamily="34" charset="-122"/>
              </a:endParaRPr>
            </a:p>
          </p:txBody>
        </p:sp>
        <p:sp>
          <p:nvSpPr>
            <p:cNvPr id="27" name="Text Box 168"/>
            <p:cNvSpPr txBox="1">
              <a:spLocks noChangeArrowheads="1"/>
            </p:cNvSpPr>
            <p:nvPr/>
          </p:nvSpPr>
          <p:spPr bwMode="auto">
            <a:xfrm>
              <a:off x="2887700" y="1559365"/>
              <a:ext cx="646107"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互联网</a:t>
              </a:r>
            </a:p>
          </p:txBody>
        </p:sp>
        <p:sp>
          <p:nvSpPr>
            <p:cNvPr id="28" name="Text Box 298"/>
            <p:cNvSpPr txBox="1">
              <a:spLocks noChangeArrowheads="1"/>
            </p:cNvSpPr>
            <p:nvPr/>
          </p:nvSpPr>
          <p:spPr bwMode="auto">
            <a:xfrm>
              <a:off x="2715270" y="1085255"/>
              <a:ext cx="10567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PC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PC</a:t>
              </a:r>
            </a:p>
          </p:txBody>
        </p:sp>
        <p:sp>
          <p:nvSpPr>
            <p:cNvPr id="29" name="Line 301"/>
            <p:cNvSpPr>
              <a:spLocks noChangeShapeType="1"/>
            </p:cNvSpPr>
            <p:nvPr/>
          </p:nvSpPr>
          <p:spPr bwMode="auto">
            <a:xfrm flipH="1">
              <a:off x="2375642" y="1328526"/>
              <a:ext cx="413514" cy="178166"/>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0" name="Line 302"/>
            <p:cNvSpPr>
              <a:spLocks noChangeShapeType="1"/>
            </p:cNvSpPr>
            <p:nvPr/>
          </p:nvSpPr>
          <p:spPr bwMode="auto">
            <a:xfrm>
              <a:off x="3675572" y="1328526"/>
              <a:ext cx="418852" cy="178166"/>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pic>
          <p:nvPicPr>
            <p:cNvPr id="443"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79007" y="1522035"/>
              <a:ext cx="349924" cy="349925"/>
            </a:xfrm>
            <a:prstGeom prst="rect">
              <a:avLst/>
            </a:prstGeom>
            <a:noFill/>
            <a:extLst>
              <a:ext uri="{909E8E84-426E-40DD-AFC4-6F175D3DCCD1}">
                <a14:hiddenFill xmlns:a14="http://schemas.microsoft.com/office/drawing/2010/main">
                  <a:solidFill>
                    <a:srgbClr val="FFFFFF"/>
                  </a:solidFill>
                </a14:hiddenFill>
              </a:ext>
            </a:extLst>
          </p:spPr>
        </p:pic>
        <p:pic>
          <p:nvPicPr>
            <p:cNvPr id="444"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41149" y="1520886"/>
              <a:ext cx="349924" cy="349925"/>
            </a:xfrm>
            <a:prstGeom prst="rect">
              <a:avLst/>
            </a:prstGeom>
            <a:noFill/>
            <a:extLst>
              <a:ext uri="{909E8E84-426E-40DD-AFC4-6F175D3DCCD1}">
                <a14:hiddenFill xmlns:a14="http://schemas.microsoft.com/office/drawing/2010/main">
                  <a:solidFill>
                    <a:srgbClr val="FFFFFF"/>
                  </a:solidFill>
                </a14:hiddenFill>
              </a:ext>
            </a:extLst>
          </p:spPr>
        </p:pic>
        <p:sp>
          <p:nvSpPr>
            <p:cNvPr id="21" name="Text Box 97"/>
            <p:cNvSpPr txBox="1">
              <a:spLocks noChangeArrowheads="1"/>
            </p:cNvSpPr>
            <p:nvPr/>
          </p:nvSpPr>
          <p:spPr bwMode="auto">
            <a:xfrm rot="20287477">
              <a:off x="1936602" y="135030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dirty="0">
                  <a:solidFill>
                    <a:srgbClr val="0000FF"/>
                  </a:solidFill>
                  <a:latin typeface="微软雅黑" pitchFamily="34" charset="-122"/>
                  <a:ea typeface="微软雅黑" pitchFamily="34" charset="-122"/>
                  <a:sym typeface="Webdings" pitchFamily="18" charset="2"/>
                </a:rPr>
                <a:t></a:t>
              </a:r>
              <a:r>
                <a:rPr kumimoji="1" lang="en-US" altLang="zh-CN" sz="1600" b="1" dirty="0">
                  <a:latin typeface="微软雅黑" pitchFamily="34" charset="-122"/>
                  <a:ea typeface="微软雅黑" pitchFamily="34" charset="-122"/>
                </a:rPr>
                <a:t> </a:t>
              </a:r>
            </a:p>
          </p:txBody>
        </p:sp>
        <p:sp>
          <p:nvSpPr>
            <p:cNvPr id="24" name="Text Box 105"/>
            <p:cNvSpPr txBox="1">
              <a:spLocks noChangeArrowheads="1"/>
            </p:cNvSpPr>
            <p:nvPr/>
          </p:nvSpPr>
          <p:spPr bwMode="auto">
            <a:xfrm rot="20287477">
              <a:off x="3704508" y="1360598"/>
              <a:ext cx="364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dirty="0">
                  <a:solidFill>
                    <a:srgbClr val="0000FF"/>
                  </a:solidFill>
                  <a:latin typeface="微软雅黑" pitchFamily="34" charset="-122"/>
                  <a:ea typeface="微软雅黑" pitchFamily="34" charset="-122"/>
                  <a:sym typeface="Webdings" pitchFamily="18" charset="2"/>
                </a:rPr>
                <a:t></a:t>
              </a:r>
              <a:r>
                <a:rPr kumimoji="1" lang="en-US" altLang="zh-CN" b="1" dirty="0">
                  <a:latin typeface="微软雅黑" pitchFamily="34" charset="-122"/>
                  <a:ea typeface="微软雅黑" pitchFamily="34" charset="-122"/>
                </a:rPr>
                <a:t> </a:t>
              </a:r>
            </a:p>
          </p:txBody>
        </p:sp>
      </p:grpSp>
      <p:grpSp>
        <p:nvGrpSpPr>
          <p:cNvPr id="6" name="组合 5"/>
          <p:cNvGrpSpPr/>
          <p:nvPr/>
        </p:nvGrpSpPr>
        <p:grpSpPr>
          <a:xfrm>
            <a:off x="4047654" y="1153615"/>
            <a:ext cx="4054155" cy="1047784"/>
            <a:chOff x="3198393" y="1684751"/>
            <a:chExt cx="4054155" cy="1047784"/>
          </a:xfrm>
        </p:grpSpPr>
        <p:sp>
          <p:nvSpPr>
            <p:cNvPr id="92" name="Line 78"/>
            <p:cNvSpPr>
              <a:spLocks noChangeShapeType="1"/>
            </p:cNvSpPr>
            <p:nvPr/>
          </p:nvSpPr>
          <p:spPr bwMode="auto">
            <a:xfrm>
              <a:off x="3616327" y="2466512"/>
              <a:ext cx="3289101" cy="5149"/>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grpSp>
          <p:nvGrpSpPr>
            <p:cNvPr id="449" name="Group 17"/>
            <p:cNvGrpSpPr>
              <a:grpSpLocks/>
            </p:cNvGrpSpPr>
            <p:nvPr/>
          </p:nvGrpSpPr>
          <p:grpSpPr bwMode="auto">
            <a:xfrm>
              <a:off x="5671136" y="2108327"/>
              <a:ext cx="946662" cy="617940"/>
              <a:chOff x="1680" y="240"/>
              <a:chExt cx="2529" cy="1270"/>
            </a:xfrm>
            <a:solidFill>
              <a:schemeClr val="bg1"/>
            </a:solidFill>
          </p:grpSpPr>
          <p:sp>
            <p:nvSpPr>
              <p:cNvPr id="450"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1"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2"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3"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4"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5"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6"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7"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8"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grpSp>
        <p:grpSp>
          <p:nvGrpSpPr>
            <p:cNvPr id="306" name="Group 107"/>
            <p:cNvGrpSpPr>
              <a:grpSpLocks/>
            </p:cNvGrpSpPr>
            <p:nvPr/>
          </p:nvGrpSpPr>
          <p:grpSpPr bwMode="auto">
            <a:xfrm>
              <a:off x="3840372" y="2188475"/>
              <a:ext cx="1063520" cy="544060"/>
              <a:chOff x="2248" y="820"/>
              <a:chExt cx="2248" cy="883"/>
            </a:xfrm>
          </p:grpSpPr>
          <p:grpSp>
            <p:nvGrpSpPr>
              <p:cNvPr id="307" name="Group 108"/>
              <p:cNvGrpSpPr>
                <a:grpSpLocks/>
              </p:cNvGrpSpPr>
              <p:nvPr/>
            </p:nvGrpSpPr>
            <p:grpSpPr bwMode="auto">
              <a:xfrm>
                <a:off x="3567" y="902"/>
                <a:ext cx="929" cy="759"/>
                <a:chOff x="3567" y="902"/>
                <a:chExt cx="929" cy="759"/>
              </a:xfrm>
            </p:grpSpPr>
            <p:grpSp>
              <p:nvGrpSpPr>
                <p:cNvPr id="337" name="Group 109"/>
                <p:cNvGrpSpPr>
                  <a:grpSpLocks/>
                </p:cNvGrpSpPr>
                <p:nvPr/>
              </p:nvGrpSpPr>
              <p:grpSpPr bwMode="auto">
                <a:xfrm>
                  <a:off x="3926" y="902"/>
                  <a:ext cx="570" cy="611"/>
                  <a:chOff x="3926" y="902"/>
                  <a:chExt cx="570" cy="611"/>
                </a:xfrm>
              </p:grpSpPr>
              <p:grpSp>
                <p:nvGrpSpPr>
                  <p:cNvPr id="342" name="Group 110"/>
                  <p:cNvGrpSpPr>
                    <a:grpSpLocks/>
                  </p:cNvGrpSpPr>
                  <p:nvPr/>
                </p:nvGrpSpPr>
                <p:grpSpPr bwMode="auto">
                  <a:xfrm>
                    <a:off x="4071" y="982"/>
                    <a:ext cx="425" cy="448"/>
                    <a:chOff x="4071" y="982"/>
                    <a:chExt cx="425" cy="448"/>
                  </a:xfrm>
                </p:grpSpPr>
                <p:grpSp>
                  <p:nvGrpSpPr>
                    <p:cNvPr id="352" name="Group 111"/>
                    <p:cNvGrpSpPr>
                      <a:grpSpLocks/>
                    </p:cNvGrpSpPr>
                    <p:nvPr/>
                  </p:nvGrpSpPr>
                  <p:grpSpPr bwMode="auto">
                    <a:xfrm>
                      <a:off x="4071" y="982"/>
                      <a:ext cx="425" cy="448"/>
                      <a:chOff x="4071" y="982"/>
                      <a:chExt cx="425" cy="448"/>
                    </a:xfrm>
                  </p:grpSpPr>
                  <p:grpSp>
                    <p:nvGrpSpPr>
                      <p:cNvPr id="354" name="Group 112"/>
                      <p:cNvGrpSpPr>
                        <a:grpSpLocks/>
                      </p:cNvGrpSpPr>
                      <p:nvPr/>
                    </p:nvGrpSpPr>
                    <p:grpSpPr bwMode="auto">
                      <a:xfrm>
                        <a:off x="4182" y="1010"/>
                        <a:ext cx="314" cy="366"/>
                        <a:chOff x="4182" y="1010"/>
                        <a:chExt cx="314" cy="366"/>
                      </a:xfrm>
                    </p:grpSpPr>
                    <p:grpSp>
                      <p:nvGrpSpPr>
                        <p:cNvPr id="358" name="Group 113"/>
                        <p:cNvGrpSpPr>
                          <a:grpSpLocks/>
                        </p:cNvGrpSpPr>
                        <p:nvPr/>
                      </p:nvGrpSpPr>
                      <p:grpSpPr bwMode="auto">
                        <a:xfrm>
                          <a:off x="4220" y="1010"/>
                          <a:ext cx="276" cy="366"/>
                          <a:chOff x="4220" y="1010"/>
                          <a:chExt cx="276" cy="366"/>
                        </a:xfrm>
                      </p:grpSpPr>
                      <p:sp>
                        <p:nvSpPr>
                          <p:cNvPr id="362"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3"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4"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5"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6"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59"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0"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61"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55"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56"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57"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53"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43" name="Group 126"/>
                  <p:cNvGrpSpPr>
                    <a:grpSpLocks/>
                  </p:cNvGrpSpPr>
                  <p:nvPr/>
                </p:nvGrpSpPr>
                <p:grpSpPr bwMode="auto">
                  <a:xfrm>
                    <a:off x="3926" y="902"/>
                    <a:ext cx="385" cy="556"/>
                    <a:chOff x="3926" y="902"/>
                    <a:chExt cx="385" cy="556"/>
                  </a:xfrm>
                </p:grpSpPr>
                <p:sp>
                  <p:nvSpPr>
                    <p:cNvPr id="346"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7"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8"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9"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50"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51"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44"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5"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38"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9"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0"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41"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08" name="Group 139"/>
              <p:cNvGrpSpPr>
                <a:grpSpLocks/>
              </p:cNvGrpSpPr>
              <p:nvPr/>
            </p:nvGrpSpPr>
            <p:grpSpPr bwMode="auto">
              <a:xfrm>
                <a:off x="2248" y="907"/>
                <a:ext cx="556" cy="525"/>
                <a:chOff x="2248" y="907"/>
                <a:chExt cx="556" cy="525"/>
              </a:xfrm>
            </p:grpSpPr>
            <p:grpSp>
              <p:nvGrpSpPr>
                <p:cNvPr id="322" name="Group 140"/>
                <p:cNvGrpSpPr>
                  <a:grpSpLocks/>
                </p:cNvGrpSpPr>
                <p:nvPr/>
              </p:nvGrpSpPr>
              <p:grpSpPr bwMode="auto">
                <a:xfrm>
                  <a:off x="2248" y="982"/>
                  <a:ext cx="299" cy="314"/>
                  <a:chOff x="2248" y="982"/>
                  <a:chExt cx="299" cy="314"/>
                </a:xfrm>
              </p:grpSpPr>
              <p:sp>
                <p:nvSpPr>
                  <p:cNvPr id="333"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4"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5"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6"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23" name="Group 145"/>
                <p:cNvGrpSpPr>
                  <a:grpSpLocks/>
                </p:cNvGrpSpPr>
                <p:nvPr/>
              </p:nvGrpSpPr>
              <p:grpSpPr bwMode="auto">
                <a:xfrm>
                  <a:off x="2344" y="907"/>
                  <a:ext cx="460" cy="525"/>
                  <a:chOff x="2344" y="907"/>
                  <a:chExt cx="460" cy="525"/>
                </a:xfrm>
              </p:grpSpPr>
              <p:sp>
                <p:nvSpPr>
                  <p:cNvPr id="325"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6"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7"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8"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9"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0"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1"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32"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24"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09" name="Group 155"/>
              <p:cNvGrpSpPr>
                <a:grpSpLocks/>
              </p:cNvGrpSpPr>
              <p:nvPr/>
            </p:nvGrpSpPr>
            <p:grpSpPr bwMode="auto">
              <a:xfrm>
                <a:off x="2529" y="820"/>
                <a:ext cx="1638" cy="883"/>
                <a:chOff x="2529" y="820"/>
                <a:chExt cx="1638" cy="883"/>
              </a:xfrm>
            </p:grpSpPr>
            <p:sp>
              <p:nvSpPr>
                <p:cNvPr id="310"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1"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2"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3"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4"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5"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6"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7"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8"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9"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0"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1"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sp>
          <p:nvSpPr>
            <p:cNvPr id="95" name="Text Box 81"/>
            <p:cNvSpPr txBox="1">
              <a:spLocks noChangeArrowheads="1"/>
            </p:cNvSpPr>
            <p:nvPr/>
          </p:nvSpPr>
          <p:spPr bwMode="auto">
            <a:xfrm>
              <a:off x="5675502" y="2266566"/>
              <a:ext cx="953821"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公用电话网</a:t>
              </a:r>
            </a:p>
          </p:txBody>
        </p:sp>
        <p:sp>
          <p:nvSpPr>
            <p:cNvPr id="96" name="Text Box 82"/>
            <p:cNvSpPr txBox="1">
              <a:spLocks noChangeArrowheads="1"/>
            </p:cNvSpPr>
            <p:nvPr/>
          </p:nvSpPr>
          <p:spPr bwMode="auto">
            <a:xfrm>
              <a:off x="4896677" y="2012318"/>
              <a:ext cx="691215"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电话</a:t>
              </a:r>
            </a:p>
            <a:p>
              <a:pPr algn="ctr">
                <a:lnSpc>
                  <a:spcPct val="85000"/>
                </a:lnSpc>
              </a:pPr>
              <a:r>
                <a:rPr kumimoji="1" lang="zh-CN" altLang="en-US" sz="1200" b="1" dirty="0">
                  <a:solidFill>
                    <a:srgbClr val="0000FF"/>
                  </a:solidFill>
                  <a:latin typeface="微软雅黑" pitchFamily="34" charset="-122"/>
                  <a:ea typeface="微软雅黑" pitchFamily="34" charset="-122"/>
                </a:rPr>
                <a:t>网关</a:t>
              </a:r>
            </a:p>
          </p:txBody>
        </p:sp>
        <p:sp>
          <p:nvSpPr>
            <p:cNvPr id="102" name="Text Box 291"/>
            <p:cNvSpPr txBox="1">
              <a:spLocks noChangeArrowheads="1"/>
            </p:cNvSpPr>
            <p:nvPr/>
          </p:nvSpPr>
          <p:spPr bwMode="auto">
            <a:xfrm>
              <a:off x="4029092" y="2304324"/>
              <a:ext cx="646107" cy="277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互联网</a:t>
              </a:r>
            </a:p>
          </p:txBody>
        </p:sp>
        <p:sp>
          <p:nvSpPr>
            <p:cNvPr id="103" name="Text Box 299"/>
            <p:cNvSpPr txBox="1">
              <a:spLocks noChangeArrowheads="1"/>
            </p:cNvSpPr>
            <p:nvPr/>
          </p:nvSpPr>
          <p:spPr bwMode="auto">
            <a:xfrm>
              <a:off x="4421767" y="1684751"/>
              <a:ext cx="1739375" cy="338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PC </a:t>
              </a:r>
              <a:r>
                <a:rPr lang="zh-CN" altLang="en-US" sz="1600" b="1" dirty="0">
                  <a:latin typeface="微软雅黑" pitchFamily="34" charset="-122"/>
                  <a:ea typeface="微软雅黑" pitchFamily="34" charset="-122"/>
                </a:rPr>
                <a:t>到固定电话机</a:t>
              </a:r>
            </a:p>
          </p:txBody>
        </p:sp>
        <p:sp>
          <p:nvSpPr>
            <p:cNvPr id="104" name="Line 303"/>
            <p:cNvSpPr>
              <a:spLocks noChangeShapeType="1"/>
            </p:cNvSpPr>
            <p:nvPr/>
          </p:nvSpPr>
          <p:spPr bwMode="auto">
            <a:xfrm flipH="1">
              <a:off x="3675572" y="1929062"/>
              <a:ext cx="820038" cy="276665"/>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05" name="Line 304"/>
            <p:cNvSpPr>
              <a:spLocks noChangeShapeType="1"/>
            </p:cNvSpPr>
            <p:nvPr/>
          </p:nvSpPr>
          <p:spPr bwMode="auto">
            <a:xfrm>
              <a:off x="6078400" y="1907189"/>
              <a:ext cx="713612" cy="355087"/>
            </a:xfrm>
            <a:prstGeom prst="line">
              <a:avLst/>
            </a:prstGeom>
            <a:noFill/>
            <a:ln w="190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47" name="Freeform 98"/>
            <p:cNvSpPr>
              <a:spLocks/>
            </p:cNvSpPr>
            <p:nvPr/>
          </p:nvSpPr>
          <p:spPr bwMode="auto">
            <a:xfrm>
              <a:off x="3391826" y="2338713"/>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n>
                  <a:solidFill>
                    <a:srgbClr val="0000FF"/>
                  </a:solidFill>
                </a:ln>
                <a:solidFill>
                  <a:srgbClr val="0000FF"/>
                </a:solidFill>
                <a:latin typeface="微软雅黑" pitchFamily="34" charset="-122"/>
                <a:ea typeface="微软雅黑" pitchFamily="34" charset="-122"/>
              </a:endParaRPr>
            </a:p>
          </p:txBody>
        </p:sp>
        <p:pic>
          <p:nvPicPr>
            <p:cNvPr id="448"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40798" y="2225866"/>
              <a:ext cx="349924" cy="349925"/>
            </a:xfrm>
            <a:prstGeom prst="rect">
              <a:avLst/>
            </a:prstGeom>
            <a:noFill/>
            <a:extLst>
              <a:ext uri="{909E8E84-426E-40DD-AFC4-6F175D3DCCD1}">
                <a14:hiddenFill xmlns:a14="http://schemas.microsoft.com/office/drawing/2010/main">
                  <a:solidFill>
                    <a:srgbClr val="FFFFFF"/>
                  </a:solidFill>
                </a14:hiddenFill>
              </a:ext>
            </a:extLst>
          </p:spPr>
        </p:pic>
        <p:pic>
          <p:nvPicPr>
            <p:cNvPr id="459" name="图片 4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53962" y="2231900"/>
              <a:ext cx="498586" cy="438755"/>
            </a:xfrm>
            <a:prstGeom prst="rect">
              <a:avLst/>
            </a:prstGeom>
          </p:spPr>
        </p:pic>
        <p:pic>
          <p:nvPicPr>
            <p:cNvPr id="367" name="Picture 2" descr="C:\Users\Administrator\Desktop\TIM图片2018072711202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1001" y="2333613"/>
              <a:ext cx="620497" cy="300321"/>
            </a:xfrm>
            <a:prstGeom prst="rect">
              <a:avLst/>
            </a:prstGeom>
            <a:noFill/>
            <a:extLst>
              <a:ext uri="{909E8E84-426E-40DD-AFC4-6F175D3DCCD1}">
                <a14:hiddenFill xmlns:a14="http://schemas.microsoft.com/office/drawing/2010/main">
                  <a:solidFill>
                    <a:srgbClr val="FFFFFF"/>
                  </a:solidFill>
                </a14:hiddenFill>
              </a:ext>
            </a:extLst>
          </p:spPr>
        </p:pic>
        <p:sp>
          <p:nvSpPr>
            <p:cNvPr id="446" name="Text Box 97"/>
            <p:cNvSpPr txBox="1">
              <a:spLocks noChangeArrowheads="1"/>
            </p:cNvSpPr>
            <p:nvPr/>
          </p:nvSpPr>
          <p:spPr bwMode="auto">
            <a:xfrm rot="20287477">
              <a:off x="3198393" y="2054132"/>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dirty="0">
                  <a:solidFill>
                    <a:srgbClr val="0000FF"/>
                  </a:solidFill>
                  <a:latin typeface="微软雅黑" pitchFamily="34" charset="-122"/>
                  <a:ea typeface="微软雅黑" pitchFamily="34" charset="-122"/>
                  <a:sym typeface="Webdings" pitchFamily="18" charset="2"/>
                </a:rPr>
                <a:t></a:t>
              </a:r>
              <a:r>
                <a:rPr kumimoji="1" lang="en-US" altLang="zh-CN" sz="1600" b="1" dirty="0">
                  <a:latin typeface="微软雅黑" pitchFamily="34" charset="-122"/>
                  <a:ea typeface="微软雅黑" pitchFamily="34" charset="-122"/>
                </a:rPr>
                <a:t> </a:t>
              </a:r>
            </a:p>
          </p:txBody>
        </p:sp>
      </p:grpSp>
    </p:spTree>
    <p:extLst>
      <p:ext uri="{BB962C8B-B14F-4D97-AF65-F5344CB8AC3E}">
        <p14:creationId xmlns:p14="http://schemas.microsoft.com/office/powerpoint/2010/main" val="493020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1000"/>
                                  </p:stCondLst>
                                  <p:childTnLst>
                                    <p:set>
                                      <p:cBhvr>
                                        <p:cTn id="21"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6"/>
          <p:cNvSpPr>
            <a:spLocks noChangeArrowheads="1"/>
          </p:cNvSpPr>
          <p:nvPr/>
        </p:nvSpPr>
        <p:spPr bwMode="auto">
          <a:xfrm>
            <a:off x="509474" y="988118"/>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影响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电话通话质量的</a:t>
            </a:r>
            <a:r>
              <a:rPr lang="zh-CN" altLang="en-US" sz="2000" b="1" dirty="0">
                <a:solidFill>
                  <a:srgbClr val="C00000"/>
                </a:solidFill>
                <a:latin typeface="微软雅黑" pitchFamily="34" charset="-122"/>
                <a:ea typeface="微软雅黑" pitchFamily="34" charset="-122"/>
              </a:rPr>
              <a:t>两个主要因素：</a:t>
            </a: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通话双方端到端的</a:t>
            </a:r>
            <a:r>
              <a:rPr lang="zh-CN" altLang="en-US" sz="2000" b="1" dirty="0">
                <a:solidFill>
                  <a:srgbClr val="C00000"/>
                </a:solidFill>
                <a:latin typeface="微软雅黑" pitchFamily="34" charset="-122"/>
                <a:ea typeface="微软雅黑" pitchFamily="34" charset="-122"/>
              </a:rPr>
              <a:t>时延</a:t>
            </a:r>
            <a:r>
              <a:rPr lang="zh-CN" altLang="en-US" sz="2000" b="1" dirty="0">
                <a:latin typeface="微软雅黑" pitchFamily="34" charset="-122"/>
                <a:ea typeface="微软雅黑" pitchFamily="34" charset="-122"/>
              </a:rPr>
              <a:t>和</a:t>
            </a:r>
            <a:r>
              <a:rPr lang="zh-CN" altLang="en-US" sz="2000" b="1" dirty="0">
                <a:solidFill>
                  <a:srgbClr val="C00000"/>
                </a:solidFill>
                <a:latin typeface="微软雅黑" pitchFamily="34" charset="-122"/>
                <a:ea typeface="微软雅黑" pitchFamily="34" charset="-122"/>
              </a:rPr>
              <a:t>时延抖动；</a:t>
            </a:r>
          </a:p>
          <a:p>
            <a:pPr marL="6840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话音分组的</a:t>
            </a:r>
            <a:r>
              <a:rPr lang="zh-CN" altLang="en-US" sz="2000" b="1" dirty="0">
                <a:solidFill>
                  <a:srgbClr val="C00000"/>
                </a:solidFill>
                <a:latin typeface="微软雅黑" pitchFamily="34" charset="-122"/>
                <a:ea typeface="微软雅黑" pitchFamily="34" charset="-122"/>
              </a:rPr>
              <a:t>丢失率。</a:t>
            </a:r>
            <a:endParaRPr lang="en-US" altLang="zh-CN" sz="2000" b="1" dirty="0">
              <a:solidFill>
                <a:srgbClr val="C00000"/>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但这两个因素是不确定的，取决于当时网络上的通信量。</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经验证明：在电话交谈中，端到端的时延不应超过 </a:t>
            </a:r>
            <a:r>
              <a:rPr lang="en-US" altLang="zh-CN" sz="2000" b="1" dirty="0">
                <a:solidFill>
                  <a:srgbClr val="0000FF"/>
                </a:solidFill>
                <a:latin typeface="微软雅黑" pitchFamily="34" charset="-122"/>
                <a:ea typeface="微软雅黑" pitchFamily="34" charset="-122"/>
              </a:rPr>
              <a:t>250 </a:t>
            </a:r>
            <a:r>
              <a:rPr lang="en-US" altLang="zh-CN" sz="2000" b="1" dirty="0" err="1">
                <a:solidFill>
                  <a:srgbClr val="0000FF"/>
                </a:solidFill>
                <a:latin typeface="微软雅黑" pitchFamily="34" charset="-122"/>
                <a:ea typeface="微软雅黑" pitchFamily="34" charset="-122"/>
              </a:rPr>
              <a:t>ms</a:t>
            </a:r>
            <a:r>
              <a:rPr lang="zh-CN" altLang="en-US" sz="2000" b="1" dirty="0">
                <a:solidFill>
                  <a:srgbClr val="0000FF"/>
                </a:solidFill>
                <a:latin typeface="微软雅黑" pitchFamily="34" charset="-122"/>
                <a:ea typeface="微软雅黑" pitchFamily="34" charset="-122"/>
              </a:rPr>
              <a:t>，否则交谈者就能感到不自然。 </a:t>
            </a:r>
          </a:p>
        </p:txBody>
      </p:sp>
      <p:sp>
        <p:nvSpPr>
          <p:cNvPr id="4" name="AutoShape 5"/>
          <p:cNvSpPr>
            <a:spLocks noChangeArrowheads="1"/>
          </p:cNvSpPr>
          <p:nvPr/>
        </p:nvSpPr>
        <p:spPr bwMode="auto">
          <a:xfrm>
            <a:off x="509475" y="61512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6"/>
          <p:cNvSpPr>
            <a:spLocks noChangeArrowheads="1"/>
          </p:cNvSpPr>
          <p:nvPr/>
        </p:nvSpPr>
        <p:spPr bwMode="auto">
          <a:xfrm>
            <a:off x="3272317" y="581912"/>
            <a:ext cx="2621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IP </a:t>
            </a:r>
            <a:r>
              <a:rPr lang="zh-CN" altLang="en-US" sz="2000" b="1" dirty="0">
                <a:solidFill>
                  <a:schemeClr val="bg1"/>
                </a:solidFill>
                <a:latin typeface="微软雅黑" pitchFamily="34" charset="-122"/>
                <a:ea typeface="微软雅黑" pitchFamily="34" charset="-122"/>
              </a:rPr>
              <a:t>电话的通话质量</a:t>
            </a:r>
          </a:p>
        </p:txBody>
      </p:sp>
    </p:spTree>
    <p:extLst>
      <p:ext uri="{BB962C8B-B14F-4D97-AF65-F5344CB8AC3E}">
        <p14:creationId xmlns:p14="http://schemas.microsoft.com/office/powerpoint/2010/main" val="26727932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17853" y="61946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矩形 4"/>
          <p:cNvSpPr>
            <a:spLocks noChangeArrowheads="1"/>
          </p:cNvSpPr>
          <p:nvPr/>
        </p:nvSpPr>
        <p:spPr bwMode="auto">
          <a:xfrm>
            <a:off x="635844" y="569638"/>
            <a:ext cx="36711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造成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电话端到端时延的因素</a:t>
            </a:r>
          </a:p>
        </p:txBody>
      </p:sp>
      <p:sp>
        <p:nvSpPr>
          <p:cNvPr id="2" name="Rectangle 46"/>
          <p:cNvSpPr>
            <a:spLocks noChangeArrowheads="1"/>
          </p:cNvSpPr>
          <p:nvPr/>
        </p:nvSpPr>
        <p:spPr bwMode="auto">
          <a:xfrm>
            <a:off x="517854" y="939361"/>
            <a:ext cx="813385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话音信号进行模数</a:t>
            </a:r>
            <a:r>
              <a:rPr lang="zh-CN" altLang="en-US" sz="2000" b="1" dirty="0">
                <a:solidFill>
                  <a:srgbClr val="C00000"/>
                </a:solidFill>
                <a:latin typeface="微软雅黑" pitchFamily="34" charset="-122"/>
                <a:ea typeface="微软雅黑" pitchFamily="34" charset="-122"/>
              </a:rPr>
              <a:t>转换</a:t>
            </a:r>
            <a:r>
              <a:rPr lang="zh-CN" altLang="en-US" sz="2000" b="1" dirty="0">
                <a:latin typeface="微软雅黑" pitchFamily="34" charset="-122"/>
                <a:ea typeface="微软雅黑" pitchFamily="34" charset="-122"/>
              </a:rPr>
              <a:t>要经受时延。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话音比特流</a:t>
            </a:r>
            <a:r>
              <a:rPr lang="zh-CN" altLang="en-US" sz="2000" b="1" dirty="0">
                <a:solidFill>
                  <a:srgbClr val="C00000"/>
                </a:solidFill>
                <a:latin typeface="微软雅黑" pitchFamily="34" charset="-122"/>
                <a:ea typeface="微软雅黑" pitchFamily="34" charset="-122"/>
              </a:rPr>
              <a:t>装配</a:t>
            </a:r>
            <a:r>
              <a:rPr lang="zh-CN" altLang="en-US" sz="2000" b="1" dirty="0">
                <a:latin typeface="微软雅黑" pitchFamily="34" charset="-122"/>
                <a:ea typeface="微软雅黑" pitchFamily="34" charset="-122"/>
              </a:rPr>
              <a:t>成话音分组的时延。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话音分组的</a:t>
            </a:r>
            <a:r>
              <a:rPr lang="zh-CN" altLang="en-US" sz="2000" b="1" dirty="0">
                <a:solidFill>
                  <a:srgbClr val="C00000"/>
                </a:solidFill>
                <a:latin typeface="微软雅黑" pitchFamily="34" charset="-122"/>
                <a:ea typeface="微软雅黑" pitchFamily="34" charset="-122"/>
              </a:rPr>
              <a:t>发送</a:t>
            </a:r>
            <a:r>
              <a:rPr lang="zh-CN" altLang="en-US" sz="2000" b="1" dirty="0">
                <a:latin typeface="微软雅黑" pitchFamily="34" charset="-122"/>
                <a:ea typeface="微软雅黑" pitchFamily="34" charset="-122"/>
              </a:rPr>
              <a:t>需要时间，此时间等于话音分组长度与通信线路的数据率之比。</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话音分组在互联网中的</a:t>
            </a:r>
            <a:r>
              <a:rPr lang="zh-CN" altLang="en-US" sz="2000" b="1" dirty="0">
                <a:solidFill>
                  <a:srgbClr val="C00000"/>
                </a:solidFill>
                <a:latin typeface="微软雅黑" pitchFamily="34" charset="-122"/>
                <a:ea typeface="微软雅黑" pitchFamily="34" charset="-122"/>
              </a:rPr>
              <a:t>存储转发</a:t>
            </a:r>
            <a:r>
              <a:rPr lang="zh-CN" altLang="en-US" sz="2000" b="1" dirty="0">
                <a:latin typeface="微软雅黑" pitchFamily="34" charset="-122"/>
                <a:ea typeface="微软雅黑" pitchFamily="34" charset="-122"/>
              </a:rPr>
              <a:t>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话音分组在接收端缓存中</a:t>
            </a:r>
            <a:r>
              <a:rPr lang="zh-CN" altLang="en-US" sz="2000" b="1" dirty="0">
                <a:solidFill>
                  <a:srgbClr val="C00000"/>
                </a:solidFill>
                <a:latin typeface="微软雅黑" pitchFamily="34" charset="-122"/>
                <a:ea typeface="微软雅黑" pitchFamily="34" charset="-122"/>
              </a:rPr>
              <a:t>暂存</a:t>
            </a:r>
            <a:r>
              <a:rPr lang="zh-CN" altLang="en-US" sz="2000" b="1" dirty="0">
                <a:latin typeface="微软雅黑" pitchFamily="34" charset="-122"/>
                <a:ea typeface="微软雅黑" pitchFamily="34" charset="-122"/>
              </a:rPr>
              <a:t>所引起的时延。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话音分组</a:t>
            </a:r>
            <a:r>
              <a:rPr lang="zh-CN" altLang="en-US" sz="2000" b="1" dirty="0">
                <a:solidFill>
                  <a:srgbClr val="C00000"/>
                </a:solidFill>
                <a:latin typeface="微软雅黑" pitchFamily="34" charset="-122"/>
                <a:ea typeface="微软雅黑" pitchFamily="34" charset="-122"/>
              </a:rPr>
              <a:t>还原</a:t>
            </a:r>
            <a:r>
              <a:rPr lang="zh-CN" altLang="en-US" sz="2000" b="1" dirty="0">
                <a:latin typeface="微软雅黑" pitchFamily="34" charset="-122"/>
                <a:ea typeface="微软雅黑" pitchFamily="34" charset="-122"/>
              </a:rPr>
              <a:t>成模拟话音信号的时延。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话音信号在通信线路上的</a:t>
            </a:r>
            <a:r>
              <a:rPr lang="zh-CN" altLang="en-US" sz="2000" b="1" dirty="0">
                <a:solidFill>
                  <a:srgbClr val="C00000"/>
                </a:solidFill>
                <a:latin typeface="微软雅黑" pitchFamily="34" charset="-122"/>
                <a:ea typeface="微软雅黑" pitchFamily="34" charset="-122"/>
              </a:rPr>
              <a:t>传播</a:t>
            </a:r>
            <a:r>
              <a:rPr lang="zh-CN" altLang="en-US" sz="2000" b="1" dirty="0">
                <a:latin typeface="微软雅黑" pitchFamily="34" charset="-122"/>
                <a:ea typeface="微软雅黑" pitchFamily="34" charset="-122"/>
              </a:rPr>
              <a:t>时延。</a:t>
            </a:r>
          </a:p>
          <a:p>
            <a:pPr marL="342900" indent="-342900" eaLnBrk="0" hangingPunct="0">
              <a:lnSpc>
                <a:spcPts val="3000"/>
              </a:lnSpc>
              <a:buClr>
                <a:srgbClr val="000099"/>
              </a:buClr>
              <a:buFont typeface="+mj-lt"/>
              <a:buAutoNum type="arabicPeriod"/>
            </a:pPr>
            <a:r>
              <a:rPr lang="zh-CN" altLang="en-US" sz="2000" b="1" dirty="0">
                <a:latin typeface="微软雅黑" pitchFamily="34" charset="-122"/>
                <a:ea typeface="微软雅黑" pitchFamily="34" charset="-122"/>
              </a:rPr>
              <a:t>终端设备的硬件和操作系统产生的</a:t>
            </a:r>
            <a:r>
              <a:rPr lang="zh-CN" altLang="en-US" sz="2000" b="1" dirty="0">
                <a:solidFill>
                  <a:srgbClr val="C00000"/>
                </a:solidFill>
                <a:latin typeface="微软雅黑" pitchFamily="34" charset="-122"/>
                <a:ea typeface="微软雅黑" pitchFamily="34" charset="-122"/>
              </a:rPr>
              <a:t>接入</a:t>
            </a:r>
            <a:r>
              <a:rPr lang="zh-CN" altLang="en-US" sz="2000" b="1" dirty="0">
                <a:latin typeface="微软雅黑" pitchFamily="34" charset="-122"/>
                <a:ea typeface="微软雅黑" pitchFamily="34" charset="-122"/>
              </a:rPr>
              <a:t>时延。 </a:t>
            </a:r>
          </a:p>
        </p:txBody>
      </p:sp>
      <p:grpSp>
        <p:nvGrpSpPr>
          <p:cNvPr id="11" name="组合 10"/>
          <p:cNvGrpSpPr/>
          <p:nvPr/>
        </p:nvGrpSpPr>
        <p:grpSpPr>
          <a:xfrm>
            <a:off x="4946469" y="1245326"/>
            <a:ext cx="3344092" cy="2270038"/>
            <a:chOff x="4946469" y="1245326"/>
            <a:chExt cx="3344092" cy="2270038"/>
          </a:xfrm>
        </p:grpSpPr>
        <p:sp>
          <p:nvSpPr>
            <p:cNvPr id="3" name="矩形 2"/>
            <p:cNvSpPr/>
            <p:nvPr/>
          </p:nvSpPr>
          <p:spPr>
            <a:xfrm>
              <a:off x="6461760" y="2422757"/>
              <a:ext cx="1828801" cy="1092607"/>
            </a:xfrm>
            <a:prstGeom prst="rect">
              <a:avLst/>
            </a:prstGeom>
            <a:solidFill>
              <a:schemeClr val="accent6">
                <a:lumMod val="60000"/>
                <a:lumOff val="40000"/>
              </a:schemeClr>
            </a:solidFill>
          </p:spPr>
          <p:txBody>
            <a:bodyPr wrap="square">
              <a:spAutoFit/>
            </a:bodyPr>
            <a:lstStyle/>
            <a:p>
              <a:pPr>
                <a:lnSpc>
                  <a:spcPts val="2600"/>
                </a:lnSpc>
              </a:pP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6 </a:t>
              </a:r>
              <a:r>
                <a:rPr lang="zh-CN" altLang="en-US" b="1" dirty="0">
                  <a:latin typeface="微软雅黑" panose="020B0503020204020204" pitchFamily="34" charset="-122"/>
                  <a:ea typeface="微软雅黑" panose="020B0503020204020204" pitchFamily="34" charset="-122"/>
                </a:rPr>
                <a:t>的时延取决于话音编码的方法。</a:t>
              </a:r>
            </a:p>
          </p:txBody>
        </p:sp>
        <p:cxnSp>
          <p:nvCxnSpPr>
            <p:cNvPr id="5" name="直接连接符 4"/>
            <p:cNvCxnSpPr/>
            <p:nvPr/>
          </p:nvCxnSpPr>
          <p:spPr>
            <a:xfrm>
              <a:off x="4946469" y="1245326"/>
              <a:ext cx="1497874" cy="1367245"/>
            </a:xfrm>
            <a:prstGeom prst="line">
              <a:avLst/>
            </a:prstGeom>
            <a:ln w="12700">
              <a:solidFill>
                <a:srgbClr val="000099"/>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4946469" y="1551291"/>
              <a:ext cx="1497874" cy="1367245"/>
            </a:xfrm>
            <a:prstGeom prst="line">
              <a:avLst/>
            </a:prstGeom>
            <a:ln w="12700">
              <a:solidFill>
                <a:srgbClr val="000099"/>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flipV="1">
              <a:off x="5042268" y="3224501"/>
              <a:ext cx="1402075" cy="238609"/>
            </a:xfrm>
            <a:prstGeom prst="line">
              <a:avLst/>
            </a:prstGeom>
            <a:ln w="12700">
              <a:solidFill>
                <a:srgbClr val="000099"/>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2874524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17853" y="61886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矩形 4"/>
          <p:cNvSpPr>
            <a:spLocks noChangeArrowheads="1"/>
          </p:cNvSpPr>
          <p:nvPr/>
        </p:nvSpPr>
        <p:spPr bwMode="auto">
          <a:xfrm>
            <a:off x="635844" y="569033"/>
            <a:ext cx="45432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电话低速率话音编码的 </a:t>
            </a:r>
            <a:r>
              <a:rPr lang="en-US" altLang="zh-CN" sz="2000" b="1" dirty="0">
                <a:latin typeface="微软雅黑" pitchFamily="34" charset="-122"/>
                <a:ea typeface="微软雅黑" pitchFamily="34" charset="-122"/>
              </a:rPr>
              <a:t>ITU-T </a:t>
            </a:r>
            <a:r>
              <a:rPr lang="zh-CN" altLang="en-US" sz="2000" b="1" dirty="0">
                <a:latin typeface="微软雅黑" pitchFamily="34" charset="-122"/>
                <a:ea typeface="微软雅黑" pitchFamily="34" charset="-122"/>
              </a:rPr>
              <a:t>标准 </a:t>
            </a:r>
          </a:p>
        </p:txBody>
      </p:sp>
      <p:sp>
        <p:nvSpPr>
          <p:cNvPr id="2" name="Rectangle 46"/>
          <p:cNvSpPr>
            <a:spLocks noChangeArrowheads="1"/>
          </p:cNvSpPr>
          <p:nvPr/>
        </p:nvSpPr>
        <p:spPr bwMode="auto">
          <a:xfrm>
            <a:off x="517851" y="938873"/>
            <a:ext cx="8133859" cy="17310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600"/>
              </a:lnSpc>
              <a:buClr>
                <a:srgbClr val="9900CC"/>
              </a:buClr>
              <a:buFont typeface="+mj-lt"/>
              <a:buAutoNum type="arabicPeriod"/>
            </a:pPr>
            <a:r>
              <a:rPr lang="en-US" altLang="zh-CN" b="1" dirty="0">
                <a:solidFill>
                  <a:srgbClr val="0000FF"/>
                </a:solidFill>
                <a:latin typeface="微软雅黑" pitchFamily="34" charset="-122"/>
                <a:ea typeface="微软雅黑" pitchFamily="34" charset="-122"/>
              </a:rPr>
              <a:t>G.729</a:t>
            </a:r>
            <a:r>
              <a:rPr lang="zh-CN" altLang="en-US" b="1" dirty="0">
                <a:solidFill>
                  <a:srgbClr val="0000FF"/>
                </a:solidFill>
                <a:latin typeface="微软雅黑" pitchFamily="34" charset="-122"/>
                <a:ea typeface="微软雅黑" pitchFamily="34" charset="-122"/>
              </a:rPr>
              <a:t>：</a:t>
            </a:r>
            <a:r>
              <a:rPr lang="zh-CN" altLang="en-US" b="1" dirty="0">
                <a:latin typeface="微软雅黑" pitchFamily="34" charset="-122"/>
                <a:ea typeface="微软雅黑" pitchFamily="34" charset="-122"/>
              </a:rPr>
              <a:t>速率为 </a:t>
            </a:r>
            <a:r>
              <a:rPr lang="en-US" altLang="zh-CN" b="1" dirty="0">
                <a:latin typeface="微软雅黑" pitchFamily="34" charset="-122"/>
                <a:ea typeface="微软雅黑" pitchFamily="34" charset="-122"/>
              </a:rPr>
              <a:t>8 </a:t>
            </a:r>
            <a:r>
              <a:rPr lang="en-US" altLang="zh-CN" b="1" dirty="0" err="1">
                <a:latin typeface="微软雅黑" pitchFamily="34" charset="-122"/>
                <a:ea typeface="微软雅黑" pitchFamily="34" charset="-122"/>
              </a:rPr>
              <a:t>kbit</a:t>
            </a:r>
            <a:r>
              <a:rPr lang="en-US" altLang="zh-CN" b="1" dirty="0">
                <a:latin typeface="微软雅黑" pitchFamily="34" charset="-122"/>
                <a:ea typeface="微软雅黑" pitchFamily="34" charset="-122"/>
              </a:rPr>
              <a:t>/s </a:t>
            </a:r>
            <a:r>
              <a:rPr lang="zh-CN" altLang="en-US" b="1" dirty="0">
                <a:latin typeface="微软雅黑" pitchFamily="34" charset="-122"/>
                <a:ea typeface="微软雅黑" pitchFamily="34" charset="-122"/>
              </a:rPr>
              <a:t>的共轭结构代数码激励线性预测声码器 </a:t>
            </a:r>
            <a:r>
              <a:rPr lang="en-US" altLang="zh-CN" b="1" dirty="0">
                <a:latin typeface="微软雅黑" pitchFamily="34" charset="-122"/>
                <a:ea typeface="微软雅黑" pitchFamily="34" charset="-122"/>
              </a:rPr>
              <a:t>CS-ACELP (Conjugate-Structure Algebraic-Code-Excited Linear Prediction) </a:t>
            </a:r>
            <a:r>
              <a:rPr lang="zh-CN" altLang="en-US" b="1" dirty="0">
                <a:latin typeface="微软雅黑" pitchFamily="34" charset="-122"/>
                <a:ea typeface="微软雅黑" pitchFamily="34" charset="-122"/>
              </a:rPr>
              <a:t>声码器。</a:t>
            </a:r>
          </a:p>
          <a:p>
            <a:pPr marL="342900" indent="-342900" eaLnBrk="0" hangingPunct="0">
              <a:lnSpc>
                <a:spcPts val="2600"/>
              </a:lnSpc>
              <a:buClr>
                <a:srgbClr val="9900CC"/>
              </a:buClr>
              <a:buFont typeface="+mj-lt"/>
              <a:buAutoNum type="arabicPeriod"/>
            </a:pPr>
            <a:r>
              <a:rPr lang="en-US" altLang="zh-CN" b="1" dirty="0">
                <a:solidFill>
                  <a:srgbClr val="0000FF"/>
                </a:solidFill>
                <a:latin typeface="微软雅黑" pitchFamily="34" charset="-122"/>
                <a:ea typeface="微软雅黑" pitchFamily="34" charset="-122"/>
              </a:rPr>
              <a:t>G.723.1</a:t>
            </a:r>
            <a:r>
              <a:rPr lang="zh-CN" altLang="en-US" b="1" dirty="0">
                <a:solidFill>
                  <a:srgbClr val="0000FF"/>
                </a:solidFill>
                <a:latin typeface="微软雅黑" pitchFamily="34" charset="-122"/>
                <a:ea typeface="微软雅黑" pitchFamily="34" charset="-122"/>
              </a:rPr>
              <a:t>：</a:t>
            </a:r>
            <a:r>
              <a:rPr lang="zh-CN" altLang="en-US" b="1" dirty="0">
                <a:latin typeface="微软雅黑" pitchFamily="34" charset="-122"/>
                <a:ea typeface="微软雅黑" pitchFamily="34" charset="-122"/>
              </a:rPr>
              <a:t>速率为 </a:t>
            </a:r>
            <a:r>
              <a:rPr lang="en-US" altLang="zh-CN" b="1" dirty="0">
                <a:latin typeface="微软雅黑" pitchFamily="34" charset="-122"/>
                <a:ea typeface="微软雅黑" pitchFamily="34" charset="-122"/>
              </a:rPr>
              <a:t>5.3/6.3 </a:t>
            </a:r>
            <a:r>
              <a:rPr lang="en-US" altLang="zh-CN" b="1" dirty="0" err="1">
                <a:latin typeface="微软雅黑" pitchFamily="34" charset="-122"/>
                <a:ea typeface="微软雅黑" pitchFamily="34" charset="-122"/>
              </a:rPr>
              <a:t>kbit</a:t>
            </a:r>
            <a:r>
              <a:rPr lang="en-US" altLang="zh-CN" b="1" dirty="0">
                <a:latin typeface="微软雅黑" pitchFamily="34" charset="-122"/>
                <a:ea typeface="微软雅黑" pitchFamily="34" charset="-122"/>
              </a:rPr>
              <a:t>/s </a:t>
            </a:r>
            <a:r>
              <a:rPr lang="zh-CN" altLang="en-US" b="1" dirty="0">
                <a:latin typeface="微软雅黑" pitchFamily="34" charset="-122"/>
                <a:ea typeface="微软雅黑" pitchFamily="34" charset="-122"/>
              </a:rPr>
              <a:t>的线性预测编码 </a:t>
            </a:r>
            <a:r>
              <a:rPr lang="en-US" altLang="zh-CN" b="1" dirty="0">
                <a:latin typeface="微软雅黑" pitchFamily="34" charset="-122"/>
                <a:ea typeface="微软雅黑" pitchFamily="34" charset="-122"/>
              </a:rPr>
              <a:t>LPC (Linear Prediction Coding) </a:t>
            </a:r>
            <a:r>
              <a:rPr lang="zh-CN" altLang="en-US" b="1" dirty="0">
                <a:latin typeface="微软雅黑" pitchFamily="34" charset="-122"/>
                <a:ea typeface="微软雅黑" pitchFamily="34" charset="-122"/>
              </a:rPr>
              <a:t>声码器。 </a:t>
            </a:r>
          </a:p>
        </p:txBody>
      </p:sp>
      <p:grpSp>
        <p:nvGrpSpPr>
          <p:cNvPr id="3" name="组合 2"/>
          <p:cNvGrpSpPr/>
          <p:nvPr/>
        </p:nvGrpSpPr>
        <p:grpSpPr>
          <a:xfrm>
            <a:off x="665041" y="2710754"/>
            <a:ext cx="7812000" cy="1617446"/>
            <a:chOff x="665041" y="2710754"/>
            <a:chExt cx="7812000" cy="1617446"/>
          </a:xfrm>
        </p:grpSpPr>
        <p:sp>
          <p:nvSpPr>
            <p:cNvPr id="5" name="矩形 7"/>
            <p:cNvSpPr>
              <a:spLocks noChangeArrowheads="1"/>
            </p:cNvSpPr>
            <p:nvPr/>
          </p:nvSpPr>
          <p:spPr bwMode="auto">
            <a:xfrm>
              <a:off x="2684662" y="2710754"/>
              <a:ext cx="39212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en-US" altLang="zh-CN" sz="1600" b="1" dirty="0">
                  <a:solidFill>
                    <a:srgbClr val="000099"/>
                  </a:solidFill>
                  <a:latin typeface="微软雅黑" pitchFamily="34" charset="-122"/>
                  <a:ea typeface="微软雅黑" pitchFamily="34" charset="-122"/>
                  <a:cs typeface="Arial" charset="0"/>
                </a:rPr>
                <a:t>G.729 </a:t>
              </a:r>
              <a:r>
                <a:rPr lang="zh-CN" altLang="en-US" sz="1600" b="1" dirty="0">
                  <a:solidFill>
                    <a:srgbClr val="000099"/>
                  </a:solidFill>
                  <a:latin typeface="微软雅黑" pitchFamily="34" charset="-122"/>
                  <a:ea typeface="微软雅黑" pitchFamily="34" charset="-122"/>
                  <a:cs typeface="Arial" charset="0"/>
                </a:rPr>
                <a:t>和 </a:t>
              </a:r>
              <a:r>
                <a:rPr lang="en-US" altLang="zh-CN" sz="1600" b="1" dirty="0">
                  <a:solidFill>
                    <a:srgbClr val="000099"/>
                  </a:solidFill>
                  <a:latin typeface="微软雅黑" pitchFamily="34" charset="-122"/>
                  <a:ea typeface="微软雅黑" pitchFamily="34" charset="-122"/>
                  <a:cs typeface="Arial" charset="0"/>
                </a:rPr>
                <a:t>G.723.1 </a:t>
              </a:r>
              <a:r>
                <a:rPr lang="zh-CN" altLang="en-US" sz="1600" b="1" dirty="0">
                  <a:solidFill>
                    <a:srgbClr val="000099"/>
                  </a:solidFill>
                  <a:latin typeface="微软雅黑" pitchFamily="34" charset="-122"/>
                  <a:ea typeface="微软雅黑" pitchFamily="34" charset="-122"/>
                  <a:cs typeface="Arial" charset="0"/>
                </a:rPr>
                <a:t>的主要性能比较</a:t>
              </a:r>
            </a:p>
          </p:txBody>
        </p:sp>
        <p:graphicFrame>
          <p:nvGraphicFramePr>
            <p:cNvPr id="7" name="Group 179"/>
            <p:cNvGraphicFramePr>
              <a:graphicFrameLocks/>
            </p:cNvGraphicFramePr>
            <p:nvPr>
              <p:extLst>
                <p:ext uri="{D42A27DB-BD31-4B8C-83A1-F6EECF244321}">
                  <p14:modId xmlns:p14="http://schemas.microsoft.com/office/powerpoint/2010/main" val="2321154304"/>
                </p:ext>
              </p:extLst>
            </p:nvPr>
          </p:nvGraphicFramePr>
          <p:xfrm>
            <a:off x="665041" y="3024544"/>
            <a:ext cx="7812000" cy="1303656"/>
          </p:xfrm>
          <a:graphic>
            <a:graphicData uri="http://schemas.openxmlformats.org/drawingml/2006/table">
              <a:tbl>
                <a:tblPr/>
                <a:tblGrid>
                  <a:gridCol w="1332000">
                    <a:extLst>
                      <a:ext uri="{9D8B030D-6E8A-4147-A177-3AD203B41FA5}">
                        <a16:colId xmlns:a16="http://schemas.microsoft.com/office/drawing/2014/main" val="20000"/>
                      </a:ext>
                    </a:extLst>
                  </a:gridCol>
                  <a:gridCol w="1296000">
                    <a:extLst>
                      <a:ext uri="{9D8B030D-6E8A-4147-A177-3AD203B41FA5}">
                        <a16:colId xmlns:a16="http://schemas.microsoft.com/office/drawing/2014/main" val="20001"/>
                      </a:ext>
                    </a:extLst>
                  </a:gridCol>
                  <a:gridCol w="1296000">
                    <a:extLst>
                      <a:ext uri="{9D8B030D-6E8A-4147-A177-3AD203B41FA5}">
                        <a16:colId xmlns:a16="http://schemas.microsoft.com/office/drawing/2014/main" val="20002"/>
                      </a:ext>
                    </a:extLst>
                  </a:gridCol>
                  <a:gridCol w="1296000">
                    <a:extLst>
                      <a:ext uri="{9D8B030D-6E8A-4147-A177-3AD203B41FA5}">
                        <a16:colId xmlns:a16="http://schemas.microsoft.com/office/drawing/2014/main" val="20003"/>
                      </a:ext>
                    </a:extLst>
                  </a:gridCol>
                  <a:gridCol w="1296000">
                    <a:extLst>
                      <a:ext uri="{9D8B030D-6E8A-4147-A177-3AD203B41FA5}">
                        <a16:colId xmlns:a16="http://schemas.microsoft.com/office/drawing/2014/main" val="20004"/>
                      </a:ext>
                    </a:extLst>
                  </a:gridCol>
                  <a:gridCol w="1296000">
                    <a:extLst>
                      <a:ext uri="{9D8B030D-6E8A-4147-A177-3AD203B41FA5}">
                        <a16:colId xmlns:a16="http://schemas.microsoft.com/office/drawing/2014/main" val="20005"/>
                      </a:ext>
                    </a:extLst>
                  </a:gridCol>
                </a:tblGrid>
                <a:tr h="460295">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标准</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比特率</a:t>
                        </a:r>
                        <a:endParaRPr kumimoji="0" lang="en-US" altLang="zh-CN" sz="1400" b="1" i="0" u="none" strike="noStrike" cap="none" normalizeH="0" baseline="0" dirty="0">
                          <a:ln>
                            <a:noFill/>
                          </a:ln>
                          <a:solidFill>
                            <a:schemeClr val="bg1"/>
                          </a:solidFill>
                          <a:effectLst/>
                          <a:latin typeface="微软雅黑" pitchFamily="34" charset="-122"/>
                          <a:ea typeface="微软雅黑" pitchFamily="34" charset="-122"/>
                        </a:endParaRP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r>
                          <a:rPr kumimoji="0" lang="en-US" altLang="zh-CN" sz="1400" b="1" i="0" u="none" strike="noStrike" cap="none" normalizeH="0" baseline="0" dirty="0" err="1">
                            <a:ln>
                              <a:noFill/>
                            </a:ln>
                            <a:solidFill>
                              <a:schemeClr val="bg1"/>
                            </a:solidFill>
                            <a:effectLst/>
                            <a:latin typeface="微软雅黑" pitchFamily="34" charset="-122"/>
                            <a:ea typeface="微软雅黑" pitchFamily="34" charset="-122"/>
                          </a:rPr>
                          <a:t>kbit</a:t>
                        </a:r>
                        <a:r>
                          <a:rPr kumimoji="0" lang="en-US" altLang="zh-CN" sz="1400" b="1" i="0" u="none" strike="noStrike" cap="none" normalizeH="0" baseline="0" dirty="0">
                            <a:ln>
                              <a:noFill/>
                            </a:ln>
                            <a:solidFill>
                              <a:schemeClr val="bg1"/>
                            </a:solidFill>
                            <a:effectLst/>
                            <a:latin typeface="微软雅黑" pitchFamily="34" charset="-122"/>
                            <a:ea typeface="微软雅黑" pitchFamily="34" charset="-122"/>
                          </a:rPr>
                          <a:t>/s</a:t>
                        </a: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帧大小</a:t>
                        </a:r>
                        <a:endParaRPr kumimoji="0" lang="en-US" altLang="zh-CN" sz="1400" b="1" i="0" u="none" strike="noStrike" cap="none" normalizeH="0" baseline="0" dirty="0">
                          <a:ln>
                            <a:noFill/>
                          </a:ln>
                          <a:solidFill>
                            <a:schemeClr val="bg1"/>
                          </a:solidFill>
                          <a:effectLst/>
                          <a:latin typeface="微软雅黑" pitchFamily="34" charset="-122"/>
                          <a:ea typeface="微软雅黑" pitchFamily="34" charset="-122"/>
                        </a:endParaRP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r>
                          <a:rPr kumimoji="0" lang="en-US" altLang="zh-CN" sz="1400" b="1" i="0" u="none" strike="noStrike" cap="none" normalizeH="0" baseline="0" dirty="0" err="1">
                            <a:ln>
                              <a:noFill/>
                            </a:ln>
                            <a:solidFill>
                              <a:schemeClr val="bg1"/>
                            </a:solidFill>
                            <a:effectLst/>
                            <a:latin typeface="微软雅黑" pitchFamily="34" charset="-122"/>
                            <a:ea typeface="微软雅黑" pitchFamily="34" charset="-122"/>
                          </a:rPr>
                          <a:t>ms</a:t>
                        </a: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处理时延</a:t>
                        </a:r>
                        <a:endParaRPr kumimoji="0" lang="en-US" altLang="zh-CN" sz="1400" b="1" i="0" u="none" strike="noStrike" cap="none" normalizeH="0" baseline="0" dirty="0">
                          <a:ln>
                            <a:noFill/>
                          </a:ln>
                          <a:solidFill>
                            <a:schemeClr val="bg1"/>
                          </a:solidFill>
                          <a:effectLst/>
                          <a:latin typeface="微软雅黑" pitchFamily="34" charset="-122"/>
                          <a:ea typeface="微软雅黑" pitchFamily="34" charset="-122"/>
                        </a:endParaRP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r>
                          <a:rPr kumimoji="0" lang="en-US" altLang="zh-CN" sz="1400" b="1" i="0" u="none" strike="noStrike" cap="none" normalizeH="0" baseline="0" dirty="0" err="1">
                            <a:ln>
                              <a:noFill/>
                            </a:ln>
                            <a:solidFill>
                              <a:schemeClr val="bg1"/>
                            </a:solidFill>
                            <a:effectLst/>
                            <a:latin typeface="微软雅黑" pitchFamily="34" charset="-122"/>
                            <a:ea typeface="微软雅黑" pitchFamily="34" charset="-122"/>
                          </a:rPr>
                          <a:t>ms</a:t>
                        </a: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帧长</a:t>
                        </a: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（字节）</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数字信号处理</a:t>
                        </a:r>
                        <a:endParaRPr kumimoji="0" lang="en-US" altLang="zh-CN" sz="1400" b="1" i="0" u="none" strike="noStrike" cap="none" normalizeH="0" baseline="0" dirty="0">
                          <a:ln>
                            <a:noFill/>
                          </a:ln>
                          <a:solidFill>
                            <a:schemeClr val="bg1"/>
                          </a:solidFill>
                          <a:effectLst/>
                          <a:latin typeface="微软雅黑" pitchFamily="34" charset="-122"/>
                          <a:ea typeface="微软雅黑" pitchFamily="34" charset="-122"/>
                        </a:endParaRPr>
                      </a:p>
                      <a:p>
                        <a:pPr marL="0" marR="0" lvl="0" indent="0" algn="ctr" defTabSz="914400" rtl="0" eaLnBrk="0" fontAlgn="base" latinLnBrk="0" hangingPunct="0">
                          <a:lnSpc>
                            <a:spcPct val="9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微软雅黑" pitchFamily="34" charset="-122"/>
                            <a:ea typeface="微软雅黑" pitchFamily="34" charset="-122"/>
                          </a:rPr>
                          <a:t> </a:t>
                        </a:r>
                        <a:r>
                          <a:rPr kumimoji="0" lang="en-US" altLang="zh-CN" sz="1400" b="1" i="0" u="none" strike="noStrike" cap="none" normalizeH="0" baseline="0" dirty="0">
                            <a:ln>
                              <a:noFill/>
                            </a:ln>
                            <a:solidFill>
                              <a:schemeClr val="bg1"/>
                            </a:solidFill>
                            <a:effectLst/>
                            <a:latin typeface="微软雅黑" pitchFamily="34" charset="-122"/>
                            <a:ea typeface="微软雅黑" pitchFamily="34" charset="-122"/>
                          </a:rPr>
                          <a:t>MIPS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58012">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G.729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10</a:t>
                        </a:r>
                        <a:endParaRPr kumimoji="0" lang="zh-CN" altLang="en-US" sz="1800" b="1" i="0" u="none" strike="noStrike" cap="none" normalizeH="0" baseline="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10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10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20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370156">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G.723.1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5.3/6.3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30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30</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20/24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rPr>
                          <a:t>16</a:t>
                        </a:r>
                        <a:endParaRPr kumimoji="0" lang="zh-CN" altLang="en-US" sz="1800" b="1" i="0" u="none" strike="noStrike" cap="none" normalizeH="0" baseline="3000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extLst>
                    <a:ext uri="{0D108BD9-81ED-4DB2-BD59-A6C34878D82A}">
                      <a16:rowId xmlns:a16="http://schemas.microsoft.com/office/drawing/2014/main" val="10002"/>
                    </a:ext>
                  </a:extLst>
                </a:tr>
              </a:tbl>
            </a:graphicData>
          </a:graphic>
        </p:graphicFrame>
      </p:grpSp>
    </p:spTree>
    <p:extLst>
      <p:ext uri="{BB962C8B-B14F-4D97-AF65-F5344CB8AC3E}">
        <p14:creationId xmlns:p14="http://schemas.microsoft.com/office/powerpoint/2010/main" val="16970741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utoShape 5"/>
          <p:cNvSpPr>
            <a:spLocks noChangeArrowheads="1"/>
          </p:cNvSpPr>
          <p:nvPr/>
        </p:nvSpPr>
        <p:spPr bwMode="auto">
          <a:xfrm>
            <a:off x="517853" y="61896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矩形 4"/>
          <p:cNvSpPr>
            <a:spLocks noChangeArrowheads="1"/>
          </p:cNvSpPr>
          <p:nvPr/>
        </p:nvSpPr>
        <p:spPr bwMode="auto">
          <a:xfrm>
            <a:off x="635844" y="569138"/>
            <a:ext cx="3852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接收端的播放时延有一个最佳值 </a:t>
            </a:r>
          </a:p>
        </p:txBody>
      </p:sp>
      <p:sp>
        <p:nvSpPr>
          <p:cNvPr id="46" name="圆角矩形 45"/>
          <p:cNvSpPr/>
          <p:nvPr/>
        </p:nvSpPr>
        <p:spPr>
          <a:xfrm>
            <a:off x="517852" y="966645"/>
            <a:ext cx="8133857" cy="329659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p:cNvSpPr/>
          <p:nvPr/>
        </p:nvSpPr>
        <p:spPr>
          <a:xfrm>
            <a:off x="6195959" y="1423156"/>
            <a:ext cx="2164080" cy="1631216"/>
          </a:xfrm>
          <a:prstGeom prst="rect">
            <a:avLst/>
          </a:prstGeom>
          <a:solidFill>
            <a:srgbClr val="00FFFF"/>
          </a:solidFill>
          <a:ln>
            <a:solidFill>
              <a:schemeClr val="tx1"/>
            </a:solidFill>
          </a:ln>
        </p:spPr>
        <p:txBody>
          <a:bodyPr wrap="square">
            <a:spAutoFit/>
          </a:bodyPr>
          <a:lstStyle/>
          <a:p>
            <a:pPr marL="182563" indent="-182563">
              <a:lnSpc>
                <a:spcPts val="2000"/>
              </a:lnSpc>
              <a:buFont typeface="Wingdings" panose="05000000000000000000" pitchFamily="2" charset="2"/>
              <a:buChar char="l"/>
            </a:pPr>
            <a:r>
              <a:rPr lang="zh-CN" altLang="en-US" sz="1400" b="1" dirty="0">
                <a:latin typeface="微软雅黑" pitchFamily="34" charset="-122"/>
                <a:ea typeface="微软雅黑" pitchFamily="34" charset="-122"/>
              </a:rPr>
              <a:t>接收端的播放时延有一个最佳值。</a:t>
            </a:r>
            <a:endParaRPr lang="en-US" altLang="zh-CN" sz="1400" b="1" dirty="0">
              <a:latin typeface="微软雅黑" pitchFamily="34" charset="-122"/>
              <a:ea typeface="微软雅黑" pitchFamily="34" charset="-122"/>
            </a:endParaRPr>
          </a:p>
          <a:p>
            <a:pPr marL="182563" indent="-182563">
              <a:lnSpc>
                <a:spcPts val="2000"/>
              </a:lnSpc>
              <a:buFont typeface="Wingdings" panose="05000000000000000000" pitchFamily="2" charset="2"/>
              <a:buChar char="l"/>
            </a:pPr>
            <a:r>
              <a:rPr lang="zh-CN" altLang="en-US" sz="1400" b="1" dirty="0">
                <a:latin typeface="微软雅黑" pitchFamily="34" charset="-122"/>
                <a:ea typeface="微软雅黑" pitchFamily="34" charset="-122"/>
              </a:rPr>
              <a:t>在点 </a:t>
            </a:r>
            <a:r>
              <a:rPr lang="en-US" altLang="zh-CN" sz="1400" b="1" dirty="0">
                <a:latin typeface="微软雅黑" pitchFamily="34" charset="-122"/>
                <a:ea typeface="微软雅黑" pitchFamily="34" charset="-122"/>
              </a:rPr>
              <a:t>N </a:t>
            </a:r>
            <a:r>
              <a:rPr lang="zh-CN" altLang="en-US" sz="1400" b="1" dirty="0">
                <a:latin typeface="微软雅黑" pitchFamily="34" charset="-122"/>
                <a:ea typeface="微软雅黑" pitchFamily="34" charset="-122"/>
              </a:rPr>
              <a:t>处，端到端时延和话音分组丢失率都是最小。但实际上并不可能工作在这个点上。</a:t>
            </a:r>
          </a:p>
        </p:txBody>
      </p:sp>
      <p:sp>
        <p:nvSpPr>
          <p:cNvPr id="2" name="矩形 1"/>
          <p:cNvSpPr/>
          <p:nvPr/>
        </p:nvSpPr>
        <p:spPr>
          <a:xfrm>
            <a:off x="699020" y="1421572"/>
            <a:ext cx="1382776" cy="1631216"/>
          </a:xfrm>
          <a:prstGeom prst="rect">
            <a:avLst/>
          </a:prstGeom>
          <a:solidFill>
            <a:srgbClr val="FFFF99"/>
          </a:solidFill>
          <a:ln>
            <a:solidFill>
              <a:schemeClr val="tx1"/>
            </a:solidFill>
          </a:ln>
        </p:spPr>
        <p:txBody>
          <a:bodyPr wrap="square">
            <a:spAutoFit/>
          </a:bodyPr>
          <a:lstStyle/>
          <a:p>
            <a:pPr>
              <a:lnSpc>
                <a:spcPts val="2000"/>
              </a:lnSpc>
            </a:pPr>
            <a:r>
              <a:rPr lang="zh-CN" altLang="en-US" sz="1400" b="1" dirty="0">
                <a:latin typeface="微软雅黑" pitchFamily="34" charset="-122"/>
                <a:ea typeface="微软雅黑" pitchFamily="34" charset="-122"/>
              </a:rPr>
              <a:t>接收端缓存空间和播放时延的大小对话音分组丢失率和端到端时延有很大的影响。</a:t>
            </a:r>
          </a:p>
        </p:txBody>
      </p:sp>
      <p:grpSp>
        <p:nvGrpSpPr>
          <p:cNvPr id="4" name="组合 3"/>
          <p:cNvGrpSpPr/>
          <p:nvPr/>
        </p:nvGrpSpPr>
        <p:grpSpPr>
          <a:xfrm>
            <a:off x="2263347" y="1001188"/>
            <a:ext cx="5335033" cy="3207089"/>
            <a:chOff x="2263347" y="1001188"/>
            <a:chExt cx="5335033" cy="3207089"/>
          </a:xfrm>
        </p:grpSpPr>
        <p:grpSp>
          <p:nvGrpSpPr>
            <p:cNvPr id="45" name="组合 44"/>
            <p:cNvGrpSpPr/>
            <p:nvPr/>
          </p:nvGrpSpPr>
          <p:grpSpPr>
            <a:xfrm>
              <a:off x="2697863" y="1001188"/>
              <a:ext cx="4900517" cy="3207089"/>
              <a:chOff x="1225780" y="1331814"/>
              <a:chExt cx="7373570" cy="4825552"/>
            </a:xfrm>
          </p:grpSpPr>
          <p:sp>
            <p:nvSpPr>
              <p:cNvPr id="7" name="Text Box 34"/>
              <p:cNvSpPr txBox="1">
                <a:spLocks noChangeArrowheads="1"/>
              </p:cNvSpPr>
              <p:nvPr/>
            </p:nvSpPr>
            <p:spPr bwMode="auto">
              <a:xfrm>
                <a:off x="6412672" y="4891089"/>
                <a:ext cx="487710"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D</a:t>
                </a:r>
              </a:p>
            </p:txBody>
          </p:sp>
          <p:sp>
            <p:nvSpPr>
              <p:cNvPr id="8" name="Text Box 5"/>
              <p:cNvSpPr txBox="1">
                <a:spLocks noChangeArrowheads="1"/>
              </p:cNvSpPr>
              <p:nvPr/>
            </p:nvSpPr>
            <p:spPr bwMode="auto">
              <a:xfrm>
                <a:off x="1225780" y="1331814"/>
                <a:ext cx="1028478" cy="734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  </a:t>
                </a:r>
                <a:r>
                  <a:rPr kumimoji="1" lang="zh-CN" altLang="en-US" sz="1200" b="1" dirty="0">
                    <a:latin typeface="微软雅黑" pitchFamily="34" charset="-122"/>
                    <a:ea typeface="微软雅黑" pitchFamily="34" charset="-122"/>
                  </a:rPr>
                  <a:t>分组</a:t>
                </a:r>
              </a:p>
              <a:p>
                <a:r>
                  <a:rPr kumimoji="1" lang="zh-CN" altLang="en-US" sz="1200" b="1" dirty="0">
                    <a:latin typeface="微软雅黑" pitchFamily="34" charset="-122"/>
                    <a:ea typeface="微软雅黑" pitchFamily="34" charset="-122"/>
                  </a:rPr>
                  <a:t>丢失率</a:t>
                </a:r>
              </a:p>
            </p:txBody>
          </p:sp>
          <p:sp>
            <p:nvSpPr>
              <p:cNvPr id="9" name="Text Box 6"/>
              <p:cNvSpPr txBox="1">
                <a:spLocks noChangeArrowheads="1"/>
              </p:cNvSpPr>
              <p:nvPr/>
            </p:nvSpPr>
            <p:spPr bwMode="auto">
              <a:xfrm>
                <a:off x="7081122" y="5716590"/>
                <a:ext cx="1518228"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端到端时延</a:t>
                </a:r>
              </a:p>
            </p:txBody>
          </p:sp>
          <p:sp>
            <p:nvSpPr>
              <p:cNvPr id="10" name="Line 7"/>
              <p:cNvSpPr>
                <a:spLocks noChangeShapeType="1"/>
              </p:cNvSpPr>
              <p:nvPr/>
            </p:nvSpPr>
            <p:spPr bwMode="auto">
              <a:xfrm>
                <a:off x="3212139" y="5624514"/>
                <a:ext cx="0" cy="69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8"/>
              <p:cNvSpPr>
                <a:spLocks noChangeShapeType="1"/>
              </p:cNvSpPr>
              <p:nvPr/>
            </p:nvSpPr>
            <p:spPr bwMode="auto">
              <a:xfrm>
                <a:off x="4142547" y="5624514"/>
                <a:ext cx="0" cy="69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9"/>
              <p:cNvSpPr>
                <a:spLocks noChangeShapeType="1"/>
              </p:cNvSpPr>
              <p:nvPr/>
            </p:nvSpPr>
            <p:spPr bwMode="auto">
              <a:xfrm>
                <a:off x="5996482" y="5624514"/>
                <a:ext cx="0" cy="69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rot="5400000">
                <a:off x="2323867" y="4815881"/>
                <a:ext cx="0" cy="77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rot="5400000">
                <a:off x="2323867" y="3972919"/>
                <a:ext cx="0" cy="77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rot="5400000">
                <a:off x="2323867" y="2288581"/>
                <a:ext cx="0" cy="77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Arc 13"/>
              <p:cNvSpPr>
                <a:spLocks/>
              </p:cNvSpPr>
              <p:nvPr/>
            </p:nvSpPr>
            <p:spPr bwMode="auto">
              <a:xfrm>
                <a:off x="2285173" y="2327277"/>
                <a:ext cx="3711310" cy="33670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FF99"/>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Arc 14"/>
              <p:cNvSpPr>
                <a:spLocks/>
              </p:cNvSpPr>
              <p:nvPr/>
            </p:nvSpPr>
            <p:spPr bwMode="auto">
              <a:xfrm>
                <a:off x="2285172" y="4016376"/>
                <a:ext cx="1857375" cy="1697038"/>
              </a:xfrm>
              <a:custGeom>
                <a:avLst/>
                <a:gdLst>
                  <a:gd name="G0" fmla="+- 0 0 0"/>
                  <a:gd name="G1" fmla="+- 21600 0 0"/>
                  <a:gd name="G2" fmla="+- 21600 0 0"/>
                  <a:gd name="T0" fmla="*/ 0 w 21600"/>
                  <a:gd name="T1" fmla="*/ 0 h 21788"/>
                  <a:gd name="T2" fmla="*/ 21599 w 21600"/>
                  <a:gd name="T3" fmla="*/ 21788 h 21788"/>
                  <a:gd name="T4" fmla="*/ 0 w 21600"/>
                  <a:gd name="T5" fmla="*/ 21600 h 21788"/>
                </a:gdLst>
                <a:ahLst/>
                <a:cxnLst>
                  <a:cxn ang="0">
                    <a:pos x="T0" y="T1"/>
                  </a:cxn>
                  <a:cxn ang="0">
                    <a:pos x="T2" y="T3"/>
                  </a:cxn>
                  <a:cxn ang="0">
                    <a:pos x="T4" y="T5"/>
                  </a:cxn>
                </a:cxnLst>
                <a:rect l="0" t="0" r="r" b="b"/>
                <a:pathLst>
                  <a:path w="21600" h="21788" fill="none" extrusionOk="0">
                    <a:moveTo>
                      <a:pt x="-1" y="0"/>
                    </a:moveTo>
                    <a:cubicBezTo>
                      <a:pt x="11929" y="0"/>
                      <a:pt x="21600" y="9670"/>
                      <a:pt x="21600" y="21600"/>
                    </a:cubicBezTo>
                    <a:cubicBezTo>
                      <a:pt x="21600" y="21662"/>
                      <a:pt x="21599" y="21725"/>
                      <a:pt x="21599" y="21788"/>
                    </a:cubicBezTo>
                  </a:path>
                  <a:path w="21600" h="21788" stroke="0" extrusionOk="0">
                    <a:moveTo>
                      <a:pt x="-1" y="0"/>
                    </a:moveTo>
                    <a:cubicBezTo>
                      <a:pt x="11929" y="0"/>
                      <a:pt x="21600" y="9670"/>
                      <a:pt x="21600" y="21600"/>
                    </a:cubicBezTo>
                    <a:cubicBezTo>
                      <a:pt x="21600" y="21662"/>
                      <a:pt x="21599" y="21725"/>
                      <a:pt x="21599" y="21788"/>
                    </a:cubicBezTo>
                    <a:lnTo>
                      <a:pt x="0" y="21600"/>
                    </a:lnTo>
                    <a:close/>
                  </a:path>
                </a:pathLst>
              </a:custGeom>
              <a:solidFill>
                <a:srgbClr val="FFFF00"/>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Arc 15"/>
              <p:cNvSpPr>
                <a:spLocks/>
              </p:cNvSpPr>
              <p:nvPr/>
            </p:nvSpPr>
            <p:spPr bwMode="auto">
              <a:xfrm>
                <a:off x="2285172" y="4854576"/>
                <a:ext cx="926967" cy="8397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66FFFF"/>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6"/>
              <p:cNvSpPr>
                <a:spLocks noChangeShapeType="1"/>
              </p:cNvSpPr>
              <p:nvPr/>
            </p:nvSpPr>
            <p:spPr bwMode="auto">
              <a:xfrm flipV="1">
                <a:off x="2285172" y="1585914"/>
                <a:ext cx="0" cy="4108450"/>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7"/>
              <p:cNvSpPr>
                <a:spLocks noChangeShapeType="1"/>
              </p:cNvSpPr>
              <p:nvPr/>
            </p:nvSpPr>
            <p:spPr bwMode="auto">
              <a:xfrm rot="5400000" flipV="1">
                <a:off x="4747913" y="3231623"/>
                <a:ext cx="0" cy="4925483"/>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Freeform 18"/>
              <p:cNvSpPr>
                <a:spLocks/>
              </p:cNvSpPr>
              <p:nvPr/>
            </p:nvSpPr>
            <p:spPr bwMode="auto">
              <a:xfrm>
                <a:off x="3301569" y="2246314"/>
                <a:ext cx="3348435" cy="3054350"/>
              </a:xfrm>
              <a:custGeom>
                <a:avLst/>
                <a:gdLst>
                  <a:gd name="T0" fmla="*/ 0 w 1860"/>
                  <a:gd name="T1" fmla="*/ 0 h 1608"/>
                  <a:gd name="T2" fmla="*/ 0 w 1860"/>
                  <a:gd name="T3" fmla="*/ 1608 h 1608"/>
                  <a:gd name="T4" fmla="*/ 1860 w 1860"/>
                  <a:gd name="T5" fmla="*/ 1608 h 1608"/>
                </a:gdLst>
                <a:ahLst/>
                <a:cxnLst>
                  <a:cxn ang="0">
                    <a:pos x="T0" y="T1"/>
                  </a:cxn>
                  <a:cxn ang="0">
                    <a:pos x="T2" y="T3"/>
                  </a:cxn>
                  <a:cxn ang="0">
                    <a:pos x="T4" y="T5"/>
                  </a:cxn>
                </a:cxnLst>
                <a:rect l="0" t="0" r="r" b="b"/>
                <a:pathLst>
                  <a:path w="1860" h="1608">
                    <a:moveTo>
                      <a:pt x="0" y="0"/>
                    </a:moveTo>
                    <a:lnTo>
                      <a:pt x="0" y="1608"/>
                    </a:lnTo>
                    <a:lnTo>
                      <a:pt x="1860" y="1608"/>
                    </a:lnTo>
                  </a:path>
                </a:pathLst>
              </a:custGeom>
              <a:noFill/>
              <a:ln w="19050" cap="flat">
                <a:solidFill>
                  <a:srgbClr val="FF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 name="Freeform 19"/>
              <p:cNvSpPr>
                <a:spLocks/>
              </p:cNvSpPr>
              <p:nvPr/>
            </p:nvSpPr>
            <p:spPr bwMode="auto">
              <a:xfrm>
                <a:off x="3332525" y="2292351"/>
                <a:ext cx="3327797" cy="3022600"/>
              </a:xfrm>
              <a:custGeom>
                <a:avLst/>
                <a:gdLst>
                  <a:gd name="T0" fmla="*/ 0 w 1627"/>
                  <a:gd name="T1" fmla="*/ 0 h 1291"/>
                  <a:gd name="T2" fmla="*/ 3 w 1627"/>
                  <a:gd name="T3" fmla="*/ 323 h 1291"/>
                  <a:gd name="T4" fmla="*/ 16 w 1627"/>
                  <a:gd name="T5" fmla="*/ 609 h 1291"/>
                  <a:gd name="T6" fmla="*/ 63 w 1627"/>
                  <a:gd name="T7" fmla="*/ 929 h 1291"/>
                  <a:gd name="T8" fmla="*/ 150 w 1627"/>
                  <a:gd name="T9" fmla="*/ 1058 h 1291"/>
                  <a:gd name="T10" fmla="*/ 231 w 1627"/>
                  <a:gd name="T11" fmla="*/ 1109 h 1291"/>
                  <a:gd name="T12" fmla="*/ 474 w 1627"/>
                  <a:gd name="T13" fmla="*/ 1207 h 1291"/>
                  <a:gd name="T14" fmla="*/ 865 w 1627"/>
                  <a:gd name="T15" fmla="*/ 1266 h 1291"/>
                  <a:gd name="T16" fmla="*/ 1329 w 1627"/>
                  <a:gd name="T17" fmla="*/ 1288 h 1291"/>
                  <a:gd name="T18" fmla="*/ 1627 w 1627"/>
                  <a:gd name="T19" fmla="*/ 1285 h 1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27" h="1291">
                    <a:moveTo>
                      <a:pt x="0" y="0"/>
                    </a:moveTo>
                    <a:cubicBezTo>
                      <a:pt x="0" y="54"/>
                      <a:pt x="0" y="222"/>
                      <a:pt x="3" y="323"/>
                    </a:cubicBezTo>
                    <a:cubicBezTo>
                      <a:pt x="6" y="424"/>
                      <a:pt x="6" y="508"/>
                      <a:pt x="16" y="609"/>
                    </a:cubicBezTo>
                    <a:cubicBezTo>
                      <a:pt x="26" y="710"/>
                      <a:pt x="41" y="854"/>
                      <a:pt x="63" y="929"/>
                    </a:cubicBezTo>
                    <a:cubicBezTo>
                      <a:pt x="85" y="1004"/>
                      <a:pt x="122" y="1028"/>
                      <a:pt x="150" y="1058"/>
                    </a:cubicBezTo>
                    <a:cubicBezTo>
                      <a:pt x="178" y="1088"/>
                      <a:pt x="177" y="1084"/>
                      <a:pt x="231" y="1109"/>
                    </a:cubicBezTo>
                    <a:cubicBezTo>
                      <a:pt x="285" y="1134"/>
                      <a:pt x="368" y="1181"/>
                      <a:pt x="474" y="1207"/>
                    </a:cubicBezTo>
                    <a:cubicBezTo>
                      <a:pt x="580" y="1233"/>
                      <a:pt x="723" y="1252"/>
                      <a:pt x="865" y="1266"/>
                    </a:cubicBezTo>
                    <a:cubicBezTo>
                      <a:pt x="1008" y="1280"/>
                      <a:pt x="1203" y="1285"/>
                      <a:pt x="1329" y="1288"/>
                    </a:cubicBezTo>
                    <a:cubicBezTo>
                      <a:pt x="1456" y="1291"/>
                      <a:pt x="1565" y="1286"/>
                      <a:pt x="1627" y="1285"/>
                    </a:cubicBezTo>
                  </a:path>
                </a:pathLst>
              </a:custGeom>
              <a:noFill/>
              <a:ln w="28575"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3" name="Text Box 20"/>
              <p:cNvSpPr txBox="1">
                <a:spLocks noChangeArrowheads="1"/>
              </p:cNvSpPr>
              <p:nvPr/>
            </p:nvSpPr>
            <p:spPr bwMode="auto">
              <a:xfrm>
                <a:off x="1540501" y="2211390"/>
                <a:ext cx="895837"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20 %</a:t>
                </a:r>
              </a:p>
            </p:txBody>
          </p:sp>
          <p:sp>
            <p:nvSpPr>
              <p:cNvPr id="24" name="Text Box 21"/>
              <p:cNvSpPr txBox="1">
                <a:spLocks noChangeArrowheads="1"/>
              </p:cNvSpPr>
              <p:nvPr/>
            </p:nvSpPr>
            <p:spPr bwMode="auto">
              <a:xfrm>
                <a:off x="1564579" y="3900489"/>
                <a:ext cx="895837"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10 %</a:t>
                </a:r>
              </a:p>
            </p:txBody>
          </p:sp>
          <p:sp>
            <p:nvSpPr>
              <p:cNvPr id="25" name="Text Box 22"/>
              <p:cNvSpPr txBox="1">
                <a:spLocks noChangeArrowheads="1"/>
              </p:cNvSpPr>
              <p:nvPr/>
            </p:nvSpPr>
            <p:spPr bwMode="auto">
              <a:xfrm>
                <a:off x="1671206" y="4710116"/>
                <a:ext cx="745341"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5 %</a:t>
                </a:r>
              </a:p>
            </p:txBody>
          </p:sp>
          <p:sp>
            <p:nvSpPr>
              <p:cNvPr id="26" name="Text Box 23"/>
              <p:cNvSpPr txBox="1">
                <a:spLocks noChangeArrowheads="1"/>
              </p:cNvSpPr>
              <p:nvPr/>
            </p:nvSpPr>
            <p:spPr bwMode="auto">
              <a:xfrm>
                <a:off x="2799388" y="5716590"/>
                <a:ext cx="1178974"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100 ms</a:t>
                </a:r>
              </a:p>
            </p:txBody>
          </p:sp>
          <p:sp>
            <p:nvSpPr>
              <p:cNvPr id="27" name="Text Box 24"/>
              <p:cNvSpPr txBox="1">
                <a:spLocks noChangeArrowheads="1"/>
              </p:cNvSpPr>
              <p:nvPr/>
            </p:nvSpPr>
            <p:spPr bwMode="auto">
              <a:xfrm>
                <a:off x="3839863" y="5716590"/>
                <a:ext cx="1178974"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150 ms</a:t>
                </a:r>
              </a:p>
            </p:txBody>
          </p:sp>
          <p:sp>
            <p:nvSpPr>
              <p:cNvPr id="28" name="Text Box 25"/>
              <p:cNvSpPr txBox="1">
                <a:spLocks noChangeArrowheads="1"/>
              </p:cNvSpPr>
              <p:nvPr/>
            </p:nvSpPr>
            <p:spPr bwMode="auto">
              <a:xfrm>
                <a:off x="5580291" y="5716590"/>
                <a:ext cx="1178974"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400 ms</a:t>
                </a:r>
              </a:p>
            </p:txBody>
          </p:sp>
          <p:sp>
            <p:nvSpPr>
              <p:cNvPr id="29" name="Oval 26"/>
              <p:cNvSpPr>
                <a:spLocks noChangeArrowheads="1"/>
              </p:cNvSpPr>
              <p:nvPr/>
            </p:nvSpPr>
            <p:spPr bwMode="auto">
              <a:xfrm>
                <a:off x="6617327" y="5246690"/>
                <a:ext cx="85990" cy="92075"/>
              </a:xfrm>
              <a:prstGeom prst="ellipse">
                <a:avLst/>
              </a:prstGeom>
              <a:solidFill>
                <a:schemeClr val="bg1"/>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Oval 27"/>
              <p:cNvSpPr>
                <a:spLocks noChangeArrowheads="1"/>
              </p:cNvSpPr>
              <p:nvPr/>
            </p:nvSpPr>
            <p:spPr bwMode="auto">
              <a:xfrm>
                <a:off x="3745275" y="4830765"/>
                <a:ext cx="85990" cy="90487"/>
              </a:xfrm>
              <a:prstGeom prst="ellipse">
                <a:avLst/>
              </a:prstGeom>
              <a:solidFill>
                <a:schemeClr val="bg1"/>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Oval 28"/>
              <p:cNvSpPr>
                <a:spLocks noChangeArrowheads="1"/>
              </p:cNvSpPr>
              <p:nvPr/>
            </p:nvSpPr>
            <p:spPr bwMode="auto">
              <a:xfrm>
                <a:off x="3289530" y="2212977"/>
                <a:ext cx="87709" cy="92075"/>
              </a:xfrm>
              <a:prstGeom prst="ellipse">
                <a:avLst/>
              </a:prstGeom>
              <a:solidFill>
                <a:schemeClr val="bg1"/>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Oval 29"/>
              <p:cNvSpPr>
                <a:spLocks noChangeArrowheads="1"/>
              </p:cNvSpPr>
              <p:nvPr/>
            </p:nvSpPr>
            <p:spPr bwMode="auto">
              <a:xfrm>
                <a:off x="3256854" y="5245101"/>
                <a:ext cx="87710" cy="90488"/>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200" b="1">
                  <a:latin typeface="微软雅黑" pitchFamily="34" charset="-122"/>
                  <a:ea typeface="微软雅黑" pitchFamily="34" charset="-122"/>
                </a:endParaRPr>
              </a:p>
            </p:txBody>
          </p:sp>
          <p:sp>
            <p:nvSpPr>
              <p:cNvPr id="33" name="Oval 30"/>
              <p:cNvSpPr>
                <a:spLocks noChangeArrowheads="1"/>
              </p:cNvSpPr>
              <p:nvPr/>
            </p:nvSpPr>
            <p:spPr bwMode="auto">
              <a:xfrm>
                <a:off x="3353162" y="3949702"/>
                <a:ext cx="87710" cy="92075"/>
              </a:xfrm>
              <a:prstGeom prst="ellipse">
                <a:avLst/>
              </a:prstGeom>
              <a:solidFill>
                <a:schemeClr val="bg1"/>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Text Box 31"/>
              <p:cNvSpPr txBox="1">
                <a:spLocks noChangeArrowheads="1"/>
              </p:cNvSpPr>
              <p:nvPr/>
            </p:nvSpPr>
            <p:spPr bwMode="auto">
              <a:xfrm>
                <a:off x="3332524" y="2009777"/>
                <a:ext cx="477507"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p>
            </p:txBody>
          </p:sp>
          <p:sp>
            <p:nvSpPr>
              <p:cNvPr id="35" name="Text Box 32"/>
              <p:cNvSpPr txBox="1">
                <a:spLocks noChangeArrowheads="1"/>
              </p:cNvSpPr>
              <p:nvPr/>
            </p:nvSpPr>
            <p:spPr bwMode="auto">
              <a:xfrm>
                <a:off x="3416794" y="3629027"/>
                <a:ext cx="462203"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p>
            </p:txBody>
          </p:sp>
          <p:sp>
            <p:nvSpPr>
              <p:cNvPr id="36" name="Text Box 33"/>
              <p:cNvSpPr txBox="1">
                <a:spLocks noChangeArrowheads="1"/>
              </p:cNvSpPr>
              <p:nvPr/>
            </p:nvSpPr>
            <p:spPr bwMode="auto">
              <a:xfrm>
                <a:off x="3800307" y="4602165"/>
                <a:ext cx="459653" cy="44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p>
            </p:txBody>
          </p:sp>
          <p:sp>
            <p:nvSpPr>
              <p:cNvPr id="37" name="Text Box 35"/>
              <p:cNvSpPr txBox="1">
                <a:spLocks noChangeArrowheads="1"/>
              </p:cNvSpPr>
              <p:nvPr/>
            </p:nvSpPr>
            <p:spPr bwMode="auto">
              <a:xfrm>
                <a:off x="3244403" y="4959728"/>
                <a:ext cx="473228" cy="41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CC00CC"/>
                    </a:solidFill>
                    <a:latin typeface="微软雅黑" pitchFamily="34" charset="-122"/>
                    <a:ea typeface="微软雅黑" pitchFamily="34" charset="-122"/>
                  </a:rPr>
                  <a:t>N</a:t>
                </a:r>
              </a:p>
            </p:txBody>
          </p:sp>
          <p:sp>
            <p:nvSpPr>
              <p:cNvPr id="38" name="Text Box 36"/>
              <p:cNvSpPr txBox="1">
                <a:spLocks noChangeArrowheads="1"/>
              </p:cNvSpPr>
              <p:nvPr/>
            </p:nvSpPr>
            <p:spPr bwMode="auto">
              <a:xfrm>
                <a:off x="2389669" y="4298953"/>
                <a:ext cx="740955" cy="41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良好</a:t>
                </a:r>
              </a:p>
            </p:txBody>
          </p:sp>
          <p:sp>
            <p:nvSpPr>
              <p:cNvPr id="39" name="Text Box 37"/>
              <p:cNvSpPr txBox="1">
                <a:spLocks noChangeArrowheads="1"/>
              </p:cNvSpPr>
              <p:nvPr/>
            </p:nvSpPr>
            <p:spPr bwMode="auto">
              <a:xfrm>
                <a:off x="2369031" y="2881313"/>
                <a:ext cx="740955" cy="639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b="1">
                    <a:solidFill>
                      <a:srgbClr val="0000CC"/>
                    </a:solidFill>
                    <a:latin typeface="微软雅黑" pitchFamily="34" charset="-122"/>
                    <a:ea typeface="微软雅黑" pitchFamily="34" charset="-122"/>
                  </a:rPr>
                  <a:t>基本</a:t>
                </a:r>
              </a:p>
              <a:p>
                <a:pPr>
                  <a:lnSpc>
                    <a:spcPct val="90000"/>
                  </a:lnSpc>
                </a:pPr>
                <a:r>
                  <a:rPr kumimoji="1" lang="zh-CN" altLang="en-US" sz="1200" b="1">
                    <a:solidFill>
                      <a:srgbClr val="0000CC"/>
                    </a:solidFill>
                    <a:latin typeface="微软雅黑" pitchFamily="34" charset="-122"/>
                    <a:ea typeface="微软雅黑" pitchFamily="34" charset="-122"/>
                  </a:rPr>
                  <a:t>可用</a:t>
                </a:r>
              </a:p>
            </p:txBody>
          </p:sp>
          <p:sp>
            <p:nvSpPr>
              <p:cNvPr id="40" name="Text Box 38"/>
              <p:cNvSpPr txBox="1">
                <a:spLocks noChangeArrowheads="1"/>
              </p:cNvSpPr>
              <p:nvPr/>
            </p:nvSpPr>
            <p:spPr bwMode="auto">
              <a:xfrm>
                <a:off x="2381069" y="1936837"/>
                <a:ext cx="740955" cy="41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不好</a:t>
                </a:r>
              </a:p>
            </p:txBody>
          </p:sp>
          <p:sp>
            <p:nvSpPr>
              <p:cNvPr id="41" name="Text Box 39"/>
              <p:cNvSpPr txBox="1">
                <a:spLocks noChangeArrowheads="1"/>
              </p:cNvSpPr>
              <p:nvPr/>
            </p:nvSpPr>
            <p:spPr bwMode="auto">
              <a:xfrm>
                <a:off x="2230311" y="5107668"/>
                <a:ext cx="905206" cy="600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5000"/>
                  </a:lnSpc>
                </a:pPr>
                <a:r>
                  <a:rPr kumimoji="1" lang="zh-CN" altLang="en-US" sz="1050" b="1" dirty="0">
                    <a:solidFill>
                      <a:srgbClr val="0000CC"/>
                    </a:solidFill>
                    <a:latin typeface="微软雅黑" pitchFamily="34" charset="-122"/>
                    <a:ea typeface="微软雅黑" pitchFamily="34" charset="-122"/>
                  </a:rPr>
                  <a:t>长途电话质量</a:t>
                </a:r>
              </a:p>
            </p:txBody>
          </p:sp>
          <p:sp>
            <p:nvSpPr>
              <p:cNvPr id="43" name="Freeform 41"/>
              <p:cNvSpPr>
                <a:spLocks/>
              </p:cNvSpPr>
              <p:nvPr/>
            </p:nvSpPr>
            <p:spPr bwMode="auto">
              <a:xfrm>
                <a:off x="4010122" y="4048127"/>
                <a:ext cx="1322519" cy="842962"/>
              </a:xfrm>
              <a:custGeom>
                <a:avLst/>
                <a:gdLst>
                  <a:gd name="T0" fmla="*/ 0 w 736"/>
                  <a:gd name="T1" fmla="*/ 0 h 481"/>
                  <a:gd name="T2" fmla="*/ 80 w 736"/>
                  <a:gd name="T3" fmla="*/ 212 h 481"/>
                  <a:gd name="T4" fmla="*/ 176 w 736"/>
                  <a:gd name="T5" fmla="*/ 316 h 481"/>
                  <a:gd name="T6" fmla="*/ 308 w 736"/>
                  <a:gd name="T7" fmla="*/ 392 h 481"/>
                  <a:gd name="T8" fmla="*/ 460 w 736"/>
                  <a:gd name="T9" fmla="*/ 444 h 481"/>
                  <a:gd name="T10" fmla="*/ 640 w 736"/>
                  <a:gd name="T11" fmla="*/ 476 h 481"/>
                  <a:gd name="T12" fmla="*/ 736 w 736"/>
                  <a:gd name="T13" fmla="*/ 476 h 481"/>
                </a:gdLst>
                <a:ahLst/>
                <a:cxnLst>
                  <a:cxn ang="0">
                    <a:pos x="T0" y="T1"/>
                  </a:cxn>
                  <a:cxn ang="0">
                    <a:pos x="T2" y="T3"/>
                  </a:cxn>
                  <a:cxn ang="0">
                    <a:pos x="T4" y="T5"/>
                  </a:cxn>
                  <a:cxn ang="0">
                    <a:pos x="T6" y="T7"/>
                  </a:cxn>
                  <a:cxn ang="0">
                    <a:pos x="T8" y="T9"/>
                  </a:cxn>
                  <a:cxn ang="0">
                    <a:pos x="T10" y="T11"/>
                  </a:cxn>
                  <a:cxn ang="0">
                    <a:pos x="T12" y="T13"/>
                  </a:cxn>
                </a:cxnLst>
                <a:rect l="0" t="0" r="r" b="b"/>
                <a:pathLst>
                  <a:path w="736" h="481">
                    <a:moveTo>
                      <a:pt x="0" y="0"/>
                    </a:moveTo>
                    <a:cubicBezTo>
                      <a:pt x="13" y="35"/>
                      <a:pt x="51" y="159"/>
                      <a:pt x="80" y="212"/>
                    </a:cubicBezTo>
                    <a:cubicBezTo>
                      <a:pt x="109" y="265"/>
                      <a:pt x="138" y="286"/>
                      <a:pt x="176" y="316"/>
                    </a:cubicBezTo>
                    <a:cubicBezTo>
                      <a:pt x="214" y="346"/>
                      <a:pt x="261" y="371"/>
                      <a:pt x="308" y="392"/>
                    </a:cubicBezTo>
                    <a:cubicBezTo>
                      <a:pt x="355" y="413"/>
                      <a:pt x="405" y="430"/>
                      <a:pt x="460" y="444"/>
                    </a:cubicBezTo>
                    <a:cubicBezTo>
                      <a:pt x="515" y="458"/>
                      <a:pt x="594" y="471"/>
                      <a:pt x="640" y="476"/>
                    </a:cubicBezTo>
                    <a:cubicBezTo>
                      <a:pt x="686" y="481"/>
                      <a:pt x="712" y="480"/>
                      <a:pt x="736" y="47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4" name="Text Box 42"/>
              <p:cNvSpPr txBox="1">
                <a:spLocks noChangeArrowheads="1"/>
              </p:cNvSpPr>
              <p:nvPr/>
            </p:nvSpPr>
            <p:spPr bwMode="auto">
              <a:xfrm>
                <a:off x="4068595" y="4032252"/>
                <a:ext cx="1569244" cy="675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b="1" dirty="0">
                    <a:latin typeface="微软雅黑" pitchFamily="34" charset="-122"/>
                    <a:ea typeface="微软雅黑" pitchFamily="34" charset="-122"/>
                  </a:rPr>
                  <a:t>接收端播放</a:t>
                </a:r>
              </a:p>
              <a:p>
                <a:pPr>
                  <a:lnSpc>
                    <a:spcPct val="90000"/>
                  </a:lnSpc>
                </a:pPr>
                <a:r>
                  <a:rPr kumimoji="1" lang="zh-CN" altLang="en-US" sz="1200" b="1" dirty="0">
                    <a:latin typeface="微软雅黑" pitchFamily="34" charset="-122"/>
                    <a:ea typeface="微软雅黑" pitchFamily="34" charset="-122"/>
                  </a:rPr>
                  <a:t>    时延增大</a:t>
                </a:r>
              </a:p>
            </p:txBody>
          </p:sp>
        </p:grpSp>
        <p:sp>
          <p:nvSpPr>
            <p:cNvPr id="3" name="矩形 2"/>
            <p:cNvSpPr/>
            <p:nvPr/>
          </p:nvSpPr>
          <p:spPr>
            <a:xfrm>
              <a:off x="2263347" y="1372578"/>
              <a:ext cx="432020" cy="2462213"/>
            </a:xfrm>
            <a:prstGeom prst="rect">
              <a:avLst/>
            </a:prstGeom>
          </p:spPr>
          <p:txBody>
            <a:bodyPr wrap="square">
              <a:spAutoFit/>
            </a:bodyPr>
            <a:lstStyle/>
            <a:p>
              <a:pPr algn="r"/>
              <a:r>
                <a:rPr lang="zh-CN" altLang="en-US" sz="1400" b="1" dirty="0">
                  <a:solidFill>
                    <a:srgbClr val="0000FF"/>
                  </a:solidFill>
                  <a:latin typeface="微软雅黑" panose="020B0503020204020204" pitchFamily="34" charset="-122"/>
                  <a:ea typeface="微软雅黑" panose="020B0503020204020204" pitchFamily="34" charset="-122"/>
                </a:rPr>
                <a:t>话音质量可分为四个级别</a:t>
              </a:r>
            </a:p>
          </p:txBody>
        </p:sp>
      </p:grpSp>
      <p:grpSp>
        <p:nvGrpSpPr>
          <p:cNvPr id="53" name="组合 52"/>
          <p:cNvGrpSpPr/>
          <p:nvPr/>
        </p:nvGrpSpPr>
        <p:grpSpPr>
          <a:xfrm>
            <a:off x="4394706" y="1556328"/>
            <a:ext cx="1446012" cy="1084818"/>
            <a:chOff x="4394706" y="1556328"/>
            <a:chExt cx="1446012" cy="1084818"/>
          </a:xfrm>
        </p:grpSpPr>
        <p:sp>
          <p:nvSpPr>
            <p:cNvPr id="5" name="矩形 4"/>
            <p:cNvSpPr/>
            <p:nvPr/>
          </p:nvSpPr>
          <p:spPr>
            <a:xfrm>
              <a:off x="4839361" y="1556328"/>
              <a:ext cx="1001357" cy="523220"/>
            </a:xfrm>
            <a:prstGeom prst="rect">
              <a:avLst/>
            </a:prstGeom>
            <a:noFill/>
            <a:ln>
              <a:noFill/>
            </a:ln>
          </p:spPr>
          <p:txBody>
            <a:bodyPr wrap="square">
              <a:spAutoFit/>
            </a:bodyPr>
            <a:lstStyle/>
            <a:p>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电话的通话质量</a:t>
              </a:r>
            </a:p>
          </p:txBody>
        </p:sp>
        <p:cxnSp>
          <p:nvCxnSpPr>
            <p:cNvPr id="50" name="直接连接符 49"/>
            <p:cNvCxnSpPr/>
            <p:nvPr/>
          </p:nvCxnSpPr>
          <p:spPr>
            <a:xfrm flipH="1">
              <a:off x="4394706" y="2030994"/>
              <a:ext cx="699808" cy="610152"/>
            </a:xfrm>
            <a:prstGeom prst="line">
              <a:avLst/>
            </a:prstGeom>
            <a:ln w="12700">
              <a:solidFill>
                <a:srgbClr val="000099"/>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6976571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1427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64448"/>
            <a:ext cx="20569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采用线速路由器 </a:t>
            </a:r>
          </a:p>
        </p:txBody>
      </p:sp>
      <p:sp>
        <p:nvSpPr>
          <p:cNvPr id="10" name="Rectangle 46"/>
          <p:cNvSpPr>
            <a:spLocks noChangeArrowheads="1"/>
          </p:cNvSpPr>
          <p:nvPr/>
        </p:nvSpPr>
        <p:spPr bwMode="auto">
          <a:xfrm>
            <a:off x="517853" y="929902"/>
            <a:ext cx="831559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提高路由器的转发分组的速率</a:t>
            </a:r>
            <a:r>
              <a:rPr lang="zh-CN" altLang="en-US" sz="2000" b="1" dirty="0">
                <a:latin typeface="微软雅黑" pitchFamily="34" charset="-122"/>
                <a:ea typeface="微软雅黑" pitchFamily="34" charset="-122"/>
              </a:rPr>
              <a:t>对提高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电话的质量也是很重要的。</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线速路由器：</a:t>
            </a:r>
            <a:r>
              <a:rPr lang="zh-CN" altLang="en-US" sz="2000" b="1" dirty="0">
                <a:latin typeface="微软雅黑" pitchFamily="34" charset="-122"/>
                <a:ea typeface="微软雅黑" pitchFamily="34" charset="-122"/>
              </a:rPr>
              <a:t>吉比特路由器，每秒可转发 </a:t>
            </a:r>
            <a:r>
              <a:rPr lang="en-US" altLang="zh-CN" sz="2000" b="1" dirty="0">
                <a:latin typeface="微软雅黑" pitchFamily="34" charset="-122"/>
                <a:ea typeface="微软雅黑" pitchFamily="34" charset="-122"/>
              </a:rPr>
              <a:t>5 </a:t>
            </a:r>
            <a:r>
              <a:rPr lang="zh-CN" altLang="en-US" sz="2000" b="1" dirty="0">
                <a:latin typeface="微软雅黑" pitchFamily="34" charset="-122"/>
                <a:ea typeface="微软雅黑" pitchFamily="34" charset="-122"/>
              </a:rPr>
              <a:t>百万至 </a:t>
            </a:r>
            <a:r>
              <a:rPr lang="en-US" altLang="zh-CN" sz="2000" b="1" dirty="0">
                <a:latin typeface="微软雅黑" pitchFamily="34" charset="-122"/>
                <a:ea typeface="微软雅黑" pitchFamily="34" charset="-122"/>
              </a:rPr>
              <a:t>6 </a:t>
            </a:r>
            <a:r>
              <a:rPr lang="zh-CN" altLang="en-US" sz="2000" b="1" dirty="0">
                <a:latin typeface="微软雅黑" pitchFamily="34" charset="-122"/>
                <a:ea typeface="微软雅黑" pitchFamily="34" charset="-122"/>
              </a:rPr>
              <a:t>千万个分组（交换速率达 </a:t>
            </a:r>
            <a:r>
              <a:rPr lang="en-US" altLang="zh-CN" sz="2000" b="1" dirty="0">
                <a:latin typeface="微软雅黑" pitchFamily="34" charset="-122"/>
                <a:ea typeface="微软雅黑" pitchFamily="34" charset="-122"/>
              </a:rPr>
              <a:t>60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左右）。普通路由器每秒可转发 </a:t>
            </a:r>
            <a:r>
              <a:rPr lang="en-US" altLang="zh-CN" sz="2000" b="1" dirty="0">
                <a:latin typeface="微软雅黑" pitchFamily="34" charset="-122"/>
                <a:ea typeface="微软雅黑" pitchFamily="34" charset="-122"/>
              </a:rPr>
              <a:t>50~100 </a:t>
            </a:r>
            <a:r>
              <a:rPr lang="zh-CN" altLang="en-US" sz="2000" b="1" dirty="0">
                <a:latin typeface="微软雅黑" pitchFamily="34" charset="-122"/>
                <a:ea typeface="微软雅黑" pitchFamily="34" charset="-122"/>
              </a:rPr>
              <a:t>万个分组。</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可以进一步减少由网络造成的时延。 </a:t>
            </a:r>
          </a:p>
        </p:txBody>
      </p:sp>
    </p:spTree>
    <p:extLst>
      <p:ext uri="{BB962C8B-B14F-4D97-AF65-F5344CB8AC3E}">
        <p14:creationId xmlns:p14="http://schemas.microsoft.com/office/powerpoint/2010/main" val="16499878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1682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66993"/>
            <a:ext cx="15440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关于 </a:t>
            </a:r>
            <a:r>
              <a:rPr lang="en-US" altLang="zh-CN" sz="2000" b="1" dirty="0">
                <a:latin typeface="微软雅黑" pitchFamily="34" charset="-122"/>
                <a:ea typeface="微软雅黑" pitchFamily="34" charset="-122"/>
              </a:rPr>
              <a:t>Skype</a:t>
            </a:r>
          </a:p>
        </p:txBody>
      </p:sp>
      <p:sp>
        <p:nvSpPr>
          <p:cNvPr id="4" name="Rectangle 46"/>
          <p:cNvSpPr>
            <a:spLocks noChangeArrowheads="1"/>
          </p:cNvSpPr>
          <p:nvPr/>
        </p:nvSpPr>
        <p:spPr bwMode="auto">
          <a:xfrm>
            <a:off x="517854" y="901292"/>
            <a:ext cx="8220704" cy="31700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b="1" dirty="0">
                <a:solidFill>
                  <a:srgbClr val="0000FF"/>
                </a:solidFill>
                <a:latin typeface="微软雅黑" pitchFamily="34" charset="-122"/>
                <a:ea typeface="微软雅黑" pitchFamily="34" charset="-122"/>
              </a:rPr>
              <a:t>Skype </a:t>
            </a:r>
            <a:r>
              <a:rPr lang="zh-CN" altLang="en-US" b="1" dirty="0">
                <a:latin typeface="微软雅黑" pitchFamily="34" charset="-122"/>
                <a:ea typeface="微软雅黑" pitchFamily="34" charset="-122"/>
              </a:rPr>
              <a:t>采用了</a:t>
            </a:r>
            <a:r>
              <a:rPr lang="zh-CN" altLang="en-US" b="1" dirty="0">
                <a:solidFill>
                  <a:srgbClr val="0000FF"/>
                </a:solidFill>
                <a:latin typeface="微软雅黑" pitchFamily="34" charset="-122"/>
                <a:ea typeface="微软雅黑" pitchFamily="34" charset="-122"/>
              </a:rPr>
              <a:t> </a:t>
            </a:r>
            <a:r>
              <a:rPr lang="en-US" altLang="zh-CN" b="1" dirty="0">
                <a:solidFill>
                  <a:srgbClr val="0000FF"/>
                </a:solidFill>
                <a:latin typeface="微软雅黑" pitchFamily="34" charset="-122"/>
                <a:ea typeface="微软雅黑" pitchFamily="34" charset="-122"/>
              </a:rPr>
              <a:t>P2P </a:t>
            </a:r>
            <a:r>
              <a:rPr lang="zh-CN" altLang="en-US" b="1" dirty="0">
                <a:latin typeface="微软雅黑" pitchFamily="34" charset="-122"/>
                <a:ea typeface="微软雅黑" pitchFamily="34" charset="-122"/>
              </a:rPr>
              <a:t>和</a:t>
            </a:r>
            <a:r>
              <a:rPr lang="zh-CN" altLang="en-US" b="1" dirty="0">
                <a:solidFill>
                  <a:srgbClr val="0000FF"/>
                </a:solidFill>
                <a:latin typeface="微软雅黑" pitchFamily="34" charset="-122"/>
                <a:ea typeface="微软雅黑" pitchFamily="34" charset="-122"/>
              </a:rPr>
              <a:t>全球索引技术</a:t>
            </a:r>
            <a:r>
              <a:rPr lang="zh-CN" altLang="en-US" b="1" dirty="0">
                <a:latin typeface="微软雅黑" pitchFamily="34" charset="-122"/>
                <a:ea typeface="微软雅黑" pitchFamily="34" charset="-122"/>
              </a:rPr>
              <a:t>提供快速路由选择机制，管理成本大大降低。由于用户路由信息</a:t>
            </a:r>
            <a:r>
              <a:rPr lang="zh-CN" altLang="en-US" b="1" dirty="0">
                <a:solidFill>
                  <a:srgbClr val="0000FF"/>
                </a:solidFill>
                <a:latin typeface="微软雅黑" pitchFamily="34" charset="-122"/>
                <a:ea typeface="微软雅黑" pitchFamily="34" charset="-122"/>
              </a:rPr>
              <a:t>分布式存储</a:t>
            </a:r>
            <a:r>
              <a:rPr lang="zh-CN" altLang="en-US" b="1" dirty="0">
                <a:latin typeface="微软雅黑" pitchFamily="34" charset="-122"/>
                <a:ea typeface="微软雅黑" pitchFamily="34" charset="-122"/>
              </a:rPr>
              <a:t>于因特网的结点中，因此呼叫连接完成得很快。</a:t>
            </a:r>
          </a:p>
          <a:p>
            <a:pPr marL="342900" indent="-342900" eaLnBrk="0" hangingPunct="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Skype </a:t>
            </a:r>
            <a:r>
              <a:rPr lang="zh-CN" altLang="en-US" b="1" dirty="0">
                <a:latin typeface="微软雅黑" pitchFamily="34" charset="-122"/>
                <a:ea typeface="微软雅黑" pitchFamily="34" charset="-122"/>
              </a:rPr>
              <a:t>采用了</a:t>
            </a:r>
            <a:r>
              <a:rPr lang="zh-CN" altLang="en-US" b="1" dirty="0">
                <a:solidFill>
                  <a:srgbClr val="0000FF"/>
                </a:solidFill>
                <a:latin typeface="微软雅黑" pitchFamily="34" charset="-122"/>
                <a:ea typeface="微软雅黑" pitchFamily="34" charset="-122"/>
              </a:rPr>
              <a:t>端对端加密</a:t>
            </a:r>
            <a:r>
              <a:rPr lang="zh-CN" altLang="en-US" b="1" dirty="0">
                <a:latin typeface="微软雅黑" pitchFamily="34" charset="-122"/>
                <a:ea typeface="微软雅黑" pitchFamily="34" charset="-122"/>
              </a:rPr>
              <a:t>方式，保证信息的安全性。</a:t>
            </a:r>
          </a:p>
          <a:p>
            <a:pPr marL="342900" indent="-342900" eaLnBrk="0" hangingPunct="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Skype </a:t>
            </a:r>
            <a:r>
              <a:rPr lang="zh-CN" altLang="en-US" b="1" dirty="0">
                <a:latin typeface="微软雅黑" pitchFamily="34" charset="-122"/>
                <a:ea typeface="微软雅黑" pitchFamily="34" charset="-122"/>
              </a:rPr>
              <a:t>使用 </a:t>
            </a:r>
            <a:r>
              <a:rPr lang="en-US" altLang="zh-CN" b="1" dirty="0">
                <a:latin typeface="微软雅黑" pitchFamily="34" charset="-122"/>
                <a:ea typeface="微软雅黑" pitchFamily="34" charset="-122"/>
              </a:rPr>
              <a:t>P2P </a:t>
            </a:r>
            <a:r>
              <a:rPr lang="zh-CN" altLang="en-US" b="1" dirty="0">
                <a:latin typeface="微软雅黑" pitchFamily="34" charset="-122"/>
                <a:ea typeface="微软雅黑" pitchFamily="34" charset="-122"/>
              </a:rPr>
              <a:t>的技术，用户数据主要存储在 </a:t>
            </a:r>
            <a:r>
              <a:rPr lang="en-US" altLang="zh-CN" b="1" dirty="0">
                <a:latin typeface="微软雅黑" pitchFamily="34" charset="-122"/>
                <a:ea typeface="微软雅黑" pitchFamily="34" charset="-122"/>
              </a:rPr>
              <a:t>P2P </a:t>
            </a:r>
            <a:r>
              <a:rPr lang="zh-CN" altLang="en-US" b="1" dirty="0">
                <a:latin typeface="微软雅黑" pitchFamily="34" charset="-122"/>
                <a:ea typeface="微软雅黑" pitchFamily="34" charset="-122"/>
              </a:rPr>
              <a:t>网络中，因此必须保证存储在公共网络中的数据是可靠的和没有被篡改的。</a:t>
            </a:r>
            <a:endParaRPr lang="en-US" altLang="zh-CN"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Skype </a:t>
            </a:r>
            <a:r>
              <a:rPr lang="zh-CN" altLang="en-US" b="1" dirty="0">
                <a:latin typeface="微软雅黑" pitchFamily="34" charset="-122"/>
                <a:ea typeface="微软雅黑" pitchFamily="34" charset="-122"/>
              </a:rPr>
              <a:t>对公共目录中存储的和用户相关的数据都采用了数字签名，保证了数据无法被篡改。</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21231981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20539"/>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1930488" y="595075"/>
            <a:ext cx="52918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8.3.2  IP </a:t>
            </a:r>
            <a:r>
              <a:rPr lang="zh-CN" altLang="en-US" sz="2400" b="1" dirty="0">
                <a:solidFill>
                  <a:schemeClr val="bg1"/>
                </a:solidFill>
                <a:latin typeface="微软雅黑" pitchFamily="34" charset="-122"/>
                <a:ea typeface="微软雅黑" pitchFamily="34" charset="-122"/>
              </a:rPr>
              <a:t>电话所需要的几种应用协议 </a:t>
            </a:r>
          </a:p>
        </p:txBody>
      </p:sp>
      <p:sp>
        <p:nvSpPr>
          <p:cNvPr id="4" name="Rectangle 8"/>
          <p:cNvSpPr>
            <a:spLocks noChangeArrowheads="1"/>
          </p:cNvSpPr>
          <p:nvPr/>
        </p:nvSpPr>
        <p:spPr bwMode="auto">
          <a:xfrm>
            <a:off x="511896" y="1048730"/>
            <a:ext cx="8129016"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至少需要两种应用协议：</a:t>
            </a:r>
          </a:p>
          <a:p>
            <a:pPr marL="682625" indent="-417513">
              <a:lnSpc>
                <a:spcPts val="3300"/>
              </a:lnSpc>
              <a:buClr>
                <a:srgbClr val="9900CC"/>
              </a:buClr>
              <a:buFont typeface="+mj-lt"/>
              <a:buAutoNum type="arabicPeriod"/>
            </a:pPr>
            <a:r>
              <a:rPr lang="zh-CN" altLang="en-US" sz="2000" b="1" dirty="0">
                <a:solidFill>
                  <a:srgbClr val="C00000"/>
                </a:solidFill>
                <a:latin typeface="微软雅黑" pitchFamily="34" charset="-122"/>
                <a:ea typeface="微软雅黑" pitchFamily="34" charset="-122"/>
              </a:rPr>
              <a:t>信令协议：</a:t>
            </a:r>
            <a:r>
              <a:rPr lang="zh-CN" altLang="en-US" sz="2000" b="1" dirty="0">
                <a:latin typeface="微软雅黑" pitchFamily="34" charset="-122"/>
                <a:ea typeface="微软雅黑" pitchFamily="34" charset="-122"/>
              </a:rPr>
              <a:t>在互联网上找到被叫用户。</a:t>
            </a:r>
          </a:p>
          <a:p>
            <a:pPr marL="682625" indent="-417513">
              <a:lnSpc>
                <a:spcPts val="3300"/>
              </a:lnSpc>
              <a:buClr>
                <a:srgbClr val="9900CC"/>
              </a:buClr>
              <a:buFont typeface="+mj-lt"/>
              <a:buAutoNum type="arabicPeriod"/>
            </a:pPr>
            <a:r>
              <a:rPr lang="zh-CN" altLang="en-US" sz="2000" b="1" dirty="0">
                <a:latin typeface="微软雅黑" pitchFamily="34" charset="-122"/>
                <a:ea typeface="微软雅黑" pitchFamily="34" charset="-122"/>
              </a:rPr>
              <a:t>话音分组的</a:t>
            </a:r>
            <a:r>
              <a:rPr lang="zh-CN" altLang="en-US" sz="2000" b="1" dirty="0">
                <a:solidFill>
                  <a:srgbClr val="C00000"/>
                </a:solidFill>
                <a:latin typeface="微软雅黑" pitchFamily="34" charset="-122"/>
                <a:ea typeface="微软雅黑" pitchFamily="34" charset="-122"/>
              </a:rPr>
              <a:t>传送协议：</a:t>
            </a:r>
            <a:r>
              <a:rPr lang="zh-CN" altLang="en-US" sz="2000" b="1" dirty="0">
                <a:latin typeface="微软雅黑" pitchFamily="34" charset="-122"/>
                <a:ea typeface="微软雅黑" pitchFamily="34" charset="-122"/>
              </a:rPr>
              <a:t>使电话通信的话音数据能够以时延敏感属性在互联网中传送。</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为了在互联网中提供实时交互式的音频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视频服务，需要新的</a:t>
            </a:r>
            <a:r>
              <a:rPr lang="zh-CN" altLang="en-US" sz="2000" b="1" dirty="0">
                <a:solidFill>
                  <a:srgbClr val="C00000"/>
                </a:solidFill>
                <a:latin typeface="微软雅黑" pitchFamily="34" charset="-122"/>
                <a:ea typeface="微软雅黑" pitchFamily="34" charset="-122"/>
              </a:rPr>
              <a:t>多媒体体系结构。</a:t>
            </a:r>
          </a:p>
        </p:txBody>
      </p:sp>
    </p:spTree>
    <p:extLst>
      <p:ext uri="{BB962C8B-B14F-4D97-AF65-F5344CB8AC3E}">
        <p14:creationId xmlns:p14="http://schemas.microsoft.com/office/powerpoint/2010/main" val="34008992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11896" y="1009029"/>
            <a:ext cx="8129016" cy="31391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9" name="组合 38"/>
          <p:cNvGrpSpPr/>
          <p:nvPr/>
        </p:nvGrpSpPr>
        <p:grpSpPr>
          <a:xfrm>
            <a:off x="1696789" y="1102041"/>
            <a:ext cx="5709335" cy="2687235"/>
            <a:chOff x="127167" y="1160464"/>
            <a:chExt cx="9650369" cy="4542177"/>
          </a:xfrm>
        </p:grpSpPr>
        <p:sp>
          <p:nvSpPr>
            <p:cNvPr id="7" name="Line 13"/>
            <p:cNvSpPr>
              <a:spLocks noChangeShapeType="1"/>
            </p:cNvSpPr>
            <p:nvPr/>
          </p:nvSpPr>
          <p:spPr bwMode="auto">
            <a:xfrm>
              <a:off x="6165973" y="2832100"/>
              <a:ext cx="0" cy="139858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 name="Rectangle 14"/>
            <p:cNvSpPr>
              <a:spLocks noChangeArrowheads="1"/>
            </p:cNvSpPr>
            <p:nvPr/>
          </p:nvSpPr>
          <p:spPr bwMode="auto">
            <a:xfrm>
              <a:off x="939527" y="3390900"/>
              <a:ext cx="3229769" cy="465138"/>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TCP</a:t>
              </a:r>
            </a:p>
          </p:txBody>
        </p:sp>
        <p:sp>
          <p:nvSpPr>
            <p:cNvPr id="9" name="Rectangle 15"/>
            <p:cNvSpPr>
              <a:spLocks noChangeArrowheads="1"/>
            </p:cNvSpPr>
            <p:nvPr/>
          </p:nvSpPr>
          <p:spPr bwMode="auto">
            <a:xfrm>
              <a:off x="4549369" y="3390900"/>
              <a:ext cx="5228167" cy="465138"/>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UDP</a:t>
              </a:r>
            </a:p>
          </p:txBody>
        </p:sp>
        <p:sp>
          <p:nvSpPr>
            <p:cNvPr id="10" name="Line 16"/>
            <p:cNvSpPr>
              <a:spLocks noChangeShapeType="1"/>
            </p:cNvSpPr>
            <p:nvPr/>
          </p:nvSpPr>
          <p:spPr bwMode="auto">
            <a:xfrm>
              <a:off x="2554410" y="3856038"/>
              <a:ext cx="0" cy="3746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17"/>
            <p:cNvSpPr>
              <a:spLocks noChangeShapeType="1"/>
            </p:cNvSpPr>
            <p:nvPr/>
          </p:nvSpPr>
          <p:spPr bwMode="auto">
            <a:xfrm>
              <a:off x="6924402" y="3856038"/>
              <a:ext cx="0" cy="3746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8"/>
            <p:cNvSpPr>
              <a:spLocks noChangeShapeType="1"/>
            </p:cNvSpPr>
            <p:nvPr/>
          </p:nvSpPr>
          <p:spPr bwMode="auto">
            <a:xfrm>
              <a:off x="1603366" y="2738438"/>
              <a:ext cx="0" cy="652462"/>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9"/>
            <p:cNvSpPr>
              <a:spLocks noChangeShapeType="1"/>
            </p:cNvSpPr>
            <p:nvPr/>
          </p:nvSpPr>
          <p:spPr bwMode="auto">
            <a:xfrm>
              <a:off x="3125381" y="2832100"/>
              <a:ext cx="0" cy="558800"/>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20"/>
            <p:cNvSpPr>
              <a:spLocks noChangeShapeType="1"/>
            </p:cNvSpPr>
            <p:nvPr/>
          </p:nvSpPr>
          <p:spPr bwMode="auto">
            <a:xfrm flipH="1">
              <a:off x="3694633" y="2738438"/>
              <a:ext cx="665559" cy="652462"/>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21"/>
            <p:cNvSpPr>
              <a:spLocks noChangeShapeType="1"/>
            </p:cNvSpPr>
            <p:nvPr/>
          </p:nvSpPr>
          <p:spPr bwMode="auto">
            <a:xfrm>
              <a:off x="7400783" y="2832100"/>
              <a:ext cx="0"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22"/>
            <p:cNvSpPr>
              <a:spLocks noChangeShapeType="1"/>
            </p:cNvSpPr>
            <p:nvPr/>
          </p:nvSpPr>
          <p:spPr bwMode="auto">
            <a:xfrm>
              <a:off x="4931162" y="2832100"/>
              <a:ext cx="0"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23"/>
            <p:cNvSpPr>
              <a:spLocks noChangeShapeType="1"/>
            </p:cNvSpPr>
            <p:nvPr/>
          </p:nvSpPr>
          <p:spPr bwMode="auto">
            <a:xfrm>
              <a:off x="3503736" y="2832100"/>
              <a:ext cx="1236531" cy="5588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24"/>
            <p:cNvSpPr>
              <a:spLocks noChangeShapeType="1"/>
            </p:cNvSpPr>
            <p:nvPr/>
          </p:nvSpPr>
          <p:spPr bwMode="auto">
            <a:xfrm flipH="1">
              <a:off x="9015668" y="2863850"/>
              <a:ext cx="0" cy="52705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Text Box 35"/>
            <p:cNvSpPr txBox="1">
              <a:spLocks noChangeArrowheads="1"/>
            </p:cNvSpPr>
            <p:nvPr/>
          </p:nvSpPr>
          <p:spPr bwMode="auto">
            <a:xfrm>
              <a:off x="2673079" y="1160464"/>
              <a:ext cx="832366" cy="468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C00000"/>
                  </a:solidFill>
                  <a:latin typeface="微软雅黑" pitchFamily="34" charset="-122"/>
                  <a:ea typeface="微软雅黑" pitchFamily="34" charset="-122"/>
                </a:rPr>
                <a:t>信令</a:t>
              </a:r>
            </a:p>
          </p:txBody>
        </p:sp>
        <p:sp>
          <p:nvSpPr>
            <p:cNvPr id="20" name="Text Box 36"/>
            <p:cNvSpPr txBox="1">
              <a:spLocks noChangeArrowheads="1"/>
            </p:cNvSpPr>
            <p:nvPr/>
          </p:nvSpPr>
          <p:spPr bwMode="auto">
            <a:xfrm>
              <a:off x="6095463" y="1663701"/>
              <a:ext cx="1352593" cy="468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服务质量</a:t>
              </a:r>
            </a:p>
          </p:txBody>
        </p:sp>
        <p:sp>
          <p:nvSpPr>
            <p:cNvPr id="21" name="Rectangle 37"/>
            <p:cNvSpPr>
              <a:spLocks noChangeArrowheads="1"/>
            </p:cNvSpPr>
            <p:nvPr/>
          </p:nvSpPr>
          <p:spPr bwMode="auto">
            <a:xfrm>
              <a:off x="939526" y="4230689"/>
              <a:ext cx="8838009" cy="465137"/>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IPv4 / IPv6</a:t>
              </a:r>
            </a:p>
          </p:txBody>
        </p:sp>
        <p:sp>
          <p:nvSpPr>
            <p:cNvPr id="22" name="AutoShape 38"/>
            <p:cNvSpPr>
              <a:spLocks noChangeArrowheads="1"/>
            </p:cNvSpPr>
            <p:nvPr/>
          </p:nvSpPr>
          <p:spPr bwMode="auto">
            <a:xfrm>
              <a:off x="4074706"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RTSP</a:t>
              </a:r>
            </a:p>
          </p:txBody>
        </p:sp>
        <p:sp>
          <p:nvSpPr>
            <p:cNvPr id="23" name="AutoShape 39"/>
            <p:cNvSpPr>
              <a:spLocks noChangeArrowheads="1"/>
            </p:cNvSpPr>
            <p:nvPr/>
          </p:nvSpPr>
          <p:spPr bwMode="auto">
            <a:xfrm>
              <a:off x="6829813"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RTCP</a:t>
              </a:r>
            </a:p>
          </p:txBody>
        </p:sp>
        <p:sp>
          <p:nvSpPr>
            <p:cNvPr id="24" name="AutoShape 40"/>
            <p:cNvSpPr>
              <a:spLocks noChangeArrowheads="1"/>
            </p:cNvSpPr>
            <p:nvPr/>
          </p:nvSpPr>
          <p:spPr bwMode="auto">
            <a:xfrm>
              <a:off x="5500414"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RSVP</a:t>
              </a:r>
            </a:p>
          </p:txBody>
        </p:sp>
        <p:sp>
          <p:nvSpPr>
            <p:cNvPr id="25" name="AutoShape 41"/>
            <p:cNvSpPr>
              <a:spLocks noChangeArrowheads="1"/>
            </p:cNvSpPr>
            <p:nvPr/>
          </p:nvSpPr>
          <p:spPr bwMode="auto">
            <a:xfrm>
              <a:off x="1034115" y="2460626"/>
              <a:ext cx="1045633"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H.323</a:t>
              </a:r>
            </a:p>
          </p:txBody>
        </p:sp>
        <p:sp>
          <p:nvSpPr>
            <p:cNvPr id="26" name="AutoShape 42"/>
            <p:cNvSpPr>
              <a:spLocks noChangeArrowheads="1"/>
            </p:cNvSpPr>
            <p:nvPr/>
          </p:nvSpPr>
          <p:spPr bwMode="auto">
            <a:xfrm>
              <a:off x="2554411" y="2460626"/>
              <a:ext cx="1043914" cy="371475"/>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a:latin typeface="微软雅黑" pitchFamily="34" charset="-122"/>
                  <a:ea typeface="微软雅黑" pitchFamily="34" charset="-122"/>
                </a:rPr>
                <a:t>SIP</a:t>
              </a:r>
            </a:p>
          </p:txBody>
        </p:sp>
        <p:sp>
          <p:nvSpPr>
            <p:cNvPr id="27" name="AutoShape 43"/>
            <p:cNvSpPr>
              <a:spLocks noChangeArrowheads="1"/>
            </p:cNvSpPr>
            <p:nvPr/>
          </p:nvSpPr>
          <p:spPr bwMode="auto">
            <a:xfrm>
              <a:off x="8541006" y="2460626"/>
              <a:ext cx="951044" cy="371475"/>
            </a:xfrm>
            <a:prstGeom prst="roundRect">
              <a:avLst>
                <a:gd name="adj" fmla="val 39167"/>
              </a:avLst>
            </a:prstGeom>
            <a:solidFill>
              <a:schemeClr val="accent6">
                <a:lumMod val="75000"/>
              </a:schemeClr>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RTP</a:t>
              </a:r>
            </a:p>
          </p:txBody>
        </p:sp>
        <p:sp>
          <p:nvSpPr>
            <p:cNvPr id="28" name="AutoShape 44"/>
            <p:cNvSpPr>
              <a:spLocks/>
            </p:cNvSpPr>
            <p:nvPr/>
          </p:nvSpPr>
          <p:spPr bwMode="auto">
            <a:xfrm rot="5400000">
              <a:off x="6548230" y="1039747"/>
              <a:ext cx="279400" cy="2375032"/>
            </a:xfrm>
            <a:prstGeom prst="leftBrace">
              <a:avLst>
                <a:gd name="adj1" fmla="val 65388"/>
                <a:gd name="adj2" fmla="val 50000"/>
              </a:avLst>
            </a:prstGeom>
            <a:noFill/>
            <a:ln w="1905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AutoShape 45"/>
            <p:cNvSpPr>
              <a:spLocks/>
            </p:cNvSpPr>
            <p:nvPr/>
          </p:nvSpPr>
          <p:spPr bwMode="auto">
            <a:xfrm rot="5400000">
              <a:off x="2926746" y="-292431"/>
              <a:ext cx="206375" cy="3991637"/>
            </a:xfrm>
            <a:prstGeom prst="leftBrace">
              <a:avLst>
                <a:gd name="adj1" fmla="val 148782"/>
                <a:gd name="adj2" fmla="val 50000"/>
              </a:avLst>
            </a:prstGeom>
            <a:noFill/>
            <a:ln w="19050">
              <a:solidFill>
                <a:srgbClr val="99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AutoShape 47"/>
            <p:cNvSpPr>
              <a:spLocks/>
            </p:cNvSpPr>
            <p:nvPr/>
          </p:nvSpPr>
          <p:spPr bwMode="auto">
            <a:xfrm>
              <a:off x="695317" y="1844676"/>
              <a:ext cx="201215" cy="1490663"/>
            </a:xfrm>
            <a:prstGeom prst="leftBrace">
              <a:avLst>
                <a:gd name="adj1" fmla="val 66881"/>
                <a:gd name="adj2" fmla="val 50056"/>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Text Box 48"/>
            <p:cNvSpPr txBox="1">
              <a:spLocks noChangeArrowheads="1"/>
            </p:cNvSpPr>
            <p:nvPr/>
          </p:nvSpPr>
          <p:spPr bwMode="auto">
            <a:xfrm>
              <a:off x="127167" y="1700212"/>
              <a:ext cx="554503" cy="166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应</a:t>
              </a:r>
            </a:p>
            <a:p>
              <a:r>
                <a:rPr kumimoji="1" lang="zh-CN" altLang="en-US" sz="1200" b="1" dirty="0">
                  <a:latin typeface="微软雅黑" pitchFamily="34" charset="-122"/>
                  <a:ea typeface="微软雅黑" pitchFamily="34" charset="-122"/>
                </a:rPr>
                <a:t>用</a:t>
              </a:r>
            </a:p>
            <a:p>
              <a:r>
                <a:rPr kumimoji="1" lang="zh-CN" altLang="en-US" sz="1200" b="1" dirty="0">
                  <a:latin typeface="微软雅黑" pitchFamily="34" charset="-122"/>
                  <a:ea typeface="微软雅黑" pitchFamily="34" charset="-122"/>
                </a:rPr>
                <a:t>层</a:t>
              </a:r>
            </a:p>
            <a:p>
              <a:r>
                <a:rPr kumimoji="1" lang="zh-CN" altLang="en-US" sz="1200" b="1" dirty="0">
                  <a:latin typeface="微软雅黑" pitchFamily="34" charset="-122"/>
                  <a:ea typeface="微软雅黑" pitchFamily="34" charset="-122"/>
                </a:rPr>
                <a:t>协</a:t>
              </a:r>
            </a:p>
            <a:p>
              <a:r>
                <a:rPr kumimoji="1" lang="zh-CN" altLang="en-US" sz="1200" b="1" dirty="0">
                  <a:latin typeface="微软雅黑" pitchFamily="34" charset="-122"/>
                  <a:ea typeface="微软雅黑" pitchFamily="34" charset="-122"/>
                </a:rPr>
                <a:t>议</a:t>
              </a:r>
            </a:p>
          </p:txBody>
        </p:sp>
        <p:sp>
          <p:nvSpPr>
            <p:cNvPr id="32" name="Line 49"/>
            <p:cNvSpPr>
              <a:spLocks noChangeShapeType="1"/>
            </p:cNvSpPr>
            <p:nvPr/>
          </p:nvSpPr>
          <p:spPr bwMode="auto">
            <a:xfrm>
              <a:off x="5880487" y="2832100"/>
              <a:ext cx="0" cy="558800"/>
            </a:xfrm>
            <a:prstGeom prst="line">
              <a:avLst/>
            </a:prstGeom>
            <a:noFill/>
            <a:ln w="19050">
              <a:solidFill>
                <a:srgbClr val="0000FF"/>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50"/>
            <p:cNvSpPr>
              <a:spLocks noChangeShapeType="1"/>
            </p:cNvSpPr>
            <p:nvPr/>
          </p:nvSpPr>
          <p:spPr bwMode="auto">
            <a:xfrm>
              <a:off x="5359391" y="4695826"/>
              <a:ext cx="0" cy="373063"/>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Text Box 56"/>
            <p:cNvSpPr txBox="1">
              <a:spLocks noChangeArrowheads="1"/>
            </p:cNvSpPr>
            <p:nvPr/>
          </p:nvSpPr>
          <p:spPr bwMode="auto">
            <a:xfrm>
              <a:off x="8274619" y="1465264"/>
              <a:ext cx="1428793" cy="453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音频</a:t>
              </a:r>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视频</a:t>
              </a:r>
            </a:p>
          </p:txBody>
        </p:sp>
        <p:sp>
          <p:nvSpPr>
            <p:cNvPr id="35" name="AutoShape 57"/>
            <p:cNvSpPr>
              <a:spLocks noChangeArrowheads="1"/>
            </p:cNvSpPr>
            <p:nvPr/>
          </p:nvSpPr>
          <p:spPr bwMode="auto">
            <a:xfrm>
              <a:off x="8855668" y="1890513"/>
              <a:ext cx="294814" cy="560386"/>
            </a:xfrm>
            <a:prstGeom prst="downArrow">
              <a:avLst>
                <a:gd name="adj1" fmla="val 50000"/>
                <a:gd name="adj2" fmla="val 39932"/>
              </a:avLst>
            </a:prstGeom>
            <a:solidFill>
              <a:srgbClr val="00FF00"/>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latin typeface="微软雅黑" pitchFamily="34" charset="-122"/>
                <a:ea typeface="微软雅黑" pitchFamily="34" charset="-122"/>
              </a:endParaRPr>
            </a:p>
          </p:txBody>
        </p:sp>
        <p:sp>
          <p:nvSpPr>
            <p:cNvPr id="36" name="AutoShape 58"/>
            <p:cNvSpPr>
              <a:spLocks noChangeArrowheads="1"/>
            </p:cNvSpPr>
            <p:nvPr/>
          </p:nvSpPr>
          <p:spPr bwMode="auto">
            <a:xfrm>
              <a:off x="2554411" y="1806575"/>
              <a:ext cx="1043914" cy="374650"/>
            </a:xfrm>
            <a:prstGeom prst="roundRect">
              <a:avLst>
                <a:gd name="adj" fmla="val 39167"/>
              </a:avLst>
            </a:prstGeom>
            <a:solidFill>
              <a:srgbClr val="FFFF00"/>
            </a:solidFill>
            <a:ln w="6350">
              <a:solidFill>
                <a:schemeClr val="tx1"/>
              </a:solidFill>
              <a:round/>
              <a:headEnd/>
              <a:tailEnd/>
            </a:ln>
            <a:effectLst/>
          </p:spPr>
          <p:txBody>
            <a:bodyPr wrap="none" anchor="ctr"/>
            <a:lstStyle/>
            <a:p>
              <a:pPr algn="ctr"/>
              <a:r>
                <a:rPr kumimoji="1" lang="en-US" altLang="zh-CN" sz="1200" b="1" dirty="0">
                  <a:latin typeface="微软雅黑" pitchFamily="34" charset="-122"/>
                  <a:ea typeface="微软雅黑" pitchFamily="34" charset="-122"/>
                </a:rPr>
                <a:t>SDP</a:t>
              </a:r>
            </a:p>
          </p:txBody>
        </p:sp>
        <p:sp>
          <p:nvSpPr>
            <p:cNvPr id="37" name="Line 59"/>
            <p:cNvSpPr>
              <a:spLocks noChangeShapeType="1"/>
            </p:cNvSpPr>
            <p:nvPr/>
          </p:nvSpPr>
          <p:spPr bwMode="auto">
            <a:xfrm>
              <a:off x="3125381" y="2181225"/>
              <a:ext cx="0" cy="2794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Rectangle 62"/>
            <p:cNvSpPr>
              <a:spLocks noChangeArrowheads="1"/>
            </p:cNvSpPr>
            <p:nvPr/>
          </p:nvSpPr>
          <p:spPr bwMode="auto">
            <a:xfrm>
              <a:off x="924047" y="5051427"/>
              <a:ext cx="8838011" cy="651214"/>
            </a:xfrm>
            <a:prstGeom prst="rect">
              <a:avLst/>
            </a:prstGeom>
            <a:solidFill>
              <a:srgbClr val="009900"/>
            </a:solidFill>
            <a:ln>
              <a:solidFill>
                <a:schemeClr val="tx1"/>
              </a:solidFill>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底层网络</a:t>
              </a:r>
            </a:p>
          </p:txBody>
        </p:sp>
      </p:grpSp>
      <p:sp>
        <p:nvSpPr>
          <p:cNvPr id="42" name="AutoShape 5"/>
          <p:cNvSpPr>
            <a:spLocks noChangeArrowheads="1"/>
          </p:cNvSpPr>
          <p:nvPr/>
        </p:nvSpPr>
        <p:spPr bwMode="auto">
          <a:xfrm>
            <a:off x="509475" y="6207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Rectangle 6"/>
          <p:cNvSpPr>
            <a:spLocks noChangeArrowheads="1"/>
          </p:cNvSpPr>
          <p:nvPr/>
        </p:nvSpPr>
        <p:spPr bwMode="auto">
          <a:xfrm>
            <a:off x="1736050" y="587571"/>
            <a:ext cx="56925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提供实时交互式音频</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视频服务所需的应用层协议</a:t>
            </a:r>
          </a:p>
        </p:txBody>
      </p:sp>
    </p:spTree>
    <p:extLst>
      <p:ext uri="{BB962C8B-B14F-4D97-AF65-F5344CB8AC3E}">
        <p14:creationId xmlns:p14="http://schemas.microsoft.com/office/powerpoint/2010/main" val="10628085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17383"/>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750584" y="591919"/>
            <a:ext cx="36516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8.3.3  </a:t>
            </a:r>
            <a:r>
              <a:rPr lang="zh-CN" altLang="en-US" sz="2400" b="1" dirty="0">
                <a:solidFill>
                  <a:schemeClr val="bg1"/>
                </a:solidFill>
                <a:latin typeface="微软雅黑" pitchFamily="34" charset="-122"/>
                <a:ea typeface="微软雅黑" pitchFamily="34" charset="-122"/>
              </a:rPr>
              <a:t>实时运输协议 </a:t>
            </a:r>
            <a:r>
              <a:rPr lang="en-US" altLang="zh-CN" sz="2400" b="1" dirty="0">
                <a:solidFill>
                  <a:schemeClr val="bg1"/>
                </a:solidFill>
                <a:latin typeface="微软雅黑" pitchFamily="34" charset="-122"/>
                <a:ea typeface="微软雅黑" pitchFamily="34" charset="-122"/>
              </a:rPr>
              <a:t>RTP</a:t>
            </a:r>
          </a:p>
        </p:txBody>
      </p:sp>
      <p:sp>
        <p:nvSpPr>
          <p:cNvPr id="4" name="Rectangle 8"/>
          <p:cNvSpPr>
            <a:spLocks noChangeArrowheads="1"/>
          </p:cNvSpPr>
          <p:nvPr/>
        </p:nvSpPr>
        <p:spPr bwMode="auto">
          <a:xfrm>
            <a:off x="511896" y="1036865"/>
            <a:ext cx="812901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实时运输协议 </a:t>
            </a:r>
            <a:r>
              <a:rPr lang="en-US" altLang="zh-CN" sz="2000" b="1" dirty="0">
                <a:solidFill>
                  <a:srgbClr val="C00000"/>
                </a:solidFill>
                <a:latin typeface="微软雅黑" pitchFamily="34" charset="-122"/>
                <a:ea typeface="微软雅黑" pitchFamily="34" charset="-122"/>
              </a:rPr>
              <a:t>RTP </a:t>
            </a:r>
            <a:r>
              <a:rPr lang="en-US" altLang="zh-CN" sz="2000" b="1" dirty="0">
                <a:latin typeface="微软雅黑" pitchFamily="34" charset="-122"/>
                <a:ea typeface="微软雅黑" pitchFamily="34" charset="-122"/>
              </a:rPr>
              <a:t>(Real-time Transport Protocol) </a:t>
            </a:r>
            <a:r>
              <a:rPr lang="zh-CN" altLang="en-US" sz="2000" b="1" dirty="0">
                <a:latin typeface="微软雅黑" pitchFamily="34" charset="-122"/>
                <a:ea typeface="微软雅黑" pitchFamily="34" charset="-122"/>
              </a:rPr>
              <a:t>为实时应用提供</a:t>
            </a:r>
            <a:r>
              <a:rPr lang="zh-CN" altLang="en-US" sz="2000" b="1" dirty="0">
                <a:solidFill>
                  <a:srgbClr val="0000FF"/>
                </a:solidFill>
                <a:latin typeface="微软雅黑" pitchFamily="34" charset="-122"/>
                <a:ea typeface="微软雅黑" pitchFamily="34" charset="-122"/>
              </a:rPr>
              <a:t>端到端</a:t>
            </a:r>
            <a:r>
              <a:rPr lang="zh-CN" altLang="en-US" sz="2000" b="1" dirty="0">
                <a:latin typeface="微软雅黑" pitchFamily="34" charset="-122"/>
                <a:ea typeface="微软雅黑" pitchFamily="34" charset="-122"/>
              </a:rPr>
              <a:t>的运输，但</a:t>
            </a:r>
            <a:r>
              <a:rPr lang="zh-CN" altLang="en-US" sz="2000" b="1" dirty="0">
                <a:solidFill>
                  <a:srgbClr val="C00000"/>
                </a:solidFill>
                <a:latin typeface="微软雅黑" pitchFamily="34" charset="-122"/>
                <a:ea typeface="微软雅黑" pitchFamily="34" charset="-122"/>
              </a:rPr>
              <a:t>不提供</a:t>
            </a:r>
            <a:r>
              <a:rPr lang="zh-CN" altLang="en-US" sz="2000" b="1" dirty="0">
                <a:latin typeface="微软雅黑" pitchFamily="34" charset="-122"/>
                <a:ea typeface="微软雅黑" pitchFamily="34" charset="-122"/>
              </a:rPr>
              <a:t>任何服务质量的保证。</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需要发送的多媒体数据块（音频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视频）经过压缩编码处理后，先送给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封装成为 </a:t>
            </a:r>
            <a:r>
              <a:rPr lang="en-US" altLang="zh-CN" sz="2000" b="1" dirty="0">
                <a:solidFill>
                  <a:srgbClr val="C00000"/>
                </a:solidFill>
                <a:latin typeface="微软雅黑" pitchFamily="34" charset="-122"/>
                <a:ea typeface="微软雅黑" pitchFamily="34" charset="-122"/>
              </a:rPr>
              <a:t>RTP </a:t>
            </a:r>
            <a:r>
              <a:rPr lang="zh-CN" altLang="en-US" sz="2000" b="1" dirty="0">
                <a:solidFill>
                  <a:srgbClr val="C00000"/>
                </a:solidFill>
                <a:latin typeface="微软雅黑" pitchFamily="34" charset="-122"/>
                <a:ea typeface="微软雅黑" pitchFamily="34" charset="-122"/>
              </a:rPr>
              <a:t>分组</a:t>
            </a:r>
            <a:r>
              <a:rPr lang="zh-CN" altLang="en-US" sz="2000" b="1" dirty="0">
                <a:latin typeface="微软雅黑" pitchFamily="34" charset="-122"/>
                <a:ea typeface="微软雅黑" pitchFamily="34" charset="-122"/>
              </a:rPr>
              <a:t>（也可称为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报文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分组装入运输层的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用户数据报后，再向下递交给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层。</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是一个</a:t>
            </a:r>
            <a:r>
              <a:rPr lang="zh-CN" altLang="en-US" sz="2000" b="1" dirty="0">
                <a:solidFill>
                  <a:srgbClr val="C00000"/>
                </a:solidFill>
                <a:latin typeface="微软雅黑" pitchFamily="34" charset="-122"/>
                <a:ea typeface="微软雅黑" pitchFamily="34" charset="-122"/>
              </a:rPr>
              <a:t>协议框架，</a:t>
            </a:r>
            <a:r>
              <a:rPr lang="zh-CN" altLang="en-US" sz="2000" b="1" dirty="0">
                <a:latin typeface="微软雅黑" pitchFamily="34" charset="-122"/>
                <a:ea typeface="微软雅黑" pitchFamily="34" charset="-122"/>
              </a:rPr>
              <a:t>只包含了实时应用的一些共同的功能。</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RTP </a:t>
            </a:r>
            <a:r>
              <a:rPr lang="zh-CN" altLang="en-US" sz="2000" b="1" dirty="0">
                <a:solidFill>
                  <a:srgbClr val="C00000"/>
                </a:solidFill>
                <a:latin typeface="微软雅黑" pitchFamily="34" charset="-122"/>
                <a:ea typeface="微软雅黑" pitchFamily="34" charset="-122"/>
              </a:rPr>
              <a:t>不对</a:t>
            </a:r>
            <a:r>
              <a:rPr lang="zh-CN" altLang="en-US" sz="2000" b="1" dirty="0">
                <a:latin typeface="微软雅黑" pitchFamily="34" charset="-122"/>
                <a:ea typeface="微软雅黑" pitchFamily="34" charset="-122"/>
              </a:rPr>
              <a:t>多媒体数据块做任何处理，而只是向应用层提供一些附加的信息，让应用层知道应当如何进行处理。 </a:t>
            </a:r>
          </a:p>
        </p:txBody>
      </p:sp>
    </p:spTree>
    <p:extLst>
      <p:ext uri="{BB962C8B-B14F-4D97-AF65-F5344CB8AC3E}">
        <p14:creationId xmlns:p14="http://schemas.microsoft.com/office/powerpoint/2010/main" val="3006908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221126" y="1063960"/>
            <a:ext cx="4417363" cy="316146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46"/>
          <p:cNvSpPr>
            <a:spLocks noChangeArrowheads="1"/>
          </p:cNvSpPr>
          <p:nvPr/>
        </p:nvSpPr>
        <p:spPr bwMode="auto">
          <a:xfrm>
            <a:off x="509475" y="977422"/>
            <a:ext cx="3451980"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从应用开发者的角度看，</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应当是应用层的一部分。</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由于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向多媒体应用程序提供了服务（如时间戳和序号），因此也可以将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看成是在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之上的一个运输层的子层。 </a:t>
            </a:r>
          </a:p>
        </p:txBody>
      </p:sp>
      <p:sp>
        <p:nvSpPr>
          <p:cNvPr id="3" name="AutoShape 5"/>
          <p:cNvSpPr>
            <a:spLocks noChangeArrowheads="1"/>
          </p:cNvSpPr>
          <p:nvPr/>
        </p:nvSpPr>
        <p:spPr bwMode="auto">
          <a:xfrm>
            <a:off x="509475" y="6207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77088" y="587571"/>
            <a:ext cx="16105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的层次 </a:t>
            </a:r>
          </a:p>
        </p:txBody>
      </p:sp>
      <p:sp>
        <p:nvSpPr>
          <p:cNvPr id="7" name="Line 13"/>
          <p:cNvSpPr>
            <a:spLocks noChangeShapeType="1"/>
          </p:cNvSpPr>
          <p:nvPr/>
        </p:nvSpPr>
        <p:spPr bwMode="auto">
          <a:xfrm>
            <a:off x="4921383" y="1996959"/>
            <a:ext cx="0" cy="694052"/>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Line 27"/>
          <p:cNvSpPr>
            <a:spLocks noChangeShapeType="1"/>
          </p:cNvSpPr>
          <p:nvPr/>
        </p:nvSpPr>
        <p:spPr bwMode="auto">
          <a:xfrm>
            <a:off x="4582786" y="2007957"/>
            <a:ext cx="43969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9" name="Line 28"/>
          <p:cNvSpPr>
            <a:spLocks noChangeShapeType="1"/>
          </p:cNvSpPr>
          <p:nvPr/>
        </p:nvSpPr>
        <p:spPr bwMode="auto">
          <a:xfrm>
            <a:off x="4582786" y="2702008"/>
            <a:ext cx="43969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 name="Text Box 14"/>
          <p:cNvSpPr txBox="1">
            <a:spLocks noChangeArrowheads="1"/>
          </p:cNvSpPr>
          <p:nvPr/>
        </p:nvSpPr>
        <p:spPr bwMode="auto">
          <a:xfrm>
            <a:off x="4625939" y="1975440"/>
            <a:ext cx="262109" cy="738664"/>
          </a:xfrm>
          <a:prstGeom prst="rect">
            <a:avLst/>
          </a:prstGeom>
          <a:noFill/>
          <a:ln>
            <a:noFill/>
          </a:ln>
          <a:effectLst/>
        </p:spPr>
        <p:txBody>
          <a:bodyPr wrap="square" anchor="ctr">
            <a:spAutoFit/>
          </a:bodyPr>
          <a:lstStyle/>
          <a:p>
            <a:pPr algn="ctr"/>
            <a:r>
              <a:rPr kumimoji="1" lang="zh-CN" altLang="en-US" sz="1400" b="1" dirty="0">
                <a:latin typeface="微软雅黑" pitchFamily="34" charset="-122"/>
                <a:ea typeface="微软雅黑" pitchFamily="34" charset="-122"/>
              </a:rPr>
              <a:t>运输层</a:t>
            </a:r>
          </a:p>
        </p:txBody>
      </p:sp>
      <p:sp>
        <p:nvSpPr>
          <p:cNvPr id="27" name="Line 13"/>
          <p:cNvSpPr>
            <a:spLocks noChangeShapeType="1"/>
          </p:cNvSpPr>
          <p:nvPr/>
        </p:nvSpPr>
        <p:spPr bwMode="auto">
          <a:xfrm>
            <a:off x="8008961" y="1643238"/>
            <a:ext cx="0" cy="694052"/>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8" name="Line 27"/>
          <p:cNvSpPr>
            <a:spLocks noChangeShapeType="1"/>
          </p:cNvSpPr>
          <p:nvPr/>
        </p:nvSpPr>
        <p:spPr bwMode="auto">
          <a:xfrm>
            <a:off x="7904290" y="1654236"/>
            <a:ext cx="43969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9" name="Line 28"/>
          <p:cNvSpPr>
            <a:spLocks noChangeShapeType="1"/>
          </p:cNvSpPr>
          <p:nvPr/>
        </p:nvSpPr>
        <p:spPr bwMode="auto">
          <a:xfrm>
            <a:off x="7904290" y="2348287"/>
            <a:ext cx="439694"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Text Box 14"/>
          <p:cNvSpPr txBox="1">
            <a:spLocks noChangeArrowheads="1"/>
          </p:cNvSpPr>
          <p:nvPr/>
        </p:nvSpPr>
        <p:spPr bwMode="auto">
          <a:xfrm>
            <a:off x="8045901" y="1621423"/>
            <a:ext cx="237801" cy="738664"/>
          </a:xfrm>
          <a:prstGeom prst="rect">
            <a:avLst/>
          </a:prstGeom>
          <a:noFill/>
          <a:ln>
            <a:noFill/>
          </a:ln>
          <a:effectLst/>
        </p:spPr>
        <p:txBody>
          <a:bodyPr wrap="square" anchor="ctr">
            <a:spAutoFit/>
          </a:bodyPr>
          <a:lstStyle/>
          <a:p>
            <a:pPr algn="ctr"/>
            <a:r>
              <a:rPr kumimoji="1" lang="zh-CN" altLang="en-US" sz="1400" b="1" dirty="0">
                <a:latin typeface="微软雅黑" pitchFamily="34" charset="-122"/>
                <a:ea typeface="微软雅黑" pitchFamily="34" charset="-122"/>
              </a:rPr>
              <a:t>应用层</a:t>
            </a:r>
          </a:p>
        </p:txBody>
      </p:sp>
      <p:sp>
        <p:nvSpPr>
          <p:cNvPr id="5" name="Rectangle 15"/>
          <p:cNvSpPr>
            <a:spLocks noChangeArrowheads="1"/>
          </p:cNvSpPr>
          <p:nvPr/>
        </p:nvSpPr>
        <p:spPr bwMode="auto">
          <a:xfrm>
            <a:off x="5118008" y="1660382"/>
            <a:ext cx="2706236" cy="2083254"/>
          </a:xfrm>
          <a:prstGeom prst="rect">
            <a:avLst/>
          </a:prstGeom>
          <a:solidFill>
            <a:srgbClr val="66FFFF"/>
          </a:solidFill>
          <a:ln w="19050">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6" name="Rectangle 30"/>
          <p:cNvSpPr>
            <a:spLocks noChangeArrowheads="1"/>
          </p:cNvSpPr>
          <p:nvPr/>
        </p:nvSpPr>
        <p:spPr bwMode="auto">
          <a:xfrm>
            <a:off x="5134332" y="2001912"/>
            <a:ext cx="2672578" cy="342073"/>
          </a:xfrm>
          <a:prstGeom prst="rect">
            <a:avLst/>
          </a:prstGeom>
          <a:solidFill>
            <a:srgbClr val="FFCC00"/>
          </a:solidFill>
          <a:ln>
            <a:noFill/>
          </a:ln>
          <a:effectLst/>
        </p:spPr>
        <p:txBody>
          <a:bodyPr wrap="none" anchor="ctr"/>
          <a:lstStyle/>
          <a:p>
            <a:endParaRPr lang="zh-CN" altLang="en-US" sz="1400" b="1">
              <a:latin typeface="微软雅黑" pitchFamily="34" charset="-122"/>
              <a:ea typeface="微软雅黑" pitchFamily="34" charset="-122"/>
            </a:endParaRPr>
          </a:p>
        </p:txBody>
      </p:sp>
      <p:sp>
        <p:nvSpPr>
          <p:cNvPr id="9" name="Text Box 16"/>
          <p:cNvSpPr txBox="1">
            <a:spLocks noChangeArrowheads="1"/>
          </p:cNvSpPr>
          <p:nvPr/>
        </p:nvSpPr>
        <p:spPr bwMode="auto">
          <a:xfrm>
            <a:off x="6222661" y="1664782"/>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1400" b="1" dirty="0">
                <a:latin typeface="微软雅黑" pitchFamily="34" charset="-122"/>
                <a:ea typeface="微软雅黑" pitchFamily="34" charset="-122"/>
              </a:rPr>
              <a:t>应用</a:t>
            </a:r>
          </a:p>
        </p:txBody>
      </p:sp>
      <p:sp>
        <p:nvSpPr>
          <p:cNvPr id="10" name="Line 17"/>
          <p:cNvSpPr>
            <a:spLocks noChangeShapeType="1"/>
          </p:cNvSpPr>
          <p:nvPr/>
        </p:nvSpPr>
        <p:spPr bwMode="auto">
          <a:xfrm>
            <a:off x="5118007" y="2007957"/>
            <a:ext cx="27062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1" name="Line 18"/>
          <p:cNvSpPr>
            <a:spLocks noChangeShapeType="1"/>
          </p:cNvSpPr>
          <p:nvPr/>
        </p:nvSpPr>
        <p:spPr bwMode="auto">
          <a:xfrm>
            <a:off x="5118007" y="2354434"/>
            <a:ext cx="2706237"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2" name="Line 19"/>
          <p:cNvSpPr>
            <a:spLocks noChangeShapeType="1"/>
          </p:cNvSpPr>
          <p:nvPr/>
        </p:nvSpPr>
        <p:spPr bwMode="auto">
          <a:xfrm>
            <a:off x="5118008" y="2702008"/>
            <a:ext cx="27062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 name="Line 20"/>
          <p:cNvSpPr>
            <a:spLocks noChangeShapeType="1"/>
          </p:cNvSpPr>
          <p:nvPr/>
        </p:nvSpPr>
        <p:spPr bwMode="auto">
          <a:xfrm>
            <a:off x="5118007" y="3049584"/>
            <a:ext cx="27062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 name="Line 21"/>
          <p:cNvSpPr>
            <a:spLocks noChangeShapeType="1"/>
          </p:cNvSpPr>
          <p:nvPr/>
        </p:nvSpPr>
        <p:spPr bwMode="auto">
          <a:xfrm>
            <a:off x="5118007" y="3396060"/>
            <a:ext cx="27062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 name="Text Box 24"/>
          <p:cNvSpPr txBox="1">
            <a:spLocks noChangeArrowheads="1"/>
          </p:cNvSpPr>
          <p:nvPr/>
        </p:nvSpPr>
        <p:spPr bwMode="auto">
          <a:xfrm>
            <a:off x="6289423" y="2726208"/>
            <a:ext cx="428568" cy="362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IP</a:t>
            </a:r>
          </a:p>
        </p:txBody>
      </p:sp>
      <p:sp>
        <p:nvSpPr>
          <p:cNvPr id="16" name="Text Box 25"/>
          <p:cNvSpPr txBox="1">
            <a:spLocks noChangeArrowheads="1"/>
          </p:cNvSpPr>
          <p:nvPr/>
        </p:nvSpPr>
        <p:spPr bwMode="auto">
          <a:xfrm>
            <a:off x="5973969" y="3042923"/>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1400" b="1" dirty="0">
                <a:latin typeface="微软雅黑" pitchFamily="34" charset="-122"/>
                <a:ea typeface="微软雅黑" pitchFamily="34" charset="-122"/>
              </a:rPr>
              <a:t>数据链路层</a:t>
            </a:r>
          </a:p>
        </p:txBody>
      </p:sp>
      <p:sp>
        <p:nvSpPr>
          <p:cNvPr id="17" name="Text Box 26"/>
          <p:cNvSpPr txBox="1">
            <a:spLocks noChangeArrowheads="1"/>
          </p:cNvSpPr>
          <p:nvPr/>
        </p:nvSpPr>
        <p:spPr bwMode="auto">
          <a:xfrm>
            <a:off x="6128127" y="338532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1400" b="1" dirty="0">
                <a:latin typeface="微软雅黑" pitchFamily="34" charset="-122"/>
                <a:ea typeface="微软雅黑" pitchFamily="34" charset="-122"/>
              </a:rPr>
              <a:t>物理层</a:t>
            </a:r>
          </a:p>
        </p:txBody>
      </p:sp>
      <p:sp>
        <p:nvSpPr>
          <p:cNvPr id="24" name="Rectangle 30"/>
          <p:cNvSpPr>
            <a:spLocks noChangeArrowheads="1"/>
          </p:cNvSpPr>
          <p:nvPr/>
        </p:nvSpPr>
        <p:spPr bwMode="auto">
          <a:xfrm>
            <a:off x="5134332" y="2372033"/>
            <a:ext cx="2672578" cy="318978"/>
          </a:xfrm>
          <a:prstGeom prst="rect">
            <a:avLst/>
          </a:prstGeom>
          <a:solidFill>
            <a:srgbClr val="66FF33"/>
          </a:solidFill>
          <a:ln>
            <a:noFill/>
          </a:ln>
          <a:effectLst/>
        </p:spPr>
        <p:txBody>
          <a:bodyPr wrap="none" anchor="ctr"/>
          <a:lstStyle/>
          <a:p>
            <a:endParaRPr lang="zh-CN" altLang="en-US" sz="1400" b="1">
              <a:latin typeface="微软雅黑" pitchFamily="34" charset="-122"/>
              <a:ea typeface="微软雅黑" pitchFamily="34" charset="-122"/>
            </a:endParaRPr>
          </a:p>
        </p:txBody>
      </p:sp>
      <p:sp>
        <p:nvSpPr>
          <p:cNvPr id="21" name="Text Box 23"/>
          <p:cNvSpPr txBox="1">
            <a:spLocks noChangeArrowheads="1"/>
          </p:cNvSpPr>
          <p:nvPr/>
        </p:nvSpPr>
        <p:spPr bwMode="auto">
          <a:xfrm>
            <a:off x="6223187" y="2372033"/>
            <a:ext cx="58541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1400" b="1" dirty="0">
                <a:latin typeface="微软雅黑" pitchFamily="34" charset="-122"/>
                <a:ea typeface="微软雅黑" pitchFamily="34" charset="-122"/>
              </a:rPr>
              <a:t>UDP</a:t>
            </a:r>
          </a:p>
        </p:txBody>
      </p:sp>
      <p:sp>
        <p:nvSpPr>
          <p:cNvPr id="20" name="Text Box 22"/>
          <p:cNvSpPr txBox="1">
            <a:spLocks noChangeArrowheads="1"/>
          </p:cNvSpPr>
          <p:nvPr/>
        </p:nvSpPr>
        <p:spPr bwMode="auto">
          <a:xfrm>
            <a:off x="6221252" y="2037656"/>
            <a:ext cx="5365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en-US" altLang="zh-CN" sz="1400" b="1" dirty="0">
                <a:solidFill>
                  <a:srgbClr val="C00000"/>
                </a:solidFill>
                <a:latin typeface="微软雅黑" pitchFamily="34" charset="-122"/>
                <a:ea typeface="微软雅黑" pitchFamily="34" charset="-122"/>
              </a:rPr>
              <a:t>RTP</a:t>
            </a:r>
          </a:p>
        </p:txBody>
      </p:sp>
    </p:spTree>
    <p:extLst>
      <p:ext uri="{BB962C8B-B14F-4D97-AF65-F5344CB8AC3E}">
        <p14:creationId xmlns:p14="http://schemas.microsoft.com/office/powerpoint/2010/main" val="12316846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77422"/>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分组</a:t>
            </a:r>
            <a:r>
              <a:rPr lang="zh-CN" altLang="en-US" sz="2000" b="1" dirty="0">
                <a:solidFill>
                  <a:srgbClr val="C00000"/>
                </a:solidFill>
                <a:latin typeface="微软雅黑" pitchFamily="34" charset="-122"/>
                <a:ea typeface="微软雅黑" pitchFamily="34" charset="-122"/>
              </a:rPr>
              <a:t>只包含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数据，</a:t>
            </a:r>
            <a:r>
              <a:rPr lang="zh-CN" altLang="en-US" sz="2000" b="1" dirty="0">
                <a:solidFill>
                  <a:srgbClr val="0000FF"/>
                </a:solidFill>
                <a:latin typeface="微软雅黑" pitchFamily="34" charset="-122"/>
                <a:ea typeface="微软雅黑" pitchFamily="34" charset="-122"/>
              </a:rPr>
              <a:t>控制</a:t>
            </a:r>
            <a:r>
              <a:rPr lang="zh-CN" altLang="en-US" sz="2000" b="1" dirty="0">
                <a:latin typeface="微软雅黑" pitchFamily="34" charset="-122"/>
                <a:ea typeface="微软雅黑" pitchFamily="34" charset="-122"/>
              </a:rPr>
              <a:t>由另一个配套使用的 </a:t>
            </a:r>
            <a:r>
              <a:rPr lang="en-US" altLang="zh-CN" sz="2000" b="1" dirty="0">
                <a:solidFill>
                  <a:srgbClr val="0000FF"/>
                </a:solidFill>
                <a:latin typeface="微软雅黑" pitchFamily="34" charset="-122"/>
                <a:ea typeface="微软雅黑" pitchFamily="34" charset="-122"/>
              </a:rPr>
              <a:t>RTCP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协议提供。</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在端口号 </a:t>
            </a:r>
            <a:r>
              <a:rPr lang="en-US" altLang="zh-CN" sz="2000" b="1" dirty="0">
                <a:latin typeface="微软雅黑" pitchFamily="34" charset="-122"/>
                <a:ea typeface="微软雅黑" pitchFamily="34" charset="-122"/>
              </a:rPr>
              <a:t>1025 </a:t>
            </a:r>
            <a:r>
              <a:rPr lang="zh-CN" altLang="en-US" sz="2000" b="1" dirty="0">
                <a:latin typeface="微软雅黑" pitchFamily="34" charset="-122"/>
                <a:ea typeface="微软雅黑" pitchFamily="34" charset="-122"/>
              </a:rPr>
              <a:t>到 </a:t>
            </a:r>
            <a:r>
              <a:rPr lang="en-US" altLang="zh-CN" sz="2000" b="1" dirty="0">
                <a:latin typeface="微软雅黑" pitchFamily="34" charset="-122"/>
                <a:ea typeface="微软雅黑" pitchFamily="34" charset="-122"/>
              </a:rPr>
              <a:t>65535 </a:t>
            </a:r>
            <a:r>
              <a:rPr lang="zh-CN" altLang="en-US" sz="2000" b="1" dirty="0">
                <a:latin typeface="微软雅黑" pitchFamily="34" charset="-122"/>
                <a:ea typeface="微软雅黑" pitchFamily="34" charset="-122"/>
              </a:rPr>
              <a:t>之间选择一个未使用的</a:t>
            </a:r>
            <a:r>
              <a:rPr lang="zh-CN" altLang="en-US" sz="2000" b="1" dirty="0">
                <a:solidFill>
                  <a:srgbClr val="C00000"/>
                </a:solidFill>
                <a:latin typeface="微软雅黑" pitchFamily="34" charset="-122"/>
                <a:ea typeface="微软雅黑" pitchFamily="34" charset="-122"/>
              </a:rPr>
              <a:t>偶数</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端口号，在同一次会话中的 </a:t>
            </a: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则使用下一个</a:t>
            </a:r>
            <a:r>
              <a:rPr lang="zh-CN" altLang="en-US" sz="2000" b="1" dirty="0">
                <a:solidFill>
                  <a:srgbClr val="C00000"/>
                </a:solidFill>
                <a:latin typeface="微软雅黑" pitchFamily="34" charset="-122"/>
                <a:ea typeface="微软雅黑" pitchFamily="34" charset="-122"/>
              </a:rPr>
              <a:t>奇数</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端口号。但端口号 </a:t>
            </a:r>
            <a:r>
              <a:rPr lang="en-US" altLang="zh-CN" sz="2000" b="1" dirty="0">
                <a:latin typeface="微软雅黑" pitchFamily="34" charset="-122"/>
                <a:ea typeface="微软雅黑" pitchFamily="34" charset="-122"/>
              </a:rPr>
              <a:t>5004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5005 </a:t>
            </a:r>
            <a:r>
              <a:rPr lang="zh-CN" altLang="en-US" sz="2000" b="1" dirty="0">
                <a:latin typeface="微软雅黑" pitchFamily="34" charset="-122"/>
                <a:ea typeface="微软雅黑" pitchFamily="34" charset="-122"/>
              </a:rPr>
              <a:t>则分别用作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的</a:t>
            </a:r>
            <a:r>
              <a:rPr lang="zh-CN" altLang="en-US" sz="2000" b="1" dirty="0">
                <a:solidFill>
                  <a:srgbClr val="C00000"/>
                </a:solidFill>
                <a:latin typeface="微软雅黑" pitchFamily="34" charset="-122"/>
                <a:ea typeface="微软雅黑" pitchFamily="34" charset="-122"/>
              </a:rPr>
              <a:t>默认</a:t>
            </a:r>
            <a:r>
              <a:rPr lang="zh-CN" altLang="en-US" sz="2000" b="1" dirty="0">
                <a:latin typeface="微软雅黑" pitchFamily="34" charset="-122"/>
                <a:ea typeface="微软雅黑" pitchFamily="34" charset="-122"/>
              </a:rPr>
              <a:t>端口号。</a:t>
            </a:r>
          </a:p>
        </p:txBody>
      </p:sp>
      <p:sp>
        <p:nvSpPr>
          <p:cNvPr id="3" name="AutoShape 5"/>
          <p:cNvSpPr>
            <a:spLocks noChangeArrowheads="1"/>
          </p:cNvSpPr>
          <p:nvPr/>
        </p:nvSpPr>
        <p:spPr bwMode="auto">
          <a:xfrm>
            <a:off x="509475" y="6207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4195056" y="587571"/>
            <a:ext cx="7745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注意 </a:t>
            </a:r>
          </a:p>
        </p:txBody>
      </p:sp>
    </p:spTree>
    <p:extLst>
      <p:ext uri="{BB962C8B-B14F-4D97-AF65-F5344CB8AC3E}">
        <p14:creationId xmlns:p14="http://schemas.microsoft.com/office/powerpoint/2010/main" val="18552559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071192" y="1088571"/>
            <a:ext cx="7219576" cy="3241781"/>
            <a:chOff x="1071192" y="1088571"/>
            <a:chExt cx="7219576" cy="3241781"/>
          </a:xfrm>
        </p:grpSpPr>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2" name="Freeform 23"/>
            <p:cNvSpPr>
              <a:spLocks/>
            </p:cNvSpPr>
            <p:nvPr/>
          </p:nvSpPr>
          <p:spPr bwMode="auto">
            <a:xfrm>
              <a:off x="1560595" y="2718274"/>
              <a:ext cx="5884658" cy="486510"/>
            </a:xfrm>
            <a:custGeom>
              <a:avLst/>
              <a:gdLst>
                <a:gd name="T0" fmla="*/ 0 w 4524"/>
                <a:gd name="T1" fmla="*/ 12 h 402"/>
                <a:gd name="T2" fmla="*/ 4524 w 4524"/>
                <a:gd name="T3" fmla="*/ 0 h 402"/>
                <a:gd name="T4" fmla="*/ 2508 w 4524"/>
                <a:gd name="T5" fmla="*/ 402 h 402"/>
                <a:gd name="T6" fmla="*/ 1608 w 4524"/>
                <a:gd name="T7" fmla="*/ 390 h 402"/>
                <a:gd name="T8" fmla="*/ 0 w 4524"/>
                <a:gd name="T9" fmla="*/ 12 h 402"/>
                <a:gd name="connsiteX0" fmla="*/ 0 w 9989"/>
                <a:gd name="connsiteY0" fmla="*/ 0 h 10271"/>
                <a:gd name="connsiteX1" fmla="*/ 9989 w 9989"/>
                <a:gd name="connsiteY1" fmla="*/ 271 h 10271"/>
                <a:gd name="connsiteX2" fmla="*/ 5533 w 9989"/>
                <a:gd name="connsiteY2" fmla="*/ 10271 h 10271"/>
                <a:gd name="connsiteX3" fmla="*/ 3543 w 9989"/>
                <a:gd name="connsiteY3" fmla="*/ 9972 h 10271"/>
                <a:gd name="connsiteX4" fmla="*/ 0 w 9989"/>
                <a:gd name="connsiteY4" fmla="*/ 0 h 10271"/>
                <a:gd name="connsiteX0" fmla="*/ 0 w 9968"/>
                <a:gd name="connsiteY0" fmla="*/ 0 h 10000"/>
                <a:gd name="connsiteX1" fmla="*/ 9968 w 9968"/>
                <a:gd name="connsiteY1" fmla="*/ 264 h 10000"/>
                <a:gd name="connsiteX2" fmla="*/ 5507 w 9968"/>
                <a:gd name="connsiteY2" fmla="*/ 10000 h 10000"/>
                <a:gd name="connsiteX3" fmla="*/ 3515 w 9968"/>
                <a:gd name="connsiteY3" fmla="*/ 9709 h 10000"/>
                <a:gd name="connsiteX4" fmla="*/ 0 w 9968"/>
                <a:gd name="connsiteY4" fmla="*/ 0 h 10000"/>
                <a:gd name="connsiteX0" fmla="*/ 0 w 10043"/>
                <a:gd name="connsiteY0" fmla="*/ 153 h 10153"/>
                <a:gd name="connsiteX1" fmla="*/ 10043 w 10043"/>
                <a:gd name="connsiteY1" fmla="*/ 0 h 10153"/>
                <a:gd name="connsiteX2" fmla="*/ 5525 w 10043"/>
                <a:gd name="connsiteY2" fmla="*/ 10153 h 10153"/>
                <a:gd name="connsiteX3" fmla="*/ 3526 w 10043"/>
                <a:gd name="connsiteY3" fmla="*/ 9862 h 10153"/>
                <a:gd name="connsiteX4" fmla="*/ 0 w 10043"/>
                <a:gd name="connsiteY4" fmla="*/ 153 h 10153"/>
                <a:gd name="connsiteX0" fmla="*/ 0 w 10043"/>
                <a:gd name="connsiteY0" fmla="*/ 153 h 10695"/>
                <a:gd name="connsiteX1" fmla="*/ 10043 w 10043"/>
                <a:gd name="connsiteY1" fmla="*/ 0 h 10695"/>
                <a:gd name="connsiteX2" fmla="*/ 5525 w 10043"/>
                <a:gd name="connsiteY2" fmla="*/ 10153 h 10695"/>
                <a:gd name="connsiteX3" fmla="*/ 3526 w 10043"/>
                <a:gd name="connsiteY3" fmla="*/ 10695 h 10695"/>
                <a:gd name="connsiteX4" fmla="*/ 0 w 10043"/>
                <a:gd name="connsiteY4" fmla="*/ 153 h 10695"/>
                <a:gd name="connsiteX0" fmla="*/ 0 w 10043"/>
                <a:gd name="connsiteY0" fmla="*/ 153 h 10695"/>
                <a:gd name="connsiteX1" fmla="*/ 10043 w 10043"/>
                <a:gd name="connsiteY1" fmla="*/ 0 h 10695"/>
                <a:gd name="connsiteX2" fmla="*/ 5536 w 10043"/>
                <a:gd name="connsiteY2" fmla="*/ 10570 h 10695"/>
                <a:gd name="connsiteX3" fmla="*/ 3526 w 10043"/>
                <a:gd name="connsiteY3" fmla="*/ 10695 h 10695"/>
                <a:gd name="connsiteX4" fmla="*/ 0 w 10043"/>
                <a:gd name="connsiteY4" fmla="*/ 153 h 10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3" h="10695">
                  <a:moveTo>
                    <a:pt x="0" y="153"/>
                  </a:moveTo>
                  <a:lnTo>
                    <a:pt x="10043" y="0"/>
                  </a:lnTo>
                  <a:lnTo>
                    <a:pt x="5536" y="10570"/>
                  </a:lnTo>
                  <a:lnTo>
                    <a:pt x="3526" y="10695"/>
                  </a:lnTo>
                  <a:lnTo>
                    <a:pt x="0" y="153"/>
                  </a:lnTo>
                  <a:close/>
                </a:path>
              </a:pathLst>
            </a:custGeom>
            <a:gradFill rotWithShape="1">
              <a:gsLst>
                <a:gs pos="0">
                  <a:schemeClr val="tx2">
                    <a:lumMod val="60000"/>
                    <a:lumOff val="40000"/>
                  </a:schemeClr>
                </a:gs>
                <a:gs pos="100000">
                  <a:srgbClr val="00B0F0"/>
                </a:gs>
              </a:gsLst>
              <a:lin ang="5400000" scaled="1"/>
            </a:gradFill>
            <a:ln>
              <a:noFill/>
            </a:ln>
            <a:effectLst/>
          </p:spPr>
          <p:txBody>
            <a:bodyPr/>
            <a:lstStyle/>
            <a:p>
              <a:pPr algn="ctr"/>
              <a:endParaRPr lang="zh-CN" altLang="en-US" sz="1300" b="1">
                <a:latin typeface="微软雅黑" pitchFamily="34" charset="-122"/>
                <a:ea typeface="微软雅黑" pitchFamily="34" charset="-122"/>
              </a:endParaRPr>
            </a:p>
          </p:txBody>
        </p:sp>
        <p:sp>
          <p:nvSpPr>
            <p:cNvPr id="13" name="AutoShape 24"/>
            <p:cNvSpPr>
              <a:spLocks noChangeArrowheads="1"/>
            </p:cNvSpPr>
            <p:nvPr/>
          </p:nvSpPr>
          <p:spPr bwMode="auto">
            <a:xfrm>
              <a:off x="1646865" y="3305246"/>
              <a:ext cx="498992" cy="110723"/>
            </a:xfrm>
            <a:prstGeom prst="leftArrow">
              <a:avLst>
                <a:gd name="adj1" fmla="val 50000"/>
                <a:gd name="adj2" fmla="val 104000"/>
              </a:avLst>
            </a:prstGeom>
            <a:solidFill>
              <a:srgbClr val="CC00CC"/>
            </a:solidFill>
            <a:ln w="9525">
              <a:solidFill>
                <a:schemeClr val="tx1"/>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35" name="Rectangle 46"/>
            <p:cNvSpPr>
              <a:spLocks noChangeArrowheads="1"/>
            </p:cNvSpPr>
            <p:nvPr/>
          </p:nvSpPr>
          <p:spPr bwMode="auto">
            <a:xfrm>
              <a:off x="2111071" y="3193416"/>
              <a:ext cx="4993518" cy="334384"/>
            </a:xfrm>
            <a:prstGeom prst="rect">
              <a:avLst/>
            </a:prstGeom>
            <a:solidFill>
              <a:srgbClr val="00FF99"/>
            </a:solidFill>
            <a:ln w="9525">
              <a:solidFill>
                <a:schemeClr val="tx1"/>
              </a:solidFill>
              <a:miter lim="800000"/>
              <a:headEnd/>
              <a:tailEnd/>
            </a:ln>
            <a:effectLst/>
          </p:spPr>
          <p:txBody>
            <a:bodyPr wrap="none" anchor="ctr"/>
            <a:lstStyle/>
            <a:p>
              <a:pPr algn="ctr"/>
              <a:endParaRPr kumimoji="1" lang="zh-CN" altLang="zh-CN" sz="1300" b="1">
                <a:latin typeface="微软雅黑" pitchFamily="34" charset="-122"/>
                <a:ea typeface="微软雅黑" pitchFamily="34" charset="-122"/>
              </a:endParaRPr>
            </a:p>
          </p:txBody>
        </p:sp>
        <p:sp>
          <p:nvSpPr>
            <p:cNvPr id="36" name="Line 47"/>
            <p:cNvSpPr>
              <a:spLocks noChangeShapeType="1"/>
            </p:cNvSpPr>
            <p:nvPr/>
          </p:nvSpPr>
          <p:spPr bwMode="auto">
            <a:xfrm>
              <a:off x="2763599" y="3193416"/>
              <a:ext cx="0" cy="334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37" name="Line 48"/>
            <p:cNvSpPr>
              <a:spLocks noChangeShapeType="1"/>
            </p:cNvSpPr>
            <p:nvPr/>
          </p:nvSpPr>
          <p:spPr bwMode="auto">
            <a:xfrm>
              <a:off x="3609245" y="3193416"/>
              <a:ext cx="0" cy="334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38" name="Line 49"/>
            <p:cNvSpPr>
              <a:spLocks noChangeShapeType="1"/>
            </p:cNvSpPr>
            <p:nvPr/>
          </p:nvSpPr>
          <p:spPr bwMode="auto">
            <a:xfrm>
              <a:off x="4795552" y="3193416"/>
              <a:ext cx="0" cy="334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39" name="Text Box 50"/>
            <p:cNvSpPr txBox="1">
              <a:spLocks noChangeArrowheads="1"/>
            </p:cNvSpPr>
            <p:nvPr/>
          </p:nvSpPr>
          <p:spPr bwMode="auto">
            <a:xfrm>
              <a:off x="1430965" y="3038405"/>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a:latin typeface="微软雅黑" pitchFamily="34" charset="-122"/>
                  <a:ea typeface="微软雅黑" pitchFamily="34" charset="-122"/>
                </a:rPr>
                <a:t>发送</a:t>
              </a:r>
            </a:p>
          </p:txBody>
        </p:sp>
        <p:sp>
          <p:nvSpPr>
            <p:cNvPr id="40" name="Line 51"/>
            <p:cNvSpPr>
              <a:spLocks noChangeShapeType="1"/>
            </p:cNvSpPr>
            <p:nvPr/>
          </p:nvSpPr>
          <p:spPr bwMode="auto">
            <a:xfrm>
              <a:off x="3609247" y="3725389"/>
              <a:ext cx="34953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2" name="Line 53"/>
            <p:cNvSpPr>
              <a:spLocks noChangeShapeType="1"/>
            </p:cNvSpPr>
            <p:nvPr/>
          </p:nvSpPr>
          <p:spPr bwMode="auto">
            <a:xfrm>
              <a:off x="2754002" y="3950794"/>
              <a:ext cx="4350586" cy="221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4" name="Line 55"/>
            <p:cNvSpPr>
              <a:spLocks noChangeShapeType="1"/>
            </p:cNvSpPr>
            <p:nvPr/>
          </p:nvSpPr>
          <p:spPr bwMode="auto">
            <a:xfrm>
              <a:off x="2111071" y="4181735"/>
              <a:ext cx="499351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5" name="Text Box 56"/>
            <p:cNvSpPr txBox="1">
              <a:spLocks noChangeArrowheads="1"/>
            </p:cNvSpPr>
            <p:nvPr/>
          </p:nvSpPr>
          <p:spPr bwMode="auto">
            <a:xfrm>
              <a:off x="3954164" y="4037964"/>
              <a:ext cx="899605" cy="292388"/>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100" b="1">
                  <a:latin typeface="微软雅黑" pitchFamily="34" charset="-122"/>
                  <a:ea typeface="微软雅黑" pitchFamily="34" charset="-122"/>
                </a:defRPr>
              </a:lvl1pPr>
            </a:lstStyle>
            <a:p>
              <a:pPr algn="ctr"/>
              <a:r>
                <a:rPr lang="en-US" altLang="zh-CN" sz="1300" dirty="0"/>
                <a:t>IP </a:t>
              </a:r>
              <a:r>
                <a:rPr lang="zh-CN" altLang="en-US" sz="1300" dirty="0"/>
                <a:t>数据报</a:t>
              </a:r>
            </a:p>
          </p:txBody>
        </p:sp>
        <p:sp>
          <p:nvSpPr>
            <p:cNvPr id="46" name="Line 57"/>
            <p:cNvSpPr>
              <a:spLocks noChangeShapeType="1"/>
            </p:cNvSpPr>
            <p:nvPr/>
          </p:nvSpPr>
          <p:spPr bwMode="auto">
            <a:xfrm>
              <a:off x="7104588" y="3583162"/>
              <a:ext cx="0" cy="6890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7" name="Line 58"/>
            <p:cNvSpPr>
              <a:spLocks noChangeShapeType="1"/>
            </p:cNvSpPr>
            <p:nvPr/>
          </p:nvSpPr>
          <p:spPr bwMode="auto">
            <a:xfrm>
              <a:off x="3609245" y="3583162"/>
              <a:ext cx="0" cy="2236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8" name="Line 59"/>
            <p:cNvSpPr>
              <a:spLocks noChangeShapeType="1"/>
            </p:cNvSpPr>
            <p:nvPr/>
          </p:nvSpPr>
          <p:spPr bwMode="auto">
            <a:xfrm>
              <a:off x="2754002" y="3583161"/>
              <a:ext cx="0" cy="3908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49" name="Line 60"/>
            <p:cNvSpPr>
              <a:spLocks noChangeShapeType="1"/>
            </p:cNvSpPr>
            <p:nvPr/>
          </p:nvSpPr>
          <p:spPr bwMode="auto">
            <a:xfrm>
              <a:off x="2111071" y="3583162"/>
              <a:ext cx="0" cy="6890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0" name="Rectangle 61"/>
            <p:cNvSpPr>
              <a:spLocks noChangeArrowheads="1"/>
            </p:cNvSpPr>
            <p:nvPr/>
          </p:nvSpPr>
          <p:spPr bwMode="auto">
            <a:xfrm>
              <a:off x="3609248" y="3193415"/>
              <a:ext cx="1180307" cy="337706"/>
            </a:xfrm>
            <a:prstGeom prst="rect">
              <a:avLst/>
            </a:prstGeom>
            <a:solidFill>
              <a:srgbClr val="0000FF"/>
            </a:solidFill>
            <a:ln w="6350">
              <a:solidFill>
                <a:schemeClr val="tx1"/>
              </a:solidFill>
            </a:ln>
            <a:effectLst/>
          </p:spPr>
          <p:txBody>
            <a:bodyPr wrap="none" anchor="ctr"/>
            <a:lstStyle/>
            <a:p>
              <a:pPr algn="ctr"/>
              <a:endParaRPr lang="zh-CN" altLang="en-US" sz="1300" b="1">
                <a:latin typeface="微软雅黑" pitchFamily="34" charset="-122"/>
                <a:ea typeface="微软雅黑" pitchFamily="34" charset="-122"/>
              </a:endParaRP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6" name="Text Box 62"/>
            <p:cNvSpPr txBox="1">
              <a:spLocks noChangeArrowheads="1"/>
            </p:cNvSpPr>
            <p:nvPr/>
          </p:nvSpPr>
          <p:spPr bwMode="auto">
            <a:xfrm>
              <a:off x="2026848" y="3237705"/>
              <a:ext cx="520116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latin typeface="微软雅黑" pitchFamily="34" charset="-122"/>
                  <a:ea typeface="微软雅黑" pitchFamily="34" charset="-122"/>
                </a:rPr>
                <a:t>IP </a:t>
              </a:r>
              <a:r>
                <a:rPr kumimoji="1" lang="zh-CN" altLang="en-US" sz="1300" b="1" dirty="0">
                  <a:latin typeface="微软雅黑" pitchFamily="34" charset="-122"/>
                  <a:ea typeface="微软雅黑" pitchFamily="34" charset="-122"/>
                </a:rPr>
                <a:t>首部   </a:t>
              </a:r>
              <a:r>
                <a:rPr kumimoji="1" lang="en-US" altLang="zh-CN" sz="1300" b="1" dirty="0">
                  <a:latin typeface="微软雅黑" pitchFamily="34" charset="-122"/>
                  <a:ea typeface="微软雅黑" pitchFamily="34" charset="-122"/>
                </a:rPr>
                <a:t>UDP </a:t>
              </a:r>
              <a:r>
                <a:rPr kumimoji="1" lang="zh-CN" altLang="en-US" sz="1300" b="1" dirty="0">
                  <a:latin typeface="微软雅黑" pitchFamily="34" charset="-122"/>
                  <a:ea typeface="微软雅黑" pitchFamily="34" charset="-122"/>
                </a:rPr>
                <a:t>首部      </a:t>
              </a:r>
              <a:r>
                <a:rPr kumimoji="1" lang="en-US" altLang="zh-CN" sz="1300" b="1" dirty="0">
                  <a:solidFill>
                    <a:schemeClr val="bg1"/>
                  </a:solidFill>
                  <a:latin typeface="微软雅黑" pitchFamily="34" charset="-122"/>
                  <a:ea typeface="微软雅黑" pitchFamily="34" charset="-122"/>
                </a:rPr>
                <a:t>RTP </a:t>
              </a:r>
              <a:r>
                <a:rPr kumimoji="1" lang="zh-CN" altLang="en-US" sz="1300" b="1" dirty="0">
                  <a:solidFill>
                    <a:schemeClr val="bg1"/>
                  </a:solidFill>
                  <a:latin typeface="微软雅黑" pitchFamily="34" charset="-122"/>
                  <a:ea typeface="微软雅黑" pitchFamily="34" charset="-122"/>
                </a:rPr>
                <a:t>首部       </a:t>
              </a:r>
              <a:r>
                <a:rPr kumimoji="1" lang="en-US" altLang="zh-CN" sz="1300" b="1" dirty="0">
                  <a:latin typeface="微软雅黑" pitchFamily="34" charset="-122"/>
                  <a:ea typeface="微软雅黑" pitchFamily="34" charset="-122"/>
                </a:rPr>
                <a:t>RTP </a:t>
              </a:r>
              <a:r>
                <a:rPr kumimoji="1" lang="zh-CN" altLang="en-US" sz="1300" b="1" dirty="0">
                  <a:latin typeface="微软雅黑" pitchFamily="34" charset="-122"/>
                  <a:ea typeface="微软雅黑" pitchFamily="34" charset="-122"/>
                </a:rPr>
                <a:t>数据部分（应用层数据）</a:t>
              </a: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43" name="Text Box 54"/>
            <p:cNvSpPr txBox="1">
              <a:spLocks noChangeArrowheads="1"/>
            </p:cNvSpPr>
            <p:nvPr/>
          </p:nvSpPr>
          <p:spPr bwMode="auto">
            <a:xfrm>
              <a:off x="4149712" y="3806854"/>
              <a:ext cx="1438215" cy="292388"/>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100" b="1">
                  <a:latin typeface="微软雅黑" pitchFamily="34" charset="-122"/>
                  <a:ea typeface="微软雅黑" pitchFamily="34" charset="-122"/>
                </a:defRPr>
              </a:lvl1pPr>
            </a:lstStyle>
            <a:p>
              <a:pPr algn="ctr"/>
              <a:r>
                <a:rPr lang="en-US" altLang="zh-CN" sz="1300" dirty="0"/>
                <a:t>UDP </a:t>
              </a:r>
              <a:r>
                <a:rPr lang="zh-CN" altLang="en-US" sz="1300" dirty="0"/>
                <a:t>用户数据报</a:t>
              </a:r>
            </a:p>
          </p:txBody>
        </p:sp>
        <p:sp>
          <p:nvSpPr>
            <p:cNvPr id="41" name="Text Box 52"/>
            <p:cNvSpPr txBox="1">
              <a:spLocks noChangeArrowheads="1"/>
            </p:cNvSpPr>
            <p:nvPr/>
          </p:nvSpPr>
          <p:spPr bwMode="auto">
            <a:xfrm>
              <a:off x="4991793" y="3566999"/>
              <a:ext cx="894347" cy="292388"/>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100" b="1">
                  <a:latin typeface="微软雅黑" pitchFamily="34" charset="-122"/>
                  <a:ea typeface="微软雅黑" pitchFamily="34" charset="-122"/>
                </a:defRPr>
              </a:lvl1pPr>
            </a:lstStyle>
            <a:p>
              <a:pPr algn="ctr"/>
              <a:r>
                <a:rPr lang="en-US" altLang="zh-CN" sz="1300" dirty="0">
                  <a:solidFill>
                    <a:srgbClr val="0000FF"/>
                  </a:solidFill>
                </a:rPr>
                <a:t>RTP </a:t>
              </a:r>
              <a:r>
                <a:rPr lang="zh-CN" altLang="en-US" sz="1300" dirty="0">
                  <a:solidFill>
                    <a:srgbClr val="0000FF"/>
                  </a:solidFill>
                </a:rPr>
                <a:t>分组</a:t>
              </a:r>
            </a:p>
          </p:txBody>
        </p:sp>
      </p:grpSp>
    </p:spTree>
    <p:extLst>
      <p:ext uri="{BB962C8B-B14F-4D97-AF65-F5344CB8AC3E}">
        <p14:creationId xmlns:p14="http://schemas.microsoft.com/office/powerpoint/2010/main" val="1803283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57" name="矩形 56"/>
          <p:cNvSpPr/>
          <p:nvPr/>
        </p:nvSpPr>
        <p:spPr>
          <a:xfrm>
            <a:off x="1430965" y="1336431"/>
            <a:ext cx="375363"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441749" y="2832589"/>
            <a:ext cx="5993901" cy="374461"/>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版本：</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位。当前使用的是版本 </a:t>
            </a:r>
            <a:r>
              <a:rPr lang="en-US" altLang="zh-CN" sz="1600" b="1" dirty="0">
                <a:latin typeface="微软雅黑" panose="020B0503020204020204" pitchFamily="34" charset="-122"/>
                <a:ea typeface="微软雅黑" panose="020B0503020204020204" pitchFamily="34" charset="-122"/>
              </a:rPr>
              <a:t>2</a:t>
            </a:r>
            <a:r>
              <a:rPr lang="zh-CN" altLang="en-US"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0294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6613680" cy="1220847"/>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填充 </a:t>
            </a:r>
            <a:r>
              <a:rPr lang="en-US" altLang="zh-CN" sz="1600" b="1" dirty="0">
                <a:solidFill>
                  <a:srgbClr val="0000FF"/>
                </a:solidFill>
                <a:latin typeface="微软雅黑" panose="020B0503020204020204" pitchFamily="34" charset="-122"/>
                <a:ea typeface="微软雅黑" panose="020B0503020204020204" pitchFamily="34" charset="-122"/>
              </a:rPr>
              <a:t>P</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位。在某些特殊情况下需要对应用数据块加密，要求每一个数据块有确定的长度。如不满足这种长度要求，就需要进行填充。这时就把 </a:t>
            </a:r>
            <a:r>
              <a:rPr lang="en-US" altLang="zh-CN" sz="1600" b="1" dirty="0">
                <a:latin typeface="微软雅黑" panose="020B0503020204020204" pitchFamily="34" charset="-122"/>
                <a:ea typeface="微软雅黑" panose="020B0503020204020204" pitchFamily="34" charset="-122"/>
              </a:rPr>
              <a:t>P </a:t>
            </a:r>
            <a:r>
              <a:rPr lang="zh-CN" altLang="en-US" sz="1600" b="1" dirty="0">
                <a:latin typeface="微软雅黑" panose="020B0503020204020204" pitchFamily="34" charset="-122"/>
                <a:ea typeface="微软雅黑" panose="020B0503020204020204" pitchFamily="34" charset="-122"/>
              </a:rPr>
              <a:t>位置 </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，表示这个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分组的数据有若干填充字节。在数据部分的最后一个字节用来表示所填充的字节数。</a:t>
            </a:r>
          </a:p>
        </p:txBody>
      </p:sp>
      <p:sp>
        <p:nvSpPr>
          <p:cNvPr id="35" name="矩形 34"/>
          <p:cNvSpPr/>
          <p:nvPr/>
        </p:nvSpPr>
        <p:spPr>
          <a:xfrm>
            <a:off x="1813718" y="1336431"/>
            <a:ext cx="187682"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039045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656590"/>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扩展 </a:t>
            </a:r>
            <a:r>
              <a:rPr lang="en-US" altLang="zh-CN" sz="1600" b="1" dirty="0">
                <a:solidFill>
                  <a:srgbClr val="0000FF"/>
                </a:solidFill>
                <a:latin typeface="微软雅黑" panose="020B0503020204020204" pitchFamily="34" charset="-122"/>
                <a:ea typeface="微软雅黑" panose="020B0503020204020204" pitchFamily="34" charset="-122"/>
              </a:rPr>
              <a:t>X</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位。</a:t>
            </a:r>
            <a:r>
              <a:rPr lang="en-US" altLang="zh-CN" sz="1600" b="1" dirty="0">
                <a:latin typeface="微软雅黑" panose="020B0503020204020204" pitchFamily="34" charset="-122"/>
                <a:ea typeface="微软雅黑" panose="020B0503020204020204" pitchFamily="34" charset="-122"/>
              </a:rPr>
              <a:t>X </a:t>
            </a:r>
            <a:r>
              <a:rPr lang="zh-CN" altLang="en-US" sz="1600" b="1" dirty="0">
                <a:latin typeface="微软雅黑" panose="020B0503020204020204" pitchFamily="34" charset="-122"/>
                <a:ea typeface="微软雅黑" panose="020B0503020204020204" pitchFamily="34" charset="-122"/>
              </a:rPr>
              <a:t>置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表示在此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首部后面还有扩展首部。扩展首部很少使用。</a:t>
            </a:r>
          </a:p>
        </p:txBody>
      </p:sp>
      <p:sp>
        <p:nvSpPr>
          <p:cNvPr id="36" name="矩形 35"/>
          <p:cNvSpPr/>
          <p:nvPr/>
        </p:nvSpPr>
        <p:spPr>
          <a:xfrm>
            <a:off x="1996598" y="1336431"/>
            <a:ext cx="187682"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27256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374461"/>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参与源数：</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4 </a:t>
            </a:r>
            <a:r>
              <a:rPr lang="zh-CN" altLang="en-US" sz="1600" b="1" dirty="0">
                <a:latin typeface="微软雅黑" panose="020B0503020204020204" pitchFamily="34" charset="-122"/>
                <a:ea typeface="微软雅黑" panose="020B0503020204020204" pitchFamily="34" charset="-122"/>
              </a:rPr>
              <a:t>位。给出后面的参与源标识符的数目。</a:t>
            </a:r>
          </a:p>
        </p:txBody>
      </p:sp>
      <p:sp>
        <p:nvSpPr>
          <p:cNvPr id="35" name="矩形 34"/>
          <p:cNvSpPr/>
          <p:nvPr/>
        </p:nvSpPr>
        <p:spPr>
          <a:xfrm>
            <a:off x="2179478" y="1336431"/>
            <a:ext cx="760448"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924299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656590"/>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标记 </a:t>
            </a:r>
            <a:r>
              <a:rPr lang="en-US" altLang="zh-CN" sz="1600" b="1" dirty="0">
                <a:solidFill>
                  <a:srgbClr val="0000FF"/>
                </a:solidFill>
                <a:latin typeface="微软雅黑" panose="020B0503020204020204" pitchFamily="34" charset="-122"/>
                <a:ea typeface="微软雅黑" panose="020B0503020204020204" pitchFamily="34" charset="-122"/>
              </a:rPr>
              <a:t>M</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位。</a:t>
            </a:r>
            <a:r>
              <a:rPr lang="en-US" altLang="zh-CN" sz="1600" b="1" dirty="0">
                <a:latin typeface="微软雅黑" panose="020B0503020204020204" pitchFamily="34" charset="-122"/>
                <a:ea typeface="微软雅黑" panose="020B0503020204020204" pitchFamily="34" charset="-122"/>
              </a:rPr>
              <a:t>M </a:t>
            </a:r>
            <a:r>
              <a:rPr lang="zh-CN" altLang="en-US" sz="1600" b="1" dirty="0">
                <a:latin typeface="微软雅黑" panose="020B0503020204020204" pitchFamily="34" charset="-122"/>
                <a:ea typeface="微软雅黑" panose="020B0503020204020204" pitchFamily="34" charset="-122"/>
              </a:rPr>
              <a:t>置 </a:t>
            </a:r>
            <a:r>
              <a:rPr lang="en-US" altLang="zh-CN"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表示这个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分组具有特殊意义。例如，在传送视频流时用来表示每一帧的开始。</a:t>
            </a:r>
          </a:p>
        </p:txBody>
      </p:sp>
      <p:sp>
        <p:nvSpPr>
          <p:cNvPr id="36" name="矩形 35"/>
          <p:cNvSpPr/>
          <p:nvPr/>
        </p:nvSpPr>
        <p:spPr>
          <a:xfrm>
            <a:off x="2939926" y="1336431"/>
            <a:ext cx="170688"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10112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938719"/>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有效载荷类型 </a:t>
            </a:r>
            <a:r>
              <a:rPr lang="en-US" altLang="zh-CN" sz="1600" b="1" dirty="0">
                <a:solidFill>
                  <a:srgbClr val="0000FF"/>
                </a:solidFill>
                <a:latin typeface="微软雅黑" panose="020B0503020204020204" pitchFamily="34" charset="-122"/>
                <a:ea typeface="微软雅黑" panose="020B0503020204020204" pitchFamily="34" charset="-122"/>
              </a:rPr>
              <a:t>(payload type)</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7 </a:t>
            </a:r>
            <a:r>
              <a:rPr lang="zh-CN" altLang="en-US" sz="1600" b="1" dirty="0">
                <a:latin typeface="微软雅黑" panose="020B0503020204020204" pitchFamily="34" charset="-122"/>
                <a:ea typeface="微软雅黑" panose="020B0503020204020204" pitchFamily="34" charset="-122"/>
              </a:rPr>
              <a:t>位。指出后面的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数据属于何种格式的应用。收到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分组的应用层就根据此字段指出的类型进行处理。</a:t>
            </a:r>
          </a:p>
        </p:txBody>
      </p:sp>
      <p:sp>
        <p:nvSpPr>
          <p:cNvPr id="35" name="矩形 34"/>
          <p:cNvSpPr/>
          <p:nvPr/>
        </p:nvSpPr>
        <p:spPr>
          <a:xfrm>
            <a:off x="3110613" y="1336431"/>
            <a:ext cx="1328085"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72857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5993900" cy="938719"/>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序号：</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16 </a:t>
            </a:r>
            <a:r>
              <a:rPr lang="zh-CN" altLang="en-US" sz="1600" b="1" dirty="0">
                <a:latin typeface="微软雅黑" panose="020B0503020204020204" pitchFamily="34" charset="-122"/>
                <a:ea typeface="微软雅黑" panose="020B0503020204020204" pitchFamily="34" charset="-122"/>
              </a:rPr>
              <a:t>位。对每一个发送出的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分组，其序号加 </a:t>
            </a:r>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。在一次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会话开始时的初始序号是随机选择的。序号使接收端能够发现丢失的分组，同时也能将失序的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分组重新按序排列好。</a:t>
            </a:r>
          </a:p>
        </p:txBody>
      </p:sp>
      <p:sp>
        <p:nvSpPr>
          <p:cNvPr id="36" name="矩形 35"/>
          <p:cNvSpPr/>
          <p:nvPr/>
        </p:nvSpPr>
        <p:spPr>
          <a:xfrm>
            <a:off x="4438699" y="1336431"/>
            <a:ext cx="2983695"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431407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6367184" cy="1502976"/>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时间戳：</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位。反映了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分组中数据的</a:t>
            </a:r>
            <a:r>
              <a:rPr lang="zh-CN" altLang="en-US" sz="1600" b="1" dirty="0">
                <a:solidFill>
                  <a:srgbClr val="C00000"/>
                </a:solidFill>
                <a:latin typeface="微软雅黑" panose="020B0503020204020204" pitchFamily="34" charset="-122"/>
                <a:ea typeface="微软雅黑" panose="020B0503020204020204" pitchFamily="34" charset="-122"/>
              </a:rPr>
              <a:t>第一个字节</a:t>
            </a:r>
            <a:r>
              <a:rPr lang="zh-CN" altLang="en-US" sz="1600" b="1" dirty="0">
                <a:latin typeface="微软雅黑" panose="020B0503020204020204" pitchFamily="34" charset="-122"/>
                <a:ea typeface="微软雅黑" panose="020B0503020204020204" pitchFamily="34" charset="-122"/>
              </a:rPr>
              <a:t>的采样时刻。在一次会话开始时时间戳的初始值是随机选择的。即使在没有信号发送时，时间戳的数值也要随时间而不断地增加。接收端使用时间戳可准确知道应当在什么时间还原哪一个数据块，从而消除时延的抖动。还可以用来使视频应用中声音和图像同步。</a:t>
            </a:r>
          </a:p>
        </p:txBody>
      </p:sp>
      <p:sp>
        <p:nvSpPr>
          <p:cNvPr id="35" name="矩形 34"/>
          <p:cNvSpPr/>
          <p:nvPr/>
        </p:nvSpPr>
        <p:spPr>
          <a:xfrm>
            <a:off x="1441749" y="1605486"/>
            <a:ext cx="5980645"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561169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6544010" cy="1502976"/>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同步源标识符 </a:t>
            </a:r>
            <a:r>
              <a:rPr lang="en-US" altLang="zh-CN" sz="1600" b="1" dirty="0">
                <a:solidFill>
                  <a:srgbClr val="0000FF"/>
                </a:solidFill>
                <a:latin typeface="微软雅黑" panose="020B0503020204020204" pitchFamily="34" charset="-122"/>
                <a:ea typeface="微软雅黑" panose="020B0503020204020204" pitchFamily="34" charset="-122"/>
              </a:rPr>
              <a:t>SSRC </a:t>
            </a:r>
            <a:r>
              <a:rPr lang="en-US" altLang="zh-CN" sz="1600" b="1" dirty="0">
                <a:latin typeface="微软雅黑" panose="020B0503020204020204" pitchFamily="34" charset="-122"/>
                <a:ea typeface="微软雅黑" panose="020B0503020204020204" pitchFamily="34" charset="-122"/>
              </a:rPr>
              <a:t>(Synchronous </a:t>
            </a:r>
            <a:r>
              <a:rPr lang="en-US" altLang="zh-CN" sz="1600" b="1" dirty="0" err="1">
                <a:latin typeface="微软雅黑" panose="020B0503020204020204" pitchFamily="34" charset="-122"/>
                <a:ea typeface="微软雅黑" panose="020B0503020204020204" pitchFamily="34" charset="-122"/>
              </a:rPr>
              <a:t>SouRCe</a:t>
            </a:r>
            <a:r>
              <a:rPr lang="en-US" altLang="zh-CN" sz="1600" b="1" dirty="0">
                <a:latin typeface="微软雅黑" panose="020B0503020204020204" pitchFamily="34" charset="-122"/>
                <a:ea typeface="微软雅黑" panose="020B0503020204020204" pitchFamily="34" charset="-122"/>
              </a:rPr>
              <a:t> identifier)</a:t>
            </a:r>
            <a:r>
              <a:rPr lang="zh-CN" altLang="en-US" sz="1600" b="1" dirty="0">
                <a:latin typeface="微软雅黑" panose="020B0503020204020204" pitchFamily="34" charset="-122"/>
                <a:ea typeface="微软雅黑" panose="020B0503020204020204" pitchFamily="34" charset="-122"/>
              </a:rPr>
              <a:t>：占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位。是一个数，用来标志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a:t>
            </a:r>
            <a:r>
              <a:rPr lang="en-US" altLang="zh-CN" sz="1600" b="1" dirty="0">
                <a:latin typeface="微软雅黑" panose="020B0503020204020204" pitchFamily="34" charset="-122"/>
                <a:ea typeface="微软雅黑" panose="020B0503020204020204" pitchFamily="34" charset="-122"/>
              </a:rPr>
              <a:t>(stream) </a:t>
            </a:r>
            <a:r>
              <a:rPr lang="zh-CN" altLang="en-US" sz="1600" b="1" dirty="0">
                <a:latin typeface="微软雅黑" panose="020B0503020204020204" pitchFamily="34" charset="-122"/>
                <a:ea typeface="微软雅黑" panose="020B0503020204020204" pitchFamily="34" charset="-122"/>
              </a:rPr>
              <a:t>的来源。</a:t>
            </a:r>
            <a:r>
              <a:rPr lang="en-US" altLang="zh-CN" sz="1600" b="1" dirty="0">
                <a:latin typeface="微软雅黑" panose="020B0503020204020204" pitchFamily="34" charset="-122"/>
                <a:ea typeface="微软雅黑" panose="020B0503020204020204" pitchFamily="34" charset="-122"/>
              </a:rPr>
              <a:t>SSRC </a:t>
            </a:r>
            <a:r>
              <a:rPr lang="zh-CN" altLang="en-US" sz="1600" b="1" dirty="0">
                <a:latin typeface="微软雅黑" panose="020B0503020204020204" pitchFamily="34" charset="-122"/>
                <a:ea typeface="微软雅黑" panose="020B0503020204020204" pitchFamily="34" charset="-122"/>
              </a:rPr>
              <a:t>与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地址无关，在新的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流开始时随机地产生。有多个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流复用到一个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用户数据报中时，</a:t>
            </a:r>
            <a:r>
              <a:rPr lang="en-US" altLang="zh-CN" sz="1600" b="1" dirty="0">
                <a:latin typeface="微软雅黑" panose="020B0503020204020204" pitchFamily="34" charset="-122"/>
                <a:ea typeface="微软雅黑" panose="020B0503020204020204" pitchFamily="34" charset="-122"/>
              </a:rPr>
              <a:t>SSRC </a:t>
            </a:r>
            <a:r>
              <a:rPr lang="zh-CN" altLang="en-US" sz="1600" b="1" dirty="0">
                <a:latin typeface="微软雅黑" panose="020B0503020204020204" pitchFamily="34" charset="-122"/>
                <a:ea typeface="微软雅黑" panose="020B0503020204020204" pitchFamily="34" charset="-122"/>
              </a:rPr>
              <a:t>可使接收端的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能够将收到的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流送到各自的终点。</a:t>
            </a:r>
          </a:p>
        </p:txBody>
      </p:sp>
      <p:sp>
        <p:nvSpPr>
          <p:cNvPr id="36" name="矩形 35"/>
          <p:cNvSpPr/>
          <p:nvPr/>
        </p:nvSpPr>
        <p:spPr>
          <a:xfrm>
            <a:off x="1441749" y="1873710"/>
            <a:ext cx="5980645" cy="303460"/>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449293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9475" y="617514"/>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272967" y="594424"/>
            <a:ext cx="2617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RTP </a:t>
            </a:r>
            <a:r>
              <a:rPr lang="zh-CN" altLang="en-US" sz="2000" b="1" dirty="0">
                <a:solidFill>
                  <a:schemeClr val="bg1"/>
                </a:solidFill>
                <a:latin typeface="微软雅黑" pitchFamily="34" charset="-122"/>
                <a:ea typeface="微软雅黑" pitchFamily="34" charset="-122"/>
              </a:rPr>
              <a:t>分组的首部格式 </a:t>
            </a:r>
          </a:p>
        </p:txBody>
      </p:sp>
      <p:sp>
        <p:nvSpPr>
          <p:cNvPr id="9" name="圆角矩形 8"/>
          <p:cNvSpPr/>
          <p:nvPr/>
        </p:nvSpPr>
        <p:spPr>
          <a:xfrm>
            <a:off x="509474" y="1072669"/>
            <a:ext cx="8129015" cy="32803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21"/>
          <p:cNvSpPr>
            <a:spLocks noChangeShapeType="1"/>
          </p:cNvSpPr>
          <p:nvPr/>
        </p:nvSpPr>
        <p:spPr bwMode="auto">
          <a:xfrm rot="16200000">
            <a:off x="7249175" y="1747926"/>
            <a:ext cx="83595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1" name="Text Box 22"/>
          <p:cNvSpPr txBox="1">
            <a:spLocks noChangeArrowheads="1"/>
          </p:cNvSpPr>
          <p:nvPr/>
        </p:nvSpPr>
        <p:spPr bwMode="auto">
          <a:xfrm>
            <a:off x="7485953" y="1507421"/>
            <a:ext cx="804815" cy="492443"/>
          </a:xfrm>
          <a:prstGeom prst="rect">
            <a:avLst/>
          </a:prstGeom>
          <a:solidFill>
            <a:srgbClr val="C5E5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kumimoji="1" sz="1200">
                <a:latin typeface="微软雅黑" pitchFamily="34" charset="-122"/>
                <a:ea typeface="微软雅黑" pitchFamily="34" charset="-122"/>
              </a:defRPr>
            </a:lvl1pPr>
          </a:lstStyle>
          <a:p>
            <a:r>
              <a:rPr lang="en-US" altLang="zh-CN" sz="1300" b="1" dirty="0"/>
              <a:t>12 </a:t>
            </a:r>
            <a:r>
              <a:rPr lang="zh-CN" altLang="en-US" sz="1300" b="1" dirty="0"/>
              <a:t>字节</a:t>
            </a:r>
            <a:endParaRPr lang="en-US" altLang="zh-CN" sz="1300" b="1" dirty="0"/>
          </a:p>
          <a:p>
            <a:r>
              <a:rPr lang="zh-CN" altLang="en-US" sz="1300" b="1" dirty="0"/>
              <a:t>必需</a:t>
            </a:r>
          </a:p>
        </p:txBody>
      </p:sp>
      <p:sp>
        <p:nvSpPr>
          <p:cNvPr id="14" name="Rectangle 25"/>
          <p:cNvSpPr>
            <a:spLocks noChangeArrowheads="1"/>
          </p:cNvSpPr>
          <p:nvPr/>
        </p:nvSpPr>
        <p:spPr bwMode="auto">
          <a:xfrm>
            <a:off x="1441749" y="1329948"/>
            <a:ext cx="5993901" cy="1392896"/>
          </a:xfrm>
          <a:prstGeom prst="rect">
            <a:avLst/>
          </a:prstGeom>
          <a:solidFill>
            <a:srgbClr val="0000FF"/>
          </a:solidFill>
          <a:ln w="19050">
            <a:solidFill>
              <a:srgbClr val="FFFF00"/>
            </a:solidFill>
            <a:miter lim="800000"/>
            <a:headEnd/>
            <a:tailEnd/>
          </a:ln>
          <a:effectLst/>
        </p:spPr>
        <p:txBody>
          <a:bodyPr wrap="none" anchor="ctr"/>
          <a:lstStyle/>
          <a:p>
            <a:pPr algn="ctr"/>
            <a:endParaRPr lang="zh-CN" altLang="en-US" sz="1300" b="1">
              <a:latin typeface="微软雅黑" pitchFamily="34" charset="-122"/>
              <a:ea typeface="微软雅黑" pitchFamily="34" charset="-122"/>
            </a:endParaRPr>
          </a:p>
        </p:txBody>
      </p:sp>
      <p:sp>
        <p:nvSpPr>
          <p:cNvPr id="15" name="Text Box 26"/>
          <p:cNvSpPr txBox="1">
            <a:spLocks noChangeArrowheads="1"/>
          </p:cNvSpPr>
          <p:nvPr/>
        </p:nvSpPr>
        <p:spPr bwMode="auto">
          <a:xfrm>
            <a:off x="5513986" y="1331055"/>
            <a:ext cx="10150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序          号</a:t>
            </a:r>
          </a:p>
        </p:txBody>
      </p:sp>
      <p:sp>
        <p:nvSpPr>
          <p:cNvPr id="16" name="Line 27"/>
          <p:cNvSpPr>
            <a:spLocks noChangeShapeType="1"/>
          </p:cNvSpPr>
          <p:nvPr/>
        </p:nvSpPr>
        <p:spPr bwMode="auto">
          <a:xfrm>
            <a:off x="1441749" y="1608970"/>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7" name="Line 28"/>
          <p:cNvSpPr>
            <a:spLocks noChangeShapeType="1"/>
          </p:cNvSpPr>
          <p:nvPr/>
        </p:nvSpPr>
        <p:spPr bwMode="auto">
          <a:xfrm>
            <a:off x="1817193"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8" name="Line 29"/>
          <p:cNvSpPr>
            <a:spLocks noChangeShapeType="1"/>
          </p:cNvSpPr>
          <p:nvPr/>
        </p:nvSpPr>
        <p:spPr bwMode="auto">
          <a:xfrm>
            <a:off x="200431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19" name="Line 30"/>
          <p:cNvSpPr>
            <a:spLocks noChangeShapeType="1"/>
          </p:cNvSpPr>
          <p:nvPr/>
        </p:nvSpPr>
        <p:spPr bwMode="auto">
          <a:xfrm>
            <a:off x="2191438"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0" name="Line 31"/>
          <p:cNvSpPr>
            <a:spLocks noChangeShapeType="1"/>
          </p:cNvSpPr>
          <p:nvPr/>
        </p:nvSpPr>
        <p:spPr bwMode="auto">
          <a:xfrm>
            <a:off x="2939926"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1" name="Line 32"/>
          <p:cNvSpPr>
            <a:spLocks noChangeShapeType="1"/>
          </p:cNvSpPr>
          <p:nvPr/>
        </p:nvSpPr>
        <p:spPr bwMode="auto">
          <a:xfrm>
            <a:off x="3127047"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2" name="Line 33"/>
          <p:cNvSpPr>
            <a:spLocks noChangeShapeType="1"/>
          </p:cNvSpPr>
          <p:nvPr/>
        </p:nvSpPr>
        <p:spPr bwMode="auto">
          <a:xfrm>
            <a:off x="4438101" y="1329947"/>
            <a:ext cx="0" cy="279022"/>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3" name="Line 34"/>
          <p:cNvSpPr>
            <a:spLocks noChangeShapeType="1"/>
          </p:cNvSpPr>
          <p:nvPr/>
        </p:nvSpPr>
        <p:spPr bwMode="auto">
          <a:xfrm>
            <a:off x="1441749" y="1886883"/>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4" name="Line 35"/>
          <p:cNvSpPr>
            <a:spLocks noChangeShapeType="1"/>
          </p:cNvSpPr>
          <p:nvPr/>
        </p:nvSpPr>
        <p:spPr bwMode="auto">
          <a:xfrm>
            <a:off x="1441749" y="2165906"/>
            <a:ext cx="5993901"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25" name="Text Box 36"/>
          <p:cNvSpPr txBox="1">
            <a:spLocks noChangeArrowheads="1"/>
          </p:cNvSpPr>
          <p:nvPr/>
        </p:nvSpPr>
        <p:spPr bwMode="auto">
          <a:xfrm>
            <a:off x="1071192" y="1088571"/>
            <a:ext cx="673774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300" b="1" dirty="0">
                <a:latin typeface="微软雅黑" pitchFamily="34" charset="-122"/>
                <a:ea typeface="微软雅黑" pitchFamily="34" charset="-122"/>
              </a:rPr>
              <a:t>位   </a:t>
            </a:r>
            <a:r>
              <a:rPr kumimoji="1" lang="en-US" altLang="zh-CN" sz="1300" b="1" dirty="0">
                <a:latin typeface="微软雅黑" pitchFamily="34" charset="-122"/>
                <a:ea typeface="微软雅黑" pitchFamily="34" charset="-122"/>
              </a:rPr>
              <a:t>0  1     3                 8                            16                                                     31</a:t>
            </a:r>
          </a:p>
        </p:txBody>
      </p:sp>
      <p:sp>
        <p:nvSpPr>
          <p:cNvPr id="26" name="Text Box 37"/>
          <p:cNvSpPr txBox="1">
            <a:spLocks noChangeArrowheads="1"/>
          </p:cNvSpPr>
          <p:nvPr/>
        </p:nvSpPr>
        <p:spPr bwMode="auto">
          <a:xfrm>
            <a:off x="3190607" y="1329947"/>
            <a:ext cx="1184941"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有效载荷类型</a:t>
            </a:r>
          </a:p>
        </p:txBody>
      </p:sp>
      <p:sp>
        <p:nvSpPr>
          <p:cNvPr id="32" name="Text Box 43"/>
          <p:cNvSpPr txBox="1">
            <a:spLocks noChangeArrowheads="1"/>
          </p:cNvSpPr>
          <p:nvPr/>
        </p:nvSpPr>
        <p:spPr bwMode="auto">
          <a:xfrm>
            <a:off x="4025625" y="1620042"/>
            <a:ext cx="88357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时  间  戳</a:t>
            </a:r>
          </a:p>
        </p:txBody>
      </p:sp>
      <p:sp>
        <p:nvSpPr>
          <p:cNvPr id="33" name="Text Box 44"/>
          <p:cNvSpPr txBox="1">
            <a:spLocks noChangeArrowheads="1"/>
          </p:cNvSpPr>
          <p:nvPr/>
        </p:nvSpPr>
        <p:spPr bwMode="auto">
          <a:xfrm>
            <a:off x="3647340" y="1893529"/>
            <a:ext cx="209352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同 步 源 标 识 符 </a:t>
            </a:r>
            <a:r>
              <a:rPr kumimoji="1" lang="en-US" altLang="zh-CN" sz="1300" b="1" dirty="0">
                <a:solidFill>
                  <a:schemeClr val="bg1"/>
                </a:solidFill>
                <a:latin typeface="微软雅黑" pitchFamily="34" charset="-122"/>
                <a:ea typeface="微软雅黑" pitchFamily="34" charset="-122"/>
              </a:rPr>
              <a:t>(SSRC)</a:t>
            </a:r>
          </a:p>
        </p:txBody>
      </p:sp>
      <p:sp>
        <p:nvSpPr>
          <p:cNvPr id="34" name="Text Box 45"/>
          <p:cNvSpPr txBox="1">
            <a:spLocks noChangeArrowheads="1"/>
          </p:cNvSpPr>
          <p:nvPr/>
        </p:nvSpPr>
        <p:spPr bwMode="auto">
          <a:xfrm>
            <a:off x="3045543" y="2203552"/>
            <a:ext cx="2739532" cy="442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 与 源 标 识 符 </a:t>
            </a:r>
            <a:r>
              <a:rPr kumimoji="1" lang="en-US" altLang="zh-CN" sz="1300" b="1" dirty="0">
                <a:solidFill>
                  <a:schemeClr val="bg1"/>
                </a:solidFill>
                <a:latin typeface="微软雅黑" pitchFamily="34" charset="-122"/>
                <a:ea typeface="微软雅黑" pitchFamily="34" charset="-122"/>
              </a:rPr>
              <a:t>(CSRC) [0..15]</a:t>
            </a:r>
          </a:p>
          <a:p>
            <a:pPr algn="ctr">
              <a:lnSpc>
                <a:spcPct val="75000"/>
              </a:lnSpc>
            </a:pPr>
            <a:r>
              <a:rPr kumimoji="1" lang="en-US" altLang="zh-CN" sz="1300" b="1" dirty="0">
                <a:solidFill>
                  <a:schemeClr val="bg1"/>
                </a:solidFill>
                <a:latin typeface="微软雅黑" pitchFamily="34" charset="-122"/>
                <a:ea typeface="微软雅黑" pitchFamily="34" charset="-122"/>
              </a:rPr>
              <a:t>…</a:t>
            </a:r>
          </a:p>
        </p:txBody>
      </p:sp>
      <p:sp>
        <p:nvSpPr>
          <p:cNvPr id="52" name="Line 63"/>
          <p:cNvSpPr>
            <a:spLocks noChangeShapeType="1"/>
          </p:cNvSpPr>
          <p:nvPr/>
        </p:nvSpPr>
        <p:spPr bwMode="auto">
          <a:xfrm flipV="1">
            <a:off x="7494020" y="1344381"/>
            <a:ext cx="2906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3" name="Line 64"/>
          <p:cNvSpPr>
            <a:spLocks noChangeShapeType="1"/>
          </p:cNvSpPr>
          <p:nvPr/>
        </p:nvSpPr>
        <p:spPr bwMode="auto">
          <a:xfrm flipV="1">
            <a:off x="7498031" y="2159184"/>
            <a:ext cx="286680" cy="66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300" b="1">
              <a:latin typeface="微软雅黑" pitchFamily="34" charset="-122"/>
              <a:ea typeface="微软雅黑" pitchFamily="34" charset="-122"/>
            </a:endParaRPr>
          </a:p>
        </p:txBody>
      </p:sp>
      <p:sp>
        <p:nvSpPr>
          <p:cNvPr id="51" name="Text Box 38"/>
          <p:cNvSpPr txBox="1">
            <a:spLocks noChangeArrowheads="1"/>
          </p:cNvSpPr>
          <p:nvPr/>
        </p:nvSpPr>
        <p:spPr bwMode="auto">
          <a:xfrm>
            <a:off x="1370596" y="1329947"/>
            <a:ext cx="5180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版本</a:t>
            </a:r>
          </a:p>
        </p:txBody>
      </p:sp>
      <p:sp>
        <p:nvSpPr>
          <p:cNvPr id="54" name="Text Box 39"/>
          <p:cNvSpPr txBox="1">
            <a:spLocks noChangeArrowheads="1"/>
          </p:cNvSpPr>
          <p:nvPr/>
        </p:nvSpPr>
        <p:spPr bwMode="auto">
          <a:xfrm>
            <a:off x="1775080" y="1332161"/>
            <a:ext cx="293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P</a:t>
            </a:r>
          </a:p>
        </p:txBody>
      </p:sp>
      <p:sp>
        <p:nvSpPr>
          <p:cNvPr id="55" name="Text Box 41"/>
          <p:cNvSpPr txBox="1">
            <a:spLocks noChangeArrowheads="1"/>
          </p:cNvSpPr>
          <p:nvPr/>
        </p:nvSpPr>
        <p:spPr bwMode="auto">
          <a:xfrm>
            <a:off x="2855695" y="1331055"/>
            <a:ext cx="3561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M</a:t>
            </a:r>
          </a:p>
        </p:txBody>
      </p:sp>
      <p:sp>
        <p:nvSpPr>
          <p:cNvPr id="63" name="Text Box 40"/>
          <p:cNvSpPr txBox="1">
            <a:spLocks noChangeArrowheads="1"/>
          </p:cNvSpPr>
          <p:nvPr/>
        </p:nvSpPr>
        <p:spPr bwMode="auto">
          <a:xfrm>
            <a:off x="1948410" y="1331055"/>
            <a:ext cx="30168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300" b="1" dirty="0">
                <a:solidFill>
                  <a:schemeClr val="bg1"/>
                </a:solidFill>
                <a:latin typeface="微软雅黑" pitchFamily="34" charset="-122"/>
                <a:ea typeface="微软雅黑" pitchFamily="34" charset="-122"/>
              </a:rPr>
              <a:t>X</a:t>
            </a:r>
          </a:p>
        </p:txBody>
      </p:sp>
      <p:sp>
        <p:nvSpPr>
          <p:cNvPr id="64" name="Text Box 42"/>
          <p:cNvSpPr txBox="1">
            <a:spLocks noChangeArrowheads="1"/>
          </p:cNvSpPr>
          <p:nvPr/>
        </p:nvSpPr>
        <p:spPr bwMode="auto">
          <a:xfrm>
            <a:off x="2124407" y="1329947"/>
            <a:ext cx="85151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300" b="1" dirty="0">
                <a:solidFill>
                  <a:schemeClr val="bg1"/>
                </a:solidFill>
                <a:latin typeface="微软雅黑" pitchFamily="34" charset="-122"/>
                <a:ea typeface="微软雅黑" pitchFamily="34" charset="-122"/>
              </a:rPr>
              <a:t>参与源数</a:t>
            </a:r>
          </a:p>
        </p:txBody>
      </p:sp>
      <p:sp>
        <p:nvSpPr>
          <p:cNvPr id="3" name="矩形 2"/>
          <p:cNvSpPr/>
          <p:nvPr/>
        </p:nvSpPr>
        <p:spPr>
          <a:xfrm>
            <a:off x="1441750" y="2832589"/>
            <a:ext cx="6544010" cy="1502976"/>
          </a:xfrm>
          <a:prstGeom prst="rect">
            <a:avLst/>
          </a:prstGeom>
        </p:spPr>
        <p:txBody>
          <a:bodyPr wrap="square">
            <a:spAutoFit/>
          </a:bodyPr>
          <a:lstStyle/>
          <a:p>
            <a:pPr>
              <a:lnSpc>
                <a:spcPts val="2200"/>
              </a:lnSpc>
            </a:pPr>
            <a:r>
              <a:rPr lang="zh-CN" altLang="en-US" sz="1600" b="1" dirty="0">
                <a:solidFill>
                  <a:srgbClr val="0000FF"/>
                </a:solidFill>
                <a:latin typeface="微软雅黑" panose="020B0503020204020204" pitchFamily="34" charset="-122"/>
                <a:ea typeface="微软雅黑" panose="020B0503020204020204" pitchFamily="34" charset="-122"/>
              </a:rPr>
              <a:t>参与源标识符 </a:t>
            </a:r>
            <a:r>
              <a:rPr lang="en-US" altLang="zh-CN" sz="1600" b="1" dirty="0">
                <a:solidFill>
                  <a:srgbClr val="0000FF"/>
                </a:solidFill>
                <a:latin typeface="微软雅黑" panose="020B0503020204020204" pitchFamily="34" charset="-122"/>
                <a:ea typeface="微软雅黑" panose="020B0503020204020204" pitchFamily="34" charset="-122"/>
              </a:rPr>
              <a:t>CSRC </a:t>
            </a:r>
            <a:r>
              <a:rPr lang="en-US" altLang="zh-CN" sz="1600" b="1" dirty="0">
                <a:latin typeface="微软雅黑" panose="020B0503020204020204" pitchFamily="34" charset="-122"/>
                <a:ea typeface="微软雅黑" panose="020B0503020204020204" pitchFamily="34" charset="-122"/>
              </a:rPr>
              <a:t>(Contributing </a:t>
            </a:r>
            <a:r>
              <a:rPr lang="en-US" altLang="zh-CN" sz="1600" b="1" dirty="0" err="1">
                <a:latin typeface="微软雅黑" panose="020B0503020204020204" pitchFamily="34" charset="-122"/>
                <a:ea typeface="微软雅黑" panose="020B0503020204020204" pitchFamily="34" charset="-122"/>
              </a:rPr>
              <a:t>SouRCe</a:t>
            </a:r>
            <a:r>
              <a:rPr lang="en-US" altLang="zh-CN" sz="1600" b="1" dirty="0">
                <a:latin typeface="微软雅黑" panose="020B0503020204020204" pitchFamily="34" charset="-122"/>
                <a:ea typeface="微软雅黑" panose="020B0503020204020204" pitchFamily="34" charset="-122"/>
              </a:rPr>
              <a:t> identifier)</a:t>
            </a:r>
            <a:r>
              <a:rPr lang="zh-CN" altLang="en-US" sz="1600" b="1" dirty="0">
                <a:latin typeface="微软雅黑" panose="020B0503020204020204" pitchFamily="34" charset="-122"/>
                <a:ea typeface="微软雅黑" panose="020B0503020204020204" pitchFamily="34" charset="-122"/>
              </a:rPr>
              <a:t>：</a:t>
            </a:r>
            <a:r>
              <a:rPr lang="zh-CN" altLang="en-US" sz="1600" b="1" dirty="0">
                <a:solidFill>
                  <a:srgbClr val="C00000"/>
                </a:solidFill>
                <a:latin typeface="微软雅黑" panose="020B0503020204020204" pitchFamily="34" charset="-122"/>
                <a:ea typeface="微软雅黑" panose="020B0503020204020204" pitchFamily="34" charset="-122"/>
              </a:rPr>
              <a:t>选项，</a:t>
            </a:r>
            <a:r>
              <a:rPr lang="zh-CN" altLang="en-US" sz="1600" b="1" dirty="0">
                <a:latin typeface="微软雅黑" panose="020B0503020204020204" pitchFamily="34" charset="-122"/>
                <a:ea typeface="微软雅黑" panose="020B0503020204020204" pitchFamily="34" charset="-122"/>
              </a:rPr>
              <a:t>最多可有 </a:t>
            </a:r>
            <a:r>
              <a:rPr lang="en-US" altLang="zh-CN" sz="1600" b="1" dirty="0">
                <a:latin typeface="微软雅黑" panose="020B0503020204020204" pitchFamily="34" charset="-122"/>
                <a:ea typeface="微软雅黑" panose="020B0503020204020204" pitchFamily="34" charset="-122"/>
              </a:rPr>
              <a:t>15 </a:t>
            </a:r>
            <a:r>
              <a:rPr lang="zh-CN" altLang="en-US" sz="1600" b="1" dirty="0">
                <a:latin typeface="微软雅黑" panose="020B0503020204020204" pitchFamily="34" charset="-122"/>
                <a:ea typeface="微软雅黑" panose="020B0503020204020204" pitchFamily="34" charset="-122"/>
              </a:rPr>
              <a:t>个。</a:t>
            </a:r>
            <a:r>
              <a:rPr lang="en-US" altLang="zh-CN" sz="1600" b="1" dirty="0">
                <a:latin typeface="微软雅黑" panose="020B0503020204020204" pitchFamily="34" charset="-122"/>
                <a:ea typeface="微软雅黑" panose="020B0503020204020204" pitchFamily="34" charset="-122"/>
              </a:rPr>
              <a:t>CSRC </a:t>
            </a:r>
            <a:r>
              <a:rPr lang="zh-CN" altLang="en-US" sz="1600" b="1" dirty="0">
                <a:latin typeface="微软雅黑" panose="020B0503020204020204" pitchFamily="34" charset="-122"/>
                <a:ea typeface="微软雅黑" panose="020B0503020204020204" pitchFamily="34" charset="-122"/>
              </a:rPr>
              <a:t>是一个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位数，用来标志来源于不同地点的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流。在多播环境中，可以用中间的一个站（叫做混合站 </a:t>
            </a:r>
            <a:r>
              <a:rPr lang="en-US" altLang="zh-CN" sz="1600" b="1" dirty="0">
                <a:latin typeface="微软雅黑" panose="020B0503020204020204" pitchFamily="34" charset="-122"/>
                <a:ea typeface="微软雅黑" panose="020B0503020204020204" pitchFamily="34" charset="-122"/>
              </a:rPr>
              <a:t>mixer</a:t>
            </a:r>
            <a:r>
              <a:rPr lang="zh-CN" altLang="en-US" sz="1600" b="1" dirty="0">
                <a:latin typeface="微软雅黑" panose="020B0503020204020204" pitchFamily="34" charset="-122"/>
                <a:ea typeface="微软雅黑" panose="020B0503020204020204" pitchFamily="34" charset="-122"/>
              </a:rPr>
              <a:t>）把发往同一个地点的多个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流混合成一个流，在目的站再根据 </a:t>
            </a:r>
            <a:r>
              <a:rPr lang="en-US" altLang="zh-CN" sz="1600" b="1" dirty="0">
                <a:latin typeface="微软雅黑" panose="020B0503020204020204" pitchFamily="34" charset="-122"/>
                <a:ea typeface="微软雅黑" panose="020B0503020204020204" pitchFamily="34" charset="-122"/>
              </a:rPr>
              <a:t>CSRC </a:t>
            </a:r>
            <a:r>
              <a:rPr lang="zh-CN" altLang="en-US" sz="1600" b="1" dirty="0">
                <a:latin typeface="微软雅黑" panose="020B0503020204020204" pitchFamily="34" charset="-122"/>
                <a:ea typeface="微软雅黑" panose="020B0503020204020204" pitchFamily="34" charset="-122"/>
              </a:rPr>
              <a:t>的数值把不同的 </a:t>
            </a:r>
            <a:r>
              <a:rPr lang="en-US" altLang="zh-CN" sz="1600" b="1" dirty="0">
                <a:latin typeface="微软雅黑" panose="020B0503020204020204" pitchFamily="34" charset="-122"/>
                <a:ea typeface="微软雅黑" panose="020B0503020204020204" pitchFamily="34" charset="-122"/>
              </a:rPr>
              <a:t>RTP </a:t>
            </a:r>
            <a:r>
              <a:rPr lang="zh-CN" altLang="en-US" sz="1600" b="1" dirty="0">
                <a:latin typeface="微软雅黑" panose="020B0503020204020204" pitchFamily="34" charset="-122"/>
                <a:ea typeface="微软雅黑" panose="020B0503020204020204" pitchFamily="34" charset="-122"/>
              </a:rPr>
              <a:t>流分开。</a:t>
            </a:r>
          </a:p>
        </p:txBody>
      </p:sp>
      <p:sp>
        <p:nvSpPr>
          <p:cNvPr id="35" name="矩形 34"/>
          <p:cNvSpPr/>
          <p:nvPr/>
        </p:nvSpPr>
        <p:spPr>
          <a:xfrm>
            <a:off x="1441749" y="2166317"/>
            <a:ext cx="5980645" cy="555215"/>
          </a:xfrm>
          <a:prstGeom prst="rect">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19709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2"/>
          <p:cNvSpPr>
            <a:spLocks noChangeArrowheads="1"/>
          </p:cNvSpPr>
          <p:nvPr/>
        </p:nvSpPr>
        <p:spPr bwMode="auto">
          <a:xfrm>
            <a:off x="511896" y="619605"/>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 name="Rectangle 13"/>
          <p:cNvSpPr>
            <a:spLocks noChangeArrowheads="1"/>
          </p:cNvSpPr>
          <p:nvPr/>
        </p:nvSpPr>
        <p:spPr bwMode="auto">
          <a:xfrm>
            <a:off x="2345441" y="594141"/>
            <a:ext cx="44619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8.3.4  </a:t>
            </a:r>
            <a:r>
              <a:rPr lang="zh-CN" altLang="en-US" sz="2400" b="1" dirty="0">
                <a:solidFill>
                  <a:schemeClr val="bg1"/>
                </a:solidFill>
                <a:latin typeface="微软雅黑" pitchFamily="34" charset="-122"/>
                <a:ea typeface="微软雅黑" pitchFamily="34" charset="-122"/>
              </a:rPr>
              <a:t>实时运输控制协议 </a:t>
            </a:r>
            <a:r>
              <a:rPr lang="en-US" altLang="zh-CN" sz="2400" b="1" dirty="0">
                <a:solidFill>
                  <a:schemeClr val="bg1"/>
                </a:solidFill>
                <a:latin typeface="微软雅黑" pitchFamily="34" charset="-122"/>
                <a:ea typeface="微软雅黑" pitchFamily="34" charset="-122"/>
              </a:rPr>
              <a:t>RTCP</a:t>
            </a:r>
          </a:p>
        </p:txBody>
      </p:sp>
      <p:sp>
        <p:nvSpPr>
          <p:cNvPr id="7" name="Rectangle 8"/>
          <p:cNvSpPr>
            <a:spLocks noChangeArrowheads="1"/>
          </p:cNvSpPr>
          <p:nvPr/>
        </p:nvSpPr>
        <p:spPr bwMode="auto">
          <a:xfrm>
            <a:off x="511896" y="1053490"/>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RTCP (RTP Control Protocol) </a:t>
            </a:r>
            <a:r>
              <a:rPr lang="zh-CN" altLang="en-US" sz="2000" b="1" dirty="0">
                <a:latin typeface="微软雅黑" pitchFamily="34" charset="-122"/>
                <a:ea typeface="微软雅黑" pitchFamily="34" charset="-122"/>
              </a:rPr>
              <a:t>是</a:t>
            </a:r>
            <a:r>
              <a:rPr lang="zh-CN" altLang="en-US" sz="2000" b="1" dirty="0">
                <a:solidFill>
                  <a:srgbClr val="0000FF"/>
                </a:solidFill>
                <a:latin typeface="微软雅黑" pitchFamily="34" charset="-122"/>
                <a:ea typeface="微软雅黑" pitchFamily="34" charset="-122"/>
              </a:rPr>
              <a:t>与 </a:t>
            </a:r>
            <a:r>
              <a:rPr lang="en-US" altLang="zh-CN" sz="2000" b="1" dirty="0">
                <a:solidFill>
                  <a:srgbClr val="0000FF"/>
                </a:solidFill>
                <a:latin typeface="微软雅黑" pitchFamily="34" charset="-122"/>
                <a:ea typeface="微软雅黑" pitchFamily="34" charset="-122"/>
              </a:rPr>
              <a:t>RTP </a:t>
            </a:r>
            <a:r>
              <a:rPr lang="zh-CN" altLang="en-US" sz="2000" b="1" dirty="0">
                <a:solidFill>
                  <a:srgbClr val="0000FF"/>
                </a:solidFill>
                <a:latin typeface="微软雅黑" pitchFamily="34" charset="-122"/>
                <a:ea typeface="微软雅黑" pitchFamily="34" charset="-122"/>
              </a:rPr>
              <a:t>配合使用</a:t>
            </a:r>
            <a:r>
              <a:rPr lang="zh-CN" altLang="en-US" sz="2000" b="1" dirty="0">
                <a:latin typeface="微软雅黑" pitchFamily="34" charset="-122"/>
                <a:ea typeface="微软雅黑" pitchFamily="34" charset="-122"/>
              </a:rPr>
              <a:t>的协议，与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协议不可分割。</a:t>
            </a: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主要功能</a:t>
            </a:r>
            <a:r>
              <a:rPr lang="zh-CN" altLang="en-US" sz="2000" b="1" dirty="0">
                <a:latin typeface="微软雅黑" pitchFamily="34" charset="-122"/>
                <a:ea typeface="微软雅黑" pitchFamily="34" charset="-122"/>
              </a:rPr>
              <a:t>：</a:t>
            </a:r>
          </a:p>
          <a:p>
            <a:pPr marL="684000"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服务质量的监视与反馈；</a:t>
            </a:r>
          </a:p>
          <a:p>
            <a:pPr marL="684000"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媒体间的同步；</a:t>
            </a:r>
          </a:p>
          <a:p>
            <a:pPr marL="684000"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播组中成员的标识。</a:t>
            </a:r>
          </a:p>
        </p:txBody>
      </p:sp>
    </p:spTree>
    <p:extLst>
      <p:ext uri="{BB962C8B-B14F-4D97-AF65-F5344CB8AC3E}">
        <p14:creationId xmlns:p14="http://schemas.microsoft.com/office/powerpoint/2010/main" val="17367554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8"/>
          <p:cNvSpPr>
            <a:spLocks noChangeArrowheads="1"/>
          </p:cNvSpPr>
          <p:nvPr/>
        </p:nvSpPr>
        <p:spPr bwMode="auto">
          <a:xfrm>
            <a:off x="511896" y="974256"/>
            <a:ext cx="8129015"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分组</a:t>
            </a:r>
            <a:r>
              <a:rPr lang="zh-CN" altLang="en-US" sz="2000" b="1" dirty="0">
                <a:solidFill>
                  <a:srgbClr val="C00000"/>
                </a:solidFill>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传送，但</a:t>
            </a:r>
            <a:r>
              <a:rPr lang="zh-CN" altLang="en-US" sz="2000" b="1" dirty="0">
                <a:solidFill>
                  <a:srgbClr val="C00000"/>
                </a:solidFill>
                <a:latin typeface="微软雅黑" pitchFamily="34" charset="-122"/>
                <a:ea typeface="微软雅黑" pitchFamily="34" charset="-122"/>
              </a:rPr>
              <a:t>不对</a:t>
            </a:r>
            <a:r>
              <a:rPr lang="zh-CN" altLang="en-US" sz="2000" b="1" dirty="0">
                <a:latin typeface="微软雅黑" pitchFamily="34" charset="-122"/>
                <a:ea typeface="微软雅黑" pitchFamily="34" charset="-122"/>
              </a:rPr>
              <a:t>音频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视频分组进行封装。</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可将</a:t>
            </a:r>
            <a:r>
              <a:rPr lang="zh-CN" altLang="en-US" sz="2000" b="1" dirty="0">
                <a:solidFill>
                  <a:srgbClr val="C00000"/>
                </a:solidFill>
                <a:latin typeface="微软雅黑" pitchFamily="34" charset="-122"/>
                <a:ea typeface="微软雅黑" pitchFamily="34" charset="-122"/>
              </a:rPr>
              <a:t>多个</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分组封装在一个 </a:t>
            </a: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用户数据报中。</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分组</a:t>
            </a:r>
            <a:r>
              <a:rPr lang="zh-CN" altLang="en-US" sz="2000" b="1" dirty="0">
                <a:solidFill>
                  <a:srgbClr val="C00000"/>
                </a:solidFill>
                <a:latin typeface="微软雅黑" pitchFamily="34" charset="-122"/>
                <a:ea typeface="微软雅黑" pitchFamily="34" charset="-122"/>
              </a:rPr>
              <a:t>周期性</a:t>
            </a:r>
            <a:r>
              <a:rPr lang="zh-CN" altLang="en-US" sz="2000" b="1" dirty="0">
                <a:latin typeface="微软雅黑" pitchFamily="34" charset="-122"/>
                <a:ea typeface="微软雅黑" pitchFamily="34" charset="-122"/>
              </a:rPr>
              <a:t>地在网上传送，它带有发送端和接收端对服务质量的统计信息报告。 </a:t>
            </a:r>
          </a:p>
        </p:txBody>
      </p:sp>
      <p:sp>
        <p:nvSpPr>
          <p:cNvPr id="5" name="AutoShape 5"/>
          <p:cNvSpPr>
            <a:spLocks noChangeArrowheads="1"/>
          </p:cNvSpPr>
          <p:nvPr/>
        </p:nvSpPr>
        <p:spPr bwMode="auto">
          <a:xfrm>
            <a:off x="509475" y="62032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818420" y="587115"/>
            <a:ext cx="1517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RTCP </a:t>
            </a:r>
            <a:r>
              <a:rPr lang="zh-CN" altLang="en-US" sz="2000" b="1" dirty="0">
                <a:solidFill>
                  <a:schemeClr val="bg1"/>
                </a:solidFill>
                <a:latin typeface="微软雅黑" pitchFamily="34" charset="-122"/>
                <a:ea typeface="微软雅黑" pitchFamily="34" charset="-122"/>
              </a:rPr>
              <a:t>分组 </a:t>
            </a:r>
          </a:p>
        </p:txBody>
      </p:sp>
    </p:spTree>
    <p:extLst>
      <p:ext uri="{BB962C8B-B14F-4D97-AF65-F5344CB8AC3E}">
        <p14:creationId xmlns:p14="http://schemas.microsoft.com/office/powerpoint/2010/main" val="1090933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9475" y="6189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920740" y="585705"/>
            <a:ext cx="3312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RTCP </a:t>
            </a:r>
            <a:r>
              <a:rPr lang="zh-CN" altLang="en-US" sz="2000" b="1" dirty="0">
                <a:solidFill>
                  <a:schemeClr val="bg1"/>
                </a:solidFill>
                <a:latin typeface="微软雅黑" pitchFamily="34" charset="-122"/>
                <a:ea typeface="微软雅黑" pitchFamily="34" charset="-122"/>
              </a:rPr>
              <a:t>使用的五种分组类型 </a:t>
            </a:r>
          </a:p>
        </p:txBody>
      </p:sp>
      <p:graphicFrame>
        <p:nvGraphicFramePr>
          <p:cNvPr id="5" name="表格 4"/>
          <p:cNvGraphicFramePr>
            <a:graphicFrameLocks noGrp="1"/>
          </p:cNvGraphicFramePr>
          <p:nvPr>
            <p:extLst>
              <p:ext uri="{D42A27DB-BD31-4B8C-83A1-F6EECF244321}">
                <p14:modId xmlns:p14="http://schemas.microsoft.com/office/powerpoint/2010/main" val="4017178445"/>
              </p:ext>
            </p:extLst>
          </p:nvPr>
        </p:nvGraphicFramePr>
        <p:xfrm>
          <a:off x="1066821" y="1085082"/>
          <a:ext cx="7180196" cy="2513520"/>
        </p:xfrm>
        <a:graphic>
          <a:graphicData uri="http://schemas.openxmlformats.org/drawingml/2006/table">
            <a:tbl>
              <a:tblPr firstRow="1" bandRow="1">
                <a:tableStyleId>{B301B821-A1FF-4177-AEE7-76D212191A09}</a:tableStyleId>
              </a:tblPr>
              <a:tblGrid>
                <a:gridCol w="1438280">
                  <a:extLst>
                    <a:ext uri="{9D8B030D-6E8A-4147-A177-3AD203B41FA5}">
                      <a16:colId xmlns:a16="http://schemas.microsoft.com/office/drawing/2014/main" val="20000"/>
                    </a:ext>
                  </a:extLst>
                </a:gridCol>
                <a:gridCol w="2054298">
                  <a:extLst>
                    <a:ext uri="{9D8B030D-6E8A-4147-A177-3AD203B41FA5}">
                      <a16:colId xmlns:a16="http://schemas.microsoft.com/office/drawing/2014/main" val="20001"/>
                    </a:ext>
                  </a:extLst>
                </a:gridCol>
                <a:gridCol w="3687618">
                  <a:extLst>
                    <a:ext uri="{9D8B030D-6E8A-4147-A177-3AD203B41FA5}">
                      <a16:colId xmlns:a16="http://schemas.microsoft.com/office/drawing/2014/main" val="20002"/>
                    </a:ext>
                  </a:extLst>
                </a:gridCol>
              </a:tblGrid>
              <a:tr h="418920">
                <a:tc>
                  <a:txBody>
                    <a:bodyPr/>
                    <a:lstStyle/>
                    <a:p>
                      <a:pPr algn="ctr" fontAlgn="auto">
                        <a:lnSpc>
                          <a:spcPct val="100000"/>
                        </a:lnSpc>
                        <a:spcAft>
                          <a:spcPts val="0"/>
                        </a:spcAft>
                        <a:tabLst>
                          <a:tab pos="2637155" algn="ctr"/>
                          <a:tab pos="5274310" algn="r"/>
                          <a:tab pos="266700" algn="l"/>
                        </a:tabLst>
                      </a:pPr>
                      <a:r>
                        <a:rPr lang="zh-CN" sz="1800" b="1" dirty="0">
                          <a:solidFill>
                            <a:schemeClr val="bg1"/>
                          </a:solidFill>
                          <a:effectLst/>
                          <a:latin typeface="微软雅黑" pitchFamily="34" charset="-122"/>
                          <a:ea typeface="微软雅黑" pitchFamily="34" charset="-122"/>
                        </a:rPr>
                        <a:t>类型</a:t>
                      </a:r>
                    </a:p>
                  </a:txBody>
                  <a:tcPr marL="68580" marR="68580" marT="0" marB="0" anchor="ctr">
                    <a:lnR w="12700" cap="flat" cmpd="sng" algn="ctr">
                      <a:solidFill>
                        <a:schemeClr val="bg1">
                          <a:lumMod val="50000"/>
                        </a:schemeClr>
                      </a:solidFill>
                      <a:prstDash val="solid"/>
                      <a:round/>
                      <a:headEnd type="none" w="med" len="med"/>
                      <a:tailEnd type="none" w="med" len="med"/>
                    </a:lnR>
                    <a:lnB w="12700" cap="flat" cmpd="sng" algn="ctr">
                      <a:solidFill>
                        <a:schemeClr val="bg1">
                          <a:lumMod val="50000"/>
                        </a:schemeClr>
                      </a:solidFill>
                      <a:prstDash val="solid"/>
                      <a:round/>
                      <a:headEnd type="none" w="med" len="med"/>
                      <a:tailEnd type="none" w="med" len="med"/>
                    </a:lnB>
                    <a:solidFill>
                      <a:schemeClr val="accent5">
                        <a:lumMod val="50000"/>
                      </a:schemeClr>
                    </a:solidFill>
                  </a:tcPr>
                </a:tc>
                <a:tc>
                  <a:txBody>
                    <a:bodyPr/>
                    <a:lstStyle/>
                    <a:p>
                      <a:pPr algn="ctr" fontAlgn="auto">
                        <a:lnSpc>
                          <a:spcPct val="100000"/>
                        </a:lnSpc>
                        <a:spcAft>
                          <a:spcPts val="0"/>
                        </a:spcAft>
                      </a:pPr>
                      <a:r>
                        <a:rPr lang="zh-CN" sz="1800" b="1" dirty="0">
                          <a:solidFill>
                            <a:schemeClr val="bg1"/>
                          </a:solidFill>
                          <a:effectLst/>
                          <a:latin typeface="微软雅黑" pitchFamily="34" charset="-122"/>
                          <a:ea typeface="微软雅黑" pitchFamily="34" charset="-122"/>
                        </a:rPr>
                        <a:t>缩写表示</a:t>
                      </a: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B w="12700" cap="flat" cmpd="sng" algn="ctr">
                      <a:solidFill>
                        <a:schemeClr val="bg1">
                          <a:lumMod val="50000"/>
                        </a:schemeClr>
                      </a:solidFill>
                      <a:prstDash val="solid"/>
                      <a:round/>
                      <a:headEnd type="none" w="med" len="med"/>
                      <a:tailEnd type="none" w="med" len="med"/>
                    </a:lnB>
                    <a:solidFill>
                      <a:schemeClr val="accent5">
                        <a:lumMod val="50000"/>
                      </a:schemeClr>
                    </a:solidFill>
                  </a:tcPr>
                </a:tc>
                <a:tc>
                  <a:txBody>
                    <a:bodyPr/>
                    <a:lstStyle/>
                    <a:p>
                      <a:pPr algn="ctr" fontAlgn="auto">
                        <a:lnSpc>
                          <a:spcPct val="100000"/>
                        </a:lnSpc>
                        <a:spcAft>
                          <a:spcPts val="0"/>
                        </a:spcAft>
                      </a:pPr>
                      <a:r>
                        <a:rPr lang="zh-CN" sz="1800" b="1" dirty="0">
                          <a:solidFill>
                            <a:schemeClr val="bg1"/>
                          </a:solidFill>
                          <a:effectLst/>
                          <a:latin typeface="微软雅黑" pitchFamily="34" charset="-122"/>
                          <a:ea typeface="微软雅黑" pitchFamily="34" charset="-122"/>
                        </a:rPr>
                        <a:t>意义</a:t>
                      </a:r>
                    </a:p>
                  </a:txBody>
                  <a:tcPr marL="68580" marR="68580" marT="0" marB="0" anchor="ctr">
                    <a:lnL w="12700" cap="flat" cmpd="sng" algn="ctr">
                      <a:solidFill>
                        <a:schemeClr val="bg1">
                          <a:lumMod val="50000"/>
                        </a:schemeClr>
                      </a:solidFill>
                      <a:prstDash val="solid"/>
                      <a:round/>
                      <a:headEnd type="none" w="med" len="med"/>
                      <a:tailEnd type="none" w="med" len="med"/>
                    </a:lnL>
                    <a:lnB w="12700" cap="flat" cmpd="sng" algn="ctr">
                      <a:solidFill>
                        <a:schemeClr val="bg1">
                          <a:lumMod val="50000"/>
                        </a:schemeClr>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0000"/>
                  </a:ext>
                </a:extLst>
              </a:tr>
              <a:tr h="418920">
                <a:tc>
                  <a:txBody>
                    <a:bodyPr/>
                    <a:lstStyle/>
                    <a:p>
                      <a:pPr algn="ctr" fontAlgn="auto">
                        <a:lnSpc>
                          <a:spcPct val="100000"/>
                        </a:lnSpc>
                        <a:spcAft>
                          <a:spcPts val="0"/>
                        </a:spcAft>
                      </a:pPr>
                      <a:r>
                        <a:rPr lang="en-US" sz="1800" b="1" dirty="0">
                          <a:solidFill>
                            <a:schemeClr val="tx1"/>
                          </a:solidFill>
                          <a:effectLst/>
                          <a:latin typeface="微软雅黑" pitchFamily="34" charset="-122"/>
                          <a:ea typeface="微软雅黑" pitchFamily="34" charset="-122"/>
                        </a:rPr>
                        <a:t>200</a:t>
                      </a:r>
                      <a:endParaRPr lang="zh-CN" sz="1800" b="1" dirty="0">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auto">
                        <a:lnSpc>
                          <a:spcPct val="100000"/>
                        </a:lnSpc>
                        <a:spcAft>
                          <a:spcPts val="0"/>
                        </a:spcAft>
                      </a:pPr>
                      <a:r>
                        <a:rPr lang="en-US" sz="1800" b="1">
                          <a:solidFill>
                            <a:schemeClr val="tx1"/>
                          </a:solidFill>
                          <a:effectLst/>
                          <a:latin typeface="微软雅黑" pitchFamily="34" charset="-122"/>
                          <a:ea typeface="微软雅黑" pitchFamily="34" charset="-122"/>
                        </a:rPr>
                        <a:t>SR</a:t>
                      </a:r>
                      <a:endParaRPr lang="zh-CN" sz="1800" b="1">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auto">
                        <a:lnSpc>
                          <a:spcPct val="100000"/>
                        </a:lnSpc>
                        <a:spcAft>
                          <a:spcPts val="0"/>
                        </a:spcAft>
                      </a:pPr>
                      <a:r>
                        <a:rPr lang="zh-CN" sz="1800" b="1">
                          <a:solidFill>
                            <a:schemeClr val="tx1"/>
                          </a:solidFill>
                          <a:effectLst/>
                          <a:latin typeface="微软雅黑" pitchFamily="34" charset="-122"/>
                          <a:ea typeface="微软雅黑" pitchFamily="34" charset="-122"/>
                        </a:rPr>
                        <a:t>发送端报告</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8920">
                <a:tc>
                  <a:txBody>
                    <a:bodyPr/>
                    <a:lstStyle/>
                    <a:p>
                      <a:pPr algn="ctr" fontAlgn="auto">
                        <a:lnSpc>
                          <a:spcPct val="100000"/>
                        </a:lnSpc>
                        <a:spcAft>
                          <a:spcPts val="0"/>
                        </a:spcAft>
                      </a:pPr>
                      <a:r>
                        <a:rPr lang="en-US" sz="1800" b="1" dirty="0">
                          <a:solidFill>
                            <a:schemeClr val="tx1"/>
                          </a:solidFill>
                          <a:effectLst/>
                          <a:latin typeface="微软雅黑" pitchFamily="34" charset="-122"/>
                          <a:ea typeface="微软雅黑" pitchFamily="34" charset="-122"/>
                        </a:rPr>
                        <a:t>201</a:t>
                      </a:r>
                      <a:endParaRPr lang="zh-CN" sz="1800" b="1" dirty="0">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tc>
                  <a:txBody>
                    <a:bodyPr/>
                    <a:lstStyle/>
                    <a:p>
                      <a:pPr algn="ctr" fontAlgn="auto">
                        <a:lnSpc>
                          <a:spcPct val="100000"/>
                        </a:lnSpc>
                        <a:spcAft>
                          <a:spcPts val="0"/>
                        </a:spcAft>
                      </a:pPr>
                      <a:r>
                        <a:rPr lang="en-US" sz="1800" b="1" dirty="0">
                          <a:solidFill>
                            <a:schemeClr val="tx1"/>
                          </a:solidFill>
                          <a:effectLst/>
                          <a:latin typeface="微软雅黑" pitchFamily="34" charset="-122"/>
                          <a:ea typeface="微软雅黑" pitchFamily="34" charset="-122"/>
                        </a:rPr>
                        <a:t>RR</a:t>
                      </a:r>
                      <a:endParaRPr lang="zh-CN" sz="1800" b="1" dirty="0">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tc>
                  <a:txBody>
                    <a:bodyPr/>
                    <a:lstStyle/>
                    <a:p>
                      <a:pPr algn="ctr" fontAlgn="auto">
                        <a:lnSpc>
                          <a:spcPct val="100000"/>
                        </a:lnSpc>
                        <a:spcAft>
                          <a:spcPts val="0"/>
                        </a:spcAft>
                        <a:tabLst>
                          <a:tab pos="2637155" algn="ctr"/>
                          <a:tab pos="5274310" algn="r"/>
                          <a:tab pos="266700" algn="l"/>
                        </a:tabLst>
                      </a:pPr>
                      <a:r>
                        <a:rPr lang="zh-CN" sz="1800" b="1" dirty="0">
                          <a:solidFill>
                            <a:schemeClr val="tx1"/>
                          </a:solidFill>
                          <a:effectLst/>
                          <a:latin typeface="微软雅黑" pitchFamily="34" charset="-122"/>
                          <a:ea typeface="微软雅黑" pitchFamily="34" charset="-122"/>
                        </a:rPr>
                        <a:t>接收端报告</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extLst>
                  <a:ext uri="{0D108BD9-81ED-4DB2-BD59-A6C34878D82A}">
                    <a16:rowId xmlns:a16="http://schemas.microsoft.com/office/drawing/2014/main" val="10002"/>
                  </a:ext>
                </a:extLst>
              </a:tr>
              <a:tr h="418920">
                <a:tc>
                  <a:txBody>
                    <a:bodyPr/>
                    <a:lstStyle/>
                    <a:p>
                      <a:pPr algn="ctr" fontAlgn="auto">
                        <a:lnSpc>
                          <a:spcPct val="100000"/>
                        </a:lnSpc>
                        <a:spcAft>
                          <a:spcPts val="0"/>
                        </a:spcAft>
                      </a:pPr>
                      <a:r>
                        <a:rPr lang="en-US" sz="1800" b="1">
                          <a:solidFill>
                            <a:schemeClr val="tx1"/>
                          </a:solidFill>
                          <a:effectLst/>
                          <a:latin typeface="微软雅黑" pitchFamily="34" charset="-122"/>
                          <a:ea typeface="微软雅黑" pitchFamily="34" charset="-122"/>
                        </a:rPr>
                        <a:t>202</a:t>
                      </a:r>
                      <a:endParaRPr lang="zh-CN" sz="1800" b="1">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auto">
                        <a:lnSpc>
                          <a:spcPct val="100000"/>
                        </a:lnSpc>
                        <a:spcAft>
                          <a:spcPts val="0"/>
                        </a:spcAft>
                      </a:pPr>
                      <a:r>
                        <a:rPr lang="en-US" sz="1800" b="1">
                          <a:solidFill>
                            <a:schemeClr val="tx1"/>
                          </a:solidFill>
                          <a:effectLst/>
                          <a:latin typeface="微软雅黑" pitchFamily="34" charset="-122"/>
                          <a:ea typeface="微软雅黑" pitchFamily="34" charset="-122"/>
                        </a:rPr>
                        <a:t>SDES</a:t>
                      </a:r>
                      <a:endParaRPr lang="zh-CN" sz="1800" b="1">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fontAlgn="auto">
                        <a:lnSpc>
                          <a:spcPct val="100000"/>
                        </a:lnSpc>
                        <a:spcAft>
                          <a:spcPts val="0"/>
                        </a:spcAft>
                      </a:pPr>
                      <a:r>
                        <a:rPr lang="zh-CN" sz="1800" b="1" dirty="0">
                          <a:solidFill>
                            <a:schemeClr val="tx1"/>
                          </a:solidFill>
                          <a:effectLst/>
                          <a:latin typeface="微软雅黑" pitchFamily="34" charset="-122"/>
                          <a:ea typeface="微软雅黑" pitchFamily="34" charset="-122"/>
                        </a:rPr>
                        <a:t>源点描述</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8920">
                <a:tc>
                  <a:txBody>
                    <a:bodyPr/>
                    <a:lstStyle/>
                    <a:p>
                      <a:pPr algn="ctr" fontAlgn="auto">
                        <a:lnSpc>
                          <a:spcPct val="100000"/>
                        </a:lnSpc>
                        <a:spcAft>
                          <a:spcPts val="0"/>
                        </a:spcAft>
                      </a:pPr>
                      <a:r>
                        <a:rPr lang="en-US" sz="1800" b="1" dirty="0">
                          <a:solidFill>
                            <a:schemeClr val="tx1"/>
                          </a:solidFill>
                          <a:effectLst/>
                          <a:latin typeface="微软雅黑" pitchFamily="34" charset="-122"/>
                          <a:ea typeface="微软雅黑" pitchFamily="34" charset="-122"/>
                        </a:rPr>
                        <a:t>203</a:t>
                      </a:r>
                      <a:endParaRPr lang="zh-CN" sz="1800" b="1" dirty="0">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tc>
                  <a:txBody>
                    <a:bodyPr/>
                    <a:lstStyle/>
                    <a:p>
                      <a:pPr algn="ctr" fontAlgn="auto">
                        <a:lnSpc>
                          <a:spcPct val="100000"/>
                        </a:lnSpc>
                        <a:spcAft>
                          <a:spcPts val="0"/>
                        </a:spcAft>
                      </a:pPr>
                      <a:r>
                        <a:rPr lang="en-US" sz="1800" b="1">
                          <a:solidFill>
                            <a:schemeClr val="tx1"/>
                          </a:solidFill>
                          <a:effectLst/>
                          <a:latin typeface="微软雅黑" pitchFamily="34" charset="-122"/>
                          <a:ea typeface="微软雅黑" pitchFamily="34" charset="-122"/>
                        </a:rPr>
                        <a:t>BYE</a:t>
                      </a:r>
                      <a:endParaRPr lang="zh-CN" sz="1800" b="1">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tc>
                  <a:txBody>
                    <a:bodyPr/>
                    <a:lstStyle/>
                    <a:p>
                      <a:pPr algn="ctr" fontAlgn="auto">
                        <a:lnSpc>
                          <a:spcPct val="100000"/>
                        </a:lnSpc>
                        <a:spcAft>
                          <a:spcPts val="0"/>
                        </a:spcAft>
                      </a:pPr>
                      <a:r>
                        <a:rPr lang="zh-CN" sz="1800" b="1" dirty="0">
                          <a:solidFill>
                            <a:schemeClr val="tx1"/>
                          </a:solidFill>
                          <a:effectLst/>
                          <a:latin typeface="微软雅黑" pitchFamily="34" charset="-122"/>
                          <a:ea typeface="微软雅黑" pitchFamily="34" charset="-122"/>
                        </a:rPr>
                        <a:t>结束</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6FFFF"/>
                    </a:solidFill>
                  </a:tcPr>
                </a:tc>
                <a:extLst>
                  <a:ext uri="{0D108BD9-81ED-4DB2-BD59-A6C34878D82A}">
                    <a16:rowId xmlns:a16="http://schemas.microsoft.com/office/drawing/2014/main" val="10004"/>
                  </a:ext>
                </a:extLst>
              </a:tr>
              <a:tr h="418920">
                <a:tc>
                  <a:txBody>
                    <a:bodyPr/>
                    <a:lstStyle/>
                    <a:p>
                      <a:pPr algn="ctr">
                        <a:lnSpc>
                          <a:spcPct val="100000"/>
                        </a:lnSpc>
                        <a:spcAft>
                          <a:spcPts val="0"/>
                        </a:spcAft>
                      </a:pPr>
                      <a:r>
                        <a:rPr lang="en-US" sz="1800" b="1" dirty="0">
                          <a:solidFill>
                            <a:schemeClr val="tx1"/>
                          </a:solidFill>
                          <a:effectLst/>
                          <a:latin typeface="微软雅黑" pitchFamily="34" charset="-122"/>
                          <a:ea typeface="微软雅黑" pitchFamily="34" charset="-122"/>
                        </a:rPr>
                        <a:t>204</a:t>
                      </a:r>
                      <a:endParaRPr lang="zh-CN" sz="1800" b="1" dirty="0">
                        <a:solidFill>
                          <a:schemeClr val="tx1"/>
                        </a:solidFill>
                        <a:effectLst/>
                        <a:latin typeface="微软雅黑" pitchFamily="34" charset="-122"/>
                        <a:ea typeface="微软雅黑" pitchFamily="34" charset="-122"/>
                      </a:endParaRPr>
                    </a:p>
                  </a:txBody>
                  <a:tcPr marL="68580" marR="68580" marT="0" marB="0" anchor="ct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solidFill>
                      <a:schemeClr val="bg1"/>
                    </a:solidFill>
                  </a:tcPr>
                </a:tc>
                <a:tc>
                  <a:txBody>
                    <a:bodyPr/>
                    <a:lstStyle/>
                    <a:p>
                      <a:pPr algn="ctr">
                        <a:lnSpc>
                          <a:spcPct val="100000"/>
                        </a:lnSpc>
                        <a:spcAft>
                          <a:spcPts val="0"/>
                        </a:spcAft>
                      </a:pPr>
                      <a:r>
                        <a:rPr lang="en-US" sz="1800" b="1">
                          <a:solidFill>
                            <a:schemeClr val="tx1"/>
                          </a:solidFill>
                          <a:effectLst/>
                          <a:latin typeface="微软雅黑" pitchFamily="34" charset="-122"/>
                          <a:ea typeface="微软雅黑" pitchFamily="34" charset="-122"/>
                        </a:rPr>
                        <a:t>APP</a:t>
                      </a:r>
                      <a:endParaRPr lang="zh-CN" sz="1800" b="1">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solidFill>
                      <a:schemeClr val="bg1"/>
                    </a:solidFill>
                  </a:tcPr>
                </a:tc>
                <a:tc>
                  <a:txBody>
                    <a:bodyPr/>
                    <a:lstStyle/>
                    <a:p>
                      <a:pPr algn="ctr">
                        <a:lnSpc>
                          <a:spcPct val="100000"/>
                        </a:lnSpc>
                        <a:spcAft>
                          <a:spcPts val="0"/>
                        </a:spcAft>
                      </a:pPr>
                      <a:r>
                        <a:rPr lang="zh-CN" sz="1800" b="1" dirty="0">
                          <a:solidFill>
                            <a:schemeClr val="tx1"/>
                          </a:solidFill>
                          <a:effectLst/>
                          <a:latin typeface="微软雅黑" pitchFamily="34" charset="-122"/>
                          <a:ea typeface="微软雅黑" pitchFamily="34" charset="-122"/>
                        </a:rPr>
                        <a:t>特定应用</a:t>
                      </a:r>
                    </a:p>
                  </a:txBody>
                  <a:tcPr marL="68580" marR="68580" marT="0" marB="0" anchor="ct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5857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2"/>
          <p:cNvSpPr>
            <a:spLocks noChangeArrowheads="1"/>
          </p:cNvSpPr>
          <p:nvPr/>
        </p:nvSpPr>
        <p:spPr bwMode="auto">
          <a:xfrm>
            <a:off x="511896" y="614302"/>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 name="Rectangle 13"/>
          <p:cNvSpPr>
            <a:spLocks noChangeArrowheads="1"/>
          </p:cNvSpPr>
          <p:nvPr/>
        </p:nvSpPr>
        <p:spPr bwMode="auto">
          <a:xfrm>
            <a:off x="3566352" y="588838"/>
            <a:ext cx="20201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8.3.5  H.323</a:t>
            </a:r>
          </a:p>
        </p:txBody>
      </p:sp>
      <p:sp>
        <p:nvSpPr>
          <p:cNvPr id="7" name="Rectangle 8"/>
          <p:cNvSpPr>
            <a:spLocks noChangeArrowheads="1"/>
          </p:cNvSpPr>
          <p:nvPr/>
        </p:nvSpPr>
        <p:spPr bwMode="auto">
          <a:xfrm>
            <a:off x="511896" y="1048187"/>
            <a:ext cx="8129015"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信令标准。</a:t>
            </a:r>
            <a:endParaRPr lang="en-US" altLang="zh-CN" sz="2000" b="1" dirty="0">
              <a:solidFill>
                <a:srgbClr val="C00000"/>
              </a:solidFill>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是 </a:t>
            </a:r>
            <a:r>
              <a:rPr lang="en-US" altLang="zh-CN" sz="2000" b="1" dirty="0">
                <a:latin typeface="微软雅黑" pitchFamily="34" charset="-122"/>
                <a:ea typeface="微软雅黑" pitchFamily="34" charset="-122"/>
              </a:rPr>
              <a:t>ITU-T </a:t>
            </a:r>
            <a:r>
              <a:rPr lang="zh-CN" altLang="en-US" sz="2000" b="1" dirty="0">
                <a:latin typeface="微软雅黑" pitchFamily="34" charset="-122"/>
                <a:ea typeface="微软雅黑" pitchFamily="34" charset="-122"/>
              </a:rPr>
              <a:t>于 </a:t>
            </a:r>
            <a:r>
              <a:rPr lang="en-US" altLang="zh-CN" sz="2000" b="1" dirty="0">
                <a:latin typeface="微软雅黑" pitchFamily="34" charset="-122"/>
                <a:ea typeface="微软雅黑" pitchFamily="34" charset="-122"/>
              </a:rPr>
              <a:t>1996 </a:t>
            </a:r>
            <a:r>
              <a:rPr lang="zh-CN" altLang="en-US" sz="2000" b="1" dirty="0">
                <a:latin typeface="微软雅黑" pitchFamily="34" charset="-122"/>
                <a:ea typeface="微软雅黑" pitchFamily="34" charset="-122"/>
              </a:rPr>
              <a:t>年制定的为在局域网上传送话音信息的建议书。</a:t>
            </a:r>
            <a:endParaRPr lang="en-US" altLang="zh-CN" sz="2000" b="1" dirty="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1998 </a:t>
            </a:r>
            <a:r>
              <a:rPr lang="zh-CN" altLang="en-US" sz="2000" b="1" dirty="0">
                <a:latin typeface="微软雅黑" pitchFamily="34" charset="-122"/>
                <a:ea typeface="微软雅黑" pitchFamily="34" charset="-122"/>
              </a:rPr>
              <a:t>年的第二个版本改用的名称是“</a:t>
            </a:r>
            <a:r>
              <a:rPr lang="zh-CN" altLang="en-US" sz="2000" b="1" dirty="0">
                <a:solidFill>
                  <a:srgbClr val="C00000"/>
                </a:solidFill>
                <a:latin typeface="微软雅黑" pitchFamily="34" charset="-122"/>
                <a:ea typeface="微软雅黑" pitchFamily="34" charset="-122"/>
              </a:rPr>
              <a:t>基于分组的多媒体通信系统</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是互联网的端系统之间进行实时声音和视频会议的标准。</a:t>
            </a:r>
            <a:endParaRPr lang="en-US" altLang="zh-CN" sz="2000" b="1" dirty="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不是一个单独的协议，</a:t>
            </a:r>
            <a:r>
              <a:rPr lang="zh-CN" altLang="en-US" sz="2000" b="1" dirty="0">
                <a:solidFill>
                  <a:srgbClr val="C00000"/>
                </a:solidFill>
                <a:latin typeface="微软雅黑" pitchFamily="34" charset="-122"/>
                <a:ea typeface="微软雅黑" pitchFamily="34" charset="-122"/>
              </a:rPr>
              <a:t>而是一组协议。</a:t>
            </a:r>
            <a:r>
              <a:rPr lang="zh-CN" altLang="en-US" sz="2000" b="1" dirty="0">
                <a:latin typeface="微软雅黑" pitchFamily="34" charset="-122"/>
                <a:ea typeface="微软雅黑" pitchFamily="34" charset="-122"/>
              </a:rPr>
              <a:t>包括：</a:t>
            </a:r>
            <a:endParaRPr lang="en-US" altLang="zh-CN" sz="2000" b="1" dirty="0">
              <a:latin typeface="微软雅黑" pitchFamily="34" charset="-122"/>
              <a:ea typeface="微软雅黑" pitchFamily="34" charset="-122"/>
            </a:endParaRPr>
          </a:p>
          <a:p>
            <a:pPr marL="719138" lvl="1" indent="-365125">
              <a:lnSpc>
                <a:spcPts val="3200"/>
              </a:lnSpc>
              <a:buClr>
                <a:srgbClr val="7030A0"/>
              </a:buClr>
              <a:buFont typeface="Wingdings" pitchFamily="2" charset="2"/>
              <a:buChar char="ü"/>
            </a:pPr>
            <a:r>
              <a:rPr lang="zh-CN" altLang="en-US" sz="2000" b="1" dirty="0">
                <a:latin typeface="微软雅黑" pitchFamily="34" charset="-122"/>
                <a:ea typeface="微软雅黑" pitchFamily="34" charset="-122"/>
              </a:rPr>
              <a:t>系统和构件的描述，呼叫模型的描述，呼叫信令过程，</a:t>
            </a:r>
            <a:endParaRPr lang="en-US" altLang="zh-CN" sz="2000" b="1" dirty="0">
              <a:latin typeface="微软雅黑" pitchFamily="34" charset="-122"/>
              <a:ea typeface="微软雅黑" pitchFamily="34" charset="-122"/>
            </a:endParaRPr>
          </a:p>
          <a:p>
            <a:pPr marL="719138" lvl="1" indent="-365125">
              <a:lnSpc>
                <a:spcPts val="3200"/>
              </a:lnSpc>
              <a:buClr>
                <a:srgbClr val="7030A0"/>
              </a:buClr>
              <a:buFont typeface="Wingdings" pitchFamily="2" charset="2"/>
              <a:buChar char="ü"/>
            </a:pPr>
            <a:r>
              <a:rPr lang="zh-CN" altLang="en-US" sz="2000" b="1" dirty="0">
                <a:latin typeface="微软雅黑" pitchFamily="34" charset="-122"/>
                <a:ea typeface="微软雅黑" pitchFamily="34" charset="-122"/>
              </a:rPr>
              <a:t>控制报文， 复用，话音编解码器，视像编解码器，</a:t>
            </a:r>
            <a:endParaRPr lang="en-US" altLang="zh-CN" sz="2000" b="1" dirty="0">
              <a:latin typeface="微软雅黑" pitchFamily="34" charset="-122"/>
              <a:ea typeface="微软雅黑" pitchFamily="34" charset="-122"/>
            </a:endParaRPr>
          </a:p>
          <a:p>
            <a:pPr marL="719138" lvl="1" indent="-365125">
              <a:lnSpc>
                <a:spcPts val="3200"/>
              </a:lnSpc>
              <a:buClr>
                <a:srgbClr val="7030A0"/>
              </a:buClr>
              <a:buFont typeface="Wingdings" pitchFamily="2" charset="2"/>
              <a:buChar char="ü"/>
            </a:pPr>
            <a:r>
              <a:rPr lang="zh-CN" altLang="en-US" sz="2000" b="1" dirty="0">
                <a:latin typeface="微软雅黑" pitchFamily="34" charset="-122"/>
                <a:ea typeface="微软雅黑" pitchFamily="34" charset="-122"/>
              </a:rPr>
              <a:t>以及数据协议等。</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8851855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圆角矩形 96"/>
          <p:cNvSpPr/>
          <p:nvPr/>
        </p:nvSpPr>
        <p:spPr>
          <a:xfrm>
            <a:off x="523237" y="1020437"/>
            <a:ext cx="8128800" cy="33512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2" name="组合 101"/>
          <p:cNvGrpSpPr/>
          <p:nvPr/>
        </p:nvGrpSpPr>
        <p:grpSpPr>
          <a:xfrm>
            <a:off x="1496313" y="1654986"/>
            <a:ext cx="6155337" cy="1689105"/>
            <a:chOff x="1083498" y="1178403"/>
            <a:chExt cx="6958312" cy="2367605"/>
          </a:xfrm>
        </p:grpSpPr>
        <p:sp>
          <p:nvSpPr>
            <p:cNvPr id="4" name="Line 218"/>
            <p:cNvSpPr>
              <a:spLocks noChangeShapeType="1"/>
            </p:cNvSpPr>
            <p:nvPr/>
          </p:nvSpPr>
          <p:spPr bwMode="auto">
            <a:xfrm>
              <a:off x="5604745" y="2553938"/>
              <a:ext cx="1710344" cy="32021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5" name="Line 219"/>
            <p:cNvSpPr>
              <a:spLocks noChangeShapeType="1"/>
            </p:cNvSpPr>
            <p:nvPr/>
          </p:nvSpPr>
          <p:spPr bwMode="auto">
            <a:xfrm flipV="1">
              <a:off x="1662527" y="2553936"/>
              <a:ext cx="1642592" cy="33514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0" name="Text Box 224"/>
            <p:cNvSpPr txBox="1">
              <a:spLocks noChangeArrowheads="1"/>
            </p:cNvSpPr>
            <p:nvPr/>
          </p:nvSpPr>
          <p:spPr bwMode="auto">
            <a:xfrm>
              <a:off x="1083498" y="1978472"/>
              <a:ext cx="12634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dirty="0">
                  <a:latin typeface="微软雅黑" pitchFamily="34" charset="-122"/>
                  <a:ea typeface="微软雅黑" pitchFamily="34" charset="-122"/>
                </a:rPr>
                <a:t>H.323 </a:t>
              </a:r>
              <a:r>
                <a:rPr kumimoji="1" lang="zh-CN" altLang="en-US" sz="1600" b="1" dirty="0">
                  <a:latin typeface="微软雅黑" pitchFamily="34" charset="-122"/>
                  <a:ea typeface="微软雅黑" pitchFamily="34" charset="-122"/>
                </a:rPr>
                <a:t>终端</a:t>
              </a:r>
            </a:p>
          </p:txBody>
        </p:sp>
        <p:sp>
          <p:nvSpPr>
            <p:cNvPr id="11" name="Text Box 225"/>
            <p:cNvSpPr txBox="1">
              <a:spLocks noChangeArrowheads="1"/>
            </p:cNvSpPr>
            <p:nvPr/>
          </p:nvSpPr>
          <p:spPr bwMode="auto">
            <a:xfrm>
              <a:off x="6778323" y="1978472"/>
              <a:ext cx="12634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a:latin typeface="微软雅黑" pitchFamily="34" charset="-122"/>
                  <a:ea typeface="微软雅黑" pitchFamily="34" charset="-122"/>
                </a:rPr>
                <a:t>H.323 </a:t>
              </a:r>
              <a:r>
                <a:rPr kumimoji="1" lang="zh-CN" altLang="en-US" sz="1600" b="1">
                  <a:latin typeface="微软雅黑" pitchFamily="34" charset="-122"/>
                  <a:ea typeface="微软雅黑" pitchFamily="34" charset="-122"/>
                </a:rPr>
                <a:t>终端</a:t>
              </a:r>
            </a:p>
          </p:txBody>
        </p:sp>
        <p:grpSp>
          <p:nvGrpSpPr>
            <p:cNvPr id="21" name="Group 107"/>
            <p:cNvGrpSpPr>
              <a:grpSpLocks/>
            </p:cNvGrpSpPr>
            <p:nvPr/>
          </p:nvGrpSpPr>
          <p:grpSpPr bwMode="auto">
            <a:xfrm>
              <a:off x="2564324" y="1178403"/>
              <a:ext cx="3848060" cy="2367605"/>
              <a:chOff x="2248" y="820"/>
              <a:chExt cx="2248" cy="883"/>
            </a:xfrm>
          </p:grpSpPr>
          <p:grpSp>
            <p:nvGrpSpPr>
              <p:cNvPr id="32" name="Group 108"/>
              <p:cNvGrpSpPr>
                <a:grpSpLocks/>
              </p:cNvGrpSpPr>
              <p:nvPr/>
            </p:nvGrpSpPr>
            <p:grpSpPr bwMode="auto">
              <a:xfrm>
                <a:off x="3567" y="902"/>
                <a:ext cx="929" cy="759"/>
                <a:chOff x="3567" y="902"/>
                <a:chExt cx="929" cy="759"/>
              </a:xfrm>
            </p:grpSpPr>
            <p:grpSp>
              <p:nvGrpSpPr>
                <p:cNvPr id="62" name="Group 109"/>
                <p:cNvGrpSpPr>
                  <a:grpSpLocks/>
                </p:cNvGrpSpPr>
                <p:nvPr/>
              </p:nvGrpSpPr>
              <p:grpSpPr bwMode="auto">
                <a:xfrm>
                  <a:off x="3926" y="902"/>
                  <a:ext cx="570" cy="611"/>
                  <a:chOff x="3926" y="902"/>
                  <a:chExt cx="570" cy="611"/>
                </a:xfrm>
              </p:grpSpPr>
              <p:grpSp>
                <p:nvGrpSpPr>
                  <p:cNvPr id="67" name="Group 110"/>
                  <p:cNvGrpSpPr>
                    <a:grpSpLocks/>
                  </p:cNvGrpSpPr>
                  <p:nvPr/>
                </p:nvGrpSpPr>
                <p:grpSpPr bwMode="auto">
                  <a:xfrm>
                    <a:off x="4071" y="982"/>
                    <a:ext cx="425" cy="448"/>
                    <a:chOff x="4071" y="982"/>
                    <a:chExt cx="425" cy="448"/>
                  </a:xfrm>
                </p:grpSpPr>
                <p:grpSp>
                  <p:nvGrpSpPr>
                    <p:cNvPr id="77" name="Group 111"/>
                    <p:cNvGrpSpPr>
                      <a:grpSpLocks/>
                    </p:cNvGrpSpPr>
                    <p:nvPr/>
                  </p:nvGrpSpPr>
                  <p:grpSpPr bwMode="auto">
                    <a:xfrm>
                      <a:off x="4071" y="982"/>
                      <a:ext cx="425" cy="448"/>
                      <a:chOff x="4071" y="982"/>
                      <a:chExt cx="425" cy="448"/>
                    </a:xfrm>
                  </p:grpSpPr>
                  <p:grpSp>
                    <p:nvGrpSpPr>
                      <p:cNvPr id="79" name="Group 112"/>
                      <p:cNvGrpSpPr>
                        <a:grpSpLocks/>
                      </p:cNvGrpSpPr>
                      <p:nvPr/>
                    </p:nvGrpSpPr>
                    <p:grpSpPr bwMode="auto">
                      <a:xfrm>
                        <a:off x="4182" y="1010"/>
                        <a:ext cx="314" cy="366"/>
                        <a:chOff x="4182" y="1010"/>
                        <a:chExt cx="314" cy="366"/>
                      </a:xfrm>
                    </p:grpSpPr>
                    <p:grpSp>
                      <p:nvGrpSpPr>
                        <p:cNvPr id="83" name="Group 113"/>
                        <p:cNvGrpSpPr>
                          <a:grpSpLocks/>
                        </p:cNvGrpSpPr>
                        <p:nvPr/>
                      </p:nvGrpSpPr>
                      <p:grpSpPr bwMode="auto">
                        <a:xfrm>
                          <a:off x="4220" y="1010"/>
                          <a:ext cx="276" cy="366"/>
                          <a:chOff x="4220" y="1010"/>
                          <a:chExt cx="276" cy="366"/>
                        </a:xfrm>
                      </p:grpSpPr>
                      <p:sp>
                        <p:nvSpPr>
                          <p:cNvPr id="87"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8"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9"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90"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91"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84"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5"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6"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80"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1"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2"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78"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68" name="Group 126"/>
                  <p:cNvGrpSpPr>
                    <a:grpSpLocks/>
                  </p:cNvGrpSpPr>
                  <p:nvPr/>
                </p:nvGrpSpPr>
                <p:grpSpPr bwMode="auto">
                  <a:xfrm>
                    <a:off x="3926" y="902"/>
                    <a:ext cx="385" cy="556"/>
                    <a:chOff x="3926" y="902"/>
                    <a:chExt cx="385" cy="556"/>
                  </a:xfrm>
                </p:grpSpPr>
                <p:sp>
                  <p:nvSpPr>
                    <p:cNvPr id="71"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2"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3"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4"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5"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76"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69"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0"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63"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4"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5"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6"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33" name="Group 139"/>
              <p:cNvGrpSpPr>
                <a:grpSpLocks/>
              </p:cNvGrpSpPr>
              <p:nvPr/>
            </p:nvGrpSpPr>
            <p:grpSpPr bwMode="auto">
              <a:xfrm>
                <a:off x="2248" y="907"/>
                <a:ext cx="556" cy="525"/>
                <a:chOff x="2248" y="907"/>
                <a:chExt cx="556" cy="525"/>
              </a:xfrm>
            </p:grpSpPr>
            <p:grpSp>
              <p:nvGrpSpPr>
                <p:cNvPr id="47" name="Group 140"/>
                <p:cNvGrpSpPr>
                  <a:grpSpLocks/>
                </p:cNvGrpSpPr>
                <p:nvPr/>
              </p:nvGrpSpPr>
              <p:grpSpPr bwMode="auto">
                <a:xfrm>
                  <a:off x="2248" y="982"/>
                  <a:ext cx="299" cy="314"/>
                  <a:chOff x="2248" y="982"/>
                  <a:chExt cx="299" cy="314"/>
                </a:xfrm>
              </p:grpSpPr>
              <p:sp>
                <p:nvSpPr>
                  <p:cNvPr id="58"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9"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0"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1"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48" name="Group 145"/>
                <p:cNvGrpSpPr>
                  <a:grpSpLocks/>
                </p:cNvGrpSpPr>
                <p:nvPr/>
              </p:nvGrpSpPr>
              <p:grpSpPr bwMode="auto">
                <a:xfrm>
                  <a:off x="2344" y="907"/>
                  <a:ext cx="460" cy="525"/>
                  <a:chOff x="2344" y="907"/>
                  <a:chExt cx="460" cy="525"/>
                </a:xfrm>
              </p:grpSpPr>
              <p:sp>
                <p:nvSpPr>
                  <p:cNvPr id="50"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1"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2"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3"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4"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6"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57"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9"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34" name="Group 155"/>
              <p:cNvGrpSpPr>
                <a:grpSpLocks/>
              </p:cNvGrpSpPr>
              <p:nvPr/>
            </p:nvGrpSpPr>
            <p:grpSpPr bwMode="auto">
              <a:xfrm>
                <a:off x="2529" y="820"/>
                <a:ext cx="1638" cy="883"/>
                <a:chOff x="2529" y="820"/>
                <a:chExt cx="1638" cy="883"/>
              </a:xfrm>
            </p:grpSpPr>
            <p:sp>
              <p:nvSpPr>
                <p:cNvPr id="35"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6"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7"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5"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6"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sp>
          <p:nvSpPr>
            <p:cNvPr id="7" name="Text Box 221"/>
            <p:cNvSpPr txBox="1">
              <a:spLocks noChangeArrowheads="1"/>
            </p:cNvSpPr>
            <p:nvPr/>
          </p:nvSpPr>
          <p:spPr bwMode="auto">
            <a:xfrm>
              <a:off x="3573768" y="1687854"/>
              <a:ext cx="1903022" cy="78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solidFill>
                    <a:srgbClr val="0000FF"/>
                  </a:solidFill>
                  <a:latin typeface="微软雅黑" pitchFamily="34" charset="-122"/>
                  <a:ea typeface="微软雅黑" pitchFamily="34" charset="-122"/>
                </a:rPr>
                <a:t>分组交换网</a:t>
              </a:r>
            </a:p>
            <a:p>
              <a:pPr algn="ctr">
                <a:lnSpc>
                  <a:spcPct val="90000"/>
                </a:lnSpc>
              </a:pPr>
              <a:r>
                <a:rPr kumimoji="1" lang="zh-CN" altLang="en-US" sz="1600" b="1" dirty="0">
                  <a:solidFill>
                    <a:srgbClr val="0000FF"/>
                  </a:solidFill>
                  <a:latin typeface="微软雅黑" pitchFamily="34" charset="-122"/>
                  <a:ea typeface="微软雅黑" pitchFamily="34" charset="-122"/>
                </a:rPr>
                <a:t>（例如，互联网）</a:t>
              </a:r>
            </a:p>
          </p:txBody>
        </p:sp>
        <p:sp>
          <p:nvSpPr>
            <p:cNvPr id="9" name="Text Box 223"/>
            <p:cNvSpPr txBox="1">
              <a:spLocks noChangeArrowheads="1"/>
            </p:cNvSpPr>
            <p:nvPr/>
          </p:nvSpPr>
          <p:spPr bwMode="auto">
            <a:xfrm>
              <a:off x="4014665" y="2507542"/>
              <a:ext cx="8675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b="1" dirty="0">
                  <a:latin typeface="微软雅黑" pitchFamily="34" charset="-122"/>
                  <a:ea typeface="微软雅黑" pitchFamily="34" charset="-122"/>
                </a:rPr>
                <a:t>H.323</a:t>
              </a:r>
            </a:p>
          </p:txBody>
        </p:sp>
        <p:sp>
          <p:nvSpPr>
            <p:cNvPr id="8" name="Line 222"/>
            <p:cNvSpPr>
              <a:spLocks noChangeShapeType="1"/>
            </p:cNvSpPr>
            <p:nvPr/>
          </p:nvSpPr>
          <p:spPr bwMode="auto">
            <a:xfrm>
              <a:off x="1787821" y="2988506"/>
              <a:ext cx="5459513" cy="7053"/>
            </a:xfrm>
            <a:prstGeom prst="line">
              <a:avLst/>
            </a:prstGeom>
            <a:noFill/>
            <a:ln w="5715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95" name="Freeform 98"/>
            <p:cNvSpPr>
              <a:spLocks/>
            </p:cNvSpPr>
            <p:nvPr/>
          </p:nvSpPr>
          <p:spPr bwMode="auto">
            <a:xfrm>
              <a:off x="1317649" y="2688363"/>
              <a:ext cx="112455" cy="95180"/>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sp>
          <p:nvSpPr>
            <p:cNvPr id="96" name="Text Box 97"/>
            <p:cNvSpPr txBox="1">
              <a:spLocks noChangeArrowheads="1"/>
            </p:cNvSpPr>
            <p:nvPr/>
          </p:nvSpPr>
          <p:spPr bwMode="auto">
            <a:xfrm rot="20287477">
              <a:off x="1089691" y="2303335"/>
              <a:ext cx="3994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8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pic>
          <p:nvPicPr>
            <p:cNvPr id="94"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254" y="2352866"/>
              <a:ext cx="594586" cy="594588"/>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组合 100"/>
            <p:cNvGrpSpPr/>
            <p:nvPr/>
          </p:nvGrpSpPr>
          <p:grpSpPr>
            <a:xfrm>
              <a:off x="6736233" y="2295348"/>
              <a:ext cx="876149" cy="644119"/>
              <a:chOff x="1242091" y="2455735"/>
              <a:chExt cx="876149" cy="644119"/>
            </a:xfrm>
          </p:grpSpPr>
          <p:sp>
            <p:nvSpPr>
              <p:cNvPr id="98" name="Freeform 98"/>
              <p:cNvSpPr>
                <a:spLocks/>
              </p:cNvSpPr>
              <p:nvPr/>
            </p:nvSpPr>
            <p:spPr bwMode="auto">
              <a:xfrm>
                <a:off x="1470049" y="2840763"/>
                <a:ext cx="112455" cy="95180"/>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sp>
            <p:nvSpPr>
              <p:cNvPr id="99" name="Text Box 97"/>
              <p:cNvSpPr txBox="1">
                <a:spLocks noChangeArrowheads="1"/>
              </p:cNvSpPr>
              <p:nvPr/>
            </p:nvSpPr>
            <p:spPr bwMode="auto">
              <a:xfrm rot="20287477">
                <a:off x="1242091" y="2455735"/>
                <a:ext cx="3994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8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pic>
            <p:nvPicPr>
              <p:cNvPr id="100"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3654" y="2505266"/>
                <a:ext cx="594586" cy="59458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92" name="AutoShape 5"/>
          <p:cNvSpPr>
            <a:spLocks noChangeArrowheads="1"/>
          </p:cNvSpPr>
          <p:nvPr/>
        </p:nvSpPr>
        <p:spPr bwMode="auto">
          <a:xfrm>
            <a:off x="509475" y="62032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Rectangle 6"/>
          <p:cNvSpPr>
            <a:spLocks noChangeArrowheads="1"/>
          </p:cNvSpPr>
          <p:nvPr/>
        </p:nvSpPr>
        <p:spPr bwMode="auto">
          <a:xfrm>
            <a:off x="1903828" y="587116"/>
            <a:ext cx="53463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H.323 </a:t>
            </a:r>
            <a:r>
              <a:rPr lang="zh-CN" altLang="en-US" sz="2000" b="1" dirty="0">
                <a:solidFill>
                  <a:schemeClr val="bg1"/>
                </a:solidFill>
                <a:latin typeface="微软雅黑" pitchFamily="34" charset="-122"/>
                <a:ea typeface="微软雅黑" pitchFamily="34" charset="-122"/>
              </a:rPr>
              <a:t>终端使用 </a:t>
            </a:r>
            <a:r>
              <a:rPr lang="en-US" altLang="zh-CN" sz="2000" b="1" dirty="0">
                <a:solidFill>
                  <a:schemeClr val="bg1"/>
                </a:solidFill>
                <a:latin typeface="微软雅黑" pitchFamily="34" charset="-122"/>
                <a:ea typeface="微软雅黑" pitchFamily="34" charset="-122"/>
              </a:rPr>
              <a:t>H.323 </a:t>
            </a:r>
            <a:r>
              <a:rPr lang="zh-CN" altLang="en-US" sz="2000" b="1" dirty="0">
                <a:solidFill>
                  <a:schemeClr val="bg1"/>
                </a:solidFill>
                <a:latin typeface="微软雅黑" pitchFamily="34" charset="-122"/>
                <a:ea typeface="微软雅黑" pitchFamily="34" charset="-122"/>
              </a:rPr>
              <a:t>协议进行多媒体通信 </a:t>
            </a:r>
          </a:p>
        </p:txBody>
      </p:sp>
    </p:spTree>
    <p:extLst>
      <p:ext uri="{BB962C8B-B14F-4D97-AF65-F5344CB8AC3E}">
        <p14:creationId xmlns:p14="http://schemas.microsoft.com/office/powerpoint/2010/main" val="27507938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9474" y="978758"/>
            <a:ext cx="8129015" cy="3103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9900FF"/>
              </a:buClr>
              <a:buFont typeface="+mj-lt"/>
              <a:buAutoNum type="arabicPeriod"/>
            </a:pPr>
            <a:r>
              <a:rPr lang="en-US" altLang="zh-CN" b="1" dirty="0">
                <a:solidFill>
                  <a:srgbClr val="0000FF"/>
                </a:solidFill>
                <a:latin typeface="微软雅黑" pitchFamily="34" charset="-122"/>
                <a:ea typeface="微软雅黑" pitchFamily="34" charset="-122"/>
              </a:rPr>
              <a:t>H.323 </a:t>
            </a:r>
            <a:r>
              <a:rPr lang="zh-CN" altLang="en-US" b="1" dirty="0">
                <a:solidFill>
                  <a:srgbClr val="0000FF"/>
                </a:solidFill>
                <a:latin typeface="微软雅黑" pitchFamily="34" charset="-122"/>
                <a:ea typeface="微软雅黑" pitchFamily="34" charset="-122"/>
              </a:rPr>
              <a:t>终端。</a:t>
            </a:r>
          </a:p>
          <a:p>
            <a:pPr marL="342900" indent="-342900" eaLnBrk="0" hangingPunct="0">
              <a:lnSpc>
                <a:spcPts val="2800"/>
              </a:lnSpc>
              <a:buClr>
                <a:srgbClr val="9900FF"/>
              </a:buClr>
              <a:buFont typeface="+mj-lt"/>
              <a:buAutoNum type="arabicPeriod"/>
            </a:pPr>
            <a:r>
              <a:rPr lang="zh-CN" altLang="en-US" b="1" dirty="0">
                <a:solidFill>
                  <a:srgbClr val="0000FF"/>
                </a:solidFill>
                <a:latin typeface="微软雅黑" pitchFamily="34" charset="-122"/>
                <a:ea typeface="微软雅黑" pitchFamily="34" charset="-122"/>
              </a:rPr>
              <a:t>网关</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连接两种不同的网络，使 </a:t>
            </a:r>
            <a:r>
              <a:rPr lang="en-US" altLang="zh-CN" b="1" dirty="0">
                <a:latin typeface="微软雅黑" pitchFamily="34" charset="-122"/>
                <a:ea typeface="微软雅黑" pitchFamily="34" charset="-122"/>
              </a:rPr>
              <a:t>H.323 </a:t>
            </a:r>
            <a:r>
              <a:rPr lang="zh-CN" altLang="en-US" b="1" dirty="0">
                <a:latin typeface="微软雅黑" pitchFamily="34" charset="-122"/>
                <a:ea typeface="微软雅黑" pitchFamily="34" charset="-122"/>
              </a:rPr>
              <a:t>网络可以和非 </a:t>
            </a:r>
            <a:r>
              <a:rPr lang="en-US" altLang="zh-CN" b="1" dirty="0">
                <a:latin typeface="微软雅黑" pitchFamily="34" charset="-122"/>
                <a:ea typeface="微软雅黑" pitchFamily="34" charset="-122"/>
              </a:rPr>
              <a:t>H.323 </a:t>
            </a:r>
            <a:r>
              <a:rPr lang="zh-CN" altLang="en-US" b="1" dirty="0">
                <a:latin typeface="微软雅黑" pitchFamily="34" charset="-122"/>
                <a:ea typeface="微软雅黑" pitchFamily="34" charset="-122"/>
              </a:rPr>
              <a:t>网络通信。</a:t>
            </a:r>
          </a:p>
          <a:p>
            <a:pPr marL="342900" indent="-342900" eaLnBrk="0" hangingPunct="0">
              <a:lnSpc>
                <a:spcPts val="3000"/>
              </a:lnSpc>
              <a:buClr>
                <a:srgbClr val="9900FF"/>
              </a:buClr>
              <a:buFont typeface="+mj-lt"/>
              <a:buAutoNum type="arabicPeriod"/>
            </a:pPr>
            <a:r>
              <a:rPr lang="zh-CN" altLang="en-US" b="1" dirty="0">
                <a:solidFill>
                  <a:srgbClr val="0000FF"/>
                </a:solidFill>
                <a:latin typeface="微软雅黑" pitchFamily="34" charset="-122"/>
                <a:ea typeface="微软雅黑" pitchFamily="34" charset="-122"/>
              </a:rPr>
              <a:t>网闸 </a:t>
            </a:r>
            <a:r>
              <a:rPr lang="en-US" altLang="zh-CN" b="1" dirty="0">
                <a:solidFill>
                  <a:srgbClr val="0000FF"/>
                </a:solidFill>
                <a:latin typeface="微软雅黑" pitchFamily="34" charset="-122"/>
                <a:ea typeface="微软雅黑" pitchFamily="34" charset="-122"/>
              </a:rPr>
              <a:t>(gatekeeper)</a:t>
            </a:r>
            <a:r>
              <a:rPr lang="zh-CN" altLang="en-US" b="1" dirty="0">
                <a:latin typeface="微软雅黑" pitchFamily="34" charset="-122"/>
                <a:ea typeface="微软雅黑" pitchFamily="34" charset="-122"/>
              </a:rPr>
              <a:t>：所有的呼叫都要通过网闸，因为网闸提供地址转换、授权、带宽管理和计费功能。可以帮助 </a:t>
            </a:r>
            <a:r>
              <a:rPr lang="en-US" altLang="zh-CN" b="1" dirty="0">
                <a:latin typeface="微软雅黑" pitchFamily="34" charset="-122"/>
                <a:ea typeface="微软雅黑" pitchFamily="34" charset="-122"/>
              </a:rPr>
              <a:t>H.323 </a:t>
            </a:r>
            <a:r>
              <a:rPr lang="zh-CN" altLang="en-US" b="1" dirty="0">
                <a:latin typeface="微软雅黑" pitchFamily="34" charset="-122"/>
                <a:ea typeface="微软雅黑" pitchFamily="34" charset="-122"/>
              </a:rPr>
              <a:t>终端找到距离公用电话网上的被叫用户最近的一个网关。</a:t>
            </a:r>
          </a:p>
          <a:p>
            <a:pPr marL="342900" indent="-342900" eaLnBrk="0" hangingPunct="0">
              <a:lnSpc>
                <a:spcPts val="3000"/>
              </a:lnSpc>
              <a:buClr>
                <a:srgbClr val="9900FF"/>
              </a:buClr>
              <a:buFont typeface="+mj-lt"/>
              <a:buAutoNum type="arabicPeriod"/>
            </a:pPr>
            <a:r>
              <a:rPr lang="zh-CN" altLang="en-US" b="1" dirty="0">
                <a:solidFill>
                  <a:srgbClr val="0000FF"/>
                </a:solidFill>
                <a:latin typeface="微软雅黑" pitchFamily="34" charset="-122"/>
                <a:ea typeface="微软雅黑" pitchFamily="34" charset="-122"/>
              </a:rPr>
              <a:t>多点控制单元 </a:t>
            </a:r>
            <a:r>
              <a:rPr lang="en-US" altLang="zh-CN" b="1" dirty="0">
                <a:solidFill>
                  <a:srgbClr val="0000FF"/>
                </a:solidFill>
                <a:latin typeface="微软雅黑" pitchFamily="34" charset="-122"/>
                <a:ea typeface="微软雅黑" pitchFamily="34" charset="-122"/>
              </a:rPr>
              <a:t>MCU </a:t>
            </a:r>
            <a:r>
              <a:rPr lang="en-US" altLang="zh-CN" b="1" dirty="0">
                <a:latin typeface="微软雅黑" pitchFamily="34" charset="-122"/>
                <a:ea typeface="微软雅黑" pitchFamily="34" charset="-122"/>
              </a:rPr>
              <a:t>(Multipoint Control Unit)</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MCU </a:t>
            </a:r>
            <a:r>
              <a:rPr lang="zh-CN" altLang="en-US" b="1" dirty="0">
                <a:latin typeface="微软雅黑" pitchFamily="34" charset="-122"/>
                <a:ea typeface="微软雅黑" pitchFamily="34" charset="-122"/>
              </a:rPr>
              <a:t>支持三个或更多的 </a:t>
            </a:r>
            <a:r>
              <a:rPr lang="en-US" altLang="zh-CN" b="1" dirty="0">
                <a:latin typeface="微软雅黑" pitchFamily="34" charset="-122"/>
                <a:ea typeface="微软雅黑" pitchFamily="34" charset="-122"/>
              </a:rPr>
              <a:t>H.323 </a:t>
            </a:r>
            <a:r>
              <a:rPr lang="zh-CN" altLang="en-US" b="1" dirty="0">
                <a:latin typeface="微软雅黑" pitchFamily="34" charset="-122"/>
                <a:ea typeface="微软雅黑" pitchFamily="34" charset="-122"/>
              </a:rPr>
              <a:t>终端的音频或视频会议，管理会议资源、确定使用的音频或视频编解码器。 </a:t>
            </a:r>
          </a:p>
        </p:txBody>
      </p:sp>
      <p:sp>
        <p:nvSpPr>
          <p:cNvPr id="3" name="AutoShape 5"/>
          <p:cNvSpPr>
            <a:spLocks noChangeArrowheads="1"/>
          </p:cNvSpPr>
          <p:nvPr/>
        </p:nvSpPr>
        <p:spPr bwMode="auto">
          <a:xfrm>
            <a:off x="509475" y="6144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873644" y="581261"/>
            <a:ext cx="34067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H.323 </a:t>
            </a:r>
            <a:r>
              <a:rPr lang="zh-CN" altLang="en-US" sz="2000" b="1" dirty="0">
                <a:solidFill>
                  <a:schemeClr val="bg1"/>
                </a:solidFill>
                <a:latin typeface="微软雅黑" pitchFamily="34" charset="-122"/>
                <a:ea typeface="微软雅黑" pitchFamily="34" charset="-122"/>
              </a:rPr>
              <a:t>标准指明的四种构件 </a:t>
            </a:r>
          </a:p>
        </p:txBody>
      </p:sp>
      <p:sp>
        <p:nvSpPr>
          <p:cNvPr id="5" name="矩形 4"/>
          <p:cNvSpPr/>
          <p:nvPr/>
        </p:nvSpPr>
        <p:spPr>
          <a:xfrm>
            <a:off x="2370198" y="3769170"/>
            <a:ext cx="5180134" cy="70788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这些构件连网就可以进行</a:t>
            </a:r>
            <a:r>
              <a:rPr lang="zh-CN" altLang="en-US" b="1" dirty="0">
                <a:solidFill>
                  <a:srgbClr val="C00000"/>
                </a:solidFill>
                <a:latin typeface="微软雅黑" panose="020B0503020204020204" pitchFamily="34" charset="-122"/>
                <a:ea typeface="微软雅黑" panose="020B0503020204020204" pitchFamily="34" charset="-122"/>
              </a:rPr>
              <a:t>点对点</a:t>
            </a:r>
            <a:r>
              <a:rPr lang="zh-CN" altLang="en-US" b="1" dirty="0">
                <a:latin typeface="微软雅黑" panose="020B0503020204020204" pitchFamily="34" charset="-122"/>
                <a:ea typeface="微软雅黑" panose="020B0503020204020204" pitchFamily="34" charset="-122"/>
              </a:rPr>
              <a:t>或</a:t>
            </a:r>
            <a:r>
              <a:rPr lang="zh-CN" altLang="en-US" b="1" dirty="0">
                <a:solidFill>
                  <a:srgbClr val="C00000"/>
                </a:solidFill>
                <a:latin typeface="微软雅黑" panose="020B0503020204020204" pitchFamily="34" charset="-122"/>
                <a:ea typeface="微软雅黑" panose="020B0503020204020204" pitchFamily="34" charset="-122"/>
              </a:rPr>
              <a:t>一点对多点</a:t>
            </a:r>
            <a:r>
              <a:rPr lang="zh-CN" altLang="en-US" b="1" dirty="0">
                <a:latin typeface="微软雅黑" panose="020B0503020204020204" pitchFamily="34" charset="-122"/>
                <a:ea typeface="微软雅黑" panose="020B0503020204020204" pitchFamily="34" charset="-122"/>
              </a:rPr>
              <a:t>的多媒体通信。</a:t>
            </a:r>
          </a:p>
        </p:txBody>
      </p:sp>
    </p:spTree>
    <p:extLst>
      <p:ext uri="{BB962C8B-B14F-4D97-AF65-F5344CB8AC3E}">
        <p14:creationId xmlns:p14="http://schemas.microsoft.com/office/powerpoint/2010/main" val="5595138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509474" y="1082040"/>
            <a:ext cx="8129015" cy="331578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09475" y="621678"/>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727529" y="598588"/>
            <a:ext cx="37080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用 </a:t>
            </a:r>
            <a:r>
              <a:rPr lang="en-US" altLang="zh-CN" sz="2000" b="1" dirty="0">
                <a:solidFill>
                  <a:schemeClr val="bg1"/>
                </a:solidFill>
                <a:ea typeface="微软雅黑" pitchFamily="34" charset="-122"/>
              </a:rPr>
              <a:t>H.323 </a:t>
            </a:r>
            <a:r>
              <a:rPr lang="zh-CN" altLang="en-US" sz="2000" b="1" dirty="0">
                <a:solidFill>
                  <a:schemeClr val="bg1"/>
                </a:solidFill>
                <a:ea typeface="微软雅黑" pitchFamily="34" charset="-122"/>
              </a:rPr>
              <a:t>网关连接非 </a:t>
            </a:r>
            <a:r>
              <a:rPr lang="en-US" altLang="zh-CN" sz="2000" b="1" dirty="0">
                <a:solidFill>
                  <a:schemeClr val="bg1"/>
                </a:solidFill>
                <a:ea typeface="微软雅黑" pitchFamily="34" charset="-122"/>
              </a:rPr>
              <a:t>H.323 </a:t>
            </a:r>
            <a:r>
              <a:rPr lang="zh-CN" altLang="en-US" sz="2000" b="1" dirty="0">
                <a:solidFill>
                  <a:schemeClr val="bg1"/>
                </a:solidFill>
                <a:ea typeface="微软雅黑" pitchFamily="34" charset="-122"/>
              </a:rPr>
              <a:t>网络</a:t>
            </a:r>
          </a:p>
        </p:txBody>
      </p:sp>
      <p:sp>
        <p:nvSpPr>
          <p:cNvPr id="13" name="Line 48"/>
          <p:cNvSpPr>
            <a:spLocks noChangeShapeType="1"/>
          </p:cNvSpPr>
          <p:nvPr/>
        </p:nvSpPr>
        <p:spPr bwMode="auto">
          <a:xfrm flipV="1">
            <a:off x="3880102" y="2172408"/>
            <a:ext cx="812202" cy="28276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4" name="Line 49"/>
          <p:cNvSpPr>
            <a:spLocks noChangeShapeType="1"/>
          </p:cNvSpPr>
          <p:nvPr/>
        </p:nvSpPr>
        <p:spPr bwMode="auto">
          <a:xfrm flipH="1">
            <a:off x="6118992" y="2793373"/>
            <a:ext cx="405465" cy="56552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5" name="Line 50"/>
          <p:cNvSpPr>
            <a:spLocks noChangeShapeType="1"/>
          </p:cNvSpPr>
          <p:nvPr/>
        </p:nvSpPr>
        <p:spPr bwMode="auto">
          <a:xfrm flipH="1">
            <a:off x="6477580" y="3074960"/>
            <a:ext cx="272005" cy="56552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6" name="Line 51"/>
          <p:cNvSpPr>
            <a:spLocks noChangeShapeType="1"/>
          </p:cNvSpPr>
          <p:nvPr/>
        </p:nvSpPr>
        <p:spPr bwMode="auto">
          <a:xfrm>
            <a:off x="7020319" y="3146531"/>
            <a:ext cx="67367" cy="49395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7" name="Line 52"/>
          <p:cNvSpPr>
            <a:spLocks noChangeShapeType="1"/>
          </p:cNvSpPr>
          <p:nvPr/>
        </p:nvSpPr>
        <p:spPr bwMode="auto">
          <a:xfrm>
            <a:off x="7425785" y="3005736"/>
            <a:ext cx="272005" cy="49277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8" name="Line 53"/>
          <p:cNvSpPr>
            <a:spLocks noChangeShapeType="1"/>
          </p:cNvSpPr>
          <p:nvPr/>
        </p:nvSpPr>
        <p:spPr bwMode="auto">
          <a:xfrm>
            <a:off x="7697790" y="2863769"/>
            <a:ext cx="610105" cy="35315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pic>
        <p:nvPicPr>
          <p:cNvPr id="381" name="图片 38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3114" y="2957842"/>
            <a:ext cx="498586" cy="438755"/>
          </a:xfrm>
          <a:prstGeom prst="rect">
            <a:avLst/>
          </a:prstGeom>
        </p:spPr>
      </p:pic>
      <p:grpSp>
        <p:nvGrpSpPr>
          <p:cNvPr id="24" name="组合 23"/>
          <p:cNvGrpSpPr/>
          <p:nvPr/>
        </p:nvGrpSpPr>
        <p:grpSpPr>
          <a:xfrm>
            <a:off x="4237835" y="2239895"/>
            <a:ext cx="2643788" cy="843315"/>
            <a:chOff x="4237835" y="2144093"/>
            <a:chExt cx="2643788" cy="843315"/>
          </a:xfrm>
        </p:grpSpPr>
        <p:sp>
          <p:nvSpPr>
            <p:cNvPr id="27" name="Text Box 62"/>
            <p:cNvSpPr txBox="1">
              <a:spLocks noChangeArrowheads="1"/>
            </p:cNvSpPr>
            <p:nvPr/>
          </p:nvSpPr>
          <p:spPr bwMode="auto">
            <a:xfrm>
              <a:off x="5050924" y="2144093"/>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微软雅黑" pitchFamily="34" charset="-122"/>
                  <a:ea typeface="微软雅黑" pitchFamily="34" charset="-122"/>
                </a:rPr>
                <a:t>网关</a:t>
              </a:r>
            </a:p>
          </p:txBody>
        </p:sp>
        <p:grpSp>
          <p:nvGrpSpPr>
            <p:cNvPr id="21" name="组合 20"/>
            <p:cNvGrpSpPr/>
            <p:nvPr/>
          </p:nvGrpSpPr>
          <p:grpSpPr>
            <a:xfrm>
              <a:off x="4237835" y="2457600"/>
              <a:ext cx="2643788" cy="529808"/>
              <a:chOff x="4237835" y="2457600"/>
              <a:chExt cx="2643788" cy="529808"/>
            </a:xfrm>
          </p:grpSpPr>
          <p:sp>
            <p:nvSpPr>
              <p:cNvPr id="20" name="Line 55"/>
              <p:cNvSpPr>
                <a:spLocks noChangeShapeType="1"/>
              </p:cNvSpPr>
              <p:nvPr/>
            </p:nvSpPr>
            <p:spPr bwMode="auto">
              <a:xfrm>
                <a:off x="4237835" y="2703052"/>
                <a:ext cx="2643788"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pic>
            <p:nvPicPr>
              <p:cNvPr id="382" name="Picture 2" descr="C:\Users\Administrator\Desktop\TIM图片2018072711202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61416" y="2457600"/>
                <a:ext cx="1094643" cy="52980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0" name="组合 29"/>
          <p:cNvGrpSpPr/>
          <p:nvPr/>
        </p:nvGrpSpPr>
        <p:grpSpPr>
          <a:xfrm>
            <a:off x="1739492" y="2962507"/>
            <a:ext cx="1588941" cy="1057297"/>
            <a:chOff x="1739492" y="2866705"/>
            <a:chExt cx="1588941" cy="1057297"/>
          </a:xfrm>
        </p:grpSpPr>
        <p:sp>
          <p:nvSpPr>
            <p:cNvPr id="28" name="Text Box 63"/>
            <p:cNvSpPr txBox="1">
              <a:spLocks noChangeArrowheads="1"/>
            </p:cNvSpPr>
            <p:nvPr/>
          </p:nvSpPr>
          <p:spPr bwMode="auto">
            <a:xfrm>
              <a:off x="1739492" y="3585448"/>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微软雅黑" pitchFamily="34" charset="-122"/>
                  <a:ea typeface="微软雅黑" pitchFamily="34" charset="-122"/>
                </a:rPr>
                <a:t>网闸</a:t>
              </a:r>
            </a:p>
          </p:txBody>
        </p:sp>
        <p:grpSp>
          <p:nvGrpSpPr>
            <p:cNvPr id="8" name="组合 7"/>
            <p:cNvGrpSpPr/>
            <p:nvPr/>
          </p:nvGrpSpPr>
          <p:grpSpPr>
            <a:xfrm>
              <a:off x="1838157" y="2866705"/>
              <a:ext cx="1490276" cy="773106"/>
              <a:chOff x="1838157" y="2866705"/>
              <a:chExt cx="1490276" cy="773106"/>
            </a:xfrm>
          </p:grpSpPr>
          <p:sp>
            <p:nvSpPr>
              <p:cNvPr id="19" name="Line 54"/>
              <p:cNvSpPr>
                <a:spLocks noChangeShapeType="1"/>
              </p:cNvSpPr>
              <p:nvPr/>
            </p:nvSpPr>
            <p:spPr bwMode="auto">
              <a:xfrm flipH="1">
                <a:off x="2172977" y="2866705"/>
                <a:ext cx="1155456" cy="44635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pic>
            <p:nvPicPr>
              <p:cNvPr id="454" name="图片 4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8157" y="3013167"/>
                <a:ext cx="447602" cy="626644"/>
              </a:xfrm>
              <a:prstGeom prst="rect">
                <a:avLst/>
              </a:prstGeom>
            </p:spPr>
          </p:pic>
        </p:grpSp>
      </p:grpSp>
      <p:grpSp>
        <p:nvGrpSpPr>
          <p:cNvPr id="4" name="组合 3"/>
          <p:cNvGrpSpPr/>
          <p:nvPr/>
        </p:nvGrpSpPr>
        <p:grpSpPr>
          <a:xfrm>
            <a:off x="2682689" y="2834859"/>
            <a:ext cx="2036689" cy="1505075"/>
            <a:chOff x="2682689" y="2739057"/>
            <a:chExt cx="2036689" cy="1505075"/>
          </a:xfrm>
        </p:grpSpPr>
        <p:sp>
          <p:nvSpPr>
            <p:cNvPr id="10" name="Line 45"/>
            <p:cNvSpPr>
              <a:spLocks noChangeShapeType="1"/>
            </p:cNvSpPr>
            <p:nvPr/>
          </p:nvSpPr>
          <p:spPr bwMode="auto">
            <a:xfrm flipV="1">
              <a:off x="3175466" y="2739057"/>
              <a:ext cx="522913" cy="84491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1" name="Line 46"/>
            <p:cNvSpPr>
              <a:spLocks noChangeShapeType="1"/>
            </p:cNvSpPr>
            <p:nvPr/>
          </p:nvSpPr>
          <p:spPr bwMode="auto">
            <a:xfrm flipH="1" flipV="1">
              <a:off x="3766343" y="2975253"/>
              <a:ext cx="68637" cy="63474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2" name="Line 47"/>
            <p:cNvSpPr>
              <a:spLocks noChangeShapeType="1"/>
            </p:cNvSpPr>
            <p:nvPr/>
          </p:nvSpPr>
          <p:spPr bwMode="auto">
            <a:xfrm>
              <a:off x="4092936" y="2833285"/>
              <a:ext cx="406736" cy="56434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3" name="组合 2"/>
            <p:cNvGrpSpPr/>
            <p:nvPr/>
          </p:nvGrpSpPr>
          <p:grpSpPr>
            <a:xfrm>
              <a:off x="2682689" y="3157106"/>
              <a:ext cx="2036689" cy="1087026"/>
              <a:chOff x="2682689" y="3157106"/>
              <a:chExt cx="2036689" cy="1087026"/>
            </a:xfrm>
          </p:grpSpPr>
          <p:sp>
            <p:nvSpPr>
              <p:cNvPr id="29" name="Text Box 64"/>
              <p:cNvSpPr txBox="1">
                <a:spLocks noChangeArrowheads="1"/>
              </p:cNvSpPr>
              <p:nvPr/>
            </p:nvSpPr>
            <p:spPr bwMode="auto">
              <a:xfrm>
                <a:off x="3276433" y="3905578"/>
                <a:ext cx="126348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FF"/>
                    </a:solidFill>
                    <a:latin typeface="微软雅黑" pitchFamily="34" charset="-122"/>
                    <a:ea typeface="微软雅黑" pitchFamily="34" charset="-122"/>
                  </a:rPr>
                  <a:t>H.323 </a:t>
                </a:r>
                <a:r>
                  <a:rPr kumimoji="1" lang="zh-CN" altLang="en-US" sz="1600" b="1" dirty="0">
                    <a:solidFill>
                      <a:srgbClr val="0000FF"/>
                    </a:solidFill>
                    <a:latin typeface="微软雅黑" pitchFamily="34" charset="-122"/>
                    <a:ea typeface="微软雅黑" pitchFamily="34" charset="-122"/>
                  </a:rPr>
                  <a:t>终端</a:t>
                </a:r>
              </a:p>
            </p:txBody>
          </p:sp>
          <p:grpSp>
            <p:nvGrpSpPr>
              <p:cNvPr id="457" name="组合 456"/>
              <p:cNvGrpSpPr/>
              <p:nvPr/>
            </p:nvGrpSpPr>
            <p:grpSpPr>
              <a:xfrm>
                <a:off x="2682689" y="3378456"/>
                <a:ext cx="684333" cy="521659"/>
                <a:chOff x="4623937" y="1114451"/>
                <a:chExt cx="684333" cy="521659"/>
              </a:xfrm>
            </p:grpSpPr>
            <p:sp>
              <p:nvSpPr>
                <p:cNvPr id="379"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380"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383"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nvGrpSpPr>
              <p:cNvPr id="459" name="组合 458"/>
              <p:cNvGrpSpPr/>
              <p:nvPr/>
            </p:nvGrpSpPr>
            <p:grpSpPr>
              <a:xfrm>
                <a:off x="3390149" y="3383919"/>
                <a:ext cx="684333" cy="521659"/>
                <a:chOff x="4623937" y="1114451"/>
                <a:chExt cx="684333" cy="521659"/>
              </a:xfrm>
            </p:grpSpPr>
            <p:sp>
              <p:nvSpPr>
                <p:cNvPr id="460"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461"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462"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nvGrpSpPr>
              <p:cNvPr id="463" name="组合 462"/>
              <p:cNvGrpSpPr/>
              <p:nvPr/>
            </p:nvGrpSpPr>
            <p:grpSpPr>
              <a:xfrm>
                <a:off x="4035045" y="3157106"/>
                <a:ext cx="684333" cy="521659"/>
                <a:chOff x="4623937" y="1114451"/>
                <a:chExt cx="684333" cy="521659"/>
              </a:xfrm>
            </p:grpSpPr>
            <p:sp>
              <p:nvSpPr>
                <p:cNvPr id="464"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465"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466"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grpSp>
      <p:grpSp>
        <p:nvGrpSpPr>
          <p:cNvPr id="467" name="组合 466"/>
          <p:cNvGrpSpPr/>
          <p:nvPr/>
        </p:nvGrpSpPr>
        <p:grpSpPr>
          <a:xfrm>
            <a:off x="4220252" y="1795357"/>
            <a:ext cx="684333" cy="521659"/>
            <a:chOff x="4623937" y="1114451"/>
            <a:chExt cx="684333" cy="521659"/>
          </a:xfrm>
        </p:grpSpPr>
        <p:sp>
          <p:nvSpPr>
            <p:cNvPr id="468"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469"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470"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nvGrpSpPr>
          <p:cNvPr id="371" name="Group 17"/>
          <p:cNvGrpSpPr>
            <a:grpSpLocks/>
          </p:cNvGrpSpPr>
          <p:nvPr/>
        </p:nvGrpSpPr>
        <p:grpSpPr bwMode="auto">
          <a:xfrm>
            <a:off x="6068329" y="2143500"/>
            <a:ext cx="1757161" cy="1143823"/>
            <a:chOff x="1680" y="240"/>
            <a:chExt cx="2529" cy="1270"/>
          </a:xfrm>
          <a:solidFill>
            <a:schemeClr val="bg1"/>
          </a:solidFill>
          <a:effectLst>
            <a:outerShdw blurRad="50800" dist="38100" dir="2700000" algn="tl" rotWithShape="0">
              <a:prstClr val="black">
                <a:alpha val="40000"/>
              </a:prstClr>
            </a:outerShdw>
          </a:effectLst>
        </p:grpSpPr>
        <p:sp>
          <p:nvSpPr>
            <p:cNvPr id="444"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5"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6"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7"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8"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49"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0"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1"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sp>
          <p:nvSpPr>
            <p:cNvPr id="452"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400" b="1">
                <a:solidFill>
                  <a:srgbClr val="368AD6"/>
                </a:solidFill>
                <a:latin typeface="+mn-lt"/>
                <a:ea typeface="黑体" pitchFamily="2" charset="-122"/>
              </a:endParaRPr>
            </a:p>
          </p:txBody>
        </p:sp>
      </p:grpSp>
      <p:sp>
        <p:nvSpPr>
          <p:cNvPr id="26" name="Text Box 61"/>
          <p:cNvSpPr txBox="1">
            <a:spLocks noChangeArrowheads="1"/>
          </p:cNvSpPr>
          <p:nvPr/>
        </p:nvSpPr>
        <p:spPr bwMode="auto">
          <a:xfrm>
            <a:off x="6300510" y="2548752"/>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微软雅黑" pitchFamily="34" charset="-122"/>
                <a:ea typeface="微软雅黑" pitchFamily="34" charset="-122"/>
              </a:rPr>
              <a:t>公用电话网</a:t>
            </a:r>
          </a:p>
        </p:txBody>
      </p:sp>
      <p:pic>
        <p:nvPicPr>
          <p:cNvPr id="471" name="图片 4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48497" y="3314076"/>
            <a:ext cx="498586" cy="438755"/>
          </a:xfrm>
          <a:prstGeom prst="rect">
            <a:avLst/>
          </a:prstGeom>
        </p:spPr>
      </p:pic>
      <p:pic>
        <p:nvPicPr>
          <p:cNvPr id="472" name="图片 47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5370" y="3461873"/>
            <a:ext cx="498586" cy="438755"/>
          </a:xfrm>
          <a:prstGeom prst="rect">
            <a:avLst/>
          </a:prstGeom>
        </p:spPr>
      </p:pic>
      <p:pic>
        <p:nvPicPr>
          <p:cNvPr id="473" name="图片 47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63636" y="3408861"/>
            <a:ext cx="498586" cy="438755"/>
          </a:xfrm>
          <a:prstGeom prst="rect">
            <a:avLst/>
          </a:prstGeom>
        </p:spPr>
      </p:pic>
      <p:pic>
        <p:nvPicPr>
          <p:cNvPr id="474" name="图片 47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19036" y="3181863"/>
            <a:ext cx="498586" cy="438755"/>
          </a:xfrm>
          <a:prstGeom prst="rect">
            <a:avLst/>
          </a:prstGeom>
        </p:spPr>
      </p:pic>
      <p:grpSp>
        <p:nvGrpSpPr>
          <p:cNvPr id="372" name="Group 107"/>
          <p:cNvGrpSpPr>
            <a:grpSpLocks/>
          </p:cNvGrpSpPr>
          <p:nvPr/>
        </p:nvGrpSpPr>
        <p:grpSpPr bwMode="auto">
          <a:xfrm>
            <a:off x="2784221" y="2172409"/>
            <a:ext cx="1794940" cy="1154106"/>
            <a:chOff x="2248" y="820"/>
            <a:chExt cx="2248" cy="883"/>
          </a:xfrm>
        </p:grpSpPr>
        <p:grpSp>
          <p:nvGrpSpPr>
            <p:cNvPr id="384" name="Group 108"/>
            <p:cNvGrpSpPr>
              <a:grpSpLocks/>
            </p:cNvGrpSpPr>
            <p:nvPr/>
          </p:nvGrpSpPr>
          <p:grpSpPr bwMode="auto">
            <a:xfrm>
              <a:off x="3567" y="902"/>
              <a:ext cx="929" cy="759"/>
              <a:chOff x="3567" y="902"/>
              <a:chExt cx="929" cy="759"/>
            </a:xfrm>
          </p:grpSpPr>
          <p:grpSp>
            <p:nvGrpSpPr>
              <p:cNvPr id="414" name="Group 109"/>
              <p:cNvGrpSpPr>
                <a:grpSpLocks/>
              </p:cNvGrpSpPr>
              <p:nvPr/>
            </p:nvGrpSpPr>
            <p:grpSpPr bwMode="auto">
              <a:xfrm>
                <a:off x="3926" y="902"/>
                <a:ext cx="570" cy="611"/>
                <a:chOff x="3926" y="902"/>
                <a:chExt cx="570" cy="611"/>
              </a:xfrm>
            </p:grpSpPr>
            <p:grpSp>
              <p:nvGrpSpPr>
                <p:cNvPr id="419" name="Group 110"/>
                <p:cNvGrpSpPr>
                  <a:grpSpLocks/>
                </p:cNvGrpSpPr>
                <p:nvPr/>
              </p:nvGrpSpPr>
              <p:grpSpPr bwMode="auto">
                <a:xfrm>
                  <a:off x="4071" y="982"/>
                  <a:ext cx="425" cy="448"/>
                  <a:chOff x="4071" y="982"/>
                  <a:chExt cx="425" cy="448"/>
                </a:xfrm>
              </p:grpSpPr>
              <p:grpSp>
                <p:nvGrpSpPr>
                  <p:cNvPr id="429" name="Group 111"/>
                  <p:cNvGrpSpPr>
                    <a:grpSpLocks/>
                  </p:cNvGrpSpPr>
                  <p:nvPr/>
                </p:nvGrpSpPr>
                <p:grpSpPr bwMode="auto">
                  <a:xfrm>
                    <a:off x="4071" y="982"/>
                    <a:ext cx="425" cy="448"/>
                    <a:chOff x="4071" y="982"/>
                    <a:chExt cx="425" cy="448"/>
                  </a:xfrm>
                </p:grpSpPr>
                <p:grpSp>
                  <p:nvGrpSpPr>
                    <p:cNvPr id="431" name="Group 112"/>
                    <p:cNvGrpSpPr>
                      <a:grpSpLocks/>
                    </p:cNvGrpSpPr>
                    <p:nvPr/>
                  </p:nvGrpSpPr>
                  <p:grpSpPr bwMode="auto">
                    <a:xfrm>
                      <a:off x="4182" y="1010"/>
                      <a:ext cx="314" cy="366"/>
                      <a:chOff x="4182" y="1010"/>
                      <a:chExt cx="314" cy="366"/>
                    </a:xfrm>
                  </p:grpSpPr>
                  <p:grpSp>
                    <p:nvGrpSpPr>
                      <p:cNvPr id="435" name="Group 113"/>
                      <p:cNvGrpSpPr>
                        <a:grpSpLocks/>
                      </p:cNvGrpSpPr>
                      <p:nvPr/>
                    </p:nvGrpSpPr>
                    <p:grpSpPr bwMode="auto">
                      <a:xfrm>
                        <a:off x="4220" y="1010"/>
                        <a:ext cx="276" cy="366"/>
                        <a:chOff x="4220" y="1010"/>
                        <a:chExt cx="276" cy="366"/>
                      </a:xfrm>
                    </p:grpSpPr>
                    <p:sp>
                      <p:nvSpPr>
                        <p:cNvPr id="439" name="Oval 114"/>
                        <p:cNvSpPr>
                          <a:spLocks noChangeArrowheads="1"/>
                        </p:cNvSpPr>
                        <p:nvPr/>
                      </p:nvSpPr>
                      <p:spPr bwMode="auto">
                        <a:xfrm>
                          <a:off x="4365" y="1228"/>
                          <a:ext cx="131" cy="9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0" name="Oval 115"/>
                        <p:cNvSpPr>
                          <a:spLocks noChangeArrowheads="1"/>
                        </p:cNvSpPr>
                        <p:nvPr/>
                      </p:nvSpPr>
                      <p:spPr bwMode="auto">
                        <a:xfrm>
                          <a:off x="4254" y="125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1" name="Oval 116"/>
                        <p:cNvSpPr>
                          <a:spLocks noChangeArrowheads="1"/>
                        </p:cNvSpPr>
                        <p:nvPr/>
                      </p:nvSpPr>
                      <p:spPr bwMode="auto">
                        <a:xfrm>
                          <a:off x="4329" y="1091"/>
                          <a:ext cx="131"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2" name="Oval 117"/>
                        <p:cNvSpPr>
                          <a:spLocks noChangeArrowheads="1"/>
                        </p:cNvSpPr>
                        <p:nvPr/>
                      </p:nvSpPr>
                      <p:spPr bwMode="auto">
                        <a:xfrm>
                          <a:off x="4220" y="1010"/>
                          <a:ext cx="166"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43" name="Freeform 118"/>
                        <p:cNvSpPr>
                          <a:spLocks/>
                        </p:cNvSpPr>
                        <p:nvPr/>
                      </p:nvSpPr>
                      <p:spPr bwMode="auto">
                        <a:xfrm>
                          <a:off x="4332" y="1092"/>
                          <a:ext cx="113" cy="208"/>
                        </a:xfrm>
                        <a:custGeom>
                          <a:avLst/>
                          <a:gdLst>
                            <a:gd name="T0" fmla="*/ 112 w 113"/>
                            <a:gd name="T1" fmla="*/ 205 h 208"/>
                            <a:gd name="T2" fmla="*/ 63 w 113"/>
                            <a:gd name="T3" fmla="*/ 207 h 208"/>
                            <a:gd name="T4" fmla="*/ 0 w 113"/>
                            <a:gd name="T5" fmla="*/ 0 h 208"/>
                            <a:gd name="T6" fmla="*/ 70 w 113"/>
                            <a:gd name="T7" fmla="*/ 15 h 208"/>
                            <a:gd name="T8" fmla="*/ 71 w 113"/>
                            <a:gd name="T9" fmla="*/ 117 h 208"/>
                            <a:gd name="T10" fmla="*/ 112 w 113"/>
                            <a:gd name="T11" fmla="*/ 205 h 208"/>
                          </a:gdLst>
                          <a:ahLst/>
                          <a:cxnLst>
                            <a:cxn ang="0">
                              <a:pos x="T0" y="T1"/>
                            </a:cxn>
                            <a:cxn ang="0">
                              <a:pos x="T2" y="T3"/>
                            </a:cxn>
                            <a:cxn ang="0">
                              <a:pos x="T4" y="T5"/>
                            </a:cxn>
                            <a:cxn ang="0">
                              <a:pos x="T6" y="T7"/>
                            </a:cxn>
                            <a:cxn ang="0">
                              <a:pos x="T8" y="T9"/>
                            </a:cxn>
                            <a:cxn ang="0">
                              <a:pos x="T10" y="T11"/>
                            </a:cxn>
                          </a:cxnLst>
                          <a:rect l="0" t="0" r="r" b="b"/>
                          <a:pathLst>
                            <a:path w="113" h="208">
                              <a:moveTo>
                                <a:pt x="112" y="205"/>
                              </a:moveTo>
                              <a:lnTo>
                                <a:pt x="63" y="207"/>
                              </a:lnTo>
                              <a:lnTo>
                                <a:pt x="0" y="0"/>
                              </a:lnTo>
                              <a:lnTo>
                                <a:pt x="70" y="15"/>
                              </a:lnTo>
                              <a:lnTo>
                                <a:pt x="71" y="117"/>
                              </a:lnTo>
                              <a:lnTo>
                                <a:pt x="112" y="205"/>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36" name="Oval 119"/>
                      <p:cNvSpPr>
                        <a:spLocks noChangeArrowheads="1"/>
                      </p:cNvSpPr>
                      <p:nvPr/>
                    </p:nvSpPr>
                    <p:spPr bwMode="auto">
                      <a:xfrm>
                        <a:off x="4182" y="1119"/>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7" name="Oval 120"/>
                      <p:cNvSpPr>
                        <a:spLocks noChangeArrowheads="1"/>
                      </p:cNvSpPr>
                      <p:nvPr/>
                    </p:nvSpPr>
                    <p:spPr bwMode="auto">
                      <a:xfrm>
                        <a:off x="4182" y="1228"/>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8" name="Freeform 121"/>
                      <p:cNvSpPr>
                        <a:spLocks/>
                      </p:cNvSpPr>
                      <p:nvPr/>
                    </p:nvSpPr>
                    <p:spPr bwMode="auto">
                      <a:xfrm>
                        <a:off x="4235" y="1068"/>
                        <a:ext cx="121" cy="224"/>
                      </a:xfrm>
                      <a:custGeom>
                        <a:avLst/>
                        <a:gdLst>
                          <a:gd name="T0" fmla="*/ 110 w 121"/>
                          <a:gd name="T1" fmla="*/ 38 h 224"/>
                          <a:gd name="T2" fmla="*/ 97 w 121"/>
                          <a:gd name="T3" fmla="*/ 85 h 224"/>
                          <a:gd name="T4" fmla="*/ 120 w 121"/>
                          <a:gd name="T5" fmla="*/ 192 h 224"/>
                          <a:gd name="T6" fmla="*/ 72 w 121"/>
                          <a:gd name="T7" fmla="*/ 223 h 224"/>
                          <a:gd name="T8" fmla="*/ 0 w 121"/>
                          <a:gd name="T9" fmla="*/ 95 h 224"/>
                          <a:gd name="T10" fmla="*/ 57 w 121"/>
                          <a:gd name="T11" fmla="*/ 0 h 224"/>
                          <a:gd name="T12" fmla="*/ 110 w 121"/>
                          <a:gd name="T13" fmla="*/ 38 h 224"/>
                        </a:gdLst>
                        <a:ahLst/>
                        <a:cxnLst>
                          <a:cxn ang="0">
                            <a:pos x="T0" y="T1"/>
                          </a:cxn>
                          <a:cxn ang="0">
                            <a:pos x="T2" y="T3"/>
                          </a:cxn>
                          <a:cxn ang="0">
                            <a:pos x="T4" y="T5"/>
                          </a:cxn>
                          <a:cxn ang="0">
                            <a:pos x="T6" y="T7"/>
                          </a:cxn>
                          <a:cxn ang="0">
                            <a:pos x="T8" y="T9"/>
                          </a:cxn>
                          <a:cxn ang="0">
                            <a:pos x="T10" y="T11"/>
                          </a:cxn>
                          <a:cxn ang="0">
                            <a:pos x="T12" y="T13"/>
                          </a:cxn>
                        </a:cxnLst>
                        <a:rect l="0" t="0" r="r" b="b"/>
                        <a:pathLst>
                          <a:path w="121" h="224">
                            <a:moveTo>
                              <a:pt x="110" y="38"/>
                            </a:moveTo>
                            <a:lnTo>
                              <a:pt x="97" y="85"/>
                            </a:lnTo>
                            <a:lnTo>
                              <a:pt x="120" y="192"/>
                            </a:lnTo>
                            <a:lnTo>
                              <a:pt x="72" y="223"/>
                            </a:lnTo>
                            <a:lnTo>
                              <a:pt x="0" y="95"/>
                            </a:lnTo>
                            <a:lnTo>
                              <a:pt x="57" y="0"/>
                            </a:lnTo>
                            <a:lnTo>
                              <a:pt x="110" y="3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32" name="Oval 122"/>
                    <p:cNvSpPr>
                      <a:spLocks noChangeArrowheads="1"/>
                    </p:cNvSpPr>
                    <p:nvPr/>
                  </p:nvSpPr>
                  <p:spPr bwMode="auto">
                    <a:xfrm>
                      <a:off x="4182" y="1336"/>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3" name="Oval 123"/>
                    <p:cNvSpPr>
                      <a:spLocks noChangeArrowheads="1"/>
                    </p:cNvSpPr>
                    <p:nvPr/>
                  </p:nvSpPr>
                  <p:spPr bwMode="auto">
                    <a:xfrm>
                      <a:off x="4071" y="982"/>
                      <a:ext cx="168" cy="12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4" name="Freeform 124"/>
                    <p:cNvSpPr>
                      <a:spLocks/>
                    </p:cNvSpPr>
                    <p:nvPr/>
                  </p:nvSpPr>
                  <p:spPr bwMode="auto">
                    <a:xfrm>
                      <a:off x="4224" y="1313"/>
                      <a:ext cx="85" cy="39"/>
                    </a:xfrm>
                    <a:custGeom>
                      <a:avLst/>
                      <a:gdLst>
                        <a:gd name="T0" fmla="*/ 84 w 85"/>
                        <a:gd name="T1" fmla="*/ 24 h 39"/>
                        <a:gd name="T2" fmla="*/ 58 w 85"/>
                        <a:gd name="T3" fmla="*/ 38 h 39"/>
                        <a:gd name="T4" fmla="*/ 0 w 85"/>
                        <a:gd name="T5" fmla="*/ 18 h 39"/>
                        <a:gd name="T6" fmla="*/ 58 w 85"/>
                        <a:gd name="T7" fmla="*/ 0 h 39"/>
                        <a:gd name="T8" fmla="*/ 84 w 85"/>
                        <a:gd name="T9" fmla="*/ 24 h 39"/>
                      </a:gdLst>
                      <a:ahLst/>
                      <a:cxnLst>
                        <a:cxn ang="0">
                          <a:pos x="T0" y="T1"/>
                        </a:cxn>
                        <a:cxn ang="0">
                          <a:pos x="T2" y="T3"/>
                        </a:cxn>
                        <a:cxn ang="0">
                          <a:pos x="T4" y="T5"/>
                        </a:cxn>
                        <a:cxn ang="0">
                          <a:pos x="T6" y="T7"/>
                        </a:cxn>
                        <a:cxn ang="0">
                          <a:pos x="T8" y="T9"/>
                        </a:cxn>
                      </a:cxnLst>
                      <a:rect l="0" t="0" r="r" b="b"/>
                      <a:pathLst>
                        <a:path w="85" h="39">
                          <a:moveTo>
                            <a:pt x="84" y="24"/>
                          </a:moveTo>
                          <a:lnTo>
                            <a:pt x="58" y="38"/>
                          </a:lnTo>
                          <a:lnTo>
                            <a:pt x="0" y="18"/>
                          </a:lnTo>
                          <a:lnTo>
                            <a:pt x="58" y="0"/>
                          </a:lnTo>
                          <a:lnTo>
                            <a:pt x="84" y="2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30" name="Freeform 125"/>
                  <p:cNvSpPr>
                    <a:spLocks/>
                  </p:cNvSpPr>
                  <p:nvPr/>
                </p:nvSpPr>
                <p:spPr bwMode="auto">
                  <a:xfrm>
                    <a:off x="4209" y="1042"/>
                    <a:ext cx="47" cy="68"/>
                  </a:xfrm>
                  <a:custGeom>
                    <a:avLst/>
                    <a:gdLst>
                      <a:gd name="T0" fmla="*/ 23 w 47"/>
                      <a:gd name="T1" fmla="*/ 0 h 68"/>
                      <a:gd name="T2" fmla="*/ 46 w 47"/>
                      <a:gd name="T3" fmla="*/ 1 h 68"/>
                      <a:gd name="T4" fmla="*/ 38 w 47"/>
                      <a:gd name="T5" fmla="*/ 67 h 68"/>
                      <a:gd name="T6" fmla="*/ 0 w 47"/>
                      <a:gd name="T7" fmla="*/ 54 h 68"/>
                      <a:gd name="T8" fmla="*/ 23 w 47"/>
                      <a:gd name="T9" fmla="*/ 0 h 68"/>
                    </a:gdLst>
                    <a:ahLst/>
                    <a:cxnLst>
                      <a:cxn ang="0">
                        <a:pos x="T0" y="T1"/>
                      </a:cxn>
                      <a:cxn ang="0">
                        <a:pos x="T2" y="T3"/>
                      </a:cxn>
                      <a:cxn ang="0">
                        <a:pos x="T4" y="T5"/>
                      </a:cxn>
                      <a:cxn ang="0">
                        <a:pos x="T6" y="T7"/>
                      </a:cxn>
                      <a:cxn ang="0">
                        <a:pos x="T8" y="T9"/>
                      </a:cxn>
                    </a:cxnLst>
                    <a:rect l="0" t="0" r="r" b="b"/>
                    <a:pathLst>
                      <a:path w="47" h="68">
                        <a:moveTo>
                          <a:pt x="23" y="0"/>
                        </a:moveTo>
                        <a:lnTo>
                          <a:pt x="46" y="1"/>
                        </a:lnTo>
                        <a:lnTo>
                          <a:pt x="38" y="67"/>
                        </a:lnTo>
                        <a:lnTo>
                          <a:pt x="0" y="54"/>
                        </a:lnTo>
                        <a:lnTo>
                          <a:pt x="23"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420" name="Group 126"/>
                <p:cNvGrpSpPr>
                  <a:grpSpLocks/>
                </p:cNvGrpSpPr>
                <p:nvPr/>
              </p:nvGrpSpPr>
              <p:grpSpPr bwMode="auto">
                <a:xfrm>
                  <a:off x="3926" y="902"/>
                  <a:ext cx="385" cy="556"/>
                  <a:chOff x="3926" y="902"/>
                  <a:chExt cx="385" cy="556"/>
                </a:xfrm>
              </p:grpSpPr>
              <p:sp>
                <p:nvSpPr>
                  <p:cNvPr id="423" name="Oval 127"/>
                  <p:cNvSpPr>
                    <a:spLocks noChangeArrowheads="1"/>
                  </p:cNvSpPr>
                  <p:nvPr/>
                </p:nvSpPr>
                <p:spPr bwMode="auto">
                  <a:xfrm>
                    <a:off x="3961" y="1228"/>
                    <a:ext cx="314"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4" name="Oval 128"/>
                  <p:cNvSpPr>
                    <a:spLocks noChangeArrowheads="1"/>
                  </p:cNvSpPr>
                  <p:nvPr/>
                </p:nvSpPr>
                <p:spPr bwMode="auto">
                  <a:xfrm>
                    <a:off x="3997" y="1065"/>
                    <a:ext cx="314" cy="23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5" name="Oval 129"/>
                  <p:cNvSpPr>
                    <a:spLocks noChangeArrowheads="1"/>
                  </p:cNvSpPr>
                  <p:nvPr/>
                </p:nvSpPr>
                <p:spPr bwMode="auto">
                  <a:xfrm>
                    <a:off x="3926" y="902"/>
                    <a:ext cx="241"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6" name="Oval 130"/>
                  <p:cNvSpPr>
                    <a:spLocks noChangeArrowheads="1"/>
                  </p:cNvSpPr>
                  <p:nvPr/>
                </p:nvSpPr>
                <p:spPr bwMode="auto">
                  <a:xfrm>
                    <a:off x="4071" y="1010"/>
                    <a:ext cx="131"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7" name="Freeform 131"/>
                  <p:cNvSpPr>
                    <a:spLocks/>
                  </p:cNvSpPr>
                  <p:nvPr/>
                </p:nvSpPr>
                <p:spPr bwMode="auto">
                  <a:xfrm>
                    <a:off x="4000" y="990"/>
                    <a:ext cx="208" cy="202"/>
                  </a:xfrm>
                  <a:custGeom>
                    <a:avLst/>
                    <a:gdLst>
                      <a:gd name="T0" fmla="*/ 146 w 208"/>
                      <a:gd name="T1" fmla="*/ 8 h 202"/>
                      <a:gd name="T2" fmla="*/ 145 w 208"/>
                      <a:gd name="T3" fmla="*/ 32 h 202"/>
                      <a:gd name="T4" fmla="*/ 194 w 208"/>
                      <a:gd name="T5" fmla="*/ 77 h 202"/>
                      <a:gd name="T6" fmla="*/ 207 w 208"/>
                      <a:gd name="T7" fmla="*/ 82 h 202"/>
                      <a:gd name="T8" fmla="*/ 133 w 208"/>
                      <a:gd name="T9" fmla="*/ 201 h 202"/>
                      <a:gd name="T10" fmla="*/ 0 w 208"/>
                      <a:gd name="T11" fmla="*/ 0 h 202"/>
                      <a:gd name="T12" fmla="*/ 146 w 208"/>
                      <a:gd name="T13" fmla="*/ 8 h 202"/>
                    </a:gdLst>
                    <a:ahLst/>
                    <a:cxnLst>
                      <a:cxn ang="0">
                        <a:pos x="T0" y="T1"/>
                      </a:cxn>
                      <a:cxn ang="0">
                        <a:pos x="T2" y="T3"/>
                      </a:cxn>
                      <a:cxn ang="0">
                        <a:pos x="T4" y="T5"/>
                      </a:cxn>
                      <a:cxn ang="0">
                        <a:pos x="T6" y="T7"/>
                      </a:cxn>
                      <a:cxn ang="0">
                        <a:pos x="T8" y="T9"/>
                      </a:cxn>
                      <a:cxn ang="0">
                        <a:pos x="T10" y="T11"/>
                      </a:cxn>
                      <a:cxn ang="0">
                        <a:pos x="T12" y="T13"/>
                      </a:cxn>
                    </a:cxnLst>
                    <a:rect l="0" t="0" r="r" b="b"/>
                    <a:pathLst>
                      <a:path w="208" h="202">
                        <a:moveTo>
                          <a:pt x="146" y="8"/>
                        </a:moveTo>
                        <a:lnTo>
                          <a:pt x="145" y="32"/>
                        </a:lnTo>
                        <a:lnTo>
                          <a:pt x="194" y="77"/>
                        </a:lnTo>
                        <a:lnTo>
                          <a:pt x="207" y="82"/>
                        </a:lnTo>
                        <a:lnTo>
                          <a:pt x="133" y="201"/>
                        </a:lnTo>
                        <a:lnTo>
                          <a:pt x="0" y="0"/>
                        </a:lnTo>
                        <a:lnTo>
                          <a:pt x="146"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428" name="Freeform 132"/>
                  <p:cNvSpPr>
                    <a:spLocks/>
                  </p:cNvSpPr>
                  <p:nvPr/>
                </p:nvSpPr>
                <p:spPr bwMode="auto">
                  <a:xfrm>
                    <a:off x="4103" y="1271"/>
                    <a:ext cx="133" cy="54"/>
                  </a:xfrm>
                  <a:custGeom>
                    <a:avLst/>
                    <a:gdLst>
                      <a:gd name="T0" fmla="*/ 117 w 133"/>
                      <a:gd name="T1" fmla="*/ 8 h 54"/>
                      <a:gd name="T2" fmla="*/ 132 w 133"/>
                      <a:gd name="T3" fmla="*/ 25 h 54"/>
                      <a:gd name="T4" fmla="*/ 0 w 133"/>
                      <a:gd name="T5" fmla="*/ 53 h 54"/>
                      <a:gd name="T6" fmla="*/ 4 w 133"/>
                      <a:gd name="T7" fmla="*/ 0 h 54"/>
                      <a:gd name="T8" fmla="*/ 117 w 133"/>
                      <a:gd name="T9" fmla="*/ 8 h 54"/>
                    </a:gdLst>
                    <a:ahLst/>
                    <a:cxnLst>
                      <a:cxn ang="0">
                        <a:pos x="T0" y="T1"/>
                      </a:cxn>
                      <a:cxn ang="0">
                        <a:pos x="T2" y="T3"/>
                      </a:cxn>
                      <a:cxn ang="0">
                        <a:pos x="T4" y="T5"/>
                      </a:cxn>
                      <a:cxn ang="0">
                        <a:pos x="T6" y="T7"/>
                      </a:cxn>
                      <a:cxn ang="0">
                        <a:pos x="T8" y="T9"/>
                      </a:cxn>
                    </a:cxnLst>
                    <a:rect l="0" t="0" r="r" b="b"/>
                    <a:pathLst>
                      <a:path w="133" h="54">
                        <a:moveTo>
                          <a:pt x="117" y="8"/>
                        </a:moveTo>
                        <a:lnTo>
                          <a:pt x="132" y="25"/>
                        </a:lnTo>
                        <a:lnTo>
                          <a:pt x="0" y="53"/>
                        </a:lnTo>
                        <a:lnTo>
                          <a:pt x="4" y="0"/>
                        </a:lnTo>
                        <a:lnTo>
                          <a:pt x="117" y="8"/>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21" name="Oval 133"/>
                <p:cNvSpPr>
                  <a:spLocks noChangeArrowheads="1"/>
                </p:cNvSpPr>
                <p:nvPr/>
              </p:nvSpPr>
              <p:spPr bwMode="auto">
                <a:xfrm>
                  <a:off x="3926" y="13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2" name="Freeform 134"/>
                <p:cNvSpPr>
                  <a:spLocks/>
                </p:cNvSpPr>
                <p:nvPr/>
              </p:nvSpPr>
              <p:spPr bwMode="auto">
                <a:xfrm>
                  <a:off x="4041" y="1378"/>
                  <a:ext cx="87" cy="65"/>
                </a:xfrm>
                <a:custGeom>
                  <a:avLst/>
                  <a:gdLst>
                    <a:gd name="T0" fmla="*/ 34 w 87"/>
                    <a:gd name="T1" fmla="*/ 64 h 65"/>
                    <a:gd name="T2" fmla="*/ 86 w 87"/>
                    <a:gd name="T3" fmla="*/ 41 h 65"/>
                    <a:gd name="T4" fmla="*/ 27 w 87"/>
                    <a:gd name="T5" fmla="*/ 0 h 65"/>
                    <a:gd name="T6" fmla="*/ 0 w 87"/>
                    <a:gd name="T7" fmla="*/ 23 h 65"/>
                    <a:gd name="T8" fmla="*/ 34 w 87"/>
                    <a:gd name="T9" fmla="*/ 64 h 65"/>
                  </a:gdLst>
                  <a:ahLst/>
                  <a:cxnLst>
                    <a:cxn ang="0">
                      <a:pos x="T0" y="T1"/>
                    </a:cxn>
                    <a:cxn ang="0">
                      <a:pos x="T2" y="T3"/>
                    </a:cxn>
                    <a:cxn ang="0">
                      <a:pos x="T4" y="T5"/>
                    </a:cxn>
                    <a:cxn ang="0">
                      <a:pos x="T6" y="T7"/>
                    </a:cxn>
                    <a:cxn ang="0">
                      <a:pos x="T8" y="T9"/>
                    </a:cxn>
                  </a:cxnLst>
                  <a:rect l="0" t="0" r="r" b="b"/>
                  <a:pathLst>
                    <a:path w="87" h="65">
                      <a:moveTo>
                        <a:pt x="34" y="64"/>
                      </a:moveTo>
                      <a:lnTo>
                        <a:pt x="86" y="41"/>
                      </a:lnTo>
                      <a:lnTo>
                        <a:pt x="27" y="0"/>
                      </a:lnTo>
                      <a:lnTo>
                        <a:pt x="0" y="23"/>
                      </a:lnTo>
                      <a:lnTo>
                        <a:pt x="34" y="64"/>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15" name="Oval 135"/>
              <p:cNvSpPr>
                <a:spLocks noChangeArrowheads="1"/>
              </p:cNvSpPr>
              <p:nvPr/>
            </p:nvSpPr>
            <p:spPr bwMode="auto">
              <a:xfrm>
                <a:off x="3567" y="1513"/>
                <a:ext cx="204" cy="14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6" name="Oval 136"/>
              <p:cNvSpPr>
                <a:spLocks noChangeArrowheads="1"/>
              </p:cNvSpPr>
              <p:nvPr/>
            </p:nvSpPr>
            <p:spPr bwMode="auto">
              <a:xfrm>
                <a:off x="3742" y="1513"/>
                <a:ext cx="168"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7" name="Oval 137"/>
              <p:cNvSpPr>
                <a:spLocks noChangeArrowheads="1"/>
              </p:cNvSpPr>
              <p:nvPr/>
            </p:nvSpPr>
            <p:spPr bwMode="auto">
              <a:xfrm>
                <a:off x="3843" y="1469"/>
                <a:ext cx="166" cy="123"/>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8" name="Freeform 138"/>
              <p:cNvSpPr>
                <a:spLocks/>
              </p:cNvSpPr>
              <p:nvPr/>
            </p:nvSpPr>
            <p:spPr bwMode="auto">
              <a:xfrm>
                <a:off x="3696" y="1448"/>
                <a:ext cx="345" cy="171"/>
              </a:xfrm>
              <a:custGeom>
                <a:avLst/>
                <a:gdLst>
                  <a:gd name="T0" fmla="*/ 321 w 345"/>
                  <a:gd name="T1" fmla="*/ 49 h 171"/>
                  <a:gd name="T2" fmla="*/ 288 w 345"/>
                  <a:gd name="T3" fmla="*/ 60 h 171"/>
                  <a:gd name="T4" fmla="*/ 195 w 345"/>
                  <a:gd name="T5" fmla="*/ 129 h 171"/>
                  <a:gd name="T6" fmla="*/ 174 w 345"/>
                  <a:gd name="T7" fmla="*/ 158 h 171"/>
                  <a:gd name="T8" fmla="*/ 73 w 345"/>
                  <a:gd name="T9" fmla="*/ 158 h 171"/>
                  <a:gd name="T10" fmla="*/ 52 w 345"/>
                  <a:gd name="T11" fmla="*/ 170 h 171"/>
                  <a:gd name="T12" fmla="*/ 0 w 345"/>
                  <a:gd name="T13" fmla="*/ 119 h 171"/>
                  <a:gd name="T14" fmla="*/ 233 w 345"/>
                  <a:gd name="T15" fmla="*/ 0 h 171"/>
                  <a:gd name="T16" fmla="*/ 344 w 345"/>
                  <a:gd name="T17" fmla="*/ 27 h 171"/>
                  <a:gd name="T18" fmla="*/ 321 w 345"/>
                  <a:gd name="T19" fmla="*/ 49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5" h="171">
                    <a:moveTo>
                      <a:pt x="321" y="49"/>
                    </a:moveTo>
                    <a:lnTo>
                      <a:pt x="288" y="60"/>
                    </a:lnTo>
                    <a:lnTo>
                      <a:pt x="195" y="129"/>
                    </a:lnTo>
                    <a:lnTo>
                      <a:pt x="174" y="158"/>
                    </a:lnTo>
                    <a:lnTo>
                      <a:pt x="73" y="158"/>
                    </a:lnTo>
                    <a:lnTo>
                      <a:pt x="52" y="170"/>
                    </a:lnTo>
                    <a:lnTo>
                      <a:pt x="0" y="119"/>
                    </a:lnTo>
                    <a:lnTo>
                      <a:pt x="233" y="0"/>
                    </a:lnTo>
                    <a:lnTo>
                      <a:pt x="344" y="27"/>
                    </a:lnTo>
                    <a:lnTo>
                      <a:pt x="321" y="4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385" name="Group 139"/>
            <p:cNvGrpSpPr>
              <a:grpSpLocks/>
            </p:cNvGrpSpPr>
            <p:nvPr/>
          </p:nvGrpSpPr>
          <p:grpSpPr bwMode="auto">
            <a:xfrm>
              <a:off x="2248" y="907"/>
              <a:ext cx="556" cy="525"/>
              <a:chOff x="2248" y="907"/>
              <a:chExt cx="556" cy="525"/>
            </a:xfrm>
          </p:grpSpPr>
          <p:grpSp>
            <p:nvGrpSpPr>
              <p:cNvPr id="399" name="Group 140"/>
              <p:cNvGrpSpPr>
                <a:grpSpLocks/>
              </p:cNvGrpSpPr>
              <p:nvPr/>
            </p:nvGrpSpPr>
            <p:grpSpPr bwMode="auto">
              <a:xfrm>
                <a:off x="2248" y="982"/>
                <a:ext cx="299" cy="314"/>
                <a:chOff x="2248" y="982"/>
                <a:chExt cx="299" cy="314"/>
              </a:xfrm>
            </p:grpSpPr>
            <p:sp>
              <p:nvSpPr>
                <p:cNvPr id="410" name="Oval 141"/>
                <p:cNvSpPr>
                  <a:spLocks noChangeArrowheads="1"/>
                </p:cNvSpPr>
                <p:nvPr/>
              </p:nvSpPr>
              <p:spPr bwMode="auto">
                <a:xfrm>
                  <a:off x="2248" y="1091"/>
                  <a:ext cx="129" cy="9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1" name="Oval 142"/>
                <p:cNvSpPr>
                  <a:spLocks noChangeArrowheads="1"/>
                </p:cNvSpPr>
                <p:nvPr/>
              </p:nvSpPr>
              <p:spPr bwMode="auto">
                <a:xfrm>
                  <a:off x="2270" y="1174"/>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2" name="Oval 143"/>
                <p:cNvSpPr>
                  <a:spLocks noChangeArrowheads="1"/>
                </p:cNvSpPr>
                <p:nvPr/>
              </p:nvSpPr>
              <p:spPr bwMode="auto">
                <a:xfrm>
                  <a:off x="2307" y="982"/>
                  <a:ext cx="240" cy="17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3" name="Freeform 144"/>
                <p:cNvSpPr>
                  <a:spLocks/>
                </p:cNvSpPr>
                <p:nvPr/>
              </p:nvSpPr>
              <p:spPr bwMode="auto">
                <a:xfrm>
                  <a:off x="2291" y="1104"/>
                  <a:ext cx="84" cy="95"/>
                </a:xfrm>
                <a:custGeom>
                  <a:avLst/>
                  <a:gdLst>
                    <a:gd name="T0" fmla="*/ 47 w 84"/>
                    <a:gd name="T1" fmla="*/ 0 h 95"/>
                    <a:gd name="T2" fmla="*/ 0 w 84"/>
                    <a:gd name="T3" fmla="*/ 18 h 95"/>
                    <a:gd name="T4" fmla="*/ 1 w 84"/>
                    <a:gd name="T5" fmla="*/ 76 h 95"/>
                    <a:gd name="T6" fmla="*/ 16 w 84"/>
                    <a:gd name="T7" fmla="*/ 94 h 95"/>
                    <a:gd name="T8" fmla="*/ 83 w 84"/>
                    <a:gd name="T9" fmla="*/ 76 h 95"/>
                    <a:gd name="T10" fmla="*/ 47 w 84"/>
                    <a:gd name="T11" fmla="*/ 0 h 95"/>
                  </a:gdLst>
                  <a:ahLst/>
                  <a:cxnLst>
                    <a:cxn ang="0">
                      <a:pos x="T0" y="T1"/>
                    </a:cxn>
                    <a:cxn ang="0">
                      <a:pos x="T2" y="T3"/>
                    </a:cxn>
                    <a:cxn ang="0">
                      <a:pos x="T4" y="T5"/>
                    </a:cxn>
                    <a:cxn ang="0">
                      <a:pos x="T6" y="T7"/>
                    </a:cxn>
                    <a:cxn ang="0">
                      <a:pos x="T8" y="T9"/>
                    </a:cxn>
                    <a:cxn ang="0">
                      <a:pos x="T10" y="T11"/>
                    </a:cxn>
                  </a:cxnLst>
                  <a:rect l="0" t="0" r="r" b="b"/>
                  <a:pathLst>
                    <a:path w="84" h="95">
                      <a:moveTo>
                        <a:pt x="47" y="0"/>
                      </a:moveTo>
                      <a:lnTo>
                        <a:pt x="0" y="18"/>
                      </a:lnTo>
                      <a:lnTo>
                        <a:pt x="1" y="76"/>
                      </a:lnTo>
                      <a:lnTo>
                        <a:pt x="16" y="94"/>
                      </a:lnTo>
                      <a:lnTo>
                        <a:pt x="83" y="76"/>
                      </a:lnTo>
                      <a:lnTo>
                        <a:pt x="47"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400" name="Group 145"/>
              <p:cNvGrpSpPr>
                <a:grpSpLocks/>
              </p:cNvGrpSpPr>
              <p:nvPr/>
            </p:nvGrpSpPr>
            <p:grpSpPr bwMode="auto">
              <a:xfrm>
                <a:off x="2344" y="907"/>
                <a:ext cx="460" cy="525"/>
                <a:chOff x="2344" y="907"/>
                <a:chExt cx="460" cy="525"/>
              </a:xfrm>
            </p:grpSpPr>
            <p:sp>
              <p:nvSpPr>
                <p:cNvPr id="402" name="Oval 146"/>
                <p:cNvSpPr>
                  <a:spLocks noChangeArrowheads="1"/>
                </p:cNvSpPr>
                <p:nvPr/>
              </p:nvSpPr>
              <p:spPr bwMode="auto">
                <a:xfrm>
                  <a:off x="2491" y="929"/>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3" name="Oval 147"/>
                <p:cNvSpPr>
                  <a:spLocks noChangeArrowheads="1"/>
                </p:cNvSpPr>
                <p:nvPr/>
              </p:nvSpPr>
              <p:spPr bwMode="auto">
                <a:xfrm>
                  <a:off x="2344" y="1091"/>
                  <a:ext cx="167" cy="12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4" name="Oval 148"/>
                <p:cNvSpPr>
                  <a:spLocks noChangeArrowheads="1"/>
                </p:cNvSpPr>
                <p:nvPr/>
              </p:nvSpPr>
              <p:spPr bwMode="auto">
                <a:xfrm>
                  <a:off x="2380" y="1174"/>
                  <a:ext cx="242" cy="17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5" name="Oval 149"/>
                <p:cNvSpPr>
                  <a:spLocks noChangeArrowheads="1"/>
                </p:cNvSpPr>
                <p:nvPr/>
              </p:nvSpPr>
              <p:spPr bwMode="auto">
                <a:xfrm>
                  <a:off x="2454" y="1254"/>
                  <a:ext cx="240" cy="17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6" name="Oval 150"/>
                <p:cNvSpPr>
                  <a:spLocks noChangeArrowheads="1"/>
                </p:cNvSpPr>
                <p:nvPr/>
              </p:nvSpPr>
              <p:spPr bwMode="auto">
                <a:xfrm>
                  <a:off x="2471" y="1042"/>
                  <a:ext cx="214" cy="151"/>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7" name="Oval 151"/>
                <p:cNvSpPr>
                  <a:spLocks noChangeArrowheads="1"/>
                </p:cNvSpPr>
                <p:nvPr/>
              </p:nvSpPr>
              <p:spPr bwMode="auto">
                <a:xfrm>
                  <a:off x="2656" y="907"/>
                  <a:ext cx="129" cy="9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8" name="Freeform 152"/>
                <p:cNvSpPr>
                  <a:spLocks/>
                </p:cNvSpPr>
                <p:nvPr/>
              </p:nvSpPr>
              <p:spPr bwMode="auto">
                <a:xfrm>
                  <a:off x="2541" y="1010"/>
                  <a:ext cx="151" cy="76"/>
                </a:xfrm>
                <a:custGeom>
                  <a:avLst/>
                  <a:gdLst>
                    <a:gd name="T0" fmla="*/ 0 w 151"/>
                    <a:gd name="T1" fmla="*/ 20 h 76"/>
                    <a:gd name="T2" fmla="*/ 19 w 151"/>
                    <a:gd name="T3" fmla="*/ 56 h 76"/>
                    <a:gd name="T4" fmla="*/ 150 w 151"/>
                    <a:gd name="T5" fmla="*/ 75 h 76"/>
                    <a:gd name="T6" fmla="*/ 150 w 151"/>
                    <a:gd name="T7" fmla="*/ 28 h 76"/>
                    <a:gd name="T8" fmla="*/ 9 w 151"/>
                    <a:gd name="T9" fmla="*/ 0 h 76"/>
                    <a:gd name="T10" fmla="*/ 0 w 151"/>
                    <a:gd name="T11" fmla="*/ 20 h 76"/>
                  </a:gdLst>
                  <a:ahLst/>
                  <a:cxnLst>
                    <a:cxn ang="0">
                      <a:pos x="T0" y="T1"/>
                    </a:cxn>
                    <a:cxn ang="0">
                      <a:pos x="T2" y="T3"/>
                    </a:cxn>
                    <a:cxn ang="0">
                      <a:pos x="T4" y="T5"/>
                    </a:cxn>
                    <a:cxn ang="0">
                      <a:pos x="T6" y="T7"/>
                    </a:cxn>
                    <a:cxn ang="0">
                      <a:pos x="T8" y="T9"/>
                    </a:cxn>
                    <a:cxn ang="0">
                      <a:pos x="T10" y="T11"/>
                    </a:cxn>
                  </a:cxnLst>
                  <a:rect l="0" t="0" r="r" b="b"/>
                  <a:pathLst>
                    <a:path w="151" h="76">
                      <a:moveTo>
                        <a:pt x="0" y="20"/>
                      </a:moveTo>
                      <a:lnTo>
                        <a:pt x="19" y="56"/>
                      </a:lnTo>
                      <a:lnTo>
                        <a:pt x="150" y="75"/>
                      </a:lnTo>
                      <a:lnTo>
                        <a:pt x="150" y="28"/>
                      </a:lnTo>
                      <a:lnTo>
                        <a:pt x="9" y="0"/>
                      </a:lnTo>
                      <a:lnTo>
                        <a:pt x="0" y="2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409" name="Freeform 153"/>
                <p:cNvSpPr>
                  <a:spLocks/>
                </p:cNvSpPr>
                <p:nvPr/>
              </p:nvSpPr>
              <p:spPr bwMode="auto">
                <a:xfrm>
                  <a:off x="2394" y="1149"/>
                  <a:ext cx="172" cy="159"/>
                </a:xfrm>
                <a:custGeom>
                  <a:avLst/>
                  <a:gdLst>
                    <a:gd name="T0" fmla="*/ 106 w 172"/>
                    <a:gd name="T1" fmla="*/ 0 h 159"/>
                    <a:gd name="T2" fmla="*/ 0 w 172"/>
                    <a:gd name="T3" fmla="*/ 40 h 159"/>
                    <a:gd name="T4" fmla="*/ 44 w 172"/>
                    <a:gd name="T5" fmla="*/ 71 h 159"/>
                    <a:gd name="T6" fmla="*/ 50 w 172"/>
                    <a:gd name="T7" fmla="*/ 148 h 159"/>
                    <a:gd name="T8" fmla="*/ 75 w 172"/>
                    <a:gd name="T9" fmla="*/ 158 h 159"/>
                    <a:gd name="T10" fmla="*/ 164 w 172"/>
                    <a:gd name="T11" fmla="*/ 108 h 159"/>
                    <a:gd name="T12" fmla="*/ 171 w 172"/>
                    <a:gd name="T13" fmla="*/ 16 h 159"/>
                    <a:gd name="T14" fmla="*/ 106 w 172"/>
                    <a:gd name="T15" fmla="*/ 0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159">
                      <a:moveTo>
                        <a:pt x="106" y="0"/>
                      </a:moveTo>
                      <a:lnTo>
                        <a:pt x="0" y="40"/>
                      </a:lnTo>
                      <a:lnTo>
                        <a:pt x="44" y="71"/>
                      </a:lnTo>
                      <a:lnTo>
                        <a:pt x="50" y="148"/>
                      </a:lnTo>
                      <a:lnTo>
                        <a:pt x="75" y="158"/>
                      </a:lnTo>
                      <a:lnTo>
                        <a:pt x="164" y="108"/>
                      </a:lnTo>
                      <a:lnTo>
                        <a:pt x="171" y="16"/>
                      </a:lnTo>
                      <a:lnTo>
                        <a:pt x="106" y="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sp>
            <p:nvSpPr>
              <p:cNvPr id="401" name="Freeform 154"/>
              <p:cNvSpPr>
                <a:spLocks/>
              </p:cNvSpPr>
              <p:nvPr/>
            </p:nvSpPr>
            <p:spPr bwMode="auto">
              <a:xfrm>
                <a:off x="2650" y="963"/>
                <a:ext cx="88" cy="75"/>
              </a:xfrm>
              <a:custGeom>
                <a:avLst/>
                <a:gdLst>
                  <a:gd name="T0" fmla="*/ 0 w 88"/>
                  <a:gd name="T1" fmla="*/ 39 h 75"/>
                  <a:gd name="T2" fmla="*/ 37 w 88"/>
                  <a:gd name="T3" fmla="*/ 0 h 75"/>
                  <a:gd name="T4" fmla="*/ 87 w 88"/>
                  <a:gd name="T5" fmla="*/ 39 h 75"/>
                  <a:gd name="T6" fmla="*/ 45 w 88"/>
                  <a:gd name="T7" fmla="*/ 74 h 75"/>
                  <a:gd name="T8" fmla="*/ 0 w 88"/>
                  <a:gd name="T9" fmla="*/ 39 h 75"/>
                </a:gdLst>
                <a:ahLst/>
                <a:cxnLst>
                  <a:cxn ang="0">
                    <a:pos x="T0" y="T1"/>
                  </a:cxn>
                  <a:cxn ang="0">
                    <a:pos x="T2" y="T3"/>
                  </a:cxn>
                  <a:cxn ang="0">
                    <a:pos x="T4" y="T5"/>
                  </a:cxn>
                  <a:cxn ang="0">
                    <a:pos x="T6" y="T7"/>
                  </a:cxn>
                  <a:cxn ang="0">
                    <a:pos x="T8" y="T9"/>
                  </a:cxn>
                </a:cxnLst>
                <a:rect l="0" t="0" r="r" b="b"/>
                <a:pathLst>
                  <a:path w="88" h="75">
                    <a:moveTo>
                      <a:pt x="0" y="39"/>
                    </a:moveTo>
                    <a:lnTo>
                      <a:pt x="37" y="0"/>
                    </a:lnTo>
                    <a:lnTo>
                      <a:pt x="87" y="39"/>
                    </a:lnTo>
                    <a:lnTo>
                      <a:pt x="45" y="74"/>
                    </a:lnTo>
                    <a:lnTo>
                      <a:pt x="0" y="39"/>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nvGrpSpPr>
            <p:cNvPr id="386" name="Group 155"/>
            <p:cNvGrpSpPr>
              <a:grpSpLocks/>
            </p:cNvGrpSpPr>
            <p:nvPr/>
          </p:nvGrpSpPr>
          <p:grpSpPr bwMode="auto">
            <a:xfrm>
              <a:off x="2529" y="820"/>
              <a:ext cx="1638" cy="883"/>
              <a:chOff x="2529" y="820"/>
              <a:chExt cx="1638" cy="883"/>
            </a:xfrm>
          </p:grpSpPr>
          <p:sp>
            <p:nvSpPr>
              <p:cNvPr id="387" name="Oval 156"/>
              <p:cNvSpPr>
                <a:spLocks noChangeArrowheads="1"/>
              </p:cNvSpPr>
              <p:nvPr/>
            </p:nvSpPr>
            <p:spPr bwMode="auto">
              <a:xfrm>
                <a:off x="3042" y="848"/>
                <a:ext cx="388"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8" name="Oval 157"/>
              <p:cNvSpPr>
                <a:spLocks noChangeArrowheads="1"/>
              </p:cNvSpPr>
              <p:nvPr/>
            </p:nvSpPr>
            <p:spPr bwMode="auto">
              <a:xfrm>
                <a:off x="3374" y="820"/>
                <a:ext cx="313"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9" name="Oval 158"/>
              <p:cNvSpPr>
                <a:spLocks noChangeArrowheads="1"/>
              </p:cNvSpPr>
              <p:nvPr/>
            </p:nvSpPr>
            <p:spPr bwMode="auto">
              <a:xfrm>
                <a:off x="3668" y="1065"/>
                <a:ext cx="499"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0" name="Oval 159"/>
              <p:cNvSpPr>
                <a:spLocks noChangeArrowheads="1"/>
              </p:cNvSpPr>
              <p:nvPr/>
            </p:nvSpPr>
            <p:spPr bwMode="auto">
              <a:xfrm>
                <a:off x="2712" y="1228"/>
                <a:ext cx="570" cy="42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1" name="Oval 160"/>
              <p:cNvSpPr>
                <a:spLocks noChangeArrowheads="1"/>
              </p:cNvSpPr>
              <p:nvPr/>
            </p:nvSpPr>
            <p:spPr bwMode="auto">
              <a:xfrm>
                <a:off x="3521" y="1282"/>
                <a:ext cx="422" cy="312"/>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2" name="Oval 161"/>
              <p:cNvSpPr>
                <a:spLocks noChangeArrowheads="1"/>
              </p:cNvSpPr>
              <p:nvPr/>
            </p:nvSpPr>
            <p:spPr bwMode="auto">
              <a:xfrm>
                <a:off x="2564" y="1310"/>
                <a:ext cx="315" cy="229"/>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3" name="Oval 162"/>
              <p:cNvSpPr>
                <a:spLocks noChangeArrowheads="1"/>
              </p:cNvSpPr>
              <p:nvPr/>
            </p:nvSpPr>
            <p:spPr bwMode="auto">
              <a:xfrm>
                <a:off x="2529" y="1119"/>
                <a:ext cx="312" cy="23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4" name="Oval 163"/>
              <p:cNvSpPr>
                <a:spLocks noChangeArrowheads="1"/>
              </p:cNvSpPr>
              <p:nvPr/>
            </p:nvSpPr>
            <p:spPr bwMode="auto">
              <a:xfrm>
                <a:off x="2675" y="902"/>
                <a:ext cx="498" cy="366"/>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5" name="Oval 164"/>
              <p:cNvSpPr>
                <a:spLocks noChangeArrowheads="1"/>
              </p:cNvSpPr>
              <p:nvPr/>
            </p:nvSpPr>
            <p:spPr bwMode="auto">
              <a:xfrm>
                <a:off x="3115" y="1336"/>
                <a:ext cx="500" cy="36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6" name="Oval 165"/>
              <p:cNvSpPr>
                <a:spLocks noChangeArrowheads="1"/>
              </p:cNvSpPr>
              <p:nvPr/>
            </p:nvSpPr>
            <p:spPr bwMode="auto">
              <a:xfrm>
                <a:off x="3742" y="929"/>
                <a:ext cx="386" cy="284"/>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7" name="Oval 166"/>
              <p:cNvSpPr>
                <a:spLocks noChangeArrowheads="1"/>
              </p:cNvSpPr>
              <p:nvPr/>
            </p:nvSpPr>
            <p:spPr bwMode="auto">
              <a:xfrm>
                <a:off x="3631" y="820"/>
                <a:ext cx="351" cy="258"/>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8" name="Freeform 167"/>
              <p:cNvSpPr>
                <a:spLocks/>
              </p:cNvSpPr>
              <p:nvPr/>
            </p:nvSpPr>
            <p:spPr bwMode="auto">
              <a:xfrm>
                <a:off x="2661" y="889"/>
                <a:ext cx="1415" cy="700"/>
              </a:xfrm>
              <a:custGeom>
                <a:avLst/>
                <a:gdLst>
                  <a:gd name="T0" fmla="*/ 436 w 1415"/>
                  <a:gd name="T1" fmla="*/ 70 h 700"/>
                  <a:gd name="T2" fmla="*/ 494 w 1415"/>
                  <a:gd name="T3" fmla="*/ 20 h 700"/>
                  <a:gd name="T4" fmla="*/ 759 w 1415"/>
                  <a:gd name="T5" fmla="*/ 24 h 700"/>
                  <a:gd name="T6" fmla="*/ 947 w 1415"/>
                  <a:gd name="T7" fmla="*/ 0 h 700"/>
                  <a:gd name="T8" fmla="*/ 1180 w 1415"/>
                  <a:gd name="T9" fmla="*/ 83 h 700"/>
                  <a:gd name="T10" fmla="*/ 1300 w 1415"/>
                  <a:gd name="T11" fmla="*/ 60 h 700"/>
                  <a:gd name="T12" fmla="*/ 1362 w 1415"/>
                  <a:gd name="T13" fmla="*/ 70 h 700"/>
                  <a:gd name="T14" fmla="*/ 1376 w 1415"/>
                  <a:gd name="T15" fmla="*/ 278 h 700"/>
                  <a:gd name="T16" fmla="*/ 1414 w 1415"/>
                  <a:gd name="T17" fmla="*/ 311 h 700"/>
                  <a:gd name="T18" fmla="*/ 1304 w 1415"/>
                  <a:gd name="T19" fmla="*/ 472 h 700"/>
                  <a:gd name="T20" fmla="*/ 1185 w 1415"/>
                  <a:gd name="T21" fmla="*/ 363 h 700"/>
                  <a:gd name="T22" fmla="*/ 1153 w 1415"/>
                  <a:gd name="T23" fmla="*/ 418 h 700"/>
                  <a:gd name="T24" fmla="*/ 986 w 1415"/>
                  <a:gd name="T25" fmla="*/ 640 h 700"/>
                  <a:gd name="T26" fmla="*/ 427 w 1415"/>
                  <a:gd name="T27" fmla="*/ 699 h 700"/>
                  <a:gd name="T28" fmla="*/ 135 w 1415"/>
                  <a:gd name="T29" fmla="*/ 655 h 700"/>
                  <a:gd name="T30" fmla="*/ 45 w 1415"/>
                  <a:gd name="T31" fmla="*/ 519 h 700"/>
                  <a:gd name="T32" fmla="*/ 45 w 1415"/>
                  <a:gd name="T33" fmla="*/ 379 h 700"/>
                  <a:gd name="T34" fmla="*/ 0 w 1415"/>
                  <a:gd name="T35" fmla="*/ 261 h 700"/>
                  <a:gd name="T36" fmla="*/ 436 w 1415"/>
                  <a:gd name="T37" fmla="*/ 7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5" h="700">
                    <a:moveTo>
                      <a:pt x="436" y="70"/>
                    </a:moveTo>
                    <a:lnTo>
                      <a:pt x="494" y="20"/>
                    </a:lnTo>
                    <a:lnTo>
                      <a:pt x="759" y="24"/>
                    </a:lnTo>
                    <a:lnTo>
                      <a:pt x="947" y="0"/>
                    </a:lnTo>
                    <a:lnTo>
                      <a:pt x="1180" y="83"/>
                    </a:lnTo>
                    <a:lnTo>
                      <a:pt x="1300" y="60"/>
                    </a:lnTo>
                    <a:lnTo>
                      <a:pt x="1362" y="70"/>
                    </a:lnTo>
                    <a:lnTo>
                      <a:pt x="1376" y="278"/>
                    </a:lnTo>
                    <a:lnTo>
                      <a:pt x="1414" y="311"/>
                    </a:lnTo>
                    <a:lnTo>
                      <a:pt x="1304" y="472"/>
                    </a:lnTo>
                    <a:lnTo>
                      <a:pt x="1185" y="363"/>
                    </a:lnTo>
                    <a:lnTo>
                      <a:pt x="1153" y="418"/>
                    </a:lnTo>
                    <a:lnTo>
                      <a:pt x="986" y="640"/>
                    </a:lnTo>
                    <a:lnTo>
                      <a:pt x="427" y="699"/>
                    </a:lnTo>
                    <a:lnTo>
                      <a:pt x="135" y="655"/>
                    </a:lnTo>
                    <a:lnTo>
                      <a:pt x="45" y="519"/>
                    </a:lnTo>
                    <a:lnTo>
                      <a:pt x="45" y="379"/>
                    </a:lnTo>
                    <a:lnTo>
                      <a:pt x="0" y="261"/>
                    </a:lnTo>
                    <a:lnTo>
                      <a:pt x="436" y="70"/>
                    </a:lnTo>
                  </a:path>
                </a:pathLst>
              </a:custGeom>
              <a:solidFill>
                <a:srgbClr val="FFFFFF"/>
              </a:solidFill>
              <a:ln w="6350" cap="rnd">
                <a:noFill/>
                <a:round/>
                <a:headEnd type="none" w="sm" len="sm"/>
                <a:tailEnd type="none" w="sm" len="sm"/>
              </a:ln>
              <a:effectLst/>
              <a:extLst>
                <a:ext uri="{AF507438-7753-43E0-B8FC-AC1667EBCBE1}">
                  <a14:hiddenEffects xmlns:a14="http://schemas.microsoft.com/office/drawing/2010/main">
                    <a:effectLst>
                      <a:outerShdw dist="28398" dir="3806097"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grpSp>
      </p:grpSp>
      <p:sp>
        <p:nvSpPr>
          <p:cNvPr id="22" name="Text Box 58"/>
          <p:cNvSpPr txBox="1">
            <a:spLocks noChangeArrowheads="1"/>
          </p:cNvSpPr>
          <p:nvPr/>
        </p:nvSpPr>
        <p:spPr bwMode="auto">
          <a:xfrm>
            <a:off x="3212096" y="2548752"/>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FF"/>
                </a:solidFill>
                <a:latin typeface="微软雅黑" pitchFamily="34" charset="-122"/>
                <a:ea typeface="微软雅黑" pitchFamily="34" charset="-122"/>
              </a:rPr>
              <a:t>互联网</a:t>
            </a:r>
          </a:p>
        </p:txBody>
      </p:sp>
      <p:grpSp>
        <p:nvGrpSpPr>
          <p:cNvPr id="31" name="组合 30"/>
          <p:cNvGrpSpPr/>
          <p:nvPr/>
        </p:nvGrpSpPr>
        <p:grpSpPr>
          <a:xfrm>
            <a:off x="829505" y="1413956"/>
            <a:ext cx="2249805" cy="1702857"/>
            <a:chOff x="829505" y="1318154"/>
            <a:chExt cx="2249805" cy="1702857"/>
          </a:xfrm>
        </p:grpSpPr>
        <p:sp>
          <p:nvSpPr>
            <p:cNvPr id="9" name="Line 44"/>
            <p:cNvSpPr>
              <a:spLocks noChangeShapeType="1"/>
            </p:cNvSpPr>
            <p:nvPr/>
          </p:nvSpPr>
          <p:spPr bwMode="auto">
            <a:xfrm flipH="1" flipV="1">
              <a:off x="2278750" y="2217984"/>
              <a:ext cx="540650" cy="185779"/>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47" name="Text Box 406"/>
            <p:cNvSpPr txBox="1">
              <a:spLocks noChangeArrowheads="1"/>
            </p:cNvSpPr>
            <p:nvPr/>
          </p:nvSpPr>
          <p:spPr bwMode="auto">
            <a:xfrm>
              <a:off x="1663538" y="1318154"/>
              <a:ext cx="14157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0000FF"/>
                  </a:solidFill>
                  <a:latin typeface="微软雅黑" pitchFamily="34" charset="-122"/>
                  <a:ea typeface="微软雅黑" pitchFamily="34" charset="-122"/>
                </a:rPr>
                <a:t>多点控制单元</a:t>
              </a:r>
            </a:p>
            <a:p>
              <a:pPr algn="ctr"/>
              <a:r>
                <a:rPr kumimoji="1" lang="en-US" altLang="zh-CN" sz="1600" b="1" dirty="0">
                  <a:solidFill>
                    <a:srgbClr val="0000FF"/>
                  </a:solidFill>
                  <a:latin typeface="微软雅黑" pitchFamily="34" charset="-122"/>
                  <a:ea typeface="微软雅黑" pitchFamily="34" charset="-122"/>
                </a:rPr>
                <a:t>MCU</a:t>
              </a:r>
            </a:p>
          </p:txBody>
        </p:sp>
        <p:sp>
          <p:nvSpPr>
            <p:cNvPr id="129" name="Line 54"/>
            <p:cNvSpPr>
              <a:spLocks noChangeShapeType="1"/>
            </p:cNvSpPr>
            <p:nvPr/>
          </p:nvSpPr>
          <p:spPr bwMode="auto">
            <a:xfrm flipH="1">
              <a:off x="1712306" y="1707831"/>
              <a:ext cx="0" cy="126742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sp>
          <p:nvSpPr>
            <p:cNvPr id="130" name="Line 54"/>
            <p:cNvSpPr>
              <a:spLocks noChangeShapeType="1"/>
            </p:cNvSpPr>
            <p:nvPr/>
          </p:nvSpPr>
          <p:spPr bwMode="auto">
            <a:xfrm flipH="1">
              <a:off x="1712306" y="2197505"/>
              <a:ext cx="39375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2" name="组合 1"/>
            <p:cNvGrpSpPr/>
            <p:nvPr/>
          </p:nvGrpSpPr>
          <p:grpSpPr>
            <a:xfrm>
              <a:off x="829505" y="2039001"/>
              <a:ext cx="881211" cy="521659"/>
              <a:chOff x="829505" y="1722262"/>
              <a:chExt cx="881211" cy="521659"/>
            </a:xfrm>
          </p:grpSpPr>
          <p:sp>
            <p:nvSpPr>
              <p:cNvPr id="135" name="Line 54"/>
              <p:cNvSpPr>
                <a:spLocks noChangeShapeType="1"/>
              </p:cNvSpPr>
              <p:nvPr/>
            </p:nvSpPr>
            <p:spPr bwMode="auto">
              <a:xfrm flipH="1">
                <a:off x="1316960" y="1984136"/>
                <a:ext cx="39375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131" name="组合 130"/>
              <p:cNvGrpSpPr/>
              <p:nvPr/>
            </p:nvGrpSpPr>
            <p:grpSpPr>
              <a:xfrm>
                <a:off x="829505" y="1722262"/>
                <a:ext cx="684333" cy="521659"/>
                <a:chOff x="4623937" y="1114451"/>
                <a:chExt cx="684333" cy="521659"/>
              </a:xfrm>
            </p:grpSpPr>
            <p:sp>
              <p:nvSpPr>
                <p:cNvPr id="132"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133"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134"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grpSp>
          <p:nvGrpSpPr>
            <p:cNvPr id="137" name="组合 136"/>
            <p:cNvGrpSpPr/>
            <p:nvPr/>
          </p:nvGrpSpPr>
          <p:grpSpPr>
            <a:xfrm>
              <a:off x="829505" y="2499352"/>
              <a:ext cx="881211" cy="521659"/>
              <a:chOff x="829505" y="1722262"/>
              <a:chExt cx="881211" cy="521659"/>
            </a:xfrm>
          </p:grpSpPr>
          <p:sp>
            <p:nvSpPr>
              <p:cNvPr id="138" name="Line 54"/>
              <p:cNvSpPr>
                <a:spLocks noChangeShapeType="1"/>
              </p:cNvSpPr>
              <p:nvPr/>
            </p:nvSpPr>
            <p:spPr bwMode="auto">
              <a:xfrm flipH="1">
                <a:off x="1316960" y="1984136"/>
                <a:ext cx="39375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139" name="组合 138"/>
              <p:cNvGrpSpPr/>
              <p:nvPr/>
            </p:nvGrpSpPr>
            <p:grpSpPr>
              <a:xfrm>
                <a:off x="829505" y="1722262"/>
                <a:ext cx="684333" cy="521659"/>
                <a:chOff x="4623937" y="1114451"/>
                <a:chExt cx="684333" cy="521659"/>
              </a:xfrm>
            </p:grpSpPr>
            <p:sp>
              <p:nvSpPr>
                <p:cNvPr id="140"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141"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142"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grpSp>
          <p:nvGrpSpPr>
            <p:cNvPr id="120" name="Group 267"/>
            <p:cNvGrpSpPr>
              <a:grpSpLocks noChangeAspect="1"/>
            </p:cNvGrpSpPr>
            <p:nvPr/>
          </p:nvGrpSpPr>
          <p:grpSpPr bwMode="auto">
            <a:xfrm>
              <a:off x="2044395" y="1910985"/>
              <a:ext cx="543234" cy="560720"/>
              <a:chOff x="3891" y="3006"/>
              <a:chExt cx="466" cy="481"/>
            </a:xfrm>
          </p:grpSpPr>
          <p:sp>
            <p:nvSpPr>
              <p:cNvPr id="121" name="AutoShape 268"/>
              <p:cNvSpPr>
                <a:spLocks noChangeAspect="1" noChangeArrowheads="1" noTextEdit="1"/>
              </p:cNvSpPr>
              <p:nvPr/>
            </p:nvSpPr>
            <p:spPr bwMode="auto">
              <a:xfrm>
                <a:off x="3891" y="3006"/>
                <a:ext cx="466"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 name="Freeform 269"/>
              <p:cNvSpPr>
                <a:spLocks/>
              </p:cNvSpPr>
              <p:nvPr/>
            </p:nvSpPr>
            <p:spPr bwMode="auto">
              <a:xfrm>
                <a:off x="3891" y="3006"/>
                <a:ext cx="466" cy="481"/>
              </a:xfrm>
              <a:custGeom>
                <a:avLst/>
                <a:gdLst>
                  <a:gd name="T0" fmla="*/ 208 w 15844"/>
                  <a:gd name="T1" fmla="*/ 0 h 16354"/>
                  <a:gd name="T2" fmla="*/ 258 w 15844"/>
                  <a:gd name="T3" fmla="*/ 0 h 16354"/>
                  <a:gd name="T4" fmla="*/ 466 w 15844"/>
                  <a:gd name="T5" fmla="*/ 120 h 16354"/>
                  <a:gd name="T6" fmla="*/ 466 w 15844"/>
                  <a:gd name="T7" fmla="*/ 120 h 16354"/>
                  <a:gd name="T8" fmla="*/ 466 w 15844"/>
                  <a:gd name="T9" fmla="*/ 120 h 16354"/>
                  <a:gd name="T10" fmla="*/ 466 w 15844"/>
                  <a:gd name="T11" fmla="*/ 361 h 16354"/>
                  <a:gd name="T12" fmla="*/ 466 w 15844"/>
                  <a:gd name="T13" fmla="*/ 361 h 16354"/>
                  <a:gd name="T14" fmla="*/ 466 w 15844"/>
                  <a:gd name="T15" fmla="*/ 361 h 16354"/>
                  <a:gd name="T16" fmla="*/ 466 w 15844"/>
                  <a:gd name="T17" fmla="*/ 361 h 16354"/>
                  <a:gd name="T18" fmla="*/ 260 w 15844"/>
                  <a:gd name="T19" fmla="*/ 481 h 16354"/>
                  <a:gd name="T20" fmla="*/ 208 w 15844"/>
                  <a:gd name="T21" fmla="*/ 480 h 16354"/>
                  <a:gd name="T22" fmla="*/ 208 w 15844"/>
                  <a:gd name="T23" fmla="*/ 480 h 16354"/>
                  <a:gd name="T24" fmla="*/ 208 w 15844"/>
                  <a:gd name="T25" fmla="*/ 480 h 16354"/>
                  <a:gd name="T26" fmla="*/ 104 w 15844"/>
                  <a:gd name="T27" fmla="*/ 420 h 16354"/>
                  <a:gd name="T28" fmla="*/ 0 w 15844"/>
                  <a:gd name="T29" fmla="*/ 360 h 16354"/>
                  <a:gd name="T30" fmla="*/ 0 w 15844"/>
                  <a:gd name="T31" fmla="*/ 240 h 16354"/>
                  <a:gd name="T32" fmla="*/ 0 w 15844"/>
                  <a:gd name="T33" fmla="*/ 120 h 16354"/>
                  <a:gd name="T34" fmla="*/ 104 w 15844"/>
                  <a:gd name="T35" fmla="*/ 60 h 16354"/>
                  <a:gd name="T36" fmla="*/ 208 w 15844"/>
                  <a:gd name="T37" fmla="*/ 0 h 16354"/>
                  <a:gd name="T38" fmla="*/ 208 w 15844"/>
                  <a:gd name="T39" fmla="*/ 0 h 1635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5844" h="16354">
                    <a:moveTo>
                      <a:pt x="7077" y="5"/>
                    </a:moveTo>
                    <a:lnTo>
                      <a:pt x="8774" y="0"/>
                    </a:lnTo>
                    <a:lnTo>
                      <a:pt x="15843" y="4090"/>
                    </a:lnTo>
                    <a:lnTo>
                      <a:pt x="15843" y="4091"/>
                    </a:lnTo>
                    <a:lnTo>
                      <a:pt x="15844" y="4091"/>
                    </a:lnTo>
                    <a:lnTo>
                      <a:pt x="15844" y="12287"/>
                    </a:lnTo>
                    <a:lnTo>
                      <a:pt x="15844" y="12288"/>
                    </a:lnTo>
                    <a:lnTo>
                      <a:pt x="8836" y="16354"/>
                    </a:lnTo>
                    <a:lnTo>
                      <a:pt x="7077" y="16330"/>
                    </a:lnTo>
                    <a:lnTo>
                      <a:pt x="3539" y="14290"/>
                    </a:lnTo>
                    <a:lnTo>
                      <a:pt x="0" y="12249"/>
                    </a:lnTo>
                    <a:lnTo>
                      <a:pt x="0" y="8168"/>
                    </a:lnTo>
                    <a:lnTo>
                      <a:pt x="0" y="4086"/>
                    </a:lnTo>
                    <a:lnTo>
                      <a:pt x="3539" y="2046"/>
                    </a:lnTo>
                    <a:lnTo>
                      <a:pt x="7077" y="6"/>
                    </a:lnTo>
                    <a:lnTo>
                      <a:pt x="7077" y="5"/>
                    </a:lnTo>
                    <a:close/>
                  </a:path>
                </a:pathLst>
              </a:custGeom>
              <a:solidFill>
                <a:srgbClr val="4D72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 name="Freeform 270"/>
              <p:cNvSpPr>
                <a:spLocks/>
              </p:cNvSpPr>
              <p:nvPr/>
            </p:nvSpPr>
            <p:spPr bwMode="auto">
              <a:xfrm>
                <a:off x="3891" y="3006"/>
                <a:ext cx="466" cy="480"/>
              </a:xfrm>
              <a:custGeom>
                <a:avLst/>
                <a:gdLst>
                  <a:gd name="T0" fmla="*/ 466 w 15844"/>
                  <a:gd name="T1" fmla="*/ 120 h 16325"/>
                  <a:gd name="T2" fmla="*/ 466 w 15844"/>
                  <a:gd name="T3" fmla="*/ 361 h 16325"/>
                  <a:gd name="T4" fmla="*/ 416 w 15844"/>
                  <a:gd name="T5" fmla="*/ 360 h 16325"/>
                  <a:gd name="T6" fmla="*/ 416 w 15844"/>
                  <a:gd name="T7" fmla="*/ 360 h 16325"/>
                  <a:gd name="T8" fmla="*/ 312 w 15844"/>
                  <a:gd name="T9" fmla="*/ 420 h 16325"/>
                  <a:gd name="T10" fmla="*/ 208 w 15844"/>
                  <a:gd name="T11" fmla="*/ 480 h 16325"/>
                  <a:gd name="T12" fmla="*/ 104 w 15844"/>
                  <a:gd name="T13" fmla="*/ 420 h 16325"/>
                  <a:gd name="T14" fmla="*/ 0 w 15844"/>
                  <a:gd name="T15" fmla="*/ 360 h 16325"/>
                  <a:gd name="T16" fmla="*/ 0 w 15844"/>
                  <a:gd name="T17" fmla="*/ 240 h 16325"/>
                  <a:gd name="T18" fmla="*/ 0 w 15844"/>
                  <a:gd name="T19" fmla="*/ 120 h 16325"/>
                  <a:gd name="T20" fmla="*/ 104 w 15844"/>
                  <a:gd name="T21" fmla="*/ 60 h 16325"/>
                  <a:gd name="T22" fmla="*/ 208 w 15844"/>
                  <a:gd name="T23" fmla="*/ 0 h 16325"/>
                  <a:gd name="T24" fmla="*/ 312 w 15844"/>
                  <a:gd name="T25" fmla="*/ 60 h 16325"/>
                  <a:gd name="T26" fmla="*/ 416 w 15844"/>
                  <a:gd name="T27" fmla="*/ 120 h 16325"/>
                  <a:gd name="T28" fmla="*/ 416 w 15844"/>
                  <a:gd name="T29" fmla="*/ 120 h 16325"/>
                  <a:gd name="T30" fmla="*/ 466 w 15844"/>
                  <a:gd name="T31" fmla="*/ 120 h 1632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844" h="16325">
                    <a:moveTo>
                      <a:pt x="15844" y="4086"/>
                    </a:moveTo>
                    <a:lnTo>
                      <a:pt x="15844" y="12283"/>
                    </a:lnTo>
                    <a:lnTo>
                      <a:pt x="14155" y="12244"/>
                    </a:lnTo>
                    <a:lnTo>
                      <a:pt x="10616" y="14285"/>
                    </a:lnTo>
                    <a:lnTo>
                      <a:pt x="7077" y="16325"/>
                    </a:lnTo>
                    <a:lnTo>
                      <a:pt x="3539" y="14285"/>
                    </a:lnTo>
                    <a:lnTo>
                      <a:pt x="0" y="12244"/>
                    </a:lnTo>
                    <a:lnTo>
                      <a:pt x="0" y="8163"/>
                    </a:lnTo>
                    <a:lnTo>
                      <a:pt x="0" y="4081"/>
                    </a:lnTo>
                    <a:lnTo>
                      <a:pt x="3539" y="2041"/>
                    </a:lnTo>
                    <a:lnTo>
                      <a:pt x="7077" y="0"/>
                    </a:lnTo>
                    <a:lnTo>
                      <a:pt x="10616" y="2041"/>
                    </a:lnTo>
                    <a:lnTo>
                      <a:pt x="14155" y="4081"/>
                    </a:lnTo>
                    <a:lnTo>
                      <a:pt x="14155" y="4082"/>
                    </a:lnTo>
                    <a:lnTo>
                      <a:pt x="15844" y="4086"/>
                    </a:lnTo>
                    <a:close/>
                  </a:path>
                </a:pathLst>
              </a:custGeom>
              <a:solidFill>
                <a:srgbClr val="00426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4" name="Freeform 271"/>
              <p:cNvSpPr>
                <a:spLocks/>
              </p:cNvSpPr>
              <p:nvPr/>
            </p:nvSpPr>
            <p:spPr bwMode="auto">
              <a:xfrm>
                <a:off x="4099" y="3006"/>
                <a:ext cx="258" cy="481"/>
              </a:xfrm>
              <a:custGeom>
                <a:avLst/>
                <a:gdLst>
                  <a:gd name="T0" fmla="*/ 0 w 8767"/>
                  <a:gd name="T1" fmla="*/ 0 h 16354"/>
                  <a:gd name="T2" fmla="*/ 50 w 8767"/>
                  <a:gd name="T3" fmla="*/ 0 h 16354"/>
                  <a:gd name="T4" fmla="*/ 258 w 8767"/>
                  <a:gd name="T5" fmla="*/ 120 h 16354"/>
                  <a:gd name="T6" fmla="*/ 258 w 8767"/>
                  <a:gd name="T7" fmla="*/ 361 h 16354"/>
                  <a:gd name="T8" fmla="*/ 52 w 8767"/>
                  <a:gd name="T9" fmla="*/ 481 h 16354"/>
                  <a:gd name="T10" fmla="*/ 0 w 8767"/>
                  <a:gd name="T11" fmla="*/ 480 h 16354"/>
                  <a:gd name="T12" fmla="*/ 0 w 8767"/>
                  <a:gd name="T13" fmla="*/ 0 h 163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67" h="16354">
                    <a:moveTo>
                      <a:pt x="0" y="5"/>
                    </a:moveTo>
                    <a:lnTo>
                      <a:pt x="1697" y="0"/>
                    </a:lnTo>
                    <a:lnTo>
                      <a:pt x="8766" y="4090"/>
                    </a:lnTo>
                    <a:lnTo>
                      <a:pt x="8767" y="12287"/>
                    </a:lnTo>
                    <a:lnTo>
                      <a:pt x="1759" y="16354"/>
                    </a:lnTo>
                    <a:lnTo>
                      <a:pt x="0" y="16330"/>
                    </a:lnTo>
                    <a:lnTo>
                      <a:pt x="0" y="5"/>
                    </a:lnTo>
                    <a:close/>
                  </a:path>
                </a:pathLst>
              </a:custGeom>
              <a:solidFill>
                <a:srgbClr val="4D72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5" name="Freeform 272"/>
              <p:cNvSpPr>
                <a:spLocks/>
              </p:cNvSpPr>
              <p:nvPr/>
            </p:nvSpPr>
            <p:spPr bwMode="auto">
              <a:xfrm>
                <a:off x="4307" y="3126"/>
                <a:ext cx="50" cy="241"/>
              </a:xfrm>
              <a:custGeom>
                <a:avLst/>
                <a:gdLst>
                  <a:gd name="T0" fmla="*/ 50 w 1694"/>
                  <a:gd name="T1" fmla="*/ 0 h 8201"/>
                  <a:gd name="T2" fmla="*/ 50 w 1694"/>
                  <a:gd name="T3" fmla="*/ 241 h 8201"/>
                  <a:gd name="T4" fmla="*/ 0 w 1694"/>
                  <a:gd name="T5" fmla="*/ 240 h 8201"/>
                  <a:gd name="T6" fmla="*/ 0 w 1694"/>
                  <a:gd name="T7" fmla="*/ 0 h 8201"/>
                  <a:gd name="T8" fmla="*/ 50 w 1694"/>
                  <a:gd name="T9" fmla="*/ 0 h 82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4" h="8201">
                    <a:moveTo>
                      <a:pt x="1694" y="4"/>
                    </a:moveTo>
                    <a:lnTo>
                      <a:pt x="1694" y="8201"/>
                    </a:lnTo>
                    <a:lnTo>
                      <a:pt x="0" y="8162"/>
                    </a:lnTo>
                    <a:lnTo>
                      <a:pt x="5" y="0"/>
                    </a:lnTo>
                    <a:lnTo>
                      <a:pt x="1694" y="4"/>
                    </a:lnTo>
                    <a:close/>
                  </a:path>
                </a:pathLst>
              </a:custGeom>
              <a:solidFill>
                <a:srgbClr val="00426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6" name="Freeform 273"/>
              <p:cNvSpPr>
                <a:spLocks/>
              </p:cNvSpPr>
              <p:nvPr/>
            </p:nvSpPr>
            <p:spPr bwMode="auto">
              <a:xfrm>
                <a:off x="3891" y="3006"/>
                <a:ext cx="416" cy="480"/>
              </a:xfrm>
              <a:custGeom>
                <a:avLst/>
                <a:gdLst>
                  <a:gd name="T0" fmla="*/ 208 w 14155"/>
                  <a:gd name="T1" fmla="*/ 0 h 16325"/>
                  <a:gd name="T2" fmla="*/ 312 w 14155"/>
                  <a:gd name="T3" fmla="*/ 60 h 16325"/>
                  <a:gd name="T4" fmla="*/ 416 w 14155"/>
                  <a:gd name="T5" fmla="*/ 120 h 16325"/>
                  <a:gd name="T6" fmla="*/ 416 w 14155"/>
                  <a:gd name="T7" fmla="*/ 240 h 16325"/>
                  <a:gd name="T8" fmla="*/ 416 w 14155"/>
                  <a:gd name="T9" fmla="*/ 360 h 16325"/>
                  <a:gd name="T10" fmla="*/ 312 w 14155"/>
                  <a:gd name="T11" fmla="*/ 420 h 16325"/>
                  <a:gd name="T12" fmla="*/ 208 w 14155"/>
                  <a:gd name="T13" fmla="*/ 480 h 16325"/>
                  <a:gd name="T14" fmla="*/ 104 w 14155"/>
                  <a:gd name="T15" fmla="*/ 420 h 16325"/>
                  <a:gd name="T16" fmla="*/ 0 w 14155"/>
                  <a:gd name="T17" fmla="*/ 360 h 16325"/>
                  <a:gd name="T18" fmla="*/ 0 w 14155"/>
                  <a:gd name="T19" fmla="*/ 240 h 16325"/>
                  <a:gd name="T20" fmla="*/ 0 w 14155"/>
                  <a:gd name="T21" fmla="*/ 120 h 16325"/>
                  <a:gd name="T22" fmla="*/ 104 w 14155"/>
                  <a:gd name="T23" fmla="*/ 60 h 16325"/>
                  <a:gd name="T24" fmla="*/ 208 w 14155"/>
                  <a:gd name="T25" fmla="*/ 0 h 163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155" h="16325">
                    <a:moveTo>
                      <a:pt x="7077" y="0"/>
                    </a:moveTo>
                    <a:lnTo>
                      <a:pt x="10616" y="2041"/>
                    </a:lnTo>
                    <a:lnTo>
                      <a:pt x="14155" y="4081"/>
                    </a:lnTo>
                    <a:lnTo>
                      <a:pt x="14155" y="8163"/>
                    </a:lnTo>
                    <a:lnTo>
                      <a:pt x="14155" y="12244"/>
                    </a:lnTo>
                    <a:lnTo>
                      <a:pt x="10616" y="14285"/>
                    </a:lnTo>
                    <a:lnTo>
                      <a:pt x="7077" y="16325"/>
                    </a:lnTo>
                    <a:lnTo>
                      <a:pt x="3539" y="14285"/>
                    </a:lnTo>
                    <a:lnTo>
                      <a:pt x="0" y="12244"/>
                    </a:lnTo>
                    <a:lnTo>
                      <a:pt x="0" y="8163"/>
                    </a:lnTo>
                    <a:lnTo>
                      <a:pt x="0" y="4081"/>
                    </a:lnTo>
                    <a:lnTo>
                      <a:pt x="3539" y="2041"/>
                    </a:lnTo>
                    <a:lnTo>
                      <a:pt x="7077" y="0"/>
                    </a:lnTo>
                    <a:close/>
                  </a:path>
                </a:pathLst>
              </a:custGeom>
              <a:ln/>
            </p:spPr>
            <p:style>
              <a:lnRef idx="0">
                <a:schemeClr val="accent1"/>
              </a:lnRef>
              <a:fillRef idx="3">
                <a:schemeClr val="accent1"/>
              </a:fillRef>
              <a:effectRef idx="3">
                <a:schemeClr val="accent1"/>
              </a:effectRef>
              <a:fontRef idx="minor">
                <a:schemeClr val="lt1"/>
              </a:fontRef>
            </p:style>
            <p:txBody>
              <a:bodyPr/>
              <a:lstStyle/>
              <a:p>
                <a:endParaRPr lang="zh-CN" altLang="en-US"/>
              </a:p>
            </p:txBody>
          </p:sp>
          <p:sp>
            <p:nvSpPr>
              <p:cNvPr id="127" name="Freeform 274"/>
              <p:cNvSpPr>
                <a:spLocks noEditPoints="1"/>
              </p:cNvSpPr>
              <p:nvPr/>
            </p:nvSpPr>
            <p:spPr bwMode="auto">
              <a:xfrm>
                <a:off x="3925" y="3041"/>
                <a:ext cx="373" cy="335"/>
              </a:xfrm>
              <a:custGeom>
                <a:avLst/>
                <a:gdLst>
                  <a:gd name="T0" fmla="*/ 208 w 12696"/>
                  <a:gd name="T1" fmla="*/ 157 h 11389"/>
                  <a:gd name="T2" fmla="*/ 220 w 12696"/>
                  <a:gd name="T3" fmla="*/ 168 h 11389"/>
                  <a:gd name="T4" fmla="*/ 228 w 12696"/>
                  <a:gd name="T5" fmla="*/ 183 h 11389"/>
                  <a:gd name="T6" fmla="*/ 230 w 12696"/>
                  <a:gd name="T7" fmla="*/ 200 h 11389"/>
                  <a:gd name="T8" fmla="*/ 293 w 12696"/>
                  <a:gd name="T9" fmla="*/ 247 h 11389"/>
                  <a:gd name="T10" fmla="*/ 200 w 12696"/>
                  <a:gd name="T11" fmla="*/ 91 h 11389"/>
                  <a:gd name="T12" fmla="*/ 214 w 12696"/>
                  <a:gd name="T13" fmla="*/ 232 h 11389"/>
                  <a:gd name="T14" fmla="*/ 205 w 12696"/>
                  <a:gd name="T15" fmla="*/ 238 h 11389"/>
                  <a:gd name="T16" fmla="*/ 195 w 12696"/>
                  <a:gd name="T17" fmla="*/ 242 h 11389"/>
                  <a:gd name="T18" fmla="*/ 184 w 12696"/>
                  <a:gd name="T19" fmla="*/ 243 h 11389"/>
                  <a:gd name="T20" fmla="*/ 175 w 12696"/>
                  <a:gd name="T21" fmla="*/ 242 h 11389"/>
                  <a:gd name="T22" fmla="*/ 166 w 12696"/>
                  <a:gd name="T23" fmla="*/ 240 h 11389"/>
                  <a:gd name="T24" fmla="*/ 158 w 12696"/>
                  <a:gd name="T25" fmla="*/ 236 h 11389"/>
                  <a:gd name="T26" fmla="*/ 91 w 12696"/>
                  <a:gd name="T27" fmla="*/ 274 h 11389"/>
                  <a:gd name="T28" fmla="*/ 280 w 12696"/>
                  <a:gd name="T29" fmla="*/ 275 h 11389"/>
                  <a:gd name="T30" fmla="*/ 217 w 12696"/>
                  <a:gd name="T31" fmla="*/ 228 h 11389"/>
                  <a:gd name="T32" fmla="*/ 137 w 12696"/>
                  <a:gd name="T33" fmla="*/ 206 h 11389"/>
                  <a:gd name="T34" fmla="*/ 136 w 12696"/>
                  <a:gd name="T35" fmla="*/ 194 h 11389"/>
                  <a:gd name="T36" fmla="*/ 141 w 12696"/>
                  <a:gd name="T37" fmla="*/ 177 h 11389"/>
                  <a:gd name="T38" fmla="*/ 151 w 12696"/>
                  <a:gd name="T39" fmla="*/ 163 h 11389"/>
                  <a:gd name="T40" fmla="*/ 166 w 12696"/>
                  <a:gd name="T41" fmla="*/ 153 h 11389"/>
                  <a:gd name="T42" fmla="*/ 169 w 12696"/>
                  <a:gd name="T43" fmla="*/ 90 h 11389"/>
                  <a:gd name="T44" fmla="*/ 74 w 12696"/>
                  <a:gd name="T45" fmla="*/ 251 h 11389"/>
                  <a:gd name="T46" fmla="*/ 316 w 12696"/>
                  <a:gd name="T47" fmla="*/ 234 h 11389"/>
                  <a:gd name="T48" fmla="*/ 331 w 12696"/>
                  <a:gd name="T49" fmla="*/ 233 h 11389"/>
                  <a:gd name="T50" fmla="*/ 351 w 12696"/>
                  <a:gd name="T51" fmla="*/ 240 h 11389"/>
                  <a:gd name="T52" fmla="*/ 365 w 12696"/>
                  <a:gd name="T53" fmla="*/ 254 h 11389"/>
                  <a:gd name="T54" fmla="*/ 372 w 12696"/>
                  <a:gd name="T55" fmla="*/ 273 h 11389"/>
                  <a:gd name="T56" fmla="*/ 371 w 12696"/>
                  <a:gd name="T57" fmla="*/ 294 h 11389"/>
                  <a:gd name="T58" fmla="*/ 361 w 12696"/>
                  <a:gd name="T59" fmla="*/ 311 h 11389"/>
                  <a:gd name="T60" fmla="*/ 345 w 12696"/>
                  <a:gd name="T61" fmla="*/ 323 h 11389"/>
                  <a:gd name="T62" fmla="*/ 325 w 12696"/>
                  <a:gd name="T63" fmla="*/ 326 h 11389"/>
                  <a:gd name="T64" fmla="*/ 309 w 12696"/>
                  <a:gd name="T65" fmla="*/ 323 h 11389"/>
                  <a:gd name="T66" fmla="*/ 296 w 12696"/>
                  <a:gd name="T67" fmla="*/ 315 h 11389"/>
                  <a:gd name="T68" fmla="*/ 286 w 12696"/>
                  <a:gd name="T69" fmla="*/ 304 h 11389"/>
                  <a:gd name="T70" fmla="*/ 89 w 12696"/>
                  <a:gd name="T71" fmla="*/ 307 h 11389"/>
                  <a:gd name="T72" fmla="*/ 80 w 12696"/>
                  <a:gd name="T73" fmla="*/ 321 h 11389"/>
                  <a:gd name="T74" fmla="*/ 67 w 12696"/>
                  <a:gd name="T75" fmla="*/ 330 h 11389"/>
                  <a:gd name="T76" fmla="*/ 51 w 12696"/>
                  <a:gd name="T77" fmla="*/ 335 h 11389"/>
                  <a:gd name="T78" fmla="*/ 31 w 12696"/>
                  <a:gd name="T79" fmla="*/ 332 h 11389"/>
                  <a:gd name="T80" fmla="*/ 14 w 12696"/>
                  <a:gd name="T81" fmla="*/ 321 h 11389"/>
                  <a:gd name="T82" fmla="*/ 3 w 12696"/>
                  <a:gd name="T83" fmla="*/ 304 h 11389"/>
                  <a:gd name="T84" fmla="*/ 0 w 12696"/>
                  <a:gd name="T85" fmla="*/ 284 h 11389"/>
                  <a:gd name="T86" fmla="*/ 7 w 12696"/>
                  <a:gd name="T87" fmla="*/ 264 h 11389"/>
                  <a:gd name="T88" fmla="*/ 21 w 12696"/>
                  <a:gd name="T89" fmla="*/ 250 h 11389"/>
                  <a:gd name="T90" fmla="*/ 40 w 12696"/>
                  <a:gd name="T91" fmla="*/ 242 h 11389"/>
                  <a:gd name="T92" fmla="*/ 50 w 12696"/>
                  <a:gd name="T93" fmla="*/ 242 h 11389"/>
                  <a:gd name="T94" fmla="*/ 145 w 12696"/>
                  <a:gd name="T95" fmla="*/ 68 h 11389"/>
                  <a:gd name="T96" fmla="*/ 142 w 12696"/>
                  <a:gd name="T97" fmla="*/ 62 h 11389"/>
                  <a:gd name="T98" fmla="*/ 141 w 12696"/>
                  <a:gd name="T99" fmla="*/ 54 h 11389"/>
                  <a:gd name="T100" fmla="*/ 140 w 12696"/>
                  <a:gd name="T101" fmla="*/ 47 h 11389"/>
                  <a:gd name="T102" fmla="*/ 144 w 12696"/>
                  <a:gd name="T103" fmla="*/ 26 h 11389"/>
                  <a:gd name="T104" fmla="*/ 157 w 12696"/>
                  <a:gd name="T105" fmla="*/ 11 h 11389"/>
                  <a:gd name="T106" fmla="*/ 175 w 12696"/>
                  <a:gd name="T107" fmla="*/ 1 h 11389"/>
                  <a:gd name="T108" fmla="*/ 196 w 12696"/>
                  <a:gd name="T109" fmla="*/ 1 h 11389"/>
                  <a:gd name="T110" fmla="*/ 214 w 12696"/>
                  <a:gd name="T111" fmla="*/ 9 h 11389"/>
                  <a:gd name="T112" fmla="*/ 227 w 12696"/>
                  <a:gd name="T113" fmla="*/ 24 h 11389"/>
                  <a:gd name="T114" fmla="*/ 233 w 12696"/>
                  <a:gd name="T115" fmla="*/ 44 h 11389"/>
                  <a:gd name="T116" fmla="*/ 232 w 12696"/>
                  <a:gd name="T117" fmla="*/ 55 h 11389"/>
                  <a:gd name="T118" fmla="*/ 230 w 12696"/>
                  <a:gd name="T119" fmla="*/ 63 h 11389"/>
                  <a:gd name="T120" fmla="*/ 226 w 12696"/>
                  <a:gd name="T121" fmla="*/ 71 h 1138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2696" h="11389">
                    <a:moveTo>
                      <a:pt x="6654" y="3139"/>
                    </a:moveTo>
                    <a:lnTo>
                      <a:pt x="6654" y="5157"/>
                    </a:lnTo>
                    <a:lnTo>
                      <a:pt x="6715" y="5175"/>
                    </a:lnTo>
                    <a:lnTo>
                      <a:pt x="6777" y="5196"/>
                    </a:lnTo>
                    <a:lnTo>
                      <a:pt x="6837" y="5220"/>
                    </a:lnTo>
                    <a:lnTo>
                      <a:pt x="6895" y="5245"/>
                    </a:lnTo>
                    <a:lnTo>
                      <a:pt x="6953" y="5274"/>
                    </a:lnTo>
                    <a:lnTo>
                      <a:pt x="7009" y="5304"/>
                    </a:lnTo>
                    <a:lnTo>
                      <a:pt x="7064" y="5336"/>
                    </a:lnTo>
                    <a:lnTo>
                      <a:pt x="7118" y="5371"/>
                    </a:lnTo>
                    <a:lnTo>
                      <a:pt x="7170" y="5408"/>
                    </a:lnTo>
                    <a:lnTo>
                      <a:pt x="7220" y="5447"/>
                    </a:lnTo>
                    <a:lnTo>
                      <a:pt x="7269" y="5488"/>
                    </a:lnTo>
                    <a:lnTo>
                      <a:pt x="7316" y="5530"/>
                    </a:lnTo>
                    <a:lnTo>
                      <a:pt x="7361" y="5575"/>
                    </a:lnTo>
                    <a:lnTo>
                      <a:pt x="7404" y="5621"/>
                    </a:lnTo>
                    <a:lnTo>
                      <a:pt x="7446" y="5668"/>
                    </a:lnTo>
                    <a:lnTo>
                      <a:pt x="7486" y="5718"/>
                    </a:lnTo>
                    <a:lnTo>
                      <a:pt x="7524" y="5769"/>
                    </a:lnTo>
                    <a:lnTo>
                      <a:pt x="7560" y="5821"/>
                    </a:lnTo>
                    <a:lnTo>
                      <a:pt x="7593" y="5875"/>
                    </a:lnTo>
                    <a:lnTo>
                      <a:pt x="7625" y="5930"/>
                    </a:lnTo>
                    <a:lnTo>
                      <a:pt x="7655" y="5987"/>
                    </a:lnTo>
                    <a:lnTo>
                      <a:pt x="7681" y="6045"/>
                    </a:lnTo>
                    <a:lnTo>
                      <a:pt x="7707" y="6104"/>
                    </a:lnTo>
                    <a:lnTo>
                      <a:pt x="7729" y="6165"/>
                    </a:lnTo>
                    <a:lnTo>
                      <a:pt x="7749" y="6227"/>
                    </a:lnTo>
                    <a:lnTo>
                      <a:pt x="7766" y="6289"/>
                    </a:lnTo>
                    <a:lnTo>
                      <a:pt x="7782" y="6352"/>
                    </a:lnTo>
                    <a:lnTo>
                      <a:pt x="7794" y="6417"/>
                    </a:lnTo>
                    <a:lnTo>
                      <a:pt x="7804" y="6483"/>
                    </a:lnTo>
                    <a:lnTo>
                      <a:pt x="7811" y="6549"/>
                    </a:lnTo>
                    <a:lnTo>
                      <a:pt x="7815" y="6616"/>
                    </a:lnTo>
                    <a:lnTo>
                      <a:pt x="7816" y="6684"/>
                    </a:lnTo>
                    <a:lnTo>
                      <a:pt x="7815" y="6741"/>
                    </a:lnTo>
                    <a:lnTo>
                      <a:pt x="7812" y="6797"/>
                    </a:lnTo>
                    <a:lnTo>
                      <a:pt x="7807" y="6852"/>
                    </a:lnTo>
                    <a:lnTo>
                      <a:pt x="7801" y="6907"/>
                    </a:lnTo>
                    <a:lnTo>
                      <a:pt x="7792" y="6962"/>
                    </a:lnTo>
                    <a:lnTo>
                      <a:pt x="7782" y="7016"/>
                    </a:lnTo>
                    <a:lnTo>
                      <a:pt x="7769" y="7069"/>
                    </a:lnTo>
                    <a:lnTo>
                      <a:pt x="7755" y="7121"/>
                    </a:lnTo>
                    <a:lnTo>
                      <a:pt x="9912" y="8472"/>
                    </a:lnTo>
                    <a:lnTo>
                      <a:pt x="9942" y="8439"/>
                    </a:lnTo>
                    <a:lnTo>
                      <a:pt x="9973" y="8406"/>
                    </a:lnTo>
                    <a:lnTo>
                      <a:pt x="10004" y="8374"/>
                    </a:lnTo>
                    <a:lnTo>
                      <a:pt x="10037" y="8342"/>
                    </a:lnTo>
                    <a:lnTo>
                      <a:pt x="8210" y="6140"/>
                    </a:lnTo>
                    <a:lnTo>
                      <a:pt x="8151" y="6041"/>
                    </a:lnTo>
                    <a:lnTo>
                      <a:pt x="6964" y="3045"/>
                    </a:lnTo>
                    <a:lnTo>
                      <a:pt x="6926" y="3060"/>
                    </a:lnTo>
                    <a:lnTo>
                      <a:pt x="6888" y="3074"/>
                    </a:lnTo>
                    <a:lnTo>
                      <a:pt x="6850" y="3088"/>
                    </a:lnTo>
                    <a:lnTo>
                      <a:pt x="6812" y="3100"/>
                    </a:lnTo>
                    <a:lnTo>
                      <a:pt x="6773" y="3111"/>
                    </a:lnTo>
                    <a:lnTo>
                      <a:pt x="6734" y="3121"/>
                    </a:lnTo>
                    <a:lnTo>
                      <a:pt x="6694" y="3131"/>
                    </a:lnTo>
                    <a:lnTo>
                      <a:pt x="6654" y="3139"/>
                    </a:lnTo>
                    <a:close/>
                    <a:moveTo>
                      <a:pt x="7391" y="7762"/>
                    </a:moveTo>
                    <a:lnTo>
                      <a:pt x="7363" y="7791"/>
                    </a:lnTo>
                    <a:lnTo>
                      <a:pt x="7334" y="7819"/>
                    </a:lnTo>
                    <a:lnTo>
                      <a:pt x="7306" y="7847"/>
                    </a:lnTo>
                    <a:lnTo>
                      <a:pt x="7276" y="7873"/>
                    </a:lnTo>
                    <a:lnTo>
                      <a:pt x="7245" y="7899"/>
                    </a:lnTo>
                    <a:lnTo>
                      <a:pt x="7215" y="7924"/>
                    </a:lnTo>
                    <a:lnTo>
                      <a:pt x="7183" y="7949"/>
                    </a:lnTo>
                    <a:lnTo>
                      <a:pt x="7151" y="7972"/>
                    </a:lnTo>
                    <a:lnTo>
                      <a:pt x="7119" y="7996"/>
                    </a:lnTo>
                    <a:lnTo>
                      <a:pt x="7085" y="8017"/>
                    </a:lnTo>
                    <a:lnTo>
                      <a:pt x="7051" y="8039"/>
                    </a:lnTo>
                    <a:lnTo>
                      <a:pt x="7016" y="8059"/>
                    </a:lnTo>
                    <a:lnTo>
                      <a:pt x="6981" y="8079"/>
                    </a:lnTo>
                    <a:lnTo>
                      <a:pt x="6946" y="8097"/>
                    </a:lnTo>
                    <a:lnTo>
                      <a:pt x="6910" y="8116"/>
                    </a:lnTo>
                    <a:lnTo>
                      <a:pt x="6873" y="8132"/>
                    </a:lnTo>
                    <a:lnTo>
                      <a:pt x="6836" y="8148"/>
                    </a:lnTo>
                    <a:lnTo>
                      <a:pt x="6798" y="8164"/>
                    </a:lnTo>
                    <a:lnTo>
                      <a:pt x="6760" y="8177"/>
                    </a:lnTo>
                    <a:lnTo>
                      <a:pt x="6721" y="8190"/>
                    </a:lnTo>
                    <a:lnTo>
                      <a:pt x="6683" y="8202"/>
                    </a:lnTo>
                    <a:lnTo>
                      <a:pt x="6644" y="8214"/>
                    </a:lnTo>
                    <a:lnTo>
                      <a:pt x="6604" y="8224"/>
                    </a:lnTo>
                    <a:lnTo>
                      <a:pt x="6564" y="8233"/>
                    </a:lnTo>
                    <a:lnTo>
                      <a:pt x="6523" y="8241"/>
                    </a:lnTo>
                    <a:lnTo>
                      <a:pt x="6482" y="8248"/>
                    </a:lnTo>
                    <a:lnTo>
                      <a:pt x="6441" y="8255"/>
                    </a:lnTo>
                    <a:lnTo>
                      <a:pt x="6399" y="8260"/>
                    </a:lnTo>
                    <a:lnTo>
                      <a:pt x="6357" y="8264"/>
                    </a:lnTo>
                    <a:lnTo>
                      <a:pt x="6315" y="8267"/>
                    </a:lnTo>
                    <a:lnTo>
                      <a:pt x="6272" y="8268"/>
                    </a:lnTo>
                    <a:lnTo>
                      <a:pt x="6230" y="8269"/>
                    </a:lnTo>
                    <a:lnTo>
                      <a:pt x="6193" y="8268"/>
                    </a:lnTo>
                    <a:lnTo>
                      <a:pt x="6159" y="8267"/>
                    </a:lnTo>
                    <a:lnTo>
                      <a:pt x="6123" y="8265"/>
                    </a:lnTo>
                    <a:lnTo>
                      <a:pt x="6087" y="8262"/>
                    </a:lnTo>
                    <a:lnTo>
                      <a:pt x="6052" y="8259"/>
                    </a:lnTo>
                    <a:lnTo>
                      <a:pt x="6017" y="8255"/>
                    </a:lnTo>
                    <a:lnTo>
                      <a:pt x="5983" y="8249"/>
                    </a:lnTo>
                    <a:lnTo>
                      <a:pt x="5948" y="8243"/>
                    </a:lnTo>
                    <a:lnTo>
                      <a:pt x="5914" y="8237"/>
                    </a:lnTo>
                    <a:lnTo>
                      <a:pt x="5879" y="8230"/>
                    </a:lnTo>
                    <a:lnTo>
                      <a:pt x="5846" y="8222"/>
                    </a:lnTo>
                    <a:lnTo>
                      <a:pt x="5813" y="8213"/>
                    </a:lnTo>
                    <a:lnTo>
                      <a:pt x="5779" y="8203"/>
                    </a:lnTo>
                    <a:lnTo>
                      <a:pt x="5746" y="8193"/>
                    </a:lnTo>
                    <a:lnTo>
                      <a:pt x="5714" y="8182"/>
                    </a:lnTo>
                    <a:lnTo>
                      <a:pt x="5682" y="8171"/>
                    </a:lnTo>
                    <a:lnTo>
                      <a:pt x="5650" y="8158"/>
                    </a:lnTo>
                    <a:lnTo>
                      <a:pt x="5618" y="8146"/>
                    </a:lnTo>
                    <a:lnTo>
                      <a:pt x="5588" y="8132"/>
                    </a:lnTo>
                    <a:lnTo>
                      <a:pt x="5557" y="8119"/>
                    </a:lnTo>
                    <a:lnTo>
                      <a:pt x="5526" y="8103"/>
                    </a:lnTo>
                    <a:lnTo>
                      <a:pt x="5496" y="8088"/>
                    </a:lnTo>
                    <a:lnTo>
                      <a:pt x="5466" y="8072"/>
                    </a:lnTo>
                    <a:lnTo>
                      <a:pt x="5436" y="8055"/>
                    </a:lnTo>
                    <a:lnTo>
                      <a:pt x="5408" y="8038"/>
                    </a:lnTo>
                    <a:lnTo>
                      <a:pt x="5379" y="8021"/>
                    </a:lnTo>
                    <a:lnTo>
                      <a:pt x="5350" y="8002"/>
                    </a:lnTo>
                    <a:lnTo>
                      <a:pt x="5323" y="7983"/>
                    </a:lnTo>
                    <a:lnTo>
                      <a:pt x="5296" y="7963"/>
                    </a:lnTo>
                    <a:lnTo>
                      <a:pt x="5268" y="7943"/>
                    </a:lnTo>
                    <a:lnTo>
                      <a:pt x="5242" y="7922"/>
                    </a:lnTo>
                    <a:lnTo>
                      <a:pt x="5216" y="7901"/>
                    </a:lnTo>
                    <a:lnTo>
                      <a:pt x="3080" y="9266"/>
                    </a:lnTo>
                    <a:lnTo>
                      <a:pt x="3089" y="9295"/>
                    </a:lnTo>
                    <a:lnTo>
                      <a:pt x="3099" y="9323"/>
                    </a:lnTo>
                    <a:lnTo>
                      <a:pt x="3107" y="9352"/>
                    </a:lnTo>
                    <a:lnTo>
                      <a:pt x="3116" y="9381"/>
                    </a:lnTo>
                    <a:lnTo>
                      <a:pt x="3124" y="9411"/>
                    </a:lnTo>
                    <a:lnTo>
                      <a:pt x="3132" y="9439"/>
                    </a:lnTo>
                    <a:lnTo>
                      <a:pt x="3138" y="9469"/>
                    </a:lnTo>
                    <a:lnTo>
                      <a:pt x="3144" y="9500"/>
                    </a:lnTo>
                    <a:lnTo>
                      <a:pt x="6391" y="8677"/>
                    </a:lnTo>
                    <a:lnTo>
                      <a:pt x="6561" y="8675"/>
                    </a:lnTo>
                    <a:lnTo>
                      <a:pt x="9532" y="9342"/>
                    </a:lnTo>
                    <a:lnTo>
                      <a:pt x="9535" y="9316"/>
                    </a:lnTo>
                    <a:lnTo>
                      <a:pt x="9539" y="9288"/>
                    </a:lnTo>
                    <a:lnTo>
                      <a:pt x="9543" y="9260"/>
                    </a:lnTo>
                    <a:lnTo>
                      <a:pt x="9547" y="9233"/>
                    </a:lnTo>
                    <a:lnTo>
                      <a:pt x="9552" y="9206"/>
                    </a:lnTo>
                    <a:lnTo>
                      <a:pt x="9557" y="9180"/>
                    </a:lnTo>
                    <a:lnTo>
                      <a:pt x="9563" y="9153"/>
                    </a:lnTo>
                    <a:lnTo>
                      <a:pt x="9570" y="9126"/>
                    </a:lnTo>
                    <a:lnTo>
                      <a:pt x="7391" y="7762"/>
                    </a:lnTo>
                    <a:close/>
                    <a:moveTo>
                      <a:pt x="4773" y="7309"/>
                    </a:moveTo>
                    <a:lnTo>
                      <a:pt x="4758" y="7273"/>
                    </a:lnTo>
                    <a:lnTo>
                      <a:pt x="4743" y="7237"/>
                    </a:lnTo>
                    <a:lnTo>
                      <a:pt x="4730" y="7200"/>
                    </a:lnTo>
                    <a:lnTo>
                      <a:pt x="4718" y="7162"/>
                    </a:lnTo>
                    <a:lnTo>
                      <a:pt x="4706" y="7124"/>
                    </a:lnTo>
                    <a:lnTo>
                      <a:pt x="4695" y="7086"/>
                    </a:lnTo>
                    <a:lnTo>
                      <a:pt x="4685" y="7047"/>
                    </a:lnTo>
                    <a:lnTo>
                      <a:pt x="4677" y="7008"/>
                    </a:lnTo>
                    <a:lnTo>
                      <a:pt x="4669" y="6969"/>
                    </a:lnTo>
                    <a:lnTo>
                      <a:pt x="4663" y="6929"/>
                    </a:lnTo>
                    <a:lnTo>
                      <a:pt x="4656" y="6889"/>
                    </a:lnTo>
                    <a:lnTo>
                      <a:pt x="4652" y="6848"/>
                    </a:lnTo>
                    <a:lnTo>
                      <a:pt x="4648" y="6807"/>
                    </a:lnTo>
                    <a:lnTo>
                      <a:pt x="4645" y="6766"/>
                    </a:lnTo>
                    <a:lnTo>
                      <a:pt x="4644" y="6725"/>
                    </a:lnTo>
                    <a:lnTo>
                      <a:pt x="4643" y="6684"/>
                    </a:lnTo>
                    <a:lnTo>
                      <a:pt x="4645" y="6612"/>
                    </a:lnTo>
                    <a:lnTo>
                      <a:pt x="4649" y="6541"/>
                    </a:lnTo>
                    <a:lnTo>
                      <a:pt x="4657" y="6472"/>
                    </a:lnTo>
                    <a:lnTo>
                      <a:pt x="4669" y="6403"/>
                    </a:lnTo>
                    <a:lnTo>
                      <a:pt x="4682" y="6335"/>
                    </a:lnTo>
                    <a:lnTo>
                      <a:pt x="4698" y="6269"/>
                    </a:lnTo>
                    <a:lnTo>
                      <a:pt x="4718" y="6203"/>
                    </a:lnTo>
                    <a:lnTo>
                      <a:pt x="4740" y="6139"/>
                    </a:lnTo>
                    <a:lnTo>
                      <a:pt x="4765" y="6075"/>
                    </a:lnTo>
                    <a:lnTo>
                      <a:pt x="4793" y="6013"/>
                    </a:lnTo>
                    <a:lnTo>
                      <a:pt x="4822" y="5953"/>
                    </a:lnTo>
                    <a:lnTo>
                      <a:pt x="4855" y="5894"/>
                    </a:lnTo>
                    <a:lnTo>
                      <a:pt x="4890" y="5837"/>
                    </a:lnTo>
                    <a:lnTo>
                      <a:pt x="4928" y="5781"/>
                    </a:lnTo>
                    <a:lnTo>
                      <a:pt x="4966" y="5727"/>
                    </a:lnTo>
                    <a:lnTo>
                      <a:pt x="5008" y="5675"/>
                    </a:lnTo>
                    <a:lnTo>
                      <a:pt x="5052" y="5624"/>
                    </a:lnTo>
                    <a:lnTo>
                      <a:pt x="5097" y="5576"/>
                    </a:lnTo>
                    <a:lnTo>
                      <a:pt x="5146" y="5529"/>
                    </a:lnTo>
                    <a:lnTo>
                      <a:pt x="5196" y="5484"/>
                    </a:lnTo>
                    <a:lnTo>
                      <a:pt x="5247" y="5442"/>
                    </a:lnTo>
                    <a:lnTo>
                      <a:pt x="5300" y="5401"/>
                    </a:lnTo>
                    <a:lnTo>
                      <a:pt x="5355" y="5363"/>
                    </a:lnTo>
                    <a:lnTo>
                      <a:pt x="5412" y="5327"/>
                    </a:lnTo>
                    <a:lnTo>
                      <a:pt x="5470" y="5293"/>
                    </a:lnTo>
                    <a:lnTo>
                      <a:pt x="5530" y="5262"/>
                    </a:lnTo>
                    <a:lnTo>
                      <a:pt x="5592" y="5233"/>
                    </a:lnTo>
                    <a:lnTo>
                      <a:pt x="5654" y="5208"/>
                    </a:lnTo>
                    <a:lnTo>
                      <a:pt x="5718" y="5184"/>
                    </a:lnTo>
                    <a:lnTo>
                      <a:pt x="5783" y="5164"/>
                    </a:lnTo>
                    <a:lnTo>
                      <a:pt x="5850" y="5145"/>
                    </a:lnTo>
                    <a:lnTo>
                      <a:pt x="5917" y="5130"/>
                    </a:lnTo>
                    <a:lnTo>
                      <a:pt x="5917" y="3109"/>
                    </a:lnTo>
                    <a:lnTo>
                      <a:pt x="5875" y="3097"/>
                    </a:lnTo>
                    <a:lnTo>
                      <a:pt x="5833" y="3083"/>
                    </a:lnTo>
                    <a:lnTo>
                      <a:pt x="5792" y="3068"/>
                    </a:lnTo>
                    <a:lnTo>
                      <a:pt x="5752" y="3052"/>
                    </a:lnTo>
                    <a:lnTo>
                      <a:pt x="5711" y="3036"/>
                    </a:lnTo>
                    <a:lnTo>
                      <a:pt x="5673" y="3017"/>
                    </a:lnTo>
                    <a:lnTo>
                      <a:pt x="5634" y="2999"/>
                    </a:lnTo>
                    <a:lnTo>
                      <a:pt x="5596" y="2978"/>
                    </a:lnTo>
                    <a:lnTo>
                      <a:pt x="4472" y="5733"/>
                    </a:lnTo>
                    <a:lnTo>
                      <a:pt x="4429" y="5811"/>
                    </a:lnTo>
                    <a:lnTo>
                      <a:pt x="2475" y="8493"/>
                    </a:lnTo>
                    <a:lnTo>
                      <a:pt x="2501" y="8511"/>
                    </a:lnTo>
                    <a:lnTo>
                      <a:pt x="2527" y="8530"/>
                    </a:lnTo>
                    <a:lnTo>
                      <a:pt x="2552" y="8549"/>
                    </a:lnTo>
                    <a:lnTo>
                      <a:pt x="2577" y="8568"/>
                    </a:lnTo>
                    <a:lnTo>
                      <a:pt x="2602" y="8588"/>
                    </a:lnTo>
                    <a:lnTo>
                      <a:pt x="2626" y="8609"/>
                    </a:lnTo>
                    <a:lnTo>
                      <a:pt x="2650" y="8630"/>
                    </a:lnTo>
                    <a:lnTo>
                      <a:pt x="2673" y="8651"/>
                    </a:lnTo>
                    <a:lnTo>
                      <a:pt x="4773" y="7309"/>
                    </a:lnTo>
                    <a:close/>
                    <a:moveTo>
                      <a:pt x="10693" y="7981"/>
                    </a:moveTo>
                    <a:lnTo>
                      <a:pt x="10743" y="7968"/>
                    </a:lnTo>
                    <a:lnTo>
                      <a:pt x="10793" y="7957"/>
                    </a:lnTo>
                    <a:lnTo>
                      <a:pt x="10844" y="7948"/>
                    </a:lnTo>
                    <a:lnTo>
                      <a:pt x="10897" y="7940"/>
                    </a:lnTo>
                    <a:lnTo>
                      <a:pt x="10949" y="7934"/>
                    </a:lnTo>
                    <a:lnTo>
                      <a:pt x="11002" y="7930"/>
                    </a:lnTo>
                    <a:lnTo>
                      <a:pt x="11055" y="7926"/>
                    </a:lnTo>
                    <a:lnTo>
                      <a:pt x="11109" y="7925"/>
                    </a:lnTo>
                    <a:lnTo>
                      <a:pt x="11190" y="7927"/>
                    </a:lnTo>
                    <a:lnTo>
                      <a:pt x="11271" y="7934"/>
                    </a:lnTo>
                    <a:lnTo>
                      <a:pt x="11351" y="7944"/>
                    </a:lnTo>
                    <a:lnTo>
                      <a:pt x="11429" y="7958"/>
                    </a:lnTo>
                    <a:lnTo>
                      <a:pt x="11505" y="7976"/>
                    </a:lnTo>
                    <a:lnTo>
                      <a:pt x="11580" y="7997"/>
                    </a:lnTo>
                    <a:lnTo>
                      <a:pt x="11654" y="8023"/>
                    </a:lnTo>
                    <a:lnTo>
                      <a:pt x="11727" y="8050"/>
                    </a:lnTo>
                    <a:lnTo>
                      <a:pt x="11796" y="8082"/>
                    </a:lnTo>
                    <a:lnTo>
                      <a:pt x="11865" y="8118"/>
                    </a:lnTo>
                    <a:lnTo>
                      <a:pt x="11931" y="8155"/>
                    </a:lnTo>
                    <a:lnTo>
                      <a:pt x="11996" y="8197"/>
                    </a:lnTo>
                    <a:lnTo>
                      <a:pt x="12058" y="8241"/>
                    </a:lnTo>
                    <a:lnTo>
                      <a:pt x="12117" y="8288"/>
                    </a:lnTo>
                    <a:lnTo>
                      <a:pt x="12175" y="8338"/>
                    </a:lnTo>
                    <a:lnTo>
                      <a:pt x="12230" y="8391"/>
                    </a:lnTo>
                    <a:lnTo>
                      <a:pt x="12283" y="8446"/>
                    </a:lnTo>
                    <a:lnTo>
                      <a:pt x="12333" y="8503"/>
                    </a:lnTo>
                    <a:lnTo>
                      <a:pt x="12380" y="8563"/>
                    </a:lnTo>
                    <a:lnTo>
                      <a:pt x="12424" y="8626"/>
                    </a:lnTo>
                    <a:lnTo>
                      <a:pt x="12465" y="8690"/>
                    </a:lnTo>
                    <a:lnTo>
                      <a:pt x="12504" y="8756"/>
                    </a:lnTo>
                    <a:lnTo>
                      <a:pt x="12539" y="8824"/>
                    </a:lnTo>
                    <a:lnTo>
                      <a:pt x="12571" y="8894"/>
                    </a:lnTo>
                    <a:lnTo>
                      <a:pt x="12599" y="8966"/>
                    </a:lnTo>
                    <a:lnTo>
                      <a:pt x="12624" y="9040"/>
                    </a:lnTo>
                    <a:lnTo>
                      <a:pt x="12645" y="9115"/>
                    </a:lnTo>
                    <a:lnTo>
                      <a:pt x="12664" y="9192"/>
                    </a:lnTo>
                    <a:lnTo>
                      <a:pt x="12677" y="9270"/>
                    </a:lnTo>
                    <a:lnTo>
                      <a:pt x="12687" y="9348"/>
                    </a:lnTo>
                    <a:lnTo>
                      <a:pt x="12694" y="9429"/>
                    </a:lnTo>
                    <a:lnTo>
                      <a:pt x="12696" y="9510"/>
                    </a:lnTo>
                    <a:lnTo>
                      <a:pt x="12694" y="9592"/>
                    </a:lnTo>
                    <a:lnTo>
                      <a:pt x="12687" y="9672"/>
                    </a:lnTo>
                    <a:lnTo>
                      <a:pt x="12677" y="9751"/>
                    </a:lnTo>
                    <a:lnTo>
                      <a:pt x="12664" y="9829"/>
                    </a:lnTo>
                    <a:lnTo>
                      <a:pt x="12645" y="9905"/>
                    </a:lnTo>
                    <a:lnTo>
                      <a:pt x="12624" y="9981"/>
                    </a:lnTo>
                    <a:lnTo>
                      <a:pt x="12599" y="10055"/>
                    </a:lnTo>
                    <a:lnTo>
                      <a:pt x="12571" y="10126"/>
                    </a:lnTo>
                    <a:lnTo>
                      <a:pt x="12539" y="10197"/>
                    </a:lnTo>
                    <a:lnTo>
                      <a:pt x="12504" y="10265"/>
                    </a:lnTo>
                    <a:lnTo>
                      <a:pt x="12465" y="10332"/>
                    </a:lnTo>
                    <a:lnTo>
                      <a:pt x="12424" y="10395"/>
                    </a:lnTo>
                    <a:lnTo>
                      <a:pt x="12380" y="10457"/>
                    </a:lnTo>
                    <a:lnTo>
                      <a:pt x="12333" y="10518"/>
                    </a:lnTo>
                    <a:lnTo>
                      <a:pt x="12283" y="10575"/>
                    </a:lnTo>
                    <a:lnTo>
                      <a:pt x="12230" y="10630"/>
                    </a:lnTo>
                    <a:lnTo>
                      <a:pt x="12175" y="10682"/>
                    </a:lnTo>
                    <a:lnTo>
                      <a:pt x="12117" y="10732"/>
                    </a:lnTo>
                    <a:lnTo>
                      <a:pt x="12058" y="10779"/>
                    </a:lnTo>
                    <a:lnTo>
                      <a:pt x="11996" y="10824"/>
                    </a:lnTo>
                    <a:lnTo>
                      <a:pt x="11931" y="10865"/>
                    </a:lnTo>
                    <a:lnTo>
                      <a:pt x="11865" y="10903"/>
                    </a:lnTo>
                    <a:lnTo>
                      <a:pt x="11796" y="10939"/>
                    </a:lnTo>
                    <a:lnTo>
                      <a:pt x="11727" y="10970"/>
                    </a:lnTo>
                    <a:lnTo>
                      <a:pt x="11654" y="10999"/>
                    </a:lnTo>
                    <a:lnTo>
                      <a:pt x="11580" y="11024"/>
                    </a:lnTo>
                    <a:lnTo>
                      <a:pt x="11505" y="11045"/>
                    </a:lnTo>
                    <a:lnTo>
                      <a:pt x="11429" y="11062"/>
                    </a:lnTo>
                    <a:lnTo>
                      <a:pt x="11351" y="11077"/>
                    </a:lnTo>
                    <a:lnTo>
                      <a:pt x="11271" y="11087"/>
                    </a:lnTo>
                    <a:lnTo>
                      <a:pt x="11190" y="11093"/>
                    </a:lnTo>
                    <a:lnTo>
                      <a:pt x="11109" y="11095"/>
                    </a:lnTo>
                    <a:lnTo>
                      <a:pt x="11048" y="11094"/>
                    </a:lnTo>
                    <a:lnTo>
                      <a:pt x="10988" y="11090"/>
                    </a:lnTo>
                    <a:lnTo>
                      <a:pt x="10927" y="11085"/>
                    </a:lnTo>
                    <a:lnTo>
                      <a:pt x="10868" y="11077"/>
                    </a:lnTo>
                    <a:lnTo>
                      <a:pt x="10809" y="11066"/>
                    </a:lnTo>
                    <a:lnTo>
                      <a:pt x="10750" y="11054"/>
                    </a:lnTo>
                    <a:lnTo>
                      <a:pt x="10693" y="11040"/>
                    </a:lnTo>
                    <a:lnTo>
                      <a:pt x="10637" y="11022"/>
                    </a:lnTo>
                    <a:lnTo>
                      <a:pt x="10581" y="11004"/>
                    </a:lnTo>
                    <a:lnTo>
                      <a:pt x="10526" y="10984"/>
                    </a:lnTo>
                    <a:lnTo>
                      <a:pt x="10473" y="10961"/>
                    </a:lnTo>
                    <a:lnTo>
                      <a:pt x="10421" y="10938"/>
                    </a:lnTo>
                    <a:lnTo>
                      <a:pt x="10369" y="10911"/>
                    </a:lnTo>
                    <a:lnTo>
                      <a:pt x="10318" y="10883"/>
                    </a:lnTo>
                    <a:lnTo>
                      <a:pt x="10268" y="10854"/>
                    </a:lnTo>
                    <a:lnTo>
                      <a:pt x="10220" y="10822"/>
                    </a:lnTo>
                    <a:lnTo>
                      <a:pt x="10173" y="10788"/>
                    </a:lnTo>
                    <a:lnTo>
                      <a:pt x="10128" y="10754"/>
                    </a:lnTo>
                    <a:lnTo>
                      <a:pt x="10083" y="10718"/>
                    </a:lnTo>
                    <a:lnTo>
                      <a:pt x="10040" y="10680"/>
                    </a:lnTo>
                    <a:lnTo>
                      <a:pt x="9999" y="10640"/>
                    </a:lnTo>
                    <a:lnTo>
                      <a:pt x="9958" y="10599"/>
                    </a:lnTo>
                    <a:lnTo>
                      <a:pt x="9919" y="10557"/>
                    </a:lnTo>
                    <a:lnTo>
                      <a:pt x="9883" y="10513"/>
                    </a:lnTo>
                    <a:lnTo>
                      <a:pt x="9847" y="10468"/>
                    </a:lnTo>
                    <a:lnTo>
                      <a:pt x="9813" y="10422"/>
                    </a:lnTo>
                    <a:lnTo>
                      <a:pt x="9780" y="10374"/>
                    </a:lnTo>
                    <a:lnTo>
                      <a:pt x="9751" y="10325"/>
                    </a:lnTo>
                    <a:lnTo>
                      <a:pt x="9721" y="10276"/>
                    </a:lnTo>
                    <a:lnTo>
                      <a:pt x="9694" y="10225"/>
                    </a:lnTo>
                    <a:lnTo>
                      <a:pt x="9669" y="10173"/>
                    </a:lnTo>
                    <a:lnTo>
                      <a:pt x="9645" y="10120"/>
                    </a:lnTo>
                    <a:lnTo>
                      <a:pt x="6486" y="9411"/>
                    </a:lnTo>
                    <a:lnTo>
                      <a:pt x="3105" y="10267"/>
                    </a:lnTo>
                    <a:lnTo>
                      <a:pt x="3085" y="10327"/>
                    </a:lnTo>
                    <a:lnTo>
                      <a:pt x="3063" y="10387"/>
                    </a:lnTo>
                    <a:lnTo>
                      <a:pt x="3039" y="10445"/>
                    </a:lnTo>
                    <a:lnTo>
                      <a:pt x="3012" y="10502"/>
                    </a:lnTo>
                    <a:lnTo>
                      <a:pt x="2982" y="10557"/>
                    </a:lnTo>
                    <a:lnTo>
                      <a:pt x="2952" y="10612"/>
                    </a:lnTo>
                    <a:lnTo>
                      <a:pt x="2919" y="10665"/>
                    </a:lnTo>
                    <a:lnTo>
                      <a:pt x="2884" y="10716"/>
                    </a:lnTo>
                    <a:lnTo>
                      <a:pt x="2847" y="10767"/>
                    </a:lnTo>
                    <a:lnTo>
                      <a:pt x="2808" y="10815"/>
                    </a:lnTo>
                    <a:lnTo>
                      <a:pt x="2767" y="10862"/>
                    </a:lnTo>
                    <a:lnTo>
                      <a:pt x="2725" y="10908"/>
                    </a:lnTo>
                    <a:lnTo>
                      <a:pt x="2680" y="10951"/>
                    </a:lnTo>
                    <a:lnTo>
                      <a:pt x="2635" y="10993"/>
                    </a:lnTo>
                    <a:lnTo>
                      <a:pt x="2587" y="11034"/>
                    </a:lnTo>
                    <a:lnTo>
                      <a:pt x="2539" y="11072"/>
                    </a:lnTo>
                    <a:lnTo>
                      <a:pt x="2488" y="11108"/>
                    </a:lnTo>
                    <a:lnTo>
                      <a:pt x="2436" y="11143"/>
                    </a:lnTo>
                    <a:lnTo>
                      <a:pt x="2383" y="11176"/>
                    </a:lnTo>
                    <a:lnTo>
                      <a:pt x="2328" y="11205"/>
                    </a:lnTo>
                    <a:lnTo>
                      <a:pt x="2272" y="11234"/>
                    </a:lnTo>
                    <a:lnTo>
                      <a:pt x="2215" y="11261"/>
                    </a:lnTo>
                    <a:lnTo>
                      <a:pt x="2156" y="11284"/>
                    </a:lnTo>
                    <a:lnTo>
                      <a:pt x="2097" y="11306"/>
                    </a:lnTo>
                    <a:lnTo>
                      <a:pt x="2037" y="11325"/>
                    </a:lnTo>
                    <a:lnTo>
                      <a:pt x="1974" y="11342"/>
                    </a:lnTo>
                    <a:lnTo>
                      <a:pt x="1912" y="11357"/>
                    </a:lnTo>
                    <a:lnTo>
                      <a:pt x="1848" y="11368"/>
                    </a:lnTo>
                    <a:lnTo>
                      <a:pt x="1784" y="11377"/>
                    </a:lnTo>
                    <a:lnTo>
                      <a:pt x="1720" y="11384"/>
                    </a:lnTo>
                    <a:lnTo>
                      <a:pt x="1654" y="11388"/>
                    </a:lnTo>
                    <a:lnTo>
                      <a:pt x="1588" y="11389"/>
                    </a:lnTo>
                    <a:lnTo>
                      <a:pt x="1506" y="11387"/>
                    </a:lnTo>
                    <a:lnTo>
                      <a:pt x="1425" y="11381"/>
                    </a:lnTo>
                    <a:lnTo>
                      <a:pt x="1346" y="11372"/>
                    </a:lnTo>
                    <a:lnTo>
                      <a:pt x="1268" y="11358"/>
                    </a:lnTo>
                    <a:lnTo>
                      <a:pt x="1191" y="11340"/>
                    </a:lnTo>
                    <a:lnTo>
                      <a:pt x="1116" y="11319"/>
                    </a:lnTo>
                    <a:lnTo>
                      <a:pt x="1042" y="11293"/>
                    </a:lnTo>
                    <a:lnTo>
                      <a:pt x="970" y="11265"/>
                    </a:lnTo>
                    <a:lnTo>
                      <a:pt x="900" y="11233"/>
                    </a:lnTo>
                    <a:lnTo>
                      <a:pt x="831" y="11198"/>
                    </a:lnTo>
                    <a:lnTo>
                      <a:pt x="766" y="11160"/>
                    </a:lnTo>
                    <a:lnTo>
                      <a:pt x="701" y="11119"/>
                    </a:lnTo>
                    <a:lnTo>
                      <a:pt x="639" y="11075"/>
                    </a:lnTo>
                    <a:lnTo>
                      <a:pt x="579" y="11028"/>
                    </a:lnTo>
                    <a:lnTo>
                      <a:pt x="521" y="10978"/>
                    </a:lnTo>
                    <a:lnTo>
                      <a:pt x="466" y="10924"/>
                    </a:lnTo>
                    <a:lnTo>
                      <a:pt x="414" y="10870"/>
                    </a:lnTo>
                    <a:lnTo>
                      <a:pt x="364" y="10812"/>
                    </a:lnTo>
                    <a:lnTo>
                      <a:pt x="317" y="10753"/>
                    </a:lnTo>
                    <a:lnTo>
                      <a:pt x="272" y="10690"/>
                    </a:lnTo>
                    <a:lnTo>
                      <a:pt x="231" y="10626"/>
                    </a:lnTo>
                    <a:lnTo>
                      <a:pt x="193" y="10559"/>
                    </a:lnTo>
                    <a:lnTo>
                      <a:pt x="157" y="10491"/>
                    </a:lnTo>
                    <a:lnTo>
                      <a:pt x="125" y="10421"/>
                    </a:lnTo>
                    <a:lnTo>
                      <a:pt x="97" y="10349"/>
                    </a:lnTo>
                    <a:lnTo>
                      <a:pt x="72" y="10275"/>
                    </a:lnTo>
                    <a:lnTo>
                      <a:pt x="50" y="10201"/>
                    </a:lnTo>
                    <a:lnTo>
                      <a:pt x="33" y="10124"/>
                    </a:lnTo>
                    <a:lnTo>
                      <a:pt x="19" y="10046"/>
                    </a:lnTo>
                    <a:lnTo>
                      <a:pt x="9" y="9967"/>
                    </a:lnTo>
                    <a:lnTo>
                      <a:pt x="2" y="9887"/>
                    </a:lnTo>
                    <a:lnTo>
                      <a:pt x="0" y="9805"/>
                    </a:lnTo>
                    <a:lnTo>
                      <a:pt x="2" y="9724"/>
                    </a:lnTo>
                    <a:lnTo>
                      <a:pt x="9" y="9644"/>
                    </a:lnTo>
                    <a:lnTo>
                      <a:pt x="19" y="9564"/>
                    </a:lnTo>
                    <a:lnTo>
                      <a:pt x="33" y="9486"/>
                    </a:lnTo>
                    <a:lnTo>
                      <a:pt x="50" y="9410"/>
                    </a:lnTo>
                    <a:lnTo>
                      <a:pt x="72" y="9335"/>
                    </a:lnTo>
                    <a:lnTo>
                      <a:pt x="97" y="9261"/>
                    </a:lnTo>
                    <a:lnTo>
                      <a:pt x="125" y="9190"/>
                    </a:lnTo>
                    <a:lnTo>
                      <a:pt x="157" y="9119"/>
                    </a:lnTo>
                    <a:lnTo>
                      <a:pt x="193" y="9051"/>
                    </a:lnTo>
                    <a:lnTo>
                      <a:pt x="231" y="8984"/>
                    </a:lnTo>
                    <a:lnTo>
                      <a:pt x="272" y="8920"/>
                    </a:lnTo>
                    <a:lnTo>
                      <a:pt x="317" y="8858"/>
                    </a:lnTo>
                    <a:lnTo>
                      <a:pt x="364" y="8798"/>
                    </a:lnTo>
                    <a:lnTo>
                      <a:pt x="414" y="8741"/>
                    </a:lnTo>
                    <a:lnTo>
                      <a:pt x="466" y="8686"/>
                    </a:lnTo>
                    <a:lnTo>
                      <a:pt x="521" y="8633"/>
                    </a:lnTo>
                    <a:lnTo>
                      <a:pt x="579" y="8583"/>
                    </a:lnTo>
                    <a:lnTo>
                      <a:pt x="639" y="8536"/>
                    </a:lnTo>
                    <a:lnTo>
                      <a:pt x="701" y="8492"/>
                    </a:lnTo>
                    <a:lnTo>
                      <a:pt x="766" y="8451"/>
                    </a:lnTo>
                    <a:lnTo>
                      <a:pt x="831" y="8412"/>
                    </a:lnTo>
                    <a:lnTo>
                      <a:pt x="900" y="8377"/>
                    </a:lnTo>
                    <a:lnTo>
                      <a:pt x="970" y="8346"/>
                    </a:lnTo>
                    <a:lnTo>
                      <a:pt x="1042" y="8317"/>
                    </a:lnTo>
                    <a:lnTo>
                      <a:pt x="1116" y="8292"/>
                    </a:lnTo>
                    <a:lnTo>
                      <a:pt x="1191" y="8271"/>
                    </a:lnTo>
                    <a:lnTo>
                      <a:pt x="1268" y="8253"/>
                    </a:lnTo>
                    <a:lnTo>
                      <a:pt x="1346" y="8239"/>
                    </a:lnTo>
                    <a:lnTo>
                      <a:pt x="1425" y="8229"/>
                    </a:lnTo>
                    <a:lnTo>
                      <a:pt x="1506" y="8223"/>
                    </a:lnTo>
                    <a:lnTo>
                      <a:pt x="1588" y="8221"/>
                    </a:lnTo>
                    <a:lnTo>
                      <a:pt x="1608" y="8221"/>
                    </a:lnTo>
                    <a:lnTo>
                      <a:pt x="1630" y="8221"/>
                    </a:lnTo>
                    <a:lnTo>
                      <a:pt x="1651" y="8222"/>
                    </a:lnTo>
                    <a:lnTo>
                      <a:pt x="1672" y="8223"/>
                    </a:lnTo>
                    <a:lnTo>
                      <a:pt x="1694" y="8224"/>
                    </a:lnTo>
                    <a:lnTo>
                      <a:pt x="1715" y="8226"/>
                    </a:lnTo>
                    <a:lnTo>
                      <a:pt x="1736" y="8227"/>
                    </a:lnTo>
                    <a:lnTo>
                      <a:pt x="1757" y="8229"/>
                    </a:lnTo>
                    <a:lnTo>
                      <a:pt x="3807" y="5415"/>
                    </a:lnTo>
                    <a:lnTo>
                      <a:pt x="5018" y="2446"/>
                    </a:lnTo>
                    <a:lnTo>
                      <a:pt x="5003" y="2423"/>
                    </a:lnTo>
                    <a:lnTo>
                      <a:pt x="4988" y="2399"/>
                    </a:lnTo>
                    <a:lnTo>
                      <a:pt x="4975" y="2375"/>
                    </a:lnTo>
                    <a:lnTo>
                      <a:pt x="4960" y="2351"/>
                    </a:lnTo>
                    <a:lnTo>
                      <a:pt x="4947" y="2326"/>
                    </a:lnTo>
                    <a:lnTo>
                      <a:pt x="4934" y="2302"/>
                    </a:lnTo>
                    <a:lnTo>
                      <a:pt x="4921" y="2277"/>
                    </a:lnTo>
                    <a:lnTo>
                      <a:pt x="4909" y="2252"/>
                    </a:lnTo>
                    <a:lnTo>
                      <a:pt x="4898" y="2226"/>
                    </a:lnTo>
                    <a:lnTo>
                      <a:pt x="4887" y="2201"/>
                    </a:lnTo>
                    <a:lnTo>
                      <a:pt x="4876" y="2175"/>
                    </a:lnTo>
                    <a:lnTo>
                      <a:pt x="4866" y="2148"/>
                    </a:lnTo>
                    <a:lnTo>
                      <a:pt x="4856" y="2122"/>
                    </a:lnTo>
                    <a:lnTo>
                      <a:pt x="4847" y="2095"/>
                    </a:lnTo>
                    <a:lnTo>
                      <a:pt x="4838" y="2069"/>
                    </a:lnTo>
                    <a:lnTo>
                      <a:pt x="4829" y="2041"/>
                    </a:lnTo>
                    <a:lnTo>
                      <a:pt x="4821" y="2014"/>
                    </a:lnTo>
                    <a:lnTo>
                      <a:pt x="4814" y="1987"/>
                    </a:lnTo>
                    <a:lnTo>
                      <a:pt x="4807" y="1959"/>
                    </a:lnTo>
                    <a:lnTo>
                      <a:pt x="4800" y="1932"/>
                    </a:lnTo>
                    <a:lnTo>
                      <a:pt x="4794" y="1903"/>
                    </a:lnTo>
                    <a:lnTo>
                      <a:pt x="4788" y="1875"/>
                    </a:lnTo>
                    <a:lnTo>
                      <a:pt x="4783" y="1847"/>
                    </a:lnTo>
                    <a:lnTo>
                      <a:pt x="4779" y="1818"/>
                    </a:lnTo>
                    <a:lnTo>
                      <a:pt x="4775" y="1790"/>
                    </a:lnTo>
                    <a:lnTo>
                      <a:pt x="4771" y="1761"/>
                    </a:lnTo>
                    <a:lnTo>
                      <a:pt x="4768" y="1731"/>
                    </a:lnTo>
                    <a:lnTo>
                      <a:pt x="4766" y="1703"/>
                    </a:lnTo>
                    <a:lnTo>
                      <a:pt x="4764" y="1673"/>
                    </a:lnTo>
                    <a:lnTo>
                      <a:pt x="4763" y="1643"/>
                    </a:lnTo>
                    <a:lnTo>
                      <a:pt x="4762" y="1614"/>
                    </a:lnTo>
                    <a:lnTo>
                      <a:pt x="4762" y="1584"/>
                    </a:lnTo>
                    <a:lnTo>
                      <a:pt x="4764" y="1503"/>
                    </a:lnTo>
                    <a:lnTo>
                      <a:pt x="4770" y="1423"/>
                    </a:lnTo>
                    <a:lnTo>
                      <a:pt x="4780" y="1344"/>
                    </a:lnTo>
                    <a:lnTo>
                      <a:pt x="4794" y="1265"/>
                    </a:lnTo>
                    <a:lnTo>
                      <a:pt x="4812" y="1190"/>
                    </a:lnTo>
                    <a:lnTo>
                      <a:pt x="4833" y="1114"/>
                    </a:lnTo>
                    <a:lnTo>
                      <a:pt x="4858" y="1040"/>
                    </a:lnTo>
                    <a:lnTo>
                      <a:pt x="4887" y="969"/>
                    </a:lnTo>
                    <a:lnTo>
                      <a:pt x="4918" y="898"/>
                    </a:lnTo>
                    <a:lnTo>
                      <a:pt x="4953" y="830"/>
                    </a:lnTo>
                    <a:lnTo>
                      <a:pt x="4992" y="763"/>
                    </a:lnTo>
                    <a:lnTo>
                      <a:pt x="5033" y="699"/>
                    </a:lnTo>
                    <a:lnTo>
                      <a:pt x="5077" y="638"/>
                    </a:lnTo>
                    <a:lnTo>
                      <a:pt x="5124" y="577"/>
                    </a:lnTo>
                    <a:lnTo>
                      <a:pt x="5174" y="520"/>
                    </a:lnTo>
                    <a:lnTo>
                      <a:pt x="5227" y="465"/>
                    </a:lnTo>
                    <a:lnTo>
                      <a:pt x="5283" y="412"/>
                    </a:lnTo>
                    <a:lnTo>
                      <a:pt x="5340" y="363"/>
                    </a:lnTo>
                    <a:lnTo>
                      <a:pt x="5399" y="316"/>
                    </a:lnTo>
                    <a:lnTo>
                      <a:pt x="5462" y="271"/>
                    </a:lnTo>
                    <a:lnTo>
                      <a:pt x="5526" y="230"/>
                    </a:lnTo>
                    <a:lnTo>
                      <a:pt x="5593" y="191"/>
                    </a:lnTo>
                    <a:lnTo>
                      <a:pt x="5661" y="156"/>
                    </a:lnTo>
                    <a:lnTo>
                      <a:pt x="5732" y="125"/>
                    </a:lnTo>
                    <a:lnTo>
                      <a:pt x="5804" y="96"/>
                    </a:lnTo>
                    <a:lnTo>
                      <a:pt x="5877" y="71"/>
                    </a:lnTo>
                    <a:lnTo>
                      <a:pt x="5952" y="50"/>
                    </a:lnTo>
                    <a:lnTo>
                      <a:pt x="6029" y="32"/>
                    </a:lnTo>
                    <a:lnTo>
                      <a:pt x="6107" y="18"/>
                    </a:lnTo>
                    <a:lnTo>
                      <a:pt x="6186" y="8"/>
                    </a:lnTo>
                    <a:lnTo>
                      <a:pt x="6267" y="2"/>
                    </a:lnTo>
                    <a:lnTo>
                      <a:pt x="6348" y="0"/>
                    </a:lnTo>
                    <a:lnTo>
                      <a:pt x="6430" y="2"/>
                    </a:lnTo>
                    <a:lnTo>
                      <a:pt x="6510" y="8"/>
                    </a:lnTo>
                    <a:lnTo>
                      <a:pt x="6589" y="18"/>
                    </a:lnTo>
                    <a:lnTo>
                      <a:pt x="6667" y="32"/>
                    </a:lnTo>
                    <a:lnTo>
                      <a:pt x="6744" y="50"/>
                    </a:lnTo>
                    <a:lnTo>
                      <a:pt x="6819" y="71"/>
                    </a:lnTo>
                    <a:lnTo>
                      <a:pt x="6892" y="96"/>
                    </a:lnTo>
                    <a:lnTo>
                      <a:pt x="6965" y="125"/>
                    </a:lnTo>
                    <a:lnTo>
                      <a:pt x="7035" y="156"/>
                    </a:lnTo>
                    <a:lnTo>
                      <a:pt x="7103" y="191"/>
                    </a:lnTo>
                    <a:lnTo>
                      <a:pt x="7170" y="230"/>
                    </a:lnTo>
                    <a:lnTo>
                      <a:pt x="7234" y="271"/>
                    </a:lnTo>
                    <a:lnTo>
                      <a:pt x="7297" y="316"/>
                    </a:lnTo>
                    <a:lnTo>
                      <a:pt x="7357" y="363"/>
                    </a:lnTo>
                    <a:lnTo>
                      <a:pt x="7414" y="412"/>
                    </a:lnTo>
                    <a:lnTo>
                      <a:pt x="7470" y="465"/>
                    </a:lnTo>
                    <a:lnTo>
                      <a:pt x="7522" y="520"/>
                    </a:lnTo>
                    <a:lnTo>
                      <a:pt x="7572" y="577"/>
                    </a:lnTo>
                    <a:lnTo>
                      <a:pt x="7619" y="638"/>
                    </a:lnTo>
                    <a:lnTo>
                      <a:pt x="7663" y="699"/>
                    </a:lnTo>
                    <a:lnTo>
                      <a:pt x="7705" y="763"/>
                    </a:lnTo>
                    <a:lnTo>
                      <a:pt x="7743" y="830"/>
                    </a:lnTo>
                    <a:lnTo>
                      <a:pt x="7778" y="898"/>
                    </a:lnTo>
                    <a:lnTo>
                      <a:pt x="7810" y="969"/>
                    </a:lnTo>
                    <a:lnTo>
                      <a:pt x="7838" y="1040"/>
                    </a:lnTo>
                    <a:lnTo>
                      <a:pt x="7864" y="1114"/>
                    </a:lnTo>
                    <a:lnTo>
                      <a:pt x="7885" y="1190"/>
                    </a:lnTo>
                    <a:lnTo>
                      <a:pt x="7902" y="1265"/>
                    </a:lnTo>
                    <a:lnTo>
                      <a:pt x="7917" y="1344"/>
                    </a:lnTo>
                    <a:lnTo>
                      <a:pt x="7927" y="1423"/>
                    </a:lnTo>
                    <a:lnTo>
                      <a:pt x="7933" y="1503"/>
                    </a:lnTo>
                    <a:lnTo>
                      <a:pt x="7935" y="1584"/>
                    </a:lnTo>
                    <a:lnTo>
                      <a:pt x="7934" y="1620"/>
                    </a:lnTo>
                    <a:lnTo>
                      <a:pt x="7933" y="1656"/>
                    </a:lnTo>
                    <a:lnTo>
                      <a:pt x="7931" y="1690"/>
                    </a:lnTo>
                    <a:lnTo>
                      <a:pt x="7929" y="1725"/>
                    </a:lnTo>
                    <a:lnTo>
                      <a:pt x="7925" y="1760"/>
                    </a:lnTo>
                    <a:lnTo>
                      <a:pt x="7921" y="1795"/>
                    </a:lnTo>
                    <a:lnTo>
                      <a:pt x="7916" y="1829"/>
                    </a:lnTo>
                    <a:lnTo>
                      <a:pt x="7911" y="1863"/>
                    </a:lnTo>
                    <a:lnTo>
                      <a:pt x="7903" y="1897"/>
                    </a:lnTo>
                    <a:lnTo>
                      <a:pt x="7896" y="1931"/>
                    </a:lnTo>
                    <a:lnTo>
                      <a:pt x="7889" y="1964"/>
                    </a:lnTo>
                    <a:lnTo>
                      <a:pt x="7880" y="1997"/>
                    </a:lnTo>
                    <a:lnTo>
                      <a:pt x="7871" y="2030"/>
                    </a:lnTo>
                    <a:lnTo>
                      <a:pt x="7861" y="2063"/>
                    </a:lnTo>
                    <a:lnTo>
                      <a:pt x="7850" y="2094"/>
                    </a:lnTo>
                    <a:lnTo>
                      <a:pt x="7839" y="2126"/>
                    </a:lnTo>
                    <a:lnTo>
                      <a:pt x="7827" y="2158"/>
                    </a:lnTo>
                    <a:lnTo>
                      <a:pt x="7814" y="2189"/>
                    </a:lnTo>
                    <a:lnTo>
                      <a:pt x="7801" y="2220"/>
                    </a:lnTo>
                    <a:lnTo>
                      <a:pt x="7788" y="2251"/>
                    </a:lnTo>
                    <a:lnTo>
                      <a:pt x="7772" y="2280"/>
                    </a:lnTo>
                    <a:lnTo>
                      <a:pt x="7758" y="2311"/>
                    </a:lnTo>
                    <a:lnTo>
                      <a:pt x="7742" y="2341"/>
                    </a:lnTo>
                    <a:lnTo>
                      <a:pt x="7725" y="2369"/>
                    </a:lnTo>
                    <a:lnTo>
                      <a:pt x="7709" y="2398"/>
                    </a:lnTo>
                    <a:lnTo>
                      <a:pt x="7692" y="2426"/>
                    </a:lnTo>
                    <a:lnTo>
                      <a:pt x="7673" y="2454"/>
                    </a:lnTo>
                    <a:lnTo>
                      <a:pt x="7655" y="2482"/>
                    </a:lnTo>
                    <a:lnTo>
                      <a:pt x="7635" y="2509"/>
                    </a:lnTo>
                    <a:lnTo>
                      <a:pt x="7616" y="2536"/>
                    </a:lnTo>
                    <a:lnTo>
                      <a:pt x="7595" y="2562"/>
                    </a:lnTo>
                    <a:lnTo>
                      <a:pt x="7575" y="2588"/>
                    </a:lnTo>
                    <a:lnTo>
                      <a:pt x="8815" y="5717"/>
                    </a:lnTo>
                    <a:lnTo>
                      <a:pt x="10693" y="7981"/>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8" name="Freeform 275"/>
              <p:cNvSpPr>
                <a:spLocks noEditPoints="1"/>
              </p:cNvSpPr>
              <p:nvPr/>
            </p:nvSpPr>
            <p:spPr bwMode="auto">
              <a:xfrm>
                <a:off x="3916" y="3037"/>
                <a:ext cx="374" cy="335"/>
              </a:xfrm>
              <a:custGeom>
                <a:avLst/>
                <a:gdLst>
                  <a:gd name="T0" fmla="*/ 208 w 12695"/>
                  <a:gd name="T1" fmla="*/ 157 h 11390"/>
                  <a:gd name="T2" fmla="*/ 221 w 12695"/>
                  <a:gd name="T3" fmla="*/ 168 h 11390"/>
                  <a:gd name="T4" fmla="*/ 228 w 12695"/>
                  <a:gd name="T5" fmla="*/ 183 h 11390"/>
                  <a:gd name="T6" fmla="*/ 230 w 12695"/>
                  <a:gd name="T7" fmla="*/ 200 h 11390"/>
                  <a:gd name="T8" fmla="*/ 294 w 12695"/>
                  <a:gd name="T9" fmla="*/ 247 h 11390"/>
                  <a:gd name="T10" fmla="*/ 201 w 12695"/>
                  <a:gd name="T11" fmla="*/ 91 h 11390"/>
                  <a:gd name="T12" fmla="*/ 214 w 12695"/>
                  <a:gd name="T13" fmla="*/ 232 h 11390"/>
                  <a:gd name="T14" fmla="*/ 206 w 12695"/>
                  <a:gd name="T15" fmla="*/ 238 h 11390"/>
                  <a:gd name="T16" fmla="*/ 196 w 12695"/>
                  <a:gd name="T17" fmla="*/ 242 h 11390"/>
                  <a:gd name="T18" fmla="*/ 185 w 12695"/>
                  <a:gd name="T19" fmla="*/ 243 h 11390"/>
                  <a:gd name="T20" fmla="*/ 175 w 12695"/>
                  <a:gd name="T21" fmla="*/ 242 h 11390"/>
                  <a:gd name="T22" fmla="*/ 166 w 12695"/>
                  <a:gd name="T23" fmla="*/ 240 h 11390"/>
                  <a:gd name="T24" fmla="*/ 158 w 12695"/>
                  <a:gd name="T25" fmla="*/ 236 h 11390"/>
                  <a:gd name="T26" fmla="*/ 91 w 12695"/>
                  <a:gd name="T27" fmla="*/ 274 h 11390"/>
                  <a:gd name="T28" fmla="*/ 281 w 12695"/>
                  <a:gd name="T29" fmla="*/ 275 h 11390"/>
                  <a:gd name="T30" fmla="*/ 218 w 12695"/>
                  <a:gd name="T31" fmla="*/ 228 h 11390"/>
                  <a:gd name="T32" fmla="*/ 138 w 12695"/>
                  <a:gd name="T33" fmla="*/ 206 h 11390"/>
                  <a:gd name="T34" fmla="*/ 137 w 12695"/>
                  <a:gd name="T35" fmla="*/ 195 h 11390"/>
                  <a:gd name="T36" fmla="*/ 141 w 12695"/>
                  <a:gd name="T37" fmla="*/ 177 h 11390"/>
                  <a:gd name="T38" fmla="*/ 152 w 12695"/>
                  <a:gd name="T39" fmla="*/ 163 h 11390"/>
                  <a:gd name="T40" fmla="*/ 167 w 12695"/>
                  <a:gd name="T41" fmla="*/ 153 h 11390"/>
                  <a:gd name="T42" fmla="*/ 169 w 12695"/>
                  <a:gd name="T43" fmla="*/ 90 h 11390"/>
                  <a:gd name="T44" fmla="*/ 74 w 12695"/>
                  <a:gd name="T45" fmla="*/ 251 h 11390"/>
                  <a:gd name="T46" fmla="*/ 316 w 12695"/>
                  <a:gd name="T47" fmla="*/ 234 h 11390"/>
                  <a:gd name="T48" fmla="*/ 332 w 12695"/>
                  <a:gd name="T49" fmla="*/ 233 h 11390"/>
                  <a:gd name="T50" fmla="*/ 351 w 12695"/>
                  <a:gd name="T51" fmla="*/ 240 h 11390"/>
                  <a:gd name="T52" fmla="*/ 366 w 12695"/>
                  <a:gd name="T53" fmla="*/ 254 h 11390"/>
                  <a:gd name="T54" fmla="*/ 373 w 12695"/>
                  <a:gd name="T55" fmla="*/ 273 h 11390"/>
                  <a:gd name="T56" fmla="*/ 372 w 12695"/>
                  <a:gd name="T57" fmla="*/ 294 h 11390"/>
                  <a:gd name="T58" fmla="*/ 362 w 12695"/>
                  <a:gd name="T59" fmla="*/ 311 h 11390"/>
                  <a:gd name="T60" fmla="*/ 345 w 12695"/>
                  <a:gd name="T61" fmla="*/ 323 h 11390"/>
                  <a:gd name="T62" fmla="*/ 325 w 12695"/>
                  <a:gd name="T63" fmla="*/ 326 h 11390"/>
                  <a:gd name="T64" fmla="*/ 310 w 12695"/>
                  <a:gd name="T65" fmla="*/ 323 h 11390"/>
                  <a:gd name="T66" fmla="*/ 297 w 12695"/>
                  <a:gd name="T67" fmla="*/ 315 h 11390"/>
                  <a:gd name="T68" fmla="*/ 287 w 12695"/>
                  <a:gd name="T69" fmla="*/ 304 h 11390"/>
                  <a:gd name="T70" fmla="*/ 89 w 12695"/>
                  <a:gd name="T71" fmla="*/ 307 h 11390"/>
                  <a:gd name="T72" fmla="*/ 80 w 12695"/>
                  <a:gd name="T73" fmla="*/ 321 h 11390"/>
                  <a:gd name="T74" fmla="*/ 67 w 12695"/>
                  <a:gd name="T75" fmla="*/ 330 h 11390"/>
                  <a:gd name="T76" fmla="*/ 51 w 12695"/>
                  <a:gd name="T77" fmla="*/ 335 h 11390"/>
                  <a:gd name="T78" fmla="*/ 31 w 12695"/>
                  <a:gd name="T79" fmla="*/ 332 h 11390"/>
                  <a:gd name="T80" fmla="*/ 14 w 12695"/>
                  <a:gd name="T81" fmla="*/ 321 h 11390"/>
                  <a:gd name="T82" fmla="*/ 3 w 12695"/>
                  <a:gd name="T83" fmla="*/ 304 h 11390"/>
                  <a:gd name="T84" fmla="*/ 0 w 12695"/>
                  <a:gd name="T85" fmla="*/ 284 h 11390"/>
                  <a:gd name="T86" fmla="*/ 7 w 12695"/>
                  <a:gd name="T87" fmla="*/ 264 h 11390"/>
                  <a:gd name="T88" fmla="*/ 21 w 12695"/>
                  <a:gd name="T89" fmla="*/ 250 h 11390"/>
                  <a:gd name="T90" fmla="*/ 40 w 12695"/>
                  <a:gd name="T91" fmla="*/ 242 h 11390"/>
                  <a:gd name="T92" fmla="*/ 50 w 12695"/>
                  <a:gd name="T93" fmla="*/ 242 h 11390"/>
                  <a:gd name="T94" fmla="*/ 146 w 12695"/>
                  <a:gd name="T95" fmla="*/ 68 h 11390"/>
                  <a:gd name="T96" fmla="*/ 143 w 12695"/>
                  <a:gd name="T97" fmla="*/ 62 h 11390"/>
                  <a:gd name="T98" fmla="*/ 141 w 12695"/>
                  <a:gd name="T99" fmla="*/ 54 h 11390"/>
                  <a:gd name="T100" fmla="*/ 140 w 12695"/>
                  <a:gd name="T101" fmla="*/ 47 h 11390"/>
                  <a:gd name="T102" fmla="*/ 145 w 12695"/>
                  <a:gd name="T103" fmla="*/ 26 h 11390"/>
                  <a:gd name="T104" fmla="*/ 157 w 12695"/>
                  <a:gd name="T105" fmla="*/ 11 h 11390"/>
                  <a:gd name="T106" fmla="*/ 175 w 12695"/>
                  <a:gd name="T107" fmla="*/ 2 h 11390"/>
                  <a:gd name="T108" fmla="*/ 196 w 12695"/>
                  <a:gd name="T109" fmla="*/ 1 h 11390"/>
                  <a:gd name="T110" fmla="*/ 215 w 12695"/>
                  <a:gd name="T111" fmla="*/ 9 h 11390"/>
                  <a:gd name="T112" fmla="*/ 228 w 12695"/>
                  <a:gd name="T113" fmla="*/ 24 h 11390"/>
                  <a:gd name="T114" fmla="*/ 234 w 12695"/>
                  <a:gd name="T115" fmla="*/ 44 h 11390"/>
                  <a:gd name="T116" fmla="*/ 233 w 12695"/>
                  <a:gd name="T117" fmla="*/ 55 h 11390"/>
                  <a:gd name="T118" fmla="*/ 231 w 12695"/>
                  <a:gd name="T119" fmla="*/ 63 h 11390"/>
                  <a:gd name="T120" fmla="*/ 227 w 12695"/>
                  <a:gd name="T121" fmla="*/ 71 h 1139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2695" h="11390">
                    <a:moveTo>
                      <a:pt x="6652" y="3140"/>
                    </a:moveTo>
                    <a:lnTo>
                      <a:pt x="6652" y="5157"/>
                    </a:lnTo>
                    <a:lnTo>
                      <a:pt x="6715" y="5176"/>
                    </a:lnTo>
                    <a:lnTo>
                      <a:pt x="6776" y="5197"/>
                    </a:lnTo>
                    <a:lnTo>
                      <a:pt x="6835" y="5221"/>
                    </a:lnTo>
                    <a:lnTo>
                      <a:pt x="6895" y="5246"/>
                    </a:lnTo>
                    <a:lnTo>
                      <a:pt x="6952" y="5275"/>
                    </a:lnTo>
                    <a:lnTo>
                      <a:pt x="7008" y="5304"/>
                    </a:lnTo>
                    <a:lnTo>
                      <a:pt x="7062" y="5337"/>
                    </a:lnTo>
                    <a:lnTo>
                      <a:pt x="7117" y="5372"/>
                    </a:lnTo>
                    <a:lnTo>
                      <a:pt x="7168" y="5409"/>
                    </a:lnTo>
                    <a:lnTo>
                      <a:pt x="7218" y="5448"/>
                    </a:lnTo>
                    <a:lnTo>
                      <a:pt x="7267" y="5487"/>
                    </a:lnTo>
                    <a:lnTo>
                      <a:pt x="7314" y="5530"/>
                    </a:lnTo>
                    <a:lnTo>
                      <a:pt x="7359" y="5574"/>
                    </a:lnTo>
                    <a:lnTo>
                      <a:pt x="7403" y="5620"/>
                    </a:lnTo>
                    <a:lnTo>
                      <a:pt x="7445" y="5668"/>
                    </a:lnTo>
                    <a:lnTo>
                      <a:pt x="7485" y="5717"/>
                    </a:lnTo>
                    <a:lnTo>
                      <a:pt x="7522" y="5769"/>
                    </a:lnTo>
                    <a:lnTo>
                      <a:pt x="7558" y="5822"/>
                    </a:lnTo>
                    <a:lnTo>
                      <a:pt x="7592" y="5876"/>
                    </a:lnTo>
                    <a:lnTo>
                      <a:pt x="7623" y="5931"/>
                    </a:lnTo>
                    <a:lnTo>
                      <a:pt x="7653" y="5987"/>
                    </a:lnTo>
                    <a:lnTo>
                      <a:pt x="7681" y="6046"/>
                    </a:lnTo>
                    <a:lnTo>
                      <a:pt x="7705" y="6105"/>
                    </a:lnTo>
                    <a:lnTo>
                      <a:pt x="7728" y="6165"/>
                    </a:lnTo>
                    <a:lnTo>
                      <a:pt x="7748" y="6227"/>
                    </a:lnTo>
                    <a:lnTo>
                      <a:pt x="7765" y="6290"/>
                    </a:lnTo>
                    <a:lnTo>
                      <a:pt x="7780" y="6353"/>
                    </a:lnTo>
                    <a:lnTo>
                      <a:pt x="7793" y="6418"/>
                    </a:lnTo>
                    <a:lnTo>
                      <a:pt x="7802" y="6483"/>
                    </a:lnTo>
                    <a:lnTo>
                      <a:pt x="7809" y="6549"/>
                    </a:lnTo>
                    <a:lnTo>
                      <a:pt x="7814" y="6617"/>
                    </a:lnTo>
                    <a:lnTo>
                      <a:pt x="7816" y="6684"/>
                    </a:lnTo>
                    <a:lnTo>
                      <a:pt x="7815" y="6741"/>
                    </a:lnTo>
                    <a:lnTo>
                      <a:pt x="7812" y="6797"/>
                    </a:lnTo>
                    <a:lnTo>
                      <a:pt x="7806" y="6853"/>
                    </a:lnTo>
                    <a:lnTo>
                      <a:pt x="7799" y="6908"/>
                    </a:lnTo>
                    <a:lnTo>
                      <a:pt x="7790" y="6962"/>
                    </a:lnTo>
                    <a:lnTo>
                      <a:pt x="7780" y="7017"/>
                    </a:lnTo>
                    <a:lnTo>
                      <a:pt x="7768" y="7070"/>
                    </a:lnTo>
                    <a:lnTo>
                      <a:pt x="7753" y="7122"/>
                    </a:lnTo>
                    <a:lnTo>
                      <a:pt x="9910" y="8472"/>
                    </a:lnTo>
                    <a:lnTo>
                      <a:pt x="9941" y="8439"/>
                    </a:lnTo>
                    <a:lnTo>
                      <a:pt x="9972" y="8407"/>
                    </a:lnTo>
                    <a:lnTo>
                      <a:pt x="10003" y="8375"/>
                    </a:lnTo>
                    <a:lnTo>
                      <a:pt x="10036" y="8343"/>
                    </a:lnTo>
                    <a:lnTo>
                      <a:pt x="8209" y="6141"/>
                    </a:lnTo>
                    <a:lnTo>
                      <a:pt x="8150" y="6041"/>
                    </a:lnTo>
                    <a:lnTo>
                      <a:pt x="6962" y="3045"/>
                    </a:lnTo>
                    <a:lnTo>
                      <a:pt x="6925" y="3060"/>
                    </a:lnTo>
                    <a:lnTo>
                      <a:pt x="6887" y="3074"/>
                    </a:lnTo>
                    <a:lnTo>
                      <a:pt x="6850" y="3087"/>
                    </a:lnTo>
                    <a:lnTo>
                      <a:pt x="6811" y="3100"/>
                    </a:lnTo>
                    <a:lnTo>
                      <a:pt x="6772" y="3112"/>
                    </a:lnTo>
                    <a:lnTo>
                      <a:pt x="6732" y="3122"/>
                    </a:lnTo>
                    <a:lnTo>
                      <a:pt x="6692" y="3131"/>
                    </a:lnTo>
                    <a:lnTo>
                      <a:pt x="6652" y="3140"/>
                    </a:lnTo>
                    <a:close/>
                    <a:moveTo>
                      <a:pt x="7389" y="7763"/>
                    </a:moveTo>
                    <a:lnTo>
                      <a:pt x="7361" y="7791"/>
                    </a:lnTo>
                    <a:lnTo>
                      <a:pt x="7334" y="7820"/>
                    </a:lnTo>
                    <a:lnTo>
                      <a:pt x="7304" y="7848"/>
                    </a:lnTo>
                    <a:lnTo>
                      <a:pt x="7274" y="7874"/>
                    </a:lnTo>
                    <a:lnTo>
                      <a:pt x="7245" y="7900"/>
                    </a:lnTo>
                    <a:lnTo>
                      <a:pt x="7214" y="7925"/>
                    </a:lnTo>
                    <a:lnTo>
                      <a:pt x="7182" y="7950"/>
                    </a:lnTo>
                    <a:lnTo>
                      <a:pt x="7149" y="7973"/>
                    </a:lnTo>
                    <a:lnTo>
                      <a:pt x="7117" y="7996"/>
                    </a:lnTo>
                    <a:lnTo>
                      <a:pt x="7084" y="8018"/>
                    </a:lnTo>
                    <a:lnTo>
                      <a:pt x="7049" y="8040"/>
                    </a:lnTo>
                    <a:lnTo>
                      <a:pt x="7015" y="8060"/>
                    </a:lnTo>
                    <a:lnTo>
                      <a:pt x="6980" y="8080"/>
                    </a:lnTo>
                    <a:lnTo>
                      <a:pt x="6945" y="8098"/>
                    </a:lnTo>
                    <a:lnTo>
                      <a:pt x="6908" y="8115"/>
                    </a:lnTo>
                    <a:lnTo>
                      <a:pt x="6872" y="8133"/>
                    </a:lnTo>
                    <a:lnTo>
                      <a:pt x="6834" y="8149"/>
                    </a:lnTo>
                    <a:lnTo>
                      <a:pt x="6797" y="8163"/>
                    </a:lnTo>
                    <a:lnTo>
                      <a:pt x="6759" y="8178"/>
                    </a:lnTo>
                    <a:lnTo>
                      <a:pt x="6721" y="8191"/>
                    </a:lnTo>
                    <a:lnTo>
                      <a:pt x="6682" y="8203"/>
                    </a:lnTo>
                    <a:lnTo>
                      <a:pt x="6642" y="8214"/>
                    </a:lnTo>
                    <a:lnTo>
                      <a:pt x="6602" y="8225"/>
                    </a:lnTo>
                    <a:lnTo>
                      <a:pt x="6562" y="8234"/>
                    </a:lnTo>
                    <a:lnTo>
                      <a:pt x="6521" y="8242"/>
                    </a:lnTo>
                    <a:lnTo>
                      <a:pt x="6480" y="8249"/>
                    </a:lnTo>
                    <a:lnTo>
                      <a:pt x="6439" y="8255"/>
                    </a:lnTo>
                    <a:lnTo>
                      <a:pt x="6398" y="8260"/>
                    </a:lnTo>
                    <a:lnTo>
                      <a:pt x="6356" y="8265"/>
                    </a:lnTo>
                    <a:lnTo>
                      <a:pt x="6313" y="8267"/>
                    </a:lnTo>
                    <a:lnTo>
                      <a:pt x="6271" y="8269"/>
                    </a:lnTo>
                    <a:lnTo>
                      <a:pt x="6228" y="8269"/>
                    </a:lnTo>
                    <a:lnTo>
                      <a:pt x="6193" y="8269"/>
                    </a:lnTo>
                    <a:lnTo>
                      <a:pt x="6157" y="8268"/>
                    </a:lnTo>
                    <a:lnTo>
                      <a:pt x="6121" y="8266"/>
                    </a:lnTo>
                    <a:lnTo>
                      <a:pt x="6086" y="8262"/>
                    </a:lnTo>
                    <a:lnTo>
                      <a:pt x="6050" y="8259"/>
                    </a:lnTo>
                    <a:lnTo>
                      <a:pt x="6016" y="8254"/>
                    </a:lnTo>
                    <a:lnTo>
                      <a:pt x="5981" y="8250"/>
                    </a:lnTo>
                    <a:lnTo>
                      <a:pt x="5946" y="8244"/>
                    </a:lnTo>
                    <a:lnTo>
                      <a:pt x="5912" y="8237"/>
                    </a:lnTo>
                    <a:lnTo>
                      <a:pt x="5878" y="8230"/>
                    </a:lnTo>
                    <a:lnTo>
                      <a:pt x="5845" y="8222"/>
                    </a:lnTo>
                    <a:lnTo>
                      <a:pt x="5811" y="8213"/>
                    </a:lnTo>
                    <a:lnTo>
                      <a:pt x="5778" y="8204"/>
                    </a:lnTo>
                    <a:lnTo>
                      <a:pt x="5745" y="8194"/>
                    </a:lnTo>
                    <a:lnTo>
                      <a:pt x="5713" y="8183"/>
                    </a:lnTo>
                    <a:lnTo>
                      <a:pt x="5681" y="8172"/>
                    </a:lnTo>
                    <a:lnTo>
                      <a:pt x="5648" y="8159"/>
                    </a:lnTo>
                    <a:lnTo>
                      <a:pt x="5618" y="8146"/>
                    </a:lnTo>
                    <a:lnTo>
                      <a:pt x="5586" y="8133"/>
                    </a:lnTo>
                    <a:lnTo>
                      <a:pt x="5555" y="8118"/>
                    </a:lnTo>
                    <a:lnTo>
                      <a:pt x="5524" y="8104"/>
                    </a:lnTo>
                    <a:lnTo>
                      <a:pt x="5495" y="8089"/>
                    </a:lnTo>
                    <a:lnTo>
                      <a:pt x="5464" y="8072"/>
                    </a:lnTo>
                    <a:lnTo>
                      <a:pt x="5435" y="8056"/>
                    </a:lnTo>
                    <a:lnTo>
                      <a:pt x="5406" y="8039"/>
                    </a:lnTo>
                    <a:lnTo>
                      <a:pt x="5377" y="8020"/>
                    </a:lnTo>
                    <a:lnTo>
                      <a:pt x="5349" y="8002"/>
                    </a:lnTo>
                    <a:lnTo>
                      <a:pt x="5322" y="7983"/>
                    </a:lnTo>
                    <a:lnTo>
                      <a:pt x="5294" y="7964"/>
                    </a:lnTo>
                    <a:lnTo>
                      <a:pt x="5268" y="7944"/>
                    </a:lnTo>
                    <a:lnTo>
                      <a:pt x="5241" y="7923"/>
                    </a:lnTo>
                    <a:lnTo>
                      <a:pt x="5215" y="7902"/>
                    </a:lnTo>
                    <a:lnTo>
                      <a:pt x="3078" y="9267"/>
                    </a:lnTo>
                    <a:lnTo>
                      <a:pt x="3088" y="9295"/>
                    </a:lnTo>
                    <a:lnTo>
                      <a:pt x="3097" y="9323"/>
                    </a:lnTo>
                    <a:lnTo>
                      <a:pt x="3106" y="9352"/>
                    </a:lnTo>
                    <a:lnTo>
                      <a:pt x="3115" y="9382"/>
                    </a:lnTo>
                    <a:lnTo>
                      <a:pt x="3123" y="9410"/>
                    </a:lnTo>
                    <a:lnTo>
                      <a:pt x="3130" y="9440"/>
                    </a:lnTo>
                    <a:lnTo>
                      <a:pt x="3136" y="9470"/>
                    </a:lnTo>
                    <a:lnTo>
                      <a:pt x="3143" y="9499"/>
                    </a:lnTo>
                    <a:lnTo>
                      <a:pt x="6389" y="8676"/>
                    </a:lnTo>
                    <a:lnTo>
                      <a:pt x="6559" y="8675"/>
                    </a:lnTo>
                    <a:lnTo>
                      <a:pt x="9530" y="9343"/>
                    </a:lnTo>
                    <a:lnTo>
                      <a:pt x="9533" y="9315"/>
                    </a:lnTo>
                    <a:lnTo>
                      <a:pt x="9537" y="9288"/>
                    </a:lnTo>
                    <a:lnTo>
                      <a:pt x="9541" y="9261"/>
                    </a:lnTo>
                    <a:lnTo>
                      <a:pt x="9545" y="9234"/>
                    </a:lnTo>
                    <a:lnTo>
                      <a:pt x="9550" y="9207"/>
                    </a:lnTo>
                    <a:lnTo>
                      <a:pt x="9556" y="9180"/>
                    </a:lnTo>
                    <a:lnTo>
                      <a:pt x="9562" y="9154"/>
                    </a:lnTo>
                    <a:lnTo>
                      <a:pt x="9569" y="9127"/>
                    </a:lnTo>
                    <a:lnTo>
                      <a:pt x="7389" y="7763"/>
                    </a:lnTo>
                    <a:close/>
                    <a:moveTo>
                      <a:pt x="4771" y="7310"/>
                    </a:moveTo>
                    <a:lnTo>
                      <a:pt x="4756" y="7274"/>
                    </a:lnTo>
                    <a:lnTo>
                      <a:pt x="4742" y="7237"/>
                    </a:lnTo>
                    <a:lnTo>
                      <a:pt x="4728" y="7201"/>
                    </a:lnTo>
                    <a:lnTo>
                      <a:pt x="4716" y="7163"/>
                    </a:lnTo>
                    <a:lnTo>
                      <a:pt x="4705" y="7125"/>
                    </a:lnTo>
                    <a:lnTo>
                      <a:pt x="4693" y="7086"/>
                    </a:lnTo>
                    <a:lnTo>
                      <a:pt x="4684" y="7047"/>
                    </a:lnTo>
                    <a:lnTo>
                      <a:pt x="4675" y="7008"/>
                    </a:lnTo>
                    <a:lnTo>
                      <a:pt x="4668" y="6970"/>
                    </a:lnTo>
                    <a:lnTo>
                      <a:pt x="4661" y="6930"/>
                    </a:lnTo>
                    <a:lnTo>
                      <a:pt x="4655" y="6889"/>
                    </a:lnTo>
                    <a:lnTo>
                      <a:pt x="4651" y="6849"/>
                    </a:lnTo>
                    <a:lnTo>
                      <a:pt x="4646" y="6808"/>
                    </a:lnTo>
                    <a:lnTo>
                      <a:pt x="4644" y="6767"/>
                    </a:lnTo>
                    <a:lnTo>
                      <a:pt x="4642" y="6726"/>
                    </a:lnTo>
                    <a:lnTo>
                      <a:pt x="4642" y="6684"/>
                    </a:lnTo>
                    <a:lnTo>
                      <a:pt x="4643" y="6613"/>
                    </a:lnTo>
                    <a:lnTo>
                      <a:pt x="4648" y="6542"/>
                    </a:lnTo>
                    <a:lnTo>
                      <a:pt x="4656" y="6473"/>
                    </a:lnTo>
                    <a:lnTo>
                      <a:pt x="4667" y="6403"/>
                    </a:lnTo>
                    <a:lnTo>
                      <a:pt x="4680" y="6336"/>
                    </a:lnTo>
                    <a:lnTo>
                      <a:pt x="4698" y="6269"/>
                    </a:lnTo>
                    <a:lnTo>
                      <a:pt x="4717" y="6204"/>
                    </a:lnTo>
                    <a:lnTo>
                      <a:pt x="4739" y="6139"/>
                    </a:lnTo>
                    <a:lnTo>
                      <a:pt x="4764" y="6076"/>
                    </a:lnTo>
                    <a:lnTo>
                      <a:pt x="4792" y="6014"/>
                    </a:lnTo>
                    <a:lnTo>
                      <a:pt x="4821" y="5954"/>
                    </a:lnTo>
                    <a:lnTo>
                      <a:pt x="4854" y="5894"/>
                    </a:lnTo>
                    <a:lnTo>
                      <a:pt x="4889" y="5837"/>
                    </a:lnTo>
                    <a:lnTo>
                      <a:pt x="4926" y="5782"/>
                    </a:lnTo>
                    <a:lnTo>
                      <a:pt x="4966" y="5728"/>
                    </a:lnTo>
                    <a:lnTo>
                      <a:pt x="5007" y="5674"/>
                    </a:lnTo>
                    <a:lnTo>
                      <a:pt x="5051" y="5624"/>
                    </a:lnTo>
                    <a:lnTo>
                      <a:pt x="5097" y="5575"/>
                    </a:lnTo>
                    <a:lnTo>
                      <a:pt x="5144" y="5529"/>
                    </a:lnTo>
                    <a:lnTo>
                      <a:pt x="5194" y="5484"/>
                    </a:lnTo>
                    <a:lnTo>
                      <a:pt x="5245" y="5441"/>
                    </a:lnTo>
                    <a:lnTo>
                      <a:pt x="5299" y="5402"/>
                    </a:lnTo>
                    <a:lnTo>
                      <a:pt x="5354" y="5364"/>
                    </a:lnTo>
                    <a:lnTo>
                      <a:pt x="5411" y="5327"/>
                    </a:lnTo>
                    <a:lnTo>
                      <a:pt x="5469" y="5294"/>
                    </a:lnTo>
                    <a:lnTo>
                      <a:pt x="5529" y="5263"/>
                    </a:lnTo>
                    <a:lnTo>
                      <a:pt x="5590" y="5234"/>
                    </a:lnTo>
                    <a:lnTo>
                      <a:pt x="5652" y="5208"/>
                    </a:lnTo>
                    <a:lnTo>
                      <a:pt x="5717" y="5185"/>
                    </a:lnTo>
                    <a:lnTo>
                      <a:pt x="5781" y="5163"/>
                    </a:lnTo>
                    <a:lnTo>
                      <a:pt x="5848" y="5146"/>
                    </a:lnTo>
                    <a:lnTo>
                      <a:pt x="5915" y="5131"/>
                    </a:lnTo>
                    <a:lnTo>
                      <a:pt x="5915" y="3110"/>
                    </a:lnTo>
                    <a:lnTo>
                      <a:pt x="5873" y="3097"/>
                    </a:lnTo>
                    <a:lnTo>
                      <a:pt x="5831" y="3083"/>
                    </a:lnTo>
                    <a:lnTo>
                      <a:pt x="5790" y="3069"/>
                    </a:lnTo>
                    <a:lnTo>
                      <a:pt x="5751" y="3053"/>
                    </a:lnTo>
                    <a:lnTo>
                      <a:pt x="5711" y="3036"/>
                    </a:lnTo>
                    <a:lnTo>
                      <a:pt x="5671" y="3018"/>
                    </a:lnTo>
                    <a:lnTo>
                      <a:pt x="5633" y="2999"/>
                    </a:lnTo>
                    <a:lnTo>
                      <a:pt x="5594" y="2979"/>
                    </a:lnTo>
                    <a:lnTo>
                      <a:pt x="4470" y="5733"/>
                    </a:lnTo>
                    <a:lnTo>
                      <a:pt x="4427" y="5810"/>
                    </a:lnTo>
                    <a:lnTo>
                      <a:pt x="2474" y="8492"/>
                    </a:lnTo>
                    <a:lnTo>
                      <a:pt x="2499" y="8511"/>
                    </a:lnTo>
                    <a:lnTo>
                      <a:pt x="2525" y="8529"/>
                    </a:lnTo>
                    <a:lnTo>
                      <a:pt x="2551" y="8549"/>
                    </a:lnTo>
                    <a:lnTo>
                      <a:pt x="2576" y="8568"/>
                    </a:lnTo>
                    <a:lnTo>
                      <a:pt x="2601" y="8589"/>
                    </a:lnTo>
                    <a:lnTo>
                      <a:pt x="2624" y="8609"/>
                    </a:lnTo>
                    <a:lnTo>
                      <a:pt x="2648" y="8630"/>
                    </a:lnTo>
                    <a:lnTo>
                      <a:pt x="2671" y="8652"/>
                    </a:lnTo>
                    <a:lnTo>
                      <a:pt x="4771" y="7310"/>
                    </a:lnTo>
                    <a:close/>
                    <a:moveTo>
                      <a:pt x="10691" y="7981"/>
                    </a:moveTo>
                    <a:lnTo>
                      <a:pt x="10741" y="7968"/>
                    </a:lnTo>
                    <a:lnTo>
                      <a:pt x="10792" y="7958"/>
                    </a:lnTo>
                    <a:lnTo>
                      <a:pt x="10844" y="7948"/>
                    </a:lnTo>
                    <a:lnTo>
                      <a:pt x="10896" y="7941"/>
                    </a:lnTo>
                    <a:lnTo>
                      <a:pt x="10948" y="7934"/>
                    </a:lnTo>
                    <a:lnTo>
                      <a:pt x="11001" y="7929"/>
                    </a:lnTo>
                    <a:lnTo>
                      <a:pt x="11054" y="7927"/>
                    </a:lnTo>
                    <a:lnTo>
                      <a:pt x="11108" y="7926"/>
                    </a:lnTo>
                    <a:lnTo>
                      <a:pt x="11189" y="7928"/>
                    </a:lnTo>
                    <a:lnTo>
                      <a:pt x="11270" y="7934"/>
                    </a:lnTo>
                    <a:lnTo>
                      <a:pt x="11349" y="7945"/>
                    </a:lnTo>
                    <a:lnTo>
                      <a:pt x="11427" y="7958"/>
                    </a:lnTo>
                    <a:lnTo>
                      <a:pt x="11504" y="7976"/>
                    </a:lnTo>
                    <a:lnTo>
                      <a:pt x="11579" y="7998"/>
                    </a:lnTo>
                    <a:lnTo>
                      <a:pt x="11652" y="8022"/>
                    </a:lnTo>
                    <a:lnTo>
                      <a:pt x="11725" y="8051"/>
                    </a:lnTo>
                    <a:lnTo>
                      <a:pt x="11794" y="8083"/>
                    </a:lnTo>
                    <a:lnTo>
                      <a:pt x="11863" y="8117"/>
                    </a:lnTo>
                    <a:lnTo>
                      <a:pt x="11929" y="8156"/>
                    </a:lnTo>
                    <a:lnTo>
                      <a:pt x="11994" y="8197"/>
                    </a:lnTo>
                    <a:lnTo>
                      <a:pt x="12056" y="8242"/>
                    </a:lnTo>
                    <a:lnTo>
                      <a:pt x="12117" y="8289"/>
                    </a:lnTo>
                    <a:lnTo>
                      <a:pt x="12174" y="8338"/>
                    </a:lnTo>
                    <a:lnTo>
                      <a:pt x="12229" y="8391"/>
                    </a:lnTo>
                    <a:lnTo>
                      <a:pt x="12281" y="8446"/>
                    </a:lnTo>
                    <a:lnTo>
                      <a:pt x="12332" y="8504"/>
                    </a:lnTo>
                    <a:lnTo>
                      <a:pt x="12379" y="8564"/>
                    </a:lnTo>
                    <a:lnTo>
                      <a:pt x="12423" y="8625"/>
                    </a:lnTo>
                    <a:lnTo>
                      <a:pt x="12465" y="8690"/>
                    </a:lnTo>
                    <a:lnTo>
                      <a:pt x="12502" y="8756"/>
                    </a:lnTo>
                    <a:lnTo>
                      <a:pt x="12537" y="8825"/>
                    </a:lnTo>
                    <a:lnTo>
                      <a:pt x="12570" y="8895"/>
                    </a:lnTo>
                    <a:lnTo>
                      <a:pt x="12598" y="8967"/>
                    </a:lnTo>
                    <a:lnTo>
                      <a:pt x="12623" y="9040"/>
                    </a:lnTo>
                    <a:lnTo>
                      <a:pt x="12645" y="9116"/>
                    </a:lnTo>
                    <a:lnTo>
                      <a:pt x="12662" y="9192"/>
                    </a:lnTo>
                    <a:lnTo>
                      <a:pt x="12676" y="9270"/>
                    </a:lnTo>
                    <a:lnTo>
                      <a:pt x="12687" y="9349"/>
                    </a:lnTo>
                    <a:lnTo>
                      <a:pt x="12693" y="9430"/>
                    </a:lnTo>
                    <a:lnTo>
                      <a:pt x="12695" y="9511"/>
                    </a:lnTo>
                    <a:lnTo>
                      <a:pt x="12693" y="9592"/>
                    </a:lnTo>
                    <a:lnTo>
                      <a:pt x="12687" y="9672"/>
                    </a:lnTo>
                    <a:lnTo>
                      <a:pt x="12676" y="9752"/>
                    </a:lnTo>
                    <a:lnTo>
                      <a:pt x="12662" y="9829"/>
                    </a:lnTo>
                    <a:lnTo>
                      <a:pt x="12645" y="9906"/>
                    </a:lnTo>
                    <a:lnTo>
                      <a:pt x="12623" y="9981"/>
                    </a:lnTo>
                    <a:lnTo>
                      <a:pt x="12598" y="10054"/>
                    </a:lnTo>
                    <a:lnTo>
                      <a:pt x="12570" y="10127"/>
                    </a:lnTo>
                    <a:lnTo>
                      <a:pt x="12537" y="10196"/>
                    </a:lnTo>
                    <a:lnTo>
                      <a:pt x="12502" y="10265"/>
                    </a:lnTo>
                    <a:lnTo>
                      <a:pt x="12465" y="10331"/>
                    </a:lnTo>
                    <a:lnTo>
                      <a:pt x="12423" y="10396"/>
                    </a:lnTo>
                    <a:lnTo>
                      <a:pt x="12379" y="10458"/>
                    </a:lnTo>
                    <a:lnTo>
                      <a:pt x="12332" y="10517"/>
                    </a:lnTo>
                    <a:lnTo>
                      <a:pt x="12281" y="10576"/>
                    </a:lnTo>
                    <a:lnTo>
                      <a:pt x="12229" y="10631"/>
                    </a:lnTo>
                    <a:lnTo>
                      <a:pt x="12174" y="10683"/>
                    </a:lnTo>
                    <a:lnTo>
                      <a:pt x="12117" y="10733"/>
                    </a:lnTo>
                    <a:lnTo>
                      <a:pt x="12056" y="10780"/>
                    </a:lnTo>
                    <a:lnTo>
                      <a:pt x="11994" y="10824"/>
                    </a:lnTo>
                    <a:lnTo>
                      <a:pt x="11929" y="10866"/>
                    </a:lnTo>
                    <a:lnTo>
                      <a:pt x="11863" y="10904"/>
                    </a:lnTo>
                    <a:lnTo>
                      <a:pt x="11794" y="10938"/>
                    </a:lnTo>
                    <a:lnTo>
                      <a:pt x="11725" y="10970"/>
                    </a:lnTo>
                    <a:lnTo>
                      <a:pt x="11652" y="10999"/>
                    </a:lnTo>
                    <a:lnTo>
                      <a:pt x="11579" y="11024"/>
                    </a:lnTo>
                    <a:lnTo>
                      <a:pt x="11504" y="11046"/>
                    </a:lnTo>
                    <a:lnTo>
                      <a:pt x="11427" y="11063"/>
                    </a:lnTo>
                    <a:lnTo>
                      <a:pt x="11349" y="11077"/>
                    </a:lnTo>
                    <a:lnTo>
                      <a:pt x="11270" y="11088"/>
                    </a:lnTo>
                    <a:lnTo>
                      <a:pt x="11189" y="11094"/>
                    </a:lnTo>
                    <a:lnTo>
                      <a:pt x="11108" y="11096"/>
                    </a:lnTo>
                    <a:lnTo>
                      <a:pt x="11046" y="11094"/>
                    </a:lnTo>
                    <a:lnTo>
                      <a:pt x="10986" y="11091"/>
                    </a:lnTo>
                    <a:lnTo>
                      <a:pt x="10925" y="11086"/>
                    </a:lnTo>
                    <a:lnTo>
                      <a:pt x="10866" y="11077"/>
                    </a:lnTo>
                    <a:lnTo>
                      <a:pt x="10807" y="11067"/>
                    </a:lnTo>
                    <a:lnTo>
                      <a:pt x="10749" y="11054"/>
                    </a:lnTo>
                    <a:lnTo>
                      <a:pt x="10692" y="11040"/>
                    </a:lnTo>
                    <a:lnTo>
                      <a:pt x="10636" y="11023"/>
                    </a:lnTo>
                    <a:lnTo>
                      <a:pt x="10580" y="11005"/>
                    </a:lnTo>
                    <a:lnTo>
                      <a:pt x="10525" y="10984"/>
                    </a:lnTo>
                    <a:lnTo>
                      <a:pt x="10471" y="10962"/>
                    </a:lnTo>
                    <a:lnTo>
                      <a:pt x="10419" y="10937"/>
                    </a:lnTo>
                    <a:lnTo>
                      <a:pt x="10367" y="10912"/>
                    </a:lnTo>
                    <a:lnTo>
                      <a:pt x="10317" y="10883"/>
                    </a:lnTo>
                    <a:lnTo>
                      <a:pt x="10267" y="10854"/>
                    </a:lnTo>
                    <a:lnTo>
                      <a:pt x="10219" y="10822"/>
                    </a:lnTo>
                    <a:lnTo>
                      <a:pt x="10172" y="10789"/>
                    </a:lnTo>
                    <a:lnTo>
                      <a:pt x="10126" y="10754"/>
                    </a:lnTo>
                    <a:lnTo>
                      <a:pt x="10082" y="10718"/>
                    </a:lnTo>
                    <a:lnTo>
                      <a:pt x="10039" y="10680"/>
                    </a:lnTo>
                    <a:lnTo>
                      <a:pt x="9997" y="10641"/>
                    </a:lnTo>
                    <a:lnTo>
                      <a:pt x="9957" y="10600"/>
                    </a:lnTo>
                    <a:lnTo>
                      <a:pt x="9919" y="10557"/>
                    </a:lnTo>
                    <a:lnTo>
                      <a:pt x="9882" y="10514"/>
                    </a:lnTo>
                    <a:lnTo>
                      <a:pt x="9846" y="10469"/>
                    </a:lnTo>
                    <a:lnTo>
                      <a:pt x="9811" y="10422"/>
                    </a:lnTo>
                    <a:lnTo>
                      <a:pt x="9779" y="10375"/>
                    </a:lnTo>
                    <a:lnTo>
                      <a:pt x="9749" y="10326"/>
                    </a:lnTo>
                    <a:lnTo>
                      <a:pt x="9720" y="10276"/>
                    </a:lnTo>
                    <a:lnTo>
                      <a:pt x="9692" y="10226"/>
                    </a:lnTo>
                    <a:lnTo>
                      <a:pt x="9667" y="10174"/>
                    </a:lnTo>
                    <a:lnTo>
                      <a:pt x="9644" y="10121"/>
                    </a:lnTo>
                    <a:lnTo>
                      <a:pt x="6485" y="9410"/>
                    </a:lnTo>
                    <a:lnTo>
                      <a:pt x="3103" y="10268"/>
                    </a:lnTo>
                    <a:lnTo>
                      <a:pt x="3084" y="10328"/>
                    </a:lnTo>
                    <a:lnTo>
                      <a:pt x="3061" y="10387"/>
                    </a:lnTo>
                    <a:lnTo>
                      <a:pt x="3037" y="10446"/>
                    </a:lnTo>
                    <a:lnTo>
                      <a:pt x="3010" y="10502"/>
                    </a:lnTo>
                    <a:lnTo>
                      <a:pt x="2981" y="10558"/>
                    </a:lnTo>
                    <a:lnTo>
                      <a:pt x="2951" y="10612"/>
                    </a:lnTo>
                    <a:lnTo>
                      <a:pt x="2917" y="10666"/>
                    </a:lnTo>
                    <a:lnTo>
                      <a:pt x="2882" y="10717"/>
                    </a:lnTo>
                    <a:lnTo>
                      <a:pt x="2845" y="10767"/>
                    </a:lnTo>
                    <a:lnTo>
                      <a:pt x="2806" y="10816"/>
                    </a:lnTo>
                    <a:lnTo>
                      <a:pt x="2766" y="10863"/>
                    </a:lnTo>
                    <a:lnTo>
                      <a:pt x="2724" y="10908"/>
                    </a:lnTo>
                    <a:lnTo>
                      <a:pt x="2680" y="10952"/>
                    </a:lnTo>
                    <a:lnTo>
                      <a:pt x="2634" y="10994"/>
                    </a:lnTo>
                    <a:lnTo>
                      <a:pt x="2586" y="11034"/>
                    </a:lnTo>
                    <a:lnTo>
                      <a:pt x="2537" y="11072"/>
                    </a:lnTo>
                    <a:lnTo>
                      <a:pt x="2486" y="11109"/>
                    </a:lnTo>
                    <a:lnTo>
                      <a:pt x="2435" y="11143"/>
                    </a:lnTo>
                    <a:lnTo>
                      <a:pt x="2381" y="11176"/>
                    </a:lnTo>
                    <a:lnTo>
                      <a:pt x="2327" y="11206"/>
                    </a:lnTo>
                    <a:lnTo>
                      <a:pt x="2270" y="11235"/>
                    </a:lnTo>
                    <a:lnTo>
                      <a:pt x="2213" y="11260"/>
                    </a:lnTo>
                    <a:lnTo>
                      <a:pt x="2155" y="11285"/>
                    </a:lnTo>
                    <a:lnTo>
                      <a:pt x="2095" y="11306"/>
                    </a:lnTo>
                    <a:lnTo>
                      <a:pt x="2035" y="11326"/>
                    </a:lnTo>
                    <a:lnTo>
                      <a:pt x="1974" y="11342"/>
                    </a:lnTo>
                    <a:lnTo>
                      <a:pt x="1911" y="11356"/>
                    </a:lnTo>
                    <a:lnTo>
                      <a:pt x="1848" y="11369"/>
                    </a:lnTo>
                    <a:lnTo>
                      <a:pt x="1783" y="11378"/>
                    </a:lnTo>
                    <a:lnTo>
                      <a:pt x="1718" y="11385"/>
                    </a:lnTo>
                    <a:lnTo>
                      <a:pt x="1652" y="11389"/>
                    </a:lnTo>
                    <a:lnTo>
                      <a:pt x="1586" y="11390"/>
                    </a:lnTo>
                    <a:lnTo>
                      <a:pt x="1504" y="11388"/>
                    </a:lnTo>
                    <a:lnTo>
                      <a:pt x="1424" y="11382"/>
                    </a:lnTo>
                    <a:lnTo>
                      <a:pt x="1344" y="11372"/>
                    </a:lnTo>
                    <a:lnTo>
                      <a:pt x="1266" y="11359"/>
                    </a:lnTo>
                    <a:lnTo>
                      <a:pt x="1190" y="11340"/>
                    </a:lnTo>
                    <a:lnTo>
                      <a:pt x="1115" y="11319"/>
                    </a:lnTo>
                    <a:lnTo>
                      <a:pt x="1041" y="11294"/>
                    </a:lnTo>
                    <a:lnTo>
                      <a:pt x="969" y="11265"/>
                    </a:lnTo>
                    <a:lnTo>
                      <a:pt x="899" y="11234"/>
                    </a:lnTo>
                    <a:lnTo>
                      <a:pt x="830" y="11199"/>
                    </a:lnTo>
                    <a:lnTo>
                      <a:pt x="764" y="11160"/>
                    </a:lnTo>
                    <a:lnTo>
                      <a:pt x="699" y="11119"/>
                    </a:lnTo>
                    <a:lnTo>
                      <a:pt x="637" y="11075"/>
                    </a:lnTo>
                    <a:lnTo>
                      <a:pt x="578" y="11027"/>
                    </a:lnTo>
                    <a:lnTo>
                      <a:pt x="519" y="10978"/>
                    </a:lnTo>
                    <a:lnTo>
                      <a:pt x="465" y="10925"/>
                    </a:lnTo>
                    <a:lnTo>
                      <a:pt x="412" y="10870"/>
                    </a:lnTo>
                    <a:lnTo>
                      <a:pt x="362" y="10813"/>
                    </a:lnTo>
                    <a:lnTo>
                      <a:pt x="315" y="10752"/>
                    </a:lnTo>
                    <a:lnTo>
                      <a:pt x="271" y="10691"/>
                    </a:lnTo>
                    <a:lnTo>
                      <a:pt x="229" y="10627"/>
                    </a:lnTo>
                    <a:lnTo>
                      <a:pt x="191" y="10560"/>
                    </a:lnTo>
                    <a:lnTo>
                      <a:pt x="156" y="10492"/>
                    </a:lnTo>
                    <a:lnTo>
                      <a:pt x="124" y="10421"/>
                    </a:lnTo>
                    <a:lnTo>
                      <a:pt x="96" y="10350"/>
                    </a:lnTo>
                    <a:lnTo>
                      <a:pt x="70" y="10276"/>
                    </a:lnTo>
                    <a:lnTo>
                      <a:pt x="49" y="10201"/>
                    </a:lnTo>
                    <a:lnTo>
                      <a:pt x="31" y="10125"/>
                    </a:lnTo>
                    <a:lnTo>
                      <a:pt x="17" y="10046"/>
                    </a:lnTo>
                    <a:lnTo>
                      <a:pt x="8" y="9967"/>
                    </a:lnTo>
                    <a:lnTo>
                      <a:pt x="2" y="9887"/>
                    </a:lnTo>
                    <a:lnTo>
                      <a:pt x="0" y="9806"/>
                    </a:lnTo>
                    <a:lnTo>
                      <a:pt x="2" y="9724"/>
                    </a:lnTo>
                    <a:lnTo>
                      <a:pt x="8" y="9644"/>
                    </a:lnTo>
                    <a:lnTo>
                      <a:pt x="17" y="9565"/>
                    </a:lnTo>
                    <a:lnTo>
                      <a:pt x="31" y="9487"/>
                    </a:lnTo>
                    <a:lnTo>
                      <a:pt x="49" y="9410"/>
                    </a:lnTo>
                    <a:lnTo>
                      <a:pt x="70" y="9336"/>
                    </a:lnTo>
                    <a:lnTo>
                      <a:pt x="96" y="9262"/>
                    </a:lnTo>
                    <a:lnTo>
                      <a:pt x="124" y="9190"/>
                    </a:lnTo>
                    <a:lnTo>
                      <a:pt x="156" y="9120"/>
                    </a:lnTo>
                    <a:lnTo>
                      <a:pt x="191" y="9052"/>
                    </a:lnTo>
                    <a:lnTo>
                      <a:pt x="229" y="8985"/>
                    </a:lnTo>
                    <a:lnTo>
                      <a:pt x="271" y="8921"/>
                    </a:lnTo>
                    <a:lnTo>
                      <a:pt x="315" y="8858"/>
                    </a:lnTo>
                    <a:lnTo>
                      <a:pt x="362" y="8798"/>
                    </a:lnTo>
                    <a:lnTo>
                      <a:pt x="412" y="8741"/>
                    </a:lnTo>
                    <a:lnTo>
                      <a:pt x="465" y="8686"/>
                    </a:lnTo>
                    <a:lnTo>
                      <a:pt x="519" y="8634"/>
                    </a:lnTo>
                    <a:lnTo>
                      <a:pt x="578" y="8583"/>
                    </a:lnTo>
                    <a:lnTo>
                      <a:pt x="637" y="8536"/>
                    </a:lnTo>
                    <a:lnTo>
                      <a:pt x="699" y="8492"/>
                    </a:lnTo>
                    <a:lnTo>
                      <a:pt x="764" y="8451"/>
                    </a:lnTo>
                    <a:lnTo>
                      <a:pt x="830" y="8413"/>
                    </a:lnTo>
                    <a:lnTo>
                      <a:pt x="899" y="8378"/>
                    </a:lnTo>
                    <a:lnTo>
                      <a:pt x="969" y="8345"/>
                    </a:lnTo>
                    <a:lnTo>
                      <a:pt x="1041" y="8318"/>
                    </a:lnTo>
                    <a:lnTo>
                      <a:pt x="1115" y="8292"/>
                    </a:lnTo>
                    <a:lnTo>
                      <a:pt x="1190" y="8271"/>
                    </a:lnTo>
                    <a:lnTo>
                      <a:pt x="1266" y="8253"/>
                    </a:lnTo>
                    <a:lnTo>
                      <a:pt x="1344" y="8239"/>
                    </a:lnTo>
                    <a:lnTo>
                      <a:pt x="1424" y="8229"/>
                    </a:lnTo>
                    <a:lnTo>
                      <a:pt x="1504" y="8223"/>
                    </a:lnTo>
                    <a:lnTo>
                      <a:pt x="1586" y="8221"/>
                    </a:lnTo>
                    <a:lnTo>
                      <a:pt x="1607" y="8221"/>
                    </a:lnTo>
                    <a:lnTo>
                      <a:pt x="1629" y="8222"/>
                    </a:lnTo>
                    <a:lnTo>
                      <a:pt x="1650" y="8223"/>
                    </a:lnTo>
                    <a:lnTo>
                      <a:pt x="1672" y="8223"/>
                    </a:lnTo>
                    <a:lnTo>
                      <a:pt x="1692" y="8225"/>
                    </a:lnTo>
                    <a:lnTo>
                      <a:pt x="1714" y="8226"/>
                    </a:lnTo>
                    <a:lnTo>
                      <a:pt x="1735" y="8228"/>
                    </a:lnTo>
                    <a:lnTo>
                      <a:pt x="1756" y="8230"/>
                    </a:lnTo>
                    <a:lnTo>
                      <a:pt x="3805" y="5416"/>
                    </a:lnTo>
                    <a:lnTo>
                      <a:pt x="5017" y="2447"/>
                    </a:lnTo>
                    <a:lnTo>
                      <a:pt x="5002" y="2423"/>
                    </a:lnTo>
                    <a:lnTo>
                      <a:pt x="4987" y="2400"/>
                    </a:lnTo>
                    <a:lnTo>
                      <a:pt x="4973" y="2376"/>
                    </a:lnTo>
                    <a:lnTo>
                      <a:pt x="4960" y="2352"/>
                    </a:lnTo>
                    <a:lnTo>
                      <a:pt x="4945" y="2327"/>
                    </a:lnTo>
                    <a:lnTo>
                      <a:pt x="4933" y="2302"/>
                    </a:lnTo>
                    <a:lnTo>
                      <a:pt x="4921" y="2278"/>
                    </a:lnTo>
                    <a:lnTo>
                      <a:pt x="4908" y="2252"/>
                    </a:lnTo>
                    <a:lnTo>
                      <a:pt x="4896" y="2227"/>
                    </a:lnTo>
                    <a:lnTo>
                      <a:pt x="4885" y="2201"/>
                    </a:lnTo>
                    <a:lnTo>
                      <a:pt x="4875" y="2175"/>
                    </a:lnTo>
                    <a:lnTo>
                      <a:pt x="4864" y="2149"/>
                    </a:lnTo>
                    <a:lnTo>
                      <a:pt x="4854" y="2123"/>
                    </a:lnTo>
                    <a:lnTo>
                      <a:pt x="4845" y="2096"/>
                    </a:lnTo>
                    <a:lnTo>
                      <a:pt x="4836" y="2069"/>
                    </a:lnTo>
                    <a:lnTo>
                      <a:pt x="4828" y="2042"/>
                    </a:lnTo>
                    <a:lnTo>
                      <a:pt x="4819" y="2014"/>
                    </a:lnTo>
                    <a:lnTo>
                      <a:pt x="4812" y="1988"/>
                    </a:lnTo>
                    <a:lnTo>
                      <a:pt x="4805" y="1960"/>
                    </a:lnTo>
                    <a:lnTo>
                      <a:pt x="4799" y="1931"/>
                    </a:lnTo>
                    <a:lnTo>
                      <a:pt x="4793" y="1904"/>
                    </a:lnTo>
                    <a:lnTo>
                      <a:pt x="4787" y="1875"/>
                    </a:lnTo>
                    <a:lnTo>
                      <a:pt x="4781" y="1848"/>
                    </a:lnTo>
                    <a:lnTo>
                      <a:pt x="4777" y="1819"/>
                    </a:lnTo>
                    <a:lnTo>
                      <a:pt x="4773" y="1790"/>
                    </a:lnTo>
                    <a:lnTo>
                      <a:pt x="4770" y="1761"/>
                    </a:lnTo>
                    <a:lnTo>
                      <a:pt x="4767" y="1732"/>
                    </a:lnTo>
                    <a:lnTo>
                      <a:pt x="4765" y="1702"/>
                    </a:lnTo>
                    <a:lnTo>
                      <a:pt x="4763" y="1674"/>
                    </a:lnTo>
                    <a:lnTo>
                      <a:pt x="4761" y="1644"/>
                    </a:lnTo>
                    <a:lnTo>
                      <a:pt x="4761" y="1615"/>
                    </a:lnTo>
                    <a:lnTo>
                      <a:pt x="4760" y="1585"/>
                    </a:lnTo>
                    <a:lnTo>
                      <a:pt x="4762" y="1503"/>
                    </a:lnTo>
                    <a:lnTo>
                      <a:pt x="4768" y="1423"/>
                    </a:lnTo>
                    <a:lnTo>
                      <a:pt x="4778" y="1344"/>
                    </a:lnTo>
                    <a:lnTo>
                      <a:pt x="4793" y="1266"/>
                    </a:lnTo>
                    <a:lnTo>
                      <a:pt x="4810" y="1189"/>
                    </a:lnTo>
                    <a:lnTo>
                      <a:pt x="4832" y="1115"/>
                    </a:lnTo>
                    <a:lnTo>
                      <a:pt x="4856" y="1041"/>
                    </a:lnTo>
                    <a:lnTo>
                      <a:pt x="4885" y="969"/>
                    </a:lnTo>
                    <a:lnTo>
                      <a:pt x="4917" y="899"/>
                    </a:lnTo>
                    <a:lnTo>
                      <a:pt x="4952" y="831"/>
                    </a:lnTo>
                    <a:lnTo>
                      <a:pt x="4990" y="764"/>
                    </a:lnTo>
                    <a:lnTo>
                      <a:pt x="5032" y="700"/>
                    </a:lnTo>
                    <a:lnTo>
                      <a:pt x="5076" y="637"/>
                    </a:lnTo>
                    <a:lnTo>
                      <a:pt x="5123" y="578"/>
                    </a:lnTo>
                    <a:lnTo>
                      <a:pt x="5173" y="520"/>
                    </a:lnTo>
                    <a:lnTo>
                      <a:pt x="5226" y="465"/>
                    </a:lnTo>
                    <a:lnTo>
                      <a:pt x="5281" y="413"/>
                    </a:lnTo>
                    <a:lnTo>
                      <a:pt x="5338" y="362"/>
                    </a:lnTo>
                    <a:lnTo>
                      <a:pt x="5399" y="315"/>
                    </a:lnTo>
                    <a:lnTo>
                      <a:pt x="5461" y="272"/>
                    </a:lnTo>
                    <a:lnTo>
                      <a:pt x="5525" y="231"/>
                    </a:lnTo>
                    <a:lnTo>
                      <a:pt x="5591" y="192"/>
                    </a:lnTo>
                    <a:lnTo>
                      <a:pt x="5659" y="157"/>
                    </a:lnTo>
                    <a:lnTo>
                      <a:pt x="5730" y="125"/>
                    </a:lnTo>
                    <a:lnTo>
                      <a:pt x="5802" y="97"/>
                    </a:lnTo>
                    <a:lnTo>
                      <a:pt x="5875" y="71"/>
                    </a:lnTo>
                    <a:lnTo>
                      <a:pt x="5951" y="51"/>
                    </a:lnTo>
                    <a:lnTo>
                      <a:pt x="6028" y="32"/>
                    </a:lnTo>
                    <a:lnTo>
                      <a:pt x="6106" y="19"/>
                    </a:lnTo>
                    <a:lnTo>
                      <a:pt x="6184" y="9"/>
                    </a:lnTo>
                    <a:lnTo>
                      <a:pt x="6265" y="3"/>
                    </a:lnTo>
                    <a:lnTo>
                      <a:pt x="6347" y="0"/>
                    </a:lnTo>
                    <a:lnTo>
                      <a:pt x="6428" y="3"/>
                    </a:lnTo>
                    <a:lnTo>
                      <a:pt x="6509" y="9"/>
                    </a:lnTo>
                    <a:lnTo>
                      <a:pt x="6588" y="19"/>
                    </a:lnTo>
                    <a:lnTo>
                      <a:pt x="6665" y="32"/>
                    </a:lnTo>
                    <a:lnTo>
                      <a:pt x="6742" y="51"/>
                    </a:lnTo>
                    <a:lnTo>
                      <a:pt x="6818" y="71"/>
                    </a:lnTo>
                    <a:lnTo>
                      <a:pt x="6892" y="97"/>
                    </a:lnTo>
                    <a:lnTo>
                      <a:pt x="6963" y="125"/>
                    </a:lnTo>
                    <a:lnTo>
                      <a:pt x="7034" y="157"/>
                    </a:lnTo>
                    <a:lnTo>
                      <a:pt x="7102" y="192"/>
                    </a:lnTo>
                    <a:lnTo>
                      <a:pt x="7169" y="231"/>
                    </a:lnTo>
                    <a:lnTo>
                      <a:pt x="7233" y="272"/>
                    </a:lnTo>
                    <a:lnTo>
                      <a:pt x="7295" y="315"/>
                    </a:lnTo>
                    <a:lnTo>
                      <a:pt x="7355" y="362"/>
                    </a:lnTo>
                    <a:lnTo>
                      <a:pt x="7412" y="413"/>
                    </a:lnTo>
                    <a:lnTo>
                      <a:pt x="7468" y="465"/>
                    </a:lnTo>
                    <a:lnTo>
                      <a:pt x="7520" y="520"/>
                    </a:lnTo>
                    <a:lnTo>
                      <a:pt x="7570" y="578"/>
                    </a:lnTo>
                    <a:lnTo>
                      <a:pt x="7617" y="637"/>
                    </a:lnTo>
                    <a:lnTo>
                      <a:pt x="7662" y="700"/>
                    </a:lnTo>
                    <a:lnTo>
                      <a:pt x="7703" y="764"/>
                    </a:lnTo>
                    <a:lnTo>
                      <a:pt x="7741" y="831"/>
                    </a:lnTo>
                    <a:lnTo>
                      <a:pt x="7777" y="899"/>
                    </a:lnTo>
                    <a:lnTo>
                      <a:pt x="7808" y="969"/>
                    </a:lnTo>
                    <a:lnTo>
                      <a:pt x="7837" y="1041"/>
                    </a:lnTo>
                    <a:lnTo>
                      <a:pt x="7862" y="1115"/>
                    </a:lnTo>
                    <a:lnTo>
                      <a:pt x="7883" y="1189"/>
                    </a:lnTo>
                    <a:lnTo>
                      <a:pt x="7902" y="1266"/>
                    </a:lnTo>
                    <a:lnTo>
                      <a:pt x="7915" y="1344"/>
                    </a:lnTo>
                    <a:lnTo>
                      <a:pt x="7925" y="1423"/>
                    </a:lnTo>
                    <a:lnTo>
                      <a:pt x="7931" y="1503"/>
                    </a:lnTo>
                    <a:lnTo>
                      <a:pt x="7933" y="1585"/>
                    </a:lnTo>
                    <a:lnTo>
                      <a:pt x="7933" y="1621"/>
                    </a:lnTo>
                    <a:lnTo>
                      <a:pt x="7932" y="1655"/>
                    </a:lnTo>
                    <a:lnTo>
                      <a:pt x="7930" y="1691"/>
                    </a:lnTo>
                    <a:lnTo>
                      <a:pt x="7927" y="1726"/>
                    </a:lnTo>
                    <a:lnTo>
                      <a:pt x="7924" y="1761"/>
                    </a:lnTo>
                    <a:lnTo>
                      <a:pt x="7919" y="1796"/>
                    </a:lnTo>
                    <a:lnTo>
                      <a:pt x="7915" y="1829"/>
                    </a:lnTo>
                    <a:lnTo>
                      <a:pt x="7909" y="1864"/>
                    </a:lnTo>
                    <a:lnTo>
                      <a:pt x="7903" y="1898"/>
                    </a:lnTo>
                    <a:lnTo>
                      <a:pt x="7895" y="1931"/>
                    </a:lnTo>
                    <a:lnTo>
                      <a:pt x="7887" y="1964"/>
                    </a:lnTo>
                    <a:lnTo>
                      <a:pt x="7879" y="1997"/>
                    </a:lnTo>
                    <a:lnTo>
                      <a:pt x="7870" y="2031"/>
                    </a:lnTo>
                    <a:lnTo>
                      <a:pt x="7860" y="2062"/>
                    </a:lnTo>
                    <a:lnTo>
                      <a:pt x="7848" y="2095"/>
                    </a:lnTo>
                    <a:lnTo>
                      <a:pt x="7838" y="2127"/>
                    </a:lnTo>
                    <a:lnTo>
                      <a:pt x="7826" y="2158"/>
                    </a:lnTo>
                    <a:lnTo>
                      <a:pt x="7814" y="2189"/>
                    </a:lnTo>
                    <a:lnTo>
                      <a:pt x="7799" y="2221"/>
                    </a:lnTo>
                    <a:lnTo>
                      <a:pt x="7786" y="2251"/>
                    </a:lnTo>
                    <a:lnTo>
                      <a:pt x="7772" y="2281"/>
                    </a:lnTo>
                    <a:lnTo>
                      <a:pt x="7756" y="2311"/>
                    </a:lnTo>
                    <a:lnTo>
                      <a:pt x="7741" y="2340"/>
                    </a:lnTo>
                    <a:lnTo>
                      <a:pt x="7725" y="2370"/>
                    </a:lnTo>
                    <a:lnTo>
                      <a:pt x="7707" y="2399"/>
                    </a:lnTo>
                    <a:lnTo>
                      <a:pt x="7690" y="2427"/>
                    </a:lnTo>
                    <a:lnTo>
                      <a:pt x="7671" y="2455"/>
                    </a:lnTo>
                    <a:lnTo>
                      <a:pt x="7653" y="2482"/>
                    </a:lnTo>
                    <a:lnTo>
                      <a:pt x="7633" y="2510"/>
                    </a:lnTo>
                    <a:lnTo>
                      <a:pt x="7614" y="2537"/>
                    </a:lnTo>
                    <a:lnTo>
                      <a:pt x="7594" y="2562"/>
                    </a:lnTo>
                    <a:lnTo>
                      <a:pt x="7573" y="2589"/>
                    </a:lnTo>
                    <a:lnTo>
                      <a:pt x="8813" y="5717"/>
                    </a:lnTo>
                    <a:lnTo>
                      <a:pt x="10691" y="7981"/>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0" name="组合 149"/>
            <p:cNvGrpSpPr/>
            <p:nvPr/>
          </p:nvGrpSpPr>
          <p:grpSpPr>
            <a:xfrm>
              <a:off x="829505" y="1591545"/>
              <a:ext cx="881211" cy="521659"/>
              <a:chOff x="829505" y="1722262"/>
              <a:chExt cx="881211" cy="521659"/>
            </a:xfrm>
          </p:grpSpPr>
          <p:sp>
            <p:nvSpPr>
              <p:cNvPr id="151" name="Line 54"/>
              <p:cNvSpPr>
                <a:spLocks noChangeShapeType="1"/>
              </p:cNvSpPr>
              <p:nvPr/>
            </p:nvSpPr>
            <p:spPr bwMode="auto">
              <a:xfrm flipH="1">
                <a:off x="1316960" y="1984136"/>
                <a:ext cx="393756"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itchFamily="34" charset="-122"/>
                  <a:ea typeface="微软雅黑" pitchFamily="34" charset="-122"/>
                </a:endParaRPr>
              </a:p>
            </p:txBody>
          </p:sp>
          <p:grpSp>
            <p:nvGrpSpPr>
              <p:cNvPr id="152" name="组合 151"/>
              <p:cNvGrpSpPr/>
              <p:nvPr/>
            </p:nvGrpSpPr>
            <p:grpSpPr>
              <a:xfrm>
                <a:off x="829505" y="1722262"/>
                <a:ext cx="684333" cy="521659"/>
                <a:chOff x="4623937" y="1114451"/>
                <a:chExt cx="684333" cy="521659"/>
              </a:xfrm>
            </p:grpSpPr>
            <p:sp>
              <p:nvSpPr>
                <p:cNvPr id="153" name="Freeform 98"/>
                <p:cNvSpPr>
                  <a:spLocks/>
                </p:cNvSpPr>
                <p:nvPr/>
              </p:nvSpPr>
              <p:spPr bwMode="auto">
                <a:xfrm>
                  <a:off x="4817370" y="139903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154" name="Picture 200"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6342" y="1194181"/>
                  <a:ext cx="441928" cy="441929"/>
                </a:xfrm>
                <a:prstGeom prst="rect">
                  <a:avLst/>
                </a:prstGeom>
                <a:noFill/>
                <a:extLst>
                  <a:ext uri="{909E8E84-426E-40DD-AFC4-6F175D3DCCD1}">
                    <a14:hiddenFill xmlns:a14="http://schemas.microsoft.com/office/drawing/2010/main">
                      <a:solidFill>
                        <a:srgbClr val="FFFFFF"/>
                      </a:solidFill>
                    </a14:hiddenFill>
                  </a:ext>
                </a:extLst>
              </p:spPr>
            </p:pic>
            <p:sp>
              <p:nvSpPr>
                <p:cNvPr id="155" name="Text Box 97"/>
                <p:cNvSpPr txBox="1">
                  <a:spLocks noChangeArrowheads="1"/>
                </p:cNvSpPr>
                <p:nvPr/>
              </p:nvSpPr>
              <p:spPr bwMode="auto">
                <a:xfrm rot="20287477">
                  <a:off x="4623937" y="111445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grpSp>
      </p:grpSp>
      <p:sp>
        <p:nvSpPr>
          <p:cNvPr id="23" name="矩形 22"/>
          <p:cNvSpPr/>
          <p:nvPr/>
        </p:nvSpPr>
        <p:spPr>
          <a:xfrm>
            <a:off x="3436921" y="1099741"/>
            <a:ext cx="4618507" cy="738664"/>
          </a:xfrm>
          <a:prstGeom prst="rect">
            <a:avLst/>
          </a:prstGeom>
          <a:solidFill>
            <a:srgbClr val="FFFF99"/>
          </a:solidFill>
        </p:spPr>
        <p:txBody>
          <a:bodyPr wrap="square">
            <a:spAutoFit/>
          </a:bodyPr>
          <a:lstStyle/>
          <a:p>
            <a:r>
              <a:rPr lang="zh-CN" altLang="en-US" sz="1400" b="1" dirty="0">
                <a:solidFill>
                  <a:srgbClr val="000099"/>
                </a:solidFill>
                <a:latin typeface="微软雅黑" panose="020B0503020204020204" pitchFamily="34" charset="-122"/>
                <a:ea typeface="微软雅黑" panose="020B0503020204020204" pitchFamily="34" charset="-122"/>
              </a:rPr>
              <a:t>网关、网闸和</a:t>
            </a:r>
            <a:r>
              <a:rPr lang="en-US" altLang="zh-CN" sz="1400" b="1" dirty="0">
                <a:solidFill>
                  <a:srgbClr val="000099"/>
                </a:solidFill>
                <a:latin typeface="微软雅黑" panose="020B0503020204020204" pitchFamily="34" charset="-122"/>
                <a:ea typeface="微软雅黑" panose="020B0503020204020204" pitchFamily="34" charset="-122"/>
              </a:rPr>
              <a:t>MCU</a:t>
            </a:r>
            <a:r>
              <a:rPr lang="zh-CN" altLang="en-US" sz="1400" b="1" dirty="0">
                <a:solidFill>
                  <a:srgbClr val="000099"/>
                </a:solidFill>
                <a:latin typeface="微软雅黑" panose="020B0503020204020204" pitchFamily="34" charset="-122"/>
                <a:ea typeface="微软雅黑" panose="020B0503020204020204" pitchFamily="34" charset="-122"/>
              </a:rPr>
              <a:t>在</a:t>
            </a:r>
            <a:r>
              <a:rPr lang="zh-CN" altLang="en-US" sz="1400" b="1" dirty="0">
                <a:solidFill>
                  <a:srgbClr val="C00000"/>
                </a:solidFill>
                <a:latin typeface="微软雅黑" panose="020B0503020204020204" pitchFamily="34" charset="-122"/>
                <a:ea typeface="微软雅黑" panose="020B0503020204020204" pitchFamily="34" charset="-122"/>
              </a:rPr>
              <a:t>逻辑上是分开的</a:t>
            </a:r>
            <a:r>
              <a:rPr lang="zh-CN" altLang="en-US" sz="1400" b="1" dirty="0">
                <a:solidFill>
                  <a:srgbClr val="000099"/>
                </a:solidFill>
                <a:latin typeface="微软雅黑" panose="020B0503020204020204" pitchFamily="34" charset="-122"/>
                <a:ea typeface="微软雅黑" panose="020B0503020204020204" pitchFamily="34" charset="-122"/>
              </a:rPr>
              <a:t>构件，但它们可实现在一个物理设备中。在 </a:t>
            </a:r>
            <a:r>
              <a:rPr lang="en-US" altLang="zh-CN" sz="1400" b="1" dirty="0">
                <a:solidFill>
                  <a:srgbClr val="000099"/>
                </a:solidFill>
                <a:latin typeface="微软雅黑" panose="020B0503020204020204" pitchFamily="34" charset="-122"/>
                <a:ea typeface="微软雅黑" panose="020B0503020204020204" pitchFamily="34" charset="-122"/>
              </a:rPr>
              <a:t>H.323 </a:t>
            </a:r>
            <a:r>
              <a:rPr lang="zh-CN" altLang="en-US" sz="1400" b="1" dirty="0">
                <a:solidFill>
                  <a:srgbClr val="000099"/>
                </a:solidFill>
                <a:latin typeface="微软雅黑" panose="020B0503020204020204" pitchFamily="34" charset="-122"/>
                <a:ea typeface="微软雅黑" panose="020B0503020204020204" pitchFamily="34" charset="-122"/>
              </a:rPr>
              <a:t>标准中，将 </a:t>
            </a:r>
            <a:r>
              <a:rPr lang="en-US" altLang="zh-CN" sz="1400" b="1" dirty="0">
                <a:solidFill>
                  <a:srgbClr val="000099"/>
                </a:solidFill>
                <a:latin typeface="微软雅黑" panose="020B0503020204020204" pitchFamily="34" charset="-122"/>
                <a:ea typeface="微软雅黑" panose="020B0503020204020204" pitchFamily="34" charset="-122"/>
              </a:rPr>
              <a:t>H.323 </a:t>
            </a:r>
            <a:r>
              <a:rPr lang="zh-CN" altLang="en-US" sz="1400" b="1" dirty="0">
                <a:solidFill>
                  <a:srgbClr val="000099"/>
                </a:solidFill>
                <a:latin typeface="微软雅黑" panose="020B0503020204020204" pitchFamily="34" charset="-122"/>
                <a:ea typeface="微软雅黑" panose="020B0503020204020204" pitchFamily="34" charset="-122"/>
              </a:rPr>
              <a:t>终端、网关和 </a:t>
            </a:r>
            <a:r>
              <a:rPr lang="en-US" altLang="zh-CN" sz="1400" b="1" dirty="0">
                <a:solidFill>
                  <a:srgbClr val="000099"/>
                </a:solidFill>
                <a:latin typeface="微软雅黑" panose="020B0503020204020204" pitchFamily="34" charset="-122"/>
                <a:ea typeface="微软雅黑" panose="020B0503020204020204" pitchFamily="34" charset="-122"/>
              </a:rPr>
              <a:t>MCU </a:t>
            </a:r>
            <a:r>
              <a:rPr lang="zh-CN" altLang="en-US" sz="1400" b="1" dirty="0">
                <a:solidFill>
                  <a:srgbClr val="000099"/>
                </a:solidFill>
                <a:latin typeface="微软雅黑" panose="020B0503020204020204" pitchFamily="34" charset="-122"/>
                <a:ea typeface="微软雅黑" panose="020B0503020204020204" pitchFamily="34" charset="-122"/>
              </a:rPr>
              <a:t>都称为 </a:t>
            </a:r>
            <a:r>
              <a:rPr lang="en-US" altLang="zh-CN" sz="1400" b="1" dirty="0">
                <a:solidFill>
                  <a:srgbClr val="C00000"/>
                </a:solidFill>
                <a:latin typeface="微软雅黑" panose="020B0503020204020204" pitchFamily="34" charset="-122"/>
                <a:ea typeface="微软雅黑" panose="020B0503020204020204" pitchFamily="34" charset="-122"/>
              </a:rPr>
              <a:t>H.323 </a:t>
            </a:r>
            <a:r>
              <a:rPr lang="zh-CN" altLang="en-US" sz="1400" b="1" dirty="0">
                <a:solidFill>
                  <a:srgbClr val="C00000"/>
                </a:solidFill>
                <a:latin typeface="微软雅黑" panose="020B0503020204020204" pitchFamily="34" charset="-122"/>
                <a:ea typeface="微软雅黑" panose="020B0503020204020204" pitchFamily="34" charset="-122"/>
              </a:rPr>
              <a:t>端点 </a:t>
            </a:r>
            <a:r>
              <a:rPr lang="en-US" altLang="zh-CN" sz="1400" b="1" dirty="0">
                <a:solidFill>
                  <a:srgbClr val="000099"/>
                </a:solidFill>
                <a:latin typeface="微软雅黑" panose="020B0503020204020204" pitchFamily="34" charset="-122"/>
                <a:ea typeface="微软雅黑" panose="020B0503020204020204" pitchFamily="34" charset="-122"/>
              </a:rPr>
              <a:t>(end point)</a:t>
            </a:r>
            <a:r>
              <a:rPr lang="zh-CN" altLang="en-US" sz="1400" b="1" dirty="0">
                <a:solidFill>
                  <a:srgbClr val="000099"/>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0825015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50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24"/>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10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nodeType="clickEffect">
                                  <p:stCondLst>
                                    <p:cond delay="0"/>
                                  </p:stCondLst>
                                  <p:childTnLst>
                                    <p:anim calcmode="discrete" valueType="str">
                                      <p:cBhvr>
                                        <p:cTn id="18" dur="10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1897" y="614140"/>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23658" y="591050"/>
            <a:ext cx="2715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H.323 </a:t>
            </a:r>
            <a:r>
              <a:rPr lang="zh-CN" altLang="en-US" sz="2000" b="1" dirty="0">
                <a:solidFill>
                  <a:schemeClr val="bg1"/>
                </a:solidFill>
                <a:ea typeface="微软雅黑" pitchFamily="34" charset="-122"/>
              </a:rPr>
              <a:t>的协议体系结构 </a:t>
            </a:r>
          </a:p>
        </p:txBody>
      </p:sp>
      <p:grpSp>
        <p:nvGrpSpPr>
          <p:cNvPr id="4" name="组合 3"/>
          <p:cNvGrpSpPr/>
          <p:nvPr/>
        </p:nvGrpSpPr>
        <p:grpSpPr>
          <a:xfrm>
            <a:off x="511896" y="1065933"/>
            <a:ext cx="8135741" cy="2452330"/>
            <a:chOff x="615153" y="1989139"/>
            <a:chExt cx="8946359" cy="3455986"/>
          </a:xfrm>
        </p:grpSpPr>
        <p:sp>
          <p:nvSpPr>
            <p:cNvPr id="5" name="Rectangle 67"/>
            <p:cNvSpPr>
              <a:spLocks noChangeArrowheads="1"/>
            </p:cNvSpPr>
            <p:nvPr/>
          </p:nvSpPr>
          <p:spPr bwMode="auto">
            <a:xfrm>
              <a:off x="615155" y="4797427"/>
              <a:ext cx="8946357" cy="644525"/>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chemeClr val="bg1"/>
                </a:solidFill>
                <a:latin typeface="微软雅黑" pitchFamily="34" charset="-122"/>
                <a:ea typeface="微软雅黑" pitchFamily="34" charset="-122"/>
              </a:endParaRPr>
            </a:p>
          </p:txBody>
        </p:sp>
        <p:sp>
          <p:nvSpPr>
            <p:cNvPr id="6" name="Rectangle 66"/>
            <p:cNvSpPr>
              <a:spLocks noChangeArrowheads="1"/>
            </p:cNvSpPr>
            <p:nvPr/>
          </p:nvSpPr>
          <p:spPr bwMode="auto">
            <a:xfrm>
              <a:off x="5429533" y="4162425"/>
              <a:ext cx="4131979" cy="635001"/>
            </a:xfrm>
            <a:prstGeom prst="rect">
              <a:avLst/>
            </a:prstGeom>
            <a:solidFill>
              <a:srgbClr val="33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7" name="Rectangle 65"/>
            <p:cNvSpPr>
              <a:spLocks noChangeArrowheads="1"/>
            </p:cNvSpPr>
            <p:nvPr/>
          </p:nvSpPr>
          <p:spPr bwMode="auto">
            <a:xfrm>
              <a:off x="615153" y="4149725"/>
              <a:ext cx="4815417" cy="635001"/>
            </a:xfrm>
            <a:prstGeom prst="rect">
              <a:avLst/>
            </a:prstGeom>
            <a:solidFill>
              <a:schemeClr val="tx2">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8" name="Rectangle 64"/>
            <p:cNvSpPr>
              <a:spLocks noChangeArrowheads="1"/>
            </p:cNvSpPr>
            <p:nvPr/>
          </p:nvSpPr>
          <p:spPr bwMode="auto">
            <a:xfrm>
              <a:off x="615155" y="2008188"/>
              <a:ext cx="2497137" cy="2138361"/>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9" name="Rectangle 63"/>
            <p:cNvSpPr>
              <a:spLocks noChangeArrowheads="1"/>
            </p:cNvSpPr>
            <p:nvPr/>
          </p:nvSpPr>
          <p:spPr bwMode="auto">
            <a:xfrm>
              <a:off x="7869236" y="1989139"/>
              <a:ext cx="1692275" cy="2174874"/>
            </a:xfrm>
            <a:prstGeom prst="rect">
              <a:avLst/>
            </a:prstGeom>
            <a:solidFill>
              <a:srgbClr val="99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10" name="Rectangle 62"/>
            <p:cNvSpPr>
              <a:spLocks noChangeArrowheads="1"/>
            </p:cNvSpPr>
            <p:nvPr/>
          </p:nvSpPr>
          <p:spPr bwMode="auto">
            <a:xfrm>
              <a:off x="3110574" y="1989139"/>
              <a:ext cx="4763822" cy="2174874"/>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11" name="Rectangle 36"/>
            <p:cNvSpPr>
              <a:spLocks noChangeArrowheads="1"/>
            </p:cNvSpPr>
            <p:nvPr/>
          </p:nvSpPr>
          <p:spPr bwMode="auto">
            <a:xfrm>
              <a:off x="615155" y="2008188"/>
              <a:ext cx="8946356" cy="3436937"/>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12" name="Text Box 37"/>
            <p:cNvSpPr txBox="1">
              <a:spLocks noChangeArrowheads="1"/>
            </p:cNvSpPr>
            <p:nvPr/>
          </p:nvSpPr>
          <p:spPr bwMode="auto">
            <a:xfrm>
              <a:off x="895481" y="2168526"/>
              <a:ext cx="2378471" cy="3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1600" b="1">
                  <a:latin typeface="微软雅黑" pitchFamily="34" charset="-122"/>
                  <a:ea typeface="微软雅黑" pitchFamily="34" charset="-122"/>
                </a:rPr>
                <a:t>音频</a:t>
              </a:r>
              <a:r>
                <a:rPr kumimoji="1" lang="en-US" altLang="zh-CN" sz="1600" b="1">
                  <a:latin typeface="微软雅黑" pitchFamily="34" charset="-122"/>
                  <a:ea typeface="微软雅黑" pitchFamily="34" charset="-122"/>
                </a:rPr>
                <a:t>/</a:t>
              </a:r>
              <a:r>
                <a:rPr kumimoji="1" lang="zh-CN" altLang="en-US" sz="1600" b="1">
                  <a:latin typeface="微软雅黑" pitchFamily="34" charset="-122"/>
                  <a:ea typeface="微软雅黑" pitchFamily="34" charset="-122"/>
                </a:rPr>
                <a:t>视频应用</a:t>
              </a:r>
            </a:p>
          </p:txBody>
        </p:sp>
        <p:sp>
          <p:nvSpPr>
            <p:cNvPr id="13" name="Text Box 38"/>
            <p:cNvSpPr txBox="1">
              <a:spLocks noChangeArrowheads="1"/>
            </p:cNvSpPr>
            <p:nvPr/>
          </p:nvSpPr>
          <p:spPr bwMode="auto">
            <a:xfrm>
              <a:off x="765463" y="2789239"/>
              <a:ext cx="937632" cy="62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1600" b="1">
                  <a:latin typeface="微软雅黑" pitchFamily="34" charset="-122"/>
                  <a:ea typeface="微软雅黑" pitchFamily="34" charset="-122"/>
                </a:rPr>
                <a:t>音频</a:t>
              </a:r>
            </a:p>
            <a:p>
              <a:pPr algn="ctr">
                <a:lnSpc>
                  <a:spcPct val="90000"/>
                </a:lnSpc>
              </a:pPr>
              <a:r>
                <a:rPr kumimoji="1" lang="zh-CN" altLang="en-US" sz="1600" b="1">
                  <a:latin typeface="微软雅黑" pitchFamily="34" charset="-122"/>
                  <a:ea typeface="微软雅黑" pitchFamily="34" charset="-122"/>
                </a:rPr>
                <a:t>编解码</a:t>
              </a:r>
            </a:p>
          </p:txBody>
        </p:sp>
        <p:sp>
          <p:nvSpPr>
            <p:cNvPr id="14" name="Text Box 39"/>
            <p:cNvSpPr txBox="1">
              <a:spLocks noChangeArrowheads="1"/>
            </p:cNvSpPr>
            <p:nvPr/>
          </p:nvSpPr>
          <p:spPr bwMode="auto">
            <a:xfrm>
              <a:off x="2006294" y="2789239"/>
              <a:ext cx="937632" cy="62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1600" b="1">
                  <a:latin typeface="微软雅黑" pitchFamily="34" charset="-122"/>
                  <a:ea typeface="微软雅黑" pitchFamily="34" charset="-122"/>
                </a:rPr>
                <a:t>视频</a:t>
              </a:r>
            </a:p>
            <a:p>
              <a:pPr algn="ctr">
                <a:lnSpc>
                  <a:spcPct val="90000"/>
                </a:lnSpc>
              </a:pPr>
              <a:r>
                <a:rPr kumimoji="1" lang="zh-CN" altLang="en-US" sz="1600" b="1">
                  <a:latin typeface="微软雅黑" pitchFamily="34" charset="-122"/>
                  <a:ea typeface="微软雅黑" pitchFamily="34" charset="-122"/>
                </a:rPr>
                <a:t>编解码</a:t>
              </a:r>
            </a:p>
          </p:txBody>
        </p:sp>
        <p:sp>
          <p:nvSpPr>
            <p:cNvPr id="15" name="Line 40"/>
            <p:cNvSpPr>
              <a:spLocks noChangeShapeType="1"/>
            </p:cNvSpPr>
            <p:nvPr/>
          </p:nvSpPr>
          <p:spPr bwMode="auto">
            <a:xfrm>
              <a:off x="615154" y="2668587"/>
              <a:ext cx="8946357"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6" name="Line 41"/>
            <p:cNvSpPr>
              <a:spLocks noChangeShapeType="1"/>
            </p:cNvSpPr>
            <p:nvPr/>
          </p:nvSpPr>
          <p:spPr bwMode="auto">
            <a:xfrm>
              <a:off x="615154" y="3594100"/>
              <a:ext cx="24971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7" name="Line 42"/>
            <p:cNvSpPr>
              <a:spLocks noChangeShapeType="1"/>
            </p:cNvSpPr>
            <p:nvPr/>
          </p:nvSpPr>
          <p:spPr bwMode="auto">
            <a:xfrm>
              <a:off x="615155" y="4784725"/>
              <a:ext cx="89463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8" name="Line 43"/>
            <p:cNvSpPr>
              <a:spLocks noChangeShapeType="1"/>
            </p:cNvSpPr>
            <p:nvPr/>
          </p:nvSpPr>
          <p:spPr bwMode="auto">
            <a:xfrm>
              <a:off x="3112292" y="2008188"/>
              <a:ext cx="0" cy="21510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9" name="Text Box 44"/>
            <p:cNvSpPr txBox="1">
              <a:spLocks noChangeArrowheads="1"/>
            </p:cNvSpPr>
            <p:nvPr/>
          </p:nvSpPr>
          <p:spPr bwMode="auto">
            <a:xfrm>
              <a:off x="3257456" y="3176590"/>
              <a:ext cx="786879" cy="412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a:latin typeface="微软雅黑" pitchFamily="34" charset="-122"/>
                  <a:ea typeface="微软雅黑" pitchFamily="34" charset="-122"/>
                </a:rPr>
                <a:t>RTCP</a:t>
              </a:r>
            </a:p>
          </p:txBody>
        </p:sp>
        <p:sp>
          <p:nvSpPr>
            <p:cNvPr id="20" name="Text Box 45"/>
            <p:cNvSpPr txBox="1">
              <a:spLocks noChangeArrowheads="1"/>
            </p:cNvSpPr>
            <p:nvPr/>
          </p:nvSpPr>
          <p:spPr bwMode="auto">
            <a:xfrm>
              <a:off x="4261605" y="2943226"/>
              <a:ext cx="1146120" cy="887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600" b="1">
                  <a:latin typeface="微软雅黑" pitchFamily="34" charset="-122"/>
                  <a:ea typeface="微软雅黑" pitchFamily="34" charset="-122"/>
                </a:rPr>
                <a:t>H.225.0</a:t>
              </a:r>
            </a:p>
            <a:p>
              <a:pPr algn="ctr">
                <a:lnSpc>
                  <a:spcPct val="90000"/>
                </a:lnSpc>
              </a:pPr>
              <a:r>
                <a:rPr kumimoji="1" lang="zh-CN" altLang="en-US" sz="1600" b="1">
                  <a:latin typeface="微软雅黑" pitchFamily="34" charset="-122"/>
                  <a:ea typeface="微软雅黑" pitchFamily="34" charset="-122"/>
                </a:rPr>
                <a:t>登记</a:t>
              </a:r>
            </a:p>
            <a:p>
              <a:pPr algn="ctr">
                <a:lnSpc>
                  <a:spcPct val="90000"/>
                </a:lnSpc>
              </a:pPr>
              <a:r>
                <a:rPr kumimoji="1" lang="zh-CN" altLang="en-US" sz="1600" b="1">
                  <a:latin typeface="微软雅黑" pitchFamily="34" charset="-122"/>
                  <a:ea typeface="微软雅黑" pitchFamily="34" charset="-122"/>
                </a:rPr>
                <a:t>信令</a:t>
              </a:r>
            </a:p>
          </p:txBody>
        </p:sp>
        <p:sp>
          <p:nvSpPr>
            <p:cNvPr id="21" name="Text Box 46"/>
            <p:cNvSpPr txBox="1">
              <a:spLocks noChangeArrowheads="1"/>
            </p:cNvSpPr>
            <p:nvPr/>
          </p:nvSpPr>
          <p:spPr bwMode="auto">
            <a:xfrm>
              <a:off x="5449119" y="2943226"/>
              <a:ext cx="1146120" cy="887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600" b="1">
                  <a:latin typeface="微软雅黑" pitchFamily="34" charset="-122"/>
                  <a:ea typeface="微软雅黑" pitchFamily="34" charset="-122"/>
                </a:rPr>
                <a:t>H.225.0</a:t>
              </a:r>
            </a:p>
            <a:p>
              <a:pPr algn="ctr">
                <a:lnSpc>
                  <a:spcPct val="90000"/>
                </a:lnSpc>
              </a:pPr>
              <a:r>
                <a:rPr kumimoji="1" lang="zh-CN" altLang="en-US" sz="1600" b="1">
                  <a:latin typeface="微软雅黑" pitchFamily="34" charset="-122"/>
                  <a:ea typeface="微软雅黑" pitchFamily="34" charset="-122"/>
                </a:rPr>
                <a:t>呼叫</a:t>
              </a:r>
            </a:p>
            <a:p>
              <a:pPr algn="ctr">
                <a:lnSpc>
                  <a:spcPct val="90000"/>
                </a:lnSpc>
              </a:pPr>
              <a:r>
                <a:rPr kumimoji="1" lang="zh-CN" altLang="en-US" sz="1600" b="1">
                  <a:latin typeface="微软雅黑" pitchFamily="34" charset="-122"/>
                  <a:ea typeface="微软雅黑" pitchFamily="34" charset="-122"/>
                </a:rPr>
                <a:t>信令</a:t>
              </a:r>
            </a:p>
          </p:txBody>
        </p:sp>
        <p:sp>
          <p:nvSpPr>
            <p:cNvPr id="22" name="Text Box 47"/>
            <p:cNvSpPr txBox="1">
              <a:spLocks noChangeArrowheads="1"/>
            </p:cNvSpPr>
            <p:nvPr/>
          </p:nvSpPr>
          <p:spPr bwMode="auto">
            <a:xfrm>
              <a:off x="6769653" y="2938464"/>
              <a:ext cx="928242" cy="887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600" b="1">
                  <a:latin typeface="微软雅黑" pitchFamily="34" charset="-122"/>
                  <a:ea typeface="微软雅黑" pitchFamily="34" charset="-122"/>
                </a:rPr>
                <a:t>H.245</a:t>
              </a:r>
            </a:p>
            <a:p>
              <a:pPr algn="ctr">
                <a:lnSpc>
                  <a:spcPct val="90000"/>
                </a:lnSpc>
              </a:pPr>
              <a:r>
                <a:rPr kumimoji="1" lang="zh-CN" altLang="en-US" sz="1600" b="1">
                  <a:latin typeface="微软雅黑" pitchFamily="34" charset="-122"/>
                  <a:ea typeface="微软雅黑" pitchFamily="34" charset="-122"/>
                </a:rPr>
                <a:t>控制</a:t>
              </a:r>
            </a:p>
            <a:p>
              <a:pPr algn="ctr">
                <a:lnSpc>
                  <a:spcPct val="90000"/>
                </a:lnSpc>
              </a:pPr>
              <a:r>
                <a:rPr kumimoji="1" lang="zh-CN" altLang="en-US" sz="1600" b="1">
                  <a:latin typeface="微软雅黑" pitchFamily="34" charset="-122"/>
                  <a:ea typeface="微软雅黑" pitchFamily="34" charset="-122"/>
                </a:rPr>
                <a:t>信令</a:t>
              </a:r>
            </a:p>
          </p:txBody>
        </p:sp>
        <p:sp>
          <p:nvSpPr>
            <p:cNvPr id="23" name="Line 48"/>
            <p:cNvSpPr>
              <a:spLocks noChangeShapeType="1"/>
            </p:cNvSpPr>
            <p:nvPr/>
          </p:nvSpPr>
          <p:spPr bwMode="auto">
            <a:xfrm>
              <a:off x="5430571" y="2668588"/>
              <a:ext cx="0" cy="21161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4" name="Line 49"/>
            <p:cNvSpPr>
              <a:spLocks noChangeShapeType="1"/>
            </p:cNvSpPr>
            <p:nvPr/>
          </p:nvSpPr>
          <p:spPr bwMode="auto">
            <a:xfrm>
              <a:off x="4182002" y="2668588"/>
              <a:ext cx="0" cy="14954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5" name="Line 50"/>
            <p:cNvSpPr>
              <a:spLocks noChangeShapeType="1"/>
            </p:cNvSpPr>
            <p:nvPr/>
          </p:nvSpPr>
          <p:spPr bwMode="auto">
            <a:xfrm>
              <a:off x="6618948" y="2668588"/>
              <a:ext cx="0" cy="14954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6" name="Line 51"/>
            <p:cNvSpPr>
              <a:spLocks noChangeShapeType="1"/>
            </p:cNvSpPr>
            <p:nvPr/>
          </p:nvSpPr>
          <p:spPr bwMode="auto">
            <a:xfrm>
              <a:off x="1829327" y="2668588"/>
              <a:ext cx="0" cy="925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7" name="Text Box 52"/>
            <p:cNvSpPr txBox="1">
              <a:spLocks noChangeArrowheads="1"/>
            </p:cNvSpPr>
            <p:nvPr/>
          </p:nvSpPr>
          <p:spPr bwMode="auto">
            <a:xfrm>
              <a:off x="1413138" y="3679825"/>
              <a:ext cx="686321" cy="3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latin typeface="微软雅黑" pitchFamily="34" charset="-122"/>
                  <a:ea typeface="微软雅黑" pitchFamily="34" charset="-122"/>
                </a:rPr>
                <a:t>RTP</a:t>
              </a:r>
            </a:p>
          </p:txBody>
        </p:sp>
        <p:sp>
          <p:nvSpPr>
            <p:cNvPr id="28" name="Text Box 53"/>
            <p:cNvSpPr txBox="1">
              <a:spLocks noChangeArrowheads="1"/>
            </p:cNvSpPr>
            <p:nvPr/>
          </p:nvSpPr>
          <p:spPr bwMode="auto">
            <a:xfrm>
              <a:off x="2635910" y="4302487"/>
              <a:ext cx="703678" cy="37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chemeClr val="bg1"/>
                  </a:solidFill>
                  <a:latin typeface="微软雅黑" pitchFamily="34" charset="-122"/>
                  <a:ea typeface="微软雅黑" pitchFamily="34" charset="-122"/>
                </a:rPr>
                <a:t>UDP</a:t>
              </a:r>
            </a:p>
          </p:txBody>
        </p:sp>
        <p:sp>
          <p:nvSpPr>
            <p:cNvPr id="29" name="Text Box 54"/>
            <p:cNvSpPr txBox="1">
              <a:spLocks noChangeArrowheads="1"/>
            </p:cNvSpPr>
            <p:nvPr/>
          </p:nvSpPr>
          <p:spPr bwMode="auto">
            <a:xfrm>
              <a:off x="7119407" y="4323126"/>
              <a:ext cx="634932" cy="37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chemeClr val="bg1"/>
                  </a:solidFill>
                  <a:latin typeface="微软雅黑" pitchFamily="34" charset="-122"/>
                  <a:ea typeface="微软雅黑" pitchFamily="34" charset="-122"/>
                </a:rPr>
                <a:t>TCP</a:t>
              </a:r>
            </a:p>
          </p:txBody>
        </p:sp>
        <p:sp>
          <p:nvSpPr>
            <p:cNvPr id="30" name="Text Box 55"/>
            <p:cNvSpPr txBox="1">
              <a:spLocks noChangeArrowheads="1"/>
            </p:cNvSpPr>
            <p:nvPr/>
          </p:nvSpPr>
          <p:spPr bwMode="auto">
            <a:xfrm>
              <a:off x="5059097" y="4942096"/>
              <a:ext cx="426932" cy="37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chemeClr val="bg1"/>
                  </a:solidFill>
                  <a:latin typeface="微软雅黑" pitchFamily="34" charset="-122"/>
                  <a:ea typeface="微软雅黑" pitchFamily="34" charset="-122"/>
                </a:rPr>
                <a:t>IP</a:t>
              </a:r>
            </a:p>
          </p:txBody>
        </p:sp>
        <p:sp>
          <p:nvSpPr>
            <p:cNvPr id="31" name="Text Box 56"/>
            <p:cNvSpPr txBox="1">
              <a:spLocks noChangeArrowheads="1"/>
            </p:cNvSpPr>
            <p:nvPr/>
          </p:nvSpPr>
          <p:spPr bwMode="auto">
            <a:xfrm>
              <a:off x="4720298" y="2097089"/>
              <a:ext cx="1418470" cy="3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latin typeface="微软雅黑" pitchFamily="34" charset="-122"/>
                  <a:ea typeface="微软雅黑" pitchFamily="34" charset="-122"/>
                </a:rPr>
                <a:t>信令和控制</a:t>
              </a:r>
            </a:p>
          </p:txBody>
        </p:sp>
        <p:sp>
          <p:nvSpPr>
            <p:cNvPr id="32" name="Line 57"/>
            <p:cNvSpPr>
              <a:spLocks noChangeShapeType="1"/>
            </p:cNvSpPr>
            <p:nvPr/>
          </p:nvSpPr>
          <p:spPr bwMode="auto">
            <a:xfrm>
              <a:off x="615153" y="4159249"/>
              <a:ext cx="894635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3" name="Line 58"/>
            <p:cNvSpPr>
              <a:spLocks noChangeShapeType="1"/>
            </p:cNvSpPr>
            <p:nvPr/>
          </p:nvSpPr>
          <p:spPr bwMode="auto">
            <a:xfrm>
              <a:off x="7874397" y="2008188"/>
              <a:ext cx="0" cy="21510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4" name="Text Box 59"/>
            <p:cNvSpPr txBox="1">
              <a:spLocks noChangeArrowheads="1"/>
            </p:cNvSpPr>
            <p:nvPr/>
          </p:nvSpPr>
          <p:spPr bwMode="auto">
            <a:xfrm>
              <a:off x="8053254" y="2111376"/>
              <a:ext cx="1249426" cy="3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latin typeface="微软雅黑" pitchFamily="34" charset="-122"/>
                  <a:ea typeface="微软雅黑" pitchFamily="34" charset="-122"/>
                </a:rPr>
                <a:t>数据 应用</a:t>
              </a:r>
            </a:p>
          </p:txBody>
        </p:sp>
        <p:sp>
          <p:nvSpPr>
            <p:cNvPr id="35" name="Text Box 60"/>
            <p:cNvSpPr txBox="1">
              <a:spLocks noChangeArrowheads="1"/>
            </p:cNvSpPr>
            <p:nvPr/>
          </p:nvSpPr>
          <p:spPr bwMode="auto">
            <a:xfrm>
              <a:off x="8281332" y="3074988"/>
              <a:ext cx="857768" cy="62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600" b="1" dirty="0">
                  <a:latin typeface="微软雅黑" pitchFamily="34" charset="-122"/>
                  <a:ea typeface="微软雅黑" pitchFamily="34" charset="-122"/>
                </a:rPr>
                <a:t>T.120</a:t>
              </a:r>
            </a:p>
            <a:p>
              <a:pPr algn="ctr">
                <a:lnSpc>
                  <a:spcPct val="90000"/>
                </a:lnSpc>
              </a:pPr>
              <a:r>
                <a:rPr kumimoji="1" lang="zh-CN" altLang="en-US" sz="1600" b="1" dirty="0">
                  <a:latin typeface="微软雅黑" pitchFamily="34" charset="-122"/>
                  <a:ea typeface="微软雅黑" pitchFamily="34" charset="-122"/>
                </a:rPr>
                <a:t>数据</a:t>
              </a:r>
            </a:p>
          </p:txBody>
        </p:sp>
      </p:grpSp>
      <p:sp>
        <p:nvSpPr>
          <p:cNvPr id="36" name="矩形 35"/>
          <p:cNvSpPr/>
          <p:nvPr/>
        </p:nvSpPr>
        <p:spPr>
          <a:xfrm>
            <a:off x="1616055" y="3527885"/>
            <a:ext cx="5763660" cy="369332"/>
          </a:xfrm>
          <a:prstGeom prst="rect">
            <a:avLst/>
          </a:prstGeom>
        </p:spPr>
        <p:txBody>
          <a:bodyPr wrap="square">
            <a:spAutoFit/>
          </a:bodyPr>
          <a:lstStyle/>
          <a:p>
            <a:pPr algn="ctr"/>
            <a:r>
              <a:rPr lang="en-US" altLang="zh-CN" b="1" dirty="0">
                <a:latin typeface="微软雅黑" panose="020B0503020204020204" pitchFamily="34" charset="-122"/>
                <a:ea typeface="微软雅黑" panose="020B0503020204020204" pitchFamily="34" charset="-122"/>
              </a:rPr>
              <a:t>H.323 </a:t>
            </a:r>
            <a:r>
              <a:rPr lang="zh-CN" altLang="en-US" b="1" dirty="0">
                <a:latin typeface="微软雅黑" panose="020B0503020204020204" pitchFamily="34" charset="-122"/>
                <a:ea typeface="微软雅黑" panose="020B0503020204020204" pitchFamily="34" charset="-122"/>
              </a:rPr>
              <a:t>是一个协议族，可以使用不同的运输协议。</a:t>
            </a:r>
          </a:p>
        </p:txBody>
      </p:sp>
      <p:sp>
        <p:nvSpPr>
          <p:cNvPr id="37" name="矩形 36"/>
          <p:cNvSpPr/>
          <p:nvPr/>
        </p:nvSpPr>
        <p:spPr>
          <a:xfrm>
            <a:off x="872236" y="3847180"/>
            <a:ext cx="7321591"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285750" indent="-285750">
              <a:lnSpc>
                <a:spcPts val="24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H.323 </a:t>
            </a:r>
            <a:r>
              <a:rPr lang="zh-CN" altLang="en-US" sz="1600" b="1" dirty="0">
                <a:latin typeface="微软雅黑" panose="020B0503020204020204" pitchFamily="34" charset="-122"/>
                <a:ea typeface="微软雅黑" panose="020B0503020204020204" pitchFamily="34" charset="-122"/>
              </a:rPr>
              <a:t>以已有的电路交换电话网为基础，增加了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电话的功能。</a:t>
            </a:r>
            <a:endParaRPr lang="en-US" altLang="zh-CN" sz="1600" b="1" dirty="0">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rPr>
              <a:t>H.323 </a:t>
            </a:r>
            <a:r>
              <a:rPr lang="zh-CN" altLang="en-US" sz="1600" b="1" dirty="0">
                <a:latin typeface="微软雅黑" panose="020B0503020204020204" pitchFamily="34" charset="-122"/>
                <a:ea typeface="微软雅黑" panose="020B0503020204020204" pitchFamily="34" charset="-122"/>
              </a:rPr>
              <a:t>信令沿用原有电话网的信令模式，因此与原有电话网的连接比较容易。</a:t>
            </a:r>
          </a:p>
        </p:txBody>
      </p:sp>
    </p:spTree>
    <p:extLst>
      <p:ext uri="{BB962C8B-B14F-4D97-AF65-F5344CB8AC3E}">
        <p14:creationId xmlns:p14="http://schemas.microsoft.com/office/powerpoint/2010/main" val="2546190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1897" y="614140"/>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23658" y="591050"/>
            <a:ext cx="2715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H.323 </a:t>
            </a:r>
            <a:r>
              <a:rPr lang="zh-CN" altLang="en-US" sz="2000" b="1" dirty="0">
                <a:solidFill>
                  <a:schemeClr val="bg1"/>
                </a:solidFill>
                <a:ea typeface="微软雅黑" pitchFamily="34" charset="-122"/>
              </a:rPr>
              <a:t>的协议体系结构 </a:t>
            </a:r>
          </a:p>
        </p:txBody>
      </p:sp>
      <p:sp>
        <p:nvSpPr>
          <p:cNvPr id="37" name="Rectangle 46"/>
          <p:cNvSpPr>
            <a:spLocks noChangeArrowheads="1"/>
          </p:cNvSpPr>
          <p:nvPr/>
        </p:nvSpPr>
        <p:spPr bwMode="auto">
          <a:xfrm>
            <a:off x="509474" y="978758"/>
            <a:ext cx="8251349" cy="3503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9900FF"/>
              </a:buClr>
              <a:buFont typeface="+mj-lt"/>
              <a:buAutoNum type="arabicPeriod"/>
            </a:pPr>
            <a:r>
              <a:rPr lang="zh-CN" altLang="en-US" sz="1700" b="1" dirty="0">
                <a:solidFill>
                  <a:srgbClr val="0000FF"/>
                </a:solidFill>
                <a:latin typeface="微软雅黑" pitchFamily="34" charset="-122"/>
                <a:ea typeface="微软雅黑" pitchFamily="34" charset="-122"/>
              </a:rPr>
              <a:t>音频编解码器。</a:t>
            </a:r>
            <a:r>
              <a:rPr lang="zh-CN" altLang="en-US" sz="1700" b="1" dirty="0">
                <a:latin typeface="微软雅黑" pitchFamily="34" charset="-122"/>
                <a:ea typeface="微软雅黑" pitchFamily="34" charset="-122"/>
              </a:rPr>
              <a:t>要求至少要支持 </a:t>
            </a:r>
            <a:r>
              <a:rPr lang="en-US" altLang="zh-CN" sz="1700" b="1" dirty="0">
                <a:latin typeface="微软雅黑" pitchFamily="34" charset="-122"/>
                <a:ea typeface="微软雅黑" pitchFamily="34" charset="-122"/>
              </a:rPr>
              <a:t>G.711</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64 </a:t>
            </a:r>
            <a:r>
              <a:rPr lang="en-US" altLang="zh-CN" sz="1700" b="1" dirty="0" err="1">
                <a:latin typeface="微软雅黑" pitchFamily="34" charset="-122"/>
                <a:ea typeface="微软雅黑" pitchFamily="34" charset="-122"/>
              </a:rPr>
              <a:t>kbit</a:t>
            </a:r>
            <a:r>
              <a:rPr lang="en-US" altLang="zh-CN" sz="1700" b="1" dirty="0">
                <a:latin typeface="微软雅黑" pitchFamily="34" charset="-122"/>
                <a:ea typeface="微软雅黑" pitchFamily="34" charset="-122"/>
              </a:rPr>
              <a:t>/s </a:t>
            </a:r>
            <a:r>
              <a:rPr lang="zh-CN" altLang="en-US" sz="1700" b="1" dirty="0">
                <a:latin typeface="微软雅黑" pitchFamily="34" charset="-122"/>
                <a:ea typeface="微软雅黑" pitchFamily="34" charset="-122"/>
              </a:rPr>
              <a:t>的 </a:t>
            </a:r>
            <a:r>
              <a:rPr lang="en-US" altLang="zh-CN" sz="1700" b="1" dirty="0">
                <a:latin typeface="微软雅黑" pitchFamily="34" charset="-122"/>
                <a:ea typeface="微软雅黑" pitchFamily="34" charset="-122"/>
              </a:rPr>
              <a:t>PCM</a:t>
            </a:r>
            <a:r>
              <a:rPr lang="zh-CN" altLang="en-US" sz="1700" b="1" dirty="0">
                <a:latin typeface="微软雅黑" pitchFamily="34" charset="-122"/>
                <a:ea typeface="微软雅黑" pitchFamily="34" charset="-122"/>
              </a:rPr>
              <a:t>）。建议支持如 </a:t>
            </a:r>
            <a:r>
              <a:rPr lang="en-US" altLang="zh-CN" sz="1700" b="1" dirty="0">
                <a:latin typeface="微软雅黑" pitchFamily="34" charset="-122"/>
                <a:ea typeface="微软雅黑" pitchFamily="34" charset="-122"/>
              </a:rPr>
              <a:t>G.722</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16 </a:t>
            </a:r>
            <a:r>
              <a:rPr lang="en-US" altLang="zh-CN" sz="1700" b="1" dirty="0" err="1">
                <a:latin typeface="微软雅黑" pitchFamily="34" charset="-122"/>
                <a:ea typeface="微软雅黑" pitchFamily="34" charset="-122"/>
              </a:rPr>
              <a:t>kbit</a:t>
            </a:r>
            <a:r>
              <a:rPr lang="en-US" altLang="zh-CN" sz="1700" b="1" dirty="0">
                <a:latin typeface="微软雅黑" pitchFamily="34" charset="-122"/>
                <a:ea typeface="微软雅黑" pitchFamily="34" charset="-122"/>
              </a:rPr>
              <a:t>/s </a:t>
            </a:r>
            <a:r>
              <a:rPr lang="zh-CN" altLang="en-US" sz="1700" b="1" dirty="0">
                <a:latin typeface="微软雅黑" pitchFamily="34" charset="-122"/>
                <a:ea typeface="微软雅黑" pitchFamily="34" charset="-122"/>
              </a:rPr>
              <a:t>的 </a:t>
            </a:r>
            <a:r>
              <a:rPr lang="en-US" altLang="zh-CN" sz="1700" b="1" dirty="0">
                <a:latin typeface="微软雅黑" pitchFamily="34" charset="-122"/>
                <a:ea typeface="微软雅黑" pitchFamily="34" charset="-122"/>
              </a:rPr>
              <a:t>ADPCM</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 G.723.1</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5.3/6.3 </a:t>
            </a:r>
            <a:r>
              <a:rPr lang="zh-CN" altLang="en-US" sz="1700" b="1" dirty="0">
                <a:latin typeface="微软雅黑" pitchFamily="34" charset="-122"/>
                <a:ea typeface="微软雅黑" pitchFamily="34" charset="-122"/>
              </a:rPr>
              <a:t>的 </a:t>
            </a:r>
            <a:r>
              <a:rPr lang="en-US" altLang="zh-CN" sz="1700" b="1" dirty="0">
                <a:latin typeface="微软雅黑" pitchFamily="34" charset="-122"/>
                <a:ea typeface="微软雅黑" pitchFamily="34" charset="-122"/>
              </a:rPr>
              <a:t>LPC</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 G.728</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16 </a:t>
            </a:r>
            <a:r>
              <a:rPr lang="en-US" altLang="zh-CN" sz="1700" b="1" dirty="0" err="1">
                <a:latin typeface="微软雅黑" pitchFamily="34" charset="-122"/>
                <a:ea typeface="微软雅黑" pitchFamily="34" charset="-122"/>
              </a:rPr>
              <a:t>kbit</a:t>
            </a:r>
            <a:r>
              <a:rPr lang="en-US" altLang="zh-CN" sz="1700" b="1" dirty="0">
                <a:latin typeface="微软雅黑" pitchFamily="34" charset="-122"/>
                <a:ea typeface="微软雅黑" pitchFamily="34" charset="-122"/>
              </a:rPr>
              <a:t>/s </a:t>
            </a:r>
            <a:r>
              <a:rPr lang="zh-CN" altLang="en-US" sz="1700" b="1" dirty="0">
                <a:latin typeface="微软雅黑" pitchFamily="34" charset="-122"/>
                <a:ea typeface="微软雅黑" pitchFamily="34" charset="-122"/>
              </a:rPr>
              <a:t>的低时延 </a:t>
            </a:r>
            <a:r>
              <a:rPr lang="en-US" altLang="zh-CN" sz="1700" b="1" dirty="0">
                <a:latin typeface="微软雅黑" pitchFamily="34" charset="-122"/>
                <a:ea typeface="微软雅黑" pitchFamily="34" charset="-122"/>
              </a:rPr>
              <a:t>CELP</a:t>
            </a:r>
            <a:r>
              <a:rPr lang="zh-CN" altLang="en-US" sz="1700" b="1" dirty="0">
                <a:latin typeface="微软雅黑" pitchFamily="34" charset="-122"/>
                <a:ea typeface="微软雅黑" pitchFamily="34" charset="-122"/>
              </a:rPr>
              <a:t>）和 </a:t>
            </a:r>
            <a:r>
              <a:rPr lang="en-US" altLang="zh-CN" sz="1700" b="1" dirty="0">
                <a:latin typeface="微软雅黑" pitchFamily="34" charset="-122"/>
                <a:ea typeface="微软雅黑" pitchFamily="34" charset="-122"/>
              </a:rPr>
              <a:t>G.729</a:t>
            </a:r>
            <a:r>
              <a:rPr lang="zh-CN" altLang="en-US" sz="1700" b="1" dirty="0">
                <a:latin typeface="微软雅黑" pitchFamily="34" charset="-122"/>
                <a:ea typeface="微软雅黑" pitchFamily="34" charset="-122"/>
              </a:rPr>
              <a:t>（</a:t>
            </a:r>
            <a:r>
              <a:rPr lang="en-US" altLang="zh-CN" sz="1700" b="1" dirty="0">
                <a:latin typeface="微软雅黑" pitchFamily="34" charset="-122"/>
                <a:ea typeface="微软雅黑" pitchFamily="34" charset="-122"/>
              </a:rPr>
              <a:t>8 </a:t>
            </a:r>
            <a:r>
              <a:rPr lang="en-US" altLang="zh-CN" sz="1700" b="1" dirty="0" err="1">
                <a:latin typeface="微软雅黑" pitchFamily="34" charset="-122"/>
                <a:ea typeface="微软雅黑" pitchFamily="34" charset="-122"/>
              </a:rPr>
              <a:t>kbit</a:t>
            </a:r>
            <a:r>
              <a:rPr lang="en-US" altLang="zh-CN" sz="1700" b="1" dirty="0">
                <a:latin typeface="微软雅黑" pitchFamily="34" charset="-122"/>
                <a:ea typeface="微软雅黑" pitchFamily="34" charset="-122"/>
              </a:rPr>
              <a:t>/s </a:t>
            </a:r>
            <a:r>
              <a:rPr lang="zh-CN" altLang="en-US" sz="1700" b="1" dirty="0">
                <a:latin typeface="微软雅黑" pitchFamily="34" charset="-122"/>
                <a:ea typeface="微软雅黑" pitchFamily="34" charset="-122"/>
              </a:rPr>
              <a:t>的 </a:t>
            </a:r>
            <a:r>
              <a:rPr lang="en-US" altLang="zh-CN" sz="1700" b="1" dirty="0">
                <a:latin typeface="微软雅黑" pitchFamily="34" charset="-122"/>
                <a:ea typeface="微软雅黑" pitchFamily="34" charset="-122"/>
              </a:rPr>
              <a:t>CS-ACELP</a:t>
            </a:r>
            <a:r>
              <a:rPr lang="zh-CN" altLang="en-US" sz="1700" b="1" dirty="0">
                <a:latin typeface="微软雅黑" pitchFamily="34" charset="-122"/>
                <a:ea typeface="微软雅黑" pitchFamily="34" charset="-122"/>
              </a:rPr>
              <a:t>）等。</a:t>
            </a:r>
          </a:p>
          <a:p>
            <a:pPr marL="342900" indent="-342900" eaLnBrk="0" hangingPunct="0">
              <a:lnSpc>
                <a:spcPts val="2600"/>
              </a:lnSpc>
              <a:buClr>
                <a:srgbClr val="9900FF"/>
              </a:buClr>
              <a:buFont typeface="+mj-lt"/>
              <a:buAutoNum type="arabicPeriod"/>
            </a:pPr>
            <a:r>
              <a:rPr lang="zh-CN" altLang="en-US" sz="1700" b="1" dirty="0">
                <a:solidFill>
                  <a:srgbClr val="0000FF"/>
                </a:solidFill>
                <a:latin typeface="微软雅黑" pitchFamily="34" charset="-122"/>
                <a:ea typeface="微软雅黑" pitchFamily="34" charset="-122"/>
              </a:rPr>
              <a:t>视频编解码器。</a:t>
            </a:r>
            <a:r>
              <a:rPr lang="zh-CN" altLang="en-US" sz="1700" b="1" dirty="0">
                <a:latin typeface="微软雅黑" pitchFamily="34" charset="-122"/>
                <a:ea typeface="微软雅黑" pitchFamily="34" charset="-122"/>
              </a:rPr>
              <a:t>要求必须支持 </a:t>
            </a:r>
            <a:r>
              <a:rPr lang="en-US" altLang="zh-CN" sz="1700" b="1" dirty="0">
                <a:latin typeface="微软雅黑" pitchFamily="34" charset="-122"/>
                <a:ea typeface="微软雅黑" pitchFamily="34" charset="-122"/>
              </a:rPr>
              <a:t>H.261 </a:t>
            </a:r>
            <a:r>
              <a:rPr lang="zh-CN" altLang="en-US" sz="1700" b="1" dirty="0">
                <a:latin typeface="微软雅黑" pitchFamily="34" charset="-122"/>
                <a:ea typeface="微软雅黑" pitchFamily="34" charset="-122"/>
              </a:rPr>
              <a:t>标准（</a:t>
            </a:r>
            <a:r>
              <a:rPr lang="en-US" altLang="zh-CN" sz="1700" b="1" dirty="0">
                <a:latin typeface="微软雅黑" pitchFamily="34" charset="-122"/>
                <a:ea typeface="微软雅黑" pitchFamily="34" charset="-122"/>
              </a:rPr>
              <a:t>176 x 144 </a:t>
            </a:r>
            <a:r>
              <a:rPr lang="zh-CN" altLang="en-US" sz="1700" b="1" dirty="0">
                <a:latin typeface="微软雅黑" pitchFamily="34" charset="-122"/>
                <a:ea typeface="微软雅黑" pitchFamily="34" charset="-122"/>
              </a:rPr>
              <a:t>像素）。</a:t>
            </a:r>
            <a:endParaRPr lang="en-US" altLang="zh-CN" sz="1700" b="1" dirty="0">
              <a:latin typeface="微软雅黑" pitchFamily="34" charset="-122"/>
              <a:ea typeface="微软雅黑" pitchFamily="34" charset="-122"/>
            </a:endParaRPr>
          </a:p>
          <a:p>
            <a:pPr marL="342900" indent="-342900" eaLnBrk="0" hangingPunct="0">
              <a:lnSpc>
                <a:spcPts val="2600"/>
              </a:lnSpc>
              <a:buClr>
                <a:srgbClr val="9900FF"/>
              </a:buClr>
              <a:buFont typeface="+mj-lt"/>
              <a:buAutoNum type="arabicPeriod"/>
            </a:pPr>
            <a:r>
              <a:rPr lang="en-US" altLang="zh-CN" sz="1700" b="1" dirty="0">
                <a:solidFill>
                  <a:srgbClr val="0000FF"/>
                </a:solidFill>
                <a:latin typeface="微软雅黑" pitchFamily="34" charset="-122"/>
                <a:ea typeface="微软雅黑" pitchFamily="34" charset="-122"/>
              </a:rPr>
              <a:t>H.255.0 </a:t>
            </a:r>
            <a:r>
              <a:rPr lang="zh-CN" altLang="en-US" sz="1700" b="1" dirty="0">
                <a:solidFill>
                  <a:srgbClr val="0000FF"/>
                </a:solidFill>
                <a:latin typeface="微软雅黑" pitchFamily="34" charset="-122"/>
                <a:ea typeface="微软雅黑" pitchFamily="34" charset="-122"/>
              </a:rPr>
              <a:t>登记信令：</a:t>
            </a:r>
            <a:r>
              <a:rPr lang="zh-CN" altLang="en-US" sz="1700" b="1" dirty="0">
                <a:latin typeface="微软雅黑" pitchFamily="34" charset="-122"/>
                <a:ea typeface="微软雅黑" pitchFamily="34" charset="-122"/>
              </a:rPr>
              <a:t>登记</a:t>
            </a:r>
            <a:r>
              <a:rPr lang="en-US" altLang="zh-CN" sz="1700" b="1" dirty="0">
                <a:latin typeface="微软雅黑" pitchFamily="34" charset="-122"/>
                <a:ea typeface="微软雅黑" pitchFamily="34" charset="-122"/>
              </a:rPr>
              <a:t>/</a:t>
            </a:r>
            <a:r>
              <a:rPr lang="zh-CN" altLang="en-US" sz="1700" b="1" dirty="0">
                <a:latin typeface="微软雅黑" pitchFamily="34" charset="-122"/>
                <a:ea typeface="微软雅黑" pitchFamily="34" charset="-122"/>
              </a:rPr>
              <a:t>接纳</a:t>
            </a:r>
            <a:r>
              <a:rPr lang="en-US" altLang="zh-CN" sz="1700" b="1" dirty="0">
                <a:latin typeface="微软雅黑" pitchFamily="34" charset="-122"/>
                <a:ea typeface="微软雅黑" pitchFamily="34" charset="-122"/>
              </a:rPr>
              <a:t>/</a:t>
            </a:r>
            <a:r>
              <a:rPr lang="zh-CN" altLang="en-US" sz="1700" b="1" dirty="0">
                <a:latin typeface="微软雅黑" pitchFamily="34" charset="-122"/>
                <a:ea typeface="微软雅黑" pitchFamily="34" charset="-122"/>
              </a:rPr>
              <a:t>状态 </a:t>
            </a:r>
            <a:r>
              <a:rPr lang="en-US" altLang="zh-CN" sz="1700" b="1" dirty="0">
                <a:latin typeface="微软雅黑" pitchFamily="34" charset="-122"/>
                <a:ea typeface="微软雅黑" pitchFamily="34" charset="-122"/>
              </a:rPr>
              <a:t>RAS </a:t>
            </a:r>
            <a:r>
              <a:rPr lang="en-US" altLang="zh-CN" sz="1600" b="1" dirty="0">
                <a:latin typeface="微软雅黑" pitchFamily="34" charset="-122"/>
                <a:ea typeface="微软雅黑" pitchFamily="34" charset="-122"/>
              </a:rPr>
              <a:t>(Registration/Admission/Status)</a:t>
            </a:r>
            <a:r>
              <a:rPr lang="zh-CN" altLang="en-US" sz="1700" b="1" dirty="0">
                <a:latin typeface="微软雅黑" pitchFamily="34" charset="-122"/>
                <a:ea typeface="微软雅黑" pitchFamily="34" charset="-122"/>
              </a:rPr>
              <a:t>。</a:t>
            </a:r>
            <a:endParaRPr lang="en-US" altLang="zh-CN" sz="1700" b="1" dirty="0">
              <a:latin typeface="微软雅黑" pitchFamily="34" charset="-122"/>
              <a:ea typeface="微软雅黑" pitchFamily="34" charset="-122"/>
            </a:endParaRPr>
          </a:p>
          <a:p>
            <a:pPr marL="342900" indent="-342900" eaLnBrk="0" hangingPunct="0">
              <a:lnSpc>
                <a:spcPts val="2600"/>
              </a:lnSpc>
              <a:buClr>
                <a:srgbClr val="9900FF"/>
              </a:buClr>
              <a:buFont typeface="+mj-lt"/>
              <a:buAutoNum type="arabicPeriod"/>
            </a:pPr>
            <a:r>
              <a:rPr lang="en-US" altLang="zh-CN" sz="1700" b="1" dirty="0">
                <a:solidFill>
                  <a:srgbClr val="0000FF"/>
                </a:solidFill>
                <a:latin typeface="微软雅黑" pitchFamily="34" charset="-122"/>
                <a:ea typeface="微软雅黑" pitchFamily="34" charset="-122"/>
              </a:rPr>
              <a:t>H.225.0 </a:t>
            </a:r>
            <a:r>
              <a:rPr lang="zh-CN" altLang="en-US" sz="1700" b="1" dirty="0">
                <a:solidFill>
                  <a:srgbClr val="0000FF"/>
                </a:solidFill>
                <a:latin typeface="微软雅黑" pitchFamily="34" charset="-122"/>
                <a:ea typeface="微软雅黑" pitchFamily="34" charset="-122"/>
              </a:rPr>
              <a:t>呼叫信令：</a:t>
            </a:r>
            <a:r>
              <a:rPr lang="zh-CN" altLang="en-US" sz="1700" b="1" dirty="0">
                <a:latin typeface="微软雅黑" pitchFamily="34" charset="-122"/>
                <a:ea typeface="微软雅黑" pitchFamily="34" charset="-122"/>
              </a:rPr>
              <a:t>用来在两个 </a:t>
            </a:r>
            <a:r>
              <a:rPr lang="en-US" altLang="zh-CN" sz="1700" b="1" dirty="0">
                <a:latin typeface="微软雅黑" pitchFamily="34" charset="-122"/>
                <a:ea typeface="微软雅黑" pitchFamily="34" charset="-122"/>
              </a:rPr>
              <a:t>H.323 </a:t>
            </a:r>
            <a:r>
              <a:rPr lang="zh-CN" altLang="en-US" sz="1700" b="1" dirty="0">
                <a:latin typeface="微软雅黑" pitchFamily="34" charset="-122"/>
                <a:ea typeface="微软雅黑" pitchFamily="34" charset="-122"/>
              </a:rPr>
              <a:t>端点之间建立连接。</a:t>
            </a:r>
          </a:p>
          <a:p>
            <a:pPr marL="342900" indent="-342900" eaLnBrk="0" hangingPunct="0">
              <a:lnSpc>
                <a:spcPts val="2600"/>
              </a:lnSpc>
              <a:buClr>
                <a:srgbClr val="9900FF"/>
              </a:buClr>
              <a:buFont typeface="+mj-lt"/>
              <a:buAutoNum type="arabicPeriod"/>
            </a:pPr>
            <a:r>
              <a:rPr lang="en-US" altLang="zh-CN" sz="1700" b="1" dirty="0">
                <a:solidFill>
                  <a:srgbClr val="0000FF"/>
                </a:solidFill>
                <a:latin typeface="微软雅黑" pitchFamily="34" charset="-122"/>
                <a:ea typeface="微软雅黑" pitchFamily="34" charset="-122"/>
              </a:rPr>
              <a:t>H.245 </a:t>
            </a:r>
            <a:r>
              <a:rPr lang="zh-CN" altLang="en-US" sz="1700" b="1" dirty="0">
                <a:solidFill>
                  <a:srgbClr val="0000FF"/>
                </a:solidFill>
                <a:latin typeface="微软雅黑" pitchFamily="34" charset="-122"/>
                <a:ea typeface="微软雅黑" pitchFamily="34" charset="-122"/>
              </a:rPr>
              <a:t>控制信令：</a:t>
            </a:r>
            <a:r>
              <a:rPr lang="zh-CN" altLang="en-US" sz="1700" b="1" dirty="0">
                <a:latin typeface="微软雅黑" pitchFamily="34" charset="-122"/>
                <a:ea typeface="微软雅黑" pitchFamily="34" charset="-122"/>
              </a:rPr>
              <a:t>用来交换端到端的控制报文，以便管理 </a:t>
            </a:r>
            <a:r>
              <a:rPr lang="en-US" altLang="zh-CN" sz="1700" b="1" dirty="0">
                <a:latin typeface="微软雅黑" pitchFamily="34" charset="-122"/>
                <a:ea typeface="微软雅黑" pitchFamily="34" charset="-122"/>
              </a:rPr>
              <a:t>H.323 </a:t>
            </a:r>
            <a:r>
              <a:rPr lang="zh-CN" altLang="en-US" sz="1700" b="1" dirty="0">
                <a:latin typeface="微软雅黑" pitchFamily="34" charset="-122"/>
                <a:ea typeface="微软雅黑" pitchFamily="34" charset="-122"/>
              </a:rPr>
              <a:t>端点的运行。</a:t>
            </a:r>
          </a:p>
          <a:p>
            <a:pPr marL="342900" indent="-342900" eaLnBrk="0" hangingPunct="0">
              <a:lnSpc>
                <a:spcPts val="2600"/>
              </a:lnSpc>
              <a:buClr>
                <a:srgbClr val="9900FF"/>
              </a:buClr>
              <a:buFont typeface="+mj-lt"/>
              <a:buAutoNum type="arabicPeriod"/>
            </a:pPr>
            <a:r>
              <a:rPr lang="en-US" altLang="zh-CN" sz="1700" b="1" dirty="0">
                <a:solidFill>
                  <a:srgbClr val="0000FF"/>
                </a:solidFill>
                <a:latin typeface="微软雅黑" pitchFamily="34" charset="-122"/>
                <a:ea typeface="微软雅黑" pitchFamily="34" charset="-122"/>
              </a:rPr>
              <a:t>T.120 </a:t>
            </a:r>
            <a:r>
              <a:rPr lang="zh-CN" altLang="en-US" sz="1700" b="1" dirty="0">
                <a:solidFill>
                  <a:srgbClr val="0000FF"/>
                </a:solidFill>
                <a:latin typeface="微软雅黑" pitchFamily="34" charset="-122"/>
                <a:ea typeface="微软雅黑" pitchFamily="34" charset="-122"/>
              </a:rPr>
              <a:t>数据传送协议：</a:t>
            </a:r>
            <a:r>
              <a:rPr lang="zh-CN" altLang="en-US" sz="1700" b="1" dirty="0">
                <a:latin typeface="微软雅黑" pitchFamily="34" charset="-122"/>
                <a:ea typeface="微软雅黑" pitchFamily="34" charset="-122"/>
              </a:rPr>
              <a:t>与呼叫相关联的数据交换协议。用户在参加音频</a:t>
            </a:r>
            <a:r>
              <a:rPr lang="en-US" altLang="zh-CN" sz="1700" b="1" dirty="0">
                <a:latin typeface="微软雅黑" pitchFamily="34" charset="-122"/>
                <a:ea typeface="微软雅黑" pitchFamily="34" charset="-122"/>
              </a:rPr>
              <a:t>/</a:t>
            </a:r>
            <a:r>
              <a:rPr lang="zh-CN" altLang="en-US" sz="1700" b="1" dirty="0">
                <a:latin typeface="微软雅黑" pitchFamily="34" charset="-122"/>
                <a:ea typeface="微软雅黑" pitchFamily="34" charset="-122"/>
              </a:rPr>
              <a:t>视频会议时，可以和其他与会用户共享屏幕上的白板。使用 </a:t>
            </a:r>
            <a:r>
              <a:rPr lang="en-US" altLang="zh-CN" sz="1700" b="1" dirty="0">
                <a:latin typeface="微软雅黑" pitchFamily="34" charset="-122"/>
                <a:ea typeface="微软雅黑" pitchFamily="34" charset="-122"/>
              </a:rPr>
              <a:t>TCP </a:t>
            </a:r>
            <a:r>
              <a:rPr lang="zh-CN" altLang="en-US" sz="1700" b="1" dirty="0">
                <a:latin typeface="微软雅黑" pitchFamily="34" charset="-122"/>
                <a:ea typeface="微软雅黑" pitchFamily="34" charset="-122"/>
              </a:rPr>
              <a:t>协议时能够保证数据传送的正确（在传送音频</a:t>
            </a:r>
            <a:r>
              <a:rPr lang="en-US" altLang="zh-CN" sz="1700" b="1" dirty="0">
                <a:latin typeface="微软雅黑" pitchFamily="34" charset="-122"/>
                <a:ea typeface="微软雅黑" pitchFamily="34" charset="-122"/>
              </a:rPr>
              <a:t>/</a:t>
            </a:r>
            <a:r>
              <a:rPr lang="zh-CN" altLang="en-US" sz="1700" b="1" dirty="0">
                <a:latin typeface="微软雅黑" pitchFamily="34" charset="-122"/>
                <a:ea typeface="微软雅黑" pitchFamily="34" charset="-122"/>
              </a:rPr>
              <a:t>视频文件时，使用的是 </a:t>
            </a:r>
            <a:r>
              <a:rPr lang="en-US" altLang="zh-CN" sz="1700" b="1" dirty="0">
                <a:latin typeface="微软雅黑" pitchFamily="34" charset="-122"/>
                <a:ea typeface="微软雅黑" pitchFamily="34" charset="-122"/>
              </a:rPr>
              <a:t>UDP</a:t>
            </a:r>
            <a:r>
              <a:rPr lang="zh-CN" altLang="en-US" sz="1700" b="1" dirty="0">
                <a:latin typeface="微软雅黑" pitchFamily="34" charset="-122"/>
                <a:ea typeface="微软雅黑" pitchFamily="34" charset="-122"/>
              </a:rPr>
              <a:t>，因此不能保证服务质量）。</a:t>
            </a:r>
          </a:p>
        </p:txBody>
      </p:sp>
    </p:spTree>
    <p:extLst>
      <p:ext uri="{BB962C8B-B14F-4D97-AF65-F5344CB8AC3E}">
        <p14:creationId xmlns:p14="http://schemas.microsoft.com/office/powerpoint/2010/main" val="40264477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18589"/>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760843" y="593125"/>
            <a:ext cx="36311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8.3.6  </a:t>
            </a:r>
            <a:r>
              <a:rPr lang="zh-CN" altLang="en-US" sz="2400" b="1" dirty="0">
                <a:solidFill>
                  <a:schemeClr val="bg1"/>
                </a:solidFill>
                <a:latin typeface="微软雅黑" pitchFamily="34" charset="-122"/>
                <a:ea typeface="微软雅黑" pitchFamily="34" charset="-122"/>
              </a:rPr>
              <a:t>会话发起协议 </a:t>
            </a:r>
            <a:r>
              <a:rPr lang="en-US" altLang="zh-CN" sz="2400" b="1" dirty="0">
                <a:solidFill>
                  <a:schemeClr val="bg1"/>
                </a:solidFill>
                <a:latin typeface="微软雅黑" pitchFamily="34" charset="-122"/>
                <a:ea typeface="微软雅黑" pitchFamily="34" charset="-122"/>
              </a:rPr>
              <a:t>SIP </a:t>
            </a:r>
          </a:p>
        </p:txBody>
      </p:sp>
      <p:sp>
        <p:nvSpPr>
          <p:cNvPr id="4" name="Rectangle 8"/>
          <p:cNvSpPr>
            <a:spLocks noChangeArrowheads="1"/>
          </p:cNvSpPr>
          <p:nvPr/>
        </p:nvSpPr>
        <p:spPr bwMode="auto">
          <a:xfrm>
            <a:off x="511896" y="1055489"/>
            <a:ext cx="8129015"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过于复杂，不便于发展基于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的新业务。</a:t>
            </a:r>
          </a:p>
          <a:p>
            <a:pPr marL="285750" indent="-28575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会话发起协议 </a:t>
            </a:r>
            <a:r>
              <a:rPr lang="en-US" altLang="zh-CN" sz="2000" b="1" dirty="0">
                <a:solidFill>
                  <a:srgbClr val="C00000"/>
                </a:solidFill>
                <a:latin typeface="微软雅黑" pitchFamily="34" charset="-122"/>
                <a:ea typeface="微软雅黑" pitchFamily="34" charset="-122"/>
              </a:rPr>
              <a:t>SIP </a:t>
            </a:r>
            <a:r>
              <a:rPr lang="en-US" altLang="zh-CN" sz="2000" b="1" dirty="0">
                <a:latin typeface="微软雅黑" pitchFamily="34" charset="-122"/>
                <a:ea typeface="微软雅黑" pitchFamily="34" charset="-122"/>
              </a:rPr>
              <a:t>(Session Initiation Protocol) </a:t>
            </a:r>
            <a:r>
              <a:rPr lang="zh-CN" altLang="en-US" sz="2000" b="1" dirty="0">
                <a:latin typeface="微软雅黑" pitchFamily="34" charset="-122"/>
                <a:ea typeface="微软雅黑" pitchFamily="34" charset="-122"/>
              </a:rPr>
              <a:t>是一套较为简单且实用的标准，目前已成为互联网的建议标准。</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协议以互联网为基础，把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电话视为互联网上的</a:t>
            </a:r>
            <a:r>
              <a:rPr lang="zh-CN" altLang="en-US" sz="2000" b="1" dirty="0">
                <a:solidFill>
                  <a:srgbClr val="C00000"/>
                </a:solidFill>
                <a:latin typeface="微软雅黑" pitchFamily="34" charset="-122"/>
                <a:ea typeface="微软雅黑" pitchFamily="34" charset="-122"/>
              </a:rPr>
              <a:t>新应用。</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协议只涉及到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电话的信令和有关服务质量问题，没有提供像 </a:t>
            </a: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那样多的功能。</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没有指定使用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协议，但实际上大家还是选用 </a:t>
            </a:r>
            <a:r>
              <a:rPr lang="en-US" altLang="zh-CN" sz="2000" b="1" dirty="0">
                <a:latin typeface="微软雅黑" pitchFamily="34" charset="-122"/>
                <a:ea typeface="微软雅黑" pitchFamily="34" charset="-122"/>
              </a:rPr>
              <a:t>RTP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RTCP </a:t>
            </a:r>
            <a:r>
              <a:rPr lang="zh-CN" altLang="en-US" sz="2000" b="1" dirty="0">
                <a:latin typeface="微软雅黑" pitchFamily="34" charset="-122"/>
                <a:ea typeface="微软雅黑" pitchFamily="34" charset="-122"/>
              </a:rPr>
              <a:t>作为配合使用的协议。 </a:t>
            </a:r>
          </a:p>
        </p:txBody>
      </p:sp>
    </p:spTree>
    <p:extLst>
      <p:ext uri="{BB962C8B-B14F-4D97-AF65-F5344CB8AC3E}">
        <p14:creationId xmlns:p14="http://schemas.microsoft.com/office/powerpoint/2010/main" val="5083825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69790"/>
            <a:ext cx="8129015" cy="3648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en-US" altLang="zh-CN" b="1" dirty="0">
                <a:solidFill>
                  <a:srgbClr val="0000FF"/>
                </a:solidFill>
                <a:latin typeface="微软雅黑" pitchFamily="34" charset="-122"/>
                <a:ea typeface="微软雅黑" pitchFamily="34" charset="-122"/>
              </a:rPr>
              <a:t>SIP </a:t>
            </a:r>
            <a:r>
              <a:rPr lang="zh-CN" altLang="en-US" b="1" dirty="0">
                <a:solidFill>
                  <a:srgbClr val="0000FF"/>
                </a:solidFill>
                <a:latin typeface="微软雅黑" pitchFamily="34" charset="-122"/>
                <a:ea typeface="微软雅黑" pitchFamily="34" charset="-122"/>
              </a:rPr>
              <a:t>使用文本方式的客户服务器协议。</a:t>
            </a: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两种构件：</a:t>
            </a:r>
            <a:r>
              <a:rPr lang="zh-CN" altLang="en-US" b="1" dirty="0">
                <a:solidFill>
                  <a:srgbClr val="C00000"/>
                </a:solidFill>
                <a:latin typeface="微软雅黑" pitchFamily="34" charset="-122"/>
                <a:ea typeface="微软雅黑" pitchFamily="34" charset="-122"/>
              </a:rPr>
              <a:t>用户代理</a:t>
            </a:r>
            <a:r>
              <a:rPr lang="zh-CN" altLang="en-US" b="1" dirty="0">
                <a:latin typeface="微软雅黑" pitchFamily="34" charset="-122"/>
                <a:ea typeface="微软雅黑" pitchFamily="34" charset="-122"/>
              </a:rPr>
              <a:t>和</a:t>
            </a:r>
            <a:r>
              <a:rPr lang="zh-CN" altLang="en-US" b="1" dirty="0">
                <a:solidFill>
                  <a:srgbClr val="C00000"/>
                </a:solidFill>
                <a:latin typeface="微软雅黑" pitchFamily="34" charset="-122"/>
                <a:ea typeface="微软雅黑" pitchFamily="34" charset="-122"/>
              </a:rPr>
              <a:t>网络服务器</a:t>
            </a:r>
            <a:r>
              <a:rPr lang="zh-CN" altLang="en-US" b="1" dirty="0">
                <a:latin typeface="微软雅黑" pitchFamily="34" charset="-122"/>
                <a:ea typeface="微软雅黑" pitchFamily="34" charset="-122"/>
              </a:rPr>
              <a:t>。</a:t>
            </a:r>
          </a:p>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用户代理</a:t>
            </a:r>
            <a:r>
              <a:rPr lang="zh-CN" altLang="en-US" b="1" dirty="0">
                <a:latin typeface="微软雅黑" pitchFamily="34" charset="-122"/>
                <a:ea typeface="微软雅黑" pitchFamily="34" charset="-122"/>
              </a:rPr>
              <a:t>包括：</a:t>
            </a:r>
            <a:endParaRPr lang="en-US" altLang="zh-CN" b="1" dirty="0">
              <a:latin typeface="微软雅黑" pitchFamily="34" charset="-122"/>
              <a:ea typeface="微软雅黑" pitchFamily="34" charset="-122"/>
            </a:endParaRPr>
          </a:p>
          <a:p>
            <a:pPr marL="719138" lvl="1" indent="-365125" eaLnBrk="0" hangingPunct="0">
              <a:lnSpc>
                <a:spcPts val="2800"/>
              </a:lnSpc>
              <a:buClr>
                <a:srgbClr val="660066"/>
              </a:buClr>
              <a:buFont typeface="+mj-lt"/>
              <a:buAutoNum type="arabicPeriod"/>
            </a:pPr>
            <a:r>
              <a:rPr lang="zh-CN" altLang="en-US" b="1" dirty="0">
                <a:solidFill>
                  <a:srgbClr val="0000FF"/>
                </a:solidFill>
                <a:latin typeface="微软雅黑" pitchFamily="34" charset="-122"/>
                <a:ea typeface="微软雅黑" pitchFamily="34" charset="-122"/>
              </a:rPr>
              <a:t>用户代理客户：</a:t>
            </a:r>
            <a:r>
              <a:rPr lang="zh-CN" altLang="en-US" b="1" dirty="0">
                <a:latin typeface="微软雅黑" pitchFamily="34" charset="-122"/>
                <a:ea typeface="微软雅黑" pitchFamily="34" charset="-122"/>
              </a:rPr>
              <a:t>用来发起呼叫。</a:t>
            </a:r>
            <a:endParaRPr lang="en-US" altLang="zh-CN" b="1" dirty="0">
              <a:solidFill>
                <a:srgbClr val="0000FF"/>
              </a:solidFill>
              <a:latin typeface="微软雅黑" pitchFamily="34" charset="-122"/>
              <a:ea typeface="微软雅黑" pitchFamily="34" charset="-122"/>
            </a:endParaRPr>
          </a:p>
          <a:p>
            <a:pPr marL="719138" lvl="1" indent="-365125" eaLnBrk="0" hangingPunct="0">
              <a:lnSpc>
                <a:spcPts val="2800"/>
              </a:lnSpc>
              <a:buClr>
                <a:srgbClr val="660066"/>
              </a:buClr>
              <a:buFont typeface="+mj-lt"/>
              <a:buAutoNum type="arabicPeriod"/>
            </a:pPr>
            <a:r>
              <a:rPr lang="zh-CN" altLang="en-US" b="1" dirty="0">
                <a:solidFill>
                  <a:srgbClr val="0000FF"/>
                </a:solidFill>
                <a:latin typeface="微软雅黑" pitchFamily="34" charset="-122"/>
                <a:ea typeface="微软雅黑" pitchFamily="34" charset="-122"/>
              </a:rPr>
              <a:t>用户代理服务器：</a:t>
            </a:r>
            <a:r>
              <a:rPr lang="zh-CN" altLang="en-US" b="1" dirty="0">
                <a:latin typeface="微软雅黑" pitchFamily="34" charset="-122"/>
                <a:ea typeface="微软雅黑" pitchFamily="34" charset="-122"/>
              </a:rPr>
              <a:t>用来接受呼叫。</a:t>
            </a:r>
          </a:p>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网络服务器</a:t>
            </a:r>
            <a:r>
              <a:rPr lang="zh-CN" altLang="en-US" b="1" dirty="0">
                <a:latin typeface="微软雅黑" pitchFamily="34" charset="-122"/>
                <a:ea typeface="微软雅黑" pitchFamily="34" charset="-122"/>
              </a:rPr>
              <a:t>分为：</a:t>
            </a:r>
          </a:p>
          <a:p>
            <a:pPr marL="684000" indent="-342900" eaLnBrk="0" hangingPunct="0">
              <a:lnSpc>
                <a:spcPts val="2800"/>
              </a:lnSpc>
              <a:buClr>
                <a:srgbClr val="660066"/>
              </a:buClr>
              <a:buFont typeface="+mj-lt"/>
              <a:buAutoNum type="arabicPeriod"/>
            </a:pPr>
            <a:r>
              <a:rPr lang="zh-CN" altLang="en-US" b="1" dirty="0">
                <a:solidFill>
                  <a:srgbClr val="0000FF"/>
                </a:solidFill>
                <a:latin typeface="微软雅黑" pitchFamily="34" charset="-122"/>
                <a:ea typeface="微软雅黑" pitchFamily="34" charset="-122"/>
              </a:rPr>
              <a:t>代理服务器：</a:t>
            </a:r>
            <a:r>
              <a:rPr lang="zh-CN" altLang="en-US" b="1" dirty="0">
                <a:latin typeface="微软雅黑" pitchFamily="34" charset="-122"/>
                <a:ea typeface="微软雅黑" pitchFamily="34" charset="-122"/>
              </a:rPr>
              <a:t>接受来自主叫用户的呼叫请求，并将其转发给下一跳代理服务器，最后将呼叫请求转发给被叫用户。</a:t>
            </a:r>
          </a:p>
          <a:p>
            <a:pPr marL="684000" indent="-342900" eaLnBrk="0" hangingPunct="0">
              <a:lnSpc>
                <a:spcPts val="2800"/>
              </a:lnSpc>
              <a:buClr>
                <a:srgbClr val="660066"/>
              </a:buClr>
              <a:buFont typeface="+mj-lt"/>
              <a:buAutoNum type="arabicPeriod"/>
            </a:pPr>
            <a:r>
              <a:rPr lang="zh-CN" altLang="en-US" b="1" dirty="0">
                <a:solidFill>
                  <a:srgbClr val="0000FF"/>
                </a:solidFill>
                <a:latin typeface="微软雅黑" pitchFamily="34" charset="-122"/>
                <a:ea typeface="微软雅黑" pitchFamily="34" charset="-122"/>
              </a:rPr>
              <a:t>重定向服务器：</a:t>
            </a:r>
            <a:r>
              <a:rPr lang="zh-CN" altLang="en-US" b="1" dirty="0">
                <a:latin typeface="微软雅黑" pitchFamily="34" charset="-122"/>
                <a:ea typeface="微软雅黑" pitchFamily="34" charset="-122"/>
              </a:rPr>
              <a:t>不接受呼叫，它通过响应告诉客户下一跳代理服务器的地址，由客户按此地址向下一跳代理服务器重新发送呼叫请求。</a:t>
            </a:r>
          </a:p>
        </p:txBody>
      </p:sp>
      <p:sp>
        <p:nvSpPr>
          <p:cNvPr id="3" name="AutoShape 5"/>
          <p:cNvSpPr>
            <a:spLocks noChangeArrowheads="1"/>
          </p:cNvSpPr>
          <p:nvPr/>
        </p:nvSpPr>
        <p:spPr bwMode="auto">
          <a:xfrm>
            <a:off x="511896" y="61551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00042" y="582307"/>
            <a:ext cx="19527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系统的构件</a:t>
            </a:r>
          </a:p>
        </p:txBody>
      </p:sp>
    </p:spTree>
    <p:extLst>
      <p:ext uri="{BB962C8B-B14F-4D97-AF65-F5344CB8AC3E}">
        <p14:creationId xmlns:p14="http://schemas.microsoft.com/office/powerpoint/2010/main" val="31811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78389"/>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十分灵活。可以是电话号码，也可以是电子邮件地址、</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地址或其他类型的地址。但一定要使用 </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的地址格式，例如：</a:t>
            </a:r>
          </a:p>
          <a:p>
            <a:pPr eaLnBrk="0" hangingPunct="0">
              <a:lnSpc>
                <a:spcPts val="3300"/>
              </a:lnSpc>
              <a:buClr>
                <a:srgbClr val="0070C0"/>
              </a:buClr>
            </a:pPr>
            <a:r>
              <a:rPr lang="zh-CN" altLang="en-US" sz="2000" b="1" dirty="0">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电话号码 ：</a:t>
            </a:r>
            <a:r>
              <a:rPr lang="en-US" altLang="zh-CN" sz="2000" b="1" dirty="0">
                <a:latin typeface="微软雅黑" pitchFamily="34" charset="-122"/>
                <a:ea typeface="微软雅黑" pitchFamily="34" charset="-122"/>
              </a:rPr>
              <a:t>sip:zhangsan@8625-87654321</a:t>
            </a:r>
          </a:p>
          <a:p>
            <a:pPr eaLnBrk="0" hangingPunct="0">
              <a:lnSpc>
                <a:spcPts val="3300"/>
              </a:lnSpc>
              <a:buClr>
                <a:srgbClr val="0070C0"/>
              </a:buClr>
            </a:pPr>
            <a:r>
              <a:rPr lang="en-US" altLang="zh-CN" sz="2000" b="1" dirty="0">
                <a:latin typeface="微软雅黑" pitchFamily="34" charset="-122"/>
                <a:ea typeface="微软雅黑" pitchFamily="34" charset="-122"/>
              </a:rPr>
              <a:t>	</a:t>
            </a:r>
            <a:r>
              <a:rPr lang="en-US" altLang="zh-CN" sz="2000" b="1" dirty="0">
                <a:solidFill>
                  <a:srgbClr val="0000FF"/>
                </a:solidFill>
                <a:latin typeface="微软雅黑" pitchFamily="34" charset="-122"/>
                <a:ea typeface="微软雅黑" pitchFamily="34" charset="-122"/>
              </a:rPr>
              <a:t>IPv4 </a:t>
            </a:r>
            <a:r>
              <a:rPr lang="zh-CN" altLang="en-US" sz="2000" b="1" dirty="0">
                <a:solidFill>
                  <a:srgbClr val="0000FF"/>
                </a:solidFill>
                <a:latin typeface="微软雅黑" pitchFamily="34" charset="-122"/>
                <a:ea typeface="微软雅黑" pitchFamily="34" charset="-122"/>
              </a:rPr>
              <a:t>地址：</a:t>
            </a:r>
            <a:r>
              <a:rPr lang="en-US" altLang="zh-CN" sz="2000" b="1" dirty="0">
                <a:latin typeface="微软雅黑" pitchFamily="34" charset="-122"/>
                <a:ea typeface="微软雅黑" pitchFamily="34" charset="-122"/>
              </a:rPr>
              <a:t>sip:zhangsan@201.12.34.56</a:t>
            </a:r>
          </a:p>
          <a:p>
            <a:pPr eaLnBrk="0" hangingPunct="0">
              <a:lnSpc>
                <a:spcPts val="3300"/>
              </a:lnSpc>
              <a:buClr>
                <a:srgbClr val="0070C0"/>
              </a:buClr>
            </a:pPr>
            <a:r>
              <a:rPr lang="en-US" altLang="zh-CN" sz="2000" b="1" dirty="0">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电子邮件地址：</a:t>
            </a:r>
            <a:r>
              <a:rPr lang="en-US" altLang="zh-CN" sz="2000" b="1" dirty="0">
                <a:latin typeface="微软雅黑" pitchFamily="34" charset="-122"/>
                <a:ea typeface="微软雅黑" pitchFamily="34" charset="-122"/>
              </a:rPr>
              <a:t>sip:zhangsan@public1.ptt.js.cn</a:t>
            </a:r>
          </a:p>
        </p:txBody>
      </p:sp>
      <p:sp>
        <p:nvSpPr>
          <p:cNvPr id="3" name="AutoShape 5"/>
          <p:cNvSpPr>
            <a:spLocks noChangeArrowheads="1"/>
          </p:cNvSpPr>
          <p:nvPr/>
        </p:nvSpPr>
        <p:spPr bwMode="auto">
          <a:xfrm>
            <a:off x="511896" y="61410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856522" y="580892"/>
            <a:ext cx="14398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的地址</a:t>
            </a:r>
          </a:p>
        </p:txBody>
      </p:sp>
    </p:spTree>
    <p:extLst>
      <p:ext uri="{BB962C8B-B14F-4D97-AF65-F5344CB8AC3E}">
        <p14:creationId xmlns:p14="http://schemas.microsoft.com/office/powerpoint/2010/main" val="21174314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7" y="985029"/>
            <a:ext cx="7935418"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HTTP </a:t>
            </a:r>
            <a:r>
              <a:rPr lang="zh-CN" altLang="en-US" sz="2000" b="1" dirty="0">
                <a:latin typeface="微软雅黑" pitchFamily="34" charset="-122"/>
                <a:ea typeface="微软雅黑" pitchFamily="34" charset="-122"/>
              </a:rPr>
              <a:t>相似，</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是基于报文的协议。</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使用了 </a:t>
            </a:r>
            <a:r>
              <a:rPr lang="en-US" altLang="zh-CN" sz="2000" b="1" dirty="0">
                <a:latin typeface="微软雅黑" pitchFamily="34" charset="-122"/>
                <a:ea typeface="微软雅黑" pitchFamily="34" charset="-122"/>
              </a:rPr>
              <a:t>HTTP </a:t>
            </a:r>
            <a:r>
              <a:rPr lang="zh-CN" altLang="en-US" sz="2000" b="1" dirty="0">
                <a:latin typeface="微软雅黑" pitchFamily="34" charset="-122"/>
                <a:ea typeface="微软雅黑" pitchFamily="34" charset="-122"/>
              </a:rPr>
              <a:t>的许多首部、编码规则、差错码以及一些鉴别机制。</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比 </a:t>
            </a:r>
            <a:r>
              <a:rPr lang="en-US" altLang="zh-CN" sz="2000" b="1" dirty="0">
                <a:latin typeface="微软雅黑" pitchFamily="34" charset="-122"/>
                <a:ea typeface="微软雅黑" pitchFamily="34" charset="-122"/>
              </a:rPr>
              <a:t>H.323 </a:t>
            </a:r>
            <a:r>
              <a:rPr lang="zh-CN" altLang="en-US" sz="2000" b="1" dirty="0">
                <a:latin typeface="微软雅黑" pitchFamily="34" charset="-122"/>
                <a:ea typeface="微软雅黑" pitchFamily="34" charset="-122"/>
              </a:rPr>
              <a:t>具有更好的可扩缩性。</a:t>
            </a:r>
          </a:p>
        </p:txBody>
      </p:sp>
      <p:sp>
        <p:nvSpPr>
          <p:cNvPr id="3" name="AutoShape 5"/>
          <p:cNvSpPr>
            <a:spLocks noChangeArrowheads="1"/>
          </p:cNvSpPr>
          <p:nvPr/>
        </p:nvSpPr>
        <p:spPr bwMode="auto">
          <a:xfrm>
            <a:off x="511896" y="62074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981348" y="587532"/>
            <a:ext cx="11833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特点</a:t>
            </a:r>
          </a:p>
        </p:txBody>
      </p:sp>
    </p:spTree>
    <p:extLst>
      <p:ext uri="{BB962C8B-B14F-4D97-AF65-F5344CB8AC3E}">
        <p14:creationId xmlns:p14="http://schemas.microsoft.com/office/powerpoint/2010/main" val="33465362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7492" y="1069847"/>
            <a:ext cx="8129014" cy="324258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11897" y="6172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262185" y="584069"/>
            <a:ext cx="26196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一个简单的 </a:t>
            </a:r>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会话 </a:t>
            </a:r>
            <a:endParaRPr lang="fr-FR" altLang="zh-CN" sz="2000" b="1" dirty="0">
              <a:solidFill>
                <a:schemeClr val="bg1"/>
              </a:solidFill>
              <a:latin typeface="微软雅黑" pitchFamily="34" charset="-122"/>
              <a:ea typeface="微软雅黑" pitchFamily="34" charset="-122"/>
            </a:endParaRPr>
          </a:p>
        </p:txBody>
      </p:sp>
      <p:sp>
        <p:nvSpPr>
          <p:cNvPr id="5" name="矩形 4"/>
          <p:cNvSpPr/>
          <p:nvPr/>
        </p:nvSpPr>
        <p:spPr>
          <a:xfrm>
            <a:off x="735933" y="1671835"/>
            <a:ext cx="1764693" cy="1887696"/>
          </a:xfrm>
          <a:prstGeom prst="rect">
            <a:avLst/>
          </a:prstGeom>
        </p:spPr>
        <p:txBody>
          <a:bodyPr wrap="square">
            <a:spAutoFit/>
          </a:bodyPr>
          <a:lstStyle/>
          <a:p>
            <a:pPr>
              <a:lnSpc>
                <a:spcPts val="2800"/>
              </a:lnSpc>
            </a:pPr>
            <a:r>
              <a:rPr lang="en-US" altLang="zh-CN" b="1" dirty="0">
                <a:latin typeface="微软雅黑" pitchFamily="34" charset="-122"/>
                <a:ea typeface="微软雅黑" pitchFamily="34" charset="-122"/>
              </a:rPr>
              <a:t>SIP </a:t>
            </a:r>
            <a:r>
              <a:rPr lang="zh-CN" altLang="en-US" b="1" dirty="0">
                <a:latin typeface="微软雅黑" pitchFamily="34" charset="-122"/>
                <a:ea typeface="微软雅黑" pitchFamily="34" charset="-122"/>
              </a:rPr>
              <a:t>的会话共有三个阶段：</a:t>
            </a:r>
            <a:endParaRPr lang="en-US" altLang="zh-CN" b="1" dirty="0">
              <a:latin typeface="微软雅黑" pitchFamily="34" charset="-122"/>
              <a:ea typeface="微软雅黑" pitchFamily="34" charset="-122"/>
            </a:endParaRPr>
          </a:p>
          <a:p>
            <a:pPr marL="269875" indent="-269875">
              <a:lnSpc>
                <a:spcPts val="2800"/>
              </a:lnSpc>
              <a:buFont typeface="+mj-lt"/>
              <a:buAutoNum type="arabicPeriod"/>
            </a:pPr>
            <a:r>
              <a:rPr lang="zh-CN" altLang="en-US" b="1" dirty="0">
                <a:latin typeface="微软雅黑" pitchFamily="34" charset="-122"/>
                <a:ea typeface="微软雅黑" pitchFamily="34" charset="-122"/>
              </a:rPr>
              <a:t>建立会话</a:t>
            </a:r>
            <a:endParaRPr lang="en-US" altLang="zh-CN" b="1" dirty="0">
              <a:latin typeface="微软雅黑" pitchFamily="34" charset="-122"/>
              <a:ea typeface="微软雅黑" pitchFamily="34" charset="-122"/>
            </a:endParaRPr>
          </a:p>
          <a:p>
            <a:pPr marL="269875" indent="-269875">
              <a:lnSpc>
                <a:spcPts val="2800"/>
              </a:lnSpc>
              <a:buFont typeface="+mj-lt"/>
              <a:buAutoNum type="arabicPeriod"/>
            </a:pPr>
            <a:r>
              <a:rPr lang="zh-CN" altLang="en-US" b="1" dirty="0">
                <a:latin typeface="微软雅黑" pitchFamily="34" charset="-122"/>
                <a:ea typeface="微软雅黑" pitchFamily="34" charset="-122"/>
              </a:rPr>
              <a:t>通信</a:t>
            </a:r>
            <a:endParaRPr lang="en-US" altLang="zh-CN" b="1" dirty="0">
              <a:latin typeface="微软雅黑" pitchFamily="34" charset="-122"/>
              <a:ea typeface="微软雅黑" pitchFamily="34" charset="-122"/>
            </a:endParaRPr>
          </a:p>
          <a:p>
            <a:pPr marL="269875" indent="-269875">
              <a:lnSpc>
                <a:spcPts val="2800"/>
              </a:lnSpc>
              <a:buFont typeface="+mj-lt"/>
              <a:buAutoNum type="arabicPeriod"/>
            </a:pPr>
            <a:r>
              <a:rPr lang="zh-CN" altLang="en-US" b="1" dirty="0">
                <a:latin typeface="微软雅黑" pitchFamily="34" charset="-122"/>
                <a:ea typeface="微软雅黑" pitchFamily="34" charset="-122"/>
              </a:rPr>
              <a:t>终止会话。</a:t>
            </a:r>
          </a:p>
        </p:txBody>
      </p:sp>
      <p:grpSp>
        <p:nvGrpSpPr>
          <p:cNvPr id="7" name="组合 6"/>
          <p:cNvGrpSpPr/>
          <p:nvPr/>
        </p:nvGrpSpPr>
        <p:grpSpPr>
          <a:xfrm>
            <a:off x="3027511" y="1241599"/>
            <a:ext cx="868603" cy="699714"/>
            <a:chOff x="7388261" y="2155309"/>
            <a:chExt cx="868603" cy="699714"/>
          </a:xfrm>
        </p:grpSpPr>
        <p:sp>
          <p:nvSpPr>
            <p:cNvPr id="41" name="Freeform 98"/>
            <p:cNvSpPr>
              <a:spLocks/>
            </p:cNvSpPr>
            <p:nvPr/>
          </p:nvSpPr>
          <p:spPr bwMode="auto">
            <a:xfrm>
              <a:off x="7637263" y="2553650"/>
              <a:ext cx="108399" cy="119303"/>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42"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00270" y="2298428"/>
              <a:ext cx="556594" cy="556595"/>
            </a:xfrm>
            <a:prstGeom prst="rect">
              <a:avLst/>
            </a:prstGeom>
            <a:noFill/>
            <a:extLst>
              <a:ext uri="{909E8E84-426E-40DD-AFC4-6F175D3DCCD1}">
                <a14:hiddenFill xmlns:a14="http://schemas.microsoft.com/office/drawing/2010/main">
                  <a:solidFill>
                    <a:srgbClr val="FFFFFF"/>
                  </a:solidFill>
                </a14:hiddenFill>
              </a:ext>
            </a:extLst>
          </p:spPr>
        </p:pic>
        <p:sp>
          <p:nvSpPr>
            <p:cNvPr id="43" name="Text Box 97"/>
            <p:cNvSpPr txBox="1">
              <a:spLocks noChangeArrowheads="1"/>
            </p:cNvSpPr>
            <p:nvPr/>
          </p:nvSpPr>
          <p:spPr bwMode="auto">
            <a:xfrm rot="20287477">
              <a:off x="7388261" y="2155309"/>
              <a:ext cx="4219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32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sp>
        <p:nvSpPr>
          <p:cNvPr id="55" name="Text Box 13"/>
          <p:cNvSpPr txBox="1">
            <a:spLocks noChangeArrowheads="1"/>
          </p:cNvSpPr>
          <p:nvPr/>
        </p:nvSpPr>
        <p:spPr bwMode="auto">
          <a:xfrm>
            <a:off x="3257580" y="11263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latin typeface="微软雅黑" pitchFamily="34" charset="-122"/>
                <a:ea typeface="微软雅黑" pitchFamily="34" charset="-122"/>
              </a:rPr>
              <a:t>主叫方</a:t>
            </a:r>
          </a:p>
        </p:txBody>
      </p:sp>
      <p:sp>
        <p:nvSpPr>
          <p:cNvPr id="56" name="Text Box 14"/>
          <p:cNvSpPr txBox="1">
            <a:spLocks noChangeArrowheads="1"/>
          </p:cNvSpPr>
          <p:nvPr/>
        </p:nvSpPr>
        <p:spPr bwMode="auto">
          <a:xfrm>
            <a:off x="6324874" y="11263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latin typeface="微软雅黑" pitchFamily="34" charset="-122"/>
                <a:ea typeface="微软雅黑" pitchFamily="34" charset="-122"/>
              </a:rPr>
              <a:t>被叫方</a:t>
            </a:r>
          </a:p>
        </p:txBody>
      </p:sp>
      <p:sp>
        <p:nvSpPr>
          <p:cNvPr id="57" name="Line 16"/>
          <p:cNvSpPr>
            <a:spLocks noChangeShapeType="1"/>
          </p:cNvSpPr>
          <p:nvPr/>
        </p:nvSpPr>
        <p:spPr bwMode="auto">
          <a:xfrm>
            <a:off x="3615295" y="1831789"/>
            <a:ext cx="0" cy="2279231"/>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8" name="Line 17"/>
          <p:cNvSpPr>
            <a:spLocks noChangeShapeType="1"/>
          </p:cNvSpPr>
          <p:nvPr/>
        </p:nvSpPr>
        <p:spPr bwMode="auto">
          <a:xfrm>
            <a:off x="6683752" y="1831789"/>
            <a:ext cx="0" cy="2279231"/>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nvGrpSpPr>
          <p:cNvPr id="59" name="Group 36"/>
          <p:cNvGrpSpPr>
            <a:grpSpLocks/>
          </p:cNvGrpSpPr>
          <p:nvPr/>
        </p:nvGrpSpPr>
        <p:grpSpPr bwMode="auto">
          <a:xfrm>
            <a:off x="3615295" y="2152342"/>
            <a:ext cx="3068457" cy="307686"/>
            <a:chOff x="1719" y="2119"/>
            <a:chExt cx="2642" cy="287"/>
          </a:xfrm>
        </p:grpSpPr>
        <p:sp>
          <p:nvSpPr>
            <p:cNvPr id="60" name="Line 20"/>
            <p:cNvSpPr>
              <a:spLocks noChangeShapeType="1"/>
            </p:cNvSpPr>
            <p:nvPr/>
          </p:nvSpPr>
          <p:spPr bwMode="auto">
            <a:xfrm rot="5400000" flipH="1">
              <a:off x="3040" y="1043"/>
              <a:ext cx="0" cy="264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1" name="Text Box 21"/>
            <p:cNvSpPr txBox="1">
              <a:spLocks noChangeArrowheads="1"/>
            </p:cNvSpPr>
            <p:nvPr/>
          </p:nvSpPr>
          <p:spPr bwMode="auto">
            <a:xfrm>
              <a:off x="2683" y="2119"/>
              <a:ext cx="79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OK: </a:t>
              </a:r>
              <a:r>
                <a:rPr lang="zh-CN" altLang="en-US" sz="1400" b="1" dirty="0">
                  <a:latin typeface="微软雅黑" pitchFamily="34" charset="-122"/>
                  <a:ea typeface="微软雅黑" pitchFamily="34" charset="-122"/>
                </a:rPr>
                <a:t>地址</a:t>
              </a:r>
            </a:p>
          </p:txBody>
        </p:sp>
      </p:grpSp>
      <p:grpSp>
        <p:nvGrpSpPr>
          <p:cNvPr id="62" name="Group 35"/>
          <p:cNvGrpSpPr>
            <a:grpSpLocks/>
          </p:cNvGrpSpPr>
          <p:nvPr/>
        </p:nvGrpSpPr>
        <p:grpSpPr bwMode="auto">
          <a:xfrm>
            <a:off x="3615295" y="2468603"/>
            <a:ext cx="3068457" cy="307686"/>
            <a:chOff x="1719" y="2414"/>
            <a:chExt cx="2642" cy="287"/>
          </a:xfrm>
        </p:grpSpPr>
        <p:sp>
          <p:nvSpPr>
            <p:cNvPr id="63" name="Line 22"/>
            <p:cNvSpPr>
              <a:spLocks noChangeShapeType="1"/>
            </p:cNvSpPr>
            <p:nvPr/>
          </p:nvSpPr>
          <p:spPr bwMode="auto">
            <a:xfrm rot="-5400000">
              <a:off x="3040" y="1345"/>
              <a:ext cx="0" cy="264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Text Box 23"/>
            <p:cNvSpPr txBox="1">
              <a:spLocks noChangeArrowheads="1"/>
            </p:cNvSpPr>
            <p:nvPr/>
          </p:nvSpPr>
          <p:spPr bwMode="auto">
            <a:xfrm>
              <a:off x="2789" y="2414"/>
              <a:ext cx="48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ACK</a:t>
              </a:r>
            </a:p>
          </p:txBody>
        </p:sp>
      </p:grpSp>
      <p:grpSp>
        <p:nvGrpSpPr>
          <p:cNvPr id="65" name="Group 39"/>
          <p:cNvGrpSpPr>
            <a:grpSpLocks/>
          </p:cNvGrpSpPr>
          <p:nvPr/>
        </p:nvGrpSpPr>
        <p:grpSpPr bwMode="auto">
          <a:xfrm>
            <a:off x="3088013" y="1811421"/>
            <a:ext cx="3595739" cy="724723"/>
            <a:chOff x="1265" y="1801"/>
            <a:chExt cx="3096" cy="676"/>
          </a:xfrm>
        </p:grpSpPr>
        <p:grpSp>
          <p:nvGrpSpPr>
            <p:cNvPr id="66" name="Group 34"/>
            <p:cNvGrpSpPr>
              <a:grpSpLocks/>
            </p:cNvGrpSpPr>
            <p:nvPr/>
          </p:nvGrpSpPr>
          <p:grpSpPr bwMode="auto">
            <a:xfrm>
              <a:off x="1719" y="1801"/>
              <a:ext cx="2642" cy="287"/>
              <a:chOff x="1719" y="1801"/>
              <a:chExt cx="2642" cy="287"/>
            </a:xfrm>
          </p:grpSpPr>
          <p:sp>
            <p:nvSpPr>
              <p:cNvPr id="68" name="Line 18"/>
              <p:cNvSpPr>
                <a:spLocks noChangeShapeType="1"/>
              </p:cNvSpPr>
              <p:nvPr/>
            </p:nvSpPr>
            <p:spPr bwMode="auto">
              <a:xfrm rot="-5400000">
                <a:off x="3040" y="740"/>
                <a:ext cx="0" cy="264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9" name="Text Box 19"/>
              <p:cNvSpPr txBox="1">
                <a:spLocks noChangeArrowheads="1"/>
              </p:cNvSpPr>
              <p:nvPr/>
            </p:nvSpPr>
            <p:spPr bwMode="auto">
              <a:xfrm>
                <a:off x="2310" y="1801"/>
                <a:ext cx="155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INVITE: </a:t>
                </a:r>
                <a:r>
                  <a:rPr lang="zh-CN" altLang="en-US" sz="1400" b="1" dirty="0">
                    <a:latin typeface="微软雅黑" pitchFamily="34" charset="-122"/>
                    <a:ea typeface="微软雅黑" pitchFamily="34" charset="-122"/>
                  </a:rPr>
                  <a:t>地址，选项</a:t>
                </a:r>
              </a:p>
            </p:txBody>
          </p:sp>
        </p:grpSp>
        <p:sp>
          <p:nvSpPr>
            <p:cNvPr id="67" name="Text Box 28"/>
            <p:cNvSpPr txBox="1">
              <a:spLocks noChangeArrowheads="1"/>
            </p:cNvSpPr>
            <p:nvPr/>
          </p:nvSpPr>
          <p:spPr bwMode="auto">
            <a:xfrm>
              <a:off x="1265" y="1989"/>
              <a:ext cx="468"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建立</a:t>
              </a:r>
            </a:p>
            <a:p>
              <a:r>
                <a:rPr lang="zh-CN" altLang="en-US" sz="1400" b="1" dirty="0">
                  <a:solidFill>
                    <a:srgbClr val="0000FF"/>
                  </a:solidFill>
                  <a:latin typeface="微软雅黑" pitchFamily="34" charset="-122"/>
                  <a:ea typeface="微软雅黑" pitchFamily="34" charset="-122"/>
                </a:rPr>
                <a:t>会话</a:t>
              </a:r>
            </a:p>
          </p:txBody>
        </p:sp>
      </p:grpSp>
      <p:grpSp>
        <p:nvGrpSpPr>
          <p:cNvPr id="70" name="Group 41"/>
          <p:cNvGrpSpPr>
            <a:grpSpLocks/>
          </p:cNvGrpSpPr>
          <p:nvPr/>
        </p:nvGrpSpPr>
        <p:grpSpPr bwMode="auto">
          <a:xfrm>
            <a:off x="3088013" y="3513878"/>
            <a:ext cx="3595739" cy="530678"/>
            <a:chOff x="1265" y="3389"/>
            <a:chExt cx="3096" cy="495"/>
          </a:xfrm>
        </p:grpSpPr>
        <p:grpSp>
          <p:nvGrpSpPr>
            <p:cNvPr id="71" name="Group 37"/>
            <p:cNvGrpSpPr>
              <a:grpSpLocks/>
            </p:cNvGrpSpPr>
            <p:nvPr/>
          </p:nvGrpSpPr>
          <p:grpSpPr bwMode="auto">
            <a:xfrm>
              <a:off x="1719" y="3389"/>
              <a:ext cx="2642" cy="287"/>
              <a:chOff x="1719" y="3389"/>
              <a:chExt cx="2642" cy="287"/>
            </a:xfrm>
          </p:grpSpPr>
          <p:sp>
            <p:nvSpPr>
              <p:cNvPr id="73" name="Line 26"/>
              <p:cNvSpPr>
                <a:spLocks noChangeShapeType="1"/>
              </p:cNvSpPr>
              <p:nvPr/>
            </p:nvSpPr>
            <p:spPr bwMode="auto">
              <a:xfrm rot="-5400000">
                <a:off x="3040" y="2312"/>
                <a:ext cx="0" cy="264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4" name="Text Box 27"/>
              <p:cNvSpPr txBox="1">
                <a:spLocks noChangeArrowheads="1"/>
              </p:cNvSpPr>
              <p:nvPr/>
            </p:nvSpPr>
            <p:spPr bwMode="auto">
              <a:xfrm>
                <a:off x="2835" y="3389"/>
                <a:ext cx="450"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BYE</a:t>
                </a:r>
              </a:p>
            </p:txBody>
          </p:sp>
        </p:grpSp>
        <p:sp>
          <p:nvSpPr>
            <p:cNvPr id="72" name="Text Box 29"/>
            <p:cNvSpPr txBox="1">
              <a:spLocks noChangeArrowheads="1"/>
            </p:cNvSpPr>
            <p:nvPr/>
          </p:nvSpPr>
          <p:spPr bwMode="auto">
            <a:xfrm>
              <a:off x="1265" y="3396"/>
              <a:ext cx="468"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终止</a:t>
              </a:r>
            </a:p>
            <a:p>
              <a:r>
                <a:rPr lang="zh-CN" altLang="en-US" sz="1400" b="1" dirty="0">
                  <a:solidFill>
                    <a:srgbClr val="0000FF"/>
                  </a:solidFill>
                  <a:latin typeface="微软雅黑" pitchFamily="34" charset="-122"/>
                  <a:ea typeface="微软雅黑" pitchFamily="34" charset="-122"/>
                </a:rPr>
                <a:t>会话</a:t>
              </a:r>
            </a:p>
          </p:txBody>
        </p:sp>
      </p:grpSp>
      <p:grpSp>
        <p:nvGrpSpPr>
          <p:cNvPr id="75" name="Group 40"/>
          <p:cNvGrpSpPr>
            <a:grpSpLocks/>
          </p:cNvGrpSpPr>
          <p:nvPr/>
        </p:nvGrpSpPr>
        <p:grpSpPr bwMode="auto">
          <a:xfrm>
            <a:off x="3088013" y="2933882"/>
            <a:ext cx="3595739" cy="582137"/>
            <a:chOff x="1265" y="2848"/>
            <a:chExt cx="3096" cy="543"/>
          </a:xfrm>
        </p:grpSpPr>
        <p:grpSp>
          <p:nvGrpSpPr>
            <p:cNvPr id="76" name="Group 38"/>
            <p:cNvGrpSpPr>
              <a:grpSpLocks/>
            </p:cNvGrpSpPr>
            <p:nvPr/>
          </p:nvGrpSpPr>
          <p:grpSpPr bwMode="auto">
            <a:xfrm>
              <a:off x="1719" y="2848"/>
              <a:ext cx="2642" cy="543"/>
              <a:chOff x="1719" y="2848"/>
              <a:chExt cx="2642" cy="543"/>
            </a:xfrm>
          </p:grpSpPr>
          <p:sp>
            <p:nvSpPr>
              <p:cNvPr id="78" name="AutoShape 24"/>
              <p:cNvSpPr>
                <a:spLocks noChangeArrowheads="1"/>
              </p:cNvSpPr>
              <p:nvPr/>
            </p:nvSpPr>
            <p:spPr bwMode="auto">
              <a:xfrm>
                <a:off x="1719" y="2848"/>
                <a:ext cx="2642" cy="543"/>
              </a:xfrm>
              <a:prstGeom prst="leftRightArrow">
                <a:avLst>
                  <a:gd name="adj1" fmla="val 61769"/>
                  <a:gd name="adj2" fmla="val 71136"/>
                </a:avLst>
              </a:prstGeom>
              <a:solidFill>
                <a:schemeClr val="accent6">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9" name="Text Box 25"/>
              <p:cNvSpPr txBox="1">
                <a:spLocks noChangeArrowheads="1"/>
              </p:cNvSpPr>
              <p:nvPr/>
            </p:nvSpPr>
            <p:spPr bwMode="auto">
              <a:xfrm>
                <a:off x="2704" y="2976"/>
                <a:ext cx="777" cy="28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电话交谈</a:t>
                </a:r>
              </a:p>
            </p:txBody>
          </p:sp>
        </p:grpSp>
        <p:sp>
          <p:nvSpPr>
            <p:cNvPr id="77" name="Text Box 30"/>
            <p:cNvSpPr txBox="1">
              <a:spLocks noChangeArrowheads="1"/>
            </p:cNvSpPr>
            <p:nvPr/>
          </p:nvSpPr>
          <p:spPr bwMode="auto">
            <a:xfrm>
              <a:off x="1265" y="2999"/>
              <a:ext cx="468" cy="28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通信</a:t>
              </a:r>
            </a:p>
          </p:txBody>
        </p:sp>
      </p:grpSp>
      <p:sp>
        <p:nvSpPr>
          <p:cNvPr id="80" name="Text Box 31"/>
          <p:cNvSpPr txBox="1">
            <a:spLocks noChangeArrowheads="1"/>
          </p:cNvSpPr>
          <p:nvPr/>
        </p:nvSpPr>
        <p:spPr bwMode="auto">
          <a:xfrm>
            <a:off x="3606004" y="3972723"/>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81" name="Text Box 32"/>
          <p:cNvSpPr txBox="1">
            <a:spLocks noChangeArrowheads="1"/>
          </p:cNvSpPr>
          <p:nvPr/>
        </p:nvSpPr>
        <p:spPr bwMode="auto">
          <a:xfrm>
            <a:off x="6674461" y="3972722"/>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grpSp>
        <p:nvGrpSpPr>
          <p:cNvPr id="82" name="组合 81"/>
          <p:cNvGrpSpPr/>
          <p:nvPr/>
        </p:nvGrpSpPr>
        <p:grpSpPr>
          <a:xfrm>
            <a:off x="6084651" y="1241599"/>
            <a:ext cx="868603" cy="699714"/>
            <a:chOff x="7388261" y="2155309"/>
            <a:chExt cx="868603" cy="699714"/>
          </a:xfrm>
        </p:grpSpPr>
        <p:sp>
          <p:nvSpPr>
            <p:cNvPr id="83" name="Freeform 98"/>
            <p:cNvSpPr>
              <a:spLocks/>
            </p:cNvSpPr>
            <p:nvPr/>
          </p:nvSpPr>
          <p:spPr bwMode="auto">
            <a:xfrm>
              <a:off x="7637263" y="2553650"/>
              <a:ext cx="108399" cy="119303"/>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n>
                  <a:solidFill>
                    <a:srgbClr val="0000FF"/>
                  </a:solidFill>
                </a:ln>
                <a:solidFill>
                  <a:srgbClr val="0000FF"/>
                </a:solidFill>
                <a:latin typeface="微软雅黑" pitchFamily="34" charset="-122"/>
                <a:ea typeface="微软雅黑" pitchFamily="34" charset="-122"/>
              </a:endParaRPr>
            </a:p>
          </p:txBody>
        </p:sp>
        <p:pic>
          <p:nvPicPr>
            <p:cNvPr id="84"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00270" y="2298428"/>
              <a:ext cx="556594" cy="556595"/>
            </a:xfrm>
            <a:prstGeom prst="rect">
              <a:avLst/>
            </a:prstGeom>
            <a:noFill/>
            <a:extLst>
              <a:ext uri="{909E8E84-426E-40DD-AFC4-6F175D3DCCD1}">
                <a14:hiddenFill xmlns:a14="http://schemas.microsoft.com/office/drawing/2010/main">
                  <a:solidFill>
                    <a:srgbClr val="FFFFFF"/>
                  </a:solidFill>
                </a14:hiddenFill>
              </a:ext>
            </a:extLst>
          </p:spPr>
        </p:pic>
        <p:sp>
          <p:nvSpPr>
            <p:cNvPr id="85" name="Text Box 97"/>
            <p:cNvSpPr txBox="1">
              <a:spLocks noChangeArrowheads="1"/>
            </p:cNvSpPr>
            <p:nvPr/>
          </p:nvSpPr>
          <p:spPr bwMode="auto">
            <a:xfrm rot="20287477">
              <a:off x="7388261" y="2155309"/>
              <a:ext cx="4219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3200" dirty="0">
                  <a:solidFill>
                    <a:srgbClr val="0000FF"/>
                  </a:solidFill>
                  <a:latin typeface="微软雅黑" pitchFamily="34" charset="-122"/>
                  <a:ea typeface="微软雅黑" pitchFamily="34" charset="-122"/>
                  <a:sym typeface="Webdings" pitchFamily="18" charset="2"/>
                </a:rPr>
                <a:t></a:t>
              </a:r>
              <a:r>
                <a:rPr kumimoji="1" lang="en-US" altLang="zh-CN" sz="1600" dirty="0">
                  <a:latin typeface="微软雅黑" pitchFamily="34" charset="-122"/>
                  <a:ea typeface="微软雅黑" pitchFamily="34" charset="-122"/>
                </a:rPr>
                <a:t> </a:t>
              </a:r>
            </a:p>
          </p:txBody>
        </p:sp>
      </p:grpSp>
    </p:spTree>
    <p:extLst>
      <p:ext uri="{BB962C8B-B14F-4D97-AF65-F5344CB8AC3E}">
        <p14:creationId xmlns:p14="http://schemas.microsoft.com/office/powerpoint/2010/main" val="6136472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left)">
                                      <p:cBhvr>
                                        <p:cTn id="7" dur="10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right)">
                                      <p:cBhvr>
                                        <p:cTn id="12" dur="10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wipe(left)">
                                      <p:cBhvr>
                                        <p:cTn id="17" dur="1000"/>
                                        <p:tgtEl>
                                          <p:spTgt spid="62"/>
                                        </p:tgtEl>
                                      </p:cBhvr>
                                    </p:animEffect>
                                  </p:childTnLst>
                                </p:cTn>
                              </p:par>
                            </p:childTnLst>
                          </p:cTn>
                        </p:par>
                        <p:par>
                          <p:cTn id="18" fill="hold">
                            <p:stCondLst>
                              <p:cond delay="1000"/>
                            </p:stCondLst>
                            <p:childTnLst>
                              <p:par>
                                <p:cTn id="19" presetID="22" presetClass="entr" presetSubtype="1" fill="hold" nodeType="afterEffect">
                                  <p:stCondLst>
                                    <p:cond delay="500"/>
                                  </p:stCondLst>
                                  <p:childTnLst>
                                    <p:set>
                                      <p:cBhvr>
                                        <p:cTn id="20" dur="1" fill="hold">
                                          <p:stCondLst>
                                            <p:cond delay="0"/>
                                          </p:stCondLst>
                                        </p:cTn>
                                        <p:tgtEl>
                                          <p:spTgt spid="75"/>
                                        </p:tgtEl>
                                        <p:attrNameLst>
                                          <p:attrName>style.visibility</p:attrName>
                                        </p:attrNameLst>
                                      </p:cBhvr>
                                      <p:to>
                                        <p:strVal val="visible"/>
                                      </p:to>
                                    </p:set>
                                    <p:animEffect transition="in" filter="wipe(up)">
                                      <p:cBhvr>
                                        <p:cTn id="21" dur="1000"/>
                                        <p:tgtEl>
                                          <p:spTgt spid="7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7" y="984429"/>
            <a:ext cx="812901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有一种跟踪用户的机制，可以找出被叫方使用的</a:t>
            </a:r>
            <a:r>
              <a:rPr lang="en-US" altLang="zh-CN" sz="2000" b="1" dirty="0">
                <a:latin typeface="微软雅黑" pitchFamily="34" charset="-122"/>
                <a:ea typeface="微软雅黑" pitchFamily="34" charset="-122"/>
              </a:rPr>
              <a:t> IP </a:t>
            </a:r>
            <a:r>
              <a:rPr lang="zh-CN" altLang="en-US" sz="2000" b="1" dirty="0">
                <a:latin typeface="微软雅黑" pitchFamily="34" charset="-122"/>
                <a:ea typeface="微软雅黑" pitchFamily="34" charset="-122"/>
              </a:rPr>
              <a:t>地址。</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为了实现跟踪，</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使用</a:t>
            </a:r>
            <a:r>
              <a:rPr lang="zh-CN" altLang="en-US" sz="2000" b="1" dirty="0">
                <a:solidFill>
                  <a:srgbClr val="0000FF"/>
                </a:solidFill>
                <a:latin typeface="微软雅黑" pitchFamily="34" charset="-122"/>
                <a:ea typeface="微软雅黑" pitchFamily="34" charset="-122"/>
              </a:rPr>
              <a:t>登记</a:t>
            </a:r>
            <a:r>
              <a:rPr lang="zh-CN" altLang="en-US" sz="2000" b="1" dirty="0">
                <a:latin typeface="微软雅黑" pitchFamily="34" charset="-122"/>
                <a:ea typeface="微软雅黑" pitchFamily="34" charset="-122"/>
              </a:rPr>
              <a:t>的概念。</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定义一些服务器作为 </a:t>
            </a:r>
            <a:r>
              <a:rPr lang="en-US" altLang="zh-CN" sz="2000" b="1" dirty="0">
                <a:solidFill>
                  <a:srgbClr val="0000FF"/>
                </a:solidFill>
                <a:latin typeface="微软雅黑" pitchFamily="34" charset="-122"/>
                <a:ea typeface="微软雅黑" pitchFamily="34" charset="-122"/>
              </a:rPr>
              <a:t>SIP </a:t>
            </a:r>
            <a:r>
              <a:rPr lang="zh-CN" altLang="en-US" sz="2000" b="1" dirty="0">
                <a:solidFill>
                  <a:srgbClr val="0000FF"/>
                </a:solidFill>
                <a:latin typeface="微软雅黑" pitchFamily="34" charset="-122"/>
                <a:ea typeface="微软雅黑" pitchFamily="34" charset="-122"/>
              </a:rPr>
              <a:t>登记器 </a:t>
            </a:r>
            <a:r>
              <a:rPr lang="en-US" altLang="zh-CN" sz="2000" b="1" dirty="0">
                <a:solidFill>
                  <a:srgbClr val="0000FF"/>
                </a:solidFill>
                <a:latin typeface="微软雅黑" pitchFamily="34" charset="-122"/>
                <a:ea typeface="微软雅黑" pitchFamily="34" charset="-122"/>
              </a:rPr>
              <a:t>(registrar)</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每一个 </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用户都有一个相关联的 </a:t>
            </a: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登记器。</a:t>
            </a:r>
          </a:p>
        </p:txBody>
      </p:sp>
      <p:sp>
        <p:nvSpPr>
          <p:cNvPr id="5" name="AutoShape 5"/>
          <p:cNvSpPr>
            <a:spLocks noChangeArrowheads="1"/>
          </p:cNvSpPr>
          <p:nvPr/>
        </p:nvSpPr>
        <p:spPr bwMode="auto">
          <a:xfrm>
            <a:off x="511897" y="6175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659456" y="584319"/>
            <a:ext cx="3825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登记器的用途：跟踪被叫方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531222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11898" y="1008810"/>
            <a:ext cx="8129014" cy="30814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11897" y="61640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659456" y="583196"/>
            <a:ext cx="38250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SIP </a:t>
            </a:r>
            <a:r>
              <a:rPr lang="zh-CN" altLang="en-US" sz="2000" b="1" dirty="0">
                <a:solidFill>
                  <a:schemeClr val="bg1"/>
                </a:solidFill>
                <a:latin typeface="微软雅黑" pitchFamily="34" charset="-122"/>
                <a:ea typeface="微软雅黑" pitchFamily="34" charset="-122"/>
              </a:rPr>
              <a:t>登记器的用途：跟踪被叫方 </a:t>
            </a:r>
            <a:endParaRPr lang="fr-FR" altLang="zh-CN" sz="2000" b="1" dirty="0">
              <a:solidFill>
                <a:schemeClr val="bg1"/>
              </a:solidFill>
              <a:latin typeface="微软雅黑" pitchFamily="34" charset="-122"/>
              <a:ea typeface="微软雅黑" pitchFamily="34" charset="-122"/>
            </a:endParaRPr>
          </a:p>
        </p:txBody>
      </p:sp>
      <p:sp>
        <p:nvSpPr>
          <p:cNvPr id="15" name="Text Box 13"/>
          <p:cNvSpPr txBox="1">
            <a:spLocks noChangeArrowheads="1"/>
          </p:cNvSpPr>
          <p:nvPr/>
        </p:nvSpPr>
        <p:spPr bwMode="auto">
          <a:xfrm>
            <a:off x="2226634" y="123721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主叫方</a:t>
            </a:r>
          </a:p>
        </p:txBody>
      </p:sp>
      <p:sp>
        <p:nvSpPr>
          <p:cNvPr id="16" name="Text Box 14"/>
          <p:cNvSpPr txBox="1">
            <a:spLocks noChangeArrowheads="1"/>
          </p:cNvSpPr>
          <p:nvPr/>
        </p:nvSpPr>
        <p:spPr bwMode="auto">
          <a:xfrm>
            <a:off x="6330435" y="123721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被叫方</a:t>
            </a:r>
          </a:p>
        </p:txBody>
      </p:sp>
      <p:sp>
        <p:nvSpPr>
          <p:cNvPr id="17" name="Line 15"/>
          <p:cNvSpPr>
            <a:spLocks noChangeShapeType="1"/>
          </p:cNvSpPr>
          <p:nvPr/>
        </p:nvSpPr>
        <p:spPr bwMode="auto">
          <a:xfrm>
            <a:off x="2576972" y="1818256"/>
            <a:ext cx="0" cy="2175782"/>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dirty="0">
              <a:latin typeface="微软雅黑" pitchFamily="34" charset="-122"/>
              <a:ea typeface="微软雅黑" pitchFamily="34" charset="-122"/>
            </a:endParaRPr>
          </a:p>
        </p:txBody>
      </p:sp>
      <p:grpSp>
        <p:nvGrpSpPr>
          <p:cNvPr id="18" name="Group 144"/>
          <p:cNvGrpSpPr>
            <a:grpSpLocks/>
          </p:cNvGrpSpPr>
          <p:nvPr/>
        </p:nvGrpSpPr>
        <p:grpSpPr bwMode="auto">
          <a:xfrm>
            <a:off x="2576972" y="1756173"/>
            <a:ext cx="1017026" cy="276559"/>
            <a:chOff x="793" y="1822"/>
            <a:chExt cx="998" cy="294"/>
          </a:xfrm>
        </p:grpSpPr>
        <p:sp>
          <p:nvSpPr>
            <p:cNvPr id="19" name="Line 16"/>
            <p:cNvSpPr>
              <a:spLocks noChangeShapeType="1"/>
            </p:cNvSpPr>
            <p:nvPr/>
          </p:nvSpPr>
          <p:spPr bwMode="auto">
            <a:xfrm rot="-5400000">
              <a:off x="1292" y="1570"/>
              <a:ext cx="0" cy="99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0" name="Text Box 17"/>
            <p:cNvSpPr txBox="1">
              <a:spLocks noChangeArrowheads="1"/>
            </p:cNvSpPr>
            <p:nvPr/>
          </p:nvSpPr>
          <p:spPr bwMode="auto">
            <a:xfrm>
              <a:off x="964" y="1822"/>
              <a:ext cx="69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INVITE</a:t>
              </a:r>
            </a:p>
          </p:txBody>
        </p:sp>
      </p:grpSp>
      <p:grpSp>
        <p:nvGrpSpPr>
          <p:cNvPr id="21" name="Group 145"/>
          <p:cNvGrpSpPr>
            <a:grpSpLocks/>
          </p:cNvGrpSpPr>
          <p:nvPr/>
        </p:nvGrpSpPr>
        <p:grpSpPr bwMode="auto">
          <a:xfrm>
            <a:off x="3595017" y="1773105"/>
            <a:ext cx="1340071" cy="276559"/>
            <a:chOff x="1792" y="1840"/>
            <a:chExt cx="1315" cy="294"/>
          </a:xfrm>
        </p:grpSpPr>
        <p:sp>
          <p:nvSpPr>
            <p:cNvPr id="22" name="Line 18"/>
            <p:cNvSpPr>
              <a:spLocks noChangeShapeType="1"/>
            </p:cNvSpPr>
            <p:nvPr/>
          </p:nvSpPr>
          <p:spPr bwMode="auto">
            <a:xfrm rot="-5400000">
              <a:off x="2450" y="1456"/>
              <a:ext cx="0" cy="1315"/>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3" name="Text Box 19"/>
            <p:cNvSpPr txBox="1">
              <a:spLocks noChangeArrowheads="1"/>
            </p:cNvSpPr>
            <p:nvPr/>
          </p:nvSpPr>
          <p:spPr bwMode="auto">
            <a:xfrm>
              <a:off x="2265" y="1840"/>
              <a:ext cx="483"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查找</a:t>
              </a:r>
            </a:p>
          </p:txBody>
        </p:sp>
      </p:grpSp>
      <p:grpSp>
        <p:nvGrpSpPr>
          <p:cNvPr id="24" name="Group 146"/>
          <p:cNvGrpSpPr>
            <a:grpSpLocks/>
          </p:cNvGrpSpPr>
          <p:nvPr/>
        </p:nvGrpSpPr>
        <p:grpSpPr bwMode="auto">
          <a:xfrm>
            <a:off x="3593998" y="1991343"/>
            <a:ext cx="1340070" cy="276559"/>
            <a:chOff x="1791" y="2072"/>
            <a:chExt cx="1315" cy="294"/>
          </a:xfrm>
        </p:grpSpPr>
        <p:sp>
          <p:nvSpPr>
            <p:cNvPr id="25" name="Line 20"/>
            <p:cNvSpPr>
              <a:spLocks noChangeShapeType="1"/>
            </p:cNvSpPr>
            <p:nvPr/>
          </p:nvSpPr>
          <p:spPr bwMode="auto">
            <a:xfrm rot="5400000" flipH="1">
              <a:off x="2449" y="1659"/>
              <a:ext cx="0" cy="131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6" name="Text Box 21"/>
            <p:cNvSpPr txBox="1">
              <a:spLocks noChangeArrowheads="1"/>
            </p:cNvSpPr>
            <p:nvPr/>
          </p:nvSpPr>
          <p:spPr bwMode="auto">
            <a:xfrm>
              <a:off x="2283" y="2072"/>
              <a:ext cx="483"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回答</a:t>
              </a:r>
            </a:p>
          </p:txBody>
        </p:sp>
      </p:grpSp>
      <p:grpSp>
        <p:nvGrpSpPr>
          <p:cNvPr id="27" name="Group 152"/>
          <p:cNvGrpSpPr>
            <a:grpSpLocks/>
          </p:cNvGrpSpPr>
          <p:nvPr/>
        </p:nvGrpSpPr>
        <p:grpSpPr bwMode="auto">
          <a:xfrm>
            <a:off x="2576972" y="3183176"/>
            <a:ext cx="4113963" cy="383796"/>
            <a:chOff x="793" y="3339"/>
            <a:chExt cx="4037" cy="408"/>
          </a:xfrm>
        </p:grpSpPr>
        <p:sp>
          <p:nvSpPr>
            <p:cNvPr id="28" name="AutoShape 22"/>
            <p:cNvSpPr>
              <a:spLocks noChangeArrowheads="1"/>
            </p:cNvSpPr>
            <p:nvPr/>
          </p:nvSpPr>
          <p:spPr bwMode="auto">
            <a:xfrm>
              <a:off x="793" y="3339"/>
              <a:ext cx="4037" cy="408"/>
            </a:xfrm>
            <a:prstGeom prst="leftRightArrow">
              <a:avLst>
                <a:gd name="adj1" fmla="val 61769"/>
                <a:gd name="adj2" fmla="val 144663"/>
              </a:avLst>
            </a:prstGeom>
            <a:solidFill>
              <a:schemeClr val="accent6">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9" name="Text Box 23"/>
            <p:cNvSpPr txBox="1">
              <a:spLocks noChangeArrowheads="1"/>
            </p:cNvSpPr>
            <p:nvPr/>
          </p:nvSpPr>
          <p:spPr bwMode="auto">
            <a:xfrm>
              <a:off x="2447" y="3402"/>
              <a:ext cx="785"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电话交谈</a:t>
              </a:r>
            </a:p>
          </p:txBody>
        </p:sp>
      </p:grpSp>
      <p:sp>
        <p:nvSpPr>
          <p:cNvPr id="30" name="Text Box 26"/>
          <p:cNvSpPr txBox="1">
            <a:spLocks noChangeArrowheads="1"/>
          </p:cNvSpPr>
          <p:nvPr/>
        </p:nvSpPr>
        <p:spPr bwMode="auto">
          <a:xfrm>
            <a:off x="2607543" y="3823775"/>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31" name="Text Box 27"/>
          <p:cNvSpPr txBox="1">
            <a:spLocks noChangeArrowheads="1"/>
          </p:cNvSpPr>
          <p:nvPr/>
        </p:nvSpPr>
        <p:spPr bwMode="auto">
          <a:xfrm>
            <a:off x="6721508" y="3823775"/>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81" name="Text Box 77"/>
          <p:cNvSpPr txBox="1">
            <a:spLocks noChangeArrowheads="1"/>
          </p:cNvSpPr>
          <p:nvPr/>
        </p:nvSpPr>
        <p:spPr bwMode="auto">
          <a:xfrm>
            <a:off x="3138180" y="1013602"/>
            <a:ext cx="8835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latin typeface="微软雅黑" pitchFamily="34" charset="-122"/>
                <a:ea typeface="微软雅黑" pitchFamily="34" charset="-122"/>
              </a:rPr>
              <a:t>SIP </a:t>
            </a:r>
            <a:r>
              <a:rPr lang="zh-CN" altLang="en-US" sz="1400" b="1" dirty="0">
                <a:latin typeface="微软雅黑" pitchFamily="34" charset="-122"/>
                <a:ea typeface="微软雅黑" pitchFamily="34" charset="-122"/>
              </a:rPr>
              <a:t>代理</a:t>
            </a:r>
          </a:p>
          <a:p>
            <a:pPr algn="ctr"/>
            <a:r>
              <a:rPr lang="zh-CN" altLang="en-US" sz="1400" b="1" dirty="0">
                <a:latin typeface="微软雅黑" pitchFamily="34" charset="-122"/>
                <a:ea typeface="微软雅黑" pitchFamily="34" charset="-122"/>
              </a:rPr>
              <a:t>服务器</a:t>
            </a:r>
          </a:p>
        </p:txBody>
      </p:sp>
      <p:sp>
        <p:nvSpPr>
          <p:cNvPr id="82" name="Text Box 78"/>
          <p:cNvSpPr txBox="1">
            <a:spLocks noChangeArrowheads="1"/>
          </p:cNvSpPr>
          <p:nvPr/>
        </p:nvSpPr>
        <p:spPr bwMode="auto">
          <a:xfrm>
            <a:off x="4409144" y="1244114"/>
            <a:ext cx="106311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SIP </a:t>
            </a:r>
            <a:r>
              <a:rPr lang="zh-CN" altLang="en-US" sz="1400" b="1" dirty="0">
                <a:solidFill>
                  <a:srgbClr val="CC00CC"/>
                </a:solidFill>
                <a:latin typeface="微软雅黑" pitchFamily="34" charset="-122"/>
                <a:ea typeface="微软雅黑" pitchFamily="34" charset="-122"/>
              </a:rPr>
              <a:t>登记器</a:t>
            </a:r>
          </a:p>
        </p:txBody>
      </p:sp>
      <p:sp>
        <p:nvSpPr>
          <p:cNvPr id="132" name="Line 128"/>
          <p:cNvSpPr>
            <a:spLocks noChangeShapeType="1"/>
          </p:cNvSpPr>
          <p:nvPr/>
        </p:nvSpPr>
        <p:spPr bwMode="auto">
          <a:xfrm>
            <a:off x="3593998" y="1860587"/>
            <a:ext cx="1528" cy="1322589"/>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3" name="Line 129"/>
          <p:cNvSpPr>
            <a:spLocks noChangeShapeType="1"/>
          </p:cNvSpPr>
          <p:nvPr/>
        </p:nvSpPr>
        <p:spPr bwMode="auto">
          <a:xfrm>
            <a:off x="4935087" y="1860587"/>
            <a:ext cx="0" cy="511727"/>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nvGrpSpPr>
          <p:cNvPr id="134" name="Group 147"/>
          <p:cNvGrpSpPr>
            <a:grpSpLocks/>
          </p:cNvGrpSpPr>
          <p:nvPr/>
        </p:nvGrpSpPr>
        <p:grpSpPr bwMode="auto">
          <a:xfrm>
            <a:off x="3593999" y="2320580"/>
            <a:ext cx="3096937" cy="276559"/>
            <a:chOff x="1791" y="2422"/>
            <a:chExt cx="3039" cy="294"/>
          </a:xfrm>
        </p:grpSpPr>
        <p:sp>
          <p:nvSpPr>
            <p:cNvPr id="135" name="Line 130"/>
            <p:cNvSpPr>
              <a:spLocks noChangeShapeType="1"/>
            </p:cNvSpPr>
            <p:nvPr/>
          </p:nvSpPr>
          <p:spPr bwMode="auto">
            <a:xfrm rot="-5400000">
              <a:off x="3311" y="1139"/>
              <a:ext cx="0" cy="3039"/>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6" name="Text Box 131"/>
            <p:cNvSpPr txBox="1">
              <a:spLocks noChangeArrowheads="1"/>
            </p:cNvSpPr>
            <p:nvPr/>
          </p:nvSpPr>
          <p:spPr bwMode="auto">
            <a:xfrm>
              <a:off x="2406" y="2422"/>
              <a:ext cx="699"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INVITE</a:t>
              </a:r>
            </a:p>
          </p:txBody>
        </p:sp>
      </p:grpSp>
      <p:grpSp>
        <p:nvGrpSpPr>
          <p:cNvPr id="137" name="Group 148"/>
          <p:cNvGrpSpPr>
            <a:grpSpLocks/>
          </p:cNvGrpSpPr>
          <p:nvPr/>
        </p:nvGrpSpPr>
        <p:grpSpPr bwMode="auto">
          <a:xfrm>
            <a:off x="3593999" y="2526588"/>
            <a:ext cx="3096937" cy="276559"/>
            <a:chOff x="1791" y="2641"/>
            <a:chExt cx="3039" cy="294"/>
          </a:xfrm>
        </p:grpSpPr>
        <p:sp>
          <p:nvSpPr>
            <p:cNvPr id="138" name="Line 132"/>
            <p:cNvSpPr>
              <a:spLocks noChangeShapeType="1"/>
            </p:cNvSpPr>
            <p:nvPr/>
          </p:nvSpPr>
          <p:spPr bwMode="auto">
            <a:xfrm rot="5400000" flipH="1">
              <a:off x="3311" y="1365"/>
              <a:ext cx="0" cy="3039"/>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9" name="Text Box 133"/>
            <p:cNvSpPr txBox="1">
              <a:spLocks noChangeArrowheads="1"/>
            </p:cNvSpPr>
            <p:nvPr/>
          </p:nvSpPr>
          <p:spPr bwMode="auto">
            <a:xfrm>
              <a:off x="2565" y="2641"/>
              <a:ext cx="411"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OK</a:t>
              </a:r>
            </a:p>
          </p:txBody>
        </p:sp>
      </p:grpSp>
      <p:grpSp>
        <p:nvGrpSpPr>
          <p:cNvPr id="140" name="Group 149"/>
          <p:cNvGrpSpPr>
            <a:grpSpLocks/>
          </p:cNvGrpSpPr>
          <p:nvPr/>
        </p:nvGrpSpPr>
        <p:grpSpPr bwMode="auto">
          <a:xfrm>
            <a:off x="2576972" y="2552926"/>
            <a:ext cx="1017026" cy="276559"/>
            <a:chOff x="793" y="2669"/>
            <a:chExt cx="998" cy="294"/>
          </a:xfrm>
        </p:grpSpPr>
        <p:sp>
          <p:nvSpPr>
            <p:cNvPr id="141" name="Line 134"/>
            <p:cNvSpPr>
              <a:spLocks noChangeShapeType="1"/>
            </p:cNvSpPr>
            <p:nvPr/>
          </p:nvSpPr>
          <p:spPr bwMode="auto">
            <a:xfrm rot="5400000" flipH="1">
              <a:off x="1292" y="2432"/>
              <a:ext cx="0" cy="998"/>
            </a:xfrm>
            <a:prstGeom prst="line">
              <a:avLst/>
            </a:prstGeom>
            <a:noFill/>
            <a:ln w="19050">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2" name="Text Box 135"/>
            <p:cNvSpPr txBox="1">
              <a:spLocks noChangeArrowheads="1"/>
            </p:cNvSpPr>
            <p:nvPr/>
          </p:nvSpPr>
          <p:spPr bwMode="auto">
            <a:xfrm>
              <a:off x="1156" y="2669"/>
              <a:ext cx="411"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OK</a:t>
              </a:r>
            </a:p>
          </p:txBody>
        </p:sp>
      </p:grpSp>
      <p:grpSp>
        <p:nvGrpSpPr>
          <p:cNvPr id="143" name="Group 150"/>
          <p:cNvGrpSpPr>
            <a:grpSpLocks/>
          </p:cNvGrpSpPr>
          <p:nvPr/>
        </p:nvGrpSpPr>
        <p:grpSpPr bwMode="auto">
          <a:xfrm>
            <a:off x="2576972" y="2748589"/>
            <a:ext cx="1017026" cy="276559"/>
            <a:chOff x="793" y="2877"/>
            <a:chExt cx="998" cy="294"/>
          </a:xfrm>
        </p:grpSpPr>
        <p:sp>
          <p:nvSpPr>
            <p:cNvPr id="144" name="Line 136"/>
            <p:cNvSpPr>
              <a:spLocks noChangeShapeType="1"/>
            </p:cNvSpPr>
            <p:nvPr/>
          </p:nvSpPr>
          <p:spPr bwMode="auto">
            <a:xfrm rot="-5400000">
              <a:off x="1292" y="2613"/>
              <a:ext cx="0" cy="99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5" name="Text Box 137"/>
            <p:cNvSpPr txBox="1">
              <a:spLocks noChangeArrowheads="1"/>
            </p:cNvSpPr>
            <p:nvPr/>
          </p:nvSpPr>
          <p:spPr bwMode="auto">
            <a:xfrm>
              <a:off x="1114" y="2877"/>
              <a:ext cx="50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ACK</a:t>
              </a:r>
            </a:p>
          </p:txBody>
        </p:sp>
      </p:grpSp>
      <p:grpSp>
        <p:nvGrpSpPr>
          <p:cNvPr id="146" name="Group 151"/>
          <p:cNvGrpSpPr>
            <a:grpSpLocks/>
          </p:cNvGrpSpPr>
          <p:nvPr/>
        </p:nvGrpSpPr>
        <p:grpSpPr bwMode="auto">
          <a:xfrm>
            <a:off x="3595017" y="2777748"/>
            <a:ext cx="3095918" cy="276559"/>
            <a:chOff x="1792" y="2908"/>
            <a:chExt cx="3038" cy="294"/>
          </a:xfrm>
        </p:grpSpPr>
        <p:sp>
          <p:nvSpPr>
            <p:cNvPr id="147" name="Line 24"/>
            <p:cNvSpPr>
              <a:spLocks noChangeShapeType="1"/>
            </p:cNvSpPr>
            <p:nvPr/>
          </p:nvSpPr>
          <p:spPr bwMode="auto">
            <a:xfrm rot="-5400000">
              <a:off x="3311" y="1638"/>
              <a:ext cx="0" cy="3038"/>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8" name="Text Box 138"/>
            <p:cNvSpPr txBox="1">
              <a:spLocks noChangeArrowheads="1"/>
            </p:cNvSpPr>
            <p:nvPr/>
          </p:nvSpPr>
          <p:spPr bwMode="auto">
            <a:xfrm>
              <a:off x="2524" y="2908"/>
              <a:ext cx="50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ACK</a:t>
              </a:r>
            </a:p>
          </p:txBody>
        </p:sp>
      </p:grpSp>
      <p:grpSp>
        <p:nvGrpSpPr>
          <p:cNvPr id="149" name="Group 153"/>
          <p:cNvGrpSpPr>
            <a:grpSpLocks/>
          </p:cNvGrpSpPr>
          <p:nvPr/>
        </p:nvGrpSpPr>
        <p:grpSpPr bwMode="auto">
          <a:xfrm>
            <a:off x="2576972" y="3553799"/>
            <a:ext cx="4112945" cy="276558"/>
            <a:chOff x="793" y="3733"/>
            <a:chExt cx="4036" cy="294"/>
          </a:xfrm>
        </p:grpSpPr>
        <p:sp>
          <p:nvSpPr>
            <p:cNvPr id="150" name="Text Box 25"/>
            <p:cNvSpPr txBox="1">
              <a:spLocks noChangeArrowheads="1"/>
            </p:cNvSpPr>
            <p:nvPr/>
          </p:nvSpPr>
          <p:spPr bwMode="auto">
            <a:xfrm>
              <a:off x="2562" y="3733"/>
              <a:ext cx="465"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BYE</a:t>
              </a:r>
            </a:p>
          </p:txBody>
        </p:sp>
        <p:sp>
          <p:nvSpPr>
            <p:cNvPr id="151" name="Line 139"/>
            <p:cNvSpPr>
              <a:spLocks noChangeShapeType="1"/>
            </p:cNvSpPr>
            <p:nvPr/>
          </p:nvSpPr>
          <p:spPr bwMode="auto">
            <a:xfrm rot="-5400000">
              <a:off x="2811" y="1956"/>
              <a:ext cx="0" cy="4036"/>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152" name="Line 140"/>
          <p:cNvSpPr>
            <a:spLocks noChangeShapeType="1"/>
          </p:cNvSpPr>
          <p:nvPr/>
        </p:nvSpPr>
        <p:spPr bwMode="auto">
          <a:xfrm>
            <a:off x="6690935" y="1818256"/>
            <a:ext cx="0" cy="2175782"/>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3" name="Text Box 141"/>
          <p:cNvSpPr txBox="1">
            <a:spLocks noChangeArrowheads="1"/>
          </p:cNvSpPr>
          <p:nvPr/>
        </p:nvSpPr>
        <p:spPr bwMode="auto">
          <a:xfrm>
            <a:off x="4935087" y="213585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dirty="0">
                <a:latin typeface="微软雅黑" pitchFamily="34" charset="-122"/>
                <a:ea typeface="微软雅黑" pitchFamily="34" charset="-122"/>
              </a:rPr>
              <a:t>t</a:t>
            </a:r>
          </a:p>
        </p:txBody>
      </p:sp>
      <p:sp>
        <p:nvSpPr>
          <p:cNvPr id="154" name="Text Box 142"/>
          <p:cNvSpPr txBox="1">
            <a:spLocks noChangeArrowheads="1"/>
          </p:cNvSpPr>
          <p:nvPr/>
        </p:nvSpPr>
        <p:spPr bwMode="auto">
          <a:xfrm>
            <a:off x="3593998" y="3011972"/>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pic>
        <p:nvPicPr>
          <p:cNvPr id="156" name="图片 15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45562" y="1500641"/>
            <a:ext cx="268272" cy="375582"/>
          </a:xfrm>
          <a:prstGeom prst="rect">
            <a:avLst/>
          </a:prstGeom>
        </p:spPr>
      </p:pic>
      <p:grpSp>
        <p:nvGrpSpPr>
          <p:cNvPr id="157" name="组合 156"/>
          <p:cNvGrpSpPr/>
          <p:nvPr/>
        </p:nvGrpSpPr>
        <p:grpSpPr>
          <a:xfrm>
            <a:off x="2182868" y="1416542"/>
            <a:ext cx="591447" cy="472535"/>
            <a:chOff x="1793360" y="2043569"/>
            <a:chExt cx="591447" cy="472535"/>
          </a:xfrm>
        </p:grpSpPr>
        <p:sp>
          <p:nvSpPr>
            <p:cNvPr id="158" name="Freeform 98"/>
            <p:cNvSpPr>
              <a:spLocks/>
            </p:cNvSpPr>
            <p:nvPr/>
          </p:nvSpPr>
          <p:spPr bwMode="auto">
            <a:xfrm>
              <a:off x="1970328" y="231450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a:solidFill>
                    <a:srgbClr val="0000FF"/>
                  </a:solidFill>
                </a:ln>
                <a:solidFill>
                  <a:srgbClr val="0000FF"/>
                </a:solidFill>
                <a:latin typeface="微软雅黑" pitchFamily="34" charset="-122"/>
                <a:ea typeface="微软雅黑" pitchFamily="34" charset="-122"/>
              </a:endParaRPr>
            </a:p>
          </p:txBody>
        </p:sp>
        <p:pic>
          <p:nvPicPr>
            <p:cNvPr id="15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2476" y="2143772"/>
              <a:ext cx="372331" cy="372332"/>
            </a:xfrm>
            <a:prstGeom prst="rect">
              <a:avLst/>
            </a:prstGeom>
            <a:noFill/>
            <a:extLst>
              <a:ext uri="{909E8E84-426E-40DD-AFC4-6F175D3DCCD1}">
                <a14:hiddenFill xmlns:a14="http://schemas.microsoft.com/office/drawing/2010/main">
                  <a:solidFill>
                    <a:srgbClr val="FFFFFF"/>
                  </a:solidFill>
                </a14:hiddenFill>
              </a:ext>
            </a:extLst>
          </p:spPr>
        </p:pic>
        <p:sp>
          <p:nvSpPr>
            <p:cNvPr id="160" name="Text Box 97"/>
            <p:cNvSpPr txBox="1">
              <a:spLocks noChangeArrowheads="1"/>
            </p:cNvSpPr>
            <p:nvPr/>
          </p:nvSpPr>
          <p:spPr bwMode="auto">
            <a:xfrm rot="20287477">
              <a:off x="1793360" y="2043569"/>
              <a:ext cx="364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dirty="0">
                  <a:latin typeface="微软雅黑" pitchFamily="34" charset="-122"/>
                  <a:ea typeface="微软雅黑" pitchFamily="34" charset="-122"/>
                </a:rPr>
                <a:t> </a:t>
              </a:r>
            </a:p>
          </p:txBody>
        </p:sp>
      </p:grpSp>
      <p:grpSp>
        <p:nvGrpSpPr>
          <p:cNvPr id="161" name="组合 160"/>
          <p:cNvGrpSpPr/>
          <p:nvPr/>
        </p:nvGrpSpPr>
        <p:grpSpPr>
          <a:xfrm>
            <a:off x="6285435" y="1418546"/>
            <a:ext cx="591447" cy="472535"/>
            <a:chOff x="1793360" y="2043569"/>
            <a:chExt cx="591447" cy="472535"/>
          </a:xfrm>
        </p:grpSpPr>
        <p:sp>
          <p:nvSpPr>
            <p:cNvPr id="162" name="Freeform 98"/>
            <p:cNvSpPr>
              <a:spLocks/>
            </p:cNvSpPr>
            <p:nvPr/>
          </p:nvSpPr>
          <p:spPr bwMode="auto">
            <a:xfrm>
              <a:off x="1970328" y="2314502"/>
              <a:ext cx="72513" cy="79807"/>
            </a:xfrm>
            <a:custGeom>
              <a:avLst/>
              <a:gdLst>
                <a:gd name="T0" fmla="*/ 9 w 69"/>
                <a:gd name="T1" fmla="*/ 0 h 78"/>
                <a:gd name="T2" fmla="*/ 0 w 69"/>
                <a:gd name="T3" fmla="*/ 30 h 78"/>
                <a:gd name="T4" fmla="*/ 23 w 69"/>
                <a:gd name="T5" fmla="*/ 68 h 78"/>
                <a:gd name="T6" fmla="*/ 69 w 69"/>
                <a:gd name="T7" fmla="*/ 78 h 78"/>
              </a:gdLst>
              <a:ahLst/>
              <a:cxnLst>
                <a:cxn ang="0">
                  <a:pos x="T0" y="T1"/>
                </a:cxn>
                <a:cxn ang="0">
                  <a:pos x="T2" y="T3"/>
                </a:cxn>
                <a:cxn ang="0">
                  <a:pos x="T4" y="T5"/>
                </a:cxn>
                <a:cxn ang="0">
                  <a:pos x="T6" y="T7"/>
                </a:cxn>
              </a:cxnLst>
              <a:rect l="0" t="0" r="r" b="b"/>
              <a:pathLst>
                <a:path w="69" h="78">
                  <a:moveTo>
                    <a:pt x="9" y="0"/>
                  </a:moveTo>
                  <a:cubicBezTo>
                    <a:pt x="5" y="11"/>
                    <a:pt x="7" y="20"/>
                    <a:pt x="0" y="30"/>
                  </a:cubicBezTo>
                  <a:cubicBezTo>
                    <a:pt x="0" y="44"/>
                    <a:pt x="12" y="60"/>
                    <a:pt x="23" y="68"/>
                  </a:cubicBezTo>
                  <a:cubicBezTo>
                    <a:pt x="34" y="76"/>
                    <a:pt x="60" y="76"/>
                    <a:pt x="69" y="78"/>
                  </a:cubicBezTo>
                </a:path>
              </a:pathLst>
            </a:custGeom>
            <a:noFill/>
            <a:ln w="952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n>
                  <a:solidFill>
                    <a:srgbClr val="0000FF"/>
                  </a:solidFill>
                </a:ln>
                <a:solidFill>
                  <a:srgbClr val="0000FF"/>
                </a:solidFill>
                <a:latin typeface="微软雅黑" pitchFamily="34" charset="-122"/>
                <a:ea typeface="微软雅黑" pitchFamily="34" charset="-122"/>
              </a:endParaRPr>
            </a:p>
          </p:txBody>
        </p:sp>
        <p:pic>
          <p:nvPicPr>
            <p:cNvPr id="16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2476" y="2143772"/>
              <a:ext cx="372331" cy="372332"/>
            </a:xfrm>
            <a:prstGeom prst="rect">
              <a:avLst/>
            </a:prstGeom>
            <a:noFill/>
            <a:extLst>
              <a:ext uri="{909E8E84-426E-40DD-AFC4-6F175D3DCCD1}">
                <a14:hiddenFill xmlns:a14="http://schemas.microsoft.com/office/drawing/2010/main">
                  <a:solidFill>
                    <a:srgbClr val="FFFFFF"/>
                  </a:solidFill>
                </a14:hiddenFill>
              </a:ext>
            </a:extLst>
          </p:spPr>
        </p:pic>
        <p:sp>
          <p:nvSpPr>
            <p:cNvPr id="164" name="Text Box 97"/>
            <p:cNvSpPr txBox="1">
              <a:spLocks noChangeArrowheads="1"/>
            </p:cNvSpPr>
            <p:nvPr/>
          </p:nvSpPr>
          <p:spPr bwMode="auto">
            <a:xfrm rot="20287477">
              <a:off x="1793360" y="2043569"/>
              <a:ext cx="364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dirty="0">
                  <a:solidFill>
                    <a:srgbClr val="0000FF"/>
                  </a:solidFill>
                  <a:latin typeface="微软雅黑" pitchFamily="34" charset="-122"/>
                  <a:ea typeface="微软雅黑" pitchFamily="34" charset="-122"/>
                  <a:sym typeface="Webdings" pitchFamily="18" charset="2"/>
                </a:rPr>
                <a:t></a:t>
              </a:r>
              <a:r>
                <a:rPr kumimoji="1" lang="en-US" altLang="zh-CN" dirty="0">
                  <a:latin typeface="微软雅黑" pitchFamily="34" charset="-122"/>
                  <a:ea typeface="微软雅黑" pitchFamily="34" charset="-122"/>
                </a:rPr>
                <a:t> </a:t>
              </a:r>
            </a:p>
          </p:txBody>
        </p:sp>
      </p:grpSp>
      <p:pic>
        <p:nvPicPr>
          <p:cNvPr id="165" name="图片 16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91208" y="1516745"/>
            <a:ext cx="268272" cy="375582"/>
          </a:xfrm>
          <a:prstGeom prst="rect">
            <a:avLst/>
          </a:prstGeom>
        </p:spPr>
      </p:pic>
      <p:sp>
        <p:nvSpPr>
          <p:cNvPr id="3" name="矩形 2"/>
          <p:cNvSpPr/>
          <p:nvPr/>
        </p:nvSpPr>
        <p:spPr>
          <a:xfrm>
            <a:off x="1158241" y="4096095"/>
            <a:ext cx="6888480" cy="656590"/>
          </a:xfrm>
          <a:prstGeom prst="rect">
            <a:avLst/>
          </a:prstGeom>
        </p:spPr>
        <p:txBody>
          <a:bodyPr wrap="square">
            <a:spAutoFit/>
          </a:bodyPr>
          <a:lstStyle/>
          <a:p>
            <a:pPr>
              <a:lnSpc>
                <a:spcPts val="2200"/>
              </a:lnSpc>
            </a:pPr>
            <a:r>
              <a:rPr lang="zh-CN" altLang="en-US" sz="1500" b="1" dirty="0">
                <a:latin typeface="微软雅黑" panose="020B0503020204020204" pitchFamily="34" charset="-122"/>
                <a:ea typeface="微软雅黑" panose="020B0503020204020204" pitchFamily="34" charset="-122"/>
              </a:rPr>
              <a:t>如果被叫没有在这个 </a:t>
            </a:r>
            <a:r>
              <a:rPr lang="en-US" altLang="zh-CN" sz="1500" b="1" dirty="0">
                <a:latin typeface="微软雅黑" panose="020B0503020204020204" pitchFamily="34" charset="-122"/>
                <a:ea typeface="微软雅黑" panose="020B0503020204020204" pitchFamily="34" charset="-122"/>
              </a:rPr>
              <a:t>SIP </a:t>
            </a:r>
            <a:r>
              <a:rPr lang="zh-CN" altLang="en-US" sz="1500" b="1" dirty="0">
                <a:latin typeface="微软雅黑" panose="020B0503020204020204" pitchFamily="34" charset="-122"/>
                <a:ea typeface="微软雅黑" panose="020B0503020204020204" pitchFamily="34" charset="-122"/>
              </a:rPr>
              <a:t>登记器登记，该 </a:t>
            </a:r>
            <a:r>
              <a:rPr lang="en-US" altLang="zh-CN" sz="1500" b="1" dirty="0">
                <a:latin typeface="微软雅黑" panose="020B0503020204020204" pitchFamily="34" charset="-122"/>
                <a:ea typeface="微软雅黑" panose="020B0503020204020204" pitchFamily="34" charset="-122"/>
              </a:rPr>
              <a:t>SIP </a:t>
            </a:r>
            <a:r>
              <a:rPr lang="zh-CN" altLang="en-US" sz="1500" b="1" dirty="0">
                <a:latin typeface="微软雅黑" panose="020B0503020204020204" pitchFamily="34" charset="-122"/>
                <a:ea typeface="微软雅黑" panose="020B0503020204020204" pitchFamily="34" charset="-122"/>
              </a:rPr>
              <a:t>登记器就发回重定向报文，指示 </a:t>
            </a:r>
            <a:r>
              <a:rPr lang="en-US" altLang="zh-CN" sz="1500" b="1" dirty="0">
                <a:latin typeface="微软雅黑" panose="020B0503020204020204" pitchFamily="34" charset="-122"/>
                <a:ea typeface="微软雅黑" panose="020B0503020204020204" pitchFamily="34" charset="-122"/>
              </a:rPr>
              <a:t>SIP </a:t>
            </a:r>
            <a:r>
              <a:rPr lang="zh-CN" altLang="en-US" sz="1500" b="1" dirty="0">
                <a:latin typeface="微软雅黑" panose="020B0503020204020204" pitchFamily="34" charset="-122"/>
                <a:ea typeface="微软雅黑" panose="020B0503020204020204" pitchFamily="34" charset="-122"/>
              </a:rPr>
              <a:t>代理服务器向另一个 </a:t>
            </a:r>
            <a:r>
              <a:rPr lang="en-US" altLang="zh-CN" sz="1500" b="1" dirty="0">
                <a:latin typeface="微软雅黑" panose="020B0503020204020204" pitchFamily="34" charset="-122"/>
                <a:ea typeface="微软雅黑" panose="020B0503020204020204" pitchFamily="34" charset="-122"/>
              </a:rPr>
              <a:t>SIP </a:t>
            </a:r>
            <a:r>
              <a:rPr lang="zh-CN" altLang="en-US" sz="1500" b="1" dirty="0">
                <a:latin typeface="微软雅黑" panose="020B0503020204020204" pitchFamily="34" charset="-122"/>
                <a:ea typeface="微软雅黑" panose="020B0503020204020204" pitchFamily="34" charset="-122"/>
              </a:rPr>
              <a:t>登记器重新进行 </a:t>
            </a:r>
            <a:r>
              <a:rPr lang="en-US" altLang="zh-CN" sz="1500" b="1" dirty="0">
                <a:latin typeface="微软雅黑" panose="020B0503020204020204" pitchFamily="34" charset="-122"/>
                <a:ea typeface="微软雅黑" panose="020B0503020204020204" pitchFamily="34" charset="-122"/>
              </a:rPr>
              <a:t>DNS </a:t>
            </a:r>
            <a:r>
              <a:rPr lang="zh-CN" altLang="en-US" sz="1500" b="1" dirty="0">
                <a:latin typeface="微软雅黑" panose="020B0503020204020204" pitchFamily="34" charset="-122"/>
                <a:ea typeface="微软雅黑" panose="020B0503020204020204" pitchFamily="34" charset="-122"/>
              </a:rPr>
              <a:t>查询，直到找到被叫为止。</a:t>
            </a:r>
          </a:p>
        </p:txBody>
      </p:sp>
    </p:spTree>
    <p:extLst>
      <p:ext uri="{BB962C8B-B14F-4D97-AF65-F5344CB8AC3E}">
        <p14:creationId xmlns:p14="http://schemas.microsoft.com/office/powerpoint/2010/main" val="7096804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1000"/>
                                        <p:tgtEl>
                                          <p:spTgt spid="21"/>
                                        </p:tgtEl>
                                      </p:cBhvr>
                                    </p:animEffect>
                                  </p:childTnLst>
                                </p:cTn>
                              </p:par>
                            </p:childTnLst>
                          </p:cTn>
                        </p:par>
                        <p:par>
                          <p:cTn id="13" fill="hold">
                            <p:stCondLst>
                              <p:cond delay="1000"/>
                            </p:stCondLst>
                            <p:childTnLst>
                              <p:par>
                                <p:cTn id="14" presetID="22" presetClass="entr" presetSubtype="2"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right)">
                                      <p:cBhvr>
                                        <p:cTn id="16" dur="10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4"/>
                                        </p:tgtEl>
                                        <p:attrNameLst>
                                          <p:attrName>style.visibility</p:attrName>
                                        </p:attrNameLst>
                                      </p:cBhvr>
                                      <p:to>
                                        <p:strVal val="visible"/>
                                      </p:to>
                                    </p:set>
                                    <p:animEffect transition="in" filter="wipe(left)">
                                      <p:cBhvr>
                                        <p:cTn id="21" dur="1000"/>
                                        <p:tgtEl>
                                          <p:spTgt spid="13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wipe(right)">
                                      <p:cBhvr>
                                        <p:cTn id="26" dur="1000"/>
                                        <p:tgtEl>
                                          <p:spTgt spid="137"/>
                                        </p:tgtEl>
                                      </p:cBhvr>
                                    </p:animEffect>
                                  </p:childTnLst>
                                </p:cTn>
                              </p:par>
                            </p:childTnLst>
                          </p:cTn>
                        </p:par>
                        <p:par>
                          <p:cTn id="27" fill="hold">
                            <p:stCondLst>
                              <p:cond delay="1000"/>
                            </p:stCondLst>
                            <p:childTnLst>
                              <p:par>
                                <p:cTn id="28" presetID="22" presetClass="entr" presetSubtype="2" fill="hold" nodeType="afterEffect">
                                  <p:stCondLst>
                                    <p:cond delay="0"/>
                                  </p:stCondLst>
                                  <p:childTnLst>
                                    <p:set>
                                      <p:cBhvr>
                                        <p:cTn id="29" dur="1" fill="hold">
                                          <p:stCondLst>
                                            <p:cond delay="0"/>
                                          </p:stCondLst>
                                        </p:cTn>
                                        <p:tgtEl>
                                          <p:spTgt spid="140"/>
                                        </p:tgtEl>
                                        <p:attrNameLst>
                                          <p:attrName>style.visibility</p:attrName>
                                        </p:attrNameLst>
                                      </p:cBhvr>
                                      <p:to>
                                        <p:strVal val="visible"/>
                                      </p:to>
                                    </p:set>
                                    <p:animEffect transition="in" filter="wipe(right)">
                                      <p:cBhvr>
                                        <p:cTn id="30" dur="1000"/>
                                        <p:tgtEl>
                                          <p:spTgt spid="140"/>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143"/>
                                        </p:tgtEl>
                                        <p:attrNameLst>
                                          <p:attrName>style.visibility</p:attrName>
                                        </p:attrNameLst>
                                      </p:cBhvr>
                                      <p:to>
                                        <p:strVal val="visible"/>
                                      </p:to>
                                    </p:set>
                                    <p:animEffect transition="in" filter="wipe(left)">
                                      <p:cBhvr>
                                        <p:cTn id="34" dur="1000"/>
                                        <p:tgtEl>
                                          <p:spTgt spid="143"/>
                                        </p:tgtEl>
                                      </p:cBhvr>
                                    </p:animEffect>
                                  </p:childTnLst>
                                </p:cTn>
                              </p:par>
                            </p:childTnLst>
                          </p:cTn>
                        </p:par>
                        <p:par>
                          <p:cTn id="35" fill="hold">
                            <p:stCondLst>
                              <p:cond delay="3000"/>
                            </p:stCondLst>
                            <p:childTnLst>
                              <p:par>
                                <p:cTn id="36" presetID="22" presetClass="entr" presetSubtype="8" fill="hold" nodeType="afterEffect">
                                  <p:stCondLst>
                                    <p:cond delay="0"/>
                                  </p:stCondLst>
                                  <p:childTnLst>
                                    <p:set>
                                      <p:cBhvr>
                                        <p:cTn id="37" dur="1" fill="hold">
                                          <p:stCondLst>
                                            <p:cond delay="0"/>
                                          </p:stCondLst>
                                        </p:cTn>
                                        <p:tgtEl>
                                          <p:spTgt spid="146"/>
                                        </p:tgtEl>
                                        <p:attrNameLst>
                                          <p:attrName>style.visibility</p:attrName>
                                        </p:attrNameLst>
                                      </p:cBhvr>
                                      <p:to>
                                        <p:strVal val="visible"/>
                                      </p:to>
                                    </p:set>
                                    <p:animEffect transition="in" filter="wipe(left)">
                                      <p:cBhvr>
                                        <p:cTn id="38" dur="1000"/>
                                        <p:tgtEl>
                                          <p:spTgt spid="146"/>
                                        </p:tgtEl>
                                      </p:cBhvr>
                                    </p:animEffect>
                                  </p:childTnLst>
                                </p:cTn>
                              </p:par>
                            </p:childTnLst>
                          </p:cTn>
                        </p:par>
                        <p:par>
                          <p:cTn id="39" fill="hold">
                            <p:stCondLst>
                              <p:cond delay="4000"/>
                            </p:stCondLst>
                            <p:childTnLst>
                              <p:par>
                                <p:cTn id="40" presetID="22" presetClass="entr" presetSubtype="1" fill="hold" nodeType="afterEffect">
                                  <p:stCondLst>
                                    <p:cond delay="1000"/>
                                  </p:stCondLst>
                                  <p:childTnLst>
                                    <p:set>
                                      <p:cBhvr>
                                        <p:cTn id="41" dur="1" fill="hold">
                                          <p:stCondLst>
                                            <p:cond delay="0"/>
                                          </p:stCondLst>
                                        </p:cTn>
                                        <p:tgtEl>
                                          <p:spTgt spid="27"/>
                                        </p:tgtEl>
                                        <p:attrNameLst>
                                          <p:attrName>style.visibility</p:attrName>
                                        </p:attrNameLst>
                                      </p:cBhvr>
                                      <p:to>
                                        <p:strVal val="visible"/>
                                      </p:to>
                                    </p:set>
                                    <p:animEffect transition="in" filter="wipe(up)">
                                      <p:cBhvr>
                                        <p:cTn id="42" dur="10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9"/>
                                        </p:tgtEl>
                                        <p:attrNameLst>
                                          <p:attrName>style.visibility</p:attrName>
                                        </p:attrNameLst>
                                      </p:cBhvr>
                                      <p:to>
                                        <p:strVal val="visible"/>
                                      </p:to>
                                    </p:set>
                                    <p:animEffect transition="in" filter="wipe(left)">
                                      <p:cBhvr>
                                        <p:cTn id="47"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85234"/>
            <a:ext cx="812901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会话描述协议 </a:t>
            </a:r>
            <a:r>
              <a:rPr lang="en-US" altLang="zh-CN" sz="2000" b="1" dirty="0">
                <a:solidFill>
                  <a:srgbClr val="C00000"/>
                </a:solidFill>
                <a:latin typeface="微软雅黑" pitchFamily="34" charset="-122"/>
                <a:ea typeface="微软雅黑" pitchFamily="34" charset="-122"/>
              </a:rPr>
              <a:t>SDP </a:t>
            </a:r>
            <a:r>
              <a:rPr lang="en-US" altLang="zh-CN" sz="2000" b="1" dirty="0">
                <a:latin typeface="微软雅黑" pitchFamily="34" charset="-122"/>
                <a:ea typeface="微软雅黑" pitchFamily="34" charset="-122"/>
              </a:rPr>
              <a:t>(Session Description Protocol)</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en-US" altLang="zh-CN" sz="2000" b="1" dirty="0">
                <a:latin typeface="微软雅黑" pitchFamily="34" charset="-122"/>
                <a:ea typeface="微软雅黑" pitchFamily="34" charset="-122"/>
              </a:rPr>
              <a:t>SIP </a:t>
            </a:r>
            <a:r>
              <a:rPr lang="zh-CN" altLang="en-US" sz="2000" b="1" dirty="0">
                <a:latin typeface="微软雅黑" pitchFamily="34" charset="-122"/>
                <a:ea typeface="微软雅黑" pitchFamily="34" charset="-122"/>
              </a:rPr>
              <a:t>的配套协议。</a:t>
            </a:r>
            <a:endParaRPr lang="en-US" altLang="zh-CN" sz="2000" b="1" dirty="0">
              <a:latin typeface="微软雅黑" pitchFamily="34" charset="-122"/>
              <a:ea typeface="微软雅黑" pitchFamily="34" charset="-122"/>
            </a:endParaRPr>
          </a:p>
          <a:p>
            <a:pPr marL="717550" lvl="1" indent="-342900" eaLnBrk="0" hangingPunct="0">
              <a:lnSpc>
                <a:spcPts val="33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在电话会议的情况下特别重要，因为电话会议的参加者是动态地加入和退出。</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SDP </a:t>
            </a:r>
            <a:r>
              <a:rPr lang="zh-CN" altLang="en-US" sz="2000" b="1" dirty="0">
                <a:latin typeface="微软雅黑" pitchFamily="34" charset="-122"/>
                <a:ea typeface="微软雅黑" pitchFamily="34" charset="-122"/>
              </a:rPr>
              <a:t>详细指明了媒体编码、协议的端口号以及多播地址。</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SDP </a:t>
            </a:r>
            <a:r>
              <a:rPr lang="zh-CN" altLang="en-US" sz="2000" b="1" dirty="0">
                <a:latin typeface="微软雅黑" pitchFamily="34" charset="-122"/>
                <a:ea typeface="微软雅黑" pitchFamily="34" charset="-122"/>
              </a:rPr>
              <a:t>是互联网建议标准。</a:t>
            </a:r>
          </a:p>
        </p:txBody>
      </p:sp>
      <p:sp>
        <p:nvSpPr>
          <p:cNvPr id="3" name="AutoShape 5"/>
          <p:cNvSpPr>
            <a:spLocks noChangeArrowheads="1"/>
          </p:cNvSpPr>
          <p:nvPr/>
        </p:nvSpPr>
        <p:spPr bwMode="auto">
          <a:xfrm>
            <a:off x="511896" y="62094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71405" y="587737"/>
            <a:ext cx="24032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会话描述协议 </a:t>
            </a:r>
            <a:r>
              <a:rPr lang="en-US" altLang="zh-CN" sz="2000" b="1" dirty="0">
                <a:solidFill>
                  <a:schemeClr val="bg1"/>
                </a:solidFill>
                <a:latin typeface="微软雅黑" pitchFamily="34" charset="-122"/>
                <a:ea typeface="微软雅黑" pitchFamily="34" charset="-122"/>
              </a:rPr>
              <a:t>SDP </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4412088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7"/>
          <p:cNvSpPr>
            <a:spLocks noChangeArrowheads="1"/>
          </p:cNvSpPr>
          <p:nvPr/>
        </p:nvSpPr>
        <p:spPr bwMode="auto">
          <a:xfrm>
            <a:off x="639730" y="112854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9" name="Rectangle 29"/>
          <p:cNvSpPr>
            <a:spLocks noChangeArrowheads="1"/>
          </p:cNvSpPr>
          <p:nvPr/>
        </p:nvSpPr>
        <p:spPr bwMode="auto">
          <a:xfrm>
            <a:off x="648619" y="1223474"/>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8.</a:t>
            </a:r>
            <a:r>
              <a:rPr lang="en-US" altLang="zh-CN" sz="2000" b="1" dirty="0">
                <a:solidFill>
                  <a:srgbClr val="FFFF00"/>
                </a:solidFill>
                <a:latin typeface="微软雅黑" pitchFamily="34" charset="-122"/>
                <a:ea typeface="微软雅黑" pitchFamily="34" charset="-122"/>
              </a:rPr>
              <a:t>4</a:t>
            </a:r>
          </a:p>
          <a:p>
            <a:pPr eaLnBrk="0" hangingPunct="0"/>
            <a:r>
              <a:rPr lang="zh-CN" altLang="en-US" sz="2000" b="1" spc="-110" dirty="0">
                <a:solidFill>
                  <a:schemeClr val="bg1"/>
                </a:solidFill>
                <a:latin typeface="微软雅黑" pitchFamily="34" charset="-122"/>
                <a:ea typeface="微软雅黑" pitchFamily="34" charset="-122"/>
              </a:rPr>
              <a:t>改进“尽最大努力交付”的服务</a:t>
            </a:r>
            <a:endParaRPr lang="zh-CN" altLang="fr-FR" sz="2000" b="1" spc="-110" dirty="0">
              <a:solidFill>
                <a:schemeClr val="bg1"/>
              </a:solidFill>
              <a:latin typeface="微软雅黑" pitchFamily="34" charset="-122"/>
              <a:ea typeface="微软雅黑" pitchFamily="34" charset="-122"/>
            </a:endParaRPr>
          </a:p>
        </p:txBody>
      </p:sp>
      <p:sp>
        <p:nvSpPr>
          <p:cNvPr id="12" name="Rectangle 10"/>
          <p:cNvSpPr>
            <a:spLocks noChangeArrowheads="1"/>
          </p:cNvSpPr>
          <p:nvPr/>
        </p:nvSpPr>
        <p:spPr bwMode="auto">
          <a:xfrm>
            <a:off x="2629135" y="2963679"/>
            <a:ext cx="5948808"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9"/>
          <p:cNvSpPr>
            <a:spLocks noChangeArrowheads="1"/>
          </p:cNvSpPr>
          <p:nvPr/>
        </p:nvSpPr>
        <p:spPr bwMode="auto">
          <a:xfrm>
            <a:off x="2629135" y="2338846"/>
            <a:ext cx="5948808"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4" name="Rectangle 9"/>
          <p:cNvSpPr>
            <a:spLocks noChangeArrowheads="1"/>
          </p:cNvSpPr>
          <p:nvPr/>
        </p:nvSpPr>
        <p:spPr bwMode="auto">
          <a:xfrm>
            <a:off x="2629135" y="1128542"/>
            <a:ext cx="5948808"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5" name="Rectangle 10"/>
          <p:cNvSpPr>
            <a:spLocks noChangeArrowheads="1"/>
          </p:cNvSpPr>
          <p:nvPr/>
        </p:nvSpPr>
        <p:spPr bwMode="auto">
          <a:xfrm>
            <a:off x="2629135" y="1734967"/>
            <a:ext cx="5948808"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6" name="Line 16"/>
          <p:cNvSpPr>
            <a:spLocks noChangeShapeType="1"/>
          </p:cNvSpPr>
          <p:nvPr/>
        </p:nvSpPr>
        <p:spPr bwMode="auto">
          <a:xfrm>
            <a:off x="3637198" y="715904"/>
            <a:ext cx="0" cy="305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8"/>
          <p:cNvSpPr>
            <a:spLocks noChangeArrowheads="1"/>
          </p:cNvSpPr>
          <p:nvPr/>
        </p:nvSpPr>
        <p:spPr bwMode="auto">
          <a:xfrm>
            <a:off x="2700572" y="874542"/>
            <a:ext cx="581641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8.4.1 		                </a:t>
            </a:r>
            <a:r>
              <a:rPr lang="zh-CN" altLang="en-US" sz="2000" b="1" dirty="0">
                <a:solidFill>
                  <a:schemeClr val="bg1"/>
                </a:solidFill>
                <a:latin typeface="微软雅黑" pitchFamily="34" charset="-122"/>
                <a:ea typeface="微软雅黑" pitchFamily="34" charset="-122"/>
              </a:rPr>
              <a:t>使互联网提供服务质量</a:t>
            </a:r>
          </a:p>
          <a:p>
            <a:pPr eaLnBrk="0" hangingPunct="0">
              <a:lnSpc>
                <a:spcPct val="200000"/>
              </a:lnSpc>
            </a:pPr>
            <a:r>
              <a:rPr lang="en-US" altLang="zh-CN" sz="2000" b="1" dirty="0">
                <a:solidFill>
                  <a:schemeClr val="bg1"/>
                </a:solidFill>
                <a:latin typeface="微软雅黑" pitchFamily="34" charset="-122"/>
                <a:ea typeface="微软雅黑" pitchFamily="34" charset="-122"/>
              </a:rPr>
              <a:t>8.4.2 			              </a:t>
            </a:r>
            <a:r>
              <a:rPr lang="zh-CN" altLang="en-US" sz="2000" b="1" dirty="0">
                <a:solidFill>
                  <a:schemeClr val="bg1"/>
                </a:solidFill>
                <a:latin typeface="微软雅黑" pitchFamily="34" charset="-122"/>
                <a:ea typeface="微软雅黑" pitchFamily="34" charset="-122"/>
              </a:rPr>
              <a:t>调度和管制机制</a:t>
            </a:r>
          </a:p>
          <a:p>
            <a:pPr eaLnBrk="0" hangingPunct="0">
              <a:lnSpc>
                <a:spcPct val="200000"/>
              </a:lnSpc>
            </a:pPr>
            <a:r>
              <a:rPr lang="en-US" altLang="zh-CN" sz="2000" b="1" dirty="0">
                <a:solidFill>
                  <a:schemeClr val="bg1"/>
                </a:solidFill>
                <a:latin typeface="微软雅黑" pitchFamily="34" charset="-122"/>
                <a:ea typeface="微软雅黑" pitchFamily="34" charset="-122"/>
              </a:rPr>
              <a:t>8.4.3     </a:t>
            </a:r>
            <a:r>
              <a:rPr lang="zh-CN" altLang="en-US" sz="2000" b="1" dirty="0">
                <a:solidFill>
                  <a:schemeClr val="bg1"/>
                </a:solidFill>
                <a:latin typeface="微软雅黑" pitchFamily="34" charset="-122"/>
                <a:ea typeface="微软雅黑" pitchFamily="34" charset="-122"/>
              </a:rPr>
              <a:t>综合服务 </a:t>
            </a:r>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与资源预留协议 </a:t>
            </a:r>
            <a:r>
              <a:rPr lang="en-US" altLang="zh-CN" sz="2000" b="1" dirty="0">
                <a:solidFill>
                  <a:schemeClr val="bg1"/>
                </a:solidFill>
                <a:latin typeface="微软雅黑" pitchFamily="34" charset="-122"/>
                <a:ea typeface="微软雅黑" pitchFamily="34" charset="-122"/>
              </a:rPr>
              <a:t>RSVP</a:t>
            </a:r>
          </a:p>
          <a:p>
            <a:pPr eaLnBrk="0" hangingPunct="0">
              <a:lnSpc>
                <a:spcPct val="200000"/>
              </a:lnSpc>
            </a:pPr>
            <a:r>
              <a:rPr lang="en-US" altLang="zh-CN" sz="2000" b="1" dirty="0">
                <a:solidFill>
                  <a:schemeClr val="bg1"/>
                </a:solidFill>
                <a:latin typeface="微软雅黑" pitchFamily="34" charset="-122"/>
                <a:ea typeface="微软雅黑" pitchFamily="34" charset="-122"/>
              </a:rPr>
              <a:t>8.4.4 			         </a:t>
            </a:r>
            <a:r>
              <a:rPr lang="zh-CN" altLang="en-US" sz="2000" b="1" dirty="0">
                <a:solidFill>
                  <a:schemeClr val="bg1"/>
                </a:solidFill>
                <a:latin typeface="微软雅黑" pitchFamily="34" charset="-122"/>
                <a:ea typeface="微软雅黑" pitchFamily="34" charset="-122"/>
              </a:rPr>
              <a:t>区分服务 </a:t>
            </a:r>
            <a:r>
              <a:rPr lang="en-US" altLang="zh-CN" sz="2000" b="1" dirty="0" err="1">
                <a:solidFill>
                  <a:schemeClr val="bg1"/>
                </a:solidFill>
                <a:latin typeface="微软雅黑" pitchFamily="34" charset="-122"/>
                <a:ea typeface="微软雅黑" pitchFamily="34" charset="-122"/>
              </a:rPr>
              <a:t>DiffServ</a:t>
            </a:r>
            <a:endParaRPr lang="en-US"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1829244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5" y="1000840"/>
            <a:ext cx="8053712"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互联网平等对待所有分组。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但不同服务要求提供不同的服务质量 </a:t>
            </a:r>
            <a:r>
              <a:rPr lang="en-US" altLang="zh-CN" sz="2000" b="1" dirty="0" err="1">
                <a:latin typeface="微软雅黑" pitchFamily="34" charset="-122"/>
                <a:ea typeface="微软雅黑" pitchFamily="34" charset="-122"/>
              </a:rPr>
              <a:t>QoS</a:t>
            </a:r>
            <a:r>
              <a:rPr lang="zh-CN" altLang="en-US" sz="2000" b="1" dirty="0">
                <a:latin typeface="微软雅黑" pitchFamily="34" charset="-122"/>
                <a:ea typeface="微软雅黑" pitchFamily="34" charset="-122"/>
              </a:rPr>
              <a:t>。</a:t>
            </a:r>
          </a:p>
        </p:txBody>
      </p:sp>
      <p:sp>
        <p:nvSpPr>
          <p:cNvPr id="7" name="AutoShape 5"/>
          <p:cNvSpPr>
            <a:spLocks noChangeArrowheads="1"/>
          </p:cNvSpPr>
          <p:nvPr/>
        </p:nvSpPr>
        <p:spPr bwMode="auto">
          <a:xfrm>
            <a:off x="545144" y="61211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8" name="Rectangle 6"/>
          <p:cNvSpPr>
            <a:spLocks noChangeArrowheads="1"/>
          </p:cNvSpPr>
          <p:nvPr/>
        </p:nvSpPr>
        <p:spPr bwMode="auto">
          <a:xfrm>
            <a:off x="2000626" y="569848"/>
            <a:ext cx="51427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8.4</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改进“尽最大努力交付”的服务</a:t>
            </a:r>
          </a:p>
        </p:txBody>
      </p:sp>
    </p:spTree>
    <p:extLst>
      <p:ext uri="{BB962C8B-B14F-4D97-AF65-F5344CB8AC3E}">
        <p14:creationId xmlns:p14="http://schemas.microsoft.com/office/powerpoint/2010/main" val="3211303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10300"/>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2481920" y="584836"/>
            <a:ext cx="41889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8.4.1  </a:t>
            </a:r>
            <a:r>
              <a:rPr lang="zh-CN" altLang="en-US" sz="2400" b="1" dirty="0">
                <a:solidFill>
                  <a:schemeClr val="bg1"/>
                </a:solidFill>
                <a:latin typeface="微软雅黑" pitchFamily="34" charset="-122"/>
                <a:ea typeface="微软雅黑" pitchFamily="34" charset="-122"/>
              </a:rPr>
              <a:t>使互联网提供服务质量</a:t>
            </a:r>
          </a:p>
        </p:txBody>
      </p:sp>
      <p:sp>
        <p:nvSpPr>
          <p:cNvPr id="4" name="Rectangle 8"/>
          <p:cNvSpPr>
            <a:spLocks noChangeArrowheads="1"/>
          </p:cNvSpPr>
          <p:nvPr/>
        </p:nvSpPr>
        <p:spPr bwMode="auto">
          <a:xfrm>
            <a:off x="511896" y="1035476"/>
            <a:ext cx="8129015"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服务质量 </a:t>
            </a:r>
            <a:r>
              <a:rPr lang="en-US" altLang="zh-CN" sz="2000" b="1" dirty="0" err="1">
                <a:solidFill>
                  <a:srgbClr val="C00000"/>
                </a:solidFill>
                <a:latin typeface="微软雅黑" pitchFamily="34" charset="-122"/>
                <a:ea typeface="微软雅黑" pitchFamily="34" charset="-122"/>
              </a:rPr>
              <a:t>QoS</a:t>
            </a:r>
            <a:r>
              <a:rPr lang="en-US" altLang="zh-CN"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(Quality of Service) </a:t>
            </a:r>
          </a:p>
          <a:p>
            <a:pPr marL="285750" indent="-285750">
              <a:lnSpc>
                <a:spcPts val="3200"/>
              </a:lnSpc>
              <a:buClr>
                <a:srgbClr val="0070C0"/>
              </a:buClr>
              <a:buFont typeface="Wingdings" pitchFamily="2" charset="2"/>
              <a:buChar char="l"/>
            </a:pPr>
            <a:endParaRPr lang="en-US" altLang="zh-CN" sz="2000" b="1" dirty="0">
              <a:solidFill>
                <a:srgbClr val="0000FF"/>
              </a:solidFill>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endParaRPr lang="en-US" altLang="zh-CN" sz="2000" b="1" dirty="0">
              <a:solidFill>
                <a:srgbClr val="0000FF"/>
              </a:solidFill>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endParaRPr lang="en-US" altLang="zh-CN" sz="2000" b="1" dirty="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服务质量可用若干</a:t>
            </a:r>
            <a:r>
              <a:rPr lang="zh-CN" altLang="en-US" sz="2000" b="1" dirty="0">
                <a:solidFill>
                  <a:srgbClr val="0000FF"/>
                </a:solidFill>
                <a:latin typeface="微软雅黑" pitchFamily="34" charset="-122"/>
                <a:ea typeface="微软雅黑" pitchFamily="34" charset="-122"/>
              </a:rPr>
              <a:t>基本性能指标</a:t>
            </a:r>
            <a:r>
              <a:rPr lang="zh-CN" altLang="en-US" sz="2000" b="1" dirty="0">
                <a:latin typeface="微软雅黑" pitchFamily="34" charset="-122"/>
                <a:ea typeface="微软雅黑" pitchFamily="34" charset="-122"/>
              </a:rPr>
              <a:t>来描述，包括：可用性、差错率、响应时间、吞吐量、分组丢失率、连接建立时间、故障检测和改正时间等。</a:t>
            </a:r>
          </a:p>
          <a:p>
            <a:pPr marL="285750" indent="-285750">
              <a:lnSpc>
                <a:spcPts val="32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服务提供者可向其用户保证某一种等级的服务质量。 </a:t>
            </a:r>
          </a:p>
        </p:txBody>
      </p:sp>
      <p:sp>
        <p:nvSpPr>
          <p:cNvPr id="2" name="矩形 1"/>
          <p:cNvSpPr/>
          <p:nvPr/>
        </p:nvSpPr>
        <p:spPr>
          <a:xfrm>
            <a:off x="783772" y="1609528"/>
            <a:ext cx="7794171" cy="91307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3200"/>
              </a:lnSpc>
              <a:buClr>
                <a:srgbClr val="0070C0"/>
              </a:buClr>
            </a:pPr>
            <a:r>
              <a:rPr lang="zh-CN" altLang="en-US" sz="2000" b="1" dirty="0">
                <a:latin typeface="微软雅黑" pitchFamily="34" charset="-122"/>
                <a:ea typeface="微软雅黑" pitchFamily="34" charset="-122"/>
              </a:rPr>
              <a:t>服务性能的总效果，此效果决定了一个用户对服务的满意程度。</a:t>
            </a:r>
            <a:endParaRPr lang="en-US" altLang="zh-CN" sz="2000" b="1" dirty="0">
              <a:latin typeface="微软雅黑" pitchFamily="34" charset="-122"/>
              <a:ea typeface="微软雅黑" pitchFamily="34" charset="-122"/>
            </a:endParaRPr>
          </a:p>
          <a:p>
            <a:pPr>
              <a:lnSpc>
                <a:spcPts val="3200"/>
              </a:lnSpc>
              <a:buClr>
                <a:srgbClr val="0070C0"/>
              </a:buClr>
            </a:pPr>
            <a:r>
              <a:rPr lang="zh-CN" altLang="en-US" sz="2000" b="1" dirty="0">
                <a:latin typeface="微软雅黑" pitchFamily="34" charset="-122"/>
                <a:ea typeface="微软雅黑" pitchFamily="34" charset="-122"/>
              </a:rPr>
              <a:t>简单理解：有服务质量的服务就是能够满足用户的应用需求的服务。</a:t>
            </a:r>
          </a:p>
        </p:txBody>
      </p:sp>
    </p:spTree>
    <p:extLst>
      <p:ext uri="{BB962C8B-B14F-4D97-AF65-F5344CB8AC3E}">
        <p14:creationId xmlns:p14="http://schemas.microsoft.com/office/powerpoint/2010/main" val="23138789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sp>
        <p:nvSpPr>
          <p:cNvPr id="4" name="圆角矩形 3"/>
          <p:cNvSpPr/>
          <p:nvPr/>
        </p:nvSpPr>
        <p:spPr>
          <a:xfrm>
            <a:off x="512573" y="958746"/>
            <a:ext cx="8128800" cy="23853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Text Box 40"/>
          <p:cNvSpPr txBox="1">
            <a:spLocks noChangeArrowheads="1"/>
          </p:cNvSpPr>
          <p:nvPr/>
        </p:nvSpPr>
        <p:spPr bwMode="auto">
          <a:xfrm>
            <a:off x="983175" y="3371724"/>
            <a:ext cx="7159752"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400"/>
              </a:lnSpc>
            </a:pPr>
            <a:r>
              <a:rPr lang="zh-CN" altLang="en-US" b="1" dirty="0">
                <a:solidFill>
                  <a:schemeClr val="tx1"/>
                </a:solidFill>
                <a:latin typeface="微软雅黑" pitchFamily="34" charset="-122"/>
                <a:ea typeface="微软雅黑" pitchFamily="34" charset="-122"/>
              </a:rPr>
              <a:t>需要增加一个机制，给不同性质的分组打上不同的</a:t>
            </a:r>
            <a:r>
              <a:rPr lang="zh-CN" altLang="en-US" b="1" dirty="0">
                <a:solidFill>
                  <a:srgbClr val="C00000"/>
                </a:solidFill>
                <a:latin typeface="微软雅黑" pitchFamily="34" charset="-122"/>
                <a:ea typeface="微软雅黑" pitchFamily="34" charset="-122"/>
              </a:rPr>
              <a:t>标记。</a:t>
            </a:r>
            <a:endParaRPr lang="en-US" altLang="zh-CN" b="1" dirty="0">
              <a:solidFill>
                <a:srgbClr val="C00000"/>
              </a:solidFill>
              <a:latin typeface="微软雅黑" pitchFamily="34" charset="-122"/>
              <a:ea typeface="微软雅黑" pitchFamily="34" charset="-122"/>
            </a:endParaRPr>
          </a:p>
          <a:p>
            <a:pPr>
              <a:lnSpc>
                <a:spcPts val="2400"/>
              </a:lnSpc>
            </a:pPr>
            <a:r>
              <a:rPr lang="zh-CN" altLang="en-US" b="1" dirty="0">
                <a:solidFill>
                  <a:schemeClr val="tx1"/>
                </a:solidFill>
                <a:latin typeface="微软雅黑" pitchFamily="34" charset="-122"/>
                <a:ea typeface="微软雅黑" pitchFamily="34" charset="-122"/>
              </a:rPr>
              <a:t>使路由器能识别实时数据分组，并使这些分组以高优先级进入输出队列，而仅在队列有多余空间时才准许低优先级的 </a:t>
            </a:r>
            <a:r>
              <a:rPr lang="en-US" altLang="zh-CN" b="1" dirty="0">
                <a:solidFill>
                  <a:schemeClr val="tx1"/>
                </a:solidFill>
                <a:latin typeface="微软雅黑" pitchFamily="34" charset="-122"/>
                <a:ea typeface="微软雅黑" pitchFamily="34" charset="-122"/>
              </a:rPr>
              <a:t>FTP </a:t>
            </a:r>
            <a:r>
              <a:rPr lang="zh-CN" altLang="en-US" b="1" dirty="0">
                <a:solidFill>
                  <a:schemeClr val="tx1"/>
                </a:solidFill>
                <a:latin typeface="微软雅黑" pitchFamily="34" charset="-122"/>
                <a:ea typeface="微软雅黑" pitchFamily="34" charset="-122"/>
              </a:rPr>
              <a:t>数据分组进入。 </a:t>
            </a:r>
          </a:p>
        </p:txBody>
      </p:sp>
      <p:sp>
        <p:nvSpPr>
          <p:cNvPr id="53" name="矩形 52"/>
          <p:cNvSpPr/>
          <p:nvPr/>
        </p:nvSpPr>
        <p:spPr>
          <a:xfrm>
            <a:off x="1005805" y="1000981"/>
            <a:ext cx="7241212" cy="338554"/>
          </a:xfrm>
          <a:prstGeom prst="rect">
            <a:avLst/>
          </a:prstGeom>
        </p:spPr>
        <p:txBody>
          <a:bodyPr wrap="square">
            <a:spAutoFit/>
          </a:bodyPr>
          <a:lstStyle/>
          <a:p>
            <a:pPr algn="ctr"/>
            <a:r>
              <a:rPr lang="zh-CN" altLang="en-US" sz="1600" b="1" dirty="0">
                <a:solidFill>
                  <a:srgbClr val="000099"/>
                </a:solidFill>
                <a:latin typeface="微软雅黑" pitchFamily="34" charset="-122"/>
                <a:ea typeface="微软雅黑" pitchFamily="34" charset="-122"/>
              </a:rPr>
              <a:t>一个 </a:t>
            </a:r>
            <a:r>
              <a:rPr lang="en-US" altLang="zh-CN" sz="1600" b="1" dirty="0">
                <a:solidFill>
                  <a:srgbClr val="000099"/>
                </a:solidFill>
                <a:latin typeface="微软雅黑" pitchFamily="34" charset="-122"/>
                <a:ea typeface="微软雅黑" pitchFamily="34" charset="-122"/>
              </a:rPr>
              <a:t>1 Mbit/s </a:t>
            </a:r>
            <a:r>
              <a:rPr lang="zh-CN" altLang="en-US" sz="1600" b="1" dirty="0">
                <a:solidFill>
                  <a:srgbClr val="000099"/>
                </a:solidFill>
                <a:latin typeface="微软雅黑" pitchFamily="34" charset="-122"/>
                <a:ea typeface="微软雅黑" pitchFamily="34" charset="-122"/>
              </a:rPr>
              <a:t>的实时音频数据和一个低优先级 </a:t>
            </a:r>
            <a:r>
              <a:rPr lang="en-US" altLang="zh-CN" sz="1600" b="1" dirty="0">
                <a:solidFill>
                  <a:srgbClr val="000099"/>
                </a:solidFill>
                <a:latin typeface="微软雅黑" pitchFamily="34" charset="-122"/>
                <a:ea typeface="微软雅黑" pitchFamily="34" charset="-122"/>
              </a:rPr>
              <a:t>FTP </a:t>
            </a:r>
            <a:r>
              <a:rPr lang="zh-CN" altLang="en-US" sz="1600" b="1" dirty="0">
                <a:solidFill>
                  <a:srgbClr val="000099"/>
                </a:solidFill>
                <a:latin typeface="微软雅黑" pitchFamily="34" charset="-122"/>
                <a:ea typeface="微软雅黑" pitchFamily="34" charset="-122"/>
              </a:rPr>
              <a:t>文件数据</a:t>
            </a:r>
          </a:p>
        </p:txBody>
      </p:sp>
      <p:grpSp>
        <p:nvGrpSpPr>
          <p:cNvPr id="55" name="组合 54"/>
          <p:cNvGrpSpPr/>
          <p:nvPr/>
        </p:nvGrpSpPr>
        <p:grpSpPr>
          <a:xfrm>
            <a:off x="1408217" y="1379654"/>
            <a:ext cx="6250918" cy="1861513"/>
            <a:chOff x="1408217" y="1379654"/>
            <a:chExt cx="6250918" cy="1861513"/>
          </a:xfrm>
        </p:grpSpPr>
        <p:sp>
          <p:nvSpPr>
            <p:cNvPr id="6" name="Line 4"/>
            <p:cNvSpPr>
              <a:spLocks noChangeShapeType="1"/>
            </p:cNvSpPr>
            <p:nvPr/>
          </p:nvSpPr>
          <p:spPr bwMode="auto">
            <a:xfrm rot="16200000" flipH="1">
              <a:off x="4603420" y="172032"/>
              <a:ext cx="0" cy="39570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 name="Line 5"/>
            <p:cNvSpPr>
              <a:spLocks noChangeShapeType="1"/>
            </p:cNvSpPr>
            <p:nvPr/>
          </p:nvSpPr>
          <p:spPr bwMode="auto">
            <a:xfrm flipH="1">
              <a:off x="6590197"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Line 6"/>
            <p:cNvSpPr>
              <a:spLocks noChangeShapeType="1"/>
            </p:cNvSpPr>
            <p:nvPr/>
          </p:nvSpPr>
          <p:spPr bwMode="auto">
            <a:xfrm rot="5400000" flipH="1">
              <a:off x="6779636" y="1474976"/>
              <a:ext cx="0" cy="37887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 name="Line 7"/>
            <p:cNvSpPr>
              <a:spLocks noChangeShapeType="1"/>
            </p:cNvSpPr>
            <p:nvPr/>
          </p:nvSpPr>
          <p:spPr bwMode="auto">
            <a:xfrm rot="5400000" flipH="1">
              <a:off x="6737825"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Text Box 8"/>
            <p:cNvSpPr txBox="1">
              <a:spLocks noChangeArrowheads="1"/>
            </p:cNvSpPr>
            <p:nvPr/>
          </p:nvSpPr>
          <p:spPr bwMode="auto">
            <a:xfrm>
              <a:off x="3925832" y="1836634"/>
              <a:ext cx="1526105" cy="2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11" name="Line 10"/>
            <p:cNvSpPr>
              <a:spLocks noChangeShapeType="1"/>
            </p:cNvSpPr>
            <p:nvPr/>
          </p:nvSpPr>
          <p:spPr bwMode="auto">
            <a:xfrm>
              <a:off x="2624901"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1"/>
            <p:cNvSpPr>
              <a:spLocks noChangeShapeType="1"/>
            </p:cNvSpPr>
            <p:nvPr/>
          </p:nvSpPr>
          <p:spPr bwMode="auto">
            <a:xfrm rot="16200000">
              <a:off x="2477274" y="1516787"/>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rot="16200000">
              <a:off x="2477274"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Text Box 14"/>
            <p:cNvSpPr txBox="1">
              <a:spLocks noChangeArrowheads="1"/>
            </p:cNvSpPr>
            <p:nvPr/>
          </p:nvSpPr>
          <p:spPr bwMode="auto">
            <a:xfrm>
              <a:off x="1639133" y="1379654"/>
              <a:ext cx="4585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p>
          </p:txBody>
        </p:sp>
        <p:sp>
          <p:nvSpPr>
            <p:cNvPr id="15" name="Text Box 15"/>
            <p:cNvSpPr txBox="1">
              <a:spLocks noChangeArrowheads="1"/>
            </p:cNvSpPr>
            <p:nvPr/>
          </p:nvSpPr>
          <p:spPr bwMode="auto">
            <a:xfrm>
              <a:off x="1567131" y="2188310"/>
              <a:ext cx="4850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16" name="Text Box 16"/>
            <p:cNvSpPr txBox="1">
              <a:spLocks noChangeArrowheads="1"/>
            </p:cNvSpPr>
            <p:nvPr/>
          </p:nvSpPr>
          <p:spPr bwMode="auto">
            <a:xfrm>
              <a:off x="7130438" y="1402467"/>
              <a:ext cx="5069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3</a:t>
              </a:r>
            </a:p>
          </p:txBody>
        </p:sp>
        <p:sp>
          <p:nvSpPr>
            <p:cNvPr id="17" name="Text Box 17"/>
            <p:cNvSpPr txBox="1">
              <a:spLocks noChangeArrowheads="1"/>
            </p:cNvSpPr>
            <p:nvPr/>
          </p:nvSpPr>
          <p:spPr bwMode="auto">
            <a:xfrm>
              <a:off x="7231611" y="2262253"/>
              <a:ext cx="4275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4</a:t>
              </a:r>
            </a:p>
          </p:txBody>
        </p:sp>
        <p:sp>
          <p:nvSpPr>
            <p:cNvPr id="18" name="Freeform 18"/>
            <p:cNvSpPr>
              <a:spLocks/>
            </p:cNvSpPr>
            <p:nvPr/>
          </p:nvSpPr>
          <p:spPr bwMode="auto">
            <a:xfrm flipV="1">
              <a:off x="6116344" y="1716332"/>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Freeform 19"/>
            <p:cNvSpPr>
              <a:spLocks/>
            </p:cNvSpPr>
            <p:nvPr/>
          </p:nvSpPr>
          <p:spPr bwMode="auto">
            <a:xfrm>
              <a:off x="6116344"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Text Box 20"/>
            <p:cNvSpPr txBox="1">
              <a:spLocks noChangeArrowheads="1"/>
            </p:cNvSpPr>
            <p:nvPr/>
          </p:nvSpPr>
          <p:spPr bwMode="auto">
            <a:xfrm>
              <a:off x="5664124" y="1769916"/>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p>
          </p:txBody>
        </p:sp>
        <p:sp>
          <p:nvSpPr>
            <p:cNvPr id="21" name="Text Box 21"/>
            <p:cNvSpPr txBox="1">
              <a:spLocks noChangeArrowheads="1"/>
            </p:cNvSpPr>
            <p:nvPr/>
          </p:nvSpPr>
          <p:spPr bwMode="auto">
            <a:xfrm>
              <a:off x="3116258" y="1769129"/>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22" name="Freeform 22"/>
            <p:cNvSpPr>
              <a:spLocks/>
            </p:cNvSpPr>
            <p:nvPr/>
          </p:nvSpPr>
          <p:spPr bwMode="auto">
            <a:xfrm>
              <a:off x="3276320" y="2701979"/>
              <a:ext cx="710264" cy="207670"/>
            </a:xfrm>
            <a:custGeom>
              <a:avLst/>
              <a:gdLst>
                <a:gd name="T0" fmla="*/ 0 w 576"/>
                <a:gd name="T1" fmla="*/ 0 h 192"/>
                <a:gd name="T2" fmla="*/ 576 w 576"/>
                <a:gd name="T3" fmla="*/ 0 h 192"/>
                <a:gd name="T4" fmla="*/ 576 w 576"/>
                <a:gd name="T5" fmla="*/ 192 h 192"/>
                <a:gd name="T6" fmla="*/ 0 w 576"/>
                <a:gd name="T7" fmla="*/ 192 h 192"/>
              </a:gdLst>
              <a:ahLst/>
              <a:cxnLst>
                <a:cxn ang="0">
                  <a:pos x="T0" y="T1"/>
                </a:cxn>
                <a:cxn ang="0">
                  <a:pos x="T2" y="T3"/>
                </a:cxn>
                <a:cxn ang="0">
                  <a:pos x="T4" y="T5"/>
                </a:cxn>
                <a:cxn ang="0">
                  <a:pos x="T6" y="T7"/>
                </a:cxn>
              </a:cxnLst>
              <a:rect l="0" t="0" r="r" b="b"/>
              <a:pathLst>
                <a:path w="576" h="192">
                  <a:moveTo>
                    <a:pt x="0" y="0"/>
                  </a:moveTo>
                  <a:lnTo>
                    <a:pt x="576" y="0"/>
                  </a:lnTo>
                  <a:lnTo>
                    <a:pt x="576" y="192"/>
                  </a:lnTo>
                  <a:lnTo>
                    <a:pt x="0" y="192"/>
                  </a:lnTo>
                </a:path>
              </a:pathLst>
            </a:custGeom>
            <a:noFill/>
            <a:ln w="19050" cmpd="sng">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3"/>
            <p:cNvSpPr>
              <a:spLocks noChangeShapeType="1"/>
            </p:cNvSpPr>
            <p:nvPr/>
          </p:nvSpPr>
          <p:spPr bwMode="auto">
            <a:xfrm>
              <a:off x="392670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4"/>
            <p:cNvSpPr>
              <a:spLocks noChangeShapeType="1"/>
            </p:cNvSpPr>
            <p:nvPr/>
          </p:nvSpPr>
          <p:spPr bwMode="auto">
            <a:xfrm>
              <a:off x="3867863"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5"/>
            <p:cNvSpPr>
              <a:spLocks noChangeShapeType="1"/>
            </p:cNvSpPr>
            <p:nvPr/>
          </p:nvSpPr>
          <p:spPr bwMode="auto">
            <a:xfrm>
              <a:off x="3809018"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6"/>
            <p:cNvSpPr>
              <a:spLocks noChangeShapeType="1"/>
            </p:cNvSpPr>
            <p:nvPr/>
          </p:nvSpPr>
          <p:spPr bwMode="auto">
            <a:xfrm>
              <a:off x="3749141"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7"/>
            <p:cNvSpPr>
              <a:spLocks noChangeShapeType="1"/>
            </p:cNvSpPr>
            <p:nvPr/>
          </p:nvSpPr>
          <p:spPr bwMode="auto">
            <a:xfrm>
              <a:off x="369029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8"/>
            <p:cNvSpPr>
              <a:spLocks noChangeShapeType="1"/>
            </p:cNvSpPr>
            <p:nvPr/>
          </p:nvSpPr>
          <p:spPr bwMode="auto">
            <a:xfrm>
              <a:off x="3631452"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9"/>
            <p:cNvSpPr>
              <a:spLocks noChangeShapeType="1"/>
            </p:cNvSpPr>
            <p:nvPr/>
          </p:nvSpPr>
          <p:spPr bwMode="auto">
            <a:xfrm>
              <a:off x="3571575"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30"/>
            <p:cNvSpPr txBox="1">
              <a:spLocks noChangeArrowheads="1"/>
            </p:cNvSpPr>
            <p:nvPr/>
          </p:nvSpPr>
          <p:spPr bwMode="auto">
            <a:xfrm>
              <a:off x="2699410" y="2547991"/>
              <a:ext cx="405807" cy="43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31" name="Line 31"/>
            <p:cNvSpPr>
              <a:spLocks noChangeShapeType="1"/>
            </p:cNvSpPr>
            <p:nvPr/>
          </p:nvSpPr>
          <p:spPr bwMode="auto">
            <a:xfrm flipV="1">
              <a:off x="3019262" y="2840426"/>
              <a:ext cx="345841" cy="4326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32"/>
            <p:cNvSpPr>
              <a:spLocks noChangeShapeType="1"/>
            </p:cNvSpPr>
            <p:nvPr/>
          </p:nvSpPr>
          <p:spPr bwMode="auto">
            <a:xfrm>
              <a:off x="3019262" y="2736591"/>
              <a:ext cx="345841" cy="43264"/>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3"/>
            <p:cNvSpPr>
              <a:spLocks noChangeShapeType="1"/>
            </p:cNvSpPr>
            <p:nvPr/>
          </p:nvSpPr>
          <p:spPr bwMode="auto">
            <a:xfrm>
              <a:off x="3986584" y="2805815"/>
              <a:ext cx="515085" cy="0"/>
            </a:xfrm>
            <a:prstGeom prst="line">
              <a:avLst/>
            </a:prstGeom>
            <a:noFill/>
            <a:ln w="28575">
              <a:solidFill>
                <a:srgbClr val="7030A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Text Box 34"/>
            <p:cNvSpPr txBox="1">
              <a:spLocks noChangeArrowheads="1"/>
            </p:cNvSpPr>
            <p:nvPr/>
          </p:nvSpPr>
          <p:spPr bwMode="auto">
            <a:xfrm>
              <a:off x="3995155" y="2522115"/>
              <a:ext cx="1526105"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35" name="Rectangle 35"/>
            <p:cNvSpPr>
              <a:spLocks noChangeArrowheads="1"/>
            </p:cNvSpPr>
            <p:nvPr/>
          </p:nvSpPr>
          <p:spPr bwMode="auto">
            <a:xfrm>
              <a:off x="3372330" y="2137966"/>
              <a:ext cx="117689" cy="5191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6"/>
            <p:cNvSpPr>
              <a:spLocks noChangeShapeType="1"/>
            </p:cNvSpPr>
            <p:nvPr/>
          </p:nvSpPr>
          <p:spPr bwMode="auto">
            <a:xfrm>
              <a:off x="3482792" y="2189883"/>
              <a:ext cx="511019" cy="51838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37"/>
            <p:cNvSpPr>
              <a:spLocks noChangeShapeType="1"/>
            </p:cNvSpPr>
            <p:nvPr/>
          </p:nvSpPr>
          <p:spPr bwMode="auto">
            <a:xfrm flipH="1">
              <a:off x="3283546" y="2137477"/>
              <a:ext cx="160670" cy="57079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40"/>
            <p:cNvSpPr txBox="1">
              <a:spLocks noChangeArrowheads="1"/>
            </p:cNvSpPr>
            <p:nvPr/>
          </p:nvSpPr>
          <p:spPr bwMode="auto">
            <a:xfrm>
              <a:off x="3200865" y="2899927"/>
              <a:ext cx="902649"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输出队列</a:t>
              </a:r>
            </a:p>
          </p:txBody>
        </p:sp>
        <p:sp>
          <p:nvSpPr>
            <p:cNvPr id="39" name="AutoShape 41"/>
            <p:cNvSpPr>
              <a:spLocks noChangeArrowheads="1"/>
            </p:cNvSpPr>
            <p:nvPr/>
          </p:nvSpPr>
          <p:spPr bwMode="auto">
            <a:xfrm rot="16200000">
              <a:off x="4534468" y="878683"/>
              <a:ext cx="103835" cy="2543736"/>
            </a:xfrm>
            <a:prstGeom prst="can">
              <a:avLst>
                <a:gd name="adj" fmla="val 60580"/>
              </a:avLst>
            </a:prstGeom>
            <a:gradFill rotWithShape="0">
              <a:gsLst>
                <a:gs pos="0">
                  <a:srgbClr val="00B050"/>
                </a:gs>
                <a:gs pos="50000">
                  <a:srgbClr val="66FFFF"/>
                </a:gs>
                <a:gs pos="100000">
                  <a:srgbClr val="00B050"/>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pic>
          <p:nvPicPr>
            <p:cNvPr id="4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3584" y="2027051"/>
              <a:ext cx="472821"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8878" y="2027051"/>
              <a:ext cx="473854"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Freeform 44"/>
            <p:cNvSpPr>
              <a:spLocks/>
            </p:cNvSpPr>
            <p:nvPr/>
          </p:nvSpPr>
          <p:spPr bwMode="auto">
            <a:xfrm>
              <a:off x="2388490" y="1707679"/>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Freeform 45"/>
            <p:cNvSpPr>
              <a:spLocks/>
            </p:cNvSpPr>
            <p:nvPr/>
          </p:nvSpPr>
          <p:spPr bwMode="auto">
            <a:xfrm flipV="1">
              <a:off x="2388490"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Text Box 47"/>
            <p:cNvSpPr txBox="1">
              <a:spLocks noChangeArrowheads="1"/>
            </p:cNvSpPr>
            <p:nvPr/>
          </p:nvSpPr>
          <p:spPr bwMode="auto">
            <a:xfrm>
              <a:off x="3034748" y="1443180"/>
              <a:ext cx="23150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1 Mbit/s </a:t>
              </a:r>
              <a:r>
                <a:rPr lang="zh-CN" altLang="en-US" sz="1400" b="1" dirty="0">
                  <a:solidFill>
                    <a:srgbClr val="CC00CC"/>
                  </a:solidFill>
                  <a:latin typeface="微软雅黑" pitchFamily="34" charset="-122"/>
                  <a:ea typeface="微软雅黑" pitchFamily="34" charset="-122"/>
                </a:rPr>
                <a:t>的实时音频数据 </a:t>
              </a:r>
            </a:p>
          </p:txBody>
        </p:sp>
        <p:sp>
          <p:nvSpPr>
            <p:cNvPr id="45" name="Line 48"/>
            <p:cNvSpPr>
              <a:spLocks noChangeShapeType="1"/>
            </p:cNvSpPr>
            <p:nvPr/>
          </p:nvSpPr>
          <p:spPr bwMode="auto">
            <a:xfrm flipH="1">
              <a:off x="2766334" y="1676999"/>
              <a:ext cx="384038" cy="1840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Text Box 49"/>
            <p:cNvSpPr txBox="1">
              <a:spLocks noChangeArrowheads="1"/>
            </p:cNvSpPr>
            <p:nvPr/>
          </p:nvSpPr>
          <p:spPr bwMode="auto">
            <a:xfrm>
              <a:off x="1408217" y="2933390"/>
              <a:ext cx="134274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FTP </a:t>
              </a:r>
              <a:r>
                <a:rPr lang="zh-CN" altLang="en-US" sz="1400" b="1" dirty="0">
                  <a:solidFill>
                    <a:srgbClr val="0000FF"/>
                  </a:solidFill>
                  <a:latin typeface="微软雅黑" pitchFamily="34" charset="-122"/>
                  <a:ea typeface="微软雅黑" pitchFamily="34" charset="-122"/>
                </a:rPr>
                <a:t>文件数据 </a:t>
              </a:r>
            </a:p>
          </p:txBody>
        </p:sp>
        <p:sp>
          <p:nvSpPr>
            <p:cNvPr id="47" name="Line 50"/>
            <p:cNvSpPr>
              <a:spLocks noChangeShapeType="1"/>
            </p:cNvSpPr>
            <p:nvPr/>
          </p:nvSpPr>
          <p:spPr bwMode="auto">
            <a:xfrm flipV="1">
              <a:off x="2269770" y="2582210"/>
              <a:ext cx="236925" cy="3851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4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2660" y="1479079"/>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5252" y="2270186"/>
              <a:ext cx="447883" cy="565437"/>
            </a:xfrm>
            <a:prstGeom prst="rect">
              <a:avLst/>
            </a:prstGeom>
          </p:spPr>
        </p:pic>
        <p:pic>
          <p:nvPicPr>
            <p:cNvPr id="5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7366" y="1472987"/>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578" y="2270186"/>
              <a:ext cx="447883" cy="565437"/>
            </a:xfrm>
            <a:prstGeom prst="rect">
              <a:avLst/>
            </a:prstGeom>
          </p:spPr>
        </p:pic>
      </p:grpSp>
    </p:spTree>
    <p:extLst>
      <p:ext uri="{BB962C8B-B14F-4D97-AF65-F5344CB8AC3E}">
        <p14:creationId xmlns:p14="http://schemas.microsoft.com/office/powerpoint/2010/main" val="5630300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圆角矩形 3"/>
          <p:cNvSpPr/>
          <p:nvPr/>
        </p:nvSpPr>
        <p:spPr>
          <a:xfrm>
            <a:off x="512573" y="958746"/>
            <a:ext cx="8128800" cy="23853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Text Box 40"/>
          <p:cNvSpPr txBox="1">
            <a:spLocks noChangeArrowheads="1"/>
          </p:cNvSpPr>
          <p:nvPr/>
        </p:nvSpPr>
        <p:spPr bwMode="auto">
          <a:xfrm>
            <a:off x="983175" y="3371724"/>
            <a:ext cx="7159752" cy="707886"/>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400"/>
              </a:lnSpc>
            </a:pPr>
            <a:r>
              <a:rPr lang="zh-CN" altLang="en-US" b="1" dirty="0">
                <a:solidFill>
                  <a:schemeClr val="tx1"/>
                </a:solidFill>
                <a:latin typeface="微软雅黑" pitchFamily="34" charset="-122"/>
                <a:ea typeface="微软雅黑" pitchFamily="34" charset="-122"/>
              </a:rPr>
              <a:t>需要增加一种</a:t>
            </a:r>
            <a:r>
              <a:rPr lang="zh-CN" altLang="en-US" b="1" dirty="0">
                <a:solidFill>
                  <a:srgbClr val="C00000"/>
                </a:solidFill>
                <a:latin typeface="微软雅黑" pitchFamily="34" charset="-122"/>
                <a:ea typeface="微软雅黑" pitchFamily="34" charset="-122"/>
              </a:rPr>
              <a:t>分类</a:t>
            </a:r>
            <a:r>
              <a:rPr lang="zh-CN" altLang="en-US"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rPr>
              <a:t>(classification) </a:t>
            </a:r>
            <a:r>
              <a:rPr lang="zh-CN" altLang="en-US" b="1" dirty="0">
                <a:solidFill>
                  <a:schemeClr val="tx1"/>
                </a:solidFill>
                <a:latin typeface="微软雅黑" pitchFamily="34" charset="-122"/>
                <a:ea typeface="微软雅黑" pitchFamily="34" charset="-122"/>
              </a:rPr>
              <a:t>机制，即路由器</a:t>
            </a:r>
            <a:r>
              <a:rPr lang="zh-CN" altLang="en-US" b="1" dirty="0">
                <a:solidFill>
                  <a:srgbClr val="0000FF"/>
                </a:solidFill>
                <a:latin typeface="微软雅黑" pitchFamily="34" charset="-122"/>
                <a:ea typeface="微软雅黑" pitchFamily="34" charset="-122"/>
              </a:rPr>
              <a:t>根据某些准则</a:t>
            </a:r>
            <a:r>
              <a:rPr lang="zh-CN" altLang="en-US" b="1" dirty="0">
                <a:solidFill>
                  <a:schemeClr val="tx1"/>
                </a:solidFill>
                <a:latin typeface="微软雅黑" pitchFamily="34" charset="-122"/>
                <a:ea typeface="微软雅黑" pitchFamily="34" charset="-122"/>
              </a:rPr>
              <a:t>对输入分组进行分类，然后对不同类别的通信量给予不同的优先级。</a:t>
            </a:r>
          </a:p>
        </p:txBody>
      </p:sp>
      <p:sp>
        <p:nvSpPr>
          <p:cNvPr id="53" name="矩形 52"/>
          <p:cNvSpPr/>
          <p:nvPr/>
        </p:nvSpPr>
        <p:spPr>
          <a:xfrm>
            <a:off x="1005805" y="1000981"/>
            <a:ext cx="7241212" cy="338554"/>
          </a:xfrm>
          <a:prstGeom prst="rect">
            <a:avLst/>
          </a:prstGeom>
        </p:spPr>
        <p:txBody>
          <a:bodyPr wrap="square">
            <a:spAutoFit/>
          </a:bodyPr>
          <a:lstStyle/>
          <a:p>
            <a:pPr algn="ctr"/>
            <a:r>
              <a:rPr lang="zh-CN" altLang="en-US" sz="1600" b="1" dirty="0">
                <a:solidFill>
                  <a:srgbClr val="000099"/>
                </a:solidFill>
                <a:latin typeface="微软雅黑" pitchFamily="34" charset="-122"/>
                <a:ea typeface="微软雅黑" pitchFamily="34" charset="-122"/>
              </a:rPr>
              <a:t>一个 </a:t>
            </a:r>
            <a:r>
              <a:rPr lang="en-US" altLang="zh-CN" sz="1600" b="1" dirty="0">
                <a:solidFill>
                  <a:srgbClr val="000099"/>
                </a:solidFill>
                <a:latin typeface="微软雅黑" pitchFamily="34" charset="-122"/>
                <a:ea typeface="微软雅黑" pitchFamily="34" charset="-122"/>
              </a:rPr>
              <a:t>1 Mbit/s </a:t>
            </a:r>
            <a:r>
              <a:rPr lang="zh-CN" altLang="en-US" sz="1600" b="1" dirty="0">
                <a:solidFill>
                  <a:srgbClr val="000099"/>
                </a:solidFill>
                <a:latin typeface="微软雅黑" pitchFamily="34" charset="-122"/>
                <a:ea typeface="微软雅黑" pitchFamily="34" charset="-122"/>
              </a:rPr>
              <a:t>的实时音频数据和一个高优先级 </a:t>
            </a:r>
            <a:r>
              <a:rPr lang="en-US" altLang="zh-CN" sz="1600" b="1" dirty="0">
                <a:solidFill>
                  <a:srgbClr val="000099"/>
                </a:solidFill>
                <a:latin typeface="微软雅黑" pitchFamily="34" charset="-122"/>
                <a:ea typeface="微软雅黑" pitchFamily="34" charset="-122"/>
              </a:rPr>
              <a:t>FTP </a:t>
            </a:r>
            <a:r>
              <a:rPr lang="zh-CN" altLang="en-US" sz="1600" b="1" dirty="0">
                <a:solidFill>
                  <a:srgbClr val="000099"/>
                </a:solidFill>
                <a:latin typeface="微软雅黑" pitchFamily="34" charset="-122"/>
                <a:ea typeface="微软雅黑" pitchFamily="34" charset="-122"/>
              </a:rPr>
              <a:t>文件数据</a:t>
            </a:r>
          </a:p>
        </p:txBody>
      </p:sp>
      <p:grpSp>
        <p:nvGrpSpPr>
          <p:cNvPr id="55" name="组合 54"/>
          <p:cNvGrpSpPr/>
          <p:nvPr/>
        </p:nvGrpSpPr>
        <p:grpSpPr>
          <a:xfrm>
            <a:off x="1175657" y="1379654"/>
            <a:ext cx="6483478" cy="1861513"/>
            <a:chOff x="1175657" y="1379654"/>
            <a:chExt cx="6483478" cy="1861513"/>
          </a:xfrm>
        </p:grpSpPr>
        <p:sp>
          <p:nvSpPr>
            <p:cNvPr id="6" name="Line 4"/>
            <p:cNvSpPr>
              <a:spLocks noChangeShapeType="1"/>
            </p:cNvSpPr>
            <p:nvPr/>
          </p:nvSpPr>
          <p:spPr bwMode="auto">
            <a:xfrm rot="16200000" flipH="1">
              <a:off x="4603420" y="172032"/>
              <a:ext cx="0" cy="39570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 name="Line 5"/>
            <p:cNvSpPr>
              <a:spLocks noChangeShapeType="1"/>
            </p:cNvSpPr>
            <p:nvPr/>
          </p:nvSpPr>
          <p:spPr bwMode="auto">
            <a:xfrm flipH="1">
              <a:off x="6590197"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Line 6"/>
            <p:cNvSpPr>
              <a:spLocks noChangeShapeType="1"/>
            </p:cNvSpPr>
            <p:nvPr/>
          </p:nvSpPr>
          <p:spPr bwMode="auto">
            <a:xfrm rot="5400000" flipH="1">
              <a:off x="6779636" y="1474976"/>
              <a:ext cx="0" cy="37887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 name="Line 7"/>
            <p:cNvSpPr>
              <a:spLocks noChangeShapeType="1"/>
            </p:cNvSpPr>
            <p:nvPr/>
          </p:nvSpPr>
          <p:spPr bwMode="auto">
            <a:xfrm rot="5400000" flipH="1">
              <a:off x="6737825"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Text Box 8"/>
            <p:cNvSpPr txBox="1">
              <a:spLocks noChangeArrowheads="1"/>
            </p:cNvSpPr>
            <p:nvPr/>
          </p:nvSpPr>
          <p:spPr bwMode="auto">
            <a:xfrm>
              <a:off x="3925832" y="1836634"/>
              <a:ext cx="1526105" cy="2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11" name="Line 10"/>
            <p:cNvSpPr>
              <a:spLocks noChangeShapeType="1"/>
            </p:cNvSpPr>
            <p:nvPr/>
          </p:nvSpPr>
          <p:spPr bwMode="auto">
            <a:xfrm>
              <a:off x="2624901"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1"/>
            <p:cNvSpPr>
              <a:spLocks noChangeShapeType="1"/>
            </p:cNvSpPr>
            <p:nvPr/>
          </p:nvSpPr>
          <p:spPr bwMode="auto">
            <a:xfrm rot="16200000">
              <a:off x="2477274" y="1516787"/>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rot="16200000">
              <a:off x="2477274"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Text Box 14"/>
            <p:cNvSpPr txBox="1">
              <a:spLocks noChangeArrowheads="1"/>
            </p:cNvSpPr>
            <p:nvPr/>
          </p:nvSpPr>
          <p:spPr bwMode="auto">
            <a:xfrm>
              <a:off x="1639133" y="1379654"/>
              <a:ext cx="4585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p>
          </p:txBody>
        </p:sp>
        <p:sp>
          <p:nvSpPr>
            <p:cNvPr id="15" name="Text Box 15"/>
            <p:cNvSpPr txBox="1">
              <a:spLocks noChangeArrowheads="1"/>
            </p:cNvSpPr>
            <p:nvPr/>
          </p:nvSpPr>
          <p:spPr bwMode="auto">
            <a:xfrm>
              <a:off x="1567131" y="2188310"/>
              <a:ext cx="4850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16" name="Text Box 16"/>
            <p:cNvSpPr txBox="1">
              <a:spLocks noChangeArrowheads="1"/>
            </p:cNvSpPr>
            <p:nvPr/>
          </p:nvSpPr>
          <p:spPr bwMode="auto">
            <a:xfrm>
              <a:off x="7130438" y="1402467"/>
              <a:ext cx="5069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3</a:t>
              </a:r>
            </a:p>
          </p:txBody>
        </p:sp>
        <p:sp>
          <p:nvSpPr>
            <p:cNvPr id="17" name="Text Box 17"/>
            <p:cNvSpPr txBox="1">
              <a:spLocks noChangeArrowheads="1"/>
            </p:cNvSpPr>
            <p:nvPr/>
          </p:nvSpPr>
          <p:spPr bwMode="auto">
            <a:xfrm>
              <a:off x="7231611" y="2262253"/>
              <a:ext cx="4275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4</a:t>
              </a:r>
            </a:p>
          </p:txBody>
        </p:sp>
        <p:sp>
          <p:nvSpPr>
            <p:cNvPr id="18" name="Freeform 18"/>
            <p:cNvSpPr>
              <a:spLocks/>
            </p:cNvSpPr>
            <p:nvPr/>
          </p:nvSpPr>
          <p:spPr bwMode="auto">
            <a:xfrm flipV="1">
              <a:off x="6116344" y="1716332"/>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Freeform 19"/>
            <p:cNvSpPr>
              <a:spLocks/>
            </p:cNvSpPr>
            <p:nvPr/>
          </p:nvSpPr>
          <p:spPr bwMode="auto">
            <a:xfrm>
              <a:off x="6116344"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Text Box 20"/>
            <p:cNvSpPr txBox="1">
              <a:spLocks noChangeArrowheads="1"/>
            </p:cNvSpPr>
            <p:nvPr/>
          </p:nvSpPr>
          <p:spPr bwMode="auto">
            <a:xfrm>
              <a:off x="5664124" y="1769916"/>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p>
          </p:txBody>
        </p:sp>
        <p:sp>
          <p:nvSpPr>
            <p:cNvPr id="21" name="Text Box 21"/>
            <p:cNvSpPr txBox="1">
              <a:spLocks noChangeArrowheads="1"/>
            </p:cNvSpPr>
            <p:nvPr/>
          </p:nvSpPr>
          <p:spPr bwMode="auto">
            <a:xfrm>
              <a:off x="3116258" y="1769129"/>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22" name="Freeform 22"/>
            <p:cNvSpPr>
              <a:spLocks/>
            </p:cNvSpPr>
            <p:nvPr/>
          </p:nvSpPr>
          <p:spPr bwMode="auto">
            <a:xfrm>
              <a:off x="3276320" y="2701979"/>
              <a:ext cx="710264" cy="207670"/>
            </a:xfrm>
            <a:custGeom>
              <a:avLst/>
              <a:gdLst>
                <a:gd name="T0" fmla="*/ 0 w 576"/>
                <a:gd name="T1" fmla="*/ 0 h 192"/>
                <a:gd name="T2" fmla="*/ 576 w 576"/>
                <a:gd name="T3" fmla="*/ 0 h 192"/>
                <a:gd name="T4" fmla="*/ 576 w 576"/>
                <a:gd name="T5" fmla="*/ 192 h 192"/>
                <a:gd name="T6" fmla="*/ 0 w 576"/>
                <a:gd name="T7" fmla="*/ 192 h 192"/>
              </a:gdLst>
              <a:ahLst/>
              <a:cxnLst>
                <a:cxn ang="0">
                  <a:pos x="T0" y="T1"/>
                </a:cxn>
                <a:cxn ang="0">
                  <a:pos x="T2" y="T3"/>
                </a:cxn>
                <a:cxn ang="0">
                  <a:pos x="T4" y="T5"/>
                </a:cxn>
                <a:cxn ang="0">
                  <a:pos x="T6" y="T7"/>
                </a:cxn>
              </a:cxnLst>
              <a:rect l="0" t="0" r="r" b="b"/>
              <a:pathLst>
                <a:path w="576" h="192">
                  <a:moveTo>
                    <a:pt x="0" y="0"/>
                  </a:moveTo>
                  <a:lnTo>
                    <a:pt x="576" y="0"/>
                  </a:lnTo>
                  <a:lnTo>
                    <a:pt x="576" y="192"/>
                  </a:lnTo>
                  <a:lnTo>
                    <a:pt x="0" y="192"/>
                  </a:lnTo>
                </a:path>
              </a:pathLst>
            </a:custGeom>
            <a:noFill/>
            <a:ln w="19050" cmpd="sng">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3"/>
            <p:cNvSpPr>
              <a:spLocks noChangeShapeType="1"/>
            </p:cNvSpPr>
            <p:nvPr/>
          </p:nvSpPr>
          <p:spPr bwMode="auto">
            <a:xfrm>
              <a:off x="392670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4"/>
            <p:cNvSpPr>
              <a:spLocks noChangeShapeType="1"/>
            </p:cNvSpPr>
            <p:nvPr/>
          </p:nvSpPr>
          <p:spPr bwMode="auto">
            <a:xfrm>
              <a:off x="3867863"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5"/>
            <p:cNvSpPr>
              <a:spLocks noChangeShapeType="1"/>
            </p:cNvSpPr>
            <p:nvPr/>
          </p:nvSpPr>
          <p:spPr bwMode="auto">
            <a:xfrm>
              <a:off x="3809018"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6"/>
            <p:cNvSpPr>
              <a:spLocks noChangeShapeType="1"/>
            </p:cNvSpPr>
            <p:nvPr/>
          </p:nvSpPr>
          <p:spPr bwMode="auto">
            <a:xfrm>
              <a:off x="3749141"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7"/>
            <p:cNvSpPr>
              <a:spLocks noChangeShapeType="1"/>
            </p:cNvSpPr>
            <p:nvPr/>
          </p:nvSpPr>
          <p:spPr bwMode="auto">
            <a:xfrm>
              <a:off x="369029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8"/>
            <p:cNvSpPr>
              <a:spLocks noChangeShapeType="1"/>
            </p:cNvSpPr>
            <p:nvPr/>
          </p:nvSpPr>
          <p:spPr bwMode="auto">
            <a:xfrm>
              <a:off x="3631452"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9"/>
            <p:cNvSpPr>
              <a:spLocks noChangeShapeType="1"/>
            </p:cNvSpPr>
            <p:nvPr/>
          </p:nvSpPr>
          <p:spPr bwMode="auto">
            <a:xfrm>
              <a:off x="3571575"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30"/>
            <p:cNvSpPr txBox="1">
              <a:spLocks noChangeArrowheads="1"/>
            </p:cNvSpPr>
            <p:nvPr/>
          </p:nvSpPr>
          <p:spPr bwMode="auto">
            <a:xfrm>
              <a:off x="2699410" y="2547991"/>
              <a:ext cx="405807" cy="43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31" name="Line 31"/>
            <p:cNvSpPr>
              <a:spLocks noChangeShapeType="1"/>
            </p:cNvSpPr>
            <p:nvPr/>
          </p:nvSpPr>
          <p:spPr bwMode="auto">
            <a:xfrm flipV="1">
              <a:off x="3019262" y="2840426"/>
              <a:ext cx="345841" cy="4326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32"/>
            <p:cNvSpPr>
              <a:spLocks noChangeShapeType="1"/>
            </p:cNvSpPr>
            <p:nvPr/>
          </p:nvSpPr>
          <p:spPr bwMode="auto">
            <a:xfrm>
              <a:off x="3019262" y="2736591"/>
              <a:ext cx="345841" cy="43264"/>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3"/>
            <p:cNvSpPr>
              <a:spLocks noChangeShapeType="1"/>
            </p:cNvSpPr>
            <p:nvPr/>
          </p:nvSpPr>
          <p:spPr bwMode="auto">
            <a:xfrm>
              <a:off x="3986584" y="2805815"/>
              <a:ext cx="515085" cy="0"/>
            </a:xfrm>
            <a:prstGeom prst="line">
              <a:avLst/>
            </a:prstGeom>
            <a:noFill/>
            <a:ln w="28575">
              <a:solidFill>
                <a:srgbClr val="7030A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Text Box 34"/>
            <p:cNvSpPr txBox="1">
              <a:spLocks noChangeArrowheads="1"/>
            </p:cNvSpPr>
            <p:nvPr/>
          </p:nvSpPr>
          <p:spPr bwMode="auto">
            <a:xfrm>
              <a:off x="3995155" y="2522115"/>
              <a:ext cx="1526105"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35" name="Rectangle 35"/>
            <p:cNvSpPr>
              <a:spLocks noChangeArrowheads="1"/>
            </p:cNvSpPr>
            <p:nvPr/>
          </p:nvSpPr>
          <p:spPr bwMode="auto">
            <a:xfrm>
              <a:off x="3372330" y="2137966"/>
              <a:ext cx="117689" cy="5191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6"/>
            <p:cNvSpPr>
              <a:spLocks noChangeShapeType="1"/>
            </p:cNvSpPr>
            <p:nvPr/>
          </p:nvSpPr>
          <p:spPr bwMode="auto">
            <a:xfrm>
              <a:off x="3482792" y="2189883"/>
              <a:ext cx="511019" cy="51838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37"/>
            <p:cNvSpPr>
              <a:spLocks noChangeShapeType="1"/>
            </p:cNvSpPr>
            <p:nvPr/>
          </p:nvSpPr>
          <p:spPr bwMode="auto">
            <a:xfrm flipH="1">
              <a:off x="3283546" y="2137477"/>
              <a:ext cx="160670" cy="57079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40"/>
            <p:cNvSpPr txBox="1">
              <a:spLocks noChangeArrowheads="1"/>
            </p:cNvSpPr>
            <p:nvPr/>
          </p:nvSpPr>
          <p:spPr bwMode="auto">
            <a:xfrm>
              <a:off x="3200865" y="2899927"/>
              <a:ext cx="902649"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输出队列</a:t>
              </a:r>
            </a:p>
          </p:txBody>
        </p:sp>
        <p:sp>
          <p:nvSpPr>
            <p:cNvPr id="39" name="AutoShape 41"/>
            <p:cNvSpPr>
              <a:spLocks noChangeArrowheads="1"/>
            </p:cNvSpPr>
            <p:nvPr/>
          </p:nvSpPr>
          <p:spPr bwMode="auto">
            <a:xfrm rot="16200000">
              <a:off x="4534468" y="878683"/>
              <a:ext cx="103835" cy="2543736"/>
            </a:xfrm>
            <a:prstGeom prst="can">
              <a:avLst>
                <a:gd name="adj" fmla="val 60580"/>
              </a:avLst>
            </a:prstGeom>
            <a:gradFill rotWithShape="0">
              <a:gsLst>
                <a:gs pos="0">
                  <a:srgbClr val="00B050"/>
                </a:gs>
                <a:gs pos="50000">
                  <a:srgbClr val="66FFFF"/>
                </a:gs>
                <a:gs pos="100000">
                  <a:srgbClr val="00B050"/>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pic>
          <p:nvPicPr>
            <p:cNvPr id="4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3584" y="2027051"/>
              <a:ext cx="472821"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8878" y="2027051"/>
              <a:ext cx="473854"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Freeform 44"/>
            <p:cNvSpPr>
              <a:spLocks/>
            </p:cNvSpPr>
            <p:nvPr/>
          </p:nvSpPr>
          <p:spPr bwMode="auto">
            <a:xfrm>
              <a:off x="2388490" y="1707679"/>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Freeform 45"/>
            <p:cNvSpPr>
              <a:spLocks/>
            </p:cNvSpPr>
            <p:nvPr/>
          </p:nvSpPr>
          <p:spPr bwMode="auto">
            <a:xfrm flipV="1">
              <a:off x="2388490"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Text Box 47"/>
            <p:cNvSpPr txBox="1">
              <a:spLocks noChangeArrowheads="1"/>
            </p:cNvSpPr>
            <p:nvPr/>
          </p:nvSpPr>
          <p:spPr bwMode="auto">
            <a:xfrm>
              <a:off x="3034748" y="1443180"/>
              <a:ext cx="23150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1 Mbit/s </a:t>
              </a:r>
              <a:r>
                <a:rPr lang="zh-CN" altLang="en-US" sz="1400" b="1" dirty="0">
                  <a:solidFill>
                    <a:srgbClr val="CC00CC"/>
                  </a:solidFill>
                  <a:latin typeface="微软雅黑" pitchFamily="34" charset="-122"/>
                  <a:ea typeface="微软雅黑" pitchFamily="34" charset="-122"/>
                </a:rPr>
                <a:t>的实时音频数据 </a:t>
              </a:r>
            </a:p>
          </p:txBody>
        </p:sp>
        <p:sp>
          <p:nvSpPr>
            <p:cNvPr id="45" name="Line 48"/>
            <p:cNvSpPr>
              <a:spLocks noChangeShapeType="1"/>
            </p:cNvSpPr>
            <p:nvPr/>
          </p:nvSpPr>
          <p:spPr bwMode="auto">
            <a:xfrm flipH="1">
              <a:off x="2766334" y="1676999"/>
              <a:ext cx="384038" cy="1840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Text Box 49"/>
            <p:cNvSpPr txBox="1">
              <a:spLocks noChangeArrowheads="1"/>
            </p:cNvSpPr>
            <p:nvPr/>
          </p:nvSpPr>
          <p:spPr bwMode="auto">
            <a:xfrm>
              <a:off x="1175657" y="2933390"/>
              <a:ext cx="2293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C00000"/>
                  </a:solidFill>
                  <a:latin typeface="微软雅黑" pitchFamily="34" charset="-122"/>
                  <a:ea typeface="微软雅黑" pitchFamily="34" charset="-122"/>
                </a:rPr>
                <a:t>高优先级 </a:t>
              </a:r>
              <a:r>
                <a:rPr lang="en-US" altLang="zh-CN" sz="1400" b="1" dirty="0">
                  <a:solidFill>
                    <a:srgbClr val="0000FF"/>
                  </a:solidFill>
                  <a:latin typeface="微软雅黑" pitchFamily="34" charset="-122"/>
                  <a:ea typeface="微软雅黑" pitchFamily="34" charset="-122"/>
                </a:rPr>
                <a:t>FTP </a:t>
              </a:r>
              <a:r>
                <a:rPr lang="zh-CN" altLang="en-US" sz="1400" b="1" dirty="0">
                  <a:solidFill>
                    <a:srgbClr val="0000FF"/>
                  </a:solidFill>
                  <a:latin typeface="微软雅黑" pitchFamily="34" charset="-122"/>
                  <a:ea typeface="微软雅黑" pitchFamily="34" charset="-122"/>
                </a:rPr>
                <a:t>文件数据 </a:t>
              </a:r>
            </a:p>
          </p:txBody>
        </p:sp>
        <p:sp>
          <p:nvSpPr>
            <p:cNvPr id="47" name="Line 50"/>
            <p:cNvSpPr>
              <a:spLocks noChangeShapeType="1"/>
            </p:cNvSpPr>
            <p:nvPr/>
          </p:nvSpPr>
          <p:spPr bwMode="auto">
            <a:xfrm flipV="1">
              <a:off x="2269770" y="2582210"/>
              <a:ext cx="236925" cy="3851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4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2660" y="1479079"/>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5252" y="2270186"/>
              <a:ext cx="447883" cy="565437"/>
            </a:xfrm>
            <a:prstGeom prst="rect">
              <a:avLst/>
            </a:prstGeom>
          </p:spPr>
        </p:pic>
        <p:pic>
          <p:nvPicPr>
            <p:cNvPr id="5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7366" y="1472987"/>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578" y="2270186"/>
              <a:ext cx="447883" cy="565437"/>
            </a:xfrm>
            <a:prstGeom prst="rect">
              <a:avLst/>
            </a:prstGeom>
          </p:spPr>
        </p:pic>
      </p:grpSp>
      <p:sp>
        <p:nvSpPr>
          <p:cNvPr id="56"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spTree>
    <p:extLst>
      <p:ext uri="{BB962C8B-B14F-4D97-AF65-F5344CB8AC3E}">
        <p14:creationId xmlns:p14="http://schemas.microsoft.com/office/powerpoint/2010/main" val="21796284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圆角矩形 3"/>
          <p:cNvSpPr/>
          <p:nvPr/>
        </p:nvSpPr>
        <p:spPr>
          <a:xfrm>
            <a:off x="512573" y="958746"/>
            <a:ext cx="8128800" cy="23853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Text Box 40"/>
          <p:cNvSpPr txBox="1">
            <a:spLocks noChangeArrowheads="1"/>
          </p:cNvSpPr>
          <p:nvPr/>
        </p:nvSpPr>
        <p:spPr bwMode="auto">
          <a:xfrm>
            <a:off x="983175" y="3371724"/>
            <a:ext cx="7159752" cy="132343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lnSpc>
                <a:spcPts val="2400"/>
              </a:lnSpc>
              <a:buFont typeface="Wingdings" panose="05000000000000000000" pitchFamily="2" charset="2"/>
              <a:buChar char="l"/>
            </a:pPr>
            <a:r>
              <a:rPr lang="zh-CN" altLang="en-US" b="1" dirty="0">
                <a:solidFill>
                  <a:schemeClr val="tx1"/>
                </a:solidFill>
                <a:latin typeface="微软雅黑" pitchFamily="34" charset="-122"/>
                <a:ea typeface="微软雅黑" pitchFamily="34" charset="-122"/>
              </a:rPr>
              <a:t>路由器应能对数据流进行通信量的</a:t>
            </a:r>
            <a:r>
              <a:rPr lang="zh-CN" altLang="en-US" b="1" dirty="0">
                <a:solidFill>
                  <a:srgbClr val="C00000"/>
                </a:solidFill>
                <a:latin typeface="微软雅黑" pitchFamily="34" charset="-122"/>
                <a:ea typeface="微软雅黑" pitchFamily="34" charset="-122"/>
              </a:rPr>
              <a:t>管制</a:t>
            </a:r>
            <a:r>
              <a:rPr lang="zh-CN" altLang="en-US"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rPr>
              <a:t>(policing)</a:t>
            </a:r>
            <a:r>
              <a:rPr lang="zh-CN" altLang="en-US" b="1" dirty="0">
                <a:solidFill>
                  <a:schemeClr val="tx1"/>
                </a:solidFill>
                <a:latin typeface="微软雅黑" pitchFamily="34" charset="-122"/>
                <a:ea typeface="微软雅黑" pitchFamily="34" charset="-122"/>
              </a:rPr>
              <a:t>，使该数据流不影响其他正常数据流在网络中通过。</a:t>
            </a:r>
            <a:endParaRPr lang="en-US" altLang="zh-CN" b="1" dirty="0">
              <a:solidFill>
                <a:schemeClr val="tx1"/>
              </a:solidFill>
              <a:latin typeface="微软雅黑" pitchFamily="34" charset="-122"/>
              <a:ea typeface="微软雅黑" pitchFamily="34" charset="-122"/>
            </a:endParaRPr>
          </a:p>
          <a:p>
            <a:pPr marL="285750" indent="-285750">
              <a:lnSpc>
                <a:spcPts val="2400"/>
              </a:lnSpc>
              <a:buFont typeface="Wingdings" panose="05000000000000000000" pitchFamily="2" charset="2"/>
              <a:buChar char="l"/>
            </a:pPr>
            <a:r>
              <a:rPr lang="zh-CN" altLang="en-US" b="1" dirty="0">
                <a:solidFill>
                  <a:schemeClr val="tx1"/>
                </a:solidFill>
                <a:latin typeface="微软雅黑" pitchFamily="34" charset="-122"/>
                <a:ea typeface="微软雅黑" pitchFamily="34" charset="-122"/>
              </a:rPr>
              <a:t>应在路由器中再增加一种</a:t>
            </a:r>
            <a:r>
              <a:rPr lang="zh-CN" altLang="en-US" b="1" dirty="0">
                <a:solidFill>
                  <a:srgbClr val="C00000"/>
                </a:solidFill>
                <a:latin typeface="微软雅黑" pitchFamily="34" charset="-122"/>
                <a:ea typeface="微软雅黑" pitchFamily="34" charset="-122"/>
              </a:rPr>
              <a:t>调度</a:t>
            </a:r>
            <a:r>
              <a:rPr lang="zh-CN" altLang="en-US"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rPr>
              <a:t>(scheduling) </a:t>
            </a:r>
            <a:r>
              <a:rPr lang="zh-CN" altLang="en-US" b="1" dirty="0">
                <a:solidFill>
                  <a:schemeClr val="tx1"/>
                </a:solidFill>
                <a:latin typeface="微软雅黑" pitchFamily="34" charset="-122"/>
                <a:ea typeface="微软雅黑" pitchFamily="34" charset="-122"/>
              </a:rPr>
              <a:t>机制，更加合理地分配和利用网络资源。</a:t>
            </a:r>
          </a:p>
        </p:txBody>
      </p:sp>
      <p:sp>
        <p:nvSpPr>
          <p:cNvPr id="53" name="矩形 52"/>
          <p:cNvSpPr/>
          <p:nvPr/>
        </p:nvSpPr>
        <p:spPr>
          <a:xfrm>
            <a:off x="1005805" y="1000981"/>
            <a:ext cx="7241212" cy="338554"/>
          </a:xfrm>
          <a:prstGeom prst="rect">
            <a:avLst/>
          </a:prstGeom>
        </p:spPr>
        <p:txBody>
          <a:bodyPr wrap="square">
            <a:spAutoFit/>
          </a:bodyPr>
          <a:lstStyle/>
          <a:p>
            <a:pPr algn="ctr"/>
            <a:r>
              <a:rPr lang="zh-CN" altLang="en-US" sz="1600" b="1" dirty="0">
                <a:solidFill>
                  <a:srgbClr val="000099"/>
                </a:solidFill>
                <a:latin typeface="微软雅黑" pitchFamily="34" charset="-122"/>
                <a:ea typeface="微软雅黑" pitchFamily="34" charset="-122"/>
              </a:rPr>
              <a:t>一个数据率异常的实时音频数据和一个 </a:t>
            </a:r>
            <a:r>
              <a:rPr lang="en-US" altLang="zh-CN" sz="1600" b="1" dirty="0">
                <a:solidFill>
                  <a:srgbClr val="000099"/>
                </a:solidFill>
                <a:latin typeface="微软雅黑" pitchFamily="34" charset="-122"/>
                <a:ea typeface="微软雅黑" pitchFamily="34" charset="-122"/>
              </a:rPr>
              <a:t>FTP </a:t>
            </a:r>
            <a:r>
              <a:rPr lang="zh-CN" altLang="en-US" sz="1600" b="1" dirty="0">
                <a:solidFill>
                  <a:srgbClr val="000099"/>
                </a:solidFill>
                <a:latin typeface="微软雅黑" pitchFamily="34" charset="-122"/>
                <a:ea typeface="微软雅黑" pitchFamily="34" charset="-122"/>
              </a:rPr>
              <a:t>文件数据</a:t>
            </a:r>
          </a:p>
        </p:txBody>
      </p:sp>
      <p:grpSp>
        <p:nvGrpSpPr>
          <p:cNvPr id="55" name="组合 54"/>
          <p:cNvGrpSpPr/>
          <p:nvPr/>
        </p:nvGrpSpPr>
        <p:grpSpPr>
          <a:xfrm>
            <a:off x="1410789" y="1379654"/>
            <a:ext cx="6248346" cy="1861513"/>
            <a:chOff x="1410789" y="1379654"/>
            <a:chExt cx="6248346" cy="1861513"/>
          </a:xfrm>
        </p:grpSpPr>
        <p:sp>
          <p:nvSpPr>
            <p:cNvPr id="6" name="Line 4"/>
            <p:cNvSpPr>
              <a:spLocks noChangeShapeType="1"/>
            </p:cNvSpPr>
            <p:nvPr/>
          </p:nvSpPr>
          <p:spPr bwMode="auto">
            <a:xfrm rot="16200000" flipH="1">
              <a:off x="4603420" y="172032"/>
              <a:ext cx="0" cy="39570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 name="Line 5"/>
            <p:cNvSpPr>
              <a:spLocks noChangeShapeType="1"/>
            </p:cNvSpPr>
            <p:nvPr/>
          </p:nvSpPr>
          <p:spPr bwMode="auto">
            <a:xfrm flipH="1">
              <a:off x="6590197"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Line 6"/>
            <p:cNvSpPr>
              <a:spLocks noChangeShapeType="1"/>
            </p:cNvSpPr>
            <p:nvPr/>
          </p:nvSpPr>
          <p:spPr bwMode="auto">
            <a:xfrm rot="5400000" flipH="1">
              <a:off x="6779636" y="1474976"/>
              <a:ext cx="0" cy="37887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 name="Line 7"/>
            <p:cNvSpPr>
              <a:spLocks noChangeShapeType="1"/>
            </p:cNvSpPr>
            <p:nvPr/>
          </p:nvSpPr>
          <p:spPr bwMode="auto">
            <a:xfrm rot="5400000" flipH="1">
              <a:off x="6737825"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Text Box 8"/>
            <p:cNvSpPr txBox="1">
              <a:spLocks noChangeArrowheads="1"/>
            </p:cNvSpPr>
            <p:nvPr/>
          </p:nvSpPr>
          <p:spPr bwMode="auto">
            <a:xfrm>
              <a:off x="3925832" y="1836634"/>
              <a:ext cx="1526105" cy="2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11" name="Line 10"/>
            <p:cNvSpPr>
              <a:spLocks noChangeShapeType="1"/>
            </p:cNvSpPr>
            <p:nvPr/>
          </p:nvSpPr>
          <p:spPr bwMode="auto">
            <a:xfrm>
              <a:off x="2624901"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1"/>
            <p:cNvSpPr>
              <a:spLocks noChangeShapeType="1"/>
            </p:cNvSpPr>
            <p:nvPr/>
          </p:nvSpPr>
          <p:spPr bwMode="auto">
            <a:xfrm rot="16200000">
              <a:off x="2477274" y="1516787"/>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rot="16200000">
              <a:off x="2477274"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Text Box 14"/>
            <p:cNvSpPr txBox="1">
              <a:spLocks noChangeArrowheads="1"/>
            </p:cNvSpPr>
            <p:nvPr/>
          </p:nvSpPr>
          <p:spPr bwMode="auto">
            <a:xfrm>
              <a:off x="1639133" y="1379654"/>
              <a:ext cx="4585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p>
          </p:txBody>
        </p:sp>
        <p:sp>
          <p:nvSpPr>
            <p:cNvPr id="15" name="Text Box 15"/>
            <p:cNvSpPr txBox="1">
              <a:spLocks noChangeArrowheads="1"/>
            </p:cNvSpPr>
            <p:nvPr/>
          </p:nvSpPr>
          <p:spPr bwMode="auto">
            <a:xfrm>
              <a:off x="1567131" y="2188310"/>
              <a:ext cx="4850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16" name="Text Box 16"/>
            <p:cNvSpPr txBox="1">
              <a:spLocks noChangeArrowheads="1"/>
            </p:cNvSpPr>
            <p:nvPr/>
          </p:nvSpPr>
          <p:spPr bwMode="auto">
            <a:xfrm>
              <a:off x="7130438" y="1402467"/>
              <a:ext cx="5069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3</a:t>
              </a:r>
            </a:p>
          </p:txBody>
        </p:sp>
        <p:sp>
          <p:nvSpPr>
            <p:cNvPr id="17" name="Text Box 17"/>
            <p:cNvSpPr txBox="1">
              <a:spLocks noChangeArrowheads="1"/>
            </p:cNvSpPr>
            <p:nvPr/>
          </p:nvSpPr>
          <p:spPr bwMode="auto">
            <a:xfrm>
              <a:off x="7231611" y="2262253"/>
              <a:ext cx="4275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4</a:t>
              </a:r>
            </a:p>
          </p:txBody>
        </p:sp>
        <p:sp>
          <p:nvSpPr>
            <p:cNvPr id="18" name="Freeform 18"/>
            <p:cNvSpPr>
              <a:spLocks/>
            </p:cNvSpPr>
            <p:nvPr/>
          </p:nvSpPr>
          <p:spPr bwMode="auto">
            <a:xfrm flipV="1">
              <a:off x="6116344" y="1716332"/>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Freeform 19"/>
            <p:cNvSpPr>
              <a:spLocks/>
            </p:cNvSpPr>
            <p:nvPr/>
          </p:nvSpPr>
          <p:spPr bwMode="auto">
            <a:xfrm>
              <a:off x="6116344"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Text Box 20"/>
            <p:cNvSpPr txBox="1">
              <a:spLocks noChangeArrowheads="1"/>
            </p:cNvSpPr>
            <p:nvPr/>
          </p:nvSpPr>
          <p:spPr bwMode="auto">
            <a:xfrm>
              <a:off x="5664124" y="1769916"/>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p>
          </p:txBody>
        </p:sp>
        <p:sp>
          <p:nvSpPr>
            <p:cNvPr id="21" name="Text Box 21"/>
            <p:cNvSpPr txBox="1">
              <a:spLocks noChangeArrowheads="1"/>
            </p:cNvSpPr>
            <p:nvPr/>
          </p:nvSpPr>
          <p:spPr bwMode="auto">
            <a:xfrm>
              <a:off x="3116258" y="1769129"/>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22" name="Freeform 22"/>
            <p:cNvSpPr>
              <a:spLocks/>
            </p:cNvSpPr>
            <p:nvPr/>
          </p:nvSpPr>
          <p:spPr bwMode="auto">
            <a:xfrm>
              <a:off x="3276320" y="2701979"/>
              <a:ext cx="710264" cy="207670"/>
            </a:xfrm>
            <a:custGeom>
              <a:avLst/>
              <a:gdLst>
                <a:gd name="T0" fmla="*/ 0 w 576"/>
                <a:gd name="T1" fmla="*/ 0 h 192"/>
                <a:gd name="T2" fmla="*/ 576 w 576"/>
                <a:gd name="T3" fmla="*/ 0 h 192"/>
                <a:gd name="T4" fmla="*/ 576 w 576"/>
                <a:gd name="T5" fmla="*/ 192 h 192"/>
                <a:gd name="T6" fmla="*/ 0 w 576"/>
                <a:gd name="T7" fmla="*/ 192 h 192"/>
              </a:gdLst>
              <a:ahLst/>
              <a:cxnLst>
                <a:cxn ang="0">
                  <a:pos x="T0" y="T1"/>
                </a:cxn>
                <a:cxn ang="0">
                  <a:pos x="T2" y="T3"/>
                </a:cxn>
                <a:cxn ang="0">
                  <a:pos x="T4" y="T5"/>
                </a:cxn>
                <a:cxn ang="0">
                  <a:pos x="T6" y="T7"/>
                </a:cxn>
              </a:cxnLst>
              <a:rect l="0" t="0" r="r" b="b"/>
              <a:pathLst>
                <a:path w="576" h="192">
                  <a:moveTo>
                    <a:pt x="0" y="0"/>
                  </a:moveTo>
                  <a:lnTo>
                    <a:pt x="576" y="0"/>
                  </a:lnTo>
                  <a:lnTo>
                    <a:pt x="576" y="192"/>
                  </a:lnTo>
                  <a:lnTo>
                    <a:pt x="0" y="192"/>
                  </a:lnTo>
                </a:path>
              </a:pathLst>
            </a:custGeom>
            <a:noFill/>
            <a:ln w="19050" cmpd="sng">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3"/>
            <p:cNvSpPr>
              <a:spLocks noChangeShapeType="1"/>
            </p:cNvSpPr>
            <p:nvPr/>
          </p:nvSpPr>
          <p:spPr bwMode="auto">
            <a:xfrm>
              <a:off x="392670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4"/>
            <p:cNvSpPr>
              <a:spLocks noChangeShapeType="1"/>
            </p:cNvSpPr>
            <p:nvPr/>
          </p:nvSpPr>
          <p:spPr bwMode="auto">
            <a:xfrm>
              <a:off x="3867863"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5"/>
            <p:cNvSpPr>
              <a:spLocks noChangeShapeType="1"/>
            </p:cNvSpPr>
            <p:nvPr/>
          </p:nvSpPr>
          <p:spPr bwMode="auto">
            <a:xfrm>
              <a:off x="3809018"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6"/>
            <p:cNvSpPr>
              <a:spLocks noChangeShapeType="1"/>
            </p:cNvSpPr>
            <p:nvPr/>
          </p:nvSpPr>
          <p:spPr bwMode="auto">
            <a:xfrm>
              <a:off x="3749141"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7"/>
            <p:cNvSpPr>
              <a:spLocks noChangeShapeType="1"/>
            </p:cNvSpPr>
            <p:nvPr/>
          </p:nvSpPr>
          <p:spPr bwMode="auto">
            <a:xfrm>
              <a:off x="369029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8"/>
            <p:cNvSpPr>
              <a:spLocks noChangeShapeType="1"/>
            </p:cNvSpPr>
            <p:nvPr/>
          </p:nvSpPr>
          <p:spPr bwMode="auto">
            <a:xfrm>
              <a:off x="3631452"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9"/>
            <p:cNvSpPr>
              <a:spLocks noChangeShapeType="1"/>
            </p:cNvSpPr>
            <p:nvPr/>
          </p:nvSpPr>
          <p:spPr bwMode="auto">
            <a:xfrm>
              <a:off x="3571575"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30"/>
            <p:cNvSpPr txBox="1">
              <a:spLocks noChangeArrowheads="1"/>
            </p:cNvSpPr>
            <p:nvPr/>
          </p:nvSpPr>
          <p:spPr bwMode="auto">
            <a:xfrm>
              <a:off x="2699410" y="2547991"/>
              <a:ext cx="405807" cy="43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31" name="Line 31"/>
            <p:cNvSpPr>
              <a:spLocks noChangeShapeType="1"/>
            </p:cNvSpPr>
            <p:nvPr/>
          </p:nvSpPr>
          <p:spPr bwMode="auto">
            <a:xfrm flipV="1">
              <a:off x="3019262" y="2840426"/>
              <a:ext cx="345841" cy="4326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32"/>
            <p:cNvSpPr>
              <a:spLocks noChangeShapeType="1"/>
            </p:cNvSpPr>
            <p:nvPr/>
          </p:nvSpPr>
          <p:spPr bwMode="auto">
            <a:xfrm>
              <a:off x="3019262" y="2736591"/>
              <a:ext cx="345841" cy="43264"/>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3"/>
            <p:cNvSpPr>
              <a:spLocks noChangeShapeType="1"/>
            </p:cNvSpPr>
            <p:nvPr/>
          </p:nvSpPr>
          <p:spPr bwMode="auto">
            <a:xfrm>
              <a:off x="3986584" y="2805815"/>
              <a:ext cx="515085" cy="0"/>
            </a:xfrm>
            <a:prstGeom prst="line">
              <a:avLst/>
            </a:prstGeom>
            <a:noFill/>
            <a:ln w="28575">
              <a:solidFill>
                <a:srgbClr val="7030A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Text Box 34"/>
            <p:cNvSpPr txBox="1">
              <a:spLocks noChangeArrowheads="1"/>
            </p:cNvSpPr>
            <p:nvPr/>
          </p:nvSpPr>
          <p:spPr bwMode="auto">
            <a:xfrm>
              <a:off x="3995155" y="2522115"/>
              <a:ext cx="1526105"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35" name="Rectangle 35"/>
            <p:cNvSpPr>
              <a:spLocks noChangeArrowheads="1"/>
            </p:cNvSpPr>
            <p:nvPr/>
          </p:nvSpPr>
          <p:spPr bwMode="auto">
            <a:xfrm>
              <a:off x="3372330" y="2137966"/>
              <a:ext cx="117689" cy="5191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6"/>
            <p:cNvSpPr>
              <a:spLocks noChangeShapeType="1"/>
            </p:cNvSpPr>
            <p:nvPr/>
          </p:nvSpPr>
          <p:spPr bwMode="auto">
            <a:xfrm>
              <a:off x="3482792" y="2189883"/>
              <a:ext cx="511019" cy="51838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37"/>
            <p:cNvSpPr>
              <a:spLocks noChangeShapeType="1"/>
            </p:cNvSpPr>
            <p:nvPr/>
          </p:nvSpPr>
          <p:spPr bwMode="auto">
            <a:xfrm flipH="1">
              <a:off x="3283546" y="2137477"/>
              <a:ext cx="160670" cy="57079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40"/>
            <p:cNvSpPr txBox="1">
              <a:spLocks noChangeArrowheads="1"/>
            </p:cNvSpPr>
            <p:nvPr/>
          </p:nvSpPr>
          <p:spPr bwMode="auto">
            <a:xfrm>
              <a:off x="3200865" y="2899927"/>
              <a:ext cx="902649"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输出队列</a:t>
              </a:r>
            </a:p>
          </p:txBody>
        </p:sp>
        <p:sp>
          <p:nvSpPr>
            <p:cNvPr id="39" name="AutoShape 41"/>
            <p:cNvSpPr>
              <a:spLocks noChangeArrowheads="1"/>
            </p:cNvSpPr>
            <p:nvPr/>
          </p:nvSpPr>
          <p:spPr bwMode="auto">
            <a:xfrm rot="16200000">
              <a:off x="4534468" y="878683"/>
              <a:ext cx="103835" cy="2543736"/>
            </a:xfrm>
            <a:prstGeom prst="can">
              <a:avLst>
                <a:gd name="adj" fmla="val 60580"/>
              </a:avLst>
            </a:prstGeom>
            <a:gradFill rotWithShape="0">
              <a:gsLst>
                <a:gs pos="0">
                  <a:srgbClr val="00B050"/>
                </a:gs>
                <a:gs pos="50000">
                  <a:srgbClr val="66FFFF"/>
                </a:gs>
                <a:gs pos="100000">
                  <a:srgbClr val="00B050"/>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pic>
          <p:nvPicPr>
            <p:cNvPr id="4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3584" y="2027051"/>
              <a:ext cx="472821"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8878" y="2027051"/>
              <a:ext cx="473854"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Freeform 44"/>
            <p:cNvSpPr>
              <a:spLocks/>
            </p:cNvSpPr>
            <p:nvPr/>
          </p:nvSpPr>
          <p:spPr bwMode="auto">
            <a:xfrm>
              <a:off x="2388490" y="1707679"/>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Freeform 45"/>
            <p:cNvSpPr>
              <a:spLocks/>
            </p:cNvSpPr>
            <p:nvPr/>
          </p:nvSpPr>
          <p:spPr bwMode="auto">
            <a:xfrm flipV="1">
              <a:off x="2388490"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Text Box 47"/>
            <p:cNvSpPr txBox="1">
              <a:spLocks noChangeArrowheads="1"/>
            </p:cNvSpPr>
            <p:nvPr/>
          </p:nvSpPr>
          <p:spPr bwMode="auto">
            <a:xfrm>
              <a:off x="3034748" y="1443180"/>
              <a:ext cx="24769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1.5</a:t>
              </a:r>
              <a:r>
                <a:rPr lang="en-US" altLang="zh-CN" sz="1400" b="1" dirty="0">
                  <a:solidFill>
                    <a:srgbClr val="CC00CC"/>
                  </a:solidFill>
                  <a:latin typeface="微软雅黑" pitchFamily="34" charset="-122"/>
                  <a:ea typeface="微软雅黑" pitchFamily="34" charset="-122"/>
                </a:rPr>
                <a:t> Mbit/s </a:t>
              </a:r>
              <a:r>
                <a:rPr lang="zh-CN" altLang="en-US" sz="1400" b="1" dirty="0">
                  <a:solidFill>
                    <a:srgbClr val="CC00CC"/>
                  </a:solidFill>
                  <a:latin typeface="微软雅黑" pitchFamily="34" charset="-122"/>
                  <a:ea typeface="微软雅黑" pitchFamily="34" charset="-122"/>
                </a:rPr>
                <a:t>的实时音频数据 </a:t>
              </a:r>
            </a:p>
          </p:txBody>
        </p:sp>
        <p:sp>
          <p:nvSpPr>
            <p:cNvPr id="45" name="Line 48"/>
            <p:cNvSpPr>
              <a:spLocks noChangeShapeType="1"/>
            </p:cNvSpPr>
            <p:nvPr/>
          </p:nvSpPr>
          <p:spPr bwMode="auto">
            <a:xfrm flipH="1">
              <a:off x="2766334" y="1676999"/>
              <a:ext cx="384038" cy="1840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Text Box 49"/>
            <p:cNvSpPr txBox="1">
              <a:spLocks noChangeArrowheads="1"/>
            </p:cNvSpPr>
            <p:nvPr/>
          </p:nvSpPr>
          <p:spPr bwMode="auto">
            <a:xfrm>
              <a:off x="1410789" y="2933390"/>
              <a:ext cx="205831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FTP </a:t>
              </a:r>
              <a:r>
                <a:rPr lang="zh-CN" altLang="en-US" sz="1400" b="1" dirty="0">
                  <a:solidFill>
                    <a:srgbClr val="0000FF"/>
                  </a:solidFill>
                  <a:latin typeface="微软雅黑" pitchFamily="34" charset="-122"/>
                  <a:ea typeface="微软雅黑" pitchFamily="34" charset="-122"/>
                </a:rPr>
                <a:t>文件数据 </a:t>
              </a:r>
            </a:p>
          </p:txBody>
        </p:sp>
        <p:sp>
          <p:nvSpPr>
            <p:cNvPr id="47" name="Line 50"/>
            <p:cNvSpPr>
              <a:spLocks noChangeShapeType="1"/>
            </p:cNvSpPr>
            <p:nvPr/>
          </p:nvSpPr>
          <p:spPr bwMode="auto">
            <a:xfrm flipV="1">
              <a:off x="2269770" y="2582210"/>
              <a:ext cx="236925" cy="3851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4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2660" y="1479079"/>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5252" y="2270186"/>
              <a:ext cx="447883" cy="565437"/>
            </a:xfrm>
            <a:prstGeom prst="rect">
              <a:avLst/>
            </a:prstGeom>
          </p:spPr>
        </p:pic>
        <p:pic>
          <p:nvPicPr>
            <p:cNvPr id="5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7366" y="1472987"/>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578" y="2270186"/>
              <a:ext cx="447883" cy="565437"/>
            </a:xfrm>
            <a:prstGeom prst="rect">
              <a:avLst/>
            </a:prstGeom>
          </p:spPr>
        </p:pic>
      </p:grpSp>
      <p:sp>
        <p:nvSpPr>
          <p:cNvPr id="56"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spTree>
    <p:extLst>
      <p:ext uri="{BB962C8B-B14F-4D97-AF65-F5344CB8AC3E}">
        <p14:creationId xmlns:p14="http://schemas.microsoft.com/office/powerpoint/2010/main" val="16271807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圆角矩形 3"/>
          <p:cNvSpPr/>
          <p:nvPr/>
        </p:nvSpPr>
        <p:spPr>
          <a:xfrm>
            <a:off x="512573" y="958746"/>
            <a:ext cx="8128800" cy="23853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Text Box 40"/>
          <p:cNvSpPr txBox="1">
            <a:spLocks noChangeArrowheads="1"/>
          </p:cNvSpPr>
          <p:nvPr/>
        </p:nvSpPr>
        <p:spPr bwMode="auto">
          <a:xfrm>
            <a:off x="983175" y="3371724"/>
            <a:ext cx="7159752" cy="10156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ts val="2400"/>
              </a:lnSpc>
            </a:pPr>
            <a:r>
              <a:rPr lang="zh-CN" altLang="en-US" b="1" dirty="0">
                <a:solidFill>
                  <a:schemeClr val="tx1"/>
                </a:solidFill>
                <a:latin typeface="微软雅黑" pitchFamily="34" charset="-122"/>
                <a:ea typeface="微软雅黑" pitchFamily="34" charset="-122"/>
              </a:rPr>
              <a:t>需要另一种增加</a:t>
            </a:r>
            <a:r>
              <a:rPr lang="zh-CN" altLang="en-US" b="1" dirty="0">
                <a:solidFill>
                  <a:srgbClr val="C00000"/>
                </a:solidFill>
                <a:latin typeface="微软雅黑" pitchFamily="34" charset="-122"/>
                <a:ea typeface="微软雅黑" pitchFamily="34" charset="-122"/>
              </a:rPr>
              <a:t>呼叫接纳 </a:t>
            </a:r>
            <a:r>
              <a:rPr lang="en-US" altLang="zh-CN" b="1" dirty="0">
                <a:solidFill>
                  <a:schemeClr val="tx1"/>
                </a:solidFill>
                <a:latin typeface="微软雅黑" pitchFamily="34" charset="-122"/>
                <a:ea typeface="微软雅黑" pitchFamily="34" charset="-122"/>
              </a:rPr>
              <a:t>(call admission) </a:t>
            </a:r>
            <a:r>
              <a:rPr lang="zh-CN" altLang="en-US" b="1" dirty="0">
                <a:solidFill>
                  <a:schemeClr val="tx1"/>
                </a:solidFill>
                <a:latin typeface="微软雅黑" pitchFamily="34" charset="-122"/>
                <a:ea typeface="微软雅黑" pitchFamily="34" charset="-122"/>
              </a:rPr>
              <a:t>机制。一个数据流要预先声明它所需的服务质量，然后或者被准许进入网络（能得到所需的服务质量），或者被拒绝进入网络（不能满足所需的服务质量）。</a:t>
            </a:r>
          </a:p>
        </p:txBody>
      </p:sp>
      <p:sp>
        <p:nvSpPr>
          <p:cNvPr id="53" name="矩形 52"/>
          <p:cNvSpPr/>
          <p:nvPr/>
        </p:nvSpPr>
        <p:spPr>
          <a:xfrm>
            <a:off x="1005805" y="1000981"/>
            <a:ext cx="7241212" cy="338554"/>
          </a:xfrm>
          <a:prstGeom prst="rect">
            <a:avLst/>
          </a:prstGeom>
        </p:spPr>
        <p:txBody>
          <a:bodyPr wrap="square">
            <a:spAutoFit/>
          </a:bodyPr>
          <a:lstStyle/>
          <a:p>
            <a:pPr algn="ctr"/>
            <a:r>
              <a:rPr lang="zh-CN" altLang="en-US" sz="1600" b="1" dirty="0">
                <a:solidFill>
                  <a:srgbClr val="000099"/>
                </a:solidFill>
                <a:latin typeface="微软雅黑" pitchFamily="34" charset="-122"/>
                <a:ea typeface="微软雅黑" pitchFamily="34" charset="-122"/>
              </a:rPr>
              <a:t>都发送数据率为 </a:t>
            </a:r>
            <a:r>
              <a:rPr lang="en-US" altLang="zh-CN" sz="1600" b="1" dirty="0">
                <a:solidFill>
                  <a:srgbClr val="000099"/>
                </a:solidFill>
                <a:latin typeface="微软雅黑" pitchFamily="34" charset="-122"/>
                <a:ea typeface="微软雅黑" pitchFamily="34" charset="-122"/>
              </a:rPr>
              <a:t>1 Mbit/s </a:t>
            </a:r>
            <a:r>
              <a:rPr lang="zh-CN" altLang="en-US" sz="1600" b="1" dirty="0">
                <a:solidFill>
                  <a:srgbClr val="000099"/>
                </a:solidFill>
                <a:latin typeface="微软雅黑" pitchFamily="34" charset="-122"/>
                <a:ea typeface="微软雅黑" pitchFamily="34" charset="-122"/>
              </a:rPr>
              <a:t>的实时数据</a:t>
            </a:r>
          </a:p>
        </p:txBody>
      </p:sp>
      <p:grpSp>
        <p:nvGrpSpPr>
          <p:cNvPr id="55" name="组合 54"/>
          <p:cNvGrpSpPr/>
          <p:nvPr/>
        </p:nvGrpSpPr>
        <p:grpSpPr>
          <a:xfrm>
            <a:off x="685207" y="1379654"/>
            <a:ext cx="6973928" cy="1851146"/>
            <a:chOff x="685207" y="1379654"/>
            <a:chExt cx="6973928" cy="1851146"/>
          </a:xfrm>
        </p:grpSpPr>
        <p:sp>
          <p:nvSpPr>
            <p:cNvPr id="6" name="Line 4"/>
            <p:cNvSpPr>
              <a:spLocks noChangeShapeType="1"/>
            </p:cNvSpPr>
            <p:nvPr/>
          </p:nvSpPr>
          <p:spPr bwMode="auto">
            <a:xfrm rot="16200000" flipH="1">
              <a:off x="4603420" y="172032"/>
              <a:ext cx="0" cy="39570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 name="Line 5"/>
            <p:cNvSpPr>
              <a:spLocks noChangeShapeType="1"/>
            </p:cNvSpPr>
            <p:nvPr/>
          </p:nvSpPr>
          <p:spPr bwMode="auto">
            <a:xfrm flipH="1">
              <a:off x="6590197"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Line 6"/>
            <p:cNvSpPr>
              <a:spLocks noChangeShapeType="1"/>
            </p:cNvSpPr>
            <p:nvPr/>
          </p:nvSpPr>
          <p:spPr bwMode="auto">
            <a:xfrm rot="5400000" flipH="1">
              <a:off x="6779636" y="1474976"/>
              <a:ext cx="0" cy="37887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 name="Line 7"/>
            <p:cNvSpPr>
              <a:spLocks noChangeShapeType="1"/>
            </p:cNvSpPr>
            <p:nvPr/>
          </p:nvSpPr>
          <p:spPr bwMode="auto">
            <a:xfrm rot="5400000" flipH="1">
              <a:off x="6737825"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Text Box 8"/>
            <p:cNvSpPr txBox="1">
              <a:spLocks noChangeArrowheads="1"/>
            </p:cNvSpPr>
            <p:nvPr/>
          </p:nvSpPr>
          <p:spPr bwMode="auto">
            <a:xfrm>
              <a:off x="3925832" y="1836634"/>
              <a:ext cx="1526105" cy="254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11" name="Line 10"/>
            <p:cNvSpPr>
              <a:spLocks noChangeShapeType="1"/>
            </p:cNvSpPr>
            <p:nvPr/>
          </p:nvSpPr>
          <p:spPr bwMode="auto">
            <a:xfrm>
              <a:off x="2624901" y="1560579"/>
              <a:ext cx="0" cy="1141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1"/>
            <p:cNvSpPr>
              <a:spLocks noChangeShapeType="1"/>
            </p:cNvSpPr>
            <p:nvPr/>
          </p:nvSpPr>
          <p:spPr bwMode="auto">
            <a:xfrm rot="16200000">
              <a:off x="2477274" y="1516787"/>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rot="16200000">
              <a:off x="2477274" y="2502434"/>
              <a:ext cx="0" cy="29525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Text Box 14"/>
            <p:cNvSpPr txBox="1">
              <a:spLocks noChangeArrowheads="1"/>
            </p:cNvSpPr>
            <p:nvPr/>
          </p:nvSpPr>
          <p:spPr bwMode="auto">
            <a:xfrm>
              <a:off x="1639133" y="1379654"/>
              <a:ext cx="4585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p>
          </p:txBody>
        </p:sp>
        <p:sp>
          <p:nvSpPr>
            <p:cNvPr id="15" name="Text Box 15"/>
            <p:cNvSpPr txBox="1">
              <a:spLocks noChangeArrowheads="1"/>
            </p:cNvSpPr>
            <p:nvPr/>
          </p:nvSpPr>
          <p:spPr bwMode="auto">
            <a:xfrm>
              <a:off x="1567131" y="2188310"/>
              <a:ext cx="4850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16" name="Text Box 16"/>
            <p:cNvSpPr txBox="1">
              <a:spLocks noChangeArrowheads="1"/>
            </p:cNvSpPr>
            <p:nvPr/>
          </p:nvSpPr>
          <p:spPr bwMode="auto">
            <a:xfrm>
              <a:off x="7130438" y="1402467"/>
              <a:ext cx="5069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3</a:t>
              </a:r>
            </a:p>
          </p:txBody>
        </p:sp>
        <p:sp>
          <p:nvSpPr>
            <p:cNvPr id="17" name="Text Box 17"/>
            <p:cNvSpPr txBox="1">
              <a:spLocks noChangeArrowheads="1"/>
            </p:cNvSpPr>
            <p:nvPr/>
          </p:nvSpPr>
          <p:spPr bwMode="auto">
            <a:xfrm>
              <a:off x="7231611" y="2262253"/>
              <a:ext cx="4275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4</a:t>
              </a:r>
            </a:p>
          </p:txBody>
        </p:sp>
        <p:sp>
          <p:nvSpPr>
            <p:cNvPr id="18" name="Freeform 18"/>
            <p:cNvSpPr>
              <a:spLocks/>
            </p:cNvSpPr>
            <p:nvPr/>
          </p:nvSpPr>
          <p:spPr bwMode="auto">
            <a:xfrm flipV="1">
              <a:off x="6116344" y="1716332"/>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Freeform 19"/>
            <p:cNvSpPr>
              <a:spLocks/>
            </p:cNvSpPr>
            <p:nvPr/>
          </p:nvSpPr>
          <p:spPr bwMode="auto">
            <a:xfrm>
              <a:off x="6116344"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Text Box 20"/>
            <p:cNvSpPr txBox="1">
              <a:spLocks noChangeArrowheads="1"/>
            </p:cNvSpPr>
            <p:nvPr/>
          </p:nvSpPr>
          <p:spPr bwMode="auto">
            <a:xfrm>
              <a:off x="5664124" y="1769916"/>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2</a:t>
              </a:r>
            </a:p>
          </p:txBody>
        </p:sp>
        <p:sp>
          <p:nvSpPr>
            <p:cNvPr id="21" name="Text Box 21"/>
            <p:cNvSpPr txBox="1">
              <a:spLocks noChangeArrowheads="1"/>
            </p:cNvSpPr>
            <p:nvPr/>
          </p:nvSpPr>
          <p:spPr bwMode="auto">
            <a:xfrm>
              <a:off x="3116258" y="1769129"/>
              <a:ext cx="42228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22" name="Freeform 22"/>
            <p:cNvSpPr>
              <a:spLocks/>
            </p:cNvSpPr>
            <p:nvPr/>
          </p:nvSpPr>
          <p:spPr bwMode="auto">
            <a:xfrm>
              <a:off x="3276320" y="2701979"/>
              <a:ext cx="710264" cy="207670"/>
            </a:xfrm>
            <a:custGeom>
              <a:avLst/>
              <a:gdLst>
                <a:gd name="T0" fmla="*/ 0 w 576"/>
                <a:gd name="T1" fmla="*/ 0 h 192"/>
                <a:gd name="T2" fmla="*/ 576 w 576"/>
                <a:gd name="T3" fmla="*/ 0 h 192"/>
                <a:gd name="T4" fmla="*/ 576 w 576"/>
                <a:gd name="T5" fmla="*/ 192 h 192"/>
                <a:gd name="T6" fmla="*/ 0 w 576"/>
                <a:gd name="T7" fmla="*/ 192 h 192"/>
              </a:gdLst>
              <a:ahLst/>
              <a:cxnLst>
                <a:cxn ang="0">
                  <a:pos x="T0" y="T1"/>
                </a:cxn>
                <a:cxn ang="0">
                  <a:pos x="T2" y="T3"/>
                </a:cxn>
                <a:cxn ang="0">
                  <a:pos x="T4" y="T5"/>
                </a:cxn>
                <a:cxn ang="0">
                  <a:pos x="T6" y="T7"/>
                </a:cxn>
              </a:cxnLst>
              <a:rect l="0" t="0" r="r" b="b"/>
              <a:pathLst>
                <a:path w="576" h="192">
                  <a:moveTo>
                    <a:pt x="0" y="0"/>
                  </a:moveTo>
                  <a:lnTo>
                    <a:pt x="576" y="0"/>
                  </a:lnTo>
                  <a:lnTo>
                    <a:pt x="576" y="192"/>
                  </a:lnTo>
                  <a:lnTo>
                    <a:pt x="0" y="192"/>
                  </a:lnTo>
                </a:path>
              </a:pathLst>
            </a:custGeom>
            <a:noFill/>
            <a:ln w="19050" cmpd="sng">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3"/>
            <p:cNvSpPr>
              <a:spLocks noChangeShapeType="1"/>
            </p:cNvSpPr>
            <p:nvPr/>
          </p:nvSpPr>
          <p:spPr bwMode="auto">
            <a:xfrm>
              <a:off x="392670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4"/>
            <p:cNvSpPr>
              <a:spLocks noChangeShapeType="1"/>
            </p:cNvSpPr>
            <p:nvPr/>
          </p:nvSpPr>
          <p:spPr bwMode="auto">
            <a:xfrm>
              <a:off x="3867863"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5"/>
            <p:cNvSpPr>
              <a:spLocks noChangeShapeType="1"/>
            </p:cNvSpPr>
            <p:nvPr/>
          </p:nvSpPr>
          <p:spPr bwMode="auto">
            <a:xfrm>
              <a:off x="3809018"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6"/>
            <p:cNvSpPr>
              <a:spLocks noChangeShapeType="1"/>
            </p:cNvSpPr>
            <p:nvPr/>
          </p:nvSpPr>
          <p:spPr bwMode="auto">
            <a:xfrm>
              <a:off x="3749141"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7"/>
            <p:cNvSpPr>
              <a:spLocks noChangeShapeType="1"/>
            </p:cNvSpPr>
            <p:nvPr/>
          </p:nvSpPr>
          <p:spPr bwMode="auto">
            <a:xfrm>
              <a:off x="3690297"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8"/>
            <p:cNvSpPr>
              <a:spLocks noChangeShapeType="1"/>
            </p:cNvSpPr>
            <p:nvPr/>
          </p:nvSpPr>
          <p:spPr bwMode="auto">
            <a:xfrm>
              <a:off x="3631452"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9"/>
            <p:cNvSpPr>
              <a:spLocks noChangeShapeType="1"/>
            </p:cNvSpPr>
            <p:nvPr/>
          </p:nvSpPr>
          <p:spPr bwMode="auto">
            <a:xfrm>
              <a:off x="3571575" y="2701979"/>
              <a:ext cx="0" cy="207670"/>
            </a:xfrm>
            <a:prstGeom prst="line">
              <a:avLst/>
            </a:prstGeom>
            <a:noFill/>
            <a:ln w="19050">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30"/>
            <p:cNvSpPr txBox="1">
              <a:spLocks noChangeArrowheads="1"/>
            </p:cNvSpPr>
            <p:nvPr/>
          </p:nvSpPr>
          <p:spPr bwMode="auto">
            <a:xfrm>
              <a:off x="2699410" y="2547991"/>
              <a:ext cx="405807" cy="431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1</a:t>
              </a:r>
              <a:endParaRPr kumimoji="1" lang="en-US" altLang="zh-CN" sz="1400" b="1" dirty="0">
                <a:latin typeface="微软雅黑" pitchFamily="34" charset="-122"/>
                <a:ea typeface="微软雅黑" pitchFamily="34" charset="-122"/>
              </a:endParaRPr>
            </a:p>
            <a:p>
              <a:r>
                <a:rPr kumimoji="1" lang="en-US" altLang="zh-CN" sz="1400" b="1" dirty="0">
                  <a:latin typeface="微软雅黑" pitchFamily="34" charset="-122"/>
                  <a:ea typeface="微软雅黑" pitchFamily="34" charset="-122"/>
                </a:rPr>
                <a:t>H</a:t>
              </a:r>
              <a:r>
                <a:rPr kumimoji="1" lang="en-US" altLang="zh-CN" sz="1400" b="1" baseline="-25000" dirty="0">
                  <a:latin typeface="微软雅黑" pitchFamily="34" charset="-122"/>
                  <a:ea typeface="微软雅黑" pitchFamily="34" charset="-122"/>
                </a:rPr>
                <a:t>2</a:t>
              </a:r>
            </a:p>
          </p:txBody>
        </p:sp>
        <p:sp>
          <p:nvSpPr>
            <p:cNvPr id="31" name="Line 31"/>
            <p:cNvSpPr>
              <a:spLocks noChangeShapeType="1"/>
            </p:cNvSpPr>
            <p:nvPr/>
          </p:nvSpPr>
          <p:spPr bwMode="auto">
            <a:xfrm flipV="1">
              <a:off x="3019262" y="2840426"/>
              <a:ext cx="345841" cy="4326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32"/>
            <p:cNvSpPr>
              <a:spLocks noChangeShapeType="1"/>
            </p:cNvSpPr>
            <p:nvPr/>
          </p:nvSpPr>
          <p:spPr bwMode="auto">
            <a:xfrm>
              <a:off x="3019262" y="2736591"/>
              <a:ext cx="345841" cy="43264"/>
            </a:xfrm>
            <a:prstGeom prst="line">
              <a:avLst/>
            </a:prstGeom>
            <a:noFill/>
            <a:ln w="28575">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3"/>
            <p:cNvSpPr>
              <a:spLocks noChangeShapeType="1"/>
            </p:cNvSpPr>
            <p:nvPr/>
          </p:nvSpPr>
          <p:spPr bwMode="auto">
            <a:xfrm>
              <a:off x="3986584" y="2805815"/>
              <a:ext cx="515085" cy="0"/>
            </a:xfrm>
            <a:prstGeom prst="line">
              <a:avLst/>
            </a:prstGeom>
            <a:noFill/>
            <a:ln w="28575">
              <a:solidFill>
                <a:srgbClr val="7030A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Text Box 34"/>
            <p:cNvSpPr txBox="1">
              <a:spLocks noChangeArrowheads="1"/>
            </p:cNvSpPr>
            <p:nvPr/>
          </p:nvSpPr>
          <p:spPr bwMode="auto">
            <a:xfrm>
              <a:off x="3995155" y="2522115"/>
              <a:ext cx="1526105"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1.5 Mbit/s </a:t>
              </a:r>
              <a:r>
                <a:rPr kumimoji="1" lang="zh-CN" altLang="en-US" sz="1400" b="1" dirty="0">
                  <a:latin typeface="微软雅黑" pitchFamily="34" charset="-122"/>
                  <a:ea typeface="微软雅黑" pitchFamily="34" charset="-122"/>
                </a:rPr>
                <a:t>链路</a:t>
              </a:r>
            </a:p>
          </p:txBody>
        </p:sp>
        <p:sp>
          <p:nvSpPr>
            <p:cNvPr id="35" name="Rectangle 35"/>
            <p:cNvSpPr>
              <a:spLocks noChangeArrowheads="1"/>
            </p:cNvSpPr>
            <p:nvPr/>
          </p:nvSpPr>
          <p:spPr bwMode="auto">
            <a:xfrm>
              <a:off x="3372330" y="2137966"/>
              <a:ext cx="117689" cy="5191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6"/>
            <p:cNvSpPr>
              <a:spLocks noChangeShapeType="1"/>
            </p:cNvSpPr>
            <p:nvPr/>
          </p:nvSpPr>
          <p:spPr bwMode="auto">
            <a:xfrm>
              <a:off x="3482792" y="2189883"/>
              <a:ext cx="511019" cy="51838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37"/>
            <p:cNvSpPr>
              <a:spLocks noChangeShapeType="1"/>
            </p:cNvSpPr>
            <p:nvPr/>
          </p:nvSpPr>
          <p:spPr bwMode="auto">
            <a:xfrm flipH="1">
              <a:off x="3283546" y="2137477"/>
              <a:ext cx="160670" cy="57079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Text Box 40"/>
            <p:cNvSpPr txBox="1">
              <a:spLocks noChangeArrowheads="1"/>
            </p:cNvSpPr>
            <p:nvPr/>
          </p:nvSpPr>
          <p:spPr bwMode="auto">
            <a:xfrm>
              <a:off x="3200865" y="2899927"/>
              <a:ext cx="902649" cy="25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输出队列</a:t>
              </a:r>
            </a:p>
          </p:txBody>
        </p:sp>
        <p:sp>
          <p:nvSpPr>
            <p:cNvPr id="39" name="AutoShape 41"/>
            <p:cNvSpPr>
              <a:spLocks noChangeArrowheads="1"/>
            </p:cNvSpPr>
            <p:nvPr/>
          </p:nvSpPr>
          <p:spPr bwMode="auto">
            <a:xfrm rot="16200000">
              <a:off x="4534468" y="878683"/>
              <a:ext cx="103835" cy="2543736"/>
            </a:xfrm>
            <a:prstGeom prst="can">
              <a:avLst>
                <a:gd name="adj" fmla="val 60580"/>
              </a:avLst>
            </a:prstGeom>
            <a:gradFill rotWithShape="0">
              <a:gsLst>
                <a:gs pos="0">
                  <a:srgbClr val="00B050"/>
                </a:gs>
                <a:gs pos="50000">
                  <a:srgbClr val="66FFFF"/>
                </a:gs>
                <a:gs pos="100000">
                  <a:srgbClr val="00B050"/>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pic>
          <p:nvPicPr>
            <p:cNvPr id="40" name="Picture 4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3584" y="2027051"/>
              <a:ext cx="472821"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8878" y="2027051"/>
              <a:ext cx="473854" cy="2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 name="Freeform 44"/>
            <p:cNvSpPr>
              <a:spLocks/>
            </p:cNvSpPr>
            <p:nvPr/>
          </p:nvSpPr>
          <p:spPr bwMode="auto">
            <a:xfrm>
              <a:off x="2388490" y="1707679"/>
              <a:ext cx="710264" cy="379942"/>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FF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Freeform 45"/>
            <p:cNvSpPr>
              <a:spLocks/>
            </p:cNvSpPr>
            <p:nvPr/>
          </p:nvSpPr>
          <p:spPr bwMode="auto">
            <a:xfrm flipV="1">
              <a:off x="2388490" y="2217415"/>
              <a:ext cx="710264" cy="380729"/>
            </a:xfrm>
            <a:custGeom>
              <a:avLst/>
              <a:gdLst>
                <a:gd name="T0" fmla="*/ 0 w 576"/>
                <a:gd name="T1" fmla="*/ 8 h 352"/>
                <a:gd name="T2" fmla="*/ 144 w 576"/>
                <a:gd name="T3" fmla="*/ 8 h 352"/>
                <a:gd name="T4" fmla="*/ 240 w 576"/>
                <a:gd name="T5" fmla="*/ 56 h 352"/>
                <a:gd name="T6" fmla="*/ 288 w 576"/>
                <a:gd name="T7" fmla="*/ 152 h 352"/>
                <a:gd name="T8" fmla="*/ 336 w 576"/>
                <a:gd name="T9" fmla="*/ 296 h 352"/>
                <a:gd name="T10" fmla="*/ 480 w 576"/>
                <a:gd name="T11" fmla="*/ 344 h 352"/>
                <a:gd name="T12" fmla="*/ 576 w 576"/>
                <a:gd name="T13" fmla="*/ 344 h 352"/>
              </a:gdLst>
              <a:ahLst/>
              <a:cxnLst>
                <a:cxn ang="0">
                  <a:pos x="T0" y="T1"/>
                </a:cxn>
                <a:cxn ang="0">
                  <a:pos x="T2" y="T3"/>
                </a:cxn>
                <a:cxn ang="0">
                  <a:pos x="T4" y="T5"/>
                </a:cxn>
                <a:cxn ang="0">
                  <a:pos x="T6" y="T7"/>
                </a:cxn>
                <a:cxn ang="0">
                  <a:pos x="T8" y="T9"/>
                </a:cxn>
                <a:cxn ang="0">
                  <a:pos x="T10" y="T11"/>
                </a:cxn>
                <a:cxn ang="0">
                  <a:pos x="T12" y="T13"/>
                </a:cxn>
              </a:cxnLst>
              <a:rect l="0" t="0" r="r" b="b"/>
              <a:pathLst>
                <a:path w="576" h="352">
                  <a:moveTo>
                    <a:pt x="0" y="8"/>
                  </a:moveTo>
                  <a:cubicBezTo>
                    <a:pt x="52" y="4"/>
                    <a:pt x="104" y="0"/>
                    <a:pt x="144" y="8"/>
                  </a:cubicBezTo>
                  <a:cubicBezTo>
                    <a:pt x="184" y="16"/>
                    <a:pt x="216" y="32"/>
                    <a:pt x="240" y="56"/>
                  </a:cubicBezTo>
                  <a:cubicBezTo>
                    <a:pt x="264" y="80"/>
                    <a:pt x="272" y="112"/>
                    <a:pt x="288" y="152"/>
                  </a:cubicBezTo>
                  <a:cubicBezTo>
                    <a:pt x="304" y="192"/>
                    <a:pt x="304" y="264"/>
                    <a:pt x="336" y="296"/>
                  </a:cubicBezTo>
                  <a:cubicBezTo>
                    <a:pt x="368" y="328"/>
                    <a:pt x="440" y="336"/>
                    <a:pt x="480" y="344"/>
                  </a:cubicBezTo>
                  <a:cubicBezTo>
                    <a:pt x="520" y="352"/>
                    <a:pt x="548" y="348"/>
                    <a:pt x="576" y="344"/>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Text Box 47"/>
            <p:cNvSpPr txBox="1">
              <a:spLocks noChangeArrowheads="1"/>
            </p:cNvSpPr>
            <p:nvPr/>
          </p:nvSpPr>
          <p:spPr bwMode="auto">
            <a:xfrm>
              <a:off x="3034748" y="1443180"/>
              <a:ext cx="23663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1 Mbit/s </a:t>
              </a:r>
              <a:r>
                <a:rPr lang="zh-CN" altLang="en-US" sz="1400" b="1" dirty="0">
                  <a:solidFill>
                    <a:srgbClr val="CC00CC"/>
                  </a:solidFill>
                  <a:latin typeface="微软雅黑" pitchFamily="34" charset="-122"/>
                  <a:ea typeface="微软雅黑" pitchFamily="34" charset="-122"/>
                </a:rPr>
                <a:t>的实时音频数据 </a:t>
              </a:r>
            </a:p>
          </p:txBody>
        </p:sp>
        <p:sp>
          <p:nvSpPr>
            <p:cNvPr id="45" name="Line 48"/>
            <p:cNvSpPr>
              <a:spLocks noChangeShapeType="1"/>
            </p:cNvSpPr>
            <p:nvPr/>
          </p:nvSpPr>
          <p:spPr bwMode="auto">
            <a:xfrm flipH="1">
              <a:off x="2766334" y="1676999"/>
              <a:ext cx="384038" cy="1840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Line 50"/>
            <p:cNvSpPr>
              <a:spLocks noChangeShapeType="1"/>
            </p:cNvSpPr>
            <p:nvPr/>
          </p:nvSpPr>
          <p:spPr bwMode="auto">
            <a:xfrm flipV="1">
              <a:off x="2269770" y="2582210"/>
              <a:ext cx="236925" cy="3851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4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2660" y="1479079"/>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5252" y="2270186"/>
              <a:ext cx="447883" cy="565437"/>
            </a:xfrm>
            <a:prstGeom prst="rect">
              <a:avLst/>
            </a:prstGeom>
          </p:spPr>
        </p:pic>
        <p:pic>
          <p:nvPicPr>
            <p:cNvPr id="5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7366" y="1472987"/>
              <a:ext cx="372264" cy="372265"/>
            </a:xfrm>
            <a:prstGeom prst="rect">
              <a:avLst/>
            </a:prstGeom>
            <a:noFill/>
            <a:extLst>
              <a:ext uri="{909E8E84-426E-40DD-AFC4-6F175D3DCCD1}">
                <a14:hiddenFill xmlns:a14="http://schemas.microsoft.com/office/drawing/2010/main">
                  <a:solidFill>
                    <a:srgbClr val="FFFFFF"/>
                  </a:solidFill>
                </a14:hiddenFill>
              </a:ext>
            </a:extLst>
          </p:spPr>
        </p:pic>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578" y="2270186"/>
              <a:ext cx="447883" cy="565437"/>
            </a:xfrm>
            <a:prstGeom prst="rect">
              <a:avLst/>
            </a:prstGeom>
          </p:spPr>
        </p:pic>
        <p:sp>
          <p:nvSpPr>
            <p:cNvPr id="56" name="Text Box 47"/>
            <p:cNvSpPr txBox="1">
              <a:spLocks noChangeArrowheads="1"/>
            </p:cNvSpPr>
            <p:nvPr/>
          </p:nvSpPr>
          <p:spPr bwMode="auto">
            <a:xfrm>
              <a:off x="685207" y="2923023"/>
              <a:ext cx="23663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1 Mbit/s </a:t>
              </a:r>
              <a:r>
                <a:rPr lang="zh-CN" altLang="en-US" sz="1400" b="1" dirty="0">
                  <a:solidFill>
                    <a:srgbClr val="0000FF"/>
                  </a:solidFill>
                  <a:latin typeface="微软雅黑" pitchFamily="34" charset="-122"/>
                  <a:ea typeface="微软雅黑" pitchFamily="34" charset="-122"/>
                </a:rPr>
                <a:t>的实时音频数据 </a:t>
              </a:r>
            </a:p>
          </p:txBody>
        </p:sp>
      </p:grpSp>
      <p:sp>
        <p:nvSpPr>
          <p:cNvPr id="57"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spTree>
    <p:extLst>
      <p:ext uri="{BB962C8B-B14F-4D97-AF65-F5344CB8AC3E}">
        <p14:creationId xmlns:p14="http://schemas.microsoft.com/office/powerpoint/2010/main" val="9243556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矩形 4"/>
          <p:cNvSpPr>
            <a:spLocks noChangeArrowheads="1"/>
          </p:cNvSpPr>
          <p:nvPr/>
        </p:nvSpPr>
        <p:spPr bwMode="auto">
          <a:xfrm>
            <a:off x="635844" y="558636"/>
            <a:ext cx="1819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QoS</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机制分析</a:t>
            </a:r>
          </a:p>
        </p:txBody>
      </p:sp>
      <p:grpSp>
        <p:nvGrpSpPr>
          <p:cNvPr id="3" name="组合 2"/>
          <p:cNvGrpSpPr/>
          <p:nvPr/>
        </p:nvGrpSpPr>
        <p:grpSpPr>
          <a:xfrm>
            <a:off x="943446" y="1230155"/>
            <a:ext cx="7210697" cy="1286622"/>
            <a:chOff x="908612" y="1552373"/>
            <a:chExt cx="7210697" cy="1286622"/>
          </a:xfrm>
        </p:grpSpPr>
        <p:sp>
          <p:nvSpPr>
            <p:cNvPr id="59" name="对角圆角矩形 58"/>
            <p:cNvSpPr/>
            <p:nvPr/>
          </p:nvSpPr>
          <p:spPr>
            <a:xfrm>
              <a:off x="908612" y="1552373"/>
              <a:ext cx="7210697" cy="1286622"/>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1172790" y="1740625"/>
              <a:ext cx="6691050" cy="861774"/>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为使互联网能够提供一定的服务质量，应当设法增加一些机制，包括：分组的类别、管制、调度以及呼叫接纳。</a:t>
              </a:r>
            </a:p>
          </p:txBody>
        </p:sp>
      </p:grpSp>
    </p:spTree>
    <p:extLst>
      <p:ext uri="{BB962C8B-B14F-4D97-AF65-F5344CB8AC3E}">
        <p14:creationId xmlns:p14="http://schemas.microsoft.com/office/powerpoint/2010/main" val="29201345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12"/>
          <p:cNvSpPr>
            <a:spLocks noChangeArrowheads="1"/>
          </p:cNvSpPr>
          <p:nvPr/>
        </p:nvSpPr>
        <p:spPr bwMode="auto">
          <a:xfrm>
            <a:off x="511896" y="607578"/>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3" name="Rectangle 13"/>
          <p:cNvSpPr>
            <a:spLocks noChangeArrowheads="1"/>
          </p:cNvSpPr>
          <p:nvPr/>
        </p:nvSpPr>
        <p:spPr bwMode="auto">
          <a:xfrm>
            <a:off x="2943585" y="582114"/>
            <a:ext cx="3265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8.4.2  </a:t>
            </a:r>
            <a:r>
              <a:rPr lang="zh-CN" altLang="en-US" sz="2400" b="1" dirty="0">
                <a:solidFill>
                  <a:schemeClr val="bg1"/>
                </a:solidFill>
                <a:latin typeface="微软雅黑" pitchFamily="34" charset="-122"/>
                <a:ea typeface="微软雅黑" pitchFamily="34" charset="-122"/>
              </a:rPr>
              <a:t>调度和管制机制</a:t>
            </a:r>
          </a:p>
        </p:txBody>
      </p:sp>
      <p:sp>
        <p:nvSpPr>
          <p:cNvPr id="2" name="矩形 1"/>
          <p:cNvSpPr/>
          <p:nvPr/>
        </p:nvSpPr>
        <p:spPr>
          <a:xfrm>
            <a:off x="2347009" y="1255807"/>
            <a:ext cx="4458789" cy="91307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3200"/>
              </a:lnSpc>
            </a:pPr>
            <a:r>
              <a:rPr lang="zh-CN" altLang="en-US" sz="2000" b="1" dirty="0">
                <a:solidFill>
                  <a:srgbClr val="C00000"/>
                </a:solidFill>
                <a:latin typeface="微软雅黑" pitchFamily="34" charset="-122"/>
                <a:ea typeface="微软雅黑" pitchFamily="34" charset="-122"/>
              </a:rPr>
              <a:t>调度</a:t>
            </a:r>
            <a:r>
              <a:rPr lang="zh-CN" altLang="en-US" sz="2000" b="1" dirty="0">
                <a:latin typeface="微软雅黑" pitchFamily="34" charset="-122"/>
                <a:ea typeface="微软雅黑" pitchFamily="34" charset="-122"/>
              </a:rPr>
              <a:t>和</a:t>
            </a:r>
            <a:r>
              <a:rPr lang="zh-CN" altLang="en-US" sz="2000" b="1" dirty="0">
                <a:solidFill>
                  <a:srgbClr val="C00000"/>
                </a:solidFill>
                <a:latin typeface="微软雅黑" pitchFamily="34" charset="-122"/>
                <a:ea typeface="微软雅黑" pitchFamily="34" charset="-122"/>
              </a:rPr>
              <a:t>管制</a:t>
            </a:r>
            <a:r>
              <a:rPr lang="zh-CN" altLang="en-US" sz="2000" b="1" dirty="0">
                <a:latin typeface="微软雅黑" pitchFamily="34" charset="-122"/>
                <a:ea typeface="微软雅黑" pitchFamily="34" charset="-122"/>
              </a:rPr>
              <a:t>机制是使互联网能够提供服务质量的重要措施。</a:t>
            </a:r>
            <a:endParaRPr lang="zh-CN" altLang="en-US" sz="2000" dirty="0"/>
          </a:p>
        </p:txBody>
      </p:sp>
    </p:spTree>
    <p:extLst>
      <p:ext uri="{BB962C8B-B14F-4D97-AF65-F5344CB8AC3E}">
        <p14:creationId xmlns:p14="http://schemas.microsoft.com/office/powerpoint/2010/main" val="7022268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11896" y="969693"/>
            <a:ext cx="8129015"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调度：</a:t>
            </a:r>
            <a:r>
              <a:rPr lang="zh-CN" altLang="en-US" sz="2000" b="1" dirty="0">
                <a:latin typeface="微软雅黑" pitchFamily="34" charset="-122"/>
                <a:ea typeface="微软雅黑" pitchFamily="34" charset="-122"/>
              </a:rPr>
              <a:t>指排队的规则。</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默认排队规则：</a:t>
            </a:r>
            <a:r>
              <a:rPr lang="zh-CN" altLang="en-US" sz="2000" b="1" dirty="0">
                <a:solidFill>
                  <a:srgbClr val="0000FF"/>
                </a:solidFill>
                <a:latin typeface="微软雅黑" pitchFamily="34" charset="-122"/>
                <a:ea typeface="微软雅黑" pitchFamily="34" charset="-122"/>
              </a:rPr>
              <a:t>先进先出</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FIFO (First In First Out)</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17550" lvl="1" indent="-342900" eaLnBrk="0" hangingPunct="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先到达的分组先获得服务。</a:t>
            </a:r>
            <a:endParaRPr lang="en-US" altLang="zh-CN" sz="2000" b="1" dirty="0">
              <a:latin typeface="微软雅黑" pitchFamily="34" charset="-122"/>
              <a:ea typeface="微软雅黑" pitchFamily="34" charset="-122"/>
            </a:endParaRPr>
          </a:p>
          <a:p>
            <a:pPr marL="717550" lvl="1" indent="-342900" eaLnBrk="0" hangingPunct="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当队列已满时，后到达的分组就被丢弃。</a:t>
            </a:r>
          </a:p>
          <a:p>
            <a:pPr marL="342900" indent="-342900" eaLnBrk="0" hangingPunct="0">
              <a:lnSpc>
                <a:spcPts val="3000"/>
              </a:lnSpc>
              <a:buClr>
                <a:srgbClr val="0070C0"/>
              </a:buClr>
              <a:buFont typeface="Wingdings" pitchFamily="2" charset="2"/>
              <a:buChar char="l"/>
            </a:pPr>
            <a:r>
              <a:rPr lang="en-US" altLang="zh-CN" sz="2000" b="1" dirty="0">
                <a:solidFill>
                  <a:srgbClr val="0000FF"/>
                </a:solidFill>
                <a:latin typeface="微软雅黑" pitchFamily="34" charset="-122"/>
                <a:ea typeface="微软雅黑" pitchFamily="34" charset="-122"/>
              </a:rPr>
              <a:t>FIFO </a:t>
            </a:r>
            <a:r>
              <a:rPr lang="zh-CN" altLang="en-US" sz="2000" b="1" dirty="0">
                <a:solidFill>
                  <a:srgbClr val="0000FF"/>
                </a:solidFill>
                <a:latin typeface="微软雅黑" pitchFamily="34" charset="-122"/>
                <a:ea typeface="微软雅黑" pitchFamily="34" charset="-122"/>
              </a:rPr>
              <a:t>的最大缺点：</a:t>
            </a:r>
            <a:endParaRPr lang="en-US" altLang="zh-CN" sz="2000" b="1" dirty="0">
              <a:solidFill>
                <a:srgbClr val="0000FF"/>
              </a:solidFill>
              <a:latin typeface="微软雅黑" pitchFamily="34" charset="-122"/>
              <a:ea typeface="微软雅黑" pitchFamily="34" charset="-122"/>
            </a:endParaRPr>
          </a:p>
          <a:p>
            <a:pPr marL="717550" lvl="1" indent="-342900" eaLnBrk="0" hangingPunct="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不能区分时间敏感分组和一般数据分组，并且也不公平。</a:t>
            </a:r>
          </a:p>
        </p:txBody>
      </p:sp>
      <p:sp>
        <p:nvSpPr>
          <p:cNvPr id="8" name="AutoShape 5"/>
          <p:cNvSpPr>
            <a:spLocks noChangeArrowheads="1"/>
          </p:cNvSpPr>
          <p:nvPr/>
        </p:nvSpPr>
        <p:spPr bwMode="auto">
          <a:xfrm>
            <a:off x="511897" y="60540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766663" y="572196"/>
            <a:ext cx="15969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调度机制 </a:t>
            </a:r>
          </a:p>
        </p:txBody>
      </p:sp>
    </p:spTree>
    <p:extLst>
      <p:ext uri="{BB962C8B-B14F-4D97-AF65-F5344CB8AC3E}">
        <p14:creationId xmlns:p14="http://schemas.microsoft.com/office/powerpoint/2010/main" val="30672483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17853" y="608465"/>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4"/>
          <p:cNvSpPr>
            <a:spLocks noChangeArrowheads="1"/>
          </p:cNvSpPr>
          <p:nvPr/>
        </p:nvSpPr>
        <p:spPr bwMode="auto">
          <a:xfrm>
            <a:off x="635844" y="558637"/>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分组按优先级排队</a:t>
            </a:r>
          </a:p>
        </p:txBody>
      </p:sp>
      <p:sp>
        <p:nvSpPr>
          <p:cNvPr id="4" name="圆角矩形 3"/>
          <p:cNvSpPr/>
          <p:nvPr/>
        </p:nvSpPr>
        <p:spPr>
          <a:xfrm>
            <a:off x="517852" y="1802673"/>
            <a:ext cx="8133857" cy="252152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8" name="组合 37"/>
          <p:cNvGrpSpPr/>
          <p:nvPr/>
        </p:nvGrpSpPr>
        <p:grpSpPr>
          <a:xfrm>
            <a:off x="1162676" y="1950721"/>
            <a:ext cx="6841725" cy="2075573"/>
            <a:chOff x="386020" y="1515903"/>
            <a:chExt cx="9406872" cy="3587046"/>
          </a:xfrm>
        </p:grpSpPr>
        <p:sp>
          <p:nvSpPr>
            <p:cNvPr id="5" name="Rectangle 5"/>
            <p:cNvSpPr>
              <a:spLocks noChangeArrowheads="1"/>
            </p:cNvSpPr>
            <p:nvPr/>
          </p:nvSpPr>
          <p:spPr bwMode="auto">
            <a:xfrm>
              <a:off x="1906123" y="2069237"/>
              <a:ext cx="6478455" cy="3033712"/>
            </a:xfrm>
            <a:prstGeom prst="rect">
              <a:avLst/>
            </a:prstGeom>
            <a:solidFill>
              <a:srgbClr val="66FFFF"/>
            </a:solidFill>
            <a:ln w="9525">
              <a:solidFill>
                <a:srgbClr val="0000FF"/>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6"/>
            <p:cNvSpPr>
              <a:spLocks noChangeArrowheads="1"/>
            </p:cNvSpPr>
            <p:nvPr/>
          </p:nvSpPr>
          <p:spPr bwMode="auto">
            <a:xfrm>
              <a:off x="5928716" y="3828187"/>
              <a:ext cx="252810" cy="709612"/>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 name="Rectangle 7"/>
            <p:cNvSpPr>
              <a:spLocks noChangeArrowheads="1"/>
            </p:cNvSpPr>
            <p:nvPr/>
          </p:nvSpPr>
          <p:spPr bwMode="auto">
            <a:xfrm>
              <a:off x="5041303" y="2647088"/>
              <a:ext cx="1140222" cy="708025"/>
            </a:xfrm>
            <a:prstGeom prst="rect">
              <a:avLst/>
            </a:prstGeom>
            <a:solidFill>
              <a:srgbClr val="66FF33"/>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 name="Text Box 8"/>
            <p:cNvSpPr txBox="1">
              <a:spLocks noChangeArrowheads="1"/>
            </p:cNvSpPr>
            <p:nvPr/>
          </p:nvSpPr>
          <p:spPr bwMode="auto">
            <a:xfrm>
              <a:off x="4253639" y="2139972"/>
              <a:ext cx="1734998" cy="5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高优先级队列</a:t>
              </a:r>
            </a:p>
          </p:txBody>
        </p:sp>
        <p:sp>
          <p:nvSpPr>
            <p:cNvPr id="9" name="Freeform 9"/>
            <p:cNvSpPr>
              <a:spLocks/>
            </p:cNvSpPr>
            <p:nvPr/>
          </p:nvSpPr>
          <p:spPr bwMode="auto">
            <a:xfrm>
              <a:off x="4148732" y="2647088"/>
              <a:ext cx="2032794" cy="708025"/>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0" name="Line 10"/>
            <p:cNvSpPr>
              <a:spLocks noChangeShapeType="1"/>
            </p:cNvSpPr>
            <p:nvPr/>
          </p:nvSpPr>
          <p:spPr bwMode="auto">
            <a:xfrm>
              <a:off x="5803171" y="2647088"/>
              <a:ext cx="0" cy="708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1" name="Line 11"/>
            <p:cNvSpPr>
              <a:spLocks noChangeShapeType="1"/>
            </p:cNvSpPr>
            <p:nvPr/>
          </p:nvSpPr>
          <p:spPr bwMode="auto">
            <a:xfrm>
              <a:off x="5424817" y="2647088"/>
              <a:ext cx="0" cy="708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12"/>
            <p:cNvSpPr>
              <a:spLocks noChangeShapeType="1"/>
            </p:cNvSpPr>
            <p:nvPr/>
          </p:nvSpPr>
          <p:spPr bwMode="auto">
            <a:xfrm>
              <a:off x="4673267" y="2647088"/>
              <a:ext cx="0" cy="708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Rectangle 57"/>
            <p:cNvSpPr>
              <a:spLocks noChangeArrowheads="1"/>
            </p:cNvSpPr>
            <p:nvPr/>
          </p:nvSpPr>
          <p:spPr bwMode="auto">
            <a:xfrm>
              <a:off x="5804890" y="3836124"/>
              <a:ext cx="392113" cy="700088"/>
            </a:xfrm>
            <a:prstGeom prst="rect">
              <a:avLst/>
            </a:prstGeom>
            <a:solidFill>
              <a:srgbClr val="FF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Freeform 13"/>
            <p:cNvSpPr>
              <a:spLocks/>
            </p:cNvSpPr>
            <p:nvPr/>
          </p:nvSpPr>
          <p:spPr bwMode="auto">
            <a:xfrm>
              <a:off x="4169370" y="3828187"/>
              <a:ext cx="2031073" cy="709612"/>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Line 14"/>
            <p:cNvSpPr>
              <a:spLocks noChangeShapeType="1"/>
            </p:cNvSpPr>
            <p:nvPr/>
          </p:nvSpPr>
          <p:spPr bwMode="auto">
            <a:xfrm>
              <a:off x="5803171" y="3828187"/>
              <a:ext cx="0" cy="709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6" name="Line 15"/>
            <p:cNvSpPr>
              <a:spLocks noChangeShapeType="1"/>
            </p:cNvSpPr>
            <p:nvPr/>
          </p:nvSpPr>
          <p:spPr bwMode="auto">
            <a:xfrm>
              <a:off x="5051621" y="3828187"/>
              <a:ext cx="0" cy="709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7" name="Line 16"/>
            <p:cNvSpPr>
              <a:spLocks noChangeShapeType="1"/>
            </p:cNvSpPr>
            <p:nvPr/>
          </p:nvSpPr>
          <p:spPr bwMode="auto">
            <a:xfrm>
              <a:off x="4673267" y="3828187"/>
              <a:ext cx="0" cy="709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8" name="Text Box 17"/>
            <p:cNvSpPr txBox="1">
              <a:spLocks noChangeArrowheads="1"/>
            </p:cNvSpPr>
            <p:nvPr/>
          </p:nvSpPr>
          <p:spPr bwMode="auto">
            <a:xfrm>
              <a:off x="4279434" y="4515574"/>
              <a:ext cx="1734998" cy="5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低优先级队列</a:t>
              </a:r>
            </a:p>
          </p:txBody>
        </p:sp>
        <p:sp>
          <p:nvSpPr>
            <p:cNvPr id="19" name="AutoShape 18"/>
            <p:cNvSpPr>
              <a:spLocks noChangeArrowheads="1"/>
            </p:cNvSpPr>
            <p:nvPr/>
          </p:nvSpPr>
          <p:spPr bwMode="auto">
            <a:xfrm rot="5400000">
              <a:off x="2556535" y="3213362"/>
              <a:ext cx="709613" cy="754989"/>
            </a:xfrm>
            <a:prstGeom prst="triangle">
              <a:avLst>
                <a:gd name="adj" fmla="val 50000"/>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Text Box 19"/>
            <p:cNvSpPr txBox="1">
              <a:spLocks noChangeArrowheads="1"/>
            </p:cNvSpPr>
            <p:nvPr/>
          </p:nvSpPr>
          <p:spPr bwMode="auto">
            <a:xfrm>
              <a:off x="386020" y="2553666"/>
              <a:ext cx="1241299" cy="90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分组到达</a:t>
              </a:r>
            </a:p>
            <a:p>
              <a:pPr algn="ctr"/>
              <a:r>
                <a:rPr kumimoji="1" lang="zh-CN" altLang="en-US" sz="1400" b="1" dirty="0">
                  <a:latin typeface="微软雅黑" pitchFamily="34" charset="-122"/>
                  <a:ea typeface="微软雅黑" pitchFamily="34" charset="-122"/>
                </a:rPr>
                <a:t>路由器</a:t>
              </a:r>
            </a:p>
          </p:txBody>
        </p:sp>
        <p:sp>
          <p:nvSpPr>
            <p:cNvPr id="21" name="Line 20"/>
            <p:cNvSpPr>
              <a:spLocks noChangeShapeType="1"/>
            </p:cNvSpPr>
            <p:nvPr/>
          </p:nvSpPr>
          <p:spPr bwMode="auto">
            <a:xfrm>
              <a:off x="521691" y="3427433"/>
              <a:ext cx="1131623"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Line 21"/>
            <p:cNvSpPr>
              <a:spLocks noChangeShapeType="1"/>
            </p:cNvSpPr>
            <p:nvPr/>
          </p:nvSpPr>
          <p:spPr bwMode="auto">
            <a:xfrm rot="20256324">
              <a:off x="3163291" y="3223928"/>
              <a:ext cx="1131623" cy="3175"/>
            </a:xfrm>
            <a:prstGeom prst="line">
              <a:avLst/>
            </a:prstGeom>
            <a:noFill/>
            <a:ln w="1905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2"/>
            <p:cNvSpPr>
              <a:spLocks noChangeShapeType="1"/>
            </p:cNvSpPr>
            <p:nvPr/>
          </p:nvSpPr>
          <p:spPr bwMode="auto">
            <a:xfrm rot="1343676" flipV="1">
              <a:off x="3163291" y="3954606"/>
              <a:ext cx="1131623" cy="4761"/>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6181525" y="2999512"/>
              <a:ext cx="959644" cy="38576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flipV="1">
              <a:off x="6181526" y="3769447"/>
              <a:ext cx="959643" cy="41433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6"/>
            <p:cNvSpPr>
              <a:spLocks noChangeShapeType="1"/>
            </p:cNvSpPr>
            <p:nvPr/>
          </p:nvSpPr>
          <p:spPr bwMode="auto">
            <a:xfrm>
              <a:off x="7942592" y="3591649"/>
              <a:ext cx="125716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Text Box 28"/>
            <p:cNvSpPr txBox="1">
              <a:spLocks noChangeArrowheads="1"/>
            </p:cNvSpPr>
            <p:nvPr/>
          </p:nvSpPr>
          <p:spPr bwMode="auto">
            <a:xfrm>
              <a:off x="8551593" y="2552080"/>
              <a:ext cx="1241299" cy="90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分组离开</a:t>
              </a:r>
            </a:p>
            <a:p>
              <a:pPr algn="ctr"/>
              <a:r>
                <a:rPr kumimoji="1" lang="zh-CN" altLang="en-US" sz="1400" b="1" dirty="0">
                  <a:latin typeface="微软雅黑" pitchFamily="34" charset="-122"/>
                  <a:ea typeface="微软雅黑" pitchFamily="34" charset="-122"/>
                </a:rPr>
                <a:t>路由器</a:t>
              </a:r>
            </a:p>
          </p:txBody>
        </p:sp>
        <p:sp>
          <p:nvSpPr>
            <p:cNvPr id="30" name="Text Box 29"/>
            <p:cNvSpPr txBox="1">
              <a:spLocks noChangeArrowheads="1"/>
            </p:cNvSpPr>
            <p:nvPr/>
          </p:nvSpPr>
          <p:spPr bwMode="auto">
            <a:xfrm>
              <a:off x="2231162" y="2761388"/>
              <a:ext cx="994450" cy="5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分类器</a:t>
              </a:r>
            </a:p>
          </p:txBody>
        </p:sp>
        <p:sp>
          <p:nvSpPr>
            <p:cNvPr id="31" name="Text Box 30"/>
            <p:cNvSpPr txBox="1">
              <a:spLocks noChangeArrowheads="1"/>
            </p:cNvSpPr>
            <p:nvPr/>
          </p:nvSpPr>
          <p:spPr bwMode="auto">
            <a:xfrm>
              <a:off x="6748477" y="3913913"/>
              <a:ext cx="1488149" cy="5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（服务员）</a:t>
              </a:r>
            </a:p>
          </p:txBody>
        </p:sp>
        <p:sp>
          <p:nvSpPr>
            <p:cNvPr id="32" name="Line 31"/>
            <p:cNvSpPr>
              <a:spLocks noChangeShapeType="1"/>
            </p:cNvSpPr>
            <p:nvPr/>
          </p:nvSpPr>
          <p:spPr bwMode="auto">
            <a:xfrm>
              <a:off x="1276679" y="3591649"/>
              <a:ext cx="125716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Text Box 50"/>
            <p:cNvSpPr txBox="1">
              <a:spLocks noChangeArrowheads="1"/>
            </p:cNvSpPr>
            <p:nvPr/>
          </p:nvSpPr>
          <p:spPr bwMode="auto">
            <a:xfrm>
              <a:off x="4490970" y="1515903"/>
              <a:ext cx="1100243" cy="585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路由器</a:t>
              </a:r>
            </a:p>
          </p:txBody>
        </p:sp>
        <p:sp>
          <p:nvSpPr>
            <p:cNvPr id="35" name="Line 52"/>
            <p:cNvSpPr>
              <a:spLocks noChangeShapeType="1"/>
            </p:cNvSpPr>
            <p:nvPr/>
          </p:nvSpPr>
          <p:spPr bwMode="auto">
            <a:xfrm>
              <a:off x="5051621" y="2647088"/>
              <a:ext cx="0" cy="708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6" name="Line 53"/>
            <p:cNvSpPr>
              <a:spLocks noChangeShapeType="1"/>
            </p:cNvSpPr>
            <p:nvPr/>
          </p:nvSpPr>
          <p:spPr bwMode="auto">
            <a:xfrm>
              <a:off x="5445454" y="3828187"/>
              <a:ext cx="0" cy="709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Oval 23"/>
            <p:cNvSpPr>
              <a:spLocks noChangeArrowheads="1"/>
            </p:cNvSpPr>
            <p:nvPr/>
          </p:nvSpPr>
          <p:spPr bwMode="auto">
            <a:xfrm>
              <a:off x="7062059" y="3118574"/>
              <a:ext cx="880533" cy="82708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400" b="1" dirty="0">
                  <a:latin typeface="微软雅黑" pitchFamily="34" charset="-122"/>
                  <a:ea typeface="微软雅黑" pitchFamily="34" charset="-122"/>
                </a:rPr>
                <a:t>调度</a:t>
              </a:r>
            </a:p>
          </p:txBody>
        </p:sp>
        <p:sp>
          <p:nvSpPr>
            <p:cNvPr id="28" name="Line 27"/>
            <p:cNvSpPr>
              <a:spLocks noChangeShapeType="1"/>
            </p:cNvSpPr>
            <p:nvPr/>
          </p:nvSpPr>
          <p:spPr bwMode="auto">
            <a:xfrm>
              <a:off x="8559996" y="3442484"/>
              <a:ext cx="1133343" cy="0"/>
            </a:xfrm>
            <a:prstGeom prst="line">
              <a:avLst/>
            </a:prstGeom>
            <a:noFill/>
            <a:ln w="38100">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
        <p:nvSpPr>
          <p:cNvPr id="42" name="Rectangle 46"/>
          <p:cNvSpPr>
            <a:spLocks noChangeArrowheads="1"/>
          </p:cNvSpPr>
          <p:nvPr/>
        </p:nvSpPr>
        <p:spPr bwMode="auto">
          <a:xfrm>
            <a:off x="511896" y="917439"/>
            <a:ext cx="8129015"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在先进先出的基础上增加</a:t>
            </a:r>
            <a:r>
              <a:rPr lang="zh-CN" altLang="en-US" sz="2000" b="1" dirty="0">
                <a:solidFill>
                  <a:srgbClr val="C00000"/>
                </a:solidFill>
                <a:latin typeface="微软雅黑" pitchFamily="34" charset="-122"/>
                <a:ea typeface="微软雅黑" pitchFamily="34" charset="-122"/>
              </a:rPr>
              <a:t>按优先级排队，</a:t>
            </a:r>
            <a:r>
              <a:rPr lang="zh-CN" altLang="en-US" sz="2000" b="1" dirty="0">
                <a:latin typeface="微软雅黑" pitchFamily="34" charset="-122"/>
                <a:ea typeface="微软雅黑" pitchFamily="34" charset="-122"/>
              </a:rPr>
              <a:t>就能使优先级高的分组优先得到服务。</a:t>
            </a:r>
          </a:p>
        </p:txBody>
      </p:sp>
    </p:spTree>
    <p:extLst>
      <p:ext uri="{BB962C8B-B14F-4D97-AF65-F5344CB8AC3E}">
        <p14:creationId xmlns:p14="http://schemas.microsoft.com/office/powerpoint/2010/main" val="3085284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矩形 4"/>
          <p:cNvSpPr>
            <a:spLocks noChangeArrowheads="1"/>
          </p:cNvSpPr>
          <p:nvPr/>
        </p:nvSpPr>
        <p:spPr bwMode="auto">
          <a:xfrm>
            <a:off x="635844" y="558636"/>
            <a:ext cx="48013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优先级排队：高优先级分组优先接受服务</a:t>
            </a:r>
          </a:p>
        </p:txBody>
      </p:sp>
      <p:sp>
        <p:nvSpPr>
          <p:cNvPr id="4" name="圆角矩形 3"/>
          <p:cNvSpPr/>
          <p:nvPr/>
        </p:nvSpPr>
        <p:spPr>
          <a:xfrm>
            <a:off x="517852" y="966645"/>
            <a:ext cx="8133857" cy="256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1198920" y="3539327"/>
            <a:ext cx="6771720" cy="75918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nSpc>
                <a:spcPts val="2600"/>
              </a:lnSpc>
            </a:pPr>
            <a:r>
              <a:rPr lang="zh-CN" altLang="en-US" b="1" dirty="0">
                <a:solidFill>
                  <a:srgbClr val="C00000"/>
                </a:solidFill>
                <a:latin typeface="微软雅黑" pitchFamily="34" charset="-122"/>
                <a:ea typeface="微软雅黑" pitchFamily="34" charset="-122"/>
              </a:rPr>
              <a:t>缺点：</a:t>
            </a:r>
            <a:r>
              <a:rPr lang="zh-CN" altLang="en-US" b="1" dirty="0">
                <a:solidFill>
                  <a:srgbClr val="0000FF"/>
                </a:solidFill>
                <a:latin typeface="微软雅黑" pitchFamily="34" charset="-122"/>
                <a:ea typeface="微软雅黑" pitchFamily="34" charset="-122"/>
              </a:rPr>
              <a:t>不公平。</a:t>
            </a:r>
            <a:r>
              <a:rPr lang="zh-CN" altLang="en-US" b="1" dirty="0">
                <a:latin typeface="微软雅黑" pitchFamily="34" charset="-122"/>
                <a:ea typeface="微软雅黑" pitchFamily="34" charset="-122"/>
              </a:rPr>
              <a:t>在高优先级队列中总是有分组时，低优先级队列中的分组就长期得不到服务。</a:t>
            </a:r>
          </a:p>
        </p:txBody>
      </p:sp>
      <p:grpSp>
        <p:nvGrpSpPr>
          <p:cNvPr id="48" name="组合 47"/>
          <p:cNvGrpSpPr/>
          <p:nvPr/>
        </p:nvGrpSpPr>
        <p:grpSpPr>
          <a:xfrm>
            <a:off x="984883" y="1203658"/>
            <a:ext cx="7199793" cy="1964380"/>
            <a:chOff x="142493" y="1555674"/>
            <a:chExt cx="9769204" cy="2665414"/>
          </a:xfrm>
        </p:grpSpPr>
        <p:sp>
          <p:nvSpPr>
            <p:cNvPr id="6" name="Text Box 5"/>
            <p:cNvSpPr txBox="1">
              <a:spLocks noChangeArrowheads="1"/>
            </p:cNvSpPr>
            <p:nvPr/>
          </p:nvSpPr>
          <p:spPr bwMode="auto">
            <a:xfrm>
              <a:off x="9561076" y="2500237"/>
              <a:ext cx="350621"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a:latin typeface="微软雅黑" pitchFamily="34" charset="-122"/>
                  <a:ea typeface="微软雅黑" pitchFamily="34" charset="-122"/>
                </a:rPr>
                <a:t>t</a:t>
              </a:r>
            </a:p>
          </p:txBody>
        </p:sp>
        <p:sp>
          <p:nvSpPr>
            <p:cNvPr id="7" name="AutoShape 6"/>
            <p:cNvSpPr>
              <a:spLocks noChangeArrowheads="1"/>
            </p:cNvSpPr>
            <p:nvPr/>
          </p:nvSpPr>
          <p:spPr bwMode="auto">
            <a:xfrm>
              <a:off x="1053266" y="1901750"/>
              <a:ext cx="450585"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微软雅黑" pitchFamily="34" charset="-122"/>
                  <a:ea typeface="微软雅黑" pitchFamily="34" charset="-122"/>
                </a:rPr>
                <a:t>1</a:t>
              </a:r>
            </a:p>
          </p:txBody>
        </p:sp>
        <p:sp>
          <p:nvSpPr>
            <p:cNvPr id="8" name="AutoShape 7"/>
            <p:cNvSpPr>
              <a:spLocks noChangeArrowheads="1"/>
            </p:cNvSpPr>
            <p:nvPr/>
          </p:nvSpPr>
          <p:spPr bwMode="auto">
            <a:xfrm>
              <a:off x="1593280" y="1901750"/>
              <a:ext cx="448866" cy="430213"/>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2</a:t>
              </a:r>
            </a:p>
          </p:txBody>
        </p:sp>
        <p:sp>
          <p:nvSpPr>
            <p:cNvPr id="9" name="AutoShape 8"/>
            <p:cNvSpPr>
              <a:spLocks noChangeArrowheads="1"/>
            </p:cNvSpPr>
            <p:nvPr/>
          </p:nvSpPr>
          <p:spPr bwMode="auto">
            <a:xfrm>
              <a:off x="2133296" y="1901750"/>
              <a:ext cx="450585"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3</a:t>
              </a:r>
            </a:p>
          </p:txBody>
        </p:sp>
        <p:sp>
          <p:nvSpPr>
            <p:cNvPr id="10" name="AutoShape 9"/>
            <p:cNvSpPr>
              <a:spLocks noChangeArrowheads="1"/>
            </p:cNvSpPr>
            <p:nvPr/>
          </p:nvSpPr>
          <p:spPr bwMode="auto">
            <a:xfrm>
              <a:off x="5277074" y="1901750"/>
              <a:ext cx="448866"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5</a:t>
              </a:r>
            </a:p>
          </p:txBody>
        </p:sp>
        <p:sp>
          <p:nvSpPr>
            <p:cNvPr id="11" name="Rectangle 10"/>
            <p:cNvSpPr>
              <a:spLocks noChangeArrowheads="1"/>
            </p:cNvSpPr>
            <p:nvPr/>
          </p:nvSpPr>
          <p:spPr bwMode="auto">
            <a:xfrm>
              <a:off x="965557" y="2760588"/>
              <a:ext cx="8088180" cy="687387"/>
            </a:xfrm>
            <a:prstGeom prst="rect">
              <a:avLst/>
            </a:prstGeom>
            <a:solidFill>
              <a:srgbClr val="00B0F0"/>
            </a:solidFill>
            <a:ln w="19050">
              <a:solidFill>
                <a:srgbClr val="0000FF"/>
              </a:solidFill>
              <a:prstDash val="sys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微软雅黑" pitchFamily="34" charset="-122"/>
                <a:ea typeface="微软雅黑" pitchFamily="34" charset="-122"/>
              </a:endParaRPr>
            </a:p>
          </p:txBody>
        </p:sp>
        <p:sp>
          <p:nvSpPr>
            <p:cNvPr id="12" name="Line 11"/>
            <p:cNvSpPr>
              <a:spLocks noChangeShapeType="1"/>
            </p:cNvSpPr>
            <p:nvPr/>
          </p:nvSpPr>
          <p:spPr bwMode="auto">
            <a:xfrm>
              <a:off x="2582161" y="2760588"/>
              <a:ext cx="0" cy="687387"/>
            </a:xfrm>
            <a:prstGeom prst="line">
              <a:avLst/>
            </a:prstGeom>
            <a:noFill/>
            <a:ln w="1905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3" name="Line 12"/>
            <p:cNvSpPr>
              <a:spLocks noChangeShapeType="1"/>
            </p:cNvSpPr>
            <p:nvPr/>
          </p:nvSpPr>
          <p:spPr bwMode="auto">
            <a:xfrm>
              <a:off x="4200484" y="2760588"/>
              <a:ext cx="0" cy="687387"/>
            </a:xfrm>
            <a:prstGeom prst="line">
              <a:avLst/>
            </a:prstGeom>
            <a:noFill/>
            <a:ln w="1905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4" name="Line 13"/>
            <p:cNvSpPr>
              <a:spLocks noChangeShapeType="1"/>
            </p:cNvSpPr>
            <p:nvPr/>
          </p:nvSpPr>
          <p:spPr bwMode="auto">
            <a:xfrm>
              <a:off x="5818809" y="2760588"/>
              <a:ext cx="0" cy="687387"/>
            </a:xfrm>
            <a:prstGeom prst="line">
              <a:avLst/>
            </a:prstGeom>
            <a:noFill/>
            <a:ln w="1905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5" name="Line 14"/>
            <p:cNvSpPr>
              <a:spLocks noChangeShapeType="1"/>
            </p:cNvSpPr>
            <p:nvPr/>
          </p:nvSpPr>
          <p:spPr bwMode="auto">
            <a:xfrm>
              <a:off x="7438853" y="2760588"/>
              <a:ext cx="0" cy="687387"/>
            </a:xfrm>
            <a:prstGeom prst="line">
              <a:avLst/>
            </a:prstGeom>
            <a:noFill/>
            <a:ln w="1905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16" name="Text Box 15"/>
            <p:cNvSpPr txBox="1">
              <a:spLocks noChangeArrowheads="1"/>
            </p:cNvSpPr>
            <p:nvPr/>
          </p:nvSpPr>
          <p:spPr bwMode="auto">
            <a:xfrm>
              <a:off x="142493" y="1895400"/>
              <a:ext cx="807387" cy="45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到达</a:t>
              </a:r>
            </a:p>
          </p:txBody>
        </p:sp>
        <p:sp>
          <p:nvSpPr>
            <p:cNvPr id="17" name="Text Box 16"/>
            <p:cNvSpPr txBox="1">
              <a:spLocks noChangeArrowheads="1"/>
            </p:cNvSpPr>
            <p:nvPr/>
          </p:nvSpPr>
          <p:spPr bwMode="auto">
            <a:xfrm>
              <a:off x="142493" y="3640061"/>
              <a:ext cx="807387" cy="45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离开</a:t>
              </a:r>
            </a:p>
          </p:txBody>
        </p:sp>
        <p:sp>
          <p:nvSpPr>
            <p:cNvPr id="18" name="Text Box 17"/>
            <p:cNvSpPr txBox="1">
              <a:spLocks noChangeArrowheads="1"/>
            </p:cNvSpPr>
            <p:nvPr/>
          </p:nvSpPr>
          <p:spPr bwMode="auto">
            <a:xfrm>
              <a:off x="159691" y="2747888"/>
              <a:ext cx="807387" cy="793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latin typeface="微软雅黑" pitchFamily="34" charset="-122"/>
                  <a:ea typeface="微软雅黑" pitchFamily="34" charset="-122"/>
                </a:rPr>
                <a:t>接受</a:t>
              </a:r>
            </a:p>
            <a:p>
              <a:r>
                <a:rPr kumimoji="1" lang="zh-CN" altLang="en-US" sz="1600" b="1">
                  <a:latin typeface="微软雅黑" pitchFamily="34" charset="-122"/>
                  <a:ea typeface="微软雅黑" pitchFamily="34" charset="-122"/>
                </a:rPr>
                <a:t>服务</a:t>
              </a:r>
            </a:p>
          </p:txBody>
        </p:sp>
        <p:sp>
          <p:nvSpPr>
            <p:cNvPr id="19" name="AutoShape 18"/>
            <p:cNvSpPr>
              <a:spLocks noChangeArrowheads="1"/>
            </p:cNvSpPr>
            <p:nvPr/>
          </p:nvSpPr>
          <p:spPr bwMode="auto">
            <a:xfrm>
              <a:off x="4377624" y="1901750"/>
              <a:ext cx="448865" cy="430213"/>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4</a:t>
              </a:r>
            </a:p>
          </p:txBody>
        </p:sp>
        <p:sp>
          <p:nvSpPr>
            <p:cNvPr id="20" name="Line 19"/>
            <p:cNvSpPr>
              <a:spLocks noChangeShapeType="1"/>
            </p:cNvSpPr>
            <p:nvPr/>
          </p:nvSpPr>
          <p:spPr bwMode="auto">
            <a:xfrm>
              <a:off x="1232124"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1" name="Line 20"/>
            <p:cNvSpPr>
              <a:spLocks noChangeShapeType="1"/>
            </p:cNvSpPr>
            <p:nvPr/>
          </p:nvSpPr>
          <p:spPr bwMode="auto">
            <a:xfrm>
              <a:off x="1772139"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2" name="Line 21"/>
            <p:cNvSpPr>
              <a:spLocks noChangeShapeType="1"/>
            </p:cNvSpPr>
            <p:nvPr/>
          </p:nvSpPr>
          <p:spPr bwMode="auto">
            <a:xfrm>
              <a:off x="2310434"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3" name="Line 22"/>
            <p:cNvSpPr>
              <a:spLocks noChangeShapeType="1"/>
            </p:cNvSpPr>
            <p:nvPr/>
          </p:nvSpPr>
          <p:spPr bwMode="auto">
            <a:xfrm>
              <a:off x="4558201"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4" name="Line 23"/>
            <p:cNvSpPr>
              <a:spLocks noChangeShapeType="1"/>
            </p:cNvSpPr>
            <p:nvPr/>
          </p:nvSpPr>
          <p:spPr bwMode="auto">
            <a:xfrm>
              <a:off x="5457653" y="23319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25" name="AutoShape 24"/>
            <p:cNvSpPr>
              <a:spLocks noChangeArrowheads="1"/>
            </p:cNvSpPr>
            <p:nvPr/>
          </p:nvSpPr>
          <p:spPr bwMode="auto">
            <a:xfrm>
              <a:off x="1502132" y="2933624"/>
              <a:ext cx="448865" cy="428625"/>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1</a:t>
              </a:r>
            </a:p>
          </p:txBody>
        </p:sp>
        <p:sp>
          <p:nvSpPr>
            <p:cNvPr id="26" name="AutoShape 25"/>
            <p:cNvSpPr>
              <a:spLocks noChangeArrowheads="1"/>
            </p:cNvSpPr>
            <p:nvPr/>
          </p:nvSpPr>
          <p:spPr bwMode="auto">
            <a:xfrm>
              <a:off x="3118737" y="2933624"/>
              <a:ext cx="450585" cy="428625"/>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3</a:t>
              </a:r>
            </a:p>
          </p:txBody>
        </p:sp>
        <p:sp>
          <p:nvSpPr>
            <p:cNvPr id="27" name="AutoShape 26"/>
            <p:cNvSpPr>
              <a:spLocks noChangeArrowheads="1"/>
            </p:cNvSpPr>
            <p:nvPr/>
          </p:nvSpPr>
          <p:spPr bwMode="auto">
            <a:xfrm>
              <a:off x="4737060" y="2933624"/>
              <a:ext cx="450585" cy="428625"/>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微软雅黑" pitchFamily="34" charset="-122"/>
                  <a:ea typeface="微软雅黑" pitchFamily="34" charset="-122"/>
                </a:rPr>
                <a:t>2</a:t>
              </a:r>
            </a:p>
          </p:txBody>
        </p:sp>
        <p:sp>
          <p:nvSpPr>
            <p:cNvPr id="28" name="AutoShape 27"/>
            <p:cNvSpPr>
              <a:spLocks noChangeArrowheads="1"/>
            </p:cNvSpPr>
            <p:nvPr/>
          </p:nvSpPr>
          <p:spPr bwMode="auto">
            <a:xfrm>
              <a:off x="6355385" y="2933624"/>
              <a:ext cx="448865" cy="428625"/>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5</a:t>
              </a:r>
            </a:p>
          </p:txBody>
        </p:sp>
        <p:sp>
          <p:nvSpPr>
            <p:cNvPr id="29" name="AutoShape 28"/>
            <p:cNvSpPr>
              <a:spLocks noChangeArrowheads="1"/>
            </p:cNvSpPr>
            <p:nvPr/>
          </p:nvSpPr>
          <p:spPr bwMode="auto">
            <a:xfrm>
              <a:off x="7973707" y="2933624"/>
              <a:ext cx="448866" cy="428625"/>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4</a:t>
              </a:r>
            </a:p>
          </p:txBody>
        </p:sp>
        <p:sp>
          <p:nvSpPr>
            <p:cNvPr id="30" name="Line 29"/>
            <p:cNvSpPr>
              <a:spLocks noChangeShapeType="1"/>
            </p:cNvSpPr>
            <p:nvPr/>
          </p:nvSpPr>
          <p:spPr bwMode="auto">
            <a:xfrm>
              <a:off x="2580441" y="344956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1" name="Line 30"/>
            <p:cNvSpPr>
              <a:spLocks noChangeShapeType="1"/>
            </p:cNvSpPr>
            <p:nvPr/>
          </p:nvSpPr>
          <p:spPr bwMode="auto">
            <a:xfrm>
              <a:off x="4198765" y="3447974"/>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2" name="Line 31"/>
            <p:cNvSpPr>
              <a:spLocks noChangeShapeType="1"/>
            </p:cNvSpPr>
            <p:nvPr/>
          </p:nvSpPr>
          <p:spPr bwMode="auto">
            <a:xfrm>
              <a:off x="5817089" y="3446387"/>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3" name="Line 32"/>
            <p:cNvSpPr>
              <a:spLocks noChangeShapeType="1"/>
            </p:cNvSpPr>
            <p:nvPr/>
          </p:nvSpPr>
          <p:spPr bwMode="auto">
            <a:xfrm>
              <a:off x="7437132" y="3444799"/>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4" name="Line 33"/>
            <p:cNvSpPr>
              <a:spLocks noChangeShapeType="1"/>
            </p:cNvSpPr>
            <p:nvPr/>
          </p:nvSpPr>
          <p:spPr bwMode="auto">
            <a:xfrm>
              <a:off x="9055457" y="3443212"/>
              <a:ext cx="0" cy="3429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35" name="AutoShape 34"/>
            <p:cNvSpPr>
              <a:spLocks noChangeArrowheads="1"/>
            </p:cNvSpPr>
            <p:nvPr/>
          </p:nvSpPr>
          <p:spPr bwMode="auto">
            <a:xfrm>
              <a:off x="2310435" y="3790875"/>
              <a:ext cx="448865"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1</a:t>
              </a:r>
            </a:p>
          </p:txBody>
        </p:sp>
        <p:sp>
          <p:nvSpPr>
            <p:cNvPr id="36" name="AutoShape 35"/>
            <p:cNvSpPr>
              <a:spLocks noChangeArrowheads="1"/>
            </p:cNvSpPr>
            <p:nvPr/>
          </p:nvSpPr>
          <p:spPr bwMode="auto">
            <a:xfrm>
              <a:off x="3928758" y="3790875"/>
              <a:ext cx="450585"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3</a:t>
              </a:r>
            </a:p>
          </p:txBody>
        </p:sp>
        <p:sp>
          <p:nvSpPr>
            <p:cNvPr id="37" name="AutoShape 36"/>
            <p:cNvSpPr>
              <a:spLocks noChangeArrowheads="1"/>
            </p:cNvSpPr>
            <p:nvPr/>
          </p:nvSpPr>
          <p:spPr bwMode="auto">
            <a:xfrm>
              <a:off x="5545362" y="3790875"/>
              <a:ext cx="450585" cy="430213"/>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dirty="0">
                  <a:latin typeface="微软雅黑" pitchFamily="34" charset="-122"/>
                  <a:ea typeface="微软雅黑" pitchFamily="34" charset="-122"/>
                </a:rPr>
                <a:t>2</a:t>
              </a:r>
            </a:p>
          </p:txBody>
        </p:sp>
        <p:sp>
          <p:nvSpPr>
            <p:cNvPr id="38" name="AutoShape 37"/>
            <p:cNvSpPr>
              <a:spLocks noChangeArrowheads="1"/>
            </p:cNvSpPr>
            <p:nvPr/>
          </p:nvSpPr>
          <p:spPr bwMode="auto">
            <a:xfrm>
              <a:off x="7165405" y="3790875"/>
              <a:ext cx="448866" cy="430213"/>
            </a:xfrm>
            <a:prstGeom prst="cube">
              <a:avLst>
                <a:gd name="adj" fmla="val 25000"/>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5</a:t>
              </a:r>
            </a:p>
          </p:txBody>
        </p:sp>
        <p:sp>
          <p:nvSpPr>
            <p:cNvPr id="39" name="AutoShape 38"/>
            <p:cNvSpPr>
              <a:spLocks noChangeArrowheads="1"/>
            </p:cNvSpPr>
            <p:nvPr/>
          </p:nvSpPr>
          <p:spPr bwMode="auto">
            <a:xfrm>
              <a:off x="8782010" y="3790875"/>
              <a:ext cx="448866" cy="430213"/>
            </a:xfrm>
            <a:prstGeom prst="cube">
              <a:avLst>
                <a:gd name="adj" fmla="val 25000"/>
              </a:avLst>
            </a:prstGeom>
            <a:solidFill>
              <a:srgbClr val="FF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400" b="1">
                  <a:latin typeface="微软雅黑" pitchFamily="34" charset="-122"/>
                  <a:ea typeface="微软雅黑" pitchFamily="34" charset="-122"/>
                </a:rPr>
                <a:t>4</a:t>
              </a:r>
            </a:p>
          </p:txBody>
        </p:sp>
        <p:sp>
          <p:nvSpPr>
            <p:cNvPr id="40" name="Line 39"/>
            <p:cNvSpPr>
              <a:spLocks noChangeShapeType="1"/>
            </p:cNvSpPr>
            <p:nvPr/>
          </p:nvSpPr>
          <p:spPr bwMode="auto">
            <a:xfrm>
              <a:off x="9052018" y="2760587"/>
              <a:ext cx="538294" cy="0"/>
            </a:xfrm>
            <a:prstGeom prst="line">
              <a:avLst/>
            </a:prstGeom>
            <a:noFill/>
            <a:ln w="19050">
              <a:solidFill>
                <a:srgbClr val="0000FF"/>
              </a:solidFill>
              <a:prstDash val="sys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41" name="Line 40"/>
            <p:cNvSpPr>
              <a:spLocks noChangeShapeType="1"/>
            </p:cNvSpPr>
            <p:nvPr/>
          </p:nvSpPr>
          <p:spPr bwMode="auto">
            <a:xfrm>
              <a:off x="9052018" y="3447974"/>
              <a:ext cx="538294" cy="0"/>
            </a:xfrm>
            <a:prstGeom prst="line">
              <a:avLst/>
            </a:prstGeom>
            <a:noFill/>
            <a:ln w="19050">
              <a:solidFill>
                <a:srgbClr val="0000FF"/>
              </a:solidFill>
              <a:prstDash val="sys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微软雅黑" pitchFamily="34" charset="-122"/>
                <a:ea typeface="微软雅黑" pitchFamily="34" charset="-122"/>
              </a:endParaRPr>
            </a:p>
          </p:txBody>
        </p:sp>
        <p:sp>
          <p:nvSpPr>
            <p:cNvPr id="42" name="Text Box 41"/>
            <p:cNvSpPr txBox="1">
              <a:spLocks noChangeArrowheads="1"/>
            </p:cNvSpPr>
            <p:nvPr/>
          </p:nvSpPr>
          <p:spPr bwMode="auto">
            <a:xfrm>
              <a:off x="9561076" y="3189212"/>
              <a:ext cx="350621"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a:latin typeface="微软雅黑" pitchFamily="34" charset="-122"/>
                  <a:ea typeface="微软雅黑" pitchFamily="34" charset="-122"/>
                </a:rPr>
                <a:t>t</a:t>
              </a:r>
            </a:p>
          </p:txBody>
        </p:sp>
        <p:sp>
          <p:nvSpPr>
            <p:cNvPr id="43" name="Text Box 42"/>
            <p:cNvSpPr txBox="1">
              <a:spLocks noChangeArrowheads="1"/>
            </p:cNvSpPr>
            <p:nvPr/>
          </p:nvSpPr>
          <p:spPr bwMode="auto">
            <a:xfrm>
              <a:off x="1103244"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高</a:t>
              </a:r>
            </a:p>
          </p:txBody>
        </p:sp>
        <p:sp>
          <p:nvSpPr>
            <p:cNvPr id="44" name="Text Box 43"/>
            <p:cNvSpPr txBox="1">
              <a:spLocks noChangeArrowheads="1"/>
            </p:cNvSpPr>
            <p:nvPr/>
          </p:nvSpPr>
          <p:spPr bwMode="auto">
            <a:xfrm>
              <a:off x="2166041"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高</a:t>
              </a:r>
            </a:p>
          </p:txBody>
        </p:sp>
        <p:sp>
          <p:nvSpPr>
            <p:cNvPr id="45" name="Text Box 44"/>
            <p:cNvSpPr txBox="1">
              <a:spLocks noChangeArrowheads="1"/>
            </p:cNvSpPr>
            <p:nvPr/>
          </p:nvSpPr>
          <p:spPr bwMode="auto">
            <a:xfrm>
              <a:off x="5337387"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高</a:t>
              </a:r>
            </a:p>
          </p:txBody>
        </p:sp>
        <p:sp>
          <p:nvSpPr>
            <p:cNvPr id="46" name="Text Box 45"/>
            <p:cNvSpPr txBox="1">
              <a:spLocks noChangeArrowheads="1"/>
            </p:cNvSpPr>
            <p:nvPr/>
          </p:nvSpPr>
          <p:spPr bwMode="auto">
            <a:xfrm>
              <a:off x="1634642"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低</a:t>
              </a:r>
            </a:p>
          </p:txBody>
        </p:sp>
        <p:sp>
          <p:nvSpPr>
            <p:cNvPr id="47" name="Text Box 46"/>
            <p:cNvSpPr txBox="1">
              <a:spLocks noChangeArrowheads="1"/>
            </p:cNvSpPr>
            <p:nvPr/>
          </p:nvSpPr>
          <p:spPr bwMode="auto">
            <a:xfrm>
              <a:off x="4431040" y="1555674"/>
              <a:ext cx="494176" cy="417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低</a:t>
              </a:r>
            </a:p>
          </p:txBody>
        </p:sp>
      </p:grpSp>
    </p:spTree>
    <p:extLst>
      <p:ext uri="{BB962C8B-B14F-4D97-AF65-F5344CB8AC3E}">
        <p14:creationId xmlns:p14="http://schemas.microsoft.com/office/powerpoint/2010/main" val="35100979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圆角矩形 56"/>
          <p:cNvSpPr/>
          <p:nvPr/>
        </p:nvSpPr>
        <p:spPr>
          <a:xfrm>
            <a:off x="517853" y="967332"/>
            <a:ext cx="8133857" cy="256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矩形 4"/>
          <p:cNvSpPr>
            <a:spLocks noChangeArrowheads="1"/>
          </p:cNvSpPr>
          <p:nvPr/>
        </p:nvSpPr>
        <p:spPr bwMode="auto">
          <a:xfrm>
            <a:off x="635844" y="558636"/>
            <a:ext cx="35632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公平排队 </a:t>
            </a:r>
            <a:r>
              <a:rPr lang="en-US" altLang="zh-CN" sz="2000" b="1" dirty="0">
                <a:latin typeface="微软雅黑" pitchFamily="34" charset="-122"/>
                <a:ea typeface="微软雅黑" pitchFamily="34" charset="-122"/>
              </a:rPr>
              <a:t>FQ (Fair Queuing)</a:t>
            </a:r>
          </a:p>
        </p:txBody>
      </p:sp>
      <p:sp>
        <p:nvSpPr>
          <p:cNvPr id="5" name="矩形 4"/>
          <p:cNvSpPr/>
          <p:nvPr/>
        </p:nvSpPr>
        <p:spPr>
          <a:xfrm>
            <a:off x="1424225" y="3590468"/>
            <a:ext cx="6231544" cy="75918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nSpc>
                <a:spcPts val="2600"/>
              </a:lnSpc>
            </a:pPr>
            <a:r>
              <a:rPr lang="zh-CN" altLang="en-US" b="1" dirty="0">
                <a:solidFill>
                  <a:srgbClr val="C00000"/>
                </a:solidFill>
                <a:latin typeface="微软雅黑" pitchFamily="34" charset="-122"/>
                <a:ea typeface="微软雅黑" pitchFamily="34" charset="-122"/>
              </a:rPr>
              <a:t>缺点：</a:t>
            </a:r>
            <a:r>
              <a:rPr lang="zh-CN" altLang="en-US" b="1" dirty="0">
                <a:solidFill>
                  <a:srgbClr val="0000FF"/>
                </a:solidFill>
                <a:latin typeface="微软雅黑" pitchFamily="34" charset="-122"/>
                <a:ea typeface="微软雅黑" pitchFamily="34" charset="-122"/>
              </a:rPr>
              <a:t>不是真公平。</a:t>
            </a:r>
            <a:r>
              <a:rPr lang="zh-CN" altLang="en-US" b="1" dirty="0">
                <a:solidFill>
                  <a:schemeClr val="tx1"/>
                </a:solidFill>
                <a:latin typeface="微软雅黑" pitchFamily="34" charset="-122"/>
                <a:ea typeface="微软雅黑" pitchFamily="34" charset="-122"/>
              </a:rPr>
              <a:t>长分组得到的服务时间长，短分组就比较吃亏，并且公平排队并没有区分分组的优先级。</a:t>
            </a:r>
          </a:p>
        </p:txBody>
      </p:sp>
      <p:grpSp>
        <p:nvGrpSpPr>
          <p:cNvPr id="54" name="组合 53"/>
          <p:cNvGrpSpPr/>
          <p:nvPr/>
        </p:nvGrpSpPr>
        <p:grpSpPr>
          <a:xfrm>
            <a:off x="1295941" y="1012616"/>
            <a:ext cx="6496547" cy="2270516"/>
            <a:chOff x="474148" y="1401148"/>
            <a:chExt cx="9008019" cy="3427358"/>
          </a:xfrm>
        </p:grpSpPr>
        <p:sp>
          <p:nvSpPr>
            <p:cNvPr id="6" name="Text Box 33"/>
            <p:cNvSpPr txBox="1">
              <a:spLocks noChangeArrowheads="1"/>
            </p:cNvSpPr>
            <p:nvPr/>
          </p:nvSpPr>
          <p:spPr bwMode="auto">
            <a:xfrm>
              <a:off x="8249325" y="2520530"/>
              <a:ext cx="1232842" cy="71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分组离开</a:t>
              </a:r>
            </a:p>
            <a:p>
              <a:pPr algn="ctr"/>
              <a:r>
                <a:rPr kumimoji="1" lang="zh-CN" altLang="en-US" sz="1400" b="1" dirty="0">
                  <a:latin typeface="微软雅黑" pitchFamily="34" charset="-122"/>
                  <a:ea typeface="微软雅黑" pitchFamily="34" charset="-122"/>
                </a:rPr>
                <a:t>路由器</a:t>
              </a:r>
            </a:p>
          </p:txBody>
        </p:sp>
        <p:sp>
          <p:nvSpPr>
            <p:cNvPr id="7" name="Rectangle 4"/>
            <p:cNvSpPr>
              <a:spLocks noChangeArrowheads="1"/>
            </p:cNvSpPr>
            <p:nvPr/>
          </p:nvSpPr>
          <p:spPr bwMode="auto">
            <a:xfrm>
              <a:off x="1850717" y="1870993"/>
              <a:ext cx="6289279" cy="2957513"/>
            </a:xfrm>
            <a:prstGeom prst="rect">
              <a:avLst/>
            </a:prstGeom>
            <a:solidFill>
              <a:srgbClr val="66FFFF"/>
            </a:solidFill>
            <a:ln w="9525" algn="ctr">
              <a:solidFill>
                <a:srgbClr val="0000FF"/>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Rectangle 5"/>
            <p:cNvSpPr>
              <a:spLocks noChangeArrowheads="1"/>
            </p:cNvSpPr>
            <p:nvPr/>
          </p:nvSpPr>
          <p:spPr bwMode="auto">
            <a:xfrm>
              <a:off x="5493236" y="3071143"/>
              <a:ext cx="240771" cy="639762"/>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Rectangle 6"/>
            <p:cNvSpPr>
              <a:spLocks noChangeArrowheads="1"/>
            </p:cNvSpPr>
            <p:nvPr/>
          </p:nvSpPr>
          <p:spPr bwMode="auto">
            <a:xfrm>
              <a:off x="5008255" y="2112293"/>
              <a:ext cx="703395" cy="638175"/>
            </a:xfrm>
            <a:prstGeom prst="rect">
              <a:avLst/>
            </a:prstGeom>
            <a:solidFill>
              <a:srgbClr val="CC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Freeform 7"/>
            <p:cNvSpPr>
              <a:spLocks/>
            </p:cNvSpPr>
            <p:nvPr/>
          </p:nvSpPr>
          <p:spPr bwMode="auto">
            <a:xfrm>
              <a:off x="3821599" y="2112293"/>
              <a:ext cx="1890052" cy="638175"/>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1" name="Line 8"/>
            <p:cNvSpPr>
              <a:spLocks noChangeShapeType="1"/>
            </p:cNvSpPr>
            <p:nvPr/>
          </p:nvSpPr>
          <p:spPr bwMode="auto">
            <a:xfrm>
              <a:off x="5477758"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9"/>
            <p:cNvSpPr>
              <a:spLocks noChangeShapeType="1"/>
            </p:cNvSpPr>
            <p:nvPr/>
          </p:nvSpPr>
          <p:spPr bwMode="auto">
            <a:xfrm>
              <a:off x="5242146"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a:off x="5008255"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a:off x="4774363"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a:off x="4540471"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6" name="Line 13"/>
            <p:cNvSpPr>
              <a:spLocks noChangeShapeType="1"/>
            </p:cNvSpPr>
            <p:nvPr/>
          </p:nvSpPr>
          <p:spPr bwMode="auto">
            <a:xfrm>
              <a:off x="4306580"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7" name="Line 14"/>
            <p:cNvSpPr>
              <a:spLocks noChangeShapeType="1"/>
            </p:cNvSpPr>
            <p:nvPr/>
          </p:nvSpPr>
          <p:spPr bwMode="auto">
            <a:xfrm>
              <a:off x="4072688"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8" name="Freeform 15"/>
            <p:cNvSpPr>
              <a:spLocks/>
            </p:cNvSpPr>
            <p:nvPr/>
          </p:nvSpPr>
          <p:spPr bwMode="auto">
            <a:xfrm>
              <a:off x="3838797" y="3071143"/>
              <a:ext cx="1890052" cy="639763"/>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Line 16"/>
            <p:cNvSpPr>
              <a:spLocks noChangeShapeType="1"/>
            </p:cNvSpPr>
            <p:nvPr/>
          </p:nvSpPr>
          <p:spPr bwMode="auto">
            <a:xfrm>
              <a:off x="5493236"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Line 17"/>
            <p:cNvSpPr>
              <a:spLocks noChangeShapeType="1"/>
            </p:cNvSpPr>
            <p:nvPr/>
          </p:nvSpPr>
          <p:spPr bwMode="auto">
            <a:xfrm>
              <a:off x="5261065"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1" name="Line 18"/>
            <p:cNvSpPr>
              <a:spLocks noChangeShapeType="1"/>
            </p:cNvSpPr>
            <p:nvPr/>
          </p:nvSpPr>
          <p:spPr bwMode="auto">
            <a:xfrm>
              <a:off x="5025453"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Line 19"/>
            <p:cNvSpPr>
              <a:spLocks noChangeShapeType="1"/>
            </p:cNvSpPr>
            <p:nvPr/>
          </p:nvSpPr>
          <p:spPr bwMode="auto">
            <a:xfrm>
              <a:off x="4791561"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0"/>
            <p:cNvSpPr>
              <a:spLocks noChangeShapeType="1"/>
            </p:cNvSpPr>
            <p:nvPr/>
          </p:nvSpPr>
          <p:spPr bwMode="auto">
            <a:xfrm>
              <a:off x="4557669"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1"/>
            <p:cNvSpPr>
              <a:spLocks noChangeShapeType="1"/>
            </p:cNvSpPr>
            <p:nvPr/>
          </p:nvSpPr>
          <p:spPr bwMode="auto">
            <a:xfrm>
              <a:off x="4323778"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2"/>
            <p:cNvSpPr>
              <a:spLocks noChangeShapeType="1"/>
            </p:cNvSpPr>
            <p:nvPr/>
          </p:nvSpPr>
          <p:spPr bwMode="auto">
            <a:xfrm>
              <a:off x="4089886"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AutoShape 23"/>
            <p:cNvSpPr>
              <a:spLocks noChangeArrowheads="1"/>
            </p:cNvSpPr>
            <p:nvPr/>
          </p:nvSpPr>
          <p:spPr bwMode="auto">
            <a:xfrm rot="5400000">
              <a:off x="2348597" y="3041046"/>
              <a:ext cx="639763" cy="699956"/>
            </a:xfrm>
            <a:prstGeom prst="triangle">
              <a:avLst>
                <a:gd name="adj" fmla="val 50000"/>
              </a:avLst>
            </a:prstGeom>
            <a:solidFill>
              <a:srgbClr val="FFC0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4"/>
            <p:cNvSpPr txBox="1">
              <a:spLocks noChangeArrowheads="1"/>
            </p:cNvSpPr>
            <p:nvPr/>
          </p:nvSpPr>
          <p:spPr bwMode="auto">
            <a:xfrm>
              <a:off x="474148" y="2481091"/>
              <a:ext cx="1232842" cy="71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分组到达</a:t>
              </a:r>
            </a:p>
            <a:p>
              <a:pPr algn="ctr"/>
              <a:r>
                <a:rPr kumimoji="1" lang="zh-CN" altLang="en-US" sz="1400" b="1" dirty="0">
                  <a:latin typeface="微软雅黑" pitchFamily="34" charset="-122"/>
                  <a:ea typeface="微软雅黑" pitchFamily="34" charset="-122"/>
                </a:rPr>
                <a:t>路由器</a:t>
              </a:r>
            </a:p>
          </p:txBody>
        </p:sp>
        <p:sp>
          <p:nvSpPr>
            <p:cNvPr id="28" name="Line 25"/>
            <p:cNvSpPr>
              <a:spLocks noChangeShapeType="1"/>
            </p:cNvSpPr>
            <p:nvPr/>
          </p:nvSpPr>
          <p:spPr bwMode="auto">
            <a:xfrm>
              <a:off x="560873" y="3242841"/>
              <a:ext cx="1054234"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6"/>
            <p:cNvSpPr>
              <a:spLocks noChangeShapeType="1"/>
            </p:cNvSpPr>
            <p:nvPr/>
          </p:nvSpPr>
          <p:spPr bwMode="auto">
            <a:xfrm rot="20256324" flipV="1">
              <a:off x="2958264" y="2526630"/>
              <a:ext cx="1133343" cy="63976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Line 27"/>
            <p:cNvSpPr>
              <a:spLocks noChangeShapeType="1"/>
            </p:cNvSpPr>
            <p:nvPr/>
          </p:nvSpPr>
          <p:spPr bwMode="auto">
            <a:xfrm rot="1343676">
              <a:off x="2963423" y="3602956"/>
              <a:ext cx="1012957" cy="66833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29"/>
            <p:cNvSpPr>
              <a:spLocks noChangeShapeType="1"/>
            </p:cNvSpPr>
            <p:nvPr/>
          </p:nvSpPr>
          <p:spPr bwMode="auto">
            <a:xfrm>
              <a:off x="5711651" y="2447255"/>
              <a:ext cx="1358635" cy="93345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0"/>
            <p:cNvSpPr>
              <a:spLocks noChangeShapeType="1"/>
            </p:cNvSpPr>
            <p:nvPr/>
          </p:nvSpPr>
          <p:spPr bwMode="auto">
            <a:xfrm flipV="1">
              <a:off x="5749485" y="3390230"/>
              <a:ext cx="1320800"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Line 31"/>
            <p:cNvSpPr>
              <a:spLocks noChangeShapeType="1"/>
            </p:cNvSpPr>
            <p:nvPr/>
          </p:nvSpPr>
          <p:spPr bwMode="auto">
            <a:xfrm>
              <a:off x="7917731" y="3390229"/>
              <a:ext cx="11677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6" name="Text Box 34"/>
            <p:cNvSpPr txBox="1">
              <a:spLocks noChangeArrowheads="1"/>
            </p:cNvSpPr>
            <p:nvPr/>
          </p:nvSpPr>
          <p:spPr bwMode="auto">
            <a:xfrm>
              <a:off x="2034735" y="2625554"/>
              <a:ext cx="987675" cy="42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分类器</a:t>
              </a:r>
            </a:p>
          </p:txBody>
        </p:sp>
        <p:sp>
          <p:nvSpPr>
            <p:cNvPr id="37" name="Rectangle 35"/>
            <p:cNvSpPr>
              <a:spLocks noChangeArrowheads="1"/>
            </p:cNvSpPr>
            <p:nvPr/>
          </p:nvSpPr>
          <p:spPr bwMode="auto">
            <a:xfrm>
              <a:off x="4791560" y="4029993"/>
              <a:ext cx="937289" cy="639762"/>
            </a:xfrm>
            <a:prstGeom prst="rect">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Freeform 36"/>
            <p:cNvSpPr>
              <a:spLocks/>
            </p:cNvSpPr>
            <p:nvPr/>
          </p:nvSpPr>
          <p:spPr bwMode="auto">
            <a:xfrm>
              <a:off x="3838797" y="4029993"/>
              <a:ext cx="1890052" cy="639763"/>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9" name="Line 37"/>
            <p:cNvSpPr>
              <a:spLocks noChangeShapeType="1"/>
            </p:cNvSpPr>
            <p:nvPr/>
          </p:nvSpPr>
          <p:spPr bwMode="auto">
            <a:xfrm>
              <a:off x="5493236"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0" name="Line 38"/>
            <p:cNvSpPr>
              <a:spLocks noChangeShapeType="1"/>
            </p:cNvSpPr>
            <p:nvPr/>
          </p:nvSpPr>
          <p:spPr bwMode="auto">
            <a:xfrm>
              <a:off x="5261065"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1" name="Line 39"/>
            <p:cNvSpPr>
              <a:spLocks noChangeShapeType="1"/>
            </p:cNvSpPr>
            <p:nvPr/>
          </p:nvSpPr>
          <p:spPr bwMode="auto">
            <a:xfrm>
              <a:off x="5025453"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Line 40"/>
            <p:cNvSpPr>
              <a:spLocks noChangeShapeType="1"/>
            </p:cNvSpPr>
            <p:nvPr/>
          </p:nvSpPr>
          <p:spPr bwMode="auto">
            <a:xfrm>
              <a:off x="4791561"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Line 41"/>
            <p:cNvSpPr>
              <a:spLocks noChangeShapeType="1"/>
            </p:cNvSpPr>
            <p:nvPr/>
          </p:nvSpPr>
          <p:spPr bwMode="auto">
            <a:xfrm>
              <a:off x="4557669"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Line 42"/>
            <p:cNvSpPr>
              <a:spLocks noChangeShapeType="1"/>
            </p:cNvSpPr>
            <p:nvPr/>
          </p:nvSpPr>
          <p:spPr bwMode="auto">
            <a:xfrm>
              <a:off x="4323778"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5" name="Line 43"/>
            <p:cNvSpPr>
              <a:spLocks noChangeShapeType="1"/>
            </p:cNvSpPr>
            <p:nvPr/>
          </p:nvSpPr>
          <p:spPr bwMode="auto">
            <a:xfrm>
              <a:off x="4089886"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Line 44"/>
            <p:cNvSpPr>
              <a:spLocks noChangeShapeType="1"/>
            </p:cNvSpPr>
            <p:nvPr/>
          </p:nvSpPr>
          <p:spPr bwMode="auto">
            <a:xfrm rot="19406188">
              <a:off x="3237362" y="3170354"/>
              <a:ext cx="584729" cy="485075"/>
            </a:xfrm>
            <a:prstGeom prst="line">
              <a:avLst/>
            </a:prstGeom>
            <a:noFill/>
            <a:ln w="28575">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Line 45"/>
            <p:cNvSpPr>
              <a:spLocks noChangeShapeType="1"/>
            </p:cNvSpPr>
            <p:nvPr/>
          </p:nvSpPr>
          <p:spPr bwMode="auto">
            <a:xfrm flipV="1">
              <a:off x="5730568" y="3407692"/>
              <a:ext cx="1360356" cy="9144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8" name="Freeform 46"/>
            <p:cNvSpPr>
              <a:spLocks/>
            </p:cNvSpPr>
            <p:nvPr/>
          </p:nvSpPr>
          <p:spPr bwMode="auto">
            <a:xfrm>
              <a:off x="6384088" y="2407567"/>
              <a:ext cx="380075" cy="1847850"/>
            </a:xfrm>
            <a:custGeom>
              <a:avLst/>
              <a:gdLst>
                <a:gd name="T0" fmla="*/ 83 w 221"/>
                <a:gd name="T1" fmla="*/ 0 h 1164"/>
                <a:gd name="T2" fmla="*/ 14 w 221"/>
                <a:gd name="T3" fmla="*/ 304 h 1164"/>
                <a:gd name="T4" fmla="*/ 4 w 221"/>
                <a:gd name="T5" fmla="*/ 522 h 1164"/>
                <a:gd name="T6" fmla="*/ 1 w 221"/>
                <a:gd name="T7" fmla="*/ 761 h 1164"/>
                <a:gd name="T8" fmla="*/ 10 w 221"/>
                <a:gd name="T9" fmla="*/ 954 h 1164"/>
                <a:gd name="T10" fmla="*/ 43 w 221"/>
                <a:gd name="T11" fmla="*/ 1105 h 1164"/>
                <a:gd name="T12" fmla="*/ 98 w 221"/>
                <a:gd name="T13" fmla="*/ 1163 h 1164"/>
                <a:gd name="T14" fmla="*/ 140 w 221"/>
                <a:gd name="T15" fmla="*/ 1095 h 1164"/>
                <a:gd name="T16" fmla="*/ 167 w 221"/>
                <a:gd name="T17" fmla="*/ 963 h 1164"/>
                <a:gd name="T18" fmla="*/ 196 w 221"/>
                <a:gd name="T19" fmla="*/ 723 h 1164"/>
                <a:gd name="T20" fmla="*/ 213 w 221"/>
                <a:gd name="T21" fmla="*/ 504 h 1164"/>
                <a:gd name="T22" fmla="*/ 221 w 221"/>
                <a:gd name="T23" fmla="*/ 228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1164">
                  <a:moveTo>
                    <a:pt x="83" y="0"/>
                  </a:moveTo>
                  <a:cubicBezTo>
                    <a:pt x="72" y="51"/>
                    <a:pt x="27" y="217"/>
                    <a:pt x="14" y="304"/>
                  </a:cubicBezTo>
                  <a:cubicBezTo>
                    <a:pt x="1" y="391"/>
                    <a:pt x="6" y="446"/>
                    <a:pt x="4" y="522"/>
                  </a:cubicBezTo>
                  <a:cubicBezTo>
                    <a:pt x="3" y="597"/>
                    <a:pt x="0" y="690"/>
                    <a:pt x="1" y="761"/>
                  </a:cubicBezTo>
                  <a:cubicBezTo>
                    <a:pt x="3" y="832"/>
                    <a:pt x="3" y="897"/>
                    <a:pt x="10" y="954"/>
                  </a:cubicBezTo>
                  <a:cubicBezTo>
                    <a:pt x="17" y="1012"/>
                    <a:pt x="28" y="1070"/>
                    <a:pt x="43" y="1105"/>
                  </a:cubicBezTo>
                  <a:cubicBezTo>
                    <a:pt x="57" y="1140"/>
                    <a:pt x="82" y="1164"/>
                    <a:pt x="98" y="1163"/>
                  </a:cubicBezTo>
                  <a:cubicBezTo>
                    <a:pt x="113" y="1161"/>
                    <a:pt x="129" y="1129"/>
                    <a:pt x="140" y="1095"/>
                  </a:cubicBezTo>
                  <a:cubicBezTo>
                    <a:pt x="152" y="1062"/>
                    <a:pt x="159" y="1024"/>
                    <a:pt x="167" y="963"/>
                  </a:cubicBezTo>
                  <a:cubicBezTo>
                    <a:pt x="176" y="901"/>
                    <a:pt x="188" y="800"/>
                    <a:pt x="196" y="723"/>
                  </a:cubicBezTo>
                  <a:cubicBezTo>
                    <a:pt x="203" y="646"/>
                    <a:pt x="208" y="586"/>
                    <a:pt x="213" y="504"/>
                  </a:cubicBezTo>
                  <a:cubicBezTo>
                    <a:pt x="217" y="421"/>
                    <a:pt x="220" y="285"/>
                    <a:pt x="221" y="228"/>
                  </a:cubicBezTo>
                </a:path>
              </a:pathLst>
            </a:custGeom>
            <a:noFill/>
            <a:ln w="28575"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9" name="Text Box 50"/>
            <p:cNvSpPr txBox="1">
              <a:spLocks noChangeArrowheads="1"/>
            </p:cNvSpPr>
            <p:nvPr/>
          </p:nvSpPr>
          <p:spPr bwMode="auto">
            <a:xfrm>
              <a:off x="3517198" y="1858293"/>
              <a:ext cx="380073"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1</a:t>
              </a:r>
              <a:endParaRPr kumimoji="1" lang="en-US" altLang="zh-CN" sz="1400" b="1" baseline="-25000">
                <a:latin typeface="微软雅黑" pitchFamily="34" charset="-122"/>
                <a:ea typeface="微软雅黑" pitchFamily="34" charset="-122"/>
              </a:endParaRPr>
            </a:p>
          </p:txBody>
        </p:sp>
        <p:sp>
          <p:nvSpPr>
            <p:cNvPr id="50" name="Text Box 51"/>
            <p:cNvSpPr txBox="1">
              <a:spLocks noChangeArrowheads="1"/>
            </p:cNvSpPr>
            <p:nvPr/>
          </p:nvSpPr>
          <p:spPr bwMode="auto">
            <a:xfrm>
              <a:off x="3443245" y="2844131"/>
              <a:ext cx="380075"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2</a:t>
              </a:r>
              <a:endParaRPr kumimoji="1" lang="en-US" altLang="zh-CN" sz="1400" b="1" baseline="-25000">
                <a:latin typeface="微软雅黑" pitchFamily="34" charset="-122"/>
                <a:ea typeface="微软雅黑" pitchFamily="34" charset="-122"/>
              </a:endParaRPr>
            </a:p>
          </p:txBody>
        </p:sp>
        <p:sp>
          <p:nvSpPr>
            <p:cNvPr id="51" name="Text Box 52"/>
            <p:cNvSpPr txBox="1">
              <a:spLocks noChangeArrowheads="1"/>
            </p:cNvSpPr>
            <p:nvPr/>
          </p:nvSpPr>
          <p:spPr bwMode="auto">
            <a:xfrm>
              <a:off x="3487960" y="3763293"/>
              <a:ext cx="380075"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3</a:t>
              </a:r>
              <a:endParaRPr kumimoji="1" lang="en-US" altLang="zh-CN" sz="1400" b="1" baseline="-25000">
                <a:latin typeface="微软雅黑" pitchFamily="34" charset="-122"/>
                <a:ea typeface="微软雅黑" pitchFamily="34" charset="-122"/>
              </a:endParaRPr>
            </a:p>
          </p:txBody>
        </p:sp>
        <p:sp>
          <p:nvSpPr>
            <p:cNvPr id="52" name="Line 53"/>
            <p:cNvSpPr>
              <a:spLocks noChangeShapeType="1"/>
            </p:cNvSpPr>
            <p:nvPr/>
          </p:nvSpPr>
          <p:spPr bwMode="auto">
            <a:xfrm>
              <a:off x="1147323" y="3390230"/>
              <a:ext cx="117117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3" name="Text Box 54"/>
            <p:cNvSpPr txBox="1">
              <a:spLocks noChangeArrowheads="1"/>
            </p:cNvSpPr>
            <p:nvPr/>
          </p:nvSpPr>
          <p:spPr bwMode="auto">
            <a:xfrm>
              <a:off x="4237789" y="1401148"/>
              <a:ext cx="1109572" cy="469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路由器</a:t>
              </a:r>
            </a:p>
          </p:txBody>
        </p:sp>
        <p:sp>
          <p:nvSpPr>
            <p:cNvPr id="31" name="Oval 28"/>
            <p:cNvSpPr>
              <a:spLocks noChangeArrowheads="1"/>
            </p:cNvSpPr>
            <p:nvPr/>
          </p:nvSpPr>
          <p:spPr bwMode="auto">
            <a:xfrm>
              <a:off x="7094363" y="3034631"/>
              <a:ext cx="820340" cy="744537"/>
            </a:xfrm>
            <a:prstGeom prst="ellipse">
              <a:avLst/>
            </a:prstGeom>
            <a:solidFill>
              <a:srgbClr val="FFFF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400" b="1" dirty="0">
                  <a:latin typeface="微软雅黑" pitchFamily="34" charset="-122"/>
                  <a:ea typeface="微软雅黑" pitchFamily="34" charset="-122"/>
                </a:rPr>
                <a:t>调度</a:t>
              </a:r>
            </a:p>
          </p:txBody>
        </p:sp>
        <p:sp>
          <p:nvSpPr>
            <p:cNvPr id="35" name="Line 32"/>
            <p:cNvSpPr>
              <a:spLocks noChangeShapeType="1"/>
            </p:cNvSpPr>
            <p:nvPr/>
          </p:nvSpPr>
          <p:spPr bwMode="auto">
            <a:xfrm>
              <a:off x="8389664" y="3282280"/>
              <a:ext cx="1052513" cy="0"/>
            </a:xfrm>
            <a:prstGeom prst="line">
              <a:avLst/>
            </a:prstGeom>
            <a:noFill/>
            <a:ln w="28575">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62" name="组合 61"/>
          <p:cNvGrpSpPr/>
          <p:nvPr/>
        </p:nvGrpSpPr>
        <p:grpSpPr>
          <a:xfrm>
            <a:off x="5786645" y="2667131"/>
            <a:ext cx="2736904" cy="738664"/>
            <a:chOff x="5786645" y="2667131"/>
            <a:chExt cx="2736904" cy="738664"/>
          </a:xfrm>
        </p:grpSpPr>
        <p:sp>
          <p:nvSpPr>
            <p:cNvPr id="3" name="矩形 2"/>
            <p:cNvSpPr/>
            <p:nvPr/>
          </p:nvSpPr>
          <p:spPr>
            <a:xfrm>
              <a:off x="6880307" y="2667131"/>
              <a:ext cx="1643242" cy="738664"/>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轮流服务队列，使每个队列一次只能发送一个分组。</a:t>
              </a:r>
            </a:p>
          </p:txBody>
        </p:sp>
        <p:cxnSp>
          <p:nvCxnSpPr>
            <p:cNvPr id="59" name="直接箭头连接符 58"/>
            <p:cNvCxnSpPr/>
            <p:nvPr/>
          </p:nvCxnSpPr>
          <p:spPr>
            <a:xfrm flipH="1" flipV="1">
              <a:off x="5786645" y="2680551"/>
              <a:ext cx="1141531" cy="35591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0111006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圆角矩形 56"/>
          <p:cNvSpPr/>
          <p:nvPr/>
        </p:nvSpPr>
        <p:spPr>
          <a:xfrm>
            <a:off x="517853" y="967332"/>
            <a:ext cx="8133857" cy="25690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AutoShape 5"/>
          <p:cNvSpPr>
            <a:spLocks noChangeArrowheads="1"/>
          </p:cNvSpPr>
          <p:nvPr/>
        </p:nvSpPr>
        <p:spPr bwMode="auto">
          <a:xfrm>
            <a:off x="517853" y="60846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矩形 4"/>
          <p:cNvSpPr>
            <a:spLocks noChangeArrowheads="1"/>
          </p:cNvSpPr>
          <p:nvPr/>
        </p:nvSpPr>
        <p:spPr bwMode="auto">
          <a:xfrm>
            <a:off x="635844" y="558636"/>
            <a:ext cx="56804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加权公平排队 </a:t>
            </a:r>
            <a:r>
              <a:rPr lang="en-US" altLang="zh-CN" sz="2000" b="1" dirty="0">
                <a:latin typeface="微软雅黑" pitchFamily="34" charset="-122"/>
                <a:ea typeface="微软雅黑" pitchFamily="34" charset="-122"/>
              </a:rPr>
              <a:t>WFQ (Weighted Fair Queuing)</a:t>
            </a:r>
          </a:p>
        </p:txBody>
      </p:sp>
      <p:sp>
        <p:nvSpPr>
          <p:cNvPr id="5" name="矩形 4"/>
          <p:cNvSpPr/>
          <p:nvPr/>
        </p:nvSpPr>
        <p:spPr>
          <a:xfrm>
            <a:off x="1110715" y="3590468"/>
            <a:ext cx="7099325" cy="3973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ts val="2600"/>
              </a:lnSpc>
            </a:pPr>
            <a:r>
              <a:rPr lang="zh-CN" altLang="en-US" b="1" dirty="0">
                <a:solidFill>
                  <a:schemeClr val="tx1"/>
                </a:solidFill>
                <a:latin typeface="微软雅黑" pitchFamily="34" charset="-122"/>
                <a:ea typeface="微软雅黑" pitchFamily="34" charset="-122"/>
              </a:rPr>
              <a:t>增加了队列</a:t>
            </a:r>
            <a:r>
              <a:rPr lang="zh-CN" altLang="en-US" b="1" dirty="0">
                <a:solidFill>
                  <a:srgbClr val="C00000"/>
                </a:solidFill>
                <a:latin typeface="微软雅黑" pitchFamily="34" charset="-122"/>
                <a:ea typeface="微软雅黑" pitchFamily="34" charset="-122"/>
              </a:rPr>
              <a:t>权重</a:t>
            </a:r>
            <a:r>
              <a:rPr lang="zh-CN" altLang="en-US" b="1" dirty="0">
                <a:solidFill>
                  <a:schemeClr val="tx1"/>
                </a:solidFill>
                <a:latin typeface="微软雅黑" pitchFamily="34" charset="-122"/>
                <a:ea typeface="微软雅黑" pitchFamily="34" charset="-122"/>
              </a:rPr>
              <a:t>，使高优先级队列中的分组有更多的机会得到服务。</a:t>
            </a:r>
          </a:p>
        </p:txBody>
      </p:sp>
      <p:grpSp>
        <p:nvGrpSpPr>
          <p:cNvPr id="54" name="组合 53"/>
          <p:cNvGrpSpPr/>
          <p:nvPr/>
        </p:nvGrpSpPr>
        <p:grpSpPr>
          <a:xfrm>
            <a:off x="1295941" y="1012616"/>
            <a:ext cx="6496547" cy="2270516"/>
            <a:chOff x="474148" y="1401148"/>
            <a:chExt cx="9008019" cy="3427358"/>
          </a:xfrm>
        </p:grpSpPr>
        <p:sp>
          <p:nvSpPr>
            <p:cNvPr id="6" name="Text Box 33"/>
            <p:cNvSpPr txBox="1">
              <a:spLocks noChangeArrowheads="1"/>
            </p:cNvSpPr>
            <p:nvPr/>
          </p:nvSpPr>
          <p:spPr bwMode="auto">
            <a:xfrm>
              <a:off x="8249325" y="2520530"/>
              <a:ext cx="1232842" cy="71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分组离开</a:t>
              </a:r>
            </a:p>
            <a:p>
              <a:pPr algn="ctr"/>
              <a:r>
                <a:rPr kumimoji="1" lang="zh-CN" altLang="en-US" sz="1400" b="1" dirty="0">
                  <a:latin typeface="微软雅黑" pitchFamily="34" charset="-122"/>
                  <a:ea typeface="微软雅黑" pitchFamily="34" charset="-122"/>
                </a:rPr>
                <a:t>路由器</a:t>
              </a:r>
            </a:p>
          </p:txBody>
        </p:sp>
        <p:sp>
          <p:nvSpPr>
            <p:cNvPr id="7" name="Rectangle 4"/>
            <p:cNvSpPr>
              <a:spLocks noChangeArrowheads="1"/>
            </p:cNvSpPr>
            <p:nvPr/>
          </p:nvSpPr>
          <p:spPr bwMode="auto">
            <a:xfrm>
              <a:off x="1850717" y="1870993"/>
              <a:ext cx="6289279" cy="2957513"/>
            </a:xfrm>
            <a:prstGeom prst="rect">
              <a:avLst/>
            </a:prstGeom>
            <a:solidFill>
              <a:srgbClr val="66FFFF"/>
            </a:solidFill>
            <a:ln w="9525" algn="ctr">
              <a:solidFill>
                <a:srgbClr val="0000FF"/>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Rectangle 5"/>
            <p:cNvSpPr>
              <a:spLocks noChangeArrowheads="1"/>
            </p:cNvSpPr>
            <p:nvPr/>
          </p:nvSpPr>
          <p:spPr bwMode="auto">
            <a:xfrm>
              <a:off x="5493236" y="3071143"/>
              <a:ext cx="240771" cy="639762"/>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Rectangle 6"/>
            <p:cNvSpPr>
              <a:spLocks noChangeArrowheads="1"/>
            </p:cNvSpPr>
            <p:nvPr/>
          </p:nvSpPr>
          <p:spPr bwMode="auto">
            <a:xfrm>
              <a:off x="5008255" y="2112293"/>
              <a:ext cx="703395" cy="638175"/>
            </a:xfrm>
            <a:prstGeom prst="rect">
              <a:avLst/>
            </a:prstGeom>
            <a:solidFill>
              <a:srgbClr val="CC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Freeform 7"/>
            <p:cNvSpPr>
              <a:spLocks/>
            </p:cNvSpPr>
            <p:nvPr/>
          </p:nvSpPr>
          <p:spPr bwMode="auto">
            <a:xfrm>
              <a:off x="3821599" y="2112293"/>
              <a:ext cx="1890052" cy="638175"/>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1" name="Line 8"/>
            <p:cNvSpPr>
              <a:spLocks noChangeShapeType="1"/>
            </p:cNvSpPr>
            <p:nvPr/>
          </p:nvSpPr>
          <p:spPr bwMode="auto">
            <a:xfrm>
              <a:off x="5477758"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Line 9"/>
            <p:cNvSpPr>
              <a:spLocks noChangeShapeType="1"/>
            </p:cNvSpPr>
            <p:nvPr/>
          </p:nvSpPr>
          <p:spPr bwMode="auto">
            <a:xfrm>
              <a:off x="5242146"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a:off x="5008255"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a:off x="4774363"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a:off x="4540471"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6" name="Line 13"/>
            <p:cNvSpPr>
              <a:spLocks noChangeShapeType="1"/>
            </p:cNvSpPr>
            <p:nvPr/>
          </p:nvSpPr>
          <p:spPr bwMode="auto">
            <a:xfrm>
              <a:off x="4306580"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7" name="Line 14"/>
            <p:cNvSpPr>
              <a:spLocks noChangeShapeType="1"/>
            </p:cNvSpPr>
            <p:nvPr/>
          </p:nvSpPr>
          <p:spPr bwMode="auto">
            <a:xfrm>
              <a:off x="4072688" y="2112293"/>
              <a:ext cx="0" cy="638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8" name="Freeform 15"/>
            <p:cNvSpPr>
              <a:spLocks/>
            </p:cNvSpPr>
            <p:nvPr/>
          </p:nvSpPr>
          <p:spPr bwMode="auto">
            <a:xfrm>
              <a:off x="3838797" y="3071143"/>
              <a:ext cx="1890052" cy="639763"/>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Line 16"/>
            <p:cNvSpPr>
              <a:spLocks noChangeShapeType="1"/>
            </p:cNvSpPr>
            <p:nvPr/>
          </p:nvSpPr>
          <p:spPr bwMode="auto">
            <a:xfrm>
              <a:off x="5493236"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0" name="Line 17"/>
            <p:cNvSpPr>
              <a:spLocks noChangeShapeType="1"/>
            </p:cNvSpPr>
            <p:nvPr/>
          </p:nvSpPr>
          <p:spPr bwMode="auto">
            <a:xfrm>
              <a:off x="5261065"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1" name="Line 18"/>
            <p:cNvSpPr>
              <a:spLocks noChangeShapeType="1"/>
            </p:cNvSpPr>
            <p:nvPr/>
          </p:nvSpPr>
          <p:spPr bwMode="auto">
            <a:xfrm>
              <a:off x="5025453"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Line 19"/>
            <p:cNvSpPr>
              <a:spLocks noChangeShapeType="1"/>
            </p:cNvSpPr>
            <p:nvPr/>
          </p:nvSpPr>
          <p:spPr bwMode="auto">
            <a:xfrm>
              <a:off x="4791561"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20"/>
            <p:cNvSpPr>
              <a:spLocks noChangeShapeType="1"/>
            </p:cNvSpPr>
            <p:nvPr/>
          </p:nvSpPr>
          <p:spPr bwMode="auto">
            <a:xfrm>
              <a:off x="4557669"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21"/>
            <p:cNvSpPr>
              <a:spLocks noChangeShapeType="1"/>
            </p:cNvSpPr>
            <p:nvPr/>
          </p:nvSpPr>
          <p:spPr bwMode="auto">
            <a:xfrm>
              <a:off x="4323778"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2"/>
            <p:cNvSpPr>
              <a:spLocks noChangeShapeType="1"/>
            </p:cNvSpPr>
            <p:nvPr/>
          </p:nvSpPr>
          <p:spPr bwMode="auto">
            <a:xfrm>
              <a:off x="4089886" y="307114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AutoShape 23"/>
            <p:cNvSpPr>
              <a:spLocks noChangeArrowheads="1"/>
            </p:cNvSpPr>
            <p:nvPr/>
          </p:nvSpPr>
          <p:spPr bwMode="auto">
            <a:xfrm rot="5400000">
              <a:off x="2348597" y="3041046"/>
              <a:ext cx="639763" cy="699956"/>
            </a:xfrm>
            <a:prstGeom prst="triangle">
              <a:avLst>
                <a:gd name="adj" fmla="val 50000"/>
              </a:avLst>
            </a:prstGeom>
            <a:solidFill>
              <a:srgbClr val="FFC0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4"/>
            <p:cNvSpPr txBox="1">
              <a:spLocks noChangeArrowheads="1"/>
            </p:cNvSpPr>
            <p:nvPr/>
          </p:nvSpPr>
          <p:spPr bwMode="auto">
            <a:xfrm>
              <a:off x="474148" y="2481091"/>
              <a:ext cx="1232842" cy="71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分组到达</a:t>
              </a:r>
            </a:p>
            <a:p>
              <a:pPr algn="ctr"/>
              <a:r>
                <a:rPr kumimoji="1" lang="zh-CN" altLang="en-US" sz="1400" b="1" dirty="0">
                  <a:latin typeface="微软雅黑" pitchFamily="34" charset="-122"/>
                  <a:ea typeface="微软雅黑" pitchFamily="34" charset="-122"/>
                </a:rPr>
                <a:t>路由器</a:t>
              </a:r>
            </a:p>
          </p:txBody>
        </p:sp>
        <p:sp>
          <p:nvSpPr>
            <p:cNvPr id="28" name="Line 25"/>
            <p:cNvSpPr>
              <a:spLocks noChangeShapeType="1"/>
            </p:cNvSpPr>
            <p:nvPr/>
          </p:nvSpPr>
          <p:spPr bwMode="auto">
            <a:xfrm>
              <a:off x="560873" y="3242841"/>
              <a:ext cx="1054234"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6"/>
            <p:cNvSpPr>
              <a:spLocks noChangeShapeType="1"/>
            </p:cNvSpPr>
            <p:nvPr/>
          </p:nvSpPr>
          <p:spPr bwMode="auto">
            <a:xfrm rot="20256324" flipV="1">
              <a:off x="2958264" y="2526630"/>
              <a:ext cx="1133343" cy="63976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Line 27"/>
            <p:cNvSpPr>
              <a:spLocks noChangeShapeType="1"/>
            </p:cNvSpPr>
            <p:nvPr/>
          </p:nvSpPr>
          <p:spPr bwMode="auto">
            <a:xfrm rot="1343676">
              <a:off x="2963423" y="3602956"/>
              <a:ext cx="1012957" cy="66833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Line 29"/>
            <p:cNvSpPr>
              <a:spLocks noChangeShapeType="1"/>
            </p:cNvSpPr>
            <p:nvPr/>
          </p:nvSpPr>
          <p:spPr bwMode="auto">
            <a:xfrm>
              <a:off x="5711651" y="2447255"/>
              <a:ext cx="1358635" cy="93345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Line 30"/>
            <p:cNvSpPr>
              <a:spLocks noChangeShapeType="1"/>
            </p:cNvSpPr>
            <p:nvPr/>
          </p:nvSpPr>
          <p:spPr bwMode="auto">
            <a:xfrm flipV="1">
              <a:off x="5749485" y="3390230"/>
              <a:ext cx="1320800"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Line 31"/>
            <p:cNvSpPr>
              <a:spLocks noChangeShapeType="1"/>
            </p:cNvSpPr>
            <p:nvPr/>
          </p:nvSpPr>
          <p:spPr bwMode="auto">
            <a:xfrm>
              <a:off x="7917731" y="3390229"/>
              <a:ext cx="11677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6" name="Text Box 34"/>
            <p:cNvSpPr txBox="1">
              <a:spLocks noChangeArrowheads="1"/>
            </p:cNvSpPr>
            <p:nvPr/>
          </p:nvSpPr>
          <p:spPr bwMode="auto">
            <a:xfrm>
              <a:off x="2034735" y="2625554"/>
              <a:ext cx="987675" cy="42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分类器</a:t>
              </a:r>
            </a:p>
          </p:txBody>
        </p:sp>
        <p:sp>
          <p:nvSpPr>
            <p:cNvPr id="37" name="Rectangle 35"/>
            <p:cNvSpPr>
              <a:spLocks noChangeArrowheads="1"/>
            </p:cNvSpPr>
            <p:nvPr/>
          </p:nvSpPr>
          <p:spPr bwMode="auto">
            <a:xfrm>
              <a:off x="4791560" y="4029993"/>
              <a:ext cx="937289" cy="639762"/>
            </a:xfrm>
            <a:prstGeom prst="rect">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Freeform 36"/>
            <p:cNvSpPr>
              <a:spLocks/>
            </p:cNvSpPr>
            <p:nvPr/>
          </p:nvSpPr>
          <p:spPr bwMode="auto">
            <a:xfrm>
              <a:off x="3838797" y="4029993"/>
              <a:ext cx="1890052" cy="639763"/>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9" name="Line 37"/>
            <p:cNvSpPr>
              <a:spLocks noChangeShapeType="1"/>
            </p:cNvSpPr>
            <p:nvPr/>
          </p:nvSpPr>
          <p:spPr bwMode="auto">
            <a:xfrm>
              <a:off x="5493236"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0" name="Line 38"/>
            <p:cNvSpPr>
              <a:spLocks noChangeShapeType="1"/>
            </p:cNvSpPr>
            <p:nvPr/>
          </p:nvSpPr>
          <p:spPr bwMode="auto">
            <a:xfrm>
              <a:off x="5261065"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1" name="Line 39"/>
            <p:cNvSpPr>
              <a:spLocks noChangeShapeType="1"/>
            </p:cNvSpPr>
            <p:nvPr/>
          </p:nvSpPr>
          <p:spPr bwMode="auto">
            <a:xfrm>
              <a:off x="5025453"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Line 40"/>
            <p:cNvSpPr>
              <a:spLocks noChangeShapeType="1"/>
            </p:cNvSpPr>
            <p:nvPr/>
          </p:nvSpPr>
          <p:spPr bwMode="auto">
            <a:xfrm>
              <a:off x="4791561"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Line 41"/>
            <p:cNvSpPr>
              <a:spLocks noChangeShapeType="1"/>
            </p:cNvSpPr>
            <p:nvPr/>
          </p:nvSpPr>
          <p:spPr bwMode="auto">
            <a:xfrm>
              <a:off x="4557669"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Line 42"/>
            <p:cNvSpPr>
              <a:spLocks noChangeShapeType="1"/>
            </p:cNvSpPr>
            <p:nvPr/>
          </p:nvSpPr>
          <p:spPr bwMode="auto">
            <a:xfrm>
              <a:off x="4323778"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5" name="Line 43"/>
            <p:cNvSpPr>
              <a:spLocks noChangeShapeType="1"/>
            </p:cNvSpPr>
            <p:nvPr/>
          </p:nvSpPr>
          <p:spPr bwMode="auto">
            <a:xfrm>
              <a:off x="4089886" y="4029993"/>
              <a:ext cx="0" cy="639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Line 44"/>
            <p:cNvSpPr>
              <a:spLocks noChangeShapeType="1"/>
            </p:cNvSpPr>
            <p:nvPr/>
          </p:nvSpPr>
          <p:spPr bwMode="auto">
            <a:xfrm rot="19406188">
              <a:off x="3237362" y="3170354"/>
              <a:ext cx="584729" cy="485075"/>
            </a:xfrm>
            <a:prstGeom prst="line">
              <a:avLst/>
            </a:prstGeom>
            <a:noFill/>
            <a:ln w="28575">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Line 45"/>
            <p:cNvSpPr>
              <a:spLocks noChangeShapeType="1"/>
            </p:cNvSpPr>
            <p:nvPr/>
          </p:nvSpPr>
          <p:spPr bwMode="auto">
            <a:xfrm flipV="1">
              <a:off x="5730568" y="3407692"/>
              <a:ext cx="1360356" cy="9144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8" name="Freeform 46"/>
            <p:cNvSpPr>
              <a:spLocks/>
            </p:cNvSpPr>
            <p:nvPr/>
          </p:nvSpPr>
          <p:spPr bwMode="auto">
            <a:xfrm>
              <a:off x="6384088" y="2407567"/>
              <a:ext cx="380075" cy="1847850"/>
            </a:xfrm>
            <a:custGeom>
              <a:avLst/>
              <a:gdLst>
                <a:gd name="T0" fmla="*/ 83 w 221"/>
                <a:gd name="T1" fmla="*/ 0 h 1164"/>
                <a:gd name="T2" fmla="*/ 14 w 221"/>
                <a:gd name="T3" fmla="*/ 304 h 1164"/>
                <a:gd name="T4" fmla="*/ 4 w 221"/>
                <a:gd name="T5" fmla="*/ 522 h 1164"/>
                <a:gd name="T6" fmla="*/ 1 w 221"/>
                <a:gd name="T7" fmla="*/ 761 h 1164"/>
                <a:gd name="T8" fmla="*/ 10 w 221"/>
                <a:gd name="T9" fmla="*/ 954 h 1164"/>
                <a:gd name="T10" fmla="*/ 43 w 221"/>
                <a:gd name="T11" fmla="*/ 1105 h 1164"/>
                <a:gd name="T12" fmla="*/ 98 w 221"/>
                <a:gd name="T13" fmla="*/ 1163 h 1164"/>
                <a:gd name="T14" fmla="*/ 140 w 221"/>
                <a:gd name="T15" fmla="*/ 1095 h 1164"/>
                <a:gd name="T16" fmla="*/ 167 w 221"/>
                <a:gd name="T17" fmla="*/ 963 h 1164"/>
                <a:gd name="T18" fmla="*/ 196 w 221"/>
                <a:gd name="T19" fmla="*/ 723 h 1164"/>
                <a:gd name="T20" fmla="*/ 213 w 221"/>
                <a:gd name="T21" fmla="*/ 504 h 1164"/>
                <a:gd name="T22" fmla="*/ 221 w 221"/>
                <a:gd name="T23" fmla="*/ 228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1" h="1164">
                  <a:moveTo>
                    <a:pt x="83" y="0"/>
                  </a:moveTo>
                  <a:cubicBezTo>
                    <a:pt x="72" y="51"/>
                    <a:pt x="27" y="217"/>
                    <a:pt x="14" y="304"/>
                  </a:cubicBezTo>
                  <a:cubicBezTo>
                    <a:pt x="1" y="391"/>
                    <a:pt x="6" y="446"/>
                    <a:pt x="4" y="522"/>
                  </a:cubicBezTo>
                  <a:cubicBezTo>
                    <a:pt x="3" y="597"/>
                    <a:pt x="0" y="690"/>
                    <a:pt x="1" y="761"/>
                  </a:cubicBezTo>
                  <a:cubicBezTo>
                    <a:pt x="3" y="832"/>
                    <a:pt x="3" y="897"/>
                    <a:pt x="10" y="954"/>
                  </a:cubicBezTo>
                  <a:cubicBezTo>
                    <a:pt x="17" y="1012"/>
                    <a:pt x="28" y="1070"/>
                    <a:pt x="43" y="1105"/>
                  </a:cubicBezTo>
                  <a:cubicBezTo>
                    <a:pt x="57" y="1140"/>
                    <a:pt x="82" y="1164"/>
                    <a:pt x="98" y="1163"/>
                  </a:cubicBezTo>
                  <a:cubicBezTo>
                    <a:pt x="113" y="1161"/>
                    <a:pt x="129" y="1129"/>
                    <a:pt x="140" y="1095"/>
                  </a:cubicBezTo>
                  <a:cubicBezTo>
                    <a:pt x="152" y="1062"/>
                    <a:pt x="159" y="1024"/>
                    <a:pt x="167" y="963"/>
                  </a:cubicBezTo>
                  <a:cubicBezTo>
                    <a:pt x="176" y="901"/>
                    <a:pt x="188" y="800"/>
                    <a:pt x="196" y="723"/>
                  </a:cubicBezTo>
                  <a:cubicBezTo>
                    <a:pt x="203" y="646"/>
                    <a:pt x="208" y="586"/>
                    <a:pt x="213" y="504"/>
                  </a:cubicBezTo>
                  <a:cubicBezTo>
                    <a:pt x="217" y="421"/>
                    <a:pt x="220" y="285"/>
                    <a:pt x="221" y="228"/>
                  </a:cubicBezTo>
                </a:path>
              </a:pathLst>
            </a:custGeom>
            <a:noFill/>
            <a:ln w="28575"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9" name="Text Box 50"/>
            <p:cNvSpPr txBox="1">
              <a:spLocks noChangeArrowheads="1"/>
            </p:cNvSpPr>
            <p:nvPr/>
          </p:nvSpPr>
          <p:spPr bwMode="auto">
            <a:xfrm>
              <a:off x="3517198" y="1858293"/>
              <a:ext cx="380073"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1</a:t>
              </a:r>
              <a:endParaRPr kumimoji="1" lang="en-US" altLang="zh-CN" sz="1400" b="1" baseline="-25000">
                <a:latin typeface="微软雅黑" pitchFamily="34" charset="-122"/>
                <a:ea typeface="微软雅黑" pitchFamily="34" charset="-122"/>
              </a:endParaRPr>
            </a:p>
          </p:txBody>
        </p:sp>
        <p:sp>
          <p:nvSpPr>
            <p:cNvPr id="50" name="Text Box 51"/>
            <p:cNvSpPr txBox="1">
              <a:spLocks noChangeArrowheads="1"/>
            </p:cNvSpPr>
            <p:nvPr/>
          </p:nvSpPr>
          <p:spPr bwMode="auto">
            <a:xfrm>
              <a:off x="3443245" y="2844131"/>
              <a:ext cx="380075"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2</a:t>
              </a:r>
              <a:endParaRPr kumimoji="1" lang="en-US" altLang="zh-CN" sz="1400" b="1" baseline="-25000">
                <a:latin typeface="微软雅黑" pitchFamily="34" charset="-122"/>
                <a:ea typeface="微软雅黑" pitchFamily="34" charset="-122"/>
              </a:endParaRPr>
            </a:p>
          </p:txBody>
        </p:sp>
        <p:sp>
          <p:nvSpPr>
            <p:cNvPr id="51" name="Text Box 52"/>
            <p:cNvSpPr txBox="1">
              <a:spLocks noChangeArrowheads="1"/>
            </p:cNvSpPr>
            <p:nvPr/>
          </p:nvSpPr>
          <p:spPr bwMode="auto">
            <a:xfrm>
              <a:off x="3487960" y="3763293"/>
              <a:ext cx="380075" cy="42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400" b="1">
                  <a:latin typeface="微软雅黑" pitchFamily="34" charset="-122"/>
                  <a:ea typeface="微软雅黑" pitchFamily="34" charset="-122"/>
                </a:rPr>
                <a:t>3</a:t>
              </a:r>
              <a:endParaRPr kumimoji="1" lang="en-US" altLang="zh-CN" sz="1400" b="1" baseline="-25000">
                <a:latin typeface="微软雅黑" pitchFamily="34" charset="-122"/>
                <a:ea typeface="微软雅黑" pitchFamily="34" charset="-122"/>
              </a:endParaRPr>
            </a:p>
          </p:txBody>
        </p:sp>
        <p:sp>
          <p:nvSpPr>
            <p:cNvPr id="52" name="Line 53"/>
            <p:cNvSpPr>
              <a:spLocks noChangeShapeType="1"/>
            </p:cNvSpPr>
            <p:nvPr/>
          </p:nvSpPr>
          <p:spPr bwMode="auto">
            <a:xfrm>
              <a:off x="1147323" y="3390230"/>
              <a:ext cx="117117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3" name="Text Box 54"/>
            <p:cNvSpPr txBox="1">
              <a:spLocks noChangeArrowheads="1"/>
            </p:cNvSpPr>
            <p:nvPr/>
          </p:nvSpPr>
          <p:spPr bwMode="auto">
            <a:xfrm>
              <a:off x="4237789" y="1401148"/>
              <a:ext cx="1109572" cy="469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路由器</a:t>
              </a:r>
            </a:p>
          </p:txBody>
        </p:sp>
        <p:sp>
          <p:nvSpPr>
            <p:cNvPr id="31" name="Oval 28"/>
            <p:cNvSpPr>
              <a:spLocks noChangeArrowheads="1"/>
            </p:cNvSpPr>
            <p:nvPr/>
          </p:nvSpPr>
          <p:spPr bwMode="auto">
            <a:xfrm>
              <a:off x="7094363" y="3034631"/>
              <a:ext cx="820340" cy="744537"/>
            </a:xfrm>
            <a:prstGeom prst="ellipse">
              <a:avLst/>
            </a:prstGeom>
            <a:solidFill>
              <a:srgbClr val="FFFF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400" b="1" dirty="0">
                  <a:latin typeface="微软雅黑" pitchFamily="34" charset="-122"/>
                  <a:ea typeface="微软雅黑" pitchFamily="34" charset="-122"/>
                </a:rPr>
                <a:t>调度</a:t>
              </a:r>
            </a:p>
          </p:txBody>
        </p:sp>
        <p:sp>
          <p:nvSpPr>
            <p:cNvPr id="35" name="Line 32"/>
            <p:cNvSpPr>
              <a:spLocks noChangeShapeType="1"/>
            </p:cNvSpPr>
            <p:nvPr/>
          </p:nvSpPr>
          <p:spPr bwMode="auto">
            <a:xfrm>
              <a:off x="8389664" y="3282280"/>
              <a:ext cx="1052513" cy="0"/>
            </a:xfrm>
            <a:prstGeom prst="line">
              <a:avLst/>
            </a:prstGeom>
            <a:noFill/>
            <a:ln w="28575">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grpSp>
        <p:nvGrpSpPr>
          <p:cNvPr id="62" name="组合 61"/>
          <p:cNvGrpSpPr/>
          <p:nvPr/>
        </p:nvGrpSpPr>
        <p:grpSpPr>
          <a:xfrm>
            <a:off x="5786645" y="2667131"/>
            <a:ext cx="2736904" cy="523220"/>
            <a:chOff x="5786645" y="2667131"/>
            <a:chExt cx="2736904" cy="523220"/>
          </a:xfrm>
        </p:grpSpPr>
        <p:sp>
          <p:nvSpPr>
            <p:cNvPr id="3" name="矩形 2"/>
            <p:cNvSpPr/>
            <p:nvPr/>
          </p:nvSpPr>
          <p:spPr>
            <a:xfrm>
              <a:off x="6880307" y="2667131"/>
              <a:ext cx="1643242" cy="523220"/>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轮流服务队列。按权重分配服务时间。</a:t>
              </a:r>
            </a:p>
          </p:txBody>
        </p:sp>
        <p:cxnSp>
          <p:nvCxnSpPr>
            <p:cNvPr id="59" name="直接箭头连接符 58"/>
            <p:cNvCxnSpPr/>
            <p:nvPr/>
          </p:nvCxnSpPr>
          <p:spPr>
            <a:xfrm flipH="1" flipV="1">
              <a:off x="5786645" y="2680551"/>
              <a:ext cx="1141531" cy="35591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 Box 47"/>
          <p:cNvSpPr txBox="1">
            <a:spLocks noChangeArrowheads="1"/>
          </p:cNvSpPr>
          <p:nvPr/>
        </p:nvSpPr>
        <p:spPr bwMode="auto">
          <a:xfrm>
            <a:off x="5099908" y="1526134"/>
            <a:ext cx="461740" cy="34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latin typeface="微软雅黑" pitchFamily="34" charset="-122"/>
                <a:ea typeface="微软雅黑" pitchFamily="34" charset="-122"/>
              </a:rPr>
              <a:t>w</a:t>
            </a:r>
            <a:r>
              <a:rPr kumimoji="1" lang="en-US" altLang="zh-CN" sz="1400" b="1" baseline="-25000" dirty="0">
                <a:latin typeface="微软雅黑" pitchFamily="34" charset="-122"/>
                <a:ea typeface="微软雅黑" pitchFamily="34" charset="-122"/>
              </a:rPr>
              <a:t>1</a:t>
            </a:r>
          </a:p>
        </p:txBody>
      </p:sp>
      <p:sp>
        <p:nvSpPr>
          <p:cNvPr id="60" name="Text Box 48"/>
          <p:cNvSpPr txBox="1">
            <a:spLocks noChangeArrowheads="1"/>
          </p:cNvSpPr>
          <p:nvPr/>
        </p:nvSpPr>
        <p:spPr bwMode="auto">
          <a:xfrm>
            <a:off x="5088213" y="2058713"/>
            <a:ext cx="461740" cy="34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a:latin typeface="微软雅黑" pitchFamily="34" charset="-122"/>
                <a:ea typeface="微软雅黑" pitchFamily="34" charset="-122"/>
              </a:rPr>
              <a:t>w</a:t>
            </a:r>
            <a:r>
              <a:rPr kumimoji="1" lang="en-US" altLang="zh-CN" sz="1400" b="1" baseline="-25000">
                <a:latin typeface="微软雅黑" pitchFamily="34" charset="-122"/>
                <a:ea typeface="微软雅黑" pitchFamily="34" charset="-122"/>
              </a:rPr>
              <a:t>2</a:t>
            </a:r>
          </a:p>
        </p:txBody>
      </p:sp>
      <p:sp>
        <p:nvSpPr>
          <p:cNvPr id="61" name="Text Box 49"/>
          <p:cNvSpPr txBox="1">
            <a:spLocks noChangeArrowheads="1"/>
          </p:cNvSpPr>
          <p:nvPr/>
        </p:nvSpPr>
        <p:spPr bwMode="auto">
          <a:xfrm>
            <a:off x="5092092" y="2788968"/>
            <a:ext cx="461740" cy="34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latin typeface="微软雅黑" pitchFamily="34" charset="-122"/>
                <a:ea typeface="微软雅黑" pitchFamily="34" charset="-122"/>
              </a:rPr>
              <a:t>w</a:t>
            </a:r>
            <a:r>
              <a:rPr kumimoji="1" lang="en-US" altLang="zh-CN" sz="1400" b="1" baseline="-25000" dirty="0">
                <a:latin typeface="微软雅黑" pitchFamily="34" charset="-122"/>
                <a:ea typeface="微软雅黑" pitchFamily="34" charset="-122"/>
              </a:rPr>
              <a:t>3</a:t>
            </a:r>
          </a:p>
        </p:txBody>
      </p:sp>
    </p:spTree>
    <p:extLst>
      <p:ext uri="{BB962C8B-B14F-4D97-AF65-F5344CB8AC3E}">
        <p14:creationId xmlns:p14="http://schemas.microsoft.com/office/powerpoint/2010/main" val="33883135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17853" y="606192"/>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矩形 4"/>
          <p:cNvSpPr>
            <a:spLocks noChangeArrowheads="1"/>
          </p:cNvSpPr>
          <p:nvPr/>
        </p:nvSpPr>
        <p:spPr bwMode="auto">
          <a:xfrm>
            <a:off x="635844" y="556364"/>
            <a:ext cx="56804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加权公平排队 </a:t>
            </a:r>
            <a:r>
              <a:rPr lang="en-US" altLang="zh-CN" sz="2000" b="1" dirty="0">
                <a:latin typeface="微软雅黑" pitchFamily="34" charset="-122"/>
                <a:ea typeface="微软雅黑" pitchFamily="34" charset="-122"/>
              </a:rPr>
              <a:t>WFQ (Weighted Fair Queuing)</a:t>
            </a:r>
          </a:p>
        </p:txBody>
      </p:sp>
      <p:sp>
        <p:nvSpPr>
          <p:cNvPr id="4" name="Rectangle 46"/>
          <p:cNvSpPr>
            <a:spLocks noChangeArrowheads="1"/>
          </p:cNvSpPr>
          <p:nvPr/>
        </p:nvSpPr>
        <p:spPr bwMode="auto">
          <a:xfrm>
            <a:off x="517853" y="944257"/>
            <a:ext cx="8229332" cy="17338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给队列</a:t>
            </a:r>
            <a:r>
              <a:rPr lang="zh-CN" altLang="en-US" sz="2000" b="1" i="1" dirty="0">
                <a:latin typeface="微软雅黑" pitchFamily="34" charset="-122"/>
                <a:ea typeface="微软雅黑" pitchFamily="34" charset="-122"/>
              </a:rPr>
              <a:t> </a:t>
            </a:r>
            <a:r>
              <a:rPr lang="en-US" altLang="zh-CN" sz="2000" b="1" i="1" dirty="0">
                <a:latin typeface="Times New Roman" pitchFamily="18" charset="0"/>
                <a:ea typeface="微软雅黑" pitchFamily="34" charset="-122"/>
                <a:cs typeface="Times New Roman" pitchFamily="18" charset="0"/>
              </a:rPr>
              <a:t>i</a:t>
            </a:r>
            <a:r>
              <a:rPr lang="en-US" altLang="zh-CN" sz="2000" b="1" i="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指派一个</a:t>
            </a:r>
            <a:r>
              <a:rPr lang="zh-CN" altLang="en-US" sz="2000" b="1" dirty="0">
                <a:solidFill>
                  <a:srgbClr val="0000FF"/>
                </a:solidFill>
                <a:latin typeface="微软雅黑" pitchFamily="34" charset="-122"/>
                <a:ea typeface="微软雅黑" pitchFamily="34" charset="-122"/>
              </a:rPr>
              <a:t>权重 </a:t>
            </a:r>
            <a:r>
              <a:rPr lang="en-US" altLang="zh-CN" sz="2800" b="1" i="1" dirty="0" err="1">
                <a:solidFill>
                  <a:srgbClr val="0000FF"/>
                </a:solidFill>
                <a:latin typeface="Times New Roman" pitchFamily="18" charset="0"/>
              </a:rPr>
              <a:t>w</a:t>
            </a:r>
            <a:r>
              <a:rPr lang="en-US" altLang="zh-CN" sz="2800" b="1" i="1" baseline="-25000" dirty="0" err="1">
                <a:solidFill>
                  <a:srgbClr val="0000FF"/>
                </a:solidFill>
                <a:latin typeface="Times New Roman" pitchFamily="18" charset="0"/>
              </a:rPr>
              <a:t>i</a:t>
            </a:r>
            <a:r>
              <a:rPr lang="zh-CN" altLang="en-US" sz="2000" b="1" dirty="0">
                <a:solidFill>
                  <a:srgbClr val="0000FF"/>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队列</a:t>
            </a:r>
            <a:r>
              <a:rPr lang="zh-CN" altLang="en-US" sz="2000" b="1" i="1" dirty="0">
                <a:latin typeface="微软雅黑" pitchFamily="34" charset="-122"/>
                <a:ea typeface="微软雅黑" pitchFamily="34" charset="-122"/>
              </a:rPr>
              <a:t> </a:t>
            </a:r>
            <a:r>
              <a:rPr lang="en-US" altLang="zh-CN" sz="2000" b="1" i="1" dirty="0">
                <a:latin typeface="Times New Roman" pitchFamily="18" charset="0"/>
                <a:ea typeface="微软雅黑" pitchFamily="34" charset="-122"/>
                <a:cs typeface="Times New Roman" pitchFamily="18" charset="0"/>
              </a:rPr>
              <a:t>i</a:t>
            </a:r>
            <a:r>
              <a:rPr lang="en-US" altLang="zh-CN" sz="2000" b="1" i="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得到的平均服务时间 </a:t>
            </a:r>
            <a:r>
              <a:rPr lang="en-US" altLang="zh-CN" sz="2000" b="1" dirty="0">
                <a:latin typeface="微软雅黑" pitchFamily="34" charset="-122"/>
                <a:ea typeface="微软雅黑" pitchFamily="34" charset="-122"/>
              </a:rPr>
              <a:t>= </a:t>
            </a:r>
            <a:r>
              <a:rPr lang="en-US" altLang="zh-CN" sz="2800" b="1" i="1" dirty="0" err="1">
                <a:solidFill>
                  <a:srgbClr val="0000FF"/>
                </a:solidFill>
                <a:latin typeface="Times New Roman" pitchFamily="18" charset="0"/>
              </a:rPr>
              <a:t>w</a:t>
            </a:r>
            <a:r>
              <a:rPr lang="en-US" altLang="zh-CN" sz="2800" b="1" i="1" baseline="-25000" dirty="0" err="1">
                <a:solidFill>
                  <a:srgbClr val="0000FF"/>
                </a:solidFill>
                <a:latin typeface="Times New Roman" pitchFamily="18" charset="0"/>
              </a:rPr>
              <a:t>i</a:t>
            </a:r>
            <a:r>
              <a:rPr lang="en-US" altLang="zh-CN" sz="2400" b="1" i="1" baseline="-25000" dirty="0">
                <a:solidFill>
                  <a:srgbClr val="0000FF"/>
                </a:solidFill>
                <a:latin typeface="Times New Roman" pitchFamily="18" charset="0"/>
              </a:rPr>
              <a:t> </a:t>
            </a:r>
            <a:r>
              <a:rPr lang="en-US" altLang="zh-CN" sz="2400" b="1" dirty="0">
                <a:solidFill>
                  <a:srgbClr val="0000FF"/>
                </a:solidFill>
                <a:latin typeface="Times New Roman" pitchFamily="18" charset="0"/>
              </a:rPr>
              <a:t>/(</a:t>
            </a:r>
            <a:r>
              <a:rPr lang="en-US" altLang="zh-CN" sz="2400" b="1" dirty="0">
                <a:solidFill>
                  <a:srgbClr val="0000FF"/>
                </a:solidFill>
                <a:latin typeface="Times New Roman" pitchFamily="18" charset="0"/>
                <a:sym typeface="Symbol" pitchFamily="18" charset="2"/>
              </a:rPr>
              <a:t></a:t>
            </a:r>
            <a:r>
              <a:rPr lang="en-US" altLang="zh-CN" sz="2400" b="1" i="1" dirty="0" err="1">
                <a:solidFill>
                  <a:srgbClr val="0000FF"/>
                </a:solidFill>
                <a:latin typeface="Times New Roman" pitchFamily="18" charset="0"/>
              </a:rPr>
              <a:t>w</a:t>
            </a:r>
            <a:r>
              <a:rPr lang="en-US" altLang="zh-CN" sz="2400" b="1" i="1" baseline="-25000" dirty="0" err="1">
                <a:solidFill>
                  <a:srgbClr val="0000FF"/>
                </a:solidFill>
                <a:latin typeface="Times New Roman" pitchFamily="18" charset="0"/>
              </a:rPr>
              <a:t>j</a:t>
            </a:r>
            <a:r>
              <a:rPr lang="en-US" altLang="zh-CN" sz="2400" b="1" dirty="0">
                <a:solidFill>
                  <a:srgbClr val="0000FF"/>
                </a:solidFill>
                <a:latin typeface="Times New Roman" pitchFamily="18" charset="0"/>
              </a:rPr>
              <a:t>)</a:t>
            </a:r>
            <a:endParaRPr lang="en-US" altLang="zh-CN" sz="2000" b="1" dirty="0">
              <a:latin typeface="微软雅黑" pitchFamily="34" charset="-122"/>
              <a:ea typeface="微软雅黑" pitchFamily="34" charset="-122"/>
            </a:endParaRPr>
          </a:p>
          <a:p>
            <a:pPr lvl="2" eaLnBrk="0" hangingPunct="0">
              <a:lnSpc>
                <a:spcPts val="3200"/>
              </a:lnSpc>
              <a:buClr>
                <a:srgbClr val="0070C0"/>
              </a:buClr>
            </a:pPr>
            <a:r>
              <a:rPr lang="zh-CN" altLang="en-US" b="1" dirty="0">
                <a:latin typeface="微软雅黑" pitchFamily="34" charset="-122"/>
                <a:ea typeface="微软雅黑" pitchFamily="34" charset="-122"/>
              </a:rPr>
              <a:t>其中， </a:t>
            </a:r>
            <a:r>
              <a:rPr lang="zh-CN" altLang="en-US" sz="2000" b="1" dirty="0">
                <a:solidFill>
                  <a:srgbClr val="0000FF"/>
                </a:solidFill>
                <a:sym typeface="Symbol" pitchFamily="18" charset="2"/>
              </a:rPr>
              <a:t></a:t>
            </a:r>
            <a:r>
              <a:rPr lang="en-US" altLang="zh-CN" sz="2000" b="1" i="1" dirty="0" err="1">
                <a:solidFill>
                  <a:srgbClr val="0000FF"/>
                </a:solidFill>
                <a:latin typeface="Times New Roman" pitchFamily="18" charset="0"/>
              </a:rPr>
              <a:t>w</a:t>
            </a:r>
            <a:r>
              <a:rPr lang="en-US" altLang="zh-CN" sz="2000" b="1" i="1" baseline="-25000" dirty="0" err="1">
                <a:solidFill>
                  <a:srgbClr val="0000FF"/>
                </a:solidFill>
                <a:latin typeface="Times New Roman" pitchFamily="18" charset="0"/>
              </a:rPr>
              <a:t>j</a:t>
            </a:r>
            <a:r>
              <a:rPr lang="en-US" altLang="zh-CN" b="1" dirty="0">
                <a:solidFill>
                  <a:srgbClr val="0000FF"/>
                </a:solidFill>
                <a:latin typeface="微软雅黑" pitchFamily="34" charset="-122"/>
                <a:ea typeface="微软雅黑" pitchFamily="34" charset="-122"/>
              </a:rPr>
              <a:t> </a:t>
            </a:r>
            <a:r>
              <a:rPr lang="zh-CN" altLang="en-US" b="1" dirty="0">
                <a:latin typeface="微软雅黑" pitchFamily="34" charset="-122"/>
                <a:ea typeface="微软雅黑" pitchFamily="34" charset="-122"/>
              </a:rPr>
              <a:t>是对所有的非空队列的权重求和。</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队列 </a:t>
            </a:r>
            <a:r>
              <a:rPr lang="en-US" altLang="zh-CN" sz="2000" b="1" i="1" dirty="0">
                <a:latin typeface="Times New Roman" pitchFamily="18" charset="0"/>
                <a:ea typeface="微软雅黑" pitchFamily="34" charset="-122"/>
                <a:cs typeface="Times New Roman" pitchFamily="18" charset="0"/>
              </a:rPr>
              <a:t>i </a:t>
            </a:r>
            <a:r>
              <a:rPr lang="zh-CN" altLang="en-US" sz="2000" b="1" dirty="0">
                <a:latin typeface="微软雅黑" pitchFamily="34" charset="-122"/>
                <a:ea typeface="微软雅黑" pitchFamily="34" charset="-122"/>
              </a:rPr>
              <a:t>将得到的有保证的带宽 </a:t>
            </a:r>
            <a:r>
              <a:rPr lang="en-US" altLang="zh-CN" sz="2000" i="1" dirty="0">
                <a:latin typeface="Times New Roman" pitchFamily="18" charset="0"/>
              </a:rPr>
              <a:t>R</a:t>
            </a:r>
            <a:r>
              <a:rPr lang="en-US" altLang="zh-CN" sz="2000" i="1" baseline="-25000" dirty="0">
                <a:latin typeface="Times New Roman" pitchFamily="18" charset="0"/>
              </a:rPr>
              <a:t>i </a:t>
            </a:r>
            <a:r>
              <a:rPr lang="zh-CN" altLang="en-US" sz="2000" b="1" dirty="0">
                <a:latin typeface="微软雅黑" pitchFamily="34" charset="-122"/>
                <a:ea typeface="微软雅黑" pitchFamily="34" charset="-122"/>
              </a:rPr>
              <a:t>应为</a:t>
            </a:r>
            <a:endParaRPr lang="en-US" altLang="zh-CN" sz="2000" b="1" dirty="0">
              <a:latin typeface="微软雅黑" pitchFamily="34" charset="-122"/>
              <a:ea typeface="微软雅黑" pitchFamily="34" charset="-122"/>
            </a:endParaRPr>
          </a:p>
        </p:txBody>
      </p:sp>
      <p:grpSp>
        <p:nvGrpSpPr>
          <p:cNvPr id="2" name="组合 1"/>
          <p:cNvGrpSpPr/>
          <p:nvPr/>
        </p:nvGrpSpPr>
        <p:grpSpPr>
          <a:xfrm>
            <a:off x="1371318" y="2678065"/>
            <a:ext cx="6426925" cy="927251"/>
            <a:chOff x="1497875" y="2727247"/>
            <a:chExt cx="6426925" cy="927251"/>
          </a:xfrm>
        </p:grpSpPr>
        <p:sp>
          <p:nvSpPr>
            <p:cNvPr id="7" name="矩形 6"/>
            <p:cNvSpPr/>
            <p:nvPr/>
          </p:nvSpPr>
          <p:spPr>
            <a:xfrm>
              <a:off x="1497875" y="2727247"/>
              <a:ext cx="6426925" cy="927251"/>
            </a:xfrm>
            <a:prstGeom prst="rect">
              <a:avLst/>
            </a:prstGeom>
            <a:solidFill>
              <a:srgbClr val="FFFF99"/>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Object 4"/>
            <p:cNvGraphicFramePr>
              <a:graphicFrameLocks noChangeAspect="1"/>
            </p:cNvGraphicFramePr>
            <p:nvPr>
              <p:extLst>
                <p:ext uri="{D42A27DB-BD31-4B8C-83A1-F6EECF244321}">
                  <p14:modId xmlns:p14="http://schemas.microsoft.com/office/powerpoint/2010/main" val="1511468799"/>
                </p:ext>
              </p:extLst>
            </p:nvPr>
          </p:nvGraphicFramePr>
          <p:xfrm>
            <a:off x="2980028" y="2767967"/>
            <a:ext cx="1600681" cy="886531"/>
          </p:xfrm>
          <a:graphic>
            <a:graphicData uri="http://schemas.openxmlformats.org/presentationml/2006/ole">
              <mc:AlternateContent xmlns:mc="http://schemas.openxmlformats.org/markup-compatibility/2006">
                <mc:Choice xmlns:v="urn:schemas-microsoft-com:vml" Requires="v">
                  <p:oleObj name="公式" r:id="rId2" imgW="736280" imgH="444307" progId="Equation.3">
                    <p:embed/>
                  </p:oleObj>
                </mc:Choice>
                <mc:Fallback>
                  <p:oleObj name="公式" r:id="rId2" imgW="736280" imgH="444307" progId="Equation.3">
                    <p:embed/>
                    <p:pic>
                      <p:nvPicPr>
                        <p:cNvPr id="0" name="Picture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0028" y="2767967"/>
                          <a:ext cx="1600681" cy="8865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矩形 8"/>
            <p:cNvSpPr/>
            <p:nvPr/>
          </p:nvSpPr>
          <p:spPr>
            <a:xfrm>
              <a:off x="6627172" y="3011177"/>
              <a:ext cx="889987" cy="400110"/>
            </a:xfrm>
            <a:prstGeom prst="rect">
              <a:avLst/>
            </a:prstGeom>
            <a:noFill/>
            <a:ln>
              <a:noFill/>
            </a:ln>
          </p:spPr>
          <p:txBody>
            <a:bodyPr wrap="none">
              <a:spAutoFit/>
            </a:bodyPr>
            <a:lstStyle/>
            <a:p>
              <a:pPr algn="ctr"/>
              <a:r>
                <a:rPr lang="en-US" altLang="zh-CN" sz="2000" b="1" dirty="0">
                  <a:latin typeface="微软雅黑" panose="020B0503020204020204" pitchFamily="34" charset="-122"/>
                  <a:ea typeface="微软雅黑" panose="020B0503020204020204" pitchFamily="34" charset="-122"/>
                </a:rPr>
                <a:t>(8-1)</a:t>
              </a:r>
              <a:r>
                <a:rPr lang="zh-CN" altLang="en-US" sz="2000" b="1" dirty="0">
                  <a:latin typeface="微软雅黑" panose="020B0503020204020204" pitchFamily="34" charset="-122"/>
                  <a:ea typeface="微软雅黑" panose="020B0503020204020204" pitchFamily="34" charset="-122"/>
                </a:rPr>
                <a:t> </a:t>
              </a:r>
            </a:p>
          </p:txBody>
        </p:sp>
      </p:grpSp>
    </p:spTree>
    <p:extLst>
      <p:ext uri="{BB962C8B-B14F-4D97-AF65-F5344CB8AC3E}">
        <p14:creationId xmlns:p14="http://schemas.microsoft.com/office/powerpoint/2010/main" val="40128699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AutoShape 5"/>
          <p:cNvSpPr>
            <a:spLocks noChangeArrowheads="1"/>
          </p:cNvSpPr>
          <p:nvPr/>
        </p:nvSpPr>
        <p:spPr bwMode="auto">
          <a:xfrm>
            <a:off x="517853" y="613939"/>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矩形 4"/>
          <p:cNvSpPr>
            <a:spLocks noChangeArrowheads="1"/>
          </p:cNvSpPr>
          <p:nvPr/>
        </p:nvSpPr>
        <p:spPr bwMode="auto">
          <a:xfrm>
            <a:off x="635844" y="564111"/>
            <a:ext cx="27286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WFQ </a:t>
            </a: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FIFO </a:t>
            </a:r>
            <a:r>
              <a:rPr lang="zh-CN" altLang="en-US" sz="2000" b="1" dirty="0">
                <a:latin typeface="微软雅黑" pitchFamily="34" charset="-122"/>
                <a:ea typeface="微软雅黑" pitchFamily="34" charset="-122"/>
              </a:rPr>
              <a:t>的比较 </a:t>
            </a:r>
          </a:p>
        </p:txBody>
      </p:sp>
      <p:sp>
        <p:nvSpPr>
          <p:cNvPr id="4" name="圆角矩形 3"/>
          <p:cNvSpPr/>
          <p:nvPr/>
        </p:nvSpPr>
        <p:spPr>
          <a:xfrm>
            <a:off x="517852" y="966645"/>
            <a:ext cx="8133857" cy="326572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2963667" y="997234"/>
            <a:ext cx="3155031" cy="369332"/>
          </a:xfrm>
          <a:prstGeom prst="rect">
            <a:avLst/>
          </a:prstGeom>
        </p:spPr>
        <p:txBody>
          <a:bodyPr wrap="none">
            <a:spAutoFit/>
          </a:bodyPr>
          <a:lstStyle/>
          <a:p>
            <a:pPr algn="ctr"/>
            <a:r>
              <a:rPr lang="en-US" altLang="zh-CN" b="1" dirty="0">
                <a:solidFill>
                  <a:srgbClr val="0000CC"/>
                </a:solidFill>
                <a:latin typeface="微软雅黑" pitchFamily="34" charset="-122"/>
                <a:ea typeface="微软雅黑" pitchFamily="34" charset="-122"/>
              </a:rPr>
              <a:t>(a) </a:t>
            </a:r>
            <a:r>
              <a:rPr lang="zh-CN" altLang="en-US" b="1" dirty="0">
                <a:solidFill>
                  <a:srgbClr val="0000CC"/>
                </a:solidFill>
                <a:latin typeface="微软雅黑" pitchFamily="34" charset="-122"/>
                <a:ea typeface="微软雅黑" pitchFamily="34" charset="-122"/>
              </a:rPr>
              <a:t>分组流 </a:t>
            </a:r>
            <a:r>
              <a:rPr lang="en-US" altLang="zh-CN" b="1" dirty="0">
                <a:solidFill>
                  <a:srgbClr val="0000CC"/>
                </a:solidFill>
                <a:latin typeface="微软雅黑" pitchFamily="34" charset="-122"/>
                <a:ea typeface="微软雅黑" pitchFamily="34" charset="-122"/>
              </a:rPr>
              <a:t>1 </a:t>
            </a:r>
            <a:r>
              <a:rPr lang="zh-CN" altLang="en-US" b="1" dirty="0">
                <a:solidFill>
                  <a:srgbClr val="0000CC"/>
                </a:solidFill>
                <a:latin typeface="微软雅黑" pitchFamily="34" charset="-122"/>
                <a:ea typeface="微软雅黑" pitchFamily="34" charset="-122"/>
              </a:rPr>
              <a:t>的分组连续输入</a:t>
            </a:r>
          </a:p>
        </p:txBody>
      </p:sp>
      <p:grpSp>
        <p:nvGrpSpPr>
          <p:cNvPr id="84" name="组合 83"/>
          <p:cNvGrpSpPr/>
          <p:nvPr/>
        </p:nvGrpSpPr>
        <p:grpSpPr>
          <a:xfrm>
            <a:off x="1881794" y="2992280"/>
            <a:ext cx="6476653" cy="311413"/>
            <a:chOff x="1881794" y="2966153"/>
            <a:chExt cx="6476653" cy="311413"/>
          </a:xfrm>
        </p:grpSpPr>
        <p:sp>
          <p:nvSpPr>
            <p:cNvPr id="20" name="Rectangle 17"/>
            <p:cNvSpPr>
              <a:spLocks noChangeArrowheads="1"/>
            </p:cNvSpPr>
            <p:nvPr/>
          </p:nvSpPr>
          <p:spPr bwMode="auto">
            <a:xfrm>
              <a:off x="2588006" y="2980784"/>
              <a:ext cx="253059" cy="227309"/>
            </a:xfrm>
            <a:prstGeom prst="rect">
              <a:avLst/>
            </a:prstGeom>
            <a:solidFill>
              <a:srgbClr val="FF66FF"/>
            </a:solidFill>
            <a:ln w="9525" algn="ctr">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21" name="Rectangle 18"/>
            <p:cNvSpPr>
              <a:spLocks noChangeArrowheads="1"/>
            </p:cNvSpPr>
            <p:nvPr/>
          </p:nvSpPr>
          <p:spPr bwMode="auto">
            <a:xfrm>
              <a:off x="2841065" y="2980784"/>
              <a:ext cx="251925"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22" name="Rectangle 19"/>
            <p:cNvSpPr>
              <a:spLocks noChangeArrowheads="1"/>
            </p:cNvSpPr>
            <p:nvPr/>
          </p:nvSpPr>
          <p:spPr bwMode="auto">
            <a:xfrm>
              <a:off x="3092990" y="2980784"/>
              <a:ext cx="253060"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3</a:t>
              </a:r>
            </a:p>
          </p:txBody>
        </p:sp>
        <p:sp>
          <p:nvSpPr>
            <p:cNvPr id="23" name="Rectangle 20"/>
            <p:cNvSpPr>
              <a:spLocks noChangeArrowheads="1"/>
            </p:cNvSpPr>
            <p:nvPr/>
          </p:nvSpPr>
          <p:spPr bwMode="auto">
            <a:xfrm>
              <a:off x="3346049" y="2980784"/>
              <a:ext cx="253059"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4</a:t>
              </a:r>
            </a:p>
          </p:txBody>
        </p:sp>
        <p:sp>
          <p:nvSpPr>
            <p:cNvPr id="24" name="Rectangle 21"/>
            <p:cNvSpPr>
              <a:spLocks noChangeArrowheads="1"/>
            </p:cNvSpPr>
            <p:nvPr/>
          </p:nvSpPr>
          <p:spPr bwMode="auto">
            <a:xfrm>
              <a:off x="3599109" y="2980784"/>
              <a:ext cx="251925"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a:t>
              </a:r>
            </a:p>
          </p:txBody>
        </p:sp>
        <p:sp>
          <p:nvSpPr>
            <p:cNvPr id="25" name="Rectangle 22"/>
            <p:cNvSpPr>
              <a:spLocks noChangeArrowheads="1"/>
            </p:cNvSpPr>
            <p:nvPr/>
          </p:nvSpPr>
          <p:spPr bwMode="auto">
            <a:xfrm>
              <a:off x="3851034" y="2980784"/>
              <a:ext cx="253060"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6</a:t>
              </a:r>
            </a:p>
          </p:txBody>
        </p:sp>
        <p:sp>
          <p:nvSpPr>
            <p:cNvPr id="26" name="Rectangle 23"/>
            <p:cNvSpPr>
              <a:spLocks noChangeArrowheads="1"/>
            </p:cNvSpPr>
            <p:nvPr/>
          </p:nvSpPr>
          <p:spPr bwMode="auto">
            <a:xfrm>
              <a:off x="4104094" y="2980784"/>
              <a:ext cx="251925"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a:t>
              </a:r>
            </a:p>
          </p:txBody>
        </p:sp>
        <p:sp>
          <p:nvSpPr>
            <p:cNvPr id="27" name="Rectangle 24"/>
            <p:cNvSpPr>
              <a:spLocks noChangeArrowheads="1"/>
            </p:cNvSpPr>
            <p:nvPr/>
          </p:nvSpPr>
          <p:spPr bwMode="auto">
            <a:xfrm>
              <a:off x="4356019" y="2980784"/>
              <a:ext cx="253059"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8</a:t>
              </a:r>
            </a:p>
          </p:txBody>
        </p:sp>
        <p:sp>
          <p:nvSpPr>
            <p:cNvPr id="28" name="Rectangle 25"/>
            <p:cNvSpPr>
              <a:spLocks noChangeArrowheads="1"/>
            </p:cNvSpPr>
            <p:nvPr/>
          </p:nvSpPr>
          <p:spPr bwMode="auto">
            <a:xfrm>
              <a:off x="4609079" y="2980784"/>
              <a:ext cx="253060"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9</a:t>
              </a:r>
            </a:p>
          </p:txBody>
        </p:sp>
        <p:sp>
          <p:nvSpPr>
            <p:cNvPr id="29" name="Rectangle 26"/>
            <p:cNvSpPr>
              <a:spLocks noChangeArrowheads="1"/>
            </p:cNvSpPr>
            <p:nvPr/>
          </p:nvSpPr>
          <p:spPr bwMode="auto">
            <a:xfrm>
              <a:off x="4862138" y="2980784"/>
              <a:ext cx="251925"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10</a:t>
              </a:r>
            </a:p>
          </p:txBody>
        </p:sp>
        <p:sp>
          <p:nvSpPr>
            <p:cNvPr id="30" name="Rectangle 27"/>
            <p:cNvSpPr>
              <a:spLocks noChangeArrowheads="1"/>
            </p:cNvSpPr>
            <p:nvPr/>
          </p:nvSpPr>
          <p:spPr bwMode="auto">
            <a:xfrm>
              <a:off x="5114063" y="2980784"/>
              <a:ext cx="253059" cy="227309"/>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31" name="Rectangle 28"/>
            <p:cNvSpPr>
              <a:spLocks noChangeArrowheads="1"/>
            </p:cNvSpPr>
            <p:nvPr/>
          </p:nvSpPr>
          <p:spPr bwMode="auto">
            <a:xfrm>
              <a:off x="5367123" y="2980784"/>
              <a:ext cx="253060" cy="227309"/>
            </a:xfrm>
            <a:prstGeom prst="rect">
              <a:avLst/>
            </a:prstGeom>
            <a:solidFill>
              <a:srgbClr val="FF66FF"/>
            </a:solidFill>
            <a:ln w="9525" algn="ctr">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3" name="Rectangle 50"/>
            <p:cNvSpPr>
              <a:spLocks noChangeArrowheads="1"/>
            </p:cNvSpPr>
            <p:nvPr/>
          </p:nvSpPr>
          <p:spPr bwMode="auto">
            <a:xfrm>
              <a:off x="5620183" y="2980784"/>
              <a:ext cx="251925"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4" name="Rectangle 51"/>
            <p:cNvSpPr>
              <a:spLocks noChangeArrowheads="1"/>
            </p:cNvSpPr>
            <p:nvPr/>
          </p:nvSpPr>
          <p:spPr bwMode="auto">
            <a:xfrm>
              <a:off x="5872108" y="2980784"/>
              <a:ext cx="253059"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5" name="Rectangle 52"/>
            <p:cNvSpPr>
              <a:spLocks noChangeArrowheads="1"/>
            </p:cNvSpPr>
            <p:nvPr/>
          </p:nvSpPr>
          <p:spPr bwMode="auto">
            <a:xfrm>
              <a:off x="6125167" y="2980784"/>
              <a:ext cx="253060"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6" name="Rectangle 53"/>
            <p:cNvSpPr>
              <a:spLocks noChangeArrowheads="1"/>
            </p:cNvSpPr>
            <p:nvPr/>
          </p:nvSpPr>
          <p:spPr bwMode="auto">
            <a:xfrm>
              <a:off x="6378227" y="2980784"/>
              <a:ext cx="251925"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7" name="Rectangle 54"/>
            <p:cNvSpPr>
              <a:spLocks noChangeArrowheads="1"/>
            </p:cNvSpPr>
            <p:nvPr/>
          </p:nvSpPr>
          <p:spPr bwMode="auto">
            <a:xfrm>
              <a:off x="6630152" y="2980784"/>
              <a:ext cx="253059"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8" name="Rectangle 55"/>
            <p:cNvSpPr>
              <a:spLocks noChangeArrowheads="1"/>
            </p:cNvSpPr>
            <p:nvPr/>
          </p:nvSpPr>
          <p:spPr bwMode="auto">
            <a:xfrm>
              <a:off x="6883211" y="2980784"/>
              <a:ext cx="253060"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9" name="Rectangle 56"/>
            <p:cNvSpPr>
              <a:spLocks noChangeArrowheads="1"/>
            </p:cNvSpPr>
            <p:nvPr/>
          </p:nvSpPr>
          <p:spPr bwMode="auto">
            <a:xfrm>
              <a:off x="7136271" y="2980784"/>
              <a:ext cx="251925"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0" name="Rectangle 57"/>
            <p:cNvSpPr>
              <a:spLocks noChangeArrowheads="1"/>
            </p:cNvSpPr>
            <p:nvPr/>
          </p:nvSpPr>
          <p:spPr bwMode="auto">
            <a:xfrm>
              <a:off x="7388196" y="2980784"/>
              <a:ext cx="253059"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1" name="Rectangle 58"/>
            <p:cNvSpPr>
              <a:spLocks noChangeArrowheads="1"/>
            </p:cNvSpPr>
            <p:nvPr/>
          </p:nvSpPr>
          <p:spPr bwMode="auto">
            <a:xfrm>
              <a:off x="7641256" y="2980784"/>
              <a:ext cx="253060" cy="227309"/>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5" name="Text Box 62"/>
            <p:cNvSpPr txBox="1">
              <a:spLocks noChangeArrowheads="1"/>
            </p:cNvSpPr>
            <p:nvPr/>
          </p:nvSpPr>
          <p:spPr bwMode="auto">
            <a:xfrm>
              <a:off x="1881794" y="2966153"/>
              <a:ext cx="59503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FIFO</a:t>
              </a:r>
              <a:endParaRPr kumimoji="1" lang="en-US" altLang="zh-CN" sz="1200" b="1" dirty="0">
                <a:latin typeface="微软雅黑" pitchFamily="34" charset="-122"/>
                <a:ea typeface="微软雅黑" pitchFamily="34" charset="-122"/>
              </a:endParaRPr>
            </a:p>
          </p:txBody>
        </p:sp>
        <p:sp>
          <p:nvSpPr>
            <p:cNvPr id="71" name="Line 69"/>
            <p:cNvSpPr>
              <a:spLocks noChangeShapeType="1"/>
            </p:cNvSpPr>
            <p:nvPr/>
          </p:nvSpPr>
          <p:spPr bwMode="auto">
            <a:xfrm>
              <a:off x="2524457" y="3216933"/>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6" name="Text Box 74"/>
            <p:cNvSpPr txBox="1">
              <a:spLocks noChangeArrowheads="1"/>
            </p:cNvSpPr>
            <p:nvPr/>
          </p:nvSpPr>
          <p:spPr bwMode="auto">
            <a:xfrm>
              <a:off x="8109661" y="3000567"/>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p>
          </p:txBody>
        </p:sp>
      </p:grpSp>
      <p:grpSp>
        <p:nvGrpSpPr>
          <p:cNvPr id="85" name="组合 84"/>
          <p:cNvGrpSpPr/>
          <p:nvPr/>
        </p:nvGrpSpPr>
        <p:grpSpPr>
          <a:xfrm>
            <a:off x="1890503" y="3421338"/>
            <a:ext cx="6467944" cy="337540"/>
            <a:chOff x="1890503" y="3320270"/>
            <a:chExt cx="6467944" cy="337540"/>
          </a:xfrm>
        </p:grpSpPr>
        <p:sp>
          <p:nvSpPr>
            <p:cNvPr id="32" name="Rectangle 29"/>
            <p:cNvSpPr>
              <a:spLocks noChangeArrowheads="1"/>
            </p:cNvSpPr>
            <p:nvPr/>
          </p:nvSpPr>
          <p:spPr bwMode="auto">
            <a:xfrm>
              <a:off x="2588006" y="3361030"/>
              <a:ext cx="253059"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33" name="Rectangle 30"/>
            <p:cNvSpPr>
              <a:spLocks noChangeArrowheads="1"/>
            </p:cNvSpPr>
            <p:nvPr/>
          </p:nvSpPr>
          <p:spPr bwMode="auto">
            <a:xfrm>
              <a:off x="2841065" y="3361030"/>
              <a:ext cx="251925"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4" name="Rectangle 31"/>
            <p:cNvSpPr>
              <a:spLocks noChangeArrowheads="1"/>
            </p:cNvSpPr>
            <p:nvPr/>
          </p:nvSpPr>
          <p:spPr bwMode="auto">
            <a:xfrm>
              <a:off x="3092990" y="3361030"/>
              <a:ext cx="253060"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5" name="Rectangle 32"/>
            <p:cNvSpPr>
              <a:spLocks noChangeArrowheads="1"/>
            </p:cNvSpPr>
            <p:nvPr/>
          </p:nvSpPr>
          <p:spPr bwMode="auto">
            <a:xfrm>
              <a:off x="3346049" y="3361030"/>
              <a:ext cx="253059"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6" name="Rectangle 33"/>
            <p:cNvSpPr>
              <a:spLocks noChangeArrowheads="1"/>
            </p:cNvSpPr>
            <p:nvPr/>
          </p:nvSpPr>
          <p:spPr bwMode="auto">
            <a:xfrm>
              <a:off x="3599109" y="3361030"/>
              <a:ext cx="251925"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7" name="Rectangle 34"/>
            <p:cNvSpPr>
              <a:spLocks noChangeArrowheads="1"/>
            </p:cNvSpPr>
            <p:nvPr/>
          </p:nvSpPr>
          <p:spPr bwMode="auto">
            <a:xfrm>
              <a:off x="3851034" y="3361030"/>
              <a:ext cx="253060"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8" name="Rectangle 35"/>
            <p:cNvSpPr>
              <a:spLocks noChangeArrowheads="1"/>
            </p:cNvSpPr>
            <p:nvPr/>
          </p:nvSpPr>
          <p:spPr bwMode="auto">
            <a:xfrm>
              <a:off x="4104094" y="3361030"/>
              <a:ext cx="251925"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9" name="Rectangle 36"/>
            <p:cNvSpPr>
              <a:spLocks noChangeArrowheads="1"/>
            </p:cNvSpPr>
            <p:nvPr/>
          </p:nvSpPr>
          <p:spPr bwMode="auto">
            <a:xfrm>
              <a:off x="4356019" y="3361030"/>
              <a:ext cx="253059"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0" name="Rectangle 37"/>
            <p:cNvSpPr>
              <a:spLocks noChangeArrowheads="1"/>
            </p:cNvSpPr>
            <p:nvPr/>
          </p:nvSpPr>
          <p:spPr bwMode="auto">
            <a:xfrm>
              <a:off x="4609079" y="3361030"/>
              <a:ext cx="253060"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1" name="Rectangle 38"/>
            <p:cNvSpPr>
              <a:spLocks noChangeArrowheads="1"/>
            </p:cNvSpPr>
            <p:nvPr/>
          </p:nvSpPr>
          <p:spPr bwMode="auto">
            <a:xfrm>
              <a:off x="4862138" y="3361030"/>
              <a:ext cx="251925"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42" name="Rectangle 39"/>
            <p:cNvSpPr>
              <a:spLocks noChangeArrowheads="1"/>
            </p:cNvSpPr>
            <p:nvPr/>
          </p:nvSpPr>
          <p:spPr bwMode="auto">
            <a:xfrm>
              <a:off x="5114063" y="3361030"/>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43" name="Rectangle 40"/>
            <p:cNvSpPr>
              <a:spLocks noChangeArrowheads="1"/>
            </p:cNvSpPr>
            <p:nvPr/>
          </p:nvSpPr>
          <p:spPr bwMode="auto">
            <a:xfrm>
              <a:off x="5367123" y="3361030"/>
              <a:ext cx="253060"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3</a:t>
              </a:r>
            </a:p>
          </p:txBody>
        </p:sp>
        <p:sp>
          <p:nvSpPr>
            <p:cNvPr id="44" name="Rectangle 41"/>
            <p:cNvSpPr>
              <a:spLocks noChangeArrowheads="1"/>
            </p:cNvSpPr>
            <p:nvPr/>
          </p:nvSpPr>
          <p:spPr bwMode="auto">
            <a:xfrm>
              <a:off x="5620183" y="3361030"/>
              <a:ext cx="251925"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4</a:t>
              </a:r>
            </a:p>
          </p:txBody>
        </p:sp>
        <p:sp>
          <p:nvSpPr>
            <p:cNvPr id="45" name="Rectangle 42"/>
            <p:cNvSpPr>
              <a:spLocks noChangeArrowheads="1"/>
            </p:cNvSpPr>
            <p:nvPr/>
          </p:nvSpPr>
          <p:spPr bwMode="auto">
            <a:xfrm>
              <a:off x="5872108" y="3361030"/>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a:t>
              </a:r>
            </a:p>
          </p:txBody>
        </p:sp>
        <p:sp>
          <p:nvSpPr>
            <p:cNvPr id="46" name="Rectangle 43"/>
            <p:cNvSpPr>
              <a:spLocks noChangeArrowheads="1"/>
            </p:cNvSpPr>
            <p:nvPr/>
          </p:nvSpPr>
          <p:spPr bwMode="auto">
            <a:xfrm>
              <a:off x="6125167" y="3361030"/>
              <a:ext cx="253060"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6</a:t>
              </a:r>
            </a:p>
          </p:txBody>
        </p:sp>
        <p:sp>
          <p:nvSpPr>
            <p:cNvPr id="47" name="Rectangle 44"/>
            <p:cNvSpPr>
              <a:spLocks noChangeArrowheads="1"/>
            </p:cNvSpPr>
            <p:nvPr/>
          </p:nvSpPr>
          <p:spPr bwMode="auto">
            <a:xfrm>
              <a:off x="6378227" y="3361030"/>
              <a:ext cx="251925"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a:t>
              </a:r>
            </a:p>
          </p:txBody>
        </p:sp>
        <p:sp>
          <p:nvSpPr>
            <p:cNvPr id="48" name="Rectangle 45"/>
            <p:cNvSpPr>
              <a:spLocks noChangeArrowheads="1"/>
            </p:cNvSpPr>
            <p:nvPr/>
          </p:nvSpPr>
          <p:spPr bwMode="auto">
            <a:xfrm>
              <a:off x="6630152" y="3361030"/>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8</a:t>
              </a:r>
            </a:p>
          </p:txBody>
        </p:sp>
        <p:sp>
          <p:nvSpPr>
            <p:cNvPr id="49" name="Rectangle 46"/>
            <p:cNvSpPr>
              <a:spLocks noChangeArrowheads="1"/>
            </p:cNvSpPr>
            <p:nvPr/>
          </p:nvSpPr>
          <p:spPr bwMode="auto">
            <a:xfrm>
              <a:off x="6883211" y="3361030"/>
              <a:ext cx="253060"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9</a:t>
              </a:r>
            </a:p>
          </p:txBody>
        </p:sp>
        <p:sp>
          <p:nvSpPr>
            <p:cNvPr id="50" name="Rectangle 47"/>
            <p:cNvSpPr>
              <a:spLocks noChangeArrowheads="1"/>
            </p:cNvSpPr>
            <p:nvPr/>
          </p:nvSpPr>
          <p:spPr bwMode="auto">
            <a:xfrm>
              <a:off x="7136271" y="3361030"/>
              <a:ext cx="251925"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10</a:t>
              </a:r>
            </a:p>
          </p:txBody>
        </p:sp>
        <p:sp>
          <p:nvSpPr>
            <p:cNvPr id="51" name="Rectangle 48"/>
            <p:cNvSpPr>
              <a:spLocks noChangeArrowheads="1"/>
            </p:cNvSpPr>
            <p:nvPr/>
          </p:nvSpPr>
          <p:spPr bwMode="auto">
            <a:xfrm>
              <a:off x="7388196" y="3361030"/>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52" name="Rectangle 49"/>
            <p:cNvSpPr>
              <a:spLocks noChangeArrowheads="1"/>
            </p:cNvSpPr>
            <p:nvPr/>
          </p:nvSpPr>
          <p:spPr bwMode="auto">
            <a:xfrm>
              <a:off x="7641256" y="3361030"/>
              <a:ext cx="253060" cy="227308"/>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6" name="Text Box 63"/>
            <p:cNvSpPr txBox="1">
              <a:spLocks noChangeArrowheads="1"/>
            </p:cNvSpPr>
            <p:nvPr/>
          </p:nvSpPr>
          <p:spPr bwMode="auto">
            <a:xfrm>
              <a:off x="1890503" y="3320270"/>
              <a:ext cx="62709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WFQ</a:t>
              </a:r>
            </a:p>
          </p:txBody>
        </p:sp>
        <p:sp>
          <p:nvSpPr>
            <p:cNvPr id="72" name="Line 70"/>
            <p:cNvSpPr>
              <a:spLocks noChangeShapeType="1"/>
            </p:cNvSpPr>
            <p:nvPr/>
          </p:nvSpPr>
          <p:spPr bwMode="auto">
            <a:xfrm>
              <a:off x="2524457" y="3597177"/>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7" name="Text Box 75"/>
            <p:cNvSpPr txBox="1">
              <a:spLocks noChangeArrowheads="1"/>
            </p:cNvSpPr>
            <p:nvPr/>
          </p:nvSpPr>
          <p:spPr bwMode="auto">
            <a:xfrm>
              <a:off x="8109661" y="3380811"/>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p>
          </p:txBody>
        </p:sp>
      </p:grpSp>
      <p:grpSp>
        <p:nvGrpSpPr>
          <p:cNvPr id="3" name="组合 2"/>
          <p:cNvGrpSpPr/>
          <p:nvPr/>
        </p:nvGrpSpPr>
        <p:grpSpPr>
          <a:xfrm>
            <a:off x="775927" y="1468658"/>
            <a:ext cx="7582521" cy="1227893"/>
            <a:chOff x="775927" y="1407695"/>
            <a:chExt cx="7582521" cy="1227893"/>
          </a:xfrm>
        </p:grpSpPr>
        <p:sp>
          <p:nvSpPr>
            <p:cNvPr id="7" name="Rectangle 4"/>
            <p:cNvSpPr>
              <a:spLocks noChangeArrowheads="1"/>
            </p:cNvSpPr>
            <p:nvPr/>
          </p:nvSpPr>
          <p:spPr bwMode="auto">
            <a:xfrm>
              <a:off x="2588006" y="1420233"/>
              <a:ext cx="253059"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8" name="Rectangle 5"/>
            <p:cNvSpPr>
              <a:spLocks noChangeArrowheads="1"/>
            </p:cNvSpPr>
            <p:nvPr/>
          </p:nvSpPr>
          <p:spPr bwMode="auto">
            <a:xfrm>
              <a:off x="2841065" y="1420233"/>
              <a:ext cx="251925"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9" name="Rectangle 6"/>
            <p:cNvSpPr>
              <a:spLocks noChangeArrowheads="1"/>
            </p:cNvSpPr>
            <p:nvPr/>
          </p:nvSpPr>
          <p:spPr bwMode="auto">
            <a:xfrm>
              <a:off x="3092990" y="1420233"/>
              <a:ext cx="253060"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0" name="Rectangle 7"/>
            <p:cNvSpPr>
              <a:spLocks noChangeArrowheads="1"/>
            </p:cNvSpPr>
            <p:nvPr/>
          </p:nvSpPr>
          <p:spPr bwMode="auto">
            <a:xfrm>
              <a:off x="3346049" y="1420233"/>
              <a:ext cx="253059"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1" name="Rectangle 8"/>
            <p:cNvSpPr>
              <a:spLocks noChangeArrowheads="1"/>
            </p:cNvSpPr>
            <p:nvPr/>
          </p:nvSpPr>
          <p:spPr bwMode="auto">
            <a:xfrm>
              <a:off x="3599109" y="1420233"/>
              <a:ext cx="251925"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2" name="Rectangle 9"/>
            <p:cNvSpPr>
              <a:spLocks noChangeArrowheads="1"/>
            </p:cNvSpPr>
            <p:nvPr/>
          </p:nvSpPr>
          <p:spPr bwMode="auto">
            <a:xfrm>
              <a:off x="3851034" y="1420233"/>
              <a:ext cx="253060"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3" name="Rectangle 10"/>
            <p:cNvSpPr>
              <a:spLocks noChangeArrowheads="1"/>
            </p:cNvSpPr>
            <p:nvPr/>
          </p:nvSpPr>
          <p:spPr bwMode="auto">
            <a:xfrm>
              <a:off x="4104094" y="1420233"/>
              <a:ext cx="251925"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4" name="Rectangle 11"/>
            <p:cNvSpPr>
              <a:spLocks noChangeArrowheads="1"/>
            </p:cNvSpPr>
            <p:nvPr/>
          </p:nvSpPr>
          <p:spPr bwMode="auto">
            <a:xfrm>
              <a:off x="4356019" y="1420233"/>
              <a:ext cx="253059"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5" name="Rectangle 12"/>
            <p:cNvSpPr>
              <a:spLocks noChangeArrowheads="1"/>
            </p:cNvSpPr>
            <p:nvPr/>
          </p:nvSpPr>
          <p:spPr bwMode="auto">
            <a:xfrm>
              <a:off x="4609079" y="1420233"/>
              <a:ext cx="253060"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6" name="Rectangle 13"/>
            <p:cNvSpPr>
              <a:spLocks noChangeArrowheads="1"/>
            </p:cNvSpPr>
            <p:nvPr/>
          </p:nvSpPr>
          <p:spPr bwMode="auto">
            <a:xfrm>
              <a:off x="4862138" y="1420233"/>
              <a:ext cx="251925"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7" name="Rectangle 14"/>
            <p:cNvSpPr>
              <a:spLocks noChangeArrowheads="1"/>
            </p:cNvSpPr>
            <p:nvPr/>
          </p:nvSpPr>
          <p:spPr bwMode="auto">
            <a:xfrm>
              <a:off x="5114063" y="1420233"/>
              <a:ext cx="253059" cy="22835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8" name="Rectangle 15"/>
            <p:cNvSpPr>
              <a:spLocks noChangeArrowheads="1"/>
            </p:cNvSpPr>
            <p:nvPr/>
          </p:nvSpPr>
          <p:spPr bwMode="auto">
            <a:xfrm>
              <a:off x="2588006" y="1800477"/>
              <a:ext cx="253059" cy="22835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19" name="Rectangle 16"/>
            <p:cNvSpPr>
              <a:spLocks noChangeArrowheads="1"/>
            </p:cNvSpPr>
            <p:nvPr/>
          </p:nvSpPr>
          <p:spPr bwMode="auto">
            <a:xfrm>
              <a:off x="2588006" y="2356823"/>
              <a:ext cx="253059" cy="22730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62" name="Text Box 59"/>
            <p:cNvSpPr txBox="1">
              <a:spLocks noChangeArrowheads="1"/>
            </p:cNvSpPr>
            <p:nvPr/>
          </p:nvSpPr>
          <p:spPr bwMode="auto">
            <a:xfrm>
              <a:off x="1786643" y="1407695"/>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1</a:t>
              </a:r>
            </a:p>
          </p:txBody>
        </p:sp>
        <p:sp>
          <p:nvSpPr>
            <p:cNvPr id="63" name="Text Box 60"/>
            <p:cNvSpPr txBox="1">
              <a:spLocks noChangeArrowheads="1"/>
            </p:cNvSpPr>
            <p:nvPr/>
          </p:nvSpPr>
          <p:spPr bwMode="auto">
            <a:xfrm>
              <a:off x="1786643" y="1761368"/>
              <a:ext cx="787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2</a:t>
              </a:r>
            </a:p>
          </p:txBody>
        </p:sp>
        <p:sp>
          <p:nvSpPr>
            <p:cNvPr id="64" name="Text Box 61"/>
            <p:cNvSpPr txBox="1">
              <a:spLocks noChangeArrowheads="1"/>
            </p:cNvSpPr>
            <p:nvPr/>
          </p:nvSpPr>
          <p:spPr bwMode="auto">
            <a:xfrm>
              <a:off x="1748481" y="2353238"/>
              <a:ext cx="8819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11</a:t>
              </a:r>
            </a:p>
          </p:txBody>
        </p:sp>
        <p:sp>
          <p:nvSpPr>
            <p:cNvPr id="67" name="Text Box 64"/>
            <p:cNvSpPr txBox="1">
              <a:spLocks noChangeArrowheads="1"/>
            </p:cNvSpPr>
            <p:nvPr/>
          </p:nvSpPr>
          <p:spPr bwMode="auto">
            <a:xfrm rot="16200000">
              <a:off x="1970657" y="2040208"/>
              <a:ext cx="3818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latin typeface="微软雅黑" pitchFamily="34" charset="-122"/>
                  <a:ea typeface="微软雅黑" pitchFamily="34" charset="-122"/>
                </a:rPr>
                <a:t>…</a:t>
              </a:r>
            </a:p>
          </p:txBody>
        </p:sp>
        <p:sp>
          <p:nvSpPr>
            <p:cNvPr id="68" name="Line 66"/>
            <p:cNvSpPr>
              <a:spLocks noChangeShapeType="1"/>
            </p:cNvSpPr>
            <p:nvPr/>
          </p:nvSpPr>
          <p:spPr bwMode="auto">
            <a:xfrm>
              <a:off x="2524457" y="1648588"/>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69" name="Line 67"/>
            <p:cNvSpPr>
              <a:spLocks noChangeShapeType="1"/>
            </p:cNvSpPr>
            <p:nvPr/>
          </p:nvSpPr>
          <p:spPr bwMode="auto">
            <a:xfrm>
              <a:off x="2524457" y="2028832"/>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0" name="Line 68"/>
            <p:cNvSpPr>
              <a:spLocks noChangeShapeType="1"/>
            </p:cNvSpPr>
            <p:nvPr/>
          </p:nvSpPr>
          <p:spPr bwMode="auto">
            <a:xfrm>
              <a:off x="2524457" y="2584131"/>
              <a:ext cx="571517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3" name="Text Box 71"/>
            <p:cNvSpPr txBox="1">
              <a:spLocks noChangeArrowheads="1"/>
            </p:cNvSpPr>
            <p:nvPr/>
          </p:nvSpPr>
          <p:spPr bwMode="auto">
            <a:xfrm>
              <a:off x="8109661" y="1423643"/>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p>
          </p:txBody>
        </p:sp>
        <p:sp>
          <p:nvSpPr>
            <p:cNvPr id="74" name="Text Box 72"/>
            <p:cNvSpPr txBox="1">
              <a:spLocks noChangeArrowheads="1"/>
            </p:cNvSpPr>
            <p:nvPr/>
          </p:nvSpPr>
          <p:spPr bwMode="auto">
            <a:xfrm>
              <a:off x="8109662" y="1813047"/>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5" name="Text Box 73"/>
            <p:cNvSpPr txBox="1">
              <a:spLocks noChangeArrowheads="1"/>
            </p:cNvSpPr>
            <p:nvPr/>
          </p:nvSpPr>
          <p:spPr bwMode="auto">
            <a:xfrm>
              <a:off x="8109661" y="2358589"/>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p>
          </p:txBody>
        </p:sp>
        <p:sp>
          <p:nvSpPr>
            <p:cNvPr id="81" name="Text Box 59"/>
            <p:cNvSpPr txBox="1">
              <a:spLocks noChangeArrowheads="1"/>
            </p:cNvSpPr>
            <p:nvPr/>
          </p:nvSpPr>
          <p:spPr bwMode="auto">
            <a:xfrm>
              <a:off x="775927" y="1416404"/>
              <a:ext cx="93487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0.5</a:t>
              </a:r>
            </a:p>
          </p:txBody>
        </p:sp>
        <p:sp>
          <p:nvSpPr>
            <p:cNvPr id="82" name="Text Box 59"/>
            <p:cNvSpPr txBox="1">
              <a:spLocks noChangeArrowheads="1"/>
            </p:cNvSpPr>
            <p:nvPr/>
          </p:nvSpPr>
          <p:spPr bwMode="auto">
            <a:xfrm>
              <a:off x="775927" y="1773240"/>
              <a:ext cx="1029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0.05</a:t>
              </a:r>
            </a:p>
          </p:txBody>
        </p:sp>
        <p:sp>
          <p:nvSpPr>
            <p:cNvPr id="83" name="Text Box 59"/>
            <p:cNvSpPr txBox="1">
              <a:spLocks noChangeArrowheads="1"/>
            </p:cNvSpPr>
            <p:nvPr/>
          </p:nvSpPr>
          <p:spPr bwMode="auto">
            <a:xfrm>
              <a:off x="775927" y="2356963"/>
              <a:ext cx="1029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0.05</a:t>
              </a:r>
            </a:p>
          </p:txBody>
        </p:sp>
      </p:grpSp>
    </p:spTree>
    <p:extLst>
      <p:ext uri="{BB962C8B-B14F-4D97-AF65-F5344CB8AC3E}">
        <p14:creationId xmlns:p14="http://schemas.microsoft.com/office/powerpoint/2010/main" val="18618389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up)">
                                      <p:cBhvr>
                                        <p:cTn id="7" dur="10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up)">
                                      <p:cBhvr>
                                        <p:cTn id="12" dur="10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320653" y="1387364"/>
            <a:ext cx="8133857" cy="311767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AutoShape 5"/>
          <p:cNvSpPr>
            <a:spLocks noChangeArrowheads="1"/>
          </p:cNvSpPr>
          <p:nvPr/>
        </p:nvSpPr>
        <p:spPr bwMode="auto">
          <a:xfrm>
            <a:off x="517853" y="613942"/>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矩形 4"/>
          <p:cNvSpPr>
            <a:spLocks noChangeArrowheads="1"/>
          </p:cNvSpPr>
          <p:nvPr/>
        </p:nvSpPr>
        <p:spPr bwMode="auto">
          <a:xfrm>
            <a:off x="635844" y="564114"/>
            <a:ext cx="27286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WFQ </a:t>
            </a: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FIFO </a:t>
            </a:r>
            <a:r>
              <a:rPr lang="zh-CN" altLang="en-US" sz="2000" b="1" dirty="0">
                <a:latin typeface="微软雅黑" pitchFamily="34" charset="-122"/>
                <a:ea typeface="微软雅黑" pitchFamily="34" charset="-122"/>
              </a:rPr>
              <a:t>的比较 </a:t>
            </a:r>
          </a:p>
        </p:txBody>
      </p:sp>
      <p:sp>
        <p:nvSpPr>
          <p:cNvPr id="82" name="矩形 81"/>
          <p:cNvSpPr/>
          <p:nvPr/>
        </p:nvSpPr>
        <p:spPr>
          <a:xfrm>
            <a:off x="2963667" y="997234"/>
            <a:ext cx="3155031" cy="369332"/>
          </a:xfrm>
          <a:prstGeom prst="rect">
            <a:avLst/>
          </a:prstGeom>
        </p:spPr>
        <p:txBody>
          <a:bodyPr wrap="none">
            <a:spAutoFit/>
          </a:bodyPr>
          <a:lstStyle/>
          <a:p>
            <a:pPr algn="ctr"/>
            <a:r>
              <a:rPr lang="en-US" altLang="zh-CN" b="1" dirty="0">
                <a:solidFill>
                  <a:srgbClr val="0000CC"/>
                </a:solidFill>
                <a:latin typeface="微软雅黑" pitchFamily="34" charset="-122"/>
                <a:ea typeface="微软雅黑" pitchFamily="34" charset="-122"/>
              </a:rPr>
              <a:t>(b) </a:t>
            </a:r>
            <a:r>
              <a:rPr lang="zh-CN" altLang="en-US" b="1" dirty="0">
                <a:solidFill>
                  <a:srgbClr val="0000CC"/>
                </a:solidFill>
                <a:latin typeface="微软雅黑" pitchFamily="34" charset="-122"/>
                <a:ea typeface="微软雅黑" pitchFamily="34" charset="-122"/>
              </a:rPr>
              <a:t>分组流 </a:t>
            </a:r>
            <a:r>
              <a:rPr lang="en-US" altLang="zh-CN" b="1" dirty="0">
                <a:solidFill>
                  <a:srgbClr val="0000CC"/>
                </a:solidFill>
                <a:latin typeface="微软雅黑" pitchFamily="34" charset="-122"/>
                <a:ea typeface="微软雅黑" pitchFamily="34" charset="-122"/>
              </a:rPr>
              <a:t>1 </a:t>
            </a:r>
            <a:r>
              <a:rPr lang="zh-CN" altLang="en-US" b="1" dirty="0">
                <a:solidFill>
                  <a:srgbClr val="0000CC"/>
                </a:solidFill>
                <a:latin typeface="微软雅黑" pitchFamily="34" charset="-122"/>
                <a:ea typeface="微软雅黑" pitchFamily="34" charset="-122"/>
              </a:rPr>
              <a:t>的分组断续输入</a:t>
            </a:r>
          </a:p>
        </p:txBody>
      </p:sp>
      <p:grpSp>
        <p:nvGrpSpPr>
          <p:cNvPr id="86" name="组合 85"/>
          <p:cNvGrpSpPr/>
          <p:nvPr/>
        </p:nvGrpSpPr>
        <p:grpSpPr>
          <a:xfrm>
            <a:off x="775927" y="1459448"/>
            <a:ext cx="7619551" cy="1260356"/>
            <a:chOff x="775927" y="1459448"/>
            <a:chExt cx="7619551" cy="1260356"/>
          </a:xfrm>
        </p:grpSpPr>
        <p:sp>
          <p:nvSpPr>
            <p:cNvPr id="8" name="Rectangle 75"/>
            <p:cNvSpPr>
              <a:spLocks noChangeArrowheads="1"/>
            </p:cNvSpPr>
            <p:nvPr/>
          </p:nvSpPr>
          <p:spPr bwMode="auto">
            <a:xfrm>
              <a:off x="2603237"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9" name="Rectangle 76"/>
            <p:cNvSpPr>
              <a:spLocks noChangeArrowheads="1"/>
            </p:cNvSpPr>
            <p:nvPr/>
          </p:nvSpPr>
          <p:spPr bwMode="auto">
            <a:xfrm>
              <a:off x="3113378"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0" name="Rectangle 77"/>
            <p:cNvSpPr>
              <a:spLocks noChangeArrowheads="1"/>
            </p:cNvSpPr>
            <p:nvPr/>
          </p:nvSpPr>
          <p:spPr bwMode="auto">
            <a:xfrm>
              <a:off x="3622371"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1" name="Rectangle 78"/>
            <p:cNvSpPr>
              <a:spLocks noChangeArrowheads="1"/>
            </p:cNvSpPr>
            <p:nvPr/>
          </p:nvSpPr>
          <p:spPr bwMode="auto">
            <a:xfrm>
              <a:off x="4132512"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2" name="Rectangle 79"/>
            <p:cNvSpPr>
              <a:spLocks noChangeArrowheads="1"/>
            </p:cNvSpPr>
            <p:nvPr/>
          </p:nvSpPr>
          <p:spPr bwMode="auto">
            <a:xfrm>
              <a:off x="4641505"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3" name="Rectangle 80"/>
            <p:cNvSpPr>
              <a:spLocks noChangeArrowheads="1"/>
            </p:cNvSpPr>
            <p:nvPr/>
          </p:nvSpPr>
          <p:spPr bwMode="auto">
            <a:xfrm>
              <a:off x="5151646" y="1483841"/>
              <a:ext cx="25392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4" name="Rectangle 81"/>
            <p:cNvSpPr>
              <a:spLocks noChangeArrowheads="1"/>
            </p:cNvSpPr>
            <p:nvPr/>
          </p:nvSpPr>
          <p:spPr bwMode="auto">
            <a:xfrm>
              <a:off x="5660638"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5" name="Rectangle 82"/>
            <p:cNvSpPr>
              <a:spLocks noChangeArrowheads="1"/>
            </p:cNvSpPr>
            <p:nvPr/>
          </p:nvSpPr>
          <p:spPr bwMode="auto">
            <a:xfrm>
              <a:off x="6170780" y="1483841"/>
              <a:ext cx="253922"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6" name="Rectangle 83"/>
            <p:cNvSpPr>
              <a:spLocks noChangeArrowheads="1"/>
            </p:cNvSpPr>
            <p:nvPr/>
          </p:nvSpPr>
          <p:spPr bwMode="auto">
            <a:xfrm>
              <a:off x="6679773"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7" name="Rectangle 84"/>
            <p:cNvSpPr>
              <a:spLocks noChangeArrowheads="1"/>
            </p:cNvSpPr>
            <p:nvPr/>
          </p:nvSpPr>
          <p:spPr bwMode="auto">
            <a:xfrm>
              <a:off x="7189915" y="1483841"/>
              <a:ext cx="25392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8" name="Rectangle 85"/>
            <p:cNvSpPr>
              <a:spLocks noChangeArrowheads="1"/>
            </p:cNvSpPr>
            <p:nvPr/>
          </p:nvSpPr>
          <p:spPr bwMode="auto">
            <a:xfrm>
              <a:off x="7698906" y="1483841"/>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19" name="Rectangle 86"/>
            <p:cNvSpPr>
              <a:spLocks noChangeArrowheads="1"/>
            </p:cNvSpPr>
            <p:nvPr/>
          </p:nvSpPr>
          <p:spPr bwMode="auto">
            <a:xfrm>
              <a:off x="2603237" y="1863531"/>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20" name="Rectangle 87"/>
            <p:cNvSpPr>
              <a:spLocks noChangeArrowheads="1"/>
            </p:cNvSpPr>
            <p:nvPr/>
          </p:nvSpPr>
          <p:spPr bwMode="auto">
            <a:xfrm>
              <a:off x="2603237" y="2437470"/>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63" name="Text Box 130"/>
            <p:cNvSpPr txBox="1">
              <a:spLocks noChangeArrowheads="1"/>
            </p:cNvSpPr>
            <p:nvPr/>
          </p:nvSpPr>
          <p:spPr bwMode="auto">
            <a:xfrm>
              <a:off x="1787958" y="1459448"/>
              <a:ext cx="77049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1</a:t>
              </a:r>
            </a:p>
          </p:txBody>
        </p:sp>
        <p:sp>
          <p:nvSpPr>
            <p:cNvPr id="64" name="Text Box 131"/>
            <p:cNvSpPr txBox="1">
              <a:spLocks noChangeArrowheads="1"/>
            </p:cNvSpPr>
            <p:nvPr/>
          </p:nvSpPr>
          <p:spPr bwMode="auto">
            <a:xfrm>
              <a:off x="1787958" y="1840198"/>
              <a:ext cx="77049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分组流 </a:t>
              </a:r>
              <a:r>
                <a:rPr kumimoji="1" lang="en-US" altLang="zh-CN" sz="1200" b="1">
                  <a:latin typeface="微软雅黑" pitchFamily="34" charset="-122"/>
                  <a:ea typeface="微软雅黑" pitchFamily="34" charset="-122"/>
                </a:rPr>
                <a:t>2</a:t>
              </a:r>
            </a:p>
          </p:txBody>
        </p:sp>
        <p:sp>
          <p:nvSpPr>
            <p:cNvPr id="65" name="Text Box 132"/>
            <p:cNvSpPr txBox="1">
              <a:spLocks noChangeArrowheads="1"/>
            </p:cNvSpPr>
            <p:nvPr/>
          </p:nvSpPr>
          <p:spPr bwMode="auto">
            <a:xfrm>
              <a:off x="1753122" y="2414139"/>
              <a:ext cx="863047"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分组流 </a:t>
              </a:r>
              <a:r>
                <a:rPr kumimoji="1" lang="en-US" altLang="zh-CN" sz="1200" b="1" dirty="0">
                  <a:latin typeface="微软雅黑" pitchFamily="34" charset="-122"/>
                  <a:ea typeface="微软雅黑" pitchFamily="34" charset="-122"/>
                </a:rPr>
                <a:t>11</a:t>
              </a:r>
            </a:p>
          </p:txBody>
        </p:sp>
        <p:sp>
          <p:nvSpPr>
            <p:cNvPr id="68" name="Text Box 135"/>
            <p:cNvSpPr txBox="1">
              <a:spLocks noChangeArrowheads="1"/>
            </p:cNvSpPr>
            <p:nvPr/>
          </p:nvSpPr>
          <p:spPr bwMode="auto">
            <a:xfrm rot="16200000">
              <a:off x="1933512" y="2109556"/>
              <a:ext cx="373643" cy="33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latin typeface="微软雅黑" pitchFamily="34" charset="-122"/>
                  <a:ea typeface="微软雅黑" pitchFamily="34" charset="-122"/>
                </a:rPr>
                <a:t>…</a:t>
              </a:r>
            </a:p>
          </p:txBody>
        </p:sp>
        <p:sp>
          <p:nvSpPr>
            <p:cNvPr id="74" name="Text Box 141"/>
            <p:cNvSpPr txBox="1">
              <a:spLocks noChangeArrowheads="1"/>
            </p:cNvSpPr>
            <p:nvPr/>
          </p:nvSpPr>
          <p:spPr bwMode="auto">
            <a:xfrm>
              <a:off x="8152030" y="1494059"/>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5" name="Text Box 142"/>
            <p:cNvSpPr txBox="1">
              <a:spLocks noChangeArrowheads="1"/>
            </p:cNvSpPr>
            <p:nvPr/>
          </p:nvSpPr>
          <p:spPr bwMode="auto">
            <a:xfrm>
              <a:off x="8152030" y="1873748"/>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6" name="Text Box 143"/>
            <p:cNvSpPr txBox="1">
              <a:spLocks noChangeArrowheads="1"/>
            </p:cNvSpPr>
            <p:nvPr/>
          </p:nvSpPr>
          <p:spPr bwMode="auto">
            <a:xfrm>
              <a:off x="8152030" y="2448749"/>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83" name="Text Box 59"/>
            <p:cNvSpPr txBox="1">
              <a:spLocks noChangeArrowheads="1"/>
            </p:cNvSpPr>
            <p:nvPr/>
          </p:nvSpPr>
          <p:spPr bwMode="auto">
            <a:xfrm>
              <a:off x="775927" y="1477367"/>
              <a:ext cx="93487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0.5</a:t>
              </a:r>
            </a:p>
          </p:txBody>
        </p:sp>
        <p:sp>
          <p:nvSpPr>
            <p:cNvPr id="84" name="Text Box 59"/>
            <p:cNvSpPr txBox="1">
              <a:spLocks noChangeArrowheads="1"/>
            </p:cNvSpPr>
            <p:nvPr/>
          </p:nvSpPr>
          <p:spPr bwMode="auto">
            <a:xfrm>
              <a:off x="775927" y="1842912"/>
              <a:ext cx="1029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0.05</a:t>
              </a:r>
            </a:p>
          </p:txBody>
        </p:sp>
        <p:sp>
          <p:nvSpPr>
            <p:cNvPr id="85" name="Text Box 59"/>
            <p:cNvSpPr txBox="1">
              <a:spLocks noChangeArrowheads="1"/>
            </p:cNvSpPr>
            <p:nvPr/>
          </p:nvSpPr>
          <p:spPr bwMode="auto">
            <a:xfrm>
              <a:off x="775927" y="2417926"/>
              <a:ext cx="10294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CC"/>
                  </a:solidFill>
                  <a:latin typeface="微软雅黑" pitchFamily="34" charset="-122"/>
                  <a:ea typeface="微软雅黑" pitchFamily="34" charset="-122"/>
                </a:rPr>
                <a:t>权重 </a:t>
              </a:r>
              <a:r>
                <a:rPr kumimoji="1" lang="en-US" altLang="zh-CN" sz="1200" b="1" dirty="0">
                  <a:solidFill>
                    <a:srgbClr val="0000CC"/>
                  </a:solidFill>
                  <a:latin typeface="微软雅黑" pitchFamily="34" charset="-122"/>
                  <a:ea typeface="微软雅黑" pitchFamily="34" charset="-122"/>
                </a:rPr>
                <a:t>= 0.05</a:t>
              </a:r>
            </a:p>
          </p:txBody>
        </p:sp>
        <p:sp>
          <p:nvSpPr>
            <p:cNvPr id="69" name="Line 136"/>
            <p:cNvSpPr>
              <a:spLocks noChangeShapeType="1"/>
            </p:cNvSpPr>
            <p:nvPr/>
          </p:nvSpPr>
          <p:spPr bwMode="auto">
            <a:xfrm>
              <a:off x="2540042" y="1711867"/>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0" name="Line 137"/>
            <p:cNvSpPr>
              <a:spLocks noChangeShapeType="1"/>
            </p:cNvSpPr>
            <p:nvPr/>
          </p:nvSpPr>
          <p:spPr bwMode="auto">
            <a:xfrm>
              <a:off x="2540042" y="2092617"/>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71" name="Line 138"/>
            <p:cNvSpPr>
              <a:spLocks noChangeShapeType="1"/>
            </p:cNvSpPr>
            <p:nvPr/>
          </p:nvSpPr>
          <p:spPr bwMode="auto">
            <a:xfrm>
              <a:off x="2540042" y="2666557"/>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nvGrpSpPr>
          <p:cNvPr id="7" name="组合 6"/>
          <p:cNvGrpSpPr/>
          <p:nvPr/>
        </p:nvGrpSpPr>
        <p:grpSpPr>
          <a:xfrm>
            <a:off x="1914942" y="2977776"/>
            <a:ext cx="6480536" cy="304607"/>
            <a:chOff x="1914942" y="2916813"/>
            <a:chExt cx="6480536" cy="304607"/>
          </a:xfrm>
        </p:grpSpPr>
        <p:sp>
          <p:nvSpPr>
            <p:cNvPr id="21" name="Rectangle 88"/>
            <p:cNvSpPr>
              <a:spLocks noChangeArrowheads="1"/>
            </p:cNvSpPr>
            <p:nvPr/>
          </p:nvSpPr>
          <p:spPr bwMode="auto">
            <a:xfrm>
              <a:off x="2603237"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22" name="Rectangle 89"/>
            <p:cNvSpPr>
              <a:spLocks noChangeArrowheads="1"/>
            </p:cNvSpPr>
            <p:nvPr/>
          </p:nvSpPr>
          <p:spPr bwMode="auto">
            <a:xfrm>
              <a:off x="2858308"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23" name="Rectangle 90"/>
            <p:cNvSpPr>
              <a:spLocks noChangeArrowheads="1"/>
            </p:cNvSpPr>
            <p:nvPr/>
          </p:nvSpPr>
          <p:spPr bwMode="auto">
            <a:xfrm>
              <a:off x="3113378"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3</a:t>
              </a:r>
            </a:p>
          </p:txBody>
        </p:sp>
        <p:sp>
          <p:nvSpPr>
            <p:cNvPr id="24" name="Rectangle 91"/>
            <p:cNvSpPr>
              <a:spLocks noChangeArrowheads="1"/>
            </p:cNvSpPr>
            <p:nvPr/>
          </p:nvSpPr>
          <p:spPr bwMode="auto">
            <a:xfrm>
              <a:off x="3368449" y="2940146"/>
              <a:ext cx="25392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4</a:t>
              </a:r>
            </a:p>
          </p:txBody>
        </p:sp>
        <p:sp>
          <p:nvSpPr>
            <p:cNvPr id="25" name="Rectangle 92"/>
            <p:cNvSpPr>
              <a:spLocks noChangeArrowheads="1"/>
            </p:cNvSpPr>
            <p:nvPr/>
          </p:nvSpPr>
          <p:spPr bwMode="auto">
            <a:xfrm>
              <a:off x="3622370"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a:t>
              </a:r>
            </a:p>
          </p:txBody>
        </p:sp>
        <p:sp>
          <p:nvSpPr>
            <p:cNvPr id="26" name="Rectangle 93"/>
            <p:cNvSpPr>
              <a:spLocks noChangeArrowheads="1"/>
            </p:cNvSpPr>
            <p:nvPr/>
          </p:nvSpPr>
          <p:spPr bwMode="auto">
            <a:xfrm>
              <a:off x="3877441"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6</a:t>
              </a:r>
            </a:p>
          </p:txBody>
        </p:sp>
        <p:sp>
          <p:nvSpPr>
            <p:cNvPr id="27" name="Rectangle 94"/>
            <p:cNvSpPr>
              <a:spLocks noChangeArrowheads="1"/>
            </p:cNvSpPr>
            <p:nvPr/>
          </p:nvSpPr>
          <p:spPr bwMode="auto">
            <a:xfrm>
              <a:off x="4132513"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a:t>
              </a:r>
            </a:p>
          </p:txBody>
        </p:sp>
        <p:sp>
          <p:nvSpPr>
            <p:cNvPr id="28" name="Rectangle 95"/>
            <p:cNvSpPr>
              <a:spLocks noChangeArrowheads="1"/>
            </p:cNvSpPr>
            <p:nvPr/>
          </p:nvSpPr>
          <p:spPr bwMode="auto">
            <a:xfrm>
              <a:off x="4387582" y="2940146"/>
              <a:ext cx="253922"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8</a:t>
              </a:r>
            </a:p>
          </p:txBody>
        </p:sp>
        <p:sp>
          <p:nvSpPr>
            <p:cNvPr id="29" name="Rectangle 96"/>
            <p:cNvSpPr>
              <a:spLocks noChangeArrowheads="1"/>
            </p:cNvSpPr>
            <p:nvPr/>
          </p:nvSpPr>
          <p:spPr bwMode="auto">
            <a:xfrm>
              <a:off x="4641505"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9</a:t>
              </a:r>
            </a:p>
          </p:txBody>
        </p:sp>
        <p:sp>
          <p:nvSpPr>
            <p:cNvPr id="30" name="Rectangle 97"/>
            <p:cNvSpPr>
              <a:spLocks noChangeArrowheads="1"/>
            </p:cNvSpPr>
            <p:nvPr/>
          </p:nvSpPr>
          <p:spPr bwMode="auto">
            <a:xfrm>
              <a:off x="4896576" y="2940146"/>
              <a:ext cx="25507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10</a:t>
              </a:r>
            </a:p>
          </p:txBody>
        </p:sp>
        <p:sp>
          <p:nvSpPr>
            <p:cNvPr id="31" name="Rectangle 98"/>
            <p:cNvSpPr>
              <a:spLocks noChangeArrowheads="1"/>
            </p:cNvSpPr>
            <p:nvPr/>
          </p:nvSpPr>
          <p:spPr bwMode="auto">
            <a:xfrm>
              <a:off x="5151646" y="2940146"/>
              <a:ext cx="253921" cy="229086"/>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32" name="Rectangle 99"/>
            <p:cNvSpPr>
              <a:spLocks noChangeArrowheads="1"/>
            </p:cNvSpPr>
            <p:nvPr/>
          </p:nvSpPr>
          <p:spPr bwMode="auto">
            <a:xfrm>
              <a:off x="5405568"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4" name="Rectangle 121"/>
            <p:cNvSpPr>
              <a:spLocks noChangeArrowheads="1"/>
            </p:cNvSpPr>
            <p:nvPr/>
          </p:nvSpPr>
          <p:spPr bwMode="auto">
            <a:xfrm>
              <a:off x="5660638"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5" name="Rectangle 122"/>
            <p:cNvSpPr>
              <a:spLocks noChangeArrowheads="1"/>
            </p:cNvSpPr>
            <p:nvPr/>
          </p:nvSpPr>
          <p:spPr bwMode="auto">
            <a:xfrm>
              <a:off x="5915709"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6" name="Rectangle 123"/>
            <p:cNvSpPr>
              <a:spLocks noChangeArrowheads="1"/>
            </p:cNvSpPr>
            <p:nvPr/>
          </p:nvSpPr>
          <p:spPr bwMode="auto">
            <a:xfrm>
              <a:off x="6170780" y="2940146"/>
              <a:ext cx="253922"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7" name="Rectangle 124"/>
            <p:cNvSpPr>
              <a:spLocks noChangeArrowheads="1"/>
            </p:cNvSpPr>
            <p:nvPr/>
          </p:nvSpPr>
          <p:spPr bwMode="auto">
            <a:xfrm>
              <a:off x="6424702"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8" name="Rectangle 125"/>
            <p:cNvSpPr>
              <a:spLocks noChangeArrowheads="1"/>
            </p:cNvSpPr>
            <p:nvPr/>
          </p:nvSpPr>
          <p:spPr bwMode="auto">
            <a:xfrm>
              <a:off x="6679773"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59" name="Rectangle 126"/>
            <p:cNvSpPr>
              <a:spLocks noChangeArrowheads="1"/>
            </p:cNvSpPr>
            <p:nvPr/>
          </p:nvSpPr>
          <p:spPr bwMode="auto">
            <a:xfrm>
              <a:off x="6934843"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0" name="Rectangle 127"/>
            <p:cNvSpPr>
              <a:spLocks noChangeArrowheads="1"/>
            </p:cNvSpPr>
            <p:nvPr/>
          </p:nvSpPr>
          <p:spPr bwMode="auto">
            <a:xfrm>
              <a:off x="7189915" y="2940146"/>
              <a:ext cx="25392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1" name="Rectangle 128"/>
            <p:cNvSpPr>
              <a:spLocks noChangeArrowheads="1"/>
            </p:cNvSpPr>
            <p:nvPr/>
          </p:nvSpPr>
          <p:spPr bwMode="auto">
            <a:xfrm>
              <a:off x="7443836"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2" name="Rectangle 129"/>
            <p:cNvSpPr>
              <a:spLocks noChangeArrowheads="1"/>
            </p:cNvSpPr>
            <p:nvPr/>
          </p:nvSpPr>
          <p:spPr bwMode="auto">
            <a:xfrm>
              <a:off x="7698906" y="2940146"/>
              <a:ext cx="255071" cy="229086"/>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6" name="Text Box 133"/>
            <p:cNvSpPr txBox="1">
              <a:spLocks noChangeArrowheads="1"/>
            </p:cNvSpPr>
            <p:nvPr/>
          </p:nvSpPr>
          <p:spPr bwMode="auto">
            <a:xfrm>
              <a:off x="1914942" y="2916813"/>
              <a:ext cx="52422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FIFO</a:t>
              </a:r>
            </a:p>
          </p:txBody>
        </p:sp>
        <p:sp>
          <p:nvSpPr>
            <p:cNvPr id="77" name="Text Box 144"/>
            <p:cNvSpPr txBox="1">
              <a:spLocks noChangeArrowheads="1"/>
            </p:cNvSpPr>
            <p:nvPr/>
          </p:nvSpPr>
          <p:spPr bwMode="auto">
            <a:xfrm>
              <a:off x="8152030" y="2950365"/>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2" name="Line 139"/>
            <p:cNvSpPr>
              <a:spLocks noChangeShapeType="1"/>
            </p:cNvSpPr>
            <p:nvPr/>
          </p:nvSpPr>
          <p:spPr bwMode="auto">
            <a:xfrm>
              <a:off x="2540042" y="3169233"/>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nvGrpSpPr>
          <p:cNvPr id="3" name="组合 2"/>
          <p:cNvGrpSpPr/>
          <p:nvPr/>
        </p:nvGrpSpPr>
        <p:grpSpPr>
          <a:xfrm>
            <a:off x="1914942" y="3435847"/>
            <a:ext cx="6480536" cy="305667"/>
            <a:chOff x="1914942" y="3322630"/>
            <a:chExt cx="6480536" cy="305667"/>
          </a:xfrm>
        </p:grpSpPr>
        <p:sp>
          <p:nvSpPr>
            <p:cNvPr id="33" name="Rectangle 100"/>
            <p:cNvSpPr>
              <a:spLocks noChangeArrowheads="1"/>
            </p:cNvSpPr>
            <p:nvPr/>
          </p:nvSpPr>
          <p:spPr bwMode="auto">
            <a:xfrm>
              <a:off x="2603237"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4" name="Rectangle 101"/>
            <p:cNvSpPr>
              <a:spLocks noChangeArrowheads="1"/>
            </p:cNvSpPr>
            <p:nvPr/>
          </p:nvSpPr>
          <p:spPr bwMode="auto">
            <a:xfrm>
              <a:off x="3113378"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5" name="Rectangle 102"/>
            <p:cNvSpPr>
              <a:spLocks noChangeArrowheads="1"/>
            </p:cNvSpPr>
            <p:nvPr/>
          </p:nvSpPr>
          <p:spPr bwMode="auto">
            <a:xfrm>
              <a:off x="3622371"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6" name="Rectangle 103"/>
            <p:cNvSpPr>
              <a:spLocks noChangeArrowheads="1"/>
            </p:cNvSpPr>
            <p:nvPr/>
          </p:nvSpPr>
          <p:spPr bwMode="auto">
            <a:xfrm>
              <a:off x="4132512"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7" name="Rectangle 104"/>
            <p:cNvSpPr>
              <a:spLocks noChangeArrowheads="1"/>
            </p:cNvSpPr>
            <p:nvPr/>
          </p:nvSpPr>
          <p:spPr bwMode="auto">
            <a:xfrm>
              <a:off x="4641505"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8" name="Rectangle 105"/>
            <p:cNvSpPr>
              <a:spLocks noChangeArrowheads="1"/>
            </p:cNvSpPr>
            <p:nvPr/>
          </p:nvSpPr>
          <p:spPr bwMode="auto">
            <a:xfrm>
              <a:off x="5151646" y="3347024"/>
              <a:ext cx="25392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39" name="Rectangle 106"/>
            <p:cNvSpPr>
              <a:spLocks noChangeArrowheads="1"/>
            </p:cNvSpPr>
            <p:nvPr/>
          </p:nvSpPr>
          <p:spPr bwMode="auto">
            <a:xfrm>
              <a:off x="5660638"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0" name="Rectangle 107"/>
            <p:cNvSpPr>
              <a:spLocks noChangeArrowheads="1"/>
            </p:cNvSpPr>
            <p:nvPr/>
          </p:nvSpPr>
          <p:spPr bwMode="auto">
            <a:xfrm>
              <a:off x="6170780" y="3347024"/>
              <a:ext cx="253922"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1" name="Rectangle 108"/>
            <p:cNvSpPr>
              <a:spLocks noChangeArrowheads="1"/>
            </p:cNvSpPr>
            <p:nvPr/>
          </p:nvSpPr>
          <p:spPr bwMode="auto">
            <a:xfrm>
              <a:off x="6679773"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42" name="Rectangle 109"/>
            <p:cNvSpPr>
              <a:spLocks noChangeArrowheads="1"/>
            </p:cNvSpPr>
            <p:nvPr/>
          </p:nvSpPr>
          <p:spPr bwMode="auto">
            <a:xfrm>
              <a:off x="7189915" y="3347024"/>
              <a:ext cx="253921" cy="228025"/>
            </a:xfrm>
            <a:prstGeom prst="rect">
              <a:avLst/>
            </a:prstGeom>
            <a:solidFill>
              <a:srgbClr val="66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1</a:t>
              </a:r>
            </a:p>
          </p:txBody>
        </p:sp>
        <p:sp>
          <p:nvSpPr>
            <p:cNvPr id="43" name="Rectangle 110"/>
            <p:cNvSpPr>
              <a:spLocks noChangeArrowheads="1"/>
            </p:cNvSpPr>
            <p:nvPr/>
          </p:nvSpPr>
          <p:spPr bwMode="auto">
            <a:xfrm>
              <a:off x="2858308"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a:t>
              </a:r>
            </a:p>
          </p:txBody>
        </p:sp>
        <p:sp>
          <p:nvSpPr>
            <p:cNvPr id="44" name="Rectangle 111"/>
            <p:cNvSpPr>
              <a:spLocks noChangeArrowheads="1"/>
            </p:cNvSpPr>
            <p:nvPr/>
          </p:nvSpPr>
          <p:spPr bwMode="auto">
            <a:xfrm>
              <a:off x="3368449" y="3347024"/>
              <a:ext cx="25392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3</a:t>
              </a:r>
            </a:p>
          </p:txBody>
        </p:sp>
        <p:sp>
          <p:nvSpPr>
            <p:cNvPr id="45" name="Rectangle 112"/>
            <p:cNvSpPr>
              <a:spLocks noChangeArrowheads="1"/>
            </p:cNvSpPr>
            <p:nvPr/>
          </p:nvSpPr>
          <p:spPr bwMode="auto">
            <a:xfrm>
              <a:off x="3877441"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4</a:t>
              </a:r>
            </a:p>
          </p:txBody>
        </p:sp>
        <p:sp>
          <p:nvSpPr>
            <p:cNvPr id="46" name="Rectangle 113"/>
            <p:cNvSpPr>
              <a:spLocks noChangeArrowheads="1"/>
            </p:cNvSpPr>
            <p:nvPr/>
          </p:nvSpPr>
          <p:spPr bwMode="auto">
            <a:xfrm>
              <a:off x="4387582" y="3347024"/>
              <a:ext cx="253922"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a:t>
              </a:r>
            </a:p>
          </p:txBody>
        </p:sp>
        <p:sp>
          <p:nvSpPr>
            <p:cNvPr id="47" name="Rectangle 114"/>
            <p:cNvSpPr>
              <a:spLocks noChangeArrowheads="1"/>
            </p:cNvSpPr>
            <p:nvPr/>
          </p:nvSpPr>
          <p:spPr bwMode="auto">
            <a:xfrm>
              <a:off x="4896576"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6</a:t>
              </a:r>
            </a:p>
          </p:txBody>
        </p:sp>
        <p:sp>
          <p:nvSpPr>
            <p:cNvPr id="48" name="Rectangle 115"/>
            <p:cNvSpPr>
              <a:spLocks noChangeArrowheads="1"/>
            </p:cNvSpPr>
            <p:nvPr/>
          </p:nvSpPr>
          <p:spPr bwMode="auto">
            <a:xfrm>
              <a:off x="5405568"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a:t>
              </a:r>
            </a:p>
          </p:txBody>
        </p:sp>
        <p:sp>
          <p:nvSpPr>
            <p:cNvPr id="49" name="Rectangle 116"/>
            <p:cNvSpPr>
              <a:spLocks noChangeArrowheads="1"/>
            </p:cNvSpPr>
            <p:nvPr/>
          </p:nvSpPr>
          <p:spPr bwMode="auto">
            <a:xfrm>
              <a:off x="5915709"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8</a:t>
              </a:r>
            </a:p>
          </p:txBody>
        </p:sp>
        <p:sp>
          <p:nvSpPr>
            <p:cNvPr id="50" name="Rectangle 117"/>
            <p:cNvSpPr>
              <a:spLocks noChangeArrowheads="1"/>
            </p:cNvSpPr>
            <p:nvPr/>
          </p:nvSpPr>
          <p:spPr bwMode="auto">
            <a:xfrm>
              <a:off x="6424702"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9</a:t>
              </a:r>
            </a:p>
          </p:txBody>
        </p:sp>
        <p:sp>
          <p:nvSpPr>
            <p:cNvPr id="51" name="Rectangle 118"/>
            <p:cNvSpPr>
              <a:spLocks noChangeArrowheads="1"/>
            </p:cNvSpPr>
            <p:nvPr/>
          </p:nvSpPr>
          <p:spPr bwMode="auto">
            <a:xfrm>
              <a:off x="6934843"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10</a:t>
              </a:r>
            </a:p>
          </p:txBody>
        </p:sp>
        <p:sp>
          <p:nvSpPr>
            <p:cNvPr id="52" name="Rectangle 119"/>
            <p:cNvSpPr>
              <a:spLocks noChangeArrowheads="1"/>
            </p:cNvSpPr>
            <p:nvPr/>
          </p:nvSpPr>
          <p:spPr bwMode="auto">
            <a:xfrm>
              <a:off x="7443836" y="3347024"/>
              <a:ext cx="255071" cy="22802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11</a:t>
              </a:r>
            </a:p>
          </p:txBody>
        </p:sp>
        <p:sp>
          <p:nvSpPr>
            <p:cNvPr id="53" name="Rectangle 120"/>
            <p:cNvSpPr>
              <a:spLocks noChangeArrowheads="1"/>
            </p:cNvSpPr>
            <p:nvPr/>
          </p:nvSpPr>
          <p:spPr bwMode="auto">
            <a:xfrm>
              <a:off x="7698906" y="3347024"/>
              <a:ext cx="255071" cy="228025"/>
            </a:xfrm>
            <a:prstGeom prst="rect">
              <a:avLst/>
            </a:prstGeom>
            <a:solidFill>
              <a:srgbClr val="FF66FF"/>
            </a:solidFill>
            <a:ln w="9525">
              <a:solidFill>
                <a:schemeClr val="folHlink"/>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1</a:t>
              </a:r>
            </a:p>
          </p:txBody>
        </p:sp>
        <p:sp>
          <p:nvSpPr>
            <p:cNvPr id="67" name="Text Box 134"/>
            <p:cNvSpPr txBox="1">
              <a:spLocks noChangeArrowheads="1"/>
            </p:cNvSpPr>
            <p:nvPr/>
          </p:nvSpPr>
          <p:spPr bwMode="auto">
            <a:xfrm>
              <a:off x="1914942" y="3322630"/>
              <a:ext cx="550894"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WFQ</a:t>
              </a:r>
            </a:p>
          </p:txBody>
        </p:sp>
        <p:sp>
          <p:nvSpPr>
            <p:cNvPr id="78" name="Text Box 145"/>
            <p:cNvSpPr txBox="1">
              <a:spLocks noChangeArrowheads="1"/>
            </p:cNvSpPr>
            <p:nvPr/>
          </p:nvSpPr>
          <p:spPr bwMode="auto">
            <a:xfrm>
              <a:off x="8152030" y="3357242"/>
              <a:ext cx="243448" cy="27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p>
          </p:txBody>
        </p:sp>
        <p:sp>
          <p:nvSpPr>
            <p:cNvPr id="73" name="Line 140"/>
            <p:cNvSpPr>
              <a:spLocks noChangeShapeType="1"/>
            </p:cNvSpPr>
            <p:nvPr/>
          </p:nvSpPr>
          <p:spPr bwMode="auto">
            <a:xfrm>
              <a:off x="2540042" y="3575049"/>
              <a:ext cx="572217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sp>
        <p:nvSpPr>
          <p:cNvPr id="88" name="矩形 87"/>
          <p:cNvSpPr/>
          <p:nvPr/>
        </p:nvSpPr>
        <p:spPr>
          <a:xfrm>
            <a:off x="1306286" y="4094149"/>
            <a:ext cx="6647691" cy="42575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ts val="2600"/>
              </a:lnSpc>
            </a:pPr>
            <a:r>
              <a:rPr lang="zh-CN" altLang="en-US" b="1" dirty="0">
                <a:latin typeface="微软雅黑" pitchFamily="34" charset="-122"/>
                <a:ea typeface="微软雅黑" pitchFamily="34" charset="-122"/>
              </a:rPr>
              <a:t>不管是哪一种情况，分组流 </a:t>
            </a: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都能够得到更多时间的服务。</a:t>
            </a:r>
          </a:p>
        </p:txBody>
      </p:sp>
    </p:spTree>
    <p:extLst>
      <p:ext uri="{BB962C8B-B14F-4D97-AF65-F5344CB8AC3E}">
        <p14:creationId xmlns:p14="http://schemas.microsoft.com/office/powerpoint/2010/main" val="7067850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69882"/>
            <a:ext cx="8243915"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300"/>
              </a:lnSpc>
              <a:buClr>
                <a:srgbClr val="0070C0"/>
              </a:buClr>
            </a:pPr>
            <a:r>
              <a:rPr lang="zh-CN" altLang="en-US" sz="2000" b="1" dirty="0">
                <a:latin typeface="微软雅黑" pitchFamily="34" charset="-122"/>
                <a:ea typeface="微软雅黑" pitchFamily="34" charset="-122"/>
              </a:rPr>
              <a:t>根据以下三个方面进行管制：</a:t>
            </a:r>
            <a:endParaRPr lang="en-US" altLang="zh-CN" sz="2000" b="1" dirty="0">
              <a:latin typeface="微软雅黑" pitchFamily="34" charset="-122"/>
              <a:ea typeface="微软雅黑" pitchFamily="34" charset="-122"/>
            </a:endParaRP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平均速率：</a:t>
            </a:r>
            <a:r>
              <a:rPr lang="zh-CN" altLang="en-US" sz="2000" b="1" dirty="0">
                <a:latin typeface="微软雅黑" pitchFamily="34" charset="-122"/>
                <a:ea typeface="微软雅黑" pitchFamily="34" charset="-122"/>
              </a:rPr>
              <a:t>指在</a:t>
            </a:r>
            <a:r>
              <a:rPr lang="zh-CN" altLang="en-US" sz="2000" b="1" dirty="0">
                <a:solidFill>
                  <a:srgbClr val="C00000"/>
                </a:solidFill>
                <a:latin typeface="微软雅黑" pitchFamily="34" charset="-122"/>
                <a:ea typeface="微软雅黑" pitchFamily="34" charset="-122"/>
              </a:rPr>
              <a:t>一定的时间间隔内</a:t>
            </a:r>
            <a:r>
              <a:rPr lang="zh-CN" altLang="en-US" sz="2000" b="1" dirty="0">
                <a:latin typeface="微软雅黑" pitchFamily="34" charset="-122"/>
                <a:ea typeface="微软雅黑" pitchFamily="34" charset="-122"/>
              </a:rPr>
              <a:t>通过的分组数。 </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峰值速率：</a:t>
            </a:r>
            <a:r>
              <a:rPr lang="zh-CN" altLang="en-US" sz="2000" b="1" dirty="0">
                <a:latin typeface="微软雅黑" pitchFamily="34" charset="-122"/>
                <a:ea typeface="微软雅黑" pitchFamily="34" charset="-122"/>
              </a:rPr>
              <a:t>限制数据流在</a:t>
            </a:r>
            <a:r>
              <a:rPr lang="zh-CN" altLang="en-US" sz="2000" b="1" dirty="0">
                <a:solidFill>
                  <a:srgbClr val="C00000"/>
                </a:solidFill>
                <a:latin typeface="微软雅黑" pitchFamily="34" charset="-122"/>
                <a:ea typeface="微软雅黑" pitchFamily="34" charset="-122"/>
              </a:rPr>
              <a:t>非常短的时间间隔内</a:t>
            </a:r>
            <a:r>
              <a:rPr lang="zh-CN" altLang="en-US" sz="2000" b="1" dirty="0">
                <a:latin typeface="微软雅黑" pitchFamily="34" charset="-122"/>
                <a:ea typeface="微软雅黑" pitchFamily="34" charset="-122"/>
              </a:rPr>
              <a:t>的流量。 </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突发长度：</a:t>
            </a:r>
            <a:r>
              <a:rPr lang="zh-CN" altLang="en-US" sz="2000" b="1" dirty="0">
                <a:latin typeface="微软雅黑" pitchFamily="34" charset="-122"/>
                <a:ea typeface="微软雅黑" pitchFamily="34" charset="-122"/>
              </a:rPr>
              <a:t>限制在</a:t>
            </a:r>
            <a:r>
              <a:rPr lang="zh-CN" altLang="en-US" sz="2000" b="1" dirty="0">
                <a:solidFill>
                  <a:srgbClr val="C00000"/>
                </a:solidFill>
                <a:latin typeface="微软雅黑" pitchFamily="34" charset="-122"/>
                <a:ea typeface="微软雅黑" pitchFamily="34" charset="-122"/>
              </a:rPr>
              <a:t>非常短的时间间隔内</a:t>
            </a:r>
            <a:r>
              <a:rPr lang="zh-CN" altLang="en-US" sz="2000" b="1" dirty="0">
                <a:solidFill>
                  <a:srgbClr val="0000FF"/>
                </a:solidFill>
                <a:latin typeface="微软雅黑" pitchFamily="34" charset="-122"/>
                <a:ea typeface="微软雅黑" pitchFamily="34" charset="-122"/>
              </a:rPr>
              <a:t>连续</a:t>
            </a:r>
            <a:r>
              <a:rPr lang="zh-CN" altLang="en-US" sz="2000" b="1" dirty="0">
                <a:latin typeface="微软雅黑" pitchFamily="34" charset="-122"/>
                <a:ea typeface="微软雅黑" pitchFamily="34" charset="-122"/>
              </a:rPr>
              <a:t>注入到网络中的分组数。 </a:t>
            </a:r>
          </a:p>
        </p:txBody>
      </p:sp>
      <p:sp>
        <p:nvSpPr>
          <p:cNvPr id="3" name="AutoShape 5"/>
          <p:cNvSpPr>
            <a:spLocks noChangeArrowheads="1"/>
          </p:cNvSpPr>
          <p:nvPr/>
        </p:nvSpPr>
        <p:spPr bwMode="auto">
          <a:xfrm>
            <a:off x="511897" y="60559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6663" y="572386"/>
            <a:ext cx="15969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管制机制 </a:t>
            </a:r>
          </a:p>
        </p:txBody>
      </p:sp>
    </p:spTree>
    <p:extLst>
      <p:ext uri="{BB962C8B-B14F-4D97-AF65-F5344CB8AC3E}">
        <p14:creationId xmlns:p14="http://schemas.microsoft.com/office/powerpoint/2010/main" val="41970873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5"/>
          <p:cNvSpPr>
            <a:spLocks noChangeArrowheads="1"/>
          </p:cNvSpPr>
          <p:nvPr/>
        </p:nvSpPr>
        <p:spPr bwMode="auto">
          <a:xfrm>
            <a:off x="517853" y="61394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4"/>
          <p:cNvSpPr>
            <a:spLocks noChangeArrowheads="1"/>
          </p:cNvSpPr>
          <p:nvPr/>
        </p:nvSpPr>
        <p:spPr bwMode="auto">
          <a:xfrm>
            <a:off x="635844" y="564113"/>
            <a:ext cx="61966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漏桶管制器 </a:t>
            </a:r>
            <a:r>
              <a:rPr lang="en-US" altLang="zh-CN" sz="2000" b="1" dirty="0">
                <a:latin typeface="微软雅黑" pitchFamily="34" charset="-122"/>
                <a:ea typeface="微软雅黑" pitchFamily="34" charset="-122"/>
              </a:rPr>
              <a:t>(leaky bucket policer) </a:t>
            </a:r>
            <a:r>
              <a:rPr lang="zh-CN" altLang="en-US" sz="2000" b="1" dirty="0">
                <a:latin typeface="微软雅黑" pitchFamily="34" charset="-122"/>
                <a:ea typeface="微软雅黑" pitchFamily="34" charset="-122"/>
              </a:rPr>
              <a:t>（简称为漏桶）</a:t>
            </a:r>
          </a:p>
        </p:txBody>
      </p:sp>
      <p:sp>
        <p:nvSpPr>
          <p:cNvPr id="4" name="圆角矩形 3"/>
          <p:cNvSpPr/>
          <p:nvPr/>
        </p:nvSpPr>
        <p:spPr>
          <a:xfrm>
            <a:off x="517852" y="957938"/>
            <a:ext cx="8133857" cy="302187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p:cNvGrpSpPr/>
          <p:nvPr/>
        </p:nvGrpSpPr>
        <p:grpSpPr>
          <a:xfrm>
            <a:off x="1576572" y="1072657"/>
            <a:ext cx="5613334" cy="2735400"/>
            <a:chOff x="584729" y="2057619"/>
            <a:chExt cx="8832768" cy="4304243"/>
          </a:xfrm>
        </p:grpSpPr>
        <p:sp>
          <p:nvSpPr>
            <p:cNvPr id="6" name="Text Box 7"/>
            <p:cNvSpPr txBox="1">
              <a:spLocks noChangeArrowheads="1"/>
            </p:cNvSpPr>
            <p:nvPr/>
          </p:nvSpPr>
          <p:spPr bwMode="auto">
            <a:xfrm>
              <a:off x="1269207" y="4764088"/>
              <a:ext cx="1259171" cy="435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分组到达</a:t>
              </a:r>
            </a:p>
          </p:txBody>
        </p:sp>
        <p:sp>
          <p:nvSpPr>
            <p:cNvPr id="7" name="Freeform 4"/>
            <p:cNvSpPr>
              <a:spLocks/>
            </p:cNvSpPr>
            <p:nvPr/>
          </p:nvSpPr>
          <p:spPr bwMode="auto">
            <a:xfrm>
              <a:off x="4839495" y="2925763"/>
              <a:ext cx="1028435" cy="1241425"/>
            </a:xfrm>
            <a:custGeom>
              <a:avLst/>
              <a:gdLst>
                <a:gd name="T0" fmla="*/ 0 w 768"/>
                <a:gd name="T1" fmla="*/ 0 h 1008"/>
                <a:gd name="T2" fmla="*/ 0 w 768"/>
                <a:gd name="T3" fmla="*/ 1008 h 1008"/>
                <a:gd name="T4" fmla="*/ 767 w 768"/>
                <a:gd name="T5" fmla="*/ 1003 h 1008"/>
                <a:gd name="T6" fmla="*/ 768 w 768"/>
                <a:gd name="T7" fmla="*/ 0 h 1008"/>
              </a:gdLst>
              <a:ahLst/>
              <a:cxnLst>
                <a:cxn ang="0">
                  <a:pos x="T0" y="T1"/>
                </a:cxn>
                <a:cxn ang="0">
                  <a:pos x="T2" y="T3"/>
                </a:cxn>
                <a:cxn ang="0">
                  <a:pos x="T4" y="T5"/>
                </a:cxn>
                <a:cxn ang="0">
                  <a:pos x="T6" y="T7"/>
                </a:cxn>
              </a:cxnLst>
              <a:rect l="0" t="0" r="r" b="b"/>
              <a:pathLst>
                <a:path w="768" h="1008">
                  <a:moveTo>
                    <a:pt x="0" y="0"/>
                  </a:moveTo>
                  <a:lnTo>
                    <a:pt x="0" y="1008"/>
                  </a:lnTo>
                  <a:lnTo>
                    <a:pt x="767" y="1003"/>
                  </a:lnTo>
                  <a:lnTo>
                    <a:pt x="768" y="0"/>
                  </a:lnTo>
                </a:path>
              </a:pathLst>
            </a:custGeom>
            <a:solidFill>
              <a:schemeClr val="bg1"/>
            </a:solidFill>
            <a:ln w="1270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 name="Line 5"/>
            <p:cNvSpPr>
              <a:spLocks noChangeShapeType="1"/>
            </p:cNvSpPr>
            <p:nvPr/>
          </p:nvSpPr>
          <p:spPr bwMode="auto">
            <a:xfrm rot="16200000" flipV="1">
              <a:off x="6670412" y="3950362"/>
              <a:ext cx="4763" cy="2645040"/>
            </a:xfrm>
            <a:prstGeom prst="line">
              <a:avLst/>
            </a:prstGeom>
            <a:noFill/>
            <a:ln w="28575">
              <a:solidFill>
                <a:srgbClr val="CC00CC"/>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Oval 9"/>
            <p:cNvSpPr>
              <a:spLocks noChangeArrowheads="1"/>
            </p:cNvSpPr>
            <p:nvPr/>
          </p:nvSpPr>
          <p:spPr bwMode="auto">
            <a:xfrm>
              <a:off x="4870450" y="3941763"/>
              <a:ext cx="1012958" cy="171450"/>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Oval 10"/>
            <p:cNvSpPr>
              <a:spLocks noChangeArrowheads="1"/>
            </p:cNvSpPr>
            <p:nvPr/>
          </p:nvSpPr>
          <p:spPr bwMode="auto">
            <a:xfrm>
              <a:off x="4870450" y="3713163"/>
              <a:ext cx="1012958" cy="171450"/>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Oval 11"/>
            <p:cNvSpPr>
              <a:spLocks noChangeArrowheads="1"/>
            </p:cNvSpPr>
            <p:nvPr/>
          </p:nvSpPr>
          <p:spPr bwMode="auto">
            <a:xfrm>
              <a:off x="4870450" y="3482975"/>
              <a:ext cx="1012958" cy="171450"/>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Oval 12"/>
            <p:cNvSpPr>
              <a:spLocks noChangeArrowheads="1"/>
            </p:cNvSpPr>
            <p:nvPr/>
          </p:nvSpPr>
          <p:spPr bwMode="auto">
            <a:xfrm>
              <a:off x="4870450" y="3254375"/>
              <a:ext cx="1012958" cy="171450"/>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Freeform 14"/>
            <p:cNvSpPr>
              <a:spLocks/>
            </p:cNvSpPr>
            <p:nvPr/>
          </p:nvSpPr>
          <p:spPr bwMode="auto">
            <a:xfrm>
              <a:off x="3795581" y="2708276"/>
              <a:ext cx="1587367" cy="531813"/>
            </a:xfrm>
            <a:custGeom>
              <a:avLst/>
              <a:gdLst>
                <a:gd name="T0" fmla="*/ 0 w 900"/>
                <a:gd name="T1" fmla="*/ 0 h 452"/>
                <a:gd name="T2" fmla="*/ 220 w 900"/>
                <a:gd name="T3" fmla="*/ 8 h 452"/>
                <a:gd name="T4" fmla="*/ 396 w 900"/>
                <a:gd name="T5" fmla="*/ 24 h 452"/>
                <a:gd name="T6" fmla="*/ 612 w 900"/>
                <a:gd name="T7" fmla="*/ 76 h 452"/>
                <a:gd name="T8" fmla="*/ 808 w 900"/>
                <a:gd name="T9" fmla="*/ 208 h 452"/>
                <a:gd name="T10" fmla="*/ 900 w 900"/>
                <a:gd name="T11" fmla="*/ 452 h 452"/>
              </a:gdLst>
              <a:ahLst/>
              <a:cxnLst>
                <a:cxn ang="0">
                  <a:pos x="T0" y="T1"/>
                </a:cxn>
                <a:cxn ang="0">
                  <a:pos x="T2" y="T3"/>
                </a:cxn>
                <a:cxn ang="0">
                  <a:pos x="T4" y="T5"/>
                </a:cxn>
                <a:cxn ang="0">
                  <a:pos x="T6" y="T7"/>
                </a:cxn>
                <a:cxn ang="0">
                  <a:pos x="T8" y="T9"/>
                </a:cxn>
                <a:cxn ang="0">
                  <a:pos x="T10" y="T11"/>
                </a:cxn>
              </a:cxnLst>
              <a:rect l="0" t="0" r="r" b="b"/>
              <a:pathLst>
                <a:path w="900" h="452">
                  <a:moveTo>
                    <a:pt x="0" y="0"/>
                  </a:moveTo>
                  <a:cubicBezTo>
                    <a:pt x="37" y="1"/>
                    <a:pt x="154" y="4"/>
                    <a:pt x="220" y="8"/>
                  </a:cubicBezTo>
                  <a:cubicBezTo>
                    <a:pt x="286" y="12"/>
                    <a:pt x="331" y="13"/>
                    <a:pt x="396" y="24"/>
                  </a:cubicBezTo>
                  <a:cubicBezTo>
                    <a:pt x="461" y="35"/>
                    <a:pt x="543" y="45"/>
                    <a:pt x="612" y="76"/>
                  </a:cubicBezTo>
                  <a:cubicBezTo>
                    <a:pt x="681" y="107"/>
                    <a:pt x="760" y="145"/>
                    <a:pt x="808" y="208"/>
                  </a:cubicBezTo>
                  <a:cubicBezTo>
                    <a:pt x="856" y="271"/>
                    <a:pt x="881" y="401"/>
                    <a:pt x="900" y="452"/>
                  </a:cubicBezTo>
                </a:path>
              </a:pathLst>
            </a:custGeom>
            <a:noFill/>
            <a:ln w="28575" cmpd="sng">
              <a:solidFill>
                <a:srgbClr val="CC00CC"/>
              </a:solidFill>
              <a:round/>
              <a:headEnd type="none" w="sm" len="med"/>
              <a:tailEnd type="triangle" w="med"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AutoShape 15"/>
            <p:cNvSpPr>
              <a:spLocks/>
            </p:cNvSpPr>
            <p:nvPr/>
          </p:nvSpPr>
          <p:spPr bwMode="auto">
            <a:xfrm>
              <a:off x="5943601" y="2925763"/>
              <a:ext cx="271727" cy="1241425"/>
            </a:xfrm>
            <a:prstGeom prst="rightBrace">
              <a:avLst>
                <a:gd name="adj1" fmla="val 41245"/>
                <a:gd name="adj2" fmla="val 50000"/>
              </a:avLst>
            </a:prstGeom>
            <a:noFill/>
            <a:ln w="12700">
              <a:solidFill>
                <a:srgbClr val="7030A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400" b="1">
                <a:latin typeface="微软雅黑" pitchFamily="34" charset="-122"/>
                <a:ea typeface="微软雅黑" pitchFamily="34" charset="-122"/>
              </a:endParaRPr>
            </a:p>
          </p:txBody>
        </p:sp>
        <p:sp>
          <p:nvSpPr>
            <p:cNvPr id="16" name="Text Box 16"/>
            <p:cNvSpPr txBox="1">
              <a:spLocks noChangeArrowheads="1"/>
            </p:cNvSpPr>
            <p:nvPr/>
          </p:nvSpPr>
          <p:spPr bwMode="auto">
            <a:xfrm>
              <a:off x="6215328" y="3085026"/>
              <a:ext cx="1809052" cy="75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zh-CN" altLang="en-US" sz="1200" b="1" dirty="0">
                  <a:latin typeface="微软雅黑" pitchFamily="34" charset="-122"/>
                  <a:ea typeface="微软雅黑" pitchFamily="34" charset="-122"/>
                </a:rPr>
                <a:t>漏桶中最多</a:t>
              </a:r>
            </a:p>
            <a:p>
              <a:pPr algn="ctr">
                <a:lnSpc>
                  <a:spcPct val="105000"/>
                </a:lnSpc>
              </a:pPr>
              <a:r>
                <a:rPr kumimoji="1" lang="zh-CN" altLang="en-US" sz="1200" b="1" dirty="0">
                  <a:latin typeface="微软雅黑" pitchFamily="34" charset="-122"/>
                  <a:ea typeface="微软雅黑" pitchFamily="34" charset="-122"/>
                </a:rPr>
                <a:t>装入 </a:t>
              </a:r>
              <a:r>
                <a:rPr kumimoji="1" lang="en-US" altLang="zh-CN" sz="1200" b="1" i="1" dirty="0">
                  <a:solidFill>
                    <a:srgbClr val="0000FF"/>
                  </a:solidFill>
                  <a:latin typeface="微软雅黑" pitchFamily="34" charset="-122"/>
                  <a:ea typeface="微软雅黑" pitchFamily="34" charset="-122"/>
                </a:rPr>
                <a:t>b</a:t>
              </a: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个权标</a:t>
              </a:r>
            </a:p>
          </p:txBody>
        </p:sp>
        <p:sp>
          <p:nvSpPr>
            <p:cNvPr id="17" name="Freeform 17"/>
            <p:cNvSpPr>
              <a:spLocks/>
            </p:cNvSpPr>
            <p:nvPr/>
          </p:nvSpPr>
          <p:spPr bwMode="auto">
            <a:xfrm>
              <a:off x="2787783" y="4953001"/>
              <a:ext cx="1222771" cy="639763"/>
            </a:xfrm>
            <a:custGeom>
              <a:avLst/>
              <a:gdLst>
                <a:gd name="T0" fmla="*/ 0 w 864"/>
                <a:gd name="T1" fmla="*/ 0 h 528"/>
                <a:gd name="T2" fmla="*/ 864 w 864"/>
                <a:gd name="T3" fmla="*/ 0 h 528"/>
                <a:gd name="T4" fmla="*/ 864 w 864"/>
                <a:gd name="T5" fmla="*/ 528 h 528"/>
                <a:gd name="T6" fmla="*/ 0 w 864"/>
                <a:gd name="T7" fmla="*/ 528 h 528"/>
              </a:gdLst>
              <a:ahLst/>
              <a:cxnLst>
                <a:cxn ang="0">
                  <a:pos x="T0" y="T1"/>
                </a:cxn>
                <a:cxn ang="0">
                  <a:pos x="T2" y="T3"/>
                </a:cxn>
                <a:cxn ang="0">
                  <a:pos x="T4" y="T5"/>
                </a:cxn>
                <a:cxn ang="0">
                  <a:pos x="T6" y="T7"/>
                </a:cxn>
              </a:cxnLst>
              <a:rect l="0" t="0" r="r" b="b"/>
              <a:pathLst>
                <a:path w="864" h="528">
                  <a:moveTo>
                    <a:pt x="0" y="0"/>
                  </a:moveTo>
                  <a:lnTo>
                    <a:pt x="864" y="0"/>
                  </a:lnTo>
                  <a:lnTo>
                    <a:pt x="864" y="528"/>
                  </a:lnTo>
                  <a:lnTo>
                    <a:pt x="0" y="528"/>
                  </a:lnTo>
                </a:path>
              </a:pathLst>
            </a:custGeom>
            <a:solidFill>
              <a:schemeClr val="bg1"/>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AutoShape 18"/>
            <p:cNvSpPr>
              <a:spLocks noChangeArrowheads="1"/>
            </p:cNvSpPr>
            <p:nvPr/>
          </p:nvSpPr>
          <p:spPr bwMode="auto">
            <a:xfrm>
              <a:off x="4636503" y="4739692"/>
              <a:ext cx="1423988" cy="1074737"/>
            </a:xfrm>
            <a:prstGeom prst="diamond">
              <a:avLst/>
            </a:prstGeom>
            <a:solidFill>
              <a:srgbClr val="66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400" b="1">
                <a:latin typeface="微软雅黑" pitchFamily="34" charset="-122"/>
                <a:ea typeface="微软雅黑" pitchFamily="34" charset="-122"/>
              </a:endParaRPr>
            </a:p>
          </p:txBody>
        </p:sp>
        <p:sp>
          <p:nvSpPr>
            <p:cNvPr id="19" name="Rectangle 30"/>
            <p:cNvSpPr>
              <a:spLocks noChangeArrowheads="1"/>
            </p:cNvSpPr>
            <p:nvPr/>
          </p:nvSpPr>
          <p:spPr bwMode="auto">
            <a:xfrm>
              <a:off x="3344669" y="4979989"/>
              <a:ext cx="658679" cy="592136"/>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9"/>
            <p:cNvSpPr>
              <a:spLocks noChangeShapeType="1"/>
            </p:cNvSpPr>
            <p:nvPr/>
          </p:nvSpPr>
          <p:spPr bwMode="auto">
            <a:xfrm rot="10800000">
              <a:off x="5351992" y="4178300"/>
              <a:ext cx="3440" cy="577850"/>
            </a:xfrm>
            <a:prstGeom prst="line">
              <a:avLst/>
            </a:prstGeom>
            <a:noFill/>
            <a:ln w="28575">
              <a:solidFill>
                <a:srgbClr val="CC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Line 20"/>
            <p:cNvSpPr>
              <a:spLocks noChangeShapeType="1"/>
            </p:cNvSpPr>
            <p:nvPr/>
          </p:nvSpPr>
          <p:spPr bwMode="auto">
            <a:xfrm rot="5400000" flipH="1">
              <a:off x="4316677" y="4959615"/>
              <a:ext cx="0" cy="612246"/>
            </a:xfrm>
            <a:prstGeom prst="line">
              <a:avLst/>
            </a:prstGeom>
            <a:noFill/>
            <a:ln w="28575">
              <a:solidFill>
                <a:srgbClr val="CC00CC"/>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 name="Text Box 21"/>
            <p:cNvSpPr txBox="1">
              <a:spLocks noChangeArrowheads="1"/>
            </p:cNvSpPr>
            <p:nvPr/>
          </p:nvSpPr>
          <p:spPr bwMode="auto">
            <a:xfrm>
              <a:off x="4959639" y="4892956"/>
              <a:ext cx="774875" cy="72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拿走</a:t>
              </a:r>
            </a:p>
            <a:p>
              <a:r>
                <a:rPr kumimoji="1" lang="zh-CN" altLang="en-US" sz="1200" b="1" dirty="0">
                  <a:latin typeface="微软雅黑" pitchFamily="34" charset="-122"/>
                  <a:ea typeface="微软雅黑" pitchFamily="34" charset="-122"/>
                </a:rPr>
                <a:t>权标</a:t>
              </a:r>
            </a:p>
          </p:txBody>
        </p:sp>
        <p:sp>
          <p:nvSpPr>
            <p:cNvPr id="23" name="Text Box 22"/>
            <p:cNvSpPr txBox="1">
              <a:spLocks noChangeArrowheads="1"/>
            </p:cNvSpPr>
            <p:nvPr/>
          </p:nvSpPr>
          <p:spPr bwMode="auto">
            <a:xfrm>
              <a:off x="6174502" y="4539698"/>
              <a:ext cx="1404092" cy="72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latin typeface="微软雅黑" pitchFamily="34" charset="-122"/>
                  <a:ea typeface="微软雅黑" pitchFamily="34" charset="-122"/>
                </a:rPr>
                <a:t>准许分组进入网络</a:t>
              </a:r>
            </a:p>
          </p:txBody>
        </p:sp>
        <p:sp>
          <p:nvSpPr>
            <p:cNvPr id="24" name="Text Box 23"/>
            <p:cNvSpPr txBox="1">
              <a:spLocks noChangeArrowheads="1"/>
            </p:cNvSpPr>
            <p:nvPr/>
          </p:nvSpPr>
          <p:spPr bwMode="auto">
            <a:xfrm>
              <a:off x="2799493" y="4565743"/>
              <a:ext cx="1259171" cy="406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b="1" dirty="0">
                  <a:latin typeface="微软雅黑" pitchFamily="34" charset="-122"/>
                  <a:ea typeface="微软雅黑" pitchFamily="34" charset="-122"/>
                </a:rPr>
                <a:t>等待权标</a:t>
              </a:r>
            </a:p>
          </p:txBody>
        </p:sp>
        <p:sp>
          <p:nvSpPr>
            <p:cNvPr id="25" name="Text Box 24"/>
            <p:cNvSpPr txBox="1">
              <a:spLocks noChangeArrowheads="1"/>
            </p:cNvSpPr>
            <p:nvPr/>
          </p:nvSpPr>
          <p:spPr bwMode="auto">
            <a:xfrm>
              <a:off x="584729" y="5829136"/>
              <a:ext cx="8832768" cy="532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latin typeface="微软雅黑" pitchFamily="34" charset="-122"/>
                  <a:ea typeface="微软雅黑" pitchFamily="34" charset="-122"/>
                </a:rPr>
                <a:t>在任何时间间隔 </a:t>
              </a:r>
              <a:r>
                <a:rPr kumimoji="1" lang="en-US" altLang="zh-CN" sz="1600" b="1" i="1" dirty="0">
                  <a:latin typeface="微软雅黑" pitchFamily="34" charset="-122"/>
                  <a:ea typeface="微软雅黑" pitchFamily="34" charset="-122"/>
                </a:rPr>
                <a:t>t</a:t>
              </a:r>
              <a:r>
                <a:rPr kumimoji="1" lang="en-US" altLang="zh-CN" sz="1600" b="1" dirty="0">
                  <a:latin typeface="微软雅黑" pitchFamily="34" charset="-122"/>
                  <a:ea typeface="微软雅黑" pitchFamily="34" charset="-122"/>
                </a:rPr>
                <a:t> </a:t>
              </a:r>
              <a:r>
                <a:rPr kumimoji="1" lang="zh-CN" altLang="en-US" sz="1600" b="1" dirty="0">
                  <a:latin typeface="微软雅黑" pitchFamily="34" charset="-122"/>
                  <a:ea typeface="微软雅黑" pitchFamily="34" charset="-122"/>
                </a:rPr>
                <a:t>内</a:t>
              </a:r>
              <a:r>
                <a:rPr kumimoji="1" lang="zh-CN" altLang="en-US" sz="1600" b="1" dirty="0">
                  <a:solidFill>
                    <a:srgbClr val="0000FF"/>
                  </a:solidFill>
                  <a:latin typeface="微软雅黑" pitchFamily="34" charset="-122"/>
                  <a:ea typeface="微软雅黑" pitchFamily="34" charset="-122"/>
                </a:rPr>
                <a:t>准许进入网络的分组数 </a:t>
              </a:r>
              <a:r>
                <a:rPr kumimoji="1" lang="en-US" altLang="zh-CN" sz="1600" b="1" dirty="0">
                  <a:solidFill>
                    <a:srgbClr val="0000FF"/>
                  </a:solidFill>
                  <a:latin typeface="微软雅黑" pitchFamily="34" charset="-122"/>
                  <a:ea typeface="微软雅黑" pitchFamily="34" charset="-122"/>
                </a:rPr>
                <a:t>= </a:t>
              </a:r>
              <a:r>
                <a:rPr kumimoji="1" lang="en-US" altLang="zh-CN" sz="1600" b="1" i="1" dirty="0">
                  <a:solidFill>
                    <a:srgbClr val="0000FF"/>
                  </a:solidFill>
                  <a:latin typeface="微软雅黑" pitchFamily="34" charset="-122"/>
                  <a:ea typeface="微软雅黑" pitchFamily="34" charset="-122"/>
                </a:rPr>
                <a:t>r t</a:t>
              </a:r>
              <a:r>
                <a:rPr kumimoji="1" lang="en-US" altLang="zh-CN" sz="1600" b="1" dirty="0">
                  <a:solidFill>
                    <a:srgbClr val="0000FF"/>
                  </a:solidFill>
                  <a:latin typeface="微软雅黑" pitchFamily="34" charset="-122"/>
                  <a:ea typeface="微软雅黑" pitchFamily="34" charset="-122"/>
                </a:rPr>
                <a:t> + </a:t>
              </a:r>
              <a:r>
                <a:rPr kumimoji="1" lang="en-US" altLang="zh-CN" sz="1600" b="1" i="1" dirty="0">
                  <a:solidFill>
                    <a:srgbClr val="0000FF"/>
                  </a:solidFill>
                  <a:latin typeface="微软雅黑" pitchFamily="34" charset="-122"/>
                  <a:ea typeface="微软雅黑" pitchFamily="34" charset="-122"/>
                </a:rPr>
                <a:t>b</a:t>
              </a:r>
              <a:endParaRPr kumimoji="1" lang="en-US" altLang="zh-CN" sz="1600" b="1" dirty="0">
                <a:solidFill>
                  <a:srgbClr val="0000FF"/>
                </a:solidFill>
                <a:latin typeface="微软雅黑" pitchFamily="34" charset="-122"/>
                <a:ea typeface="微软雅黑" pitchFamily="34" charset="-122"/>
              </a:endParaRPr>
            </a:p>
          </p:txBody>
        </p:sp>
        <p:sp>
          <p:nvSpPr>
            <p:cNvPr id="26" name="Text Box 25"/>
            <p:cNvSpPr txBox="1">
              <a:spLocks noChangeArrowheads="1"/>
            </p:cNvSpPr>
            <p:nvPr/>
          </p:nvSpPr>
          <p:spPr bwMode="auto">
            <a:xfrm>
              <a:off x="943281" y="2057619"/>
              <a:ext cx="4911575" cy="532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注入漏桶的速率为</a:t>
              </a:r>
              <a:r>
                <a:rPr kumimoji="1" lang="zh-CN" altLang="en-US" sz="1600" b="1" dirty="0">
                  <a:solidFill>
                    <a:srgbClr val="0000FF"/>
                  </a:solidFill>
                  <a:latin typeface="微软雅黑" pitchFamily="34" charset="-122"/>
                  <a:ea typeface="微软雅黑" pitchFamily="34" charset="-122"/>
                </a:rPr>
                <a:t>每秒 </a:t>
              </a:r>
              <a:r>
                <a:rPr kumimoji="1" lang="en-US" altLang="zh-CN" sz="1600" b="1" i="1" dirty="0">
                  <a:solidFill>
                    <a:srgbClr val="0000FF"/>
                  </a:solidFill>
                  <a:latin typeface="微软雅黑" pitchFamily="34" charset="-122"/>
                  <a:ea typeface="微软雅黑" pitchFamily="34" charset="-122"/>
                </a:rPr>
                <a:t>r</a:t>
              </a:r>
              <a:r>
                <a:rPr kumimoji="1" lang="en-US" altLang="zh-CN" sz="1600" b="1" dirty="0">
                  <a:solidFill>
                    <a:srgbClr val="0000FF"/>
                  </a:solidFill>
                  <a:latin typeface="微软雅黑" pitchFamily="34" charset="-122"/>
                  <a:ea typeface="微软雅黑" pitchFamily="34" charset="-122"/>
                </a:rPr>
                <a:t>  </a:t>
              </a:r>
              <a:r>
                <a:rPr kumimoji="1" lang="zh-CN" altLang="en-US" sz="1600" b="1" dirty="0">
                  <a:solidFill>
                    <a:srgbClr val="0000FF"/>
                  </a:solidFill>
                  <a:latin typeface="微软雅黑" pitchFamily="34" charset="-122"/>
                  <a:ea typeface="微软雅黑" pitchFamily="34" charset="-122"/>
                </a:rPr>
                <a:t>个权标</a:t>
              </a:r>
            </a:p>
          </p:txBody>
        </p:sp>
        <p:sp>
          <p:nvSpPr>
            <p:cNvPr id="27" name="Line 26"/>
            <p:cNvSpPr>
              <a:spLocks noChangeShapeType="1"/>
            </p:cNvSpPr>
            <p:nvPr/>
          </p:nvSpPr>
          <p:spPr bwMode="auto">
            <a:xfrm>
              <a:off x="3795581" y="4959351"/>
              <a:ext cx="0" cy="631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Line 27"/>
            <p:cNvSpPr>
              <a:spLocks noChangeShapeType="1"/>
            </p:cNvSpPr>
            <p:nvPr/>
          </p:nvSpPr>
          <p:spPr bwMode="auto">
            <a:xfrm>
              <a:off x="3570288" y="4959351"/>
              <a:ext cx="0" cy="631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Line 28"/>
            <p:cNvSpPr>
              <a:spLocks noChangeShapeType="1"/>
            </p:cNvSpPr>
            <p:nvPr/>
          </p:nvSpPr>
          <p:spPr bwMode="auto">
            <a:xfrm>
              <a:off x="3343275" y="4959351"/>
              <a:ext cx="0" cy="631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Text Box 16"/>
            <p:cNvSpPr txBox="1">
              <a:spLocks noChangeArrowheads="1"/>
            </p:cNvSpPr>
            <p:nvPr/>
          </p:nvSpPr>
          <p:spPr bwMode="auto">
            <a:xfrm>
              <a:off x="2744122" y="2846658"/>
              <a:ext cx="774875" cy="43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zh-CN" altLang="en-US" sz="1200" b="1" dirty="0">
                  <a:latin typeface="微软雅黑" pitchFamily="34" charset="-122"/>
                  <a:ea typeface="微软雅黑" pitchFamily="34" charset="-122"/>
                </a:rPr>
                <a:t>权标</a:t>
              </a:r>
            </a:p>
          </p:txBody>
        </p:sp>
        <p:sp>
          <p:nvSpPr>
            <p:cNvPr id="31" name="Oval 13"/>
            <p:cNvSpPr>
              <a:spLocks noChangeArrowheads="1"/>
            </p:cNvSpPr>
            <p:nvPr/>
          </p:nvSpPr>
          <p:spPr bwMode="auto">
            <a:xfrm>
              <a:off x="2576736" y="2636912"/>
              <a:ext cx="1085188" cy="168275"/>
            </a:xfrm>
            <a:prstGeom prst="ellipse">
              <a:avLst/>
            </a:prstGeom>
            <a:solidFill>
              <a:srgbClr val="0000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6"/>
            <p:cNvSpPr>
              <a:spLocks noChangeShapeType="1"/>
            </p:cNvSpPr>
            <p:nvPr/>
          </p:nvSpPr>
          <p:spPr bwMode="auto">
            <a:xfrm rot="5400000">
              <a:off x="2512428" y="4666899"/>
              <a:ext cx="0" cy="1213802"/>
            </a:xfrm>
            <a:prstGeom prst="line">
              <a:avLst/>
            </a:prstGeom>
            <a:noFill/>
            <a:ln w="28575">
              <a:solidFill>
                <a:srgbClr val="0000FF"/>
              </a:solidFill>
              <a:round/>
              <a:headEnd type="triangle" w="med"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grpSp>
        <p:nvGrpSpPr>
          <p:cNvPr id="36" name="Group 34"/>
          <p:cNvGrpSpPr>
            <a:grpSpLocks/>
          </p:cNvGrpSpPr>
          <p:nvPr/>
        </p:nvGrpSpPr>
        <p:grpSpPr bwMode="auto">
          <a:xfrm>
            <a:off x="6158708" y="2524018"/>
            <a:ext cx="1485900" cy="1014412"/>
            <a:chOff x="3560" y="714"/>
            <a:chExt cx="936" cy="639"/>
          </a:xfrm>
        </p:grpSpPr>
        <p:graphicFrame>
          <p:nvGraphicFramePr>
            <p:cNvPr id="37" name="Object 32"/>
            <p:cNvGraphicFramePr>
              <a:graphicFrameLocks noChangeAspect="1"/>
            </p:cNvGraphicFramePr>
            <p:nvPr/>
          </p:nvGraphicFramePr>
          <p:xfrm>
            <a:off x="3560" y="714"/>
            <a:ext cx="936" cy="639"/>
          </p:xfrm>
          <a:graphic>
            <a:graphicData uri="http://schemas.openxmlformats.org/presentationml/2006/ole">
              <mc:AlternateContent xmlns:mc="http://schemas.openxmlformats.org/markup-compatibility/2006">
                <mc:Choice xmlns:v="urn:schemas-microsoft-com:vml" Requires="v">
                  <p:oleObj name="VISIO" r:id="rId2" imgW="1687068" imgH="964692" progId="">
                    <p:embed/>
                  </p:oleObj>
                </mc:Choice>
                <mc:Fallback>
                  <p:oleObj name="VISIO" r:id="rId2" imgW="1687068" imgH="964692" progId="">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0" y="714"/>
                          <a:ext cx="936" cy="639"/>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8" name="Text Box 33"/>
            <p:cNvSpPr txBox="1">
              <a:spLocks noChangeArrowheads="1"/>
            </p:cNvSpPr>
            <p:nvPr/>
          </p:nvSpPr>
          <p:spPr bwMode="auto">
            <a:xfrm>
              <a:off x="3787" y="890"/>
              <a:ext cx="5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latin typeface="微软雅黑" panose="020B0503020204020204" pitchFamily="34" charset="-122"/>
                  <a:ea typeface="微软雅黑" panose="020B0503020204020204" pitchFamily="34" charset="-122"/>
                </a:rPr>
                <a:t>互联网</a:t>
              </a:r>
            </a:p>
          </p:txBody>
        </p:sp>
      </p:grpSp>
      <p:sp>
        <p:nvSpPr>
          <p:cNvPr id="2" name="矩形 1"/>
          <p:cNvSpPr/>
          <p:nvPr/>
        </p:nvSpPr>
        <p:spPr>
          <a:xfrm>
            <a:off x="1036307" y="3981824"/>
            <a:ext cx="7123621" cy="75918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285750" indent="-285750">
              <a:lnSpc>
                <a:spcPts val="2600"/>
              </a:lnSpc>
              <a:buFont typeface="Wingdings" panose="05000000000000000000" pitchFamily="2" charset="2"/>
              <a:buChar char="l"/>
            </a:pPr>
            <a:r>
              <a:rPr lang="zh-CN" altLang="en-US" b="1" dirty="0">
                <a:solidFill>
                  <a:schemeClr val="dk1"/>
                </a:solidFill>
                <a:latin typeface="微软雅黑" pitchFamily="34" charset="-122"/>
                <a:ea typeface="微软雅黑" pitchFamily="34" charset="-122"/>
              </a:rPr>
              <a:t>注意：“准许进入网络”</a:t>
            </a:r>
            <a:r>
              <a:rPr lang="zh-CN" altLang="en-US" b="1" dirty="0">
                <a:solidFill>
                  <a:srgbClr val="C00000"/>
                </a:solidFill>
                <a:latin typeface="微软雅黑" pitchFamily="34" charset="-122"/>
                <a:ea typeface="微软雅黑" pitchFamily="34" charset="-122"/>
              </a:rPr>
              <a:t>不等于</a:t>
            </a:r>
            <a:r>
              <a:rPr lang="zh-CN" altLang="en-US" b="1" dirty="0">
                <a:solidFill>
                  <a:schemeClr val="dk1"/>
                </a:solidFill>
                <a:latin typeface="微软雅黑" pitchFamily="34" charset="-122"/>
                <a:ea typeface="微软雅黑" pitchFamily="34" charset="-122"/>
              </a:rPr>
              <a:t>说“已经进入了网络”。</a:t>
            </a:r>
            <a:endParaRPr lang="en-US" altLang="zh-CN" b="1" dirty="0">
              <a:solidFill>
                <a:schemeClr val="dk1"/>
              </a:solidFill>
              <a:latin typeface="微软雅黑" pitchFamily="34" charset="-122"/>
              <a:ea typeface="微软雅黑" pitchFamily="34" charset="-122"/>
            </a:endParaRPr>
          </a:p>
          <a:p>
            <a:pPr marL="285750" indent="-285750">
              <a:lnSpc>
                <a:spcPts val="2600"/>
              </a:lnSpc>
              <a:buFont typeface="Wingdings" panose="05000000000000000000" pitchFamily="2" charset="2"/>
              <a:buChar char="l"/>
            </a:pPr>
            <a:r>
              <a:rPr lang="zh-CN" altLang="en-US" b="1" dirty="0">
                <a:solidFill>
                  <a:srgbClr val="0000FF"/>
                </a:solidFill>
                <a:latin typeface="微软雅黑" pitchFamily="34" charset="-122"/>
                <a:ea typeface="微软雅黑" pitchFamily="34" charset="-122"/>
              </a:rPr>
              <a:t>控制权标进入漏桶的速率 </a:t>
            </a:r>
            <a:r>
              <a:rPr lang="en-US" altLang="zh-CN" b="1" dirty="0">
                <a:solidFill>
                  <a:srgbClr val="0000FF"/>
                </a:solidFill>
                <a:latin typeface="微软雅黑" pitchFamily="34" charset="-122"/>
                <a:ea typeface="微软雅黑" pitchFamily="34" charset="-122"/>
              </a:rPr>
              <a:t>r</a:t>
            </a:r>
            <a:r>
              <a:rPr lang="zh-CN" altLang="en-US" b="1" dirty="0">
                <a:solidFill>
                  <a:srgbClr val="0000FF"/>
                </a:solidFill>
                <a:latin typeface="微软雅黑" pitchFamily="34" charset="-122"/>
                <a:ea typeface="微软雅黑" pitchFamily="34" charset="-122"/>
              </a:rPr>
              <a:t>，就可对分组进入网络的速率进行管制。</a:t>
            </a:r>
          </a:p>
        </p:txBody>
      </p:sp>
    </p:spTree>
    <p:extLst>
      <p:ext uri="{BB962C8B-B14F-4D97-AF65-F5344CB8AC3E}">
        <p14:creationId xmlns:p14="http://schemas.microsoft.com/office/powerpoint/2010/main" val="11703883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11897" y="6090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503683" y="585960"/>
            <a:ext cx="41617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漏桶机制与加权公平排队相结合 </a:t>
            </a:r>
          </a:p>
        </p:txBody>
      </p:sp>
      <p:sp>
        <p:nvSpPr>
          <p:cNvPr id="11" name="圆角矩形 10"/>
          <p:cNvSpPr/>
          <p:nvPr/>
        </p:nvSpPr>
        <p:spPr>
          <a:xfrm>
            <a:off x="517852" y="1006264"/>
            <a:ext cx="8133857" cy="299967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72158" y="1267790"/>
            <a:ext cx="7558582" cy="2433353"/>
            <a:chOff x="772158" y="1433253"/>
            <a:chExt cx="7558582" cy="2433353"/>
          </a:xfrm>
        </p:grpSpPr>
        <p:sp>
          <p:nvSpPr>
            <p:cNvPr id="14" name="Text Box 25"/>
            <p:cNvSpPr txBox="1">
              <a:spLocks noChangeArrowheads="1"/>
            </p:cNvSpPr>
            <p:nvPr/>
          </p:nvSpPr>
          <p:spPr bwMode="auto">
            <a:xfrm>
              <a:off x="7427929" y="2239923"/>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分组离开</a:t>
              </a:r>
            </a:p>
            <a:p>
              <a:pPr algn="ctr"/>
              <a:r>
                <a:rPr kumimoji="1" lang="zh-CN" altLang="en-US" sz="1400" b="1">
                  <a:latin typeface="微软雅黑" pitchFamily="34" charset="-122"/>
                  <a:ea typeface="微软雅黑" pitchFamily="34" charset="-122"/>
                </a:rPr>
                <a:t>路由器</a:t>
              </a:r>
            </a:p>
          </p:txBody>
        </p:sp>
        <p:sp>
          <p:nvSpPr>
            <p:cNvPr id="15" name="Text Box 18"/>
            <p:cNvSpPr txBox="1">
              <a:spLocks noChangeArrowheads="1"/>
            </p:cNvSpPr>
            <p:nvPr/>
          </p:nvSpPr>
          <p:spPr bwMode="auto">
            <a:xfrm>
              <a:off x="772158" y="2231214"/>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分组到达</a:t>
              </a:r>
            </a:p>
            <a:p>
              <a:pPr algn="ctr"/>
              <a:r>
                <a:rPr kumimoji="1" lang="zh-CN" altLang="en-US" sz="1400" b="1" dirty="0">
                  <a:latin typeface="微软雅黑" pitchFamily="34" charset="-122"/>
                  <a:ea typeface="微软雅黑" pitchFamily="34" charset="-122"/>
                </a:rPr>
                <a:t>路由器</a:t>
              </a:r>
            </a:p>
          </p:txBody>
        </p:sp>
        <p:sp>
          <p:nvSpPr>
            <p:cNvPr id="16" name="Rectangle 5"/>
            <p:cNvSpPr>
              <a:spLocks noChangeArrowheads="1"/>
            </p:cNvSpPr>
            <p:nvPr/>
          </p:nvSpPr>
          <p:spPr bwMode="auto">
            <a:xfrm>
              <a:off x="1736907" y="1433253"/>
              <a:ext cx="5673139" cy="2433353"/>
            </a:xfrm>
            <a:prstGeom prst="rect">
              <a:avLst/>
            </a:prstGeom>
            <a:solidFill>
              <a:srgbClr val="66FFFF"/>
            </a:solidFill>
            <a:ln w="9525" algn="ctr">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7" name="Line 6"/>
            <p:cNvSpPr>
              <a:spLocks noChangeShapeType="1"/>
            </p:cNvSpPr>
            <p:nvPr/>
          </p:nvSpPr>
          <p:spPr bwMode="auto">
            <a:xfrm>
              <a:off x="7251764" y="2891747"/>
              <a:ext cx="7400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8" name="Freeform 7"/>
            <p:cNvSpPr>
              <a:spLocks/>
            </p:cNvSpPr>
            <p:nvPr/>
          </p:nvSpPr>
          <p:spPr bwMode="auto">
            <a:xfrm>
              <a:off x="3096184" y="3259576"/>
              <a:ext cx="752531" cy="360138"/>
            </a:xfrm>
            <a:custGeom>
              <a:avLst/>
              <a:gdLst>
                <a:gd name="T0" fmla="*/ 0 w 864"/>
                <a:gd name="T1" fmla="*/ 0 h 528"/>
                <a:gd name="T2" fmla="*/ 864 w 864"/>
                <a:gd name="T3" fmla="*/ 0 h 528"/>
                <a:gd name="T4" fmla="*/ 864 w 864"/>
                <a:gd name="T5" fmla="*/ 528 h 528"/>
                <a:gd name="T6" fmla="*/ 0 w 864"/>
                <a:gd name="T7" fmla="*/ 528 h 528"/>
              </a:gdLst>
              <a:ahLst/>
              <a:cxnLst>
                <a:cxn ang="0">
                  <a:pos x="T0" y="T1"/>
                </a:cxn>
                <a:cxn ang="0">
                  <a:pos x="T2" y="T3"/>
                </a:cxn>
                <a:cxn ang="0">
                  <a:pos x="T4" y="T5"/>
                </a:cxn>
                <a:cxn ang="0">
                  <a:pos x="T6" y="T7"/>
                </a:cxn>
              </a:cxnLst>
              <a:rect l="0" t="0" r="r" b="b"/>
              <a:pathLst>
                <a:path w="864" h="528">
                  <a:moveTo>
                    <a:pt x="0" y="0"/>
                  </a:moveTo>
                  <a:lnTo>
                    <a:pt x="864" y="0"/>
                  </a:lnTo>
                  <a:lnTo>
                    <a:pt x="864" y="528"/>
                  </a:lnTo>
                  <a:lnTo>
                    <a:pt x="0" y="528"/>
                  </a:lnTo>
                </a:path>
              </a:pathLst>
            </a:custGeom>
            <a:noFill/>
            <a:ln w="19050" cmpd="sng">
              <a:solidFill>
                <a:srgbClr val="0000FF"/>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Rectangle 8"/>
            <p:cNvSpPr>
              <a:spLocks noChangeArrowheads="1"/>
            </p:cNvSpPr>
            <p:nvPr/>
          </p:nvSpPr>
          <p:spPr bwMode="auto">
            <a:xfrm>
              <a:off x="5585644" y="2153529"/>
              <a:ext cx="412365" cy="369109"/>
            </a:xfrm>
            <a:prstGeom prst="rect">
              <a:avLst/>
            </a:prstGeom>
            <a:solidFill>
              <a:srgbClr val="CC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Freeform 9"/>
            <p:cNvSpPr>
              <a:spLocks/>
            </p:cNvSpPr>
            <p:nvPr/>
          </p:nvSpPr>
          <p:spPr bwMode="auto">
            <a:xfrm>
              <a:off x="4887263" y="2153529"/>
              <a:ext cx="1110746" cy="369109"/>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19050" cmpd="sng">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1" name="Line 10"/>
            <p:cNvSpPr>
              <a:spLocks noChangeShapeType="1"/>
            </p:cNvSpPr>
            <p:nvPr/>
          </p:nvSpPr>
          <p:spPr bwMode="auto">
            <a:xfrm>
              <a:off x="5860554"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Line 11"/>
            <p:cNvSpPr>
              <a:spLocks noChangeShapeType="1"/>
            </p:cNvSpPr>
            <p:nvPr/>
          </p:nvSpPr>
          <p:spPr bwMode="auto">
            <a:xfrm>
              <a:off x="5723100"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3" name="Line 12"/>
            <p:cNvSpPr>
              <a:spLocks noChangeShapeType="1"/>
            </p:cNvSpPr>
            <p:nvPr/>
          </p:nvSpPr>
          <p:spPr bwMode="auto">
            <a:xfrm>
              <a:off x="5585644"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4" name="Line 13"/>
            <p:cNvSpPr>
              <a:spLocks noChangeShapeType="1"/>
            </p:cNvSpPr>
            <p:nvPr/>
          </p:nvSpPr>
          <p:spPr bwMode="auto">
            <a:xfrm>
              <a:off x="5446801"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14"/>
            <p:cNvSpPr>
              <a:spLocks noChangeShapeType="1"/>
            </p:cNvSpPr>
            <p:nvPr/>
          </p:nvSpPr>
          <p:spPr bwMode="auto">
            <a:xfrm>
              <a:off x="5309347"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15"/>
            <p:cNvSpPr>
              <a:spLocks noChangeShapeType="1"/>
            </p:cNvSpPr>
            <p:nvPr/>
          </p:nvSpPr>
          <p:spPr bwMode="auto">
            <a:xfrm>
              <a:off x="5171891"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16"/>
            <p:cNvSpPr>
              <a:spLocks noChangeShapeType="1"/>
            </p:cNvSpPr>
            <p:nvPr/>
          </p:nvSpPr>
          <p:spPr bwMode="auto">
            <a:xfrm>
              <a:off x="5034437" y="2153529"/>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AutoShape 17"/>
            <p:cNvSpPr>
              <a:spLocks noChangeArrowheads="1"/>
            </p:cNvSpPr>
            <p:nvPr/>
          </p:nvSpPr>
          <p:spPr bwMode="auto">
            <a:xfrm rot="5400000">
              <a:off x="2014006" y="2685565"/>
              <a:ext cx="369109" cy="412365"/>
            </a:xfrm>
            <a:prstGeom prst="triangle">
              <a:avLst>
                <a:gd name="adj" fmla="val 50000"/>
              </a:avLst>
            </a:prstGeom>
            <a:solidFill>
              <a:srgbClr val="FFC0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19"/>
            <p:cNvSpPr>
              <a:spLocks noChangeShapeType="1"/>
            </p:cNvSpPr>
            <p:nvPr/>
          </p:nvSpPr>
          <p:spPr bwMode="auto">
            <a:xfrm>
              <a:off x="980591" y="2804102"/>
              <a:ext cx="619241"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Oval 22"/>
            <p:cNvSpPr>
              <a:spLocks noChangeArrowheads="1"/>
            </p:cNvSpPr>
            <p:nvPr/>
          </p:nvSpPr>
          <p:spPr bwMode="auto">
            <a:xfrm>
              <a:off x="6811632" y="2686687"/>
              <a:ext cx="480398" cy="430628"/>
            </a:xfrm>
            <a:prstGeom prst="ellipse">
              <a:avLst/>
            </a:prstGeom>
            <a:solidFill>
              <a:srgbClr val="FFFF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400" b="1">
                  <a:latin typeface="微软雅黑" pitchFamily="34" charset="-122"/>
                  <a:ea typeface="微软雅黑" pitchFamily="34" charset="-122"/>
                </a:rPr>
                <a:t>调度</a:t>
              </a:r>
            </a:p>
          </p:txBody>
        </p:sp>
        <p:sp>
          <p:nvSpPr>
            <p:cNvPr id="33" name="Line 23"/>
            <p:cNvSpPr>
              <a:spLocks noChangeShapeType="1"/>
            </p:cNvSpPr>
            <p:nvPr/>
          </p:nvSpPr>
          <p:spPr bwMode="auto">
            <a:xfrm>
              <a:off x="5998009" y="2348336"/>
              <a:ext cx="798349" cy="538284"/>
            </a:xfrm>
            <a:prstGeom prst="line">
              <a:avLst/>
            </a:prstGeom>
            <a:noFill/>
            <a:ln w="1905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Line 24"/>
            <p:cNvSpPr>
              <a:spLocks noChangeShapeType="1"/>
            </p:cNvSpPr>
            <p:nvPr/>
          </p:nvSpPr>
          <p:spPr bwMode="auto">
            <a:xfrm>
              <a:off x="7566940" y="2812811"/>
              <a:ext cx="619241"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5" name="Text Box 26"/>
            <p:cNvSpPr txBox="1">
              <a:spLocks noChangeArrowheads="1"/>
            </p:cNvSpPr>
            <p:nvPr/>
          </p:nvSpPr>
          <p:spPr bwMode="auto">
            <a:xfrm>
              <a:off x="1836873" y="2426981"/>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分类器</a:t>
              </a:r>
            </a:p>
          </p:txBody>
        </p:sp>
        <p:sp>
          <p:nvSpPr>
            <p:cNvPr id="36" name="Rectangle 27"/>
            <p:cNvSpPr>
              <a:spLocks noChangeArrowheads="1"/>
            </p:cNvSpPr>
            <p:nvPr/>
          </p:nvSpPr>
          <p:spPr bwMode="auto">
            <a:xfrm>
              <a:off x="5453152" y="3260857"/>
              <a:ext cx="551209" cy="369109"/>
            </a:xfrm>
            <a:prstGeom prst="rect">
              <a:avLst/>
            </a:prstGeom>
            <a:solidFill>
              <a:srgbClr val="0000FF"/>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7" name="Freeform 28"/>
            <p:cNvSpPr>
              <a:spLocks/>
            </p:cNvSpPr>
            <p:nvPr/>
          </p:nvSpPr>
          <p:spPr bwMode="auto">
            <a:xfrm>
              <a:off x="4896981" y="3260857"/>
              <a:ext cx="1110746" cy="369109"/>
            </a:xfrm>
            <a:custGeom>
              <a:avLst/>
              <a:gdLst>
                <a:gd name="T0" fmla="*/ 7 w 775"/>
                <a:gd name="T1" fmla="*/ 0 h 288"/>
                <a:gd name="T2" fmla="*/ 775 w 775"/>
                <a:gd name="T3" fmla="*/ 0 h 288"/>
                <a:gd name="T4" fmla="*/ 775 w 775"/>
                <a:gd name="T5" fmla="*/ 288 h 288"/>
                <a:gd name="T6" fmla="*/ 0 w 775"/>
                <a:gd name="T7" fmla="*/ 288 h 288"/>
              </a:gdLst>
              <a:ahLst/>
              <a:cxnLst>
                <a:cxn ang="0">
                  <a:pos x="T0" y="T1"/>
                </a:cxn>
                <a:cxn ang="0">
                  <a:pos x="T2" y="T3"/>
                </a:cxn>
                <a:cxn ang="0">
                  <a:pos x="T4" y="T5"/>
                </a:cxn>
                <a:cxn ang="0">
                  <a:pos x="T6" y="T7"/>
                </a:cxn>
              </a:cxnLst>
              <a:rect l="0" t="0" r="r" b="b"/>
              <a:pathLst>
                <a:path w="775" h="288">
                  <a:moveTo>
                    <a:pt x="7" y="0"/>
                  </a:moveTo>
                  <a:lnTo>
                    <a:pt x="775" y="0"/>
                  </a:lnTo>
                  <a:lnTo>
                    <a:pt x="775" y="288"/>
                  </a:lnTo>
                  <a:lnTo>
                    <a:pt x="0" y="288"/>
                  </a:lnTo>
                </a:path>
              </a:pathLst>
            </a:custGeom>
            <a:noFill/>
            <a:ln w="19050" cmpd="sng">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Line 29"/>
            <p:cNvSpPr>
              <a:spLocks noChangeShapeType="1"/>
            </p:cNvSpPr>
            <p:nvPr/>
          </p:nvSpPr>
          <p:spPr bwMode="auto">
            <a:xfrm>
              <a:off x="5870274"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9" name="Line 30"/>
            <p:cNvSpPr>
              <a:spLocks noChangeShapeType="1"/>
            </p:cNvSpPr>
            <p:nvPr/>
          </p:nvSpPr>
          <p:spPr bwMode="auto">
            <a:xfrm>
              <a:off x="5732818"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0" name="Line 31"/>
            <p:cNvSpPr>
              <a:spLocks noChangeShapeType="1"/>
            </p:cNvSpPr>
            <p:nvPr/>
          </p:nvSpPr>
          <p:spPr bwMode="auto">
            <a:xfrm>
              <a:off x="5595364"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1" name="Line 32"/>
            <p:cNvSpPr>
              <a:spLocks noChangeShapeType="1"/>
            </p:cNvSpPr>
            <p:nvPr/>
          </p:nvSpPr>
          <p:spPr bwMode="auto">
            <a:xfrm>
              <a:off x="5457908"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Line 33"/>
            <p:cNvSpPr>
              <a:spLocks noChangeShapeType="1"/>
            </p:cNvSpPr>
            <p:nvPr/>
          </p:nvSpPr>
          <p:spPr bwMode="auto">
            <a:xfrm>
              <a:off x="5320454"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Line 34"/>
            <p:cNvSpPr>
              <a:spLocks noChangeShapeType="1"/>
            </p:cNvSpPr>
            <p:nvPr/>
          </p:nvSpPr>
          <p:spPr bwMode="auto">
            <a:xfrm>
              <a:off x="5182998"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Line 35"/>
            <p:cNvSpPr>
              <a:spLocks noChangeShapeType="1"/>
            </p:cNvSpPr>
            <p:nvPr/>
          </p:nvSpPr>
          <p:spPr bwMode="auto">
            <a:xfrm>
              <a:off x="5045544" y="3260857"/>
              <a:ext cx="0" cy="369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5" name="Line 36"/>
            <p:cNvSpPr>
              <a:spLocks noChangeShapeType="1"/>
            </p:cNvSpPr>
            <p:nvPr/>
          </p:nvSpPr>
          <p:spPr bwMode="auto">
            <a:xfrm flipV="1">
              <a:off x="6009117" y="2902000"/>
              <a:ext cx="799738" cy="528031"/>
            </a:xfrm>
            <a:prstGeom prst="line">
              <a:avLst/>
            </a:prstGeom>
            <a:noFill/>
            <a:ln w="1905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6" name="Freeform 37"/>
            <p:cNvSpPr>
              <a:spLocks/>
            </p:cNvSpPr>
            <p:nvPr/>
          </p:nvSpPr>
          <p:spPr bwMode="auto">
            <a:xfrm>
              <a:off x="6392325" y="2312452"/>
              <a:ext cx="223537" cy="1079132"/>
            </a:xfrm>
            <a:custGeom>
              <a:avLst/>
              <a:gdLst>
                <a:gd name="T0" fmla="*/ 22 w 156"/>
                <a:gd name="T1" fmla="*/ 0 h 842"/>
                <a:gd name="T2" fmla="*/ 10 w 156"/>
                <a:gd name="T3" fmla="*/ 227 h 842"/>
                <a:gd name="T4" fmla="*/ 3 w 156"/>
                <a:gd name="T5" fmla="*/ 383 h 842"/>
                <a:gd name="T6" fmla="*/ 1 w 156"/>
                <a:gd name="T7" fmla="*/ 554 h 842"/>
                <a:gd name="T8" fmla="*/ 7 w 156"/>
                <a:gd name="T9" fmla="*/ 692 h 842"/>
                <a:gd name="T10" fmla="*/ 30 w 156"/>
                <a:gd name="T11" fmla="*/ 800 h 842"/>
                <a:gd name="T12" fmla="*/ 69 w 156"/>
                <a:gd name="T13" fmla="*/ 841 h 842"/>
                <a:gd name="T14" fmla="*/ 99 w 156"/>
                <a:gd name="T15" fmla="*/ 793 h 842"/>
                <a:gd name="T16" fmla="*/ 118 w 156"/>
                <a:gd name="T17" fmla="*/ 698 h 842"/>
                <a:gd name="T18" fmla="*/ 138 w 156"/>
                <a:gd name="T19" fmla="*/ 527 h 842"/>
                <a:gd name="T20" fmla="*/ 150 w 156"/>
                <a:gd name="T21" fmla="*/ 370 h 842"/>
                <a:gd name="T22" fmla="*/ 156 w 156"/>
                <a:gd name="T23" fmla="*/ 173 h 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6" h="842">
                  <a:moveTo>
                    <a:pt x="22" y="0"/>
                  </a:moveTo>
                  <a:cubicBezTo>
                    <a:pt x="20" y="38"/>
                    <a:pt x="13" y="163"/>
                    <a:pt x="10" y="227"/>
                  </a:cubicBezTo>
                  <a:cubicBezTo>
                    <a:pt x="7" y="291"/>
                    <a:pt x="4" y="329"/>
                    <a:pt x="3" y="383"/>
                  </a:cubicBezTo>
                  <a:cubicBezTo>
                    <a:pt x="2" y="437"/>
                    <a:pt x="0" y="503"/>
                    <a:pt x="1" y="554"/>
                  </a:cubicBezTo>
                  <a:cubicBezTo>
                    <a:pt x="2" y="605"/>
                    <a:pt x="2" y="651"/>
                    <a:pt x="7" y="692"/>
                  </a:cubicBezTo>
                  <a:cubicBezTo>
                    <a:pt x="12" y="733"/>
                    <a:pt x="20" y="775"/>
                    <a:pt x="30" y="800"/>
                  </a:cubicBezTo>
                  <a:cubicBezTo>
                    <a:pt x="40" y="825"/>
                    <a:pt x="58" y="842"/>
                    <a:pt x="69" y="841"/>
                  </a:cubicBezTo>
                  <a:cubicBezTo>
                    <a:pt x="80" y="840"/>
                    <a:pt x="91" y="817"/>
                    <a:pt x="99" y="793"/>
                  </a:cubicBezTo>
                  <a:cubicBezTo>
                    <a:pt x="107" y="769"/>
                    <a:pt x="112" y="742"/>
                    <a:pt x="118" y="698"/>
                  </a:cubicBezTo>
                  <a:cubicBezTo>
                    <a:pt x="124" y="654"/>
                    <a:pt x="133" y="582"/>
                    <a:pt x="138" y="527"/>
                  </a:cubicBezTo>
                  <a:cubicBezTo>
                    <a:pt x="143" y="472"/>
                    <a:pt x="147" y="429"/>
                    <a:pt x="150" y="370"/>
                  </a:cubicBezTo>
                  <a:cubicBezTo>
                    <a:pt x="153" y="311"/>
                    <a:pt x="155" y="214"/>
                    <a:pt x="156" y="173"/>
                  </a:cubicBezTo>
                </a:path>
              </a:pathLst>
            </a:custGeom>
            <a:noFill/>
            <a:ln w="1905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Text Box 38"/>
            <p:cNvSpPr txBox="1">
              <a:spLocks noChangeArrowheads="1"/>
            </p:cNvSpPr>
            <p:nvPr/>
          </p:nvSpPr>
          <p:spPr bwMode="auto">
            <a:xfrm>
              <a:off x="6014671" y="2148373"/>
              <a:ext cx="4106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latin typeface="微软雅黑" pitchFamily="34" charset="-122"/>
                  <a:ea typeface="微软雅黑" pitchFamily="34" charset="-122"/>
                </a:rPr>
                <a:t>w</a:t>
              </a:r>
              <a:r>
                <a:rPr kumimoji="1" lang="en-US" altLang="zh-CN" sz="1400" b="1" baseline="-25000" dirty="0">
                  <a:latin typeface="微软雅黑" pitchFamily="34" charset="-122"/>
                  <a:ea typeface="微软雅黑" pitchFamily="34" charset="-122"/>
                </a:rPr>
                <a:t>1</a:t>
              </a:r>
            </a:p>
          </p:txBody>
        </p:sp>
        <p:sp>
          <p:nvSpPr>
            <p:cNvPr id="48" name="Text Box 39"/>
            <p:cNvSpPr txBox="1">
              <a:spLocks noChangeArrowheads="1"/>
            </p:cNvSpPr>
            <p:nvPr/>
          </p:nvSpPr>
          <p:spPr bwMode="auto">
            <a:xfrm>
              <a:off x="6023002" y="3260333"/>
              <a:ext cx="4138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err="1">
                  <a:latin typeface="微软雅黑" pitchFamily="34" charset="-122"/>
                  <a:ea typeface="微软雅黑" pitchFamily="34" charset="-122"/>
                </a:rPr>
                <a:t>w</a:t>
              </a:r>
              <a:r>
                <a:rPr kumimoji="1" lang="en-US" altLang="zh-CN" sz="1400" b="1" i="1" baseline="-25000" dirty="0" err="1">
                  <a:latin typeface="微软雅黑" pitchFamily="34" charset="-122"/>
                  <a:ea typeface="微软雅黑" pitchFamily="34" charset="-122"/>
                </a:rPr>
                <a:t>n</a:t>
              </a:r>
              <a:endParaRPr kumimoji="1" lang="en-US" altLang="zh-CN" sz="1400" b="1" i="1" baseline="-25000" dirty="0">
                <a:latin typeface="微软雅黑" pitchFamily="34" charset="-122"/>
                <a:ea typeface="微软雅黑" pitchFamily="34" charset="-122"/>
              </a:endParaRPr>
            </a:p>
          </p:txBody>
        </p:sp>
        <p:sp>
          <p:nvSpPr>
            <p:cNvPr id="49" name="Text Box 40"/>
            <p:cNvSpPr txBox="1">
              <a:spLocks noChangeArrowheads="1"/>
            </p:cNvSpPr>
            <p:nvPr/>
          </p:nvSpPr>
          <p:spPr bwMode="auto">
            <a:xfrm>
              <a:off x="2448019" y="2157598"/>
              <a:ext cx="82611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0000FF"/>
                  </a:solidFill>
                  <a:latin typeface="微软雅黑" pitchFamily="34" charset="-122"/>
                  <a:ea typeface="微软雅黑" pitchFamily="34" charset="-122"/>
                </a:rPr>
                <a:t>队列 </a:t>
              </a:r>
              <a:r>
                <a:rPr kumimoji="1" lang="en-US" altLang="zh-CN" sz="1400" b="1" dirty="0">
                  <a:solidFill>
                    <a:srgbClr val="0000FF"/>
                  </a:solidFill>
                  <a:latin typeface="微软雅黑" pitchFamily="34" charset="-122"/>
                  <a:ea typeface="微软雅黑" pitchFamily="34" charset="-122"/>
                </a:rPr>
                <a:t>1</a:t>
              </a:r>
              <a:endParaRPr kumimoji="1" lang="en-US" altLang="zh-CN" sz="1400" b="1" baseline="-25000" dirty="0">
                <a:solidFill>
                  <a:srgbClr val="0000FF"/>
                </a:solidFill>
                <a:latin typeface="微软雅黑" pitchFamily="34" charset="-122"/>
                <a:ea typeface="微软雅黑" pitchFamily="34" charset="-122"/>
              </a:endParaRPr>
            </a:p>
          </p:txBody>
        </p:sp>
        <p:sp>
          <p:nvSpPr>
            <p:cNvPr id="50" name="Text Box 41"/>
            <p:cNvSpPr txBox="1">
              <a:spLocks noChangeArrowheads="1"/>
            </p:cNvSpPr>
            <p:nvPr/>
          </p:nvSpPr>
          <p:spPr bwMode="auto">
            <a:xfrm rot="16200000">
              <a:off x="5042501" y="2577590"/>
              <a:ext cx="5309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微软雅黑" pitchFamily="34" charset="-122"/>
                  <a:ea typeface="微软雅黑" pitchFamily="34" charset="-122"/>
                </a:rPr>
                <a:t>…</a:t>
              </a:r>
            </a:p>
          </p:txBody>
        </p:sp>
        <p:sp>
          <p:nvSpPr>
            <p:cNvPr id="51" name="AutoShape 42"/>
            <p:cNvSpPr>
              <a:spLocks noChangeArrowheads="1"/>
            </p:cNvSpPr>
            <p:nvPr/>
          </p:nvSpPr>
          <p:spPr bwMode="auto">
            <a:xfrm>
              <a:off x="4204154" y="2153529"/>
              <a:ext cx="474844" cy="369109"/>
            </a:xfrm>
            <a:prstGeom prst="diamond">
              <a:avLst/>
            </a:prstGeom>
            <a:solidFill>
              <a:srgbClr val="00FF00"/>
            </a:solidFill>
            <a:ln w="1905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400" b="1">
                <a:latin typeface="微软雅黑" pitchFamily="34" charset="-122"/>
                <a:ea typeface="微软雅黑" pitchFamily="34" charset="-122"/>
              </a:endParaRPr>
            </a:p>
          </p:txBody>
        </p:sp>
        <p:sp>
          <p:nvSpPr>
            <p:cNvPr id="52" name="Freeform 43"/>
            <p:cNvSpPr>
              <a:spLocks/>
            </p:cNvSpPr>
            <p:nvPr/>
          </p:nvSpPr>
          <p:spPr bwMode="auto">
            <a:xfrm>
              <a:off x="3096184" y="2153529"/>
              <a:ext cx="752531" cy="360138"/>
            </a:xfrm>
            <a:custGeom>
              <a:avLst/>
              <a:gdLst>
                <a:gd name="T0" fmla="*/ 0 w 864"/>
                <a:gd name="T1" fmla="*/ 0 h 528"/>
                <a:gd name="T2" fmla="*/ 864 w 864"/>
                <a:gd name="T3" fmla="*/ 0 h 528"/>
                <a:gd name="T4" fmla="*/ 864 w 864"/>
                <a:gd name="T5" fmla="*/ 528 h 528"/>
                <a:gd name="T6" fmla="*/ 0 w 864"/>
                <a:gd name="T7" fmla="*/ 528 h 528"/>
              </a:gdLst>
              <a:ahLst/>
              <a:cxnLst>
                <a:cxn ang="0">
                  <a:pos x="T0" y="T1"/>
                </a:cxn>
                <a:cxn ang="0">
                  <a:pos x="T2" y="T3"/>
                </a:cxn>
                <a:cxn ang="0">
                  <a:pos x="T4" y="T5"/>
                </a:cxn>
                <a:cxn ang="0">
                  <a:pos x="T6" y="T7"/>
                </a:cxn>
              </a:cxnLst>
              <a:rect l="0" t="0" r="r" b="b"/>
              <a:pathLst>
                <a:path w="864" h="528">
                  <a:moveTo>
                    <a:pt x="0" y="0"/>
                  </a:moveTo>
                  <a:lnTo>
                    <a:pt x="864" y="0"/>
                  </a:lnTo>
                  <a:lnTo>
                    <a:pt x="864" y="528"/>
                  </a:lnTo>
                  <a:lnTo>
                    <a:pt x="0" y="528"/>
                  </a:lnTo>
                </a:path>
              </a:pathLst>
            </a:custGeom>
            <a:noFill/>
            <a:ln w="19050" cmpd="sng">
              <a:solidFill>
                <a:srgbClr val="0000FF"/>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3" name="Line 44"/>
            <p:cNvSpPr>
              <a:spLocks noChangeShapeType="1"/>
            </p:cNvSpPr>
            <p:nvPr/>
          </p:nvSpPr>
          <p:spPr bwMode="auto">
            <a:xfrm rot="5400000" flipH="1">
              <a:off x="4036847" y="2147388"/>
              <a:ext cx="0" cy="376265"/>
            </a:xfrm>
            <a:prstGeom prst="line">
              <a:avLst/>
            </a:prstGeom>
            <a:noFill/>
            <a:ln w="1905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4" name="Line 45"/>
            <p:cNvSpPr>
              <a:spLocks noChangeShapeType="1"/>
            </p:cNvSpPr>
            <p:nvPr/>
          </p:nvSpPr>
          <p:spPr bwMode="auto">
            <a:xfrm>
              <a:off x="3716813" y="2157375"/>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5" name="Line 46"/>
            <p:cNvSpPr>
              <a:spLocks noChangeShapeType="1"/>
            </p:cNvSpPr>
            <p:nvPr/>
          </p:nvSpPr>
          <p:spPr bwMode="auto">
            <a:xfrm>
              <a:off x="3577969" y="2157375"/>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6" name="Line 47"/>
            <p:cNvSpPr>
              <a:spLocks noChangeShapeType="1"/>
            </p:cNvSpPr>
            <p:nvPr/>
          </p:nvSpPr>
          <p:spPr bwMode="auto">
            <a:xfrm>
              <a:off x="3439126" y="2157375"/>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7" name="Freeform 49"/>
            <p:cNvSpPr>
              <a:spLocks/>
            </p:cNvSpPr>
            <p:nvPr/>
          </p:nvSpPr>
          <p:spPr bwMode="auto">
            <a:xfrm>
              <a:off x="4306898" y="1681889"/>
              <a:ext cx="286017" cy="319126"/>
            </a:xfrm>
            <a:custGeom>
              <a:avLst/>
              <a:gdLst>
                <a:gd name="T0" fmla="*/ 0 w 768"/>
                <a:gd name="T1" fmla="*/ 0 h 1008"/>
                <a:gd name="T2" fmla="*/ 0 w 768"/>
                <a:gd name="T3" fmla="*/ 1008 h 1008"/>
                <a:gd name="T4" fmla="*/ 767 w 768"/>
                <a:gd name="T5" fmla="*/ 1003 h 1008"/>
                <a:gd name="T6" fmla="*/ 768 w 768"/>
                <a:gd name="T7" fmla="*/ 0 h 1008"/>
              </a:gdLst>
              <a:ahLst/>
              <a:cxnLst>
                <a:cxn ang="0">
                  <a:pos x="T0" y="T1"/>
                </a:cxn>
                <a:cxn ang="0">
                  <a:pos x="T2" y="T3"/>
                </a:cxn>
                <a:cxn ang="0">
                  <a:pos x="T4" y="T5"/>
                </a:cxn>
                <a:cxn ang="0">
                  <a:pos x="T6" y="T7"/>
                </a:cxn>
              </a:cxnLst>
              <a:rect l="0" t="0" r="r" b="b"/>
              <a:pathLst>
                <a:path w="768" h="1008">
                  <a:moveTo>
                    <a:pt x="0" y="0"/>
                  </a:moveTo>
                  <a:lnTo>
                    <a:pt x="0" y="1008"/>
                  </a:lnTo>
                  <a:lnTo>
                    <a:pt x="767" y="1003"/>
                  </a:lnTo>
                  <a:lnTo>
                    <a:pt x="768" y="0"/>
                  </a:lnTo>
                </a:path>
              </a:pathLst>
            </a:custGeom>
            <a:solidFill>
              <a:schemeClr val="accent6">
                <a:lumMod val="60000"/>
                <a:lumOff val="40000"/>
              </a:schemeClr>
            </a:solidFill>
            <a:ln w="19050" cmpd="sng">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58" name="Group 50"/>
            <p:cNvGrpSpPr>
              <a:grpSpLocks/>
            </p:cNvGrpSpPr>
            <p:nvPr/>
          </p:nvGrpSpPr>
          <p:grpSpPr bwMode="auto">
            <a:xfrm>
              <a:off x="4315228" y="1766477"/>
              <a:ext cx="281851" cy="220440"/>
              <a:chOff x="2400" y="1518"/>
              <a:chExt cx="768" cy="720"/>
            </a:xfrm>
          </p:grpSpPr>
          <p:sp>
            <p:nvSpPr>
              <p:cNvPr id="83" name="Oval 51"/>
              <p:cNvSpPr>
                <a:spLocks noChangeArrowheads="1"/>
              </p:cNvSpPr>
              <p:nvPr/>
            </p:nvSpPr>
            <p:spPr bwMode="auto">
              <a:xfrm>
                <a:off x="2400" y="2094"/>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4" name="Oval 52"/>
              <p:cNvSpPr>
                <a:spLocks noChangeArrowheads="1"/>
              </p:cNvSpPr>
              <p:nvPr/>
            </p:nvSpPr>
            <p:spPr bwMode="auto">
              <a:xfrm>
                <a:off x="2400" y="1902"/>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5" name="Oval 53"/>
              <p:cNvSpPr>
                <a:spLocks noChangeArrowheads="1"/>
              </p:cNvSpPr>
              <p:nvPr/>
            </p:nvSpPr>
            <p:spPr bwMode="auto">
              <a:xfrm>
                <a:off x="2400" y="1710"/>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Oval 54"/>
              <p:cNvSpPr>
                <a:spLocks noChangeArrowheads="1"/>
              </p:cNvSpPr>
              <p:nvPr/>
            </p:nvSpPr>
            <p:spPr bwMode="auto">
              <a:xfrm>
                <a:off x="2400" y="1518"/>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sp>
          <p:nvSpPr>
            <p:cNvPr id="59" name="Freeform 55"/>
            <p:cNvSpPr>
              <a:spLocks/>
            </p:cNvSpPr>
            <p:nvPr/>
          </p:nvSpPr>
          <p:spPr bwMode="auto">
            <a:xfrm>
              <a:off x="4102797" y="1626780"/>
              <a:ext cx="355439" cy="135853"/>
            </a:xfrm>
            <a:custGeom>
              <a:avLst/>
              <a:gdLst>
                <a:gd name="T0" fmla="*/ 0 w 900"/>
                <a:gd name="T1" fmla="*/ 0 h 452"/>
                <a:gd name="T2" fmla="*/ 220 w 900"/>
                <a:gd name="T3" fmla="*/ 8 h 452"/>
                <a:gd name="T4" fmla="*/ 396 w 900"/>
                <a:gd name="T5" fmla="*/ 24 h 452"/>
                <a:gd name="T6" fmla="*/ 612 w 900"/>
                <a:gd name="T7" fmla="*/ 76 h 452"/>
                <a:gd name="T8" fmla="*/ 808 w 900"/>
                <a:gd name="T9" fmla="*/ 208 h 452"/>
                <a:gd name="T10" fmla="*/ 900 w 900"/>
                <a:gd name="T11" fmla="*/ 452 h 452"/>
              </a:gdLst>
              <a:ahLst/>
              <a:cxnLst>
                <a:cxn ang="0">
                  <a:pos x="T0" y="T1"/>
                </a:cxn>
                <a:cxn ang="0">
                  <a:pos x="T2" y="T3"/>
                </a:cxn>
                <a:cxn ang="0">
                  <a:pos x="T4" y="T5"/>
                </a:cxn>
                <a:cxn ang="0">
                  <a:pos x="T6" y="T7"/>
                </a:cxn>
                <a:cxn ang="0">
                  <a:pos x="T8" y="T9"/>
                </a:cxn>
                <a:cxn ang="0">
                  <a:pos x="T10" y="T11"/>
                </a:cxn>
              </a:cxnLst>
              <a:rect l="0" t="0" r="r" b="b"/>
              <a:pathLst>
                <a:path w="900" h="452">
                  <a:moveTo>
                    <a:pt x="0" y="0"/>
                  </a:moveTo>
                  <a:cubicBezTo>
                    <a:pt x="37" y="1"/>
                    <a:pt x="154" y="4"/>
                    <a:pt x="220" y="8"/>
                  </a:cubicBezTo>
                  <a:cubicBezTo>
                    <a:pt x="286" y="12"/>
                    <a:pt x="331" y="13"/>
                    <a:pt x="396" y="24"/>
                  </a:cubicBezTo>
                  <a:cubicBezTo>
                    <a:pt x="461" y="35"/>
                    <a:pt x="543" y="45"/>
                    <a:pt x="612" y="76"/>
                  </a:cubicBezTo>
                  <a:cubicBezTo>
                    <a:pt x="681" y="107"/>
                    <a:pt x="760" y="145"/>
                    <a:pt x="808" y="208"/>
                  </a:cubicBezTo>
                  <a:cubicBezTo>
                    <a:pt x="856" y="271"/>
                    <a:pt x="881" y="401"/>
                    <a:pt x="900" y="452"/>
                  </a:cubicBezTo>
                </a:path>
              </a:pathLst>
            </a:custGeom>
            <a:noFill/>
            <a:ln w="19050" cmpd="sng">
              <a:solidFill>
                <a:srgbClr val="000099"/>
              </a:solidFill>
              <a:round/>
              <a:headEnd type="none" w="sm" len="med"/>
              <a:tailEnd type="triangle" w="sm"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0" name="Text Box 56"/>
            <p:cNvSpPr txBox="1">
              <a:spLocks noChangeArrowheads="1"/>
            </p:cNvSpPr>
            <p:nvPr/>
          </p:nvSpPr>
          <p:spPr bwMode="auto">
            <a:xfrm>
              <a:off x="4541749" y="1703678"/>
              <a:ext cx="378629" cy="3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en-US" altLang="zh-CN" sz="1400" b="1" i="1">
                  <a:latin typeface="微软雅黑" pitchFamily="34" charset="-122"/>
                  <a:ea typeface="微软雅黑" pitchFamily="34" charset="-122"/>
                </a:rPr>
                <a:t>b</a:t>
              </a:r>
              <a:r>
                <a:rPr kumimoji="1" lang="en-US" altLang="zh-CN" sz="1400" b="1" baseline="-25000">
                  <a:latin typeface="微软雅黑" pitchFamily="34" charset="-122"/>
                  <a:ea typeface="微软雅黑" pitchFamily="34" charset="-122"/>
                </a:rPr>
                <a:t>1</a:t>
              </a:r>
            </a:p>
          </p:txBody>
        </p:sp>
        <p:sp>
          <p:nvSpPr>
            <p:cNvPr id="61" name="Text Box 57"/>
            <p:cNvSpPr txBox="1">
              <a:spLocks noChangeArrowheads="1"/>
            </p:cNvSpPr>
            <p:nvPr/>
          </p:nvSpPr>
          <p:spPr bwMode="auto">
            <a:xfrm>
              <a:off x="3795454" y="1433253"/>
              <a:ext cx="333745" cy="3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en-US" altLang="zh-CN" sz="1400" b="1" i="1" dirty="0">
                  <a:latin typeface="微软雅黑" pitchFamily="34" charset="-122"/>
                  <a:ea typeface="微软雅黑" pitchFamily="34" charset="-122"/>
                </a:rPr>
                <a:t>r</a:t>
              </a:r>
              <a:r>
                <a:rPr kumimoji="1" lang="en-US" altLang="zh-CN" sz="1400" b="1" baseline="-25000" dirty="0">
                  <a:latin typeface="微软雅黑" pitchFamily="34" charset="-122"/>
                  <a:ea typeface="微软雅黑" pitchFamily="34" charset="-122"/>
                </a:rPr>
                <a:t>1</a:t>
              </a:r>
            </a:p>
          </p:txBody>
        </p:sp>
        <p:sp>
          <p:nvSpPr>
            <p:cNvPr id="62" name="Line 58"/>
            <p:cNvSpPr>
              <a:spLocks noChangeShapeType="1"/>
            </p:cNvSpPr>
            <p:nvPr/>
          </p:nvSpPr>
          <p:spPr bwMode="auto">
            <a:xfrm rot="5400000" flipH="1">
              <a:off x="4806733" y="2183967"/>
              <a:ext cx="0" cy="308232"/>
            </a:xfrm>
            <a:prstGeom prst="line">
              <a:avLst/>
            </a:prstGeom>
            <a:noFill/>
            <a:ln w="1905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3" name="Line 59"/>
            <p:cNvSpPr>
              <a:spLocks noChangeShapeType="1"/>
            </p:cNvSpPr>
            <p:nvPr/>
          </p:nvSpPr>
          <p:spPr bwMode="auto">
            <a:xfrm rot="10800000" flipH="1">
              <a:off x="4441575" y="1999733"/>
              <a:ext cx="0" cy="160204"/>
            </a:xfrm>
            <a:prstGeom prst="line">
              <a:avLst/>
            </a:prstGeom>
            <a:noFill/>
            <a:ln w="19050">
              <a:solidFill>
                <a:srgbClr val="000099"/>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4" name="AutoShape 60"/>
            <p:cNvSpPr>
              <a:spLocks noChangeArrowheads="1"/>
            </p:cNvSpPr>
            <p:nvPr/>
          </p:nvSpPr>
          <p:spPr bwMode="auto">
            <a:xfrm>
              <a:off x="4204154" y="3259575"/>
              <a:ext cx="474844" cy="369109"/>
            </a:xfrm>
            <a:prstGeom prst="diamond">
              <a:avLst/>
            </a:prstGeom>
            <a:solidFill>
              <a:srgbClr val="00FF00"/>
            </a:solidFill>
            <a:ln w="1905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1400" b="1">
                <a:latin typeface="微软雅黑" pitchFamily="34" charset="-122"/>
                <a:ea typeface="微软雅黑" pitchFamily="34" charset="-122"/>
              </a:endParaRPr>
            </a:p>
          </p:txBody>
        </p:sp>
        <p:sp>
          <p:nvSpPr>
            <p:cNvPr id="65" name="Line 61"/>
            <p:cNvSpPr>
              <a:spLocks noChangeShapeType="1"/>
            </p:cNvSpPr>
            <p:nvPr/>
          </p:nvSpPr>
          <p:spPr bwMode="auto">
            <a:xfrm rot="5400000" flipH="1">
              <a:off x="4036847" y="3253435"/>
              <a:ext cx="0" cy="376265"/>
            </a:xfrm>
            <a:prstGeom prst="line">
              <a:avLst/>
            </a:prstGeom>
            <a:noFill/>
            <a:ln w="1905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6" name="Line 62"/>
            <p:cNvSpPr>
              <a:spLocks noChangeShapeType="1"/>
            </p:cNvSpPr>
            <p:nvPr/>
          </p:nvSpPr>
          <p:spPr bwMode="auto">
            <a:xfrm>
              <a:off x="3716813" y="3263421"/>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7" name="Line 63"/>
            <p:cNvSpPr>
              <a:spLocks noChangeShapeType="1"/>
            </p:cNvSpPr>
            <p:nvPr/>
          </p:nvSpPr>
          <p:spPr bwMode="auto">
            <a:xfrm>
              <a:off x="3577969" y="3263421"/>
              <a:ext cx="0" cy="36654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8" name="Line 64"/>
            <p:cNvSpPr>
              <a:spLocks noChangeShapeType="1"/>
            </p:cNvSpPr>
            <p:nvPr/>
          </p:nvSpPr>
          <p:spPr bwMode="auto">
            <a:xfrm rot="5400000" flipH="1">
              <a:off x="4806733" y="3290014"/>
              <a:ext cx="0" cy="308232"/>
            </a:xfrm>
            <a:prstGeom prst="line">
              <a:avLst/>
            </a:prstGeom>
            <a:noFill/>
            <a:ln w="1905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9" name="Line 65"/>
            <p:cNvSpPr>
              <a:spLocks noChangeShapeType="1"/>
            </p:cNvSpPr>
            <p:nvPr/>
          </p:nvSpPr>
          <p:spPr bwMode="auto">
            <a:xfrm rot="10800000" flipH="1">
              <a:off x="4441575" y="3105781"/>
              <a:ext cx="0" cy="160203"/>
            </a:xfrm>
            <a:prstGeom prst="line">
              <a:avLst/>
            </a:prstGeom>
            <a:noFill/>
            <a:ln w="19050">
              <a:solidFill>
                <a:srgbClr val="000099"/>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Freeform 67"/>
            <p:cNvSpPr>
              <a:spLocks/>
            </p:cNvSpPr>
            <p:nvPr/>
          </p:nvSpPr>
          <p:spPr bwMode="auto">
            <a:xfrm>
              <a:off x="4306898" y="2790500"/>
              <a:ext cx="286017" cy="319125"/>
            </a:xfrm>
            <a:custGeom>
              <a:avLst/>
              <a:gdLst>
                <a:gd name="T0" fmla="*/ 0 w 768"/>
                <a:gd name="T1" fmla="*/ 0 h 1008"/>
                <a:gd name="T2" fmla="*/ 0 w 768"/>
                <a:gd name="T3" fmla="*/ 1008 h 1008"/>
                <a:gd name="T4" fmla="*/ 767 w 768"/>
                <a:gd name="T5" fmla="*/ 1003 h 1008"/>
                <a:gd name="T6" fmla="*/ 768 w 768"/>
                <a:gd name="T7" fmla="*/ 0 h 1008"/>
              </a:gdLst>
              <a:ahLst/>
              <a:cxnLst>
                <a:cxn ang="0">
                  <a:pos x="T0" y="T1"/>
                </a:cxn>
                <a:cxn ang="0">
                  <a:pos x="T2" y="T3"/>
                </a:cxn>
                <a:cxn ang="0">
                  <a:pos x="T4" y="T5"/>
                </a:cxn>
                <a:cxn ang="0">
                  <a:pos x="T6" y="T7"/>
                </a:cxn>
              </a:cxnLst>
              <a:rect l="0" t="0" r="r" b="b"/>
              <a:pathLst>
                <a:path w="768" h="1008">
                  <a:moveTo>
                    <a:pt x="0" y="0"/>
                  </a:moveTo>
                  <a:lnTo>
                    <a:pt x="0" y="1008"/>
                  </a:lnTo>
                  <a:lnTo>
                    <a:pt x="767" y="1003"/>
                  </a:lnTo>
                  <a:lnTo>
                    <a:pt x="768" y="0"/>
                  </a:lnTo>
                </a:path>
              </a:pathLst>
            </a:custGeom>
            <a:solidFill>
              <a:schemeClr val="accent6">
                <a:lumMod val="60000"/>
                <a:lumOff val="40000"/>
              </a:schemeClr>
            </a:solidFill>
            <a:ln w="19050" cmpd="sng">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71" name="Group 68"/>
            <p:cNvGrpSpPr>
              <a:grpSpLocks/>
            </p:cNvGrpSpPr>
            <p:nvPr/>
          </p:nvGrpSpPr>
          <p:grpSpPr bwMode="auto">
            <a:xfrm>
              <a:off x="4315228" y="2875087"/>
              <a:ext cx="281851" cy="220440"/>
              <a:chOff x="2400" y="1518"/>
              <a:chExt cx="768" cy="720"/>
            </a:xfrm>
          </p:grpSpPr>
          <p:sp>
            <p:nvSpPr>
              <p:cNvPr id="79" name="Oval 69"/>
              <p:cNvSpPr>
                <a:spLocks noChangeArrowheads="1"/>
              </p:cNvSpPr>
              <p:nvPr/>
            </p:nvSpPr>
            <p:spPr bwMode="auto">
              <a:xfrm>
                <a:off x="2400" y="2094"/>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0" name="Oval 70"/>
              <p:cNvSpPr>
                <a:spLocks noChangeArrowheads="1"/>
              </p:cNvSpPr>
              <p:nvPr/>
            </p:nvSpPr>
            <p:spPr bwMode="auto">
              <a:xfrm>
                <a:off x="2400" y="1902"/>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1" name="Oval 71"/>
              <p:cNvSpPr>
                <a:spLocks noChangeArrowheads="1"/>
              </p:cNvSpPr>
              <p:nvPr/>
            </p:nvSpPr>
            <p:spPr bwMode="auto">
              <a:xfrm>
                <a:off x="2400" y="1710"/>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2" name="Oval 72"/>
              <p:cNvSpPr>
                <a:spLocks noChangeArrowheads="1"/>
              </p:cNvSpPr>
              <p:nvPr/>
            </p:nvSpPr>
            <p:spPr bwMode="auto">
              <a:xfrm>
                <a:off x="2400" y="1518"/>
                <a:ext cx="768" cy="144"/>
              </a:xfrm>
              <a:prstGeom prst="ellipse">
                <a:avLst/>
              </a:prstGeom>
              <a:solidFill>
                <a:srgbClr val="3333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sp>
          <p:nvSpPr>
            <p:cNvPr id="72" name="Freeform 73"/>
            <p:cNvSpPr>
              <a:spLocks/>
            </p:cNvSpPr>
            <p:nvPr/>
          </p:nvSpPr>
          <p:spPr bwMode="auto">
            <a:xfrm>
              <a:off x="4102797" y="2735389"/>
              <a:ext cx="355439" cy="135853"/>
            </a:xfrm>
            <a:custGeom>
              <a:avLst/>
              <a:gdLst>
                <a:gd name="T0" fmla="*/ 0 w 900"/>
                <a:gd name="T1" fmla="*/ 0 h 452"/>
                <a:gd name="T2" fmla="*/ 220 w 900"/>
                <a:gd name="T3" fmla="*/ 8 h 452"/>
                <a:gd name="T4" fmla="*/ 396 w 900"/>
                <a:gd name="T5" fmla="*/ 24 h 452"/>
                <a:gd name="T6" fmla="*/ 612 w 900"/>
                <a:gd name="T7" fmla="*/ 76 h 452"/>
                <a:gd name="T8" fmla="*/ 808 w 900"/>
                <a:gd name="T9" fmla="*/ 208 h 452"/>
                <a:gd name="T10" fmla="*/ 900 w 900"/>
                <a:gd name="T11" fmla="*/ 452 h 452"/>
              </a:gdLst>
              <a:ahLst/>
              <a:cxnLst>
                <a:cxn ang="0">
                  <a:pos x="T0" y="T1"/>
                </a:cxn>
                <a:cxn ang="0">
                  <a:pos x="T2" y="T3"/>
                </a:cxn>
                <a:cxn ang="0">
                  <a:pos x="T4" y="T5"/>
                </a:cxn>
                <a:cxn ang="0">
                  <a:pos x="T6" y="T7"/>
                </a:cxn>
                <a:cxn ang="0">
                  <a:pos x="T8" y="T9"/>
                </a:cxn>
                <a:cxn ang="0">
                  <a:pos x="T10" y="T11"/>
                </a:cxn>
              </a:cxnLst>
              <a:rect l="0" t="0" r="r" b="b"/>
              <a:pathLst>
                <a:path w="900" h="452">
                  <a:moveTo>
                    <a:pt x="0" y="0"/>
                  </a:moveTo>
                  <a:cubicBezTo>
                    <a:pt x="37" y="1"/>
                    <a:pt x="154" y="4"/>
                    <a:pt x="220" y="8"/>
                  </a:cubicBezTo>
                  <a:cubicBezTo>
                    <a:pt x="286" y="12"/>
                    <a:pt x="331" y="13"/>
                    <a:pt x="396" y="24"/>
                  </a:cubicBezTo>
                  <a:cubicBezTo>
                    <a:pt x="461" y="35"/>
                    <a:pt x="543" y="45"/>
                    <a:pt x="612" y="76"/>
                  </a:cubicBezTo>
                  <a:cubicBezTo>
                    <a:pt x="681" y="107"/>
                    <a:pt x="760" y="145"/>
                    <a:pt x="808" y="208"/>
                  </a:cubicBezTo>
                  <a:cubicBezTo>
                    <a:pt x="856" y="271"/>
                    <a:pt x="881" y="401"/>
                    <a:pt x="900" y="452"/>
                  </a:cubicBezTo>
                </a:path>
              </a:pathLst>
            </a:custGeom>
            <a:noFill/>
            <a:ln w="19050" cmpd="sng">
              <a:solidFill>
                <a:srgbClr val="000099"/>
              </a:solidFill>
              <a:round/>
              <a:headEnd type="none" w="sm" len="med"/>
              <a:tailEnd type="triangle" w="sm"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3" name="Text Box 74"/>
            <p:cNvSpPr txBox="1">
              <a:spLocks noChangeArrowheads="1"/>
            </p:cNvSpPr>
            <p:nvPr/>
          </p:nvSpPr>
          <p:spPr bwMode="auto">
            <a:xfrm>
              <a:off x="4540145" y="2812287"/>
              <a:ext cx="381835" cy="3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en-US" altLang="zh-CN" sz="1400" b="1" i="1">
                  <a:latin typeface="微软雅黑" pitchFamily="34" charset="-122"/>
                  <a:ea typeface="微软雅黑" pitchFamily="34" charset="-122"/>
                </a:rPr>
                <a:t>b</a:t>
              </a:r>
              <a:r>
                <a:rPr kumimoji="1" lang="en-US" altLang="zh-CN" sz="1400" b="1" i="1" baseline="-25000">
                  <a:latin typeface="微软雅黑" pitchFamily="34" charset="-122"/>
                  <a:ea typeface="微软雅黑" pitchFamily="34" charset="-122"/>
                </a:rPr>
                <a:t>n</a:t>
              </a:r>
            </a:p>
          </p:txBody>
        </p:sp>
        <p:sp>
          <p:nvSpPr>
            <p:cNvPr id="74" name="Text Box 75"/>
            <p:cNvSpPr txBox="1">
              <a:spLocks noChangeArrowheads="1"/>
            </p:cNvSpPr>
            <p:nvPr/>
          </p:nvSpPr>
          <p:spPr bwMode="auto">
            <a:xfrm>
              <a:off x="3793627" y="2541863"/>
              <a:ext cx="337400" cy="30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5000"/>
                </a:lnSpc>
              </a:pPr>
              <a:r>
                <a:rPr kumimoji="1" lang="en-US" altLang="zh-CN" sz="1400" b="1" i="1">
                  <a:latin typeface="微软雅黑" pitchFamily="34" charset="-122"/>
                  <a:ea typeface="微软雅黑" pitchFamily="34" charset="-122"/>
                </a:rPr>
                <a:t>r</a:t>
              </a:r>
              <a:r>
                <a:rPr kumimoji="1" lang="en-US" altLang="zh-CN" sz="1400" b="1" i="1" baseline="-25000">
                  <a:latin typeface="微软雅黑" pitchFamily="34" charset="-122"/>
                  <a:ea typeface="微软雅黑" pitchFamily="34" charset="-122"/>
                </a:rPr>
                <a:t>n</a:t>
              </a:r>
            </a:p>
          </p:txBody>
        </p:sp>
        <p:sp>
          <p:nvSpPr>
            <p:cNvPr id="75" name="Text Box 76"/>
            <p:cNvSpPr txBox="1">
              <a:spLocks noChangeArrowheads="1"/>
            </p:cNvSpPr>
            <p:nvPr/>
          </p:nvSpPr>
          <p:spPr bwMode="auto">
            <a:xfrm rot="16200000">
              <a:off x="3030661" y="2608349"/>
              <a:ext cx="5309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latin typeface="微软雅黑" pitchFamily="34" charset="-122"/>
                  <a:ea typeface="微软雅黑" pitchFamily="34" charset="-122"/>
                </a:rPr>
                <a:t>…</a:t>
              </a:r>
            </a:p>
          </p:txBody>
        </p:sp>
        <p:sp>
          <p:nvSpPr>
            <p:cNvPr id="76" name="Text Box 77"/>
            <p:cNvSpPr txBox="1">
              <a:spLocks noChangeArrowheads="1"/>
            </p:cNvSpPr>
            <p:nvPr/>
          </p:nvSpPr>
          <p:spPr bwMode="auto">
            <a:xfrm>
              <a:off x="2433901" y="3303680"/>
              <a:ext cx="8247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0000FF"/>
                  </a:solidFill>
                  <a:latin typeface="微软雅黑" pitchFamily="34" charset="-122"/>
                  <a:ea typeface="微软雅黑" pitchFamily="34" charset="-122"/>
                </a:rPr>
                <a:t>队列 </a:t>
              </a:r>
              <a:r>
                <a:rPr kumimoji="1" lang="en-US" altLang="zh-CN" sz="1400" b="1" i="1" dirty="0">
                  <a:solidFill>
                    <a:srgbClr val="0000FF"/>
                  </a:solidFill>
                  <a:latin typeface="微软雅黑" pitchFamily="34" charset="-122"/>
                  <a:ea typeface="微软雅黑" pitchFamily="34" charset="-122"/>
                </a:rPr>
                <a:t>n</a:t>
              </a:r>
              <a:endParaRPr kumimoji="1" lang="en-US" altLang="zh-CN" sz="1400" b="1" i="1" baseline="-25000" dirty="0">
                <a:solidFill>
                  <a:srgbClr val="0000FF"/>
                </a:solidFill>
                <a:latin typeface="微软雅黑" pitchFamily="34" charset="-122"/>
                <a:ea typeface="微软雅黑" pitchFamily="34" charset="-122"/>
              </a:endParaRPr>
            </a:p>
          </p:txBody>
        </p:sp>
        <p:sp>
          <p:nvSpPr>
            <p:cNvPr id="77" name="Line 78"/>
            <p:cNvSpPr>
              <a:spLocks noChangeShapeType="1"/>
            </p:cNvSpPr>
            <p:nvPr/>
          </p:nvSpPr>
          <p:spPr bwMode="auto">
            <a:xfrm>
              <a:off x="1246791" y="2891747"/>
              <a:ext cx="7400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7" name="Line 26"/>
            <p:cNvSpPr>
              <a:spLocks noChangeShapeType="1"/>
            </p:cNvSpPr>
            <p:nvPr/>
          </p:nvSpPr>
          <p:spPr bwMode="auto">
            <a:xfrm rot="20256324" flipV="1">
              <a:off x="2358040" y="2520009"/>
              <a:ext cx="894472" cy="20391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8" name="Line 27"/>
            <p:cNvSpPr>
              <a:spLocks noChangeShapeType="1"/>
            </p:cNvSpPr>
            <p:nvPr/>
          </p:nvSpPr>
          <p:spPr bwMode="auto">
            <a:xfrm rot="1343676">
              <a:off x="2364700" y="3076587"/>
              <a:ext cx="893087" cy="190503"/>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
        <p:nvSpPr>
          <p:cNvPr id="6" name="矩形 5"/>
          <p:cNvSpPr/>
          <p:nvPr/>
        </p:nvSpPr>
        <p:spPr>
          <a:xfrm>
            <a:off x="1057235" y="3988616"/>
            <a:ext cx="7071359" cy="39735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ts val="2600"/>
              </a:lnSpc>
            </a:pPr>
            <a:r>
              <a:rPr lang="zh-CN" altLang="en-US" b="1" dirty="0">
                <a:solidFill>
                  <a:schemeClr val="dk1"/>
                </a:solidFill>
                <a:latin typeface="微软雅黑" pitchFamily="34" charset="-122"/>
                <a:ea typeface="微软雅黑" pitchFamily="34" charset="-122"/>
              </a:rPr>
              <a:t>把漏桶机制与加权公平排队结合起来，可以控制队列中的</a:t>
            </a:r>
            <a:r>
              <a:rPr lang="zh-CN" altLang="en-US" b="1" dirty="0">
                <a:solidFill>
                  <a:srgbClr val="C00000"/>
                </a:solidFill>
                <a:latin typeface="微软雅黑" pitchFamily="34" charset="-122"/>
                <a:ea typeface="微软雅黑" pitchFamily="34" charset="-122"/>
              </a:rPr>
              <a:t>最大时延。</a:t>
            </a:r>
          </a:p>
        </p:txBody>
      </p:sp>
      <p:sp>
        <p:nvSpPr>
          <p:cNvPr id="78" name="Text Box 79"/>
          <p:cNvSpPr txBox="1">
            <a:spLocks noChangeArrowheads="1"/>
          </p:cNvSpPr>
          <p:nvPr/>
        </p:nvSpPr>
        <p:spPr bwMode="auto">
          <a:xfrm>
            <a:off x="6331205" y="1331640"/>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路由器</a:t>
            </a:r>
          </a:p>
        </p:txBody>
      </p:sp>
    </p:spTree>
    <p:extLst>
      <p:ext uri="{BB962C8B-B14F-4D97-AF65-F5344CB8AC3E}">
        <p14:creationId xmlns:p14="http://schemas.microsoft.com/office/powerpoint/2010/main" val="3445041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74748"/>
            <a:ext cx="812901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假定：有 </a:t>
            </a:r>
            <a:r>
              <a:rPr lang="en-US" altLang="zh-CN" b="1" i="1" dirty="0">
                <a:latin typeface="微软雅黑" pitchFamily="34" charset="-122"/>
                <a:ea typeface="微软雅黑" pitchFamily="34" charset="-122"/>
              </a:rPr>
              <a:t>n</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个分组流输入到一个路由器，复用后从一条链路输出。每一个分组流使用漏桶机制进行管制，漏桶参数为</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和 </a:t>
            </a:r>
            <a:r>
              <a:rPr lang="en-US" altLang="zh-CN" b="1" i="1" dirty="0">
                <a:latin typeface="微软雅黑" pitchFamily="34" charset="-122"/>
                <a:ea typeface="微软雅黑" pitchFamily="34" charset="-122"/>
              </a:rPr>
              <a:t>r</a:t>
            </a:r>
            <a:r>
              <a:rPr lang="en-US" altLang="zh-CN" b="1" i="1" baseline="-25000" dirty="0">
                <a:latin typeface="微软雅黑" pitchFamily="34" charset="-122"/>
                <a:ea typeface="微软雅黑" pitchFamily="34" charset="-122"/>
              </a:rPr>
              <a:t>i</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 = 1, 2, …, </a:t>
            </a:r>
            <a:r>
              <a:rPr lang="en-US" altLang="zh-CN" b="1" i="1" dirty="0">
                <a:latin typeface="微软雅黑" pitchFamily="34" charset="-122"/>
                <a:ea typeface="微软雅黑" pitchFamily="34" charset="-122"/>
              </a:rPr>
              <a:t>n</a:t>
            </a:r>
            <a:r>
              <a:rPr lang="zh-CN" altLang="en-US" b="1" dirty="0">
                <a:latin typeface="微软雅黑" pitchFamily="34" charset="-122"/>
                <a:ea typeface="微软雅黑" pitchFamily="34" charset="-122"/>
              </a:rPr>
              <a:t>。</a:t>
            </a:r>
          </a:p>
          <a:p>
            <a:pPr marL="342900" indent="-342900" eaLnBrk="0" hangingPunct="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设：漏桶</a:t>
            </a:r>
            <a:r>
              <a:rPr lang="zh-CN" altLang="en-US" b="1" i="1" dirty="0">
                <a:latin typeface="微软雅黑" pitchFamily="34" charset="-122"/>
                <a:ea typeface="微软雅黑" pitchFamily="34" charset="-122"/>
              </a:rPr>
              <a:t> </a:t>
            </a:r>
            <a:r>
              <a:rPr lang="en-US" altLang="zh-CN" b="1" i="1" dirty="0">
                <a:latin typeface="Times New Roman" panose="02020603050405020304" pitchFamily="18" charset="0"/>
                <a:ea typeface="微软雅黑" pitchFamily="34" charset="-122"/>
                <a:cs typeface="Times New Roman" panose="02020603050405020304" pitchFamily="18" charset="0"/>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已装满了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个权标。因此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个分组可马上从路由器输出。</a:t>
            </a:r>
            <a:endParaRPr lang="en-US" altLang="zh-CN"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分组流</a:t>
            </a:r>
            <a:r>
              <a:rPr lang="zh-CN" altLang="en-US" b="1" i="1" dirty="0">
                <a:latin typeface="微软雅黑" pitchFamily="34" charset="-122"/>
                <a:ea typeface="微软雅黑" pitchFamily="34" charset="-122"/>
              </a:rPr>
              <a:t> </a:t>
            </a:r>
            <a:r>
              <a:rPr lang="en-US" altLang="zh-CN" b="1" i="1" dirty="0">
                <a:latin typeface="Times New Roman" panose="02020603050405020304" pitchFamily="18" charset="0"/>
                <a:ea typeface="微软雅黑" pitchFamily="34" charset="-122"/>
                <a:cs typeface="Times New Roman" panose="02020603050405020304" pitchFamily="18" charset="0"/>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得到的带宽是由公式 </a:t>
            </a:r>
            <a:r>
              <a:rPr lang="en-US" altLang="zh-CN" b="1" dirty="0">
                <a:solidFill>
                  <a:srgbClr val="0000FF"/>
                </a:solidFill>
                <a:latin typeface="微软雅黑" pitchFamily="34" charset="-122"/>
                <a:ea typeface="微软雅黑" pitchFamily="34" charset="-122"/>
              </a:rPr>
              <a:t>(8-1) </a:t>
            </a:r>
            <a:r>
              <a:rPr lang="zh-CN" altLang="en-US" b="1" dirty="0">
                <a:latin typeface="微软雅黑" pitchFamily="34" charset="-122"/>
                <a:ea typeface="微软雅黑" pitchFamily="34" charset="-122"/>
              </a:rPr>
              <a:t>给出。这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个分组中的最后一个分组所经受的</a:t>
            </a:r>
            <a:r>
              <a:rPr lang="zh-CN" altLang="en-US" b="1" dirty="0">
                <a:solidFill>
                  <a:srgbClr val="C00000"/>
                </a:solidFill>
                <a:latin typeface="微软雅黑" pitchFamily="34" charset="-122"/>
                <a:ea typeface="微软雅黑" pitchFamily="34" charset="-122"/>
              </a:rPr>
              <a:t>时延最大，</a:t>
            </a:r>
            <a:r>
              <a:rPr lang="zh-CN" altLang="en-US" b="1" dirty="0">
                <a:latin typeface="微软雅黑" pitchFamily="34" charset="-122"/>
                <a:ea typeface="微软雅黑" pitchFamily="34" charset="-122"/>
              </a:rPr>
              <a:t>它等于传输这</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个分组所需的时间 </a:t>
            </a:r>
            <a:r>
              <a:rPr lang="en-US" altLang="zh-CN" b="1" i="1" dirty="0" err="1">
                <a:latin typeface="微软雅黑" pitchFamily="34" charset="-122"/>
                <a:ea typeface="微软雅黑" pitchFamily="34" charset="-122"/>
              </a:rPr>
              <a:t>d</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，即</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b</a:t>
            </a:r>
            <a:r>
              <a:rPr lang="en-US" altLang="zh-CN" b="1" i="1" baseline="-25000" dirty="0">
                <a:latin typeface="微软雅黑" pitchFamily="34" charset="-122"/>
                <a:ea typeface="微软雅黑" pitchFamily="34" charset="-122"/>
              </a:rPr>
              <a:t>i</a:t>
            </a:r>
            <a:r>
              <a:rPr lang="en-US" altLang="zh-CN" b="1" i="1" dirty="0">
                <a:latin typeface="微软雅黑" pitchFamily="34" charset="-122"/>
                <a:ea typeface="微软雅黑" pitchFamily="34" charset="-122"/>
              </a:rPr>
              <a:t> </a:t>
            </a:r>
            <a:r>
              <a:rPr lang="zh-CN" altLang="en-US" b="1" dirty="0">
                <a:latin typeface="微软雅黑" pitchFamily="34" charset="-122"/>
                <a:ea typeface="微软雅黑" pitchFamily="34" charset="-122"/>
              </a:rPr>
              <a:t>除以公式 </a:t>
            </a:r>
            <a:r>
              <a:rPr lang="en-US" altLang="zh-CN" b="1" dirty="0">
                <a:latin typeface="微软雅黑" pitchFamily="34" charset="-122"/>
                <a:ea typeface="微软雅黑" pitchFamily="34" charset="-122"/>
              </a:rPr>
              <a:t>(8-1) </a:t>
            </a:r>
            <a:r>
              <a:rPr lang="zh-CN" altLang="en-US" b="1" dirty="0">
                <a:latin typeface="微软雅黑" pitchFamily="34" charset="-122"/>
                <a:ea typeface="微软雅黑" pitchFamily="34" charset="-122"/>
              </a:rPr>
              <a:t>给出的传输速率： </a:t>
            </a:r>
          </a:p>
        </p:txBody>
      </p:sp>
      <p:sp>
        <p:nvSpPr>
          <p:cNvPr id="3" name="AutoShape 5"/>
          <p:cNvSpPr>
            <a:spLocks noChangeArrowheads="1"/>
          </p:cNvSpPr>
          <p:nvPr/>
        </p:nvSpPr>
        <p:spPr bwMode="auto">
          <a:xfrm>
            <a:off x="511897" y="6090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2503683" y="585960"/>
            <a:ext cx="41617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漏桶机制与加权公平排队相结合 </a:t>
            </a:r>
          </a:p>
        </p:txBody>
      </p:sp>
      <p:grpSp>
        <p:nvGrpSpPr>
          <p:cNvPr id="12" name="组合 11"/>
          <p:cNvGrpSpPr/>
          <p:nvPr/>
        </p:nvGrpSpPr>
        <p:grpSpPr>
          <a:xfrm>
            <a:off x="1158240" y="3408895"/>
            <a:ext cx="6705600" cy="827426"/>
            <a:chOff x="1222471" y="3544639"/>
            <a:chExt cx="6705600" cy="827426"/>
          </a:xfrm>
        </p:grpSpPr>
        <p:sp>
          <p:nvSpPr>
            <p:cNvPr id="9" name="矩形 8"/>
            <p:cNvSpPr/>
            <p:nvPr/>
          </p:nvSpPr>
          <p:spPr>
            <a:xfrm>
              <a:off x="1222471" y="3546565"/>
              <a:ext cx="6705600" cy="825500"/>
            </a:xfrm>
            <a:prstGeom prst="rect">
              <a:avLst/>
            </a:prstGeom>
            <a:solidFill>
              <a:srgbClr val="FFFF99"/>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 Box 6"/>
            <p:cNvSpPr txBox="1">
              <a:spLocks noChangeArrowheads="1"/>
            </p:cNvSpPr>
            <p:nvPr/>
          </p:nvSpPr>
          <p:spPr bwMode="auto">
            <a:xfrm>
              <a:off x="6643142" y="3720383"/>
              <a:ext cx="1115324" cy="469542"/>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a:solidFill>
                    <a:schemeClr val="lt1"/>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2000" b="1" dirty="0">
                  <a:solidFill>
                    <a:schemeClr val="tx1"/>
                  </a:solidFill>
                  <a:latin typeface="微软雅黑" panose="020B0503020204020204" pitchFamily="34" charset="-122"/>
                  <a:ea typeface="微软雅黑" panose="020B0503020204020204" pitchFamily="34" charset="-122"/>
                </a:rPr>
                <a:t>(8-2)</a:t>
              </a:r>
            </a:p>
          </p:txBody>
        </p:sp>
        <p:graphicFrame>
          <p:nvGraphicFramePr>
            <p:cNvPr id="10" name="对象 9"/>
            <p:cNvGraphicFramePr>
              <a:graphicFrameLocks noChangeAspect="1"/>
            </p:cNvGraphicFramePr>
            <p:nvPr>
              <p:extLst>
                <p:ext uri="{D42A27DB-BD31-4B8C-83A1-F6EECF244321}">
                  <p14:modId xmlns:p14="http://schemas.microsoft.com/office/powerpoint/2010/main" val="680466658"/>
                </p:ext>
              </p:extLst>
            </p:nvPr>
          </p:nvGraphicFramePr>
          <p:xfrm>
            <a:off x="3329945" y="3544639"/>
            <a:ext cx="2378704" cy="821031"/>
          </p:xfrm>
          <a:graphic>
            <a:graphicData uri="http://schemas.openxmlformats.org/presentationml/2006/ole">
              <mc:AlternateContent xmlns:mc="http://schemas.openxmlformats.org/markup-compatibility/2006">
                <mc:Choice xmlns:v="urn:schemas-microsoft-com:vml" Requires="v">
                  <p:oleObj name="公式" r:id="rId2" imgW="1205977" imgH="444307" progId="Equation.3">
                    <p:embed/>
                  </p:oleObj>
                </mc:Choice>
                <mc:Fallback>
                  <p:oleObj name="公式" r:id="rId2" imgW="1205977" imgH="444307" progId="Equation.3">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9945" y="3544639"/>
                          <a:ext cx="2378704" cy="8210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7095271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12"/>
          <p:cNvSpPr>
            <a:spLocks noChangeArrowheads="1"/>
          </p:cNvSpPr>
          <p:nvPr/>
        </p:nvSpPr>
        <p:spPr bwMode="auto">
          <a:xfrm>
            <a:off x="511896" y="620352"/>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 name="Rectangle 13"/>
          <p:cNvSpPr>
            <a:spLocks noChangeArrowheads="1"/>
          </p:cNvSpPr>
          <p:nvPr/>
        </p:nvSpPr>
        <p:spPr bwMode="auto">
          <a:xfrm>
            <a:off x="1221767" y="594888"/>
            <a:ext cx="67092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8.4.3  </a:t>
            </a:r>
            <a:r>
              <a:rPr lang="zh-CN" altLang="en-US" sz="2400" b="1" dirty="0">
                <a:solidFill>
                  <a:schemeClr val="bg1"/>
                </a:solidFill>
                <a:latin typeface="微软雅黑" pitchFamily="34" charset="-122"/>
                <a:ea typeface="微软雅黑" pitchFamily="34" charset="-122"/>
              </a:rPr>
              <a:t>综合服务 </a:t>
            </a:r>
            <a:r>
              <a:rPr lang="en-US" altLang="zh-CN" sz="2400" b="1" dirty="0" err="1">
                <a:solidFill>
                  <a:schemeClr val="bg1"/>
                </a:solidFill>
                <a:latin typeface="微软雅黑" pitchFamily="34" charset="-122"/>
                <a:ea typeface="微软雅黑" pitchFamily="34" charset="-122"/>
              </a:rPr>
              <a:t>IntServ</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与资源预留协议 </a:t>
            </a:r>
            <a:r>
              <a:rPr lang="en-US" altLang="zh-CN" sz="2400" b="1" dirty="0">
                <a:solidFill>
                  <a:schemeClr val="bg1"/>
                </a:solidFill>
                <a:latin typeface="微软雅黑" pitchFamily="34" charset="-122"/>
                <a:ea typeface="微软雅黑" pitchFamily="34" charset="-122"/>
              </a:rPr>
              <a:t>RSVP</a:t>
            </a:r>
          </a:p>
        </p:txBody>
      </p:sp>
      <p:sp>
        <p:nvSpPr>
          <p:cNvPr id="4" name="Rectangle 46"/>
          <p:cNvSpPr>
            <a:spLocks noChangeArrowheads="1"/>
          </p:cNvSpPr>
          <p:nvPr/>
        </p:nvSpPr>
        <p:spPr bwMode="auto">
          <a:xfrm>
            <a:off x="511895" y="1074243"/>
            <a:ext cx="8129017"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综合服务 </a:t>
            </a:r>
            <a:r>
              <a:rPr lang="en-US" altLang="zh-CN" sz="2000" b="1" dirty="0" err="1">
                <a:solidFill>
                  <a:srgbClr val="C00000"/>
                </a:solidFill>
                <a:latin typeface="微软雅黑" pitchFamily="34" charset="-122"/>
                <a:ea typeface="微软雅黑" pitchFamily="34" charset="-122"/>
              </a:rPr>
              <a:t>IntServ</a:t>
            </a:r>
            <a:r>
              <a:rPr lang="en-US" altLang="zh-CN"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(Integrated Services) </a:t>
            </a:r>
            <a:r>
              <a:rPr lang="zh-CN" altLang="en-US" sz="2000" b="1" dirty="0">
                <a:latin typeface="微软雅黑" pitchFamily="34" charset="-122"/>
                <a:ea typeface="微软雅黑" pitchFamily="34" charset="-122"/>
              </a:rPr>
              <a:t>可对</a:t>
            </a:r>
            <a:r>
              <a:rPr lang="zh-CN" altLang="en-US" sz="2000" b="1" dirty="0">
                <a:solidFill>
                  <a:srgbClr val="C00000"/>
                </a:solidFill>
                <a:latin typeface="微软雅黑" pitchFamily="34" charset="-122"/>
                <a:ea typeface="微软雅黑" pitchFamily="34" charset="-122"/>
              </a:rPr>
              <a:t>单个的应用会话</a:t>
            </a:r>
            <a:r>
              <a:rPr lang="zh-CN" altLang="en-US" sz="2000" b="1" dirty="0">
                <a:latin typeface="微软雅黑" pitchFamily="34" charset="-122"/>
                <a:ea typeface="微软雅黑" pitchFamily="34" charset="-122"/>
              </a:rPr>
              <a:t>提供服务质量的保证。</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两个主要特点：</a:t>
            </a:r>
          </a:p>
          <a:p>
            <a:pPr marL="684000"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资源预留</a:t>
            </a:r>
            <a:r>
              <a:rPr lang="zh-CN" altLang="en-US" sz="2000" b="1" dirty="0">
                <a:latin typeface="微软雅黑" pitchFamily="34" charset="-122"/>
                <a:ea typeface="微软雅黑" pitchFamily="34" charset="-122"/>
              </a:rPr>
              <a:t>。给不断出现的会话已预留了多少资源（即链路带宽和缓存空间）。</a:t>
            </a:r>
          </a:p>
          <a:p>
            <a:pPr marL="684000"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呼叫建立</a:t>
            </a:r>
            <a:r>
              <a:rPr lang="zh-CN" altLang="en-US" sz="2000" b="1" dirty="0">
                <a:latin typeface="微软雅黑" pitchFamily="34" charset="-122"/>
                <a:ea typeface="微软雅黑" pitchFamily="34" charset="-122"/>
              </a:rPr>
              <a:t>。为会话在源站到目的站的路径上的每个路由器预留足够的资源。 </a:t>
            </a:r>
          </a:p>
        </p:txBody>
      </p:sp>
    </p:spTree>
    <p:extLst>
      <p:ext uri="{BB962C8B-B14F-4D97-AF65-F5344CB8AC3E}">
        <p14:creationId xmlns:p14="http://schemas.microsoft.com/office/powerpoint/2010/main" val="28455981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65099"/>
            <a:ext cx="8243915"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有保证的服务 </a:t>
            </a:r>
            <a:r>
              <a:rPr lang="en-US" altLang="zh-CN" sz="2000" b="1" dirty="0">
                <a:latin typeface="微软雅黑" pitchFamily="34" charset="-122"/>
                <a:ea typeface="微软雅黑" pitchFamily="34" charset="-122"/>
              </a:rPr>
              <a:t>(guaranteed service) </a:t>
            </a:r>
            <a:r>
              <a:rPr lang="zh-CN" altLang="en-US" sz="2000" b="1" dirty="0">
                <a:latin typeface="微软雅黑" pitchFamily="34" charset="-122"/>
                <a:ea typeface="微软雅黑" pitchFamily="34" charset="-122"/>
              </a:rPr>
              <a:t>：保证一个分组在通过路由器时的排队时延有一个严格的上限。</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受控负载的服务 </a:t>
            </a:r>
            <a:r>
              <a:rPr lang="en-US" altLang="zh-CN" sz="2000" b="1" dirty="0">
                <a:latin typeface="微软雅黑" pitchFamily="34" charset="-122"/>
                <a:ea typeface="微软雅黑" pitchFamily="34" charset="-122"/>
              </a:rPr>
              <a:t>(controlled-load service) </a:t>
            </a:r>
            <a:r>
              <a:rPr lang="zh-CN" altLang="en-US" sz="2000" b="1" dirty="0">
                <a:latin typeface="微软雅黑" pitchFamily="34" charset="-122"/>
                <a:ea typeface="微软雅黑" pitchFamily="34" charset="-122"/>
              </a:rPr>
              <a:t>：使应用程序得到比通常的“尽最大努力”更加可靠的服务。</a:t>
            </a:r>
          </a:p>
        </p:txBody>
      </p:sp>
      <p:sp>
        <p:nvSpPr>
          <p:cNvPr id="5" name="AutoShape 5"/>
          <p:cNvSpPr>
            <a:spLocks noChangeArrowheads="1"/>
          </p:cNvSpPr>
          <p:nvPr/>
        </p:nvSpPr>
        <p:spPr bwMode="auto">
          <a:xfrm>
            <a:off x="511897" y="61476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004812" y="581558"/>
            <a:ext cx="30634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定义了两类服务 </a:t>
            </a:r>
          </a:p>
        </p:txBody>
      </p:sp>
    </p:spTree>
    <p:extLst>
      <p:ext uri="{BB962C8B-B14F-4D97-AF65-F5344CB8AC3E}">
        <p14:creationId xmlns:p14="http://schemas.microsoft.com/office/powerpoint/2010/main" val="35126483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7" y="970346"/>
            <a:ext cx="8214092"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资源预留协议 </a:t>
            </a:r>
            <a:r>
              <a:rPr lang="en-US" altLang="zh-CN" sz="2000" b="1" dirty="0">
                <a:solidFill>
                  <a:srgbClr val="0000FF"/>
                </a:solidFill>
                <a:latin typeface="微软雅黑" pitchFamily="34" charset="-122"/>
                <a:ea typeface="微软雅黑" pitchFamily="34" charset="-122"/>
              </a:rPr>
              <a:t>RSVP</a:t>
            </a:r>
            <a:r>
              <a:rPr lang="zh-CN" altLang="en-US" sz="2000" b="1" dirty="0">
                <a:latin typeface="微软雅黑" pitchFamily="34" charset="-122"/>
                <a:ea typeface="微软雅黑" pitchFamily="34" charset="-122"/>
              </a:rPr>
              <a:t>：</a:t>
            </a:r>
            <a:r>
              <a:rPr lang="en-US" altLang="zh-CN" sz="2000" b="1" dirty="0" err="1">
                <a:latin typeface="微软雅黑" pitchFamily="34" charset="-122"/>
                <a:ea typeface="微软雅黑" pitchFamily="34" charset="-122"/>
              </a:rPr>
              <a:t>IntServ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a:t>
            </a:r>
            <a:r>
              <a:rPr lang="zh-CN" altLang="en-US" sz="2000" b="1" dirty="0">
                <a:solidFill>
                  <a:srgbClr val="C00000"/>
                </a:solidFill>
                <a:latin typeface="微软雅黑" pitchFamily="34" charset="-122"/>
                <a:ea typeface="微软雅黑" pitchFamily="34" charset="-122"/>
              </a:rPr>
              <a:t>信令协议。</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接纳控制 </a:t>
            </a:r>
            <a:r>
              <a:rPr lang="en-US" altLang="zh-CN" sz="2000" b="1" dirty="0">
                <a:latin typeface="微软雅黑" pitchFamily="34" charset="-122"/>
                <a:ea typeface="微软雅黑" pitchFamily="34" charset="-122"/>
              </a:rPr>
              <a:t>(admission control)</a:t>
            </a:r>
            <a:r>
              <a:rPr lang="zh-CN" altLang="en-US" sz="2000" b="1" dirty="0">
                <a:latin typeface="微软雅黑" pitchFamily="34" charset="-122"/>
                <a:ea typeface="微软雅黑" pitchFamily="34" charset="-122"/>
              </a:rPr>
              <a:t>：决定是否同意对某一资源的请求。</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分类器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(classifier)</a:t>
            </a:r>
            <a:r>
              <a:rPr lang="zh-CN" altLang="en-US" sz="2000" b="1" dirty="0">
                <a:latin typeface="微软雅黑" pitchFamily="34" charset="-122"/>
                <a:ea typeface="微软雅黑" pitchFamily="34" charset="-122"/>
              </a:rPr>
              <a:t>：将进入路由器的分组进行分类，并根据分类的结果将不同类别的分组放入特定的队列。</a:t>
            </a:r>
          </a:p>
          <a:p>
            <a:pPr marL="342900" indent="-342900" eaLnBrk="0" hangingPunct="0">
              <a:lnSpc>
                <a:spcPts val="3300"/>
              </a:lnSpc>
              <a:buClr>
                <a:srgbClr val="9900CC"/>
              </a:buClr>
              <a:buFont typeface="+mj-lt"/>
              <a:buAutoNum type="arabicPeriod"/>
            </a:pPr>
            <a:r>
              <a:rPr lang="zh-CN" altLang="en-US" sz="2000" b="1" dirty="0">
                <a:solidFill>
                  <a:srgbClr val="0000FF"/>
                </a:solidFill>
                <a:latin typeface="微软雅黑" pitchFamily="34" charset="-122"/>
                <a:ea typeface="微软雅黑" pitchFamily="34" charset="-122"/>
              </a:rPr>
              <a:t>调度器 </a:t>
            </a:r>
            <a:r>
              <a:rPr lang="en-US" altLang="zh-CN" sz="2000" b="1" dirty="0">
                <a:latin typeface="微软雅黑" pitchFamily="34" charset="-122"/>
                <a:ea typeface="微软雅黑" pitchFamily="34" charset="-122"/>
              </a:rPr>
              <a:t>(scheduler)</a:t>
            </a:r>
            <a:r>
              <a:rPr lang="zh-CN" altLang="en-US" sz="2000" b="1" dirty="0">
                <a:latin typeface="微软雅黑" pitchFamily="34" charset="-122"/>
                <a:ea typeface="微软雅黑" pitchFamily="34" charset="-122"/>
              </a:rPr>
              <a:t>：根据服务质量要求决定分组发送的前后顺序。</a:t>
            </a:r>
          </a:p>
        </p:txBody>
      </p:sp>
      <p:sp>
        <p:nvSpPr>
          <p:cNvPr id="3" name="AutoShape 5"/>
          <p:cNvSpPr>
            <a:spLocks noChangeArrowheads="1"/>
          </p:cNvSpPr>
          <p:nvPr/>
        </p:nvSpPr>
        <p:spPr bwMode="auto">
          <a:xfrm>
            <a:off x="511897" y="61476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043283" y="581558"/>
            <a:ext cx="29865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有四个组成部分</a:t>
            </a:r>
          </a:p>
        </p:txBody>
      </p:sp>
    </p:spTree>
    <p:extLst>
      <p:ext uri="{BB962C8B-B14F-4D97-AF65-F5344CB8AC3E}">
        <p14:creationId xmlns:p14="http://schemas.microsoft.com/office/powerpoint/2010/main" val="31575233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7" y="973610"/>
            <a:ext cx="7207568"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流</a:t>
            </a:r>
            <a:r>
              <a:rPr lang="zh-CN" altLang="en-US" sz="2000" b="1" dirty="0">
                <a:latin typeface="微软雅黑" pitchFamily="34" charset="-122"/>
                <a:ea typeface="微软雅黑" pitchFamily="34" charset="-122"/>
              </a:rPr>
              <a:t>”是在多媒体通信中的一个常用的名词，一般定义为：</a:t>
            </a:r>
          </a:p>
        </p:txBody>
      </p:sp>
      <p:sp>
        <p:nvSpPr>
          <p:cNvPr id="3" name="AutoShape 5"/>
          <p:cNvSpPr>
            <a:spLocks noChangeArrowheads="1"/>
          </p:cNvSpPr>
          <p:nvPr/>
        </p:nvSpPr>
        <p:spPr bwMode="auto">
          <a:xfrm>
            <a:off x="511897" y="6180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936253" y="584822"/>
            <a:ext cx="12838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流 </a:t>
            </a:r>
            <a:r>
              <a:rPr lang="en-US" altLang="zh-CN" sz="2000" b="1" dirty="0">
                <a:solidFill>
                  <a:schemeClr val="bg1"/>
                </a:solidFill>
                <a:latin typeface="微软雅黑" pitchFamily="34" charset="-122"/>
                <a:ea typeface="微软雅黑" pitchFamily="34" charset="-122"/>
              </a:rPr>
              <a:t>(flow)</a:t>
            </a:r>
            <a:endParaRPr lang="zh-CN" altLang="en-US" sz="2000" b="1" dirty="0">
              <a:solidFill>
                <a:schemeClr val="bg1"/>
              </a:solidFill>
              <a:latin typeface="微软雅黑" pitchFamily="34" charset="-122"/>
              <a:ea typeface="微软雅黑" pitchFamily="34" charset="-122"/>
            </a:endParaRPr>
          </a:p>
        </p:txBody>
      </p:sp>
      <p:sp>
        <p:nvSpPr>
          <p:cNvPr id="6" name="圆角矩形 3"/>
          <p:cNvSpPr>
            <a:spLocks noChangeArrowheads="1"/>
          </p:cNvSpPr>
          <p:nvPr/>
        </p:nvSpPr>
        <p:spPr bwMode="auto">
          <a:xfrm>
            <a:off x="1053737" y="1668997"/>
            <a:ext cx="6975566" cy="1157996"/>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p:spPr>
        <p:txBody>
          <a:bodyPr anchor="ctr"/>
          <a:lstStyle/>
          <a:p>
            <a:pPr eaLnBrk="0" hangingPunct="0">
              <a:lnSpc>
                <a:spcPts val="2800"/>
              </a:lnSpc>
            </a:pPr>
            <a:r>
              <a:rPr lang="zh-CN" altLang="en-US" sz="2000" b="1" dirty="0">
                <a:solidFill>
                  <a:schemeClr val="bg1"/>
                </a:solidFill>
                <a:latin typeface="微软雅黑" pitchFamily="34" charset="-122"/>
                <a:ea typeface="微软雅黑" pitchFamily="34" charset="-122"/>
              </a:rPr>
              <a:t>具有</a:t>
            </a:r>
            <a:r>
              <a:rPr lang="zh-CN" altLang="en-US" sz="2000" b="1" dirty="0">
                <a:solidFill>
                  <a:srgbClr val="FFFF00"/>
                </a:solidFill>
                <a:latin typeface="微软雅黑" pitchFamily="34" charset="-122"/>
                <a:ea typeface="微软雅黑" pitchFamily="34" charset="-122"/>
              </a:rPr>
              <a:t>同样</a:t>
            </a:r>
            <a:r>
              <a:rPr lang="zh-CN" altLang="en-US" sz="2000" b="1" dirty="0">
                <a:solidFill>
                  <a:schemeClr val="bg1"/>
                </a:solidFill>
                <a:latin typeface="微软雅黑" pitchFamily="34" charset="-122"/>
                <a:ea typeface="微软雅黑" pitchFamily="34" charset="-122"/>
              </a:rPr>
              <a:t>的源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地址、源端口号、目的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地址、目的端口号、协议标识符、以及服务质量需求的一连串分组。 </a:t>
            </a:r>
          </a:p>
        </p:txBody>
      </p:sp>
    </p:spTree>
    <p:extLst>
      <p:ext uri="{BB962C8B-B14F-4D97-AF65-F5344CB8AC3E}">
        <p14:creationId xmlns:p14="http://schemas.microsoft.com/office/powerpoint/2010/main" val="14489718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78080"/>
            <a:ext cx="8295674"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一个会话必须首先声明它所需的服务质量，以便使路由器能够确定是否有足够的资源来满足该会话的需求。</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当请求被接受时，链路带宽和缓存空间就被分配给这个分组流。</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资源预留协议 </a:t>
            </a:r>
            <a:r>
              <a:rPr lang="en-US" altLang="zh-CN" sz="2000" b="1" dirty="0">
                <a:solidFill>
                  <a:srgbClr val="C00000"/>
                </a:solidFill>
                <a:latin typeface="微软雅黑" pitchFamily="34" charset="-122"/>
                <a:ea typeface="微软雅黑" pitchFamily="34" charset="-122"/>
              </a:rPr>
              <a:t>RSVP </a:t>
            </a:r>
            <a:r>
              <a:rPr lang="en-US" altLang="zh-CN" sz="2000" b="1" dirty="0">
                <a:latin typeface="微软雅黑" pitchFamily="34" charset="-122"/>
                <a:ea typeface="微软雅黑" pitchFamily="34" charset="-122"/>
              </a:rPr>
              <a:t>(</a:t>
            </a:r>
            <a:r>
              <a:rPr lang="en-US" altLang="zh-CN" sz="2000" b="1" dirty="0" err="1">
                <a:latin typeface="微软雅黑" pitchFamily="34" charset="-122"/>
                <a:ea typeface="微软雅黑" pitchFamily="34" charset="-122"/>
              </a:rPr>
              <a:t>ReSource</a:t>
            </a: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reserVation</a:t>
            </a:r>
            <a:r>
              <a:rPr lang="en-US" altLang="zh-CN" sz="2000" b="1" dirty="0">
                <a:latin typeface="微软雅黑" pitchFamily="34" charset="-122"/>
                <a:ea typeface="微软雅黑" pitchFamily="34" charset="-122"/>
              </a:rPr>
              <a:t> Protocol)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17550" lvl="1" indent="-342900" eaLnBrk="0" hangingPunct="0">
              <a:lnSpc>
                <a:spcPts val="32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资源预留。</a:t>
            </a:r>
            <a:endParaRPr lang="en-US" altLang="zh-CN" sz="2000" b="1" dirty="0">
              <a:latin typeface="微软雅黑" pitchFamily="34" charset="-122"/>
              <a:ea typeface="微软雅黑" pitchFamily="34" charset="-122"/>
            </a:endParaRPr>
          </a:p>
          <a:p>
            <a:pPr marL="717550" lvl="1" indent="-342900" eaLnBrk="0" hangingPunct="0">
              <a:lnSpc>
                <a:spcPts val="32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采用多播树方式。</a:t>
            </a:r>
          </a:p>
        </p:txBody>
      </p:sp>
      <p:sp>
        <p:nvSpPr>
          <p:cNvPr id="3" name="AutoShape 5"/>
          <p:cNvSpPr>
            <a:spLocks noChangeArrowheads="1"/>
          </p:cNvSpPr>
          <p:nvPr/>
        </p:nvSpPr>
        <p:spPr bwMode="auto">
          <a:xfrm>
            <a:off x="511897" y="62250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51579" y="606544"/>
            <a:ext cx="24849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资源预留协议 </a:t>
            </a:r>
            <a:r>
              <a:rPr lang="en-US" altLang="zh-CN" sz="2000" b="1" dirty="0">
                <a:solidFill>
                  <a:schemeClr val="bg1"/>
                </a:solidFill>
                <a:latin typeface="微软雅黑" pitchFamily="34" charset="-122"/>
                <a:ea typeface="微软雅黑" pitchFamily="34" charset="-122"/>
              </a:rPr>
              <a:t>RSVP</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3293091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圆角矩形 108"/>
          <p:cNvSpPr/>
          <p:nvPr/>
        </p:nvSpPr>
        <p:spPr>
          <a:xfrm>
            <a:off x="510407" y="1759131"/>
            <a:ext cx="8128800" cy="25516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Line 26"/>
          <p:cNvSpPr>
            <a:spLocks noChangeShapeType="1"/>
          </p:cNvSpPr>
          <p:nvPr/>
        </p:nvSpPr>
        <p:spPr bwMode="auto">
          <a:xfrm flipV="1">
            <a:off x="4239163" y="2299421"/>
            <a:ext cx="894708" cy="3677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 name="Line 4"/>
          <p:cNvSpPr>
            <a:spLocks noChangeShapeType="1"/>
          </p:cNvSpPr>
          <p:nvPr/>
        </p:nvSpPr>
        <p:spPr bwMode="auto">
          <a:xfrm>
            <a:off x="5246095" y="3035018"/>
            <a:ext cx="3356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 name="Line 5"/>
          <p:cNvSpPr>
            <a:spLocks noChangeShapeType="1"/>
          </p:cNvSpPr>
          <p:nvPr/>
        </p:nvSpPr>
        <p:spPr bwMode="auto">
          <a:xfrm>
            <a:off x="5246095" y="2299421"/>
            <a:ext cx="3356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7" name="Line 6"/>
          <p:cNvSpPr>
            <a:spLocks noChangeShapeType="1"/>
          </p:cNvSpPr>
          <p:nvPr/>
        </p:nvSpPr>
        <p:spPr bwMode="auto">
          <a:xfrm rot="5400000">
            <a:off x="5054989" y="3166171"/>
            <a:ext cx="1577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8" name="Line 7"/>
          <p:cNvSpPr>
            <a:spLocks noChangeShapeType="1"/>
          </p:cNvSpPr>
          <p:nvPr/>
        </p:nvSpPr>
        <p:spPr bwMode="auto">
          <a:xfrm rot="16200000" flipH="1">
            <a:off x="4500677" y="3319183"/>
            <a:ext cx="14826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9" name="Line 8"/>
          <p:cNvSpPr>
            <a:spLocks noChangeShapeType="1"/>
          </p:cNvSpPr>
          <p:nvPr/>
        </p:nvSpPr>
        <p:spPr bwMode="auto">
          <a:xfrm rot="10800000">
            <a:off x="5581739" y="3245053"/>
            <a:ext cx="2790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10" name="Line 9"/>
          <p:cNvSpPr>
            <a:spLocks noChangeShapeType="1"/>
          </p:cNvSpPr>
          <p:nvPr/>
        </p:nvSpPr>
        <p:spPr bwMode="auto">
          <a:xfrm rot="10800000">
            <a:off x="5581739" y="2667220"/>
            <a:ext cx="2790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11" name="Line 10"/>
          <p:cNvSpPr>
            <a:spLocks noChangeShapeType="1"/>
          </p:cNvSpPr>
          <p:nvPr/>
        </p:nvSpPr>
        <p:spPr bwMode="auto">
          <a:xfrm rot="10800000">
            <a:off x="5581739" y="2220039"/>
            <a:ext cx="2790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12" name="Line 11"/>
          <p:cNvSpPr>
            <a:spLocks noChangeShapeType="1"/>
          </p:cNvSpPr>
          <p:nvPr/>
        </p:nvSpPr>
        <p:spPr bwMode="auto">
          <a:xfrm>
            <a:off x="4183566" y="2719491"/>
            <a:ext cx="894708" cy="3155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13" name="Line 12"/>
          <p:cNvSpPr>
            <a:spLocks noChangeShapeType="1"/>
          </p:cNvSpPr>
          <p:nvPr/>
        </p:nvSpPr>
        <p:spPr bwMode="auto">
          <a:xfrm flipV="1">
            <a:off x="2246922" y="2667220"/>
            <a:ext cx="1880017" cy="142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pic>
        <p:nvPicPr>
          <p:cNvPr id="14"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5724" y="2561728"/>
            <a:ext cx="335644" cy="210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 name="Text Box 14"/>
          <p:cNvSpPr txBox="1">
            <a:spLocks noChangeArrowheads="1"/>
          </p:cNvSpPr>
          <p:nvPr/>
        </p:nvSpPr>
        <p:spPr bwMode="auto">
          <a:xfrm>
            <a:off x="1789259" y="2401113"/>
            <a:ext cx="35779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1</a:t>
            </a:r>
          </a:p>
        </p:txBody>
      </p:sp>
      <p:sp>
        <p:nvSpPr>
          <p:cNvPr id="16" name="Text Box 15"/>
          <p:cNvSpPr txBox="1">
            <a:spLocks noChangeArrowheads="1"/>
          </p:cNvSpPr>
          <p:nvPr/>
        </p:nvSpPr>
        <p:spPr bwMode="auto">
          <a:xfrm>
            <a:off x="6085205" y="1985796"/>
            <a:ext cx="111120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2</a:t>
            </a:r>
            <a:r>
              <a:rPr kumimoji="1" lang="en-US" altLang="zh-CN" sz="1100" b="1" dirty="0">
                <a:latin typeface="微软雅黑" pitchFamily="34" charset="-122"/>
                <a:ea typeface="微软雅黑" pitchFamily="34" charset="-122"/>
              </a:rPr>
              <a:t>   50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17" name="Text Box 16"/>
          <p:cNvSpPr txBox="1">
            <a:spLocks noChangeArrowheads="1"/>
          </p:cNvSpPr>
          <p:nvPr/>
        </p:nvSpPr>
        <p:spPr bwMode="auto">
          <a:xfrm>
            <a:off x="4011626" y="2349791"/>
            <a:ext cx="3401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2</a:t>
            </a:r>
          </a:p>
        </p:txBody>
      </p:sp>
      <p:sp>
        <p:nvSpPr>
          <p:cNvPr id="18" name="Text Box 17"/>
          <p:cNvSpPr txBox="1">
            <a:spLocks noChangeArrowheads="1"/>
          </p:cNvSpPr>
          <p:nvPr/>
        </p:nvSpPr>
        <p:spPr bwMode="auto">
          <a:xfrm>
            <a:off x="3038671" y="2349791"/>
            <a:ext cx="3401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1</a:t>
            </a:r>
          </a:p>
        </p:txBody>
      </p:sp>
      <p:pic>
        <p:nvPicPr>
          <p:cNvPr id="24" name="Picture 2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6049" y="2930477"/>
            <a:ext cx="335644" cy="210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5"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6049" y="2193928"/>
            <a:ext cx="335644" cy="210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6"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9117" y="2561728"/>
            <a:ext cx="335644" cy="210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7" name="Line 27"/>
          <p:cNvSpPr>
            <a:spLocks noChangeShapeType="1"/>
          </p:cNvSpPr>
          <p:nvPr/>
        </p:nvSpPr>
        <p:spPr bwMode="auto">
          <a:xfrm>
            <a:off x="4406985" y="3245053"/>
            <a:ext cx="83910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28" name="Line 28"/>
          <p:cNvSpPr>
            <a:spLocks noChangeShapeType="1"/>
          </p:cNvSpPr>
          <p:nvPr/>
        </p:nvSpPr>
        <p:spPr bwMode="auto">
          <a:xfrm rot="16200000">
            <a:off x="5240076" y="2431050"/>
            <a:ext cx="68332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29" name="Line 29"/>
          <p:cNvSpPr>
            <a:spLocks noChangeShapeType="1"/>
          </p:cNvSpPr>
          <p:nvPr/>
        </p:nvSpPr>
        <p:spPr bwMode="auto">
          <a:xfrm rot="16200000">
            <a:off x="5352221" y="3084914"/>
            <a:ext cx="4590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30" name="Line 30"/>
          <p:cNvSpPr>
            <a:spLocks noChangeShapeType="1"/>
          </p:cNvSpPr>
          <p:nvPr/>
        </p:nvSpPr>
        <p:spPr bwMode="auto">
          <a:xfrm rot="10800000">
            <a:off x="5581738" y="2960888"/>
            <a:ext cx="16782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31" name="Line 31"/>
          <p:cNvSpPr>
            <a:spLocks noChangeShapeType="1"/>
          </p:cNvSpPr>
          <p:nvPr/>
        </p:nvSpPr>
        <p:spPr bwMode="auto">
          <a:xfrm rot="10800000">
            <a:off x="5581738" y="2403964"/>
            <a:ext cx="16782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32" name="Text Box 32"/>
          <p:cNvSpPr txBox="1">
            <a:spLocks noChangeArrowheads="1"/>
          </p:cNvSpPr>
          <p:nvPr/>
        </p:nvSpPr>
        <p:spPr bwMode="auto">
          <a:xfrm>
            <a:off x="6085205" y="2459086"/>
            <a:ext cx="11560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3</a:t>
            </a:r>
            <a:r>
              <a:rPr kumimoji="1" lang="en-US" altLang="zh-CN" sz="1100" b="1" dirty="0">
                <a:latin typeface="微软雅黑" pitchFamily="34" charset="-122"/>
                <a:ea typeface="微软雅黑" pitchFamily="34" charset="-122"/>
              </a:rPr>
              <a:t>  100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33" name="Text Box 33"/>
          <p:cNvSpPr txBox="1">
            <a:spLocks noChangeArrowheads="1"/>
          </p:cNvSpPr>
          <p:nvPr/>
        </p:nvSpPr>
        <p:spPr bwMode="auto">
          <a:xfrm>
            <a:off x="6085205" y="3068281"/>
            <a:ext cx="104387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4</a:t>
            </a:r>
            <a:r>
              <a:rPr kumimoji="1" lang="en-US" altLang="zh-CN" sz="1100" b="1" dirty="0">
                <a:latin typeface="微软雅黑" pitchFamily="34" charset="-122"/>
                <a:ea typeface="微软雅黑" pitchFamily="34" charset="-122"/>
              </a:rPr>
              <a:t>  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34" name="Line 34"/>
          <p:cNvSpPr>
            <a:spLocks noChangeShapeType="1"/>
          </p:cNvSpPr>
          <p:nvPr/>
        </p:nvSpPr>
        <p:spPr bwMode="auto">
          <a:xfrm rot="5400000">
            <a:off x="4840836" y="3323935"/>
            <a:ext cx="1577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35" name="Text Box 35"/>
          <p:cNvSpPr txBox="1">
            <a:spLocks noChangeArrowheads="1"/>
          </p:cNvSpPr>
          <p:nvPr/>
        </p:nvSpPr>
        <p:spPr bwMode="auto">
          <a:xfrm>
            <a:off x="4996935" y="1980093"/>
            <a:ext cx="3401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3</a:t>
            </a:r>
          </a:p>
        </p:txBody>
      </p:sp>
      <p:sp>
        <p:nvSpPr>
          <p:cNvPr id="36" name="Text Box 36"/>
          <p:cNvSpPr txBox="1">
            <a:spLocks noChangeArrowheads="1"/>
          </p:cNvSpPr>
          <p:nvPr/>
        </p:nvSpPr>
        <p:spPr bwMode="auto">
          <a:xfrm>
            <a:off x="5003113" y="2707136"/>
            <a:ext cx="34015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4</a:t>
            </a:r>
          </a:p>
        </p:txBody>
      </p:sp>
      <p:sp>
        <p:nvSpPr>
          <p:cNvPr id="37" name="Text Box 37"/>
          <p:cNvSpPr txBox="1">
            <a:spLocks noChangeArrowheads="1"/>
          </p:cNvSpPr>
          <p:nvPr/>
        </p:nvSpPr>
        <p:spPr bwMode="auto">
          <a:xfrm>
            <a:off x="5003113" y="3439881"/>
            <a:ext cx="104387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5</a:t>
            </a:r>
            <a:r>
              <a:rPr kumimoji="1" lang="en-US" altLang="zh-CN" sz="1100" b="1" dirty="0">
                <a:latin typeface="微软雅黑" pitchFamily="34" charset="-122"/>
                <a:ea typeface="微软雅黑" pitchFamily="34" charset="-122"/>
              </a:rPr>
              <a:t>  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38" name="Text Box 38"/>
          <p:cNvSpPr txBox="1">
            <a:spLocks noChangeArrowheads="1"/>
          </p:cNvSpPr>
          <p:nvPr/>
        </p:nvSpPr>
        <p:spPr bwMode="auto">
          <a:xfrm>
            <a:off x="2030710" y="2206284"/>
            <a:ext cx="466794"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a:latin typeface="微软雅黑" pitchFamily="34" charset="-122"/>
                <a:ea typeface="微软雅黑" pitchFamily="34" charset="-122"/>
              </a:rPr>
              <a:t>源站</a:t>
            </a:r>
            <a:endParaRPr kumimoji="1" lang="zh-CN" altLang="en-US" sz="1100" b="1" baseline="-25000">
              <a:latin typeface="微软雅黑" pitchFamily="34" charset="-122"/>
              <a:ea typeface="微软雅黑" pitchFamily="34" charset="-122"/>
            </a:endParaRPr>
          </a:p>
        </p:txBody>
      </p:sp>
      <p:sp>
        <p:nvSpPr>
          <p:cNvPr id="39" name="Text Box 39"/>
          <p:cNvSpPr txBox="1">
            <a:spLocks noChangeArrowheads="1"/>
          </p:cNvSpPr>
          <p:nvPr/>
        </p:nvSpPr>
        <p:spPr bwMode="auto">
          <a:xfrm>
            <a:off x="3051025" y="3829473"/>
            <a:ext cx="310995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FF"/>
                </a:solidFill>
                <a:latin typeface="微软雅黑" pitchFamily="34" charset="-122"/>
                <a:ea typeface="微软雅黑" pitchFamily="34" charset="-122"/>
              </a:rPr>
              <a:t>(a) </a:t>
            </a:r>
            <a:r>
              <a:rPr kumimoji="1" lang="zh-CN" altLang="en-US" sz="1600" b="1" dirty="0">
                <a:solidFill>
                  <a:srgbClr val="0000FF"/>
                </a:solidFill>
                <a:latin typeface="微软雅黑" pitchFamily="34" charset="-122"/>
                <a:ea typeface="微软雅黑" pitchFamily="34" charset="-122"/>
              </a:rPr>
              <a:t>源点用多播发送 </a:t>
            </a:r>
            <a:r>
              <a:rPr kumimoji="1" lang="en-US" altLang="zh-CN" sz="1600" b="1" dirty="0">
                <a:solidFill>
                  <a:srgbClr val="0000FF"/>
                </a:solidFill>
                <a:latin typeface="微软雅黑" pitchFamily="34" charset="-122"/>
                <a:ea typeface="微软雅黑" pitchFamily="34" charset="-122"/>
              </a:rPr>
              <a:t>PATH </a:t>
            </a:r>
            <a:r>
              <a:rPr kumimoji="1" lang="zh-CN" altLang="en-US" sz="1600" b="1" dirty="0">
                <a:solidFill>
                  <a:srgbClr val="0000FF"/>
                </a:solidFill>
                <a:latin typeface="微软雅黑" pitchFamily="34" charset="-122"/>
                <a:ea typeface="微软雅黑" pitchFamily="34" charset="-122"/>
              </a:rPr>
              <a:t>报文 </a:t>
            </a:r>
          </a:p>
        </p:txBody>
      </p:sp>
      <p:sp>
        <p:nvSpPr>
          <p:cNvPr id="40" name="Line 76"/>
          <p:cNvSpPr>
            <a:spLocks noChangeShapeType="1"/>
          </p:cNvSpPr>
          <p:nvPr/>
        </p:nvSpPr>
        <p:spPr bwMode="auto">
          <a:xfrm>
            <a:off x="2538294" y="2593090"/>
            <a:ext cx="334615" cy="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1" name="AutoShape 77"/>
          <p:cNvSpPr>
            <a:spLocks noChangeArrowheads="1"/>
          </p:cNvSpPr>
          <p:nvPr/>
        </p:nvSpPr>
        <p:spPr bwMode="auto">
          <a:xfrm>
            <a:off x="2208827" y="2906215"/>
            <a:ext cx="1684396" cy="348791"/>
          </a:xfrm>
          <a:prstGeom prst="roundRect">
            <a:avLst>
              <a:gd name="adj" fmla="val 16667"/>
            </a:avLst>
          </a:prstGeom>
          <a:solidFill>
            <a:srgbClr val="66FFCC"/>
          </a:solidFill>
          <a:ln w="9525">
            <a:solidFill>
              <a:schemeClr val="tx1"/>
            </a:solidFill>
            <a:round/>
            <a:headEnd/>
            <a:tailEnd/>
          </a:ln>
          <a:effectLst/>
        </p:spPr>
        <p:txBody>
          <a:bodyPr wrap="none" anchor="ctr"/>
          <a:lstStyle/>
          <a:p>
            <a:endParaRPr lang="zh-CN" altLang="en-US" sz="1050" b="1">
              <a:latin typeface="微软雅黑" pitchFamily="34" charset="-122"/>
              <a:ea typeface="微软雅黑" pitchFamily="34" charset="-122"/>
            </a:endParaRPr>
          </a:p>
        </p:txBody>
      </p:sp>
      <p:sp>
        <p:nvSpPr>
          <p:cNvPr id="42" name="Text Box 78"/>
          <p:cNvSpPr txBox="1">
            <a:spLocks noChangeArrowheads="1"/>
          </p:cNvSpPr>
          <p:nvPr/>
        </p:nvSpPr>
        <p:spPr bwMode="auto">
          <a:xfrm>
            <a:off x="2573299" y="2957191"/>
            <a:ext cx="123463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表示 </a:t>
            </a:r>
            <a:r>
              <a:rPr kumimoji="1" lang="en-US" altLang="zh-CN" sz="1100" b="1" dirty="0">
                <a:latin typeface="微软雅黑" pitchFamily="34" charset="-122"/>
                <a:ea typeface="微软雅黑" pitchFamily="34" charset="-122"/>
              </a:rPr>
              <a:t>PATH </a:t>
            </a:r>
            <a:r>
              <a:rPr kumimoji="1" lang="zh-CN" altLang="en-US" sz="1100" b="1" dirty="0">
                <a:latin typeface="微软雅黑" pitchFamily="34" charset="-122"/>
                <a:ea typeface="微软雅黑" pitchFamily="34" charset="-122"/>
              </a:rPr>
              <a:t>报文</a:t>
            </a:r>
            <a:endParaRPr kumimoji="1" lang="zh-CN" altLang="en-US" sz="1100" b="1" baseline="-25000" dirty="0">
              <a:latin typeface="微软雅黑" pitchFamily="34" charset="-122"/>
              <a:ea typeface="微软雅黑" pitchFamily="34" charset="-122"/>
            </a:endParaRPr>
          </a:p>
        </p:txBody>
      </p:sp>
      <p:sp>
        <p:nvSpPr>
          <p:cNvPr id="43" name="Line 79"/>
          <p:cNvSpPr>
            <a:spLocks noChangeShapeType="1"/>
          </p:cNvSpPr>
          <p:nvPr/>
        </p:nvSpPr>
        <p:spPr bwMode="auto">
          <a:xfrm>
            <a:off x="2243833" y="3079185"/>
            <a:ext cx="335644" cy="0"/>
          </a:xfrm>
          <a:prstGeom prst="line">
            <a:avLst/>
          </a:prstGeom>
          <a:noFill/>
          <a:ln w="571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4" name="Line 80"/>
          <p:cNvSpPr>
            <a:spLocks noChangeShapeType="1"/>
          </p:cNvSpPr>
          <p:nvPr/>
        </p:nvSpPr>
        <p:spPr bwMode="auto">
          <a:xfrm>
            <a:off x="3525663" y="2593090"/>
            <a:ext cx="335644" cy="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5" name="Line 81"/>
          <p:cNvSpPr>
            <a:spLocks noChangeShapeType="1"/>
          </p:cNvSpPr>
          <p:nvPr/>
        </p:nvSpPr>
        <p:spPr bwMode="auto">
          <a:xfrm rot="20108977">
            <a:off x="4459494" y="2430575"/>
            <a:ext cx="335644" cy="95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6" name="Line 82"/>
          <p:cNvSpPr>
            <a:spLocks noChangeShapeType="1"/>
          </p:cNvSpPr>
          <p:nvPr/>
        </p:nvSpPr>
        <p:spPr bwMode="auto">
          <a:xfrm rot="1356885">
            <a:off x="4525387" y="2829736"/>
            <a:ext cx="335644" cy="95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7" name="Line 83"/>
          <p:cNvSpPr>
            <a:spLocks noChangeShapeType="1"/>
          </p:cNvSpPr>
          <p:nvPr/>
        </p:nvSpPr>
        <p:spPr bwMode="auto">
          <a:xfrm rot="20542436">
            <a:off x="5421124" y="2152112"/>
            <a:ext cx="335644" cy="1901"/>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48" name="Line 84"/>
          <p:cNvSpPr>
            <a:spLocks noChangeShapeType="1"/>
          </p:cNvSpPr>
          <p:nvPr/>
        </p:nvSpPr>
        <p:spPr bwMode="auto">
          <a:xfrm rot="1693237">
            <a:off x="5441716" y="2494250"/>
            <a:ext cx="335644" cy="951"/>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0" name="Line 86"/>
          <p:cNvSpPr>
            <a:spLocks noChangeShapeType="1"/>
          </p:cNvSpPr>
          <p:nvPr/>
        </p:nvSpPr>
        <p:spPr bwMode="auto">
          <a:xfrm rot="221438">
            <a:off x="5457159" y="3104396"/>
            <a:ext cx="335644" cy="951"/>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pic>
        <p:nvPicPr>
          <p:cNvPr id="110"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6484" y="2019233"/>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6484" y="2463312"/>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6484" y="3074402"/>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7789" y="3370503"/>
            <a:ext cx="328414" cy="328415"/>
          </a:xfrm>
          <a:prstGeom prst="rect">
            <a:avLst/>
          </a:prstGeom>
          <a:noFill/>
          <a:extLst>
            <a:ext uri="{909E8E84-426E-40DD-AFC4-6F175D3DCCD1}">
              <a14:hiddenFill xmlns:a14="http://schemas.microsoft.com/office/drawing/2010/main">
                <a:solidFill>
                  <a:srgbClr val="FFFFFF"/>
                </a:solidFill>
              </a14:hiddenFill>
            </a:ext>
          </a:extLst>
        </p:spPr>
      </p:pic>
      <p:sp>
        <p:nvSpPr>
          <p:cNvPr id="49" name="Line 85"/>
          <p:cNvSpPr>
            <a:spLocks noChangeShapeType="1"/>
          </p:cNvSpPr>
          <p:nvPr/>
        </p:nvSpPr>
        <p:spPr bwMode="auto">
          <a:xfrm rot="6078718">
            <a:off x="4836044" y="3302987"/>
            <a:ext cx="314577" cy="1030"/>
          </a:xfrm>
          <a:prstGeom prst="line">
            <a:avLst/>
          </a:prstGeom>
          <a:noFill/>
          <a:ln w="3810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pic>
        <p:nvPicPr>
          <p:cNvPr id="114"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1645" y="2472372"/>
            <a:ext cx="328414" cy="328415"/>
          </a:xfrm>
          <a:prstGeom prst="rect">
            <a:avLst/>
          </a:prstGeom>
          <a:noFill/>
          <a:extLst>
            <a:ext uri="{909E8E84-426E-40DD-AFC4-6F175D3DCCD1}">
              <a14:hiddenFill xmlns:a14="http://schemas.microsoft.com/office/drawing/2010/main">
                <a:solidFill>
                  <a:srgbClr val="FFFFFF"/>
                </a:solidFill>
              </a14:hiddenFill>
            </a:ext>
          </a:extLst>
        </p:spPr>
      </p:pic>
      <p:sp>
        <p:nvSpPr>
          <p:cNvPr id="122" name="AutoShape 5"/>
          <p:cNvSpPr>
            <a:spLocks noChangeArrowheads="1"/>
          </p:cNvSpPr>
          <p:nvPr/>
        </p:nvSpPr>
        <p:spPr bwMode="auto">
          <a:xfrm>
            <a:off x="517853" y="61394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矩形 4"/>
          <p:cNvSpPr>
            <a:spLocks noChangeArrowheads="1"/>
          </p:cNvSpPr>
          <p:nvPr/>
        </p:nvSpPr>
        <p:spPr bwMode="auto">
          <a:xfrm>
            <a:off x="635844" y="564113"/>
            <a:ext cx="281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协议的工作原理 </a:t>
            </a:r>
          </a:p>
        </p:txBody>
      </p:sp>
      <p:sp>
        <p:nvSpPr>
          <p:cNvPr id="2" name="矩形 1"/>
          <p:cNvSpPr/>
          <p:nvPr/>
        </p:nvSpPr>
        <p:spPr>
          <a:xfrm>
            <a:off x="635844" y="976484"/>
            <a:ext cx="8003363"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假设：主机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要向互联网上的四台主机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 H</a:t>
            </a:r>
            <a:r>
              <a:rPr lang="en-US" altLang="zh-CN" b="1" baseline="-25000" dirty="0">
                <a:latin typeface="微软雅黑" pitchFamily="34" charset="-122"/>
                <a:ea typeface="微软雅黑" pitchFamily="34" charset="-122"/>
              </a:rPr>
              <a:t>5</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发送多播视频节目，这四台主机打算以某种数据率来接收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发送的视频节目。</a:t>
            </a:r>
          </a:p>
        </p:txBody>
      </p:sp>
    </p:spTree>
    <p:extLst>
      <p:ext uri="{BB962C8B-B14F-4D97-AF65-F5344CB8AC3E}">
        <p14:creationId xmlns:p14="http://schemas.microsoft.com/office/powerpoint/2010/main" val="255600510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1000"/>
                                        <p:tgtEl>
                                          <p:spTgt spid="40"/>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left)">
                                      <p:cBhvr>
                                        <p:cTn id="11" dur="1000"/>
                                        <p:tgtEl>
                                          <p:spTgt spid="44"/>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1000"/>
                                        <p:tgtEl>
                                          <p:spTgt spid="4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wipe(left)">
                                      <p:cBhvr>
                                        <p:cTn id="18" dur="1000"/>
                                        <p:tgtEl>
                                          <p:spTgt spid="46"/>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up)">
                                      <p:cBhvr>
                                        <p:cTn id="22" dur="1000"/>
                                        <p:tgtEl>
                                          <p:spTgt spid="49"/>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left)">
                                      <p:cBhvr>
                                        <p:cTn id="25" dur="1000"/>
                                        <p:tgtEl>
                                          <p:spTgt spid="5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wipe(left)">
                                      <p:cBhvr>
                                        <p:cTn id="28" dur="1000"/>
                                        <p:tgtEl>
                                          <p:spTgt spid="48"/>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wipe(left)">
                                      <p:cBhvr>
                                        <p:cTn id="31"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4" grpId="0" animBg="1"/>
      <p:bldP spid="45" grpId="0" animBg="1"/>
      <p:bldP spid="46" grpId="0" animBg="1"/>
      <p:bldP spid="47" grpId="0" animBg="1"/>
      <p:bldP spid="48" grpId="0" animBg="1"/>
      <p:bldP spid="50" grpId="0" animBg="1"/>
      <p:bldP spid="4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圆角矩形 108"/>
          <p:cNvSpPr/>
          <p:nvPr/>
        </p:nvSpPr>
        <p:spPr>
          <a:xfrm>
            <a:off x="510407" y="1759131"/>
            <a:ext cx="8128800" cy="25516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AutoShape 5"/>
          <p:cNvSpPr>
            <a:spLocks noChangeArrowheads="1"/>
          </p:cNvSpPr>
          <p:nvPr/>
        </p:nvSpPr>
        <p:spPr bwMode="auto">
          <a:xfrm>
            <a:off x="517853" y="61394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矩形 4"/>
          <p:cNvSpPr>
            <a:spLocks noChangeArrowheads="1"/>
          </p:cNvSpPr>
          <p:nvPr/>
        </p:nvSpPr>
        <p:spPr bwMode="auto">
          <a:xfrm>
            <a:off x="635844" y="564113"/>
            <a:ext cx="281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协议的工作原理 </a:t>
            </a:r>
          </a:p>
        </p:txBody>
      </p:sp>
      <p:sp>
        <p:nvSpPr>
          <p:cNvPr id="2" name="矩形 1"/>
          <p:cNvSpPr/>
          <p:nvPr/>
        </p:nvSpPr>
        <p:spPr>
          <a:xfrm>
            <a:off x="635844" y="976484"/>
            <a:ext cx="8003363"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假设：主机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要向互联网上的四台主机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 H</a:t>
            </a:r>
            <a:r>
              <a:rPr lang="en-US" altLang="zh-CN" b="1" baseline="-25000" dirty="0">
                <a:latin typeface="微软雅黑" pitchFamily="34" charset="-122"/>
                <a:ea typeface="微软雅黑" pitchFamily="34" charset="-122"/>
              </a:rPr>
              <a:t>5</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发送多播视频节目，这四台主机打算以某种数据率来接收 </a:t>
            </a:r>
            <a:r>
              <a:rPr lang="en-US" altLang="zh-CN" b="1" dirty="0">
                <a:latin typeface="微软雅黑" pitchFamily="34" charset="-122"/>
                <a:ea typeface="微软雅黑" pitchFamily="34" charset="-122"/>
              </a:rPr>
              <a:t>H</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发送的视频节目。</a:t>
            </a:r>
          </a:p>
        </p:txBody>
      </p:sp>
      <p:grpSp>
        <p:nvGrpSpPr>
          <p:cNvPr id="93" name="Group 106"/>
          <p:cNvGrpSpPr>
            <a:grpSpLocks/>
          </p:cNvGrpSpPr>
          <p:nvPr/>
        </p:nvGrpSpPr>
        <p:grpSpPr bwMode="auto">
          <a:xfrm>
            <a:off x="3327893" y="2292746"/>
            <a:ext cx="787631" cy="328835"/>
            <a:chOff x="1634" y="2715"/>
            <a:chExt cx="765" cy="346"/>
          </a:xfrm>
        </p:grpSpPr>
        <p:sp>
          <p:nvSpPr>
            <p:cNvPr id="94" name="AutoShape 88"/>
            <p:cNvSpPr>
              <a:spLocks noChangeArrowheads="1"/>
            </p:cNvSpPr>
            <p:nvPr/>
          </p:nvSpPr>
          <p:spPr bwMode="auto">
            <a:xfrm flipH="1">
              <a:off x="1732" y="2950"/>
              <a:ext cx="390" cy="111"/>
            </a:xfrm>
            <a:prstGeom prst="rightArrow">
              <a:avLst>
                <a:gd name="adj1" fmla="val 50000"/>
                <a:gd name="adj2" fmla="val 87838"/>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95" name="Text Box 96"/>
            <p:cNvSpPr txBox="1">
              <a:spLocks noChangeArrowheads="1"/>
            </p:cNvSpPr>
            <p:nvPr/>
          </p:nvSpPr>
          <p:spPr bwMode="auto">
            <a:xfrm>
              <a:off x="1634" y="2715"/>
              <a:ext cx="765"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grpSp>
      <p:grpSp>
        <p:nvGrpSpPr>
          <p:cNvPr id="96" name="Group 105"/>
          <p:cNvGrpSpPr>
            <a:grpSpLocks/>
          </p:cNvGrpSpPr>
          <p:nvPr/>
        </p:nvGrpSpPr>
        <p:grpSpPr bwMode="auto">
          <a:xfrm>
            <a:off x="2353907" y="2305102"/>
            <a:ext cx="787631" cy="316479"/>
            <a:chOff x="688" y="2728"/>
            <a:chExt cx="765" cy="333"/>
          </a:xfrm>
        </p:grpSpPr>
        <p:sp>
          <p:nvSpPr>
            <p:cNvPr id="97" name="AutoShape 87"/>
            <p:cNvSpPr>
              <a:spLocks noChangeArrowheads="1"/>
            </p:cNvSpPr>
            <p:nvPr/>
          </p:nvSpPr>
          <p:spPr bwMode="auto">
            <a:xfrm flipH="1">
              <a:off x="818" y="2950"/>
              <a:ext cx="389" cy="111"/>
            </a:xfrm>
            <a:prstGeom prst="rightArrow">
              <a:avLst>
                <a:gd name="adj1" fmla="val 50000"/>
                <a:gd name="adj2" fmla="val 876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98" name="Text Box 97"/>
            <p:cNvSpPr txBox="1">
              <a:spLocks noChangeArrowheads="1"/>
            </p:cNvSpPr>
            <p:nvPr/>
          </p:nvSpPr>
          <p:spPr bwMode="auto">
            <a:xfrm>
              <a:off x="688" y="2728"/>
              <a:ext cx="765"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grpSp>
      <p:grpSp>
        <p:nvGrpSpPr>
          <p:cNvPr id="99" name="Group 111"/>
          <p:cNvGrpSpPr>
            <a:grpSpLocks/>
          </p:cNvGrpSpPr>
          <p:nvPr/>
        </p:nvGrpSpPr>
        <p:grpSpPr bwMode="auto">
          <a:xfrm>
            <a:off x="4121705" y="2117864"/>
            <a:ext cx="1103713" cy="742250"/>
            <a:chOff x="2405" y="2531"/>
            <a:chExt cx="1072" cy="781"/>
          </a:xfrm>
        </p:grpSpPr>
        <p:grpSp>
          <p:nvGrpSpPr>
            <p:cNvPr id="100" name="Group 108"/>
            <p:cNvGrpSpPr>
              <a:grpSpLocks/>
            </p:cNvGrpSpPr>
            <p:nvPr/>
          </p:nvGrpSpPr>
          <p:grpSpPr bwMode="auto">
            <a:xfrm>
              <a:off x="2712" y="3008"/>
              <a:ext cx="765" cy="304"/>
              <a:chOff x="2712" y="3008"/>
              <a:chExt cx="765" cy="304"/>
            </a:xfrm>
          </p:grpSpPr>
          <p:sp>
            <p:nvSpPr>
              <p:cNvPr id="104" name="AutoShape 94"/>
              <p:cNvSpPr>
                <a:spLocks noChangeArrowheads="1"/>
              </p:cNvSpPr>
              <p:nvPr/>
            </p:nvSpPr>
            <p:spPr bwMode="auto">
              <a:xfrm rot="1212895" flipH="1">
                <a:off x="2776" y="3201"/>
                <a:ext cx="390" cy="111"/>
              </a:xfrm>
              <a:prstGeom prst="rightArrow">
                <a:avLst>
                  <a:gd name="adj1" fmla="val 50000"/>
                  <a:gd name="adj2" fmla="val 87838"/>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105" name="Text Box 95"/>
              <p:cNvSpPr txBox="1">
                <a:spLocks noChangeArrowheads="1"/>
              </p:cNvSpPr>
              <p:nvPr/>
            </p:nvSpPr>
            <p:spPr bwMode="auto">
              <a:xfrm rot="1270622">
                <a:off x="2712" y="3008"/>
                <a:ext cx="765"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grpSp>
        <p:grpSp>
          <p:nvGrpSpPr>
            <p:cNvPr id="101" name="Group 107"/>
            <p:cNvGrpSpPr>
              <a:grpSpLocks/>
            </p:cNvGrpSpPr>
            <p:nvPr/>
          </p:nvGrpSpPr>
          <p:grpSpPr bwMode="auto">
            <a:xfrm>
              <a:off x="2405" y="2531"/>
              <a:ext cx="874" cy="363"/>
              <a:chOff x="2405" y="2531"/>
              <a:chExt cx="874" cy="363"/>
            </a:xfrm>
          </p:grpSpPr>
          <p:sp>
            <p:nvSpPr>
              <p:cNvPr id="102" name="AutoShape 89"/>
              <p:cNvSpPr>
                <a:spLocks noChangeArrowheads="1"/>
              </p:cNvSpPr>
              <p:nvPr/>
            </p:nvSpPr>
            <p:spPr bwMode="auto">
              <a:xfrm rot="20167091" flipH="1">
                <a:off x="2651" y="2783"/>
                <a:ext cx="389" cy="111"/>
              </a:xfrm>
              <a:prstGeom prst="rightArrow">
                <a:avLst>
                  <a:gd name="adj1" fmla="val 50000"/>
                  <a:gd name="adj2" fmla="val 87613"/>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103" name="Text Box 98"/>
              <p:cNvSpPr txBox="1">
                <a:spLocks noChangeArrowheads="1"/>
              </p:cNvSpPr>
              <p:nvPr/>
            </p:nvSpPr>
            <p:spPr bwMode="auto">
              <a:xfrm rot="20213853">
                <a:off x="2405" y="2531"/>
                <a:ext cx="874"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100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grpSp>
      </p:grpSp>
      <p:grpSp>
        <p:nvGrpSpPr>
          <p:cNvPr id="106" name="Group 109"/>
          <p:cNvGrpSpPr>
            <a:grpSpLocks/>
          </p:cNvGrpSpPr>
          <p:nvPr/>
        </p:nvGrpSpPr>
        <p:grpSpPr bwMode="auto">
          <a:xfrm>
            <a:off x="5348965" y="2098856"/>
            <a:ext cx="430365" cy="1039720"/>
            <a:chOff x="3597" y="2511"/>
            <a:chExt cx="418" cy="1094"/>
          </a:xfrm>
        </p:grpSpPr>
        <p:sp>
          <p:nvSpPr>
            <p:cNvPr id="107" name="AutoShape 90"/>
            <p:cNvSpPr>
              <a:spLocks noChangeArrowheads="1"/>
            </p:cNvSpPr>
            <p:nvPr/>
          </p:nvSpPr>
          <p:spPr bwMode="auto">
            <a:xfrm rot="1132735" flipH="1">
              <a:off x="3625" y="2790"/>
              <a:ext cx="390" cy="111"/>
            </a:xfrm>
            <a:prstGeom prst="rightArrow">
              <a:avLst>
                <a:gd name="adj1" fmla="val 50000"/>
                <a:gd name="adj2" fmla="val 87838"/>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108" name="AutoShape 92"/>
            <p:cNvSpPr>
              <a:spLocks noChangeArrowheads="1"/>
            </p:cNvSpPr>
            <p:nvPr/>
          </p:nvSpPr>
          <p:spPr bwMode="auto">
            <a:xfrm rot="20696103" flipH="1">
              <a:off x="3611" y="2511"/>
              <a:ext cx="390" cy="112"/>
            </a:xfrm>
            <a:prstGeom prst="rightArrow">
              <a:avLst>
                <a:gd name="adj1" fmla="val 50000"/>
                <a:gd name="adj2" fmla="val 87054"/>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sp>
          <p:nvSpPr>
            <p:cNvPr id="115" name="AutoShape 91"/>
            <p:cNvSpPr>
              <a:spLocks noChangeArrowheads="1"/>
            </p:cNvSpPr>
            <p:nvPr/>
          </p:nvSpPr>
          <p:spPr bwMode="auto">
            <a:xfrm rot="619505" flipH="1">
              <a:off x="3597" y="3493"/>
              <a:ext cx="390" cy="112"/>
            </a:xfrm>
            <a:prstGeom prst="rightArrow">
              <a:avLst>
                <a:gd name="adj1" fmla="val 50000"/>
                <a:gd name="adj2" fmla="val 87054"/>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grpSp>
      <p:sp>
        <p:nvSpPr>
          <p:cNvPr id="116" name="AutoShape 93"/>
          <p:cNvSpPr>
            <a:spLocks noChangeArrowheads="1"/>
          </p:cNvSpPr>
          <p:nvPr/>
        </p:nvSpPr>
        <p:spPr bwMode="auto">
          <a:xfrm rot="6284201" flipH="1">
            <a:off x="4837182" y="3192500"/>
            <a:ext cx="360000" cy="108000"/>
          </a:xfrm>
          <a:prstGeom prst="rightArrow">
            <a:avLst>
              <a:gd name="adj1" fmla="val 50000"/>
              <a:gd name="adj2" fmla="val 87054"/>
            </a:avLst>
          </a:prstGeom>
          <a:solidFill>
            <a:srgbClr val="FFFF00"/>
          </a:solidFill>
          <a:ln w="9525">
            <a:solidFill>
              <a:schemeClr val="tx1"/>
            </a:solidFill>
            <a:miter lim="800000"/>
            <a:headEnd/>
            <a:tailEnd/>
          </a:ln>
          <a:effectLst/>
        </p:spPr>
        <p:txBody>
          <a:bodyPr wrap="none" anchor="ctr"/>
          <a:lstStyle/>
          <a:p>
            <a:endParaRPr lang="zh-CN" altLang="en-US" sz="1050" b="1">
              <a:latin typeface="微软雅黑" pitchFamily="34" charset="-122"/>
              <a:ea typeface="微软雅黑" pitchFamily="34" charset="-122"/>
            </a:endParaRPr>
          </a:p>
        </p:txBody>
      </p:sp>
      <p:grpSp>
        <p:nvGrpSpPr>
          <p:cNvPr id="3" name="组合 2"/>
          <p:cNvGrpSpPr/>
          <p:nvPr/>
        </p:nvGrpSpPr>
        <p:grpSpPr>
          <a:xfrm>
            <a:off x="1794842" y="1946795"/>
            <a:ext cx="5482522" cy="2188645"/>
            <a:chOff x="1794842" y="1946795"/>
            <a:chExt cx="5482522" cy="2188645"/>
          </a:xfrm>
        </p:grpSpPr>
        <p:sp>
          <p:nvSpPr>
            <p:cNvPr id="117" name="Line 41"/>
            <p:cNvSpPr>
              <a:spLocks noChangeShapeType="1"/>
            </p:cNvSpPr>
            <p:nvPr/>
          </p:nvSpPr>
          <p:spPr bwMode="auto">
            <a:xfrm>
              <a:off x="5269510" y="3003131"/>
              <a:ext cx="3449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grpSp>
          <p:nvGrpSpPr>
            <p:cNvPr id="53" name="组合 52"/>
            <p:cNvGrpSpPr/>
            <p:nvPr/>
          </p:nvGrpSpPr>
          <p:grpSpPr>
            <a:xfrm>
              <a:off x="1794842" y="1946795"/>
              <a:ext cx="5482522" cy="2188645"/>
              <a:chOff x="1777428" y="2558755"/>
              <a:chExt cx="5482522" cy="2188645"/>
            </a:xfrm>
          </p:grpSpPr>
          <p:sp>
            <p:nvSpPr>
              <p:cNvPr id="54" name="Line 40"/>
              <p:cNvSpPr>
                <a:spLocks noChangeShapeType="1"/>
              </p:cNvSpPr>
              <p:nvPr/>
            </p:nvSpPr>
            <p:spPr bwMode="auto">
              <a:xfrm>
                <a:off x="5243000" y="3631738"/>
                <a:ext cx="344910" cy="0"/>
              </a:xfrm>
              <a:prstGeom prst="line">
                <a:avLst/>
              </a:prstGeom>
              <a:noFill/>
              <a:ln w="1905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5" name="Line 41"/>
              <p:cNvSpPr>
                <a:spLocks noChangeShapeType="1"/>
              </p:cNvSpPr>
              <p:nvPr/>
            </p:nvSpPr>
            <p:spPr bwMode="auto">
              <a:xfrm>
                <a:off x="5243000" y="2889488"/>
                <a:ext cx="3449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6" name="Line 42"/>
              <p:cNvSpPr>
                <a:spLocks noChangeShapeType="1"/>
              </p:cNvSpPr>
              <p:nvPr/>
            </p:nvSpPr>
            <p:spPr bwMode="auto">
              <a:xfrm rot="5400000">
                <a:off x="5048884" y="3763841"/>
                <a:ext cx="1596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7" name="Line 43"/>
              <p:cNvSpPr>
                <a:spLocks noChangeShapeType="1"/>
              </p:cNvSpPr>
              <p:nvPr/>
            </p:nvSpPr>
            <p:spPr bwMode="auto">
              <a:xfrm rot="16200000" flipH="1">
                <a:off x="4481109" y="3917803"/>
                <a:ext cx="14826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8" name="Line 44"/>
              <p:cNvSpPr>
                <a:spLocks noChangeShapeType="1"/>
              </p:cNvSpPr>
              <p:nvPr/>
            </p:nvSpPr>
            <p:spPr bwMode="auto">
              <a:xfrm rot="10800000">
                <a:off x="5587909" y="3843673"/>
                <a:ext cx="28622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59" name="Line 45"/>
              <p:cNvSpPr>
                <a:spLocks noChangeShapeType="1"/>
              </p:cNvSpPr>
              <p:nvPr/>
            </p:nvSpPr>
            <p:spPr bwMode="auto">
              <a:xfrm rot="10800000">
                <a:off x="5587909" y="3260138"/>
                <a:ext cx="28622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0" name="Line 46"/>
              <p:cNvSpPr>
                <a:spLocks noChangeShapeType="1"/>
              </p:cNvSpPr>
              <p:nvPr/>
            </p:nvSpPr>
            <p:spPr bwMode="auto">
              <a:xfrm rot="10800000">
                <a:off x="5587909" y="2783996"/>
                <a:ext cx="28622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1" name="Line 47"/>
              <p:cNvSpPr>
                <a:spLocks noChangeShapeType="1"/>
              </p:cNvSpPr>
              <p:nvPr/>
            </p:nvSpPr>
            <p:spPr bwMode="auto">
              <a:xfrm>
                <a:off x="4154732" y="3313359"/>
                <a:ext cx="916328" cy="318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2" name="Line 48"/>
              <p:cNvSpPr>
                <a:spLocks noChangeShapeType="1"/>
              </p:cNvSpPr>
              <p:nvPr/>
            </p:nvSpPr>
            <p:spPr bwMode="auto">
              <a:xfrm>
                <a:off x="2221178" y="3260138"/>
                <a:ext cx="187589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3" name="Line 62"/>
              <p:cNvSpPr>
                <a:spLocks noChangeShapeType="1"/>
              </p:cNvSpPr>
              <p:nvPr/>
            </p:nvSpPr>
            <p:spPr bwMode="auto">
              <a:xfrm flipV="1">
                <a:off x="4211359" y="2889488"/>
                <a:ext cx="917357" cy="3706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4" name="Line 63"/>
              <p:cNvSpPr>
                <a:spLocks noChangeShapeType="1"/>
              </p:cNvSpPr>
              <p:nvPr/>
            </p:nvSpPr>
            <p:spPr bwMode="auto">
              <a:xfrm>
                <a:off x="4383299" y="3843673"/>
                <a:ext cx="85970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5" name="Line 64"/>
              <p:cNvSpPr>
                <a:spLocks noChangeShapeType="1"/>
              </p:cNvSpPr>
              <p:nvPr/>
            </p:nvSpPr>
            <p:spPr bwMode="auto">
              <a:xfrm rot="16200000">
                <a:off x="5242881" y="3022542"/>
                <a:ext cx="6890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6" name="Line 65"/>
              <p:cNvSpPr>
                <a:spLocks noChangeShapeType="1"/>
              </p:cNvSpPr>
              <p:nvPr/>
            </p:nvSpPr>
            <p:spPr bwMode="auto">
              <a:xfrm rot="16200000">
                <a:off x="5355976" y="3682108"/>
                <a:ext cx="4628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7" name="Line 66"/>
              <p:cNvSpPr>
                <a:spLocks noChangeShapeType="1"/>
              </p:cNvSpPr>
              <p:nvPr/>
            </p:nvSpPr>
            <p:spPr bwMode="auto">
              <a:xfrm rot="10800000">
                <a:off x="5587909" y="3556658"/>
                <a:ext cx="1719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8" name="Line 67"/>
              <p:cNvSpPr>
                <a:spLocks noChangeShapeType="1"/>
              </p:cNvSpPr>
              <p:nvPr/>
            </p:nvSpPr>
            <p:spPr bwMode="auto">
              <a:xfrm rot="10800000">
                <a:off x="5587909" y="2995931"/>
                <a:ext cx="1719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sp>
            <p:nvSpPr>
              <p:cNvPr id="69" name="Line 70"/>
              <p:cNvSpPr>
                <a:spLocks noChangeShapeType="1"/>
              </p:cNvSpPr>
              <p:nvPr/>
            </p:nvSpPr>
            <p:spPr bwMode="auto">
              <a:xfrm rot="5400000">
                <a:off x="4829543" y="3923506"/>
                <a:ext cx="15871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50" b="1">
                  <a:latin typeface="微软雅黑" pitchFamily="34" charset="-122"/>
                  <a:ea typeface="微软雅黑" pitchFamily="34" charset="-122"/>
                </a:endParaRPr>
              </a:p>
            </p:txBody>
          </p:sp>
          <p:pic>
            <p:nvPicPr>
              <p:cNvPr id="70" name="Picture 4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7778" y="3154645"/>
                <a:ext cx="343880" cy="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1" name="Text Box 50"/>
              <p:cNvSpPr txBox="1">
                <a:spLocks noChangeArrowheads="1"/>
              </p:cNvSpPr>
              <p:nvPr/>
            </p:nvSpPr>
            <p:spPr bwMode="auto">
              <a:xfrm>
                <a:off x="1777428" y="3015889"/>
                <a:ext cx="358294"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1</a:t>
                </a:r>
              </a:p>
            </p:txBody>
          </p:sp>
          <p:sp>
            <p:nvSpPr>
              <p:cNvPr id="72" name="Text Box 51"/>
              <p:cNvSpPr txBox="1">
                <a:spLocks noChangeArrowheads="1"/>
              </p:cNvSpPr>
              <p:nvPr/>
            </p:nvSpPr>
            <p:spPr bwMode="auto">
              <a:xfrm>
                <a:off x="6103730" y="2558755"/>
                <a:ext cx="1110919"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2</a:t>
                </a:r>
                <a:r>
                  <a:rPr kumimoji="1" lang="en-US" altLang="zh-CN" sz="1100" b="1" dirty="0">
                    <a:latin typeface="微软雅黑" pitchFamily="34" charset="-122"/>
                    <a:ea typeface="微软雅黑" pitchFamily="34" charset="-122"/>
                  </a:rPr>
                  <a:t>   50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73" name="Text Box 52"/>
              <p:cNvSpPr txBox="1">
                <a:spLocks noChangeArrowheads="1"/>
              </p:cNvSpPr>
              <p:nvPr/>
            </p:nvSpPr>
            <p:spPr bwMode="auto">
              <a:xfrm>
                <a:off x="3947786" y="2902794"/>
                <a:ext cx="339762"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R</a:t>
                </a:r>
                <a:r>
                  <a:rPr kumimoji="1" lang="en-US" altLang="zh-CN" sz="1100" b="1" baseline="-25000" dirty="0">
                    <a:latin typeface="微软雅黑" pitchFamily="34" charset="-122"/>
                    <a:ea typeface="微软雅黑" pitchFamily="34" charset="-122"/>
                  </a:rPr>
                  <a:t>2</a:t>
                </a:r>
              </a:p>
            </p:txBody>
          </p:sp>
          <p:sp>
            <p:nvSpPr>
              <p:cNvPr id="74" name="Text Box 53"/>
              <p:cNvSpPr txBox="1">
                <a:spLocks noChangeArrowheads="1"/>
              </p:cNvSpPr>
              <p:nvPr/>
            </p:nvSpPr>
            <p:spPr bwMode="auto">
              <a:xfrm>
                <a:off x="3041754" y="2922752"/>
                <a:ext cx="339762"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1</a:t>
                </a:r>
              </a:p>
            </p:txBody>
          </p:sp>
          <p:pic>
            <p:nvPicPr>
              <p:cNvPr id="75" name="Picture 5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6776" y="3525295"/>
                <a:ext cx="343880" cy="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6" name="Picture 6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6776" y="2783996"/>
                <a:ext cx="343880" cy="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7" name="Picture 6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5135" y="3154645"/>
                <a:ext cx="343880" cy="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8" name="Text Box 68"/>
              <p:cNvSpPr txBox="1">
                <a:spLocks noChangeArrowheads="1"/>
              </p:cNvSpPr>
              <p:nvPr/>
            </p:nvSpPr>
            <p:spPr bwMode="auto">
              <a:xfrm>
                <a:off x="6103730" y="3045351"/>
                <a:ext cx="1156220"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3</a:t>
                </a:r>
                <a:r>
                  <a:rPr kumimoji="1" lang="en-US" altLang="zh-CN" sz="1100" b="1" dirty="0">
                    <a:latin typeface="微软雅黑" pitchFamily="34" charset="-122"/>
                    <a:ea typeface="微软雅黑" pitchFamily="34" charset="-122"/>
                  </a:rPr>
                  <a:t>  100 </a:t>
                </a:r>
                <a:r>
                  <a:rPr kumimoji="1" lang="en-US" altLang="zh-CN" sz="1100" b="1" dirty="0" err="1">
                    <a:latin typeface="微软雅黑" pitchFamily="34" charset="-122"/>
                    <a:ea typeface="微软雅黑" pitchFamily="34" charset="-122"/>
                  </a:rPr>
                  <a:t>kbit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79" name="Text Box 69"/>
              <p:cNvSpPr txBox="1">
                <a:spLocks noChangeArrowheads="1"/>
              </p:cNvSpPr>
              <p:nvPr/>
            </p:nvSpPr>
            <p:spPr bwMode="auto">
              <a:xfrm>
                <a:off x="6103730" y="3649795"/>
                <a:ext cx="1043996"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4</a:t>
                </a:r>
                <a:r>
                  <a:rPr kumimoji="1" lang="en-US" altLang="zh-CN" sz="1100" b="1" dirty="0">
                    <a:latin typeface="微软雅黑" pitchFamily="34" charset="-122"/>
                    <a:ea typeface="微软雅黑" pitchFamily="34" charset="-122"/>
                  </a:rPr>
                  <a:t>  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80" name="Text Box 71"/>
              <p:cNvSpPr txBox="1">
                <a:spLocks noChangeArrowheads="1"/>
              </p:cNvSpPr>
              <p:nvPr/>
            </p:nvSpPr>
            <p:spPr bwMode="auto">
              <a:xfrm>
                <a:off x="4988693" y="2571110"/>
                <a:ext cx="339762"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R</a:t>
                </a:r>
                <a:r>
                  <a:rPr kumimoji="1" lang="en-US" altLang="zh-CN" sz="1100" b="1" baseline="-25000">
                    <a:latin typeface="微软雅黑" pitchFamily="34" charset="-122"/>
                    <a:ea typeface="微软雅黑" pitchFamily="34" charset="-122"/>
                  </a:rPr>
                  <a:t>3</a:t>
                </a:r>
              </a:p>
            </p:txBody>
          </p:sp>
          <p:sp>
            <p:nvSpPr>
              <p:cNvPr id="81" name="Text Box 72"/>
              <p:cNvSpPr txBox="1">
                <a:spLocks noChangeArrowheads="1"/>
              </p:cNvSpPr>
              <p:nvPr/>
            </p:nvSpPr>
            <p:spPr bwMode="auto">
              <a:xfrm>
                <a:off x="5027817" y="3299104"/>
                <a:ext cx="339762"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R</a:t>
                </a:r>
                <a:r>
                  <a:rPr kumimoji="1" lang="en-US" altLang="zh-CN" sz="1100" b="1" baseline="-25000" dirty="0">
                    <a:latin typeface="微软雅黑" pitchFamily="34" charset="-122"/>
                    <a:ea typeface="微软雅黑" pitchFamily="34" charset="-122"/>
                  </a:rPr>
                  <a:t>4</a:t>
                </a:r>
              </a:p>
            </p:txBody>
          </p:sp>
          <p:sp>
            <p:nvSpPr>
              <p:cNvPr id="82" name="Text Box 73"/>
              <p:cNvSpPr txBox="1">
                <a:spLocks noChangeArrowheads="1"/>
              </p:cNvSpPr>
              <p:nvPr/>
            </p:nvSpPr>
            <p:spPr bwMode="auto">
              <a:xfrm>
                <a:off x="5002635" y="4046086"/>
                <a:ext cx="1043996"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H</a:t>
                </a:r>
                <a:r>
                  <a:rPr kumimoji="1" lang="en-US" altLang="zh-CN" sz="1100" b="1" baseline="-25000" dirty="0">
                    <a:latin typeface="微软雅黑" pitchFamily="34" charset="-122"/>
                    <a:ea typeface="微软雅黑" pitchFamily="34" charset="-122"/>
                  </a:rPr>
                  <a:t>5</a:t>
                </a:r>
                <a:r>
                  <a:rPr kumimoji="1" lang="en-US" altLang="zh-CN" sz="1100" b="1" dirty="0">
                    <a:latin typeface="微软雅黑" pitchFamily="34" charset="-122"/>
                    <a:ea typeface="微软雅黑" pitchFamily="34" charset="-122"/>
                  </a:rPr>
                  <a:t>  3 </a:t>
                </a:r>
                <a:r>
                  <a:rPr kumimoji="1" lang="en-US" altLang="zh-CN" sz="1100" b="1" dirty="0" err="1">
                    <a:latin typeface="微软雅黑" pitchFamily="34" charset="-122"/>
                    <a:ea typeface="微软雅黑" pitchFamily="34" charset="-122"/>
                  </a:rPr>
                  <a:t>Mbit</a:t>
                </a:r>
                <a:r>
                  <a:rPr kumimoji="1" lang="en-US" altLang="zh-CN" sz="1100" b="1" dirty="0">
                    <a:latin typeface="微软雅黑" pitchFamily="34" charset="-122"/>
                    <a:ea typeface="微软雅黑" pitchFamily="34" charset="-122"/>
                  </a:rPr>
                  <a:t>/s</a:t>
                </a:r>
                <a:endParaRPr kumimoji="1" lang="en-US" altLang="zh-CN" sz="1100" b="1" baseline="-25000" dirty="0">
                  <a:latin typeface="微软雅黑" pitchFamily="34" charset="-122"/>
                  <a:ea typeface="微软雅黑" pitchFamily="34" charset="-122"/>
                </a:endParaRPr>
              </a:p>
            </p:txBody>
          </p:sp>
          <p:sp>
            <p:nvSpPr>
              <p:cNvPr id="83" name="Text Box 74"/>
              <p:cNvSpPr txBox="1">
                <a:spLocks noChangeArrowheads="1"/>
              </p:cNvSpPr>
              <p:nvPr/>
            </p:nvSpPr>
            <p:spPr bwMode="auto">
              <a:xfrm>
                <a:off x="1985403" y="2828664"/>
                <a:ext cx="466400"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源站</a:t>
                </a:r>
                <a:endParaRPr kumimoji="1" lang="zh-CN" altLang="en-US" sz="1100" b="1" baseline="-25000" dirty="0">
                  <a:latin typeface="微软雅黑" pitchFamily="34" charset="-122"/>
                  <a:ea typeface="微软雅黑" pitchFamily="34" charset="-122"/>
                </a:endParaRPr>
              </a:p>
            </p:txBody>
          </p:sp>
          <p:sp>
            <p:nvSpPr>
              <p:cNvPr id="84" name="Text Box 75"/>
              <p:cNvSpPr txBox="1">
                <a:spLocks noChangeArrowheads="1"/>
              </p:cNvSpPr>
              <p:nvPr/>
            </p:nvSpPr>
            <p:spPr bwMode="auto">
              <a:xfrm>
                <a:off x="3133000" y="4408846"/>
                <a:ext cx="330731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FF"/>
                    </a:solidFill>
                    <a:latin typeface="微软雅黑" pitchFamily="34" charset="-122"/>
                    <a:ea typeface="微软雅黑" pitchFamily="34" charset="-122"/>
                  </a:rPr>
                  <a:t>(b) </a:t>
                </a:r>
                <a:r>
                  <a:rPr kumimoji="1" lang="zh-CN" altLang="en-US" sz="1600" b="1" dirty="0">
                    <a:solidFill>
                      <a:srgbClr val="0000FF"/>
                    </a:solidFill>
                    <a:latin typeface="微软雅黑" pitchFamily="34" charset="-122"/>
                    <a:ea typeface="微软雅黑" pitchFamily="34" charset="-122"/>
                  </a:rPr>
                  <a:t>各终点向源点返回 </a:t>
                </a:r>
                <a:r>
                  <a:rPr kumimoji="1" lang="en-US" altLang="zh-CN" sz="1600" b="1" dirty="0">
                    <a:solidFill>
                      <a:srgbClr val="0000FF"/>
                    </a:solidFill>
                    <a:latin typeface="微软雅黑" pitchFamily="34" charset="-122"/>
                    <a:ea typeface="微软雅黑" pitchFamily="34" charset="-122"/>
                  </a:rPr>
                  <a:t>RESV </a:t>
                </a:r>
                <a:r>
                  <a:rPr kumimoji="1" lang="zh-CN" altLang="en-US" sz="1600" b="1" dirty="0">
                    <a:solidFill>
                      <a:srgbClr val="0000FF"/>
                    </a:solidFill>
                    <a:latin typeface="微软雅黑" pitchFamily="34" charset="-122"/>
                    <a:ea typeface="微软雅黑" pitchFamily="34" charset="-122"/>
                  </a:rPr>
                  <a:t>报文 </a:t>
                </a:r>
              </a:p>
            </p:txBody>
          </p:sp>
          <p:sp>
            <p:nvSpPr>
              <p:cNvPr id="85" name="AutoShape 99"/>
              <p:cNvSpPr>
                <a:spLocks noChangeArrowheads="1"/>
              </p:cNvSpPr>
              <p:nvPr/>
            </p:nvSpPr>
            <p:spPr bwMode="auto">
              <a:xfrm>
                <a:off x="2097628" y="3559473"/>
                <a:ext cx="1784265" cy="350691"/>
              </a:xfrm>
              <a:prstGeom prst="roundRect">
                <a:avLst>
                  <a:gd name="adj" fmla="val 16667"/>
                </a:avLst>
              </a:prstGeom>
              <a:solidFill>
                <a:srgbClr val="66FFFF"/>
              </a:solidFill>
              <a:ln w="9525">
                <a:solidFill>
                  <a:schemeClr val="tx1"/>
                </a:solidFill>
                <a:round/>
                <a:headEnd/>
                <a:tailEnd/>
              </a:ln>
              <a:effectLst/>
            </p:spPr>
            <p:txBody>
              <a:bodyPr wrap="none" anchor="ctr"/>
              <a:lstStyle/>
              <a:p>
                <a:endParaRPr lang="zh-CN" altLang="en-US" sz="1050" b="1">
                  <a:latin typeface="微软雅黑" pitchFamily="34" charset="-122"/>
                  <a:ea typeface="微软雅黑" pitchFamily="34" charset="-122"/>
                </a:endParaRPr>
              </a:p>
            </p:txBody>
          </p:sp>
          <p:sp>
            <p:nvSpPr>
              <p:cNvPr id="86" name="Text Box 100"/>
              <p:cNvSpPr txBox="1">
                <a:spLocks noChangeArrowheads="1"/>
              </p:cNvSpPr>
              <p:nvPr/>
            </p:nvSpPr>
            <p:spPr bwMode="auto">
              <a:xfrm>
                <a:off x="2489898" y="3609843"/>
                <a:ext cx="1196374" cy="26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表示 </a:t>
                </a:r>
                <a:r>
                  <a:rPr kumimoji="1" lang="en-US" altLang="zh-CN" sz="1100" b="1" dirty="0">
                    <a:latin typeface="微软雅黑" pitchFamily="34" charset="-122"/>
                    <a:ea typeface="微软雅黑" pitchFamily="34" charset="-122"/>
                  </a:rPr>
                  <a:t>RESV </a:t>
                </a:r>
                <a:r>
                  <a:rPr kumimoji="1" lang="zh-CN" altLang="en-US" sz="1100" b="1" dirty="0">
                    <a:latin typeface="微软雅黑" pitchFamily="34" charset="-122"/>
                    <a:ea typeface="微软雅黑" pitchFamily="34" charset="-122"/>
                  </a:rPr>
                  <a:t>报文</a:t>
                </a:r>
                <a:endParaRPr kumimoji="1" lang="zh-CN" altLang="en-US" sz="1100" b="1" baseline="-25000" dirty="0">
                  <a:latin typeface="微软雅黑" pitchFamily="34" charset="-122"/>
                  <a:ea typeface="微软雅黑" pitchFamily="34" charset="-122"/>
                </a:endParaRPr>
              </a:p>
            </p:txBody>
          </p:sp>
          <p:sp>
            <p:nvSpPr>
              <p:cNvPr id="87" name="AutoShape 101"/>
              <p:cNvSpPr>
                <a:spLocks noChangeArrowheads="1"/>
              </p:cNvSpPr>
              <p:nvPr/>
            </p:nvSpPr>
            <p:spPr bwMode="auto">
              <a:xfrm>
                <a:off x="2135722" y="3685874"/>
                <a:ext cx="400507" cy="105493"/>
              </a:xfrm>
              <a:prstGeom prst="rightArrow">
                <a:avLst>
                  <a:gd name="adj1" fmla="val 50000"/>
                  <a:gd name="adj2" fmla="val 876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50" b="1">
                  <a:latin typeface="微软雅黑" pitchFamily="34" charset="-122"/>
                  <a:ea typeface="微软雅黑" pitchFamily="34" charset="-122"/>
                </a:endParaRPr>
              </a:p>
            </p:txBody>
          </p:sp>
          <p:pic>
            <p:nvPicPr>
              <p:cNvPr id="88"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2715" y="3077319"/>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8049" y="3960303"/>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8893" y="3659850"/>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5139" y="2590310"/>
                <a:ext cx="328414" cy="328415"/>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5139" y="3073665"/>
                <a:ext cx="328414" cy="328415"/>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38410912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500"/>
                                  </p:stCondLst>
                                  <p:childTnLst>
                                    <p:set>
                                      <p:cBhvr>
                                        <p:cTn id="6" dur="1" fill="hold">
                                          <p:stCondLst>
                                            <p:cond delay="0"/>
                                          </p:stCondLst>
                                        </p:cTn>
                                        <p:tgtEl>
                                          <p:spTgt spid="106"/>
                                        </p:tgtEl>
                                        <p:attrNameLst>
                                          <p:attrName>style.visibility</p:attrName>
                                        </p:attrNameLst>
                                      </p:cBhvr>
                                      <p:to>
                                        <p:strVal val="visible"/>
                                      </p:to>
                                    </p:set>
                                    <p:animEffect transition="in" filter="wipe(right)">
                                      <p:cBhvr>
                                        <p:cTn id="7" dur="1000"/>
                                        <p:tgtEl>
                                          <p:spTgt spid="106"/>
                                        </p:tgtEl>
                                      </p:cBhvr>
                                    </p:animEffect>
                                  </p:childTnLst>
                                </p:cTn>
                              </p:par>
                              <p:par>
                                <p:cTn id="8" presetID="22" presetClass="entr" presetSubtype="4" fill="hold" grpId="0" nodeType="withEffect">
                                  <p:stCondLst>
                                    <p:cond delay="500"/>
                                  </p:stCondLst>
                                  <p:childTnLst>
                                    <p:set>
                                      <p:cBhvr>
                                        <p:cTn id="9" dur="1" fill="hold">
                                          <p:stCondLst>
                                            <p:cond delay="0"/>
                                          </p:stCondLst>
                                        </p:cTn>
                                        <p:tgtEl>
                                          <p:spTgt spid="116"/>
                                        </p:tgtEl>
                                        <p:attrNameLst>
                                          <p:attrName>style.visibility</p:attrName>
                                        </p:attrNameLst>
                                      </p:cBhvr>
                                      <p:to>
                                        <p:strVal val="visible"/>
                                      </p:to>
                                    </p:set>
                                    <p:animEffect transition="in" filter="wipe(down)">
                                      <p:cBhvr>
                                        <p:cTn id="10" dur="1000"/>
                                        <p:tgtEl>
                                          <p:spTgt spid="116"/>
                                        </p:tgtEl>
                                      </p:cBhvr>
                                    </p:animEffect>
                                  </p:childTnLst>
                                </p:cTn>
                              </p:par>
                            </p:childTnLst>
                          </p:cTn>
                        </p:par>
                        <p:par>
                          <p:cTn id="11" fill="hold">
                            <p:stCondLst>
                              <p:cond delay="1500"/>
                            </p:stCondLst>
                            <p:childTnLst>
                              <p:par>
                                <p:cTn id="12" presetID="22" presetClass="entr" presetSubtype="2" fill="hold" nodeType="afterEffect">
                                  <p:stCondLst>
                                    <p:cond delay="500"/>
                                  </p:stCondLst>
                                  <p:childTnLst>
                                    <p:set>
                                      <p:cBhvr>
                                        <p:cTn id="13" dur="1" fill="hold">
                                          <p:stCondLst>
                                            <p:cond delay="0"/>
                                          </p:stCondLst>
                                        </p:cTn>
                                        <p:tgtEl>
                                          <p:spTgt spid="99"/>
                                        </p:tgtEl>
                                        <p:attrNameLst>
                                          <p:attrName>style.visibility</p:attrName>
                                        </p:attrNameLst>
                                      </p:cBhvr>
                                      <p:to>
                                        <p:strVal val="visible"/>
                                      </p:to>
                                    </p:set>
                                    <p:animEffect transition="in" filter="wipe(right)">
                                      <p:cBhvr>
                                        <p:cTn id="14" dur="1000"/>
                                        <p:tgtEl>
                                          <p:spTgt spid="99"/>
                                        </p:tgtEl>
                                      </p:cBhvr>
                                    </p:animEffect>
                                  </p:childTnLst>
                                </p:cTn>
                              </p:par>
                            </p:childTnLst>
                          </p:cTn>
                        </p:par>
                        <p:par>
                          <p:cTn id="15" fill="hold">
                            <p:stCondLst>
                              <p:cond delay="3000"/>
                            </p:stCondLst>
                            <p:childTnLst>
                              <p:par>
                                <p:cTn id="16" presetID="22" presetClass="entr" presetSubtype="2" fill="hold" nodeType="afterEffect">
                                  <p:stCondLst>
                                    <p:cond delay="500"/>
                                  </p:stCondLst>
                                  <p:childTnLst>
                                    <p:set>
                                      <p:cBhvr>
                                        <p:cTn id="17" dur="1" fill="hold">
                                          <p:stCondLst>
                                            <p:cond delay="0"/>
                                          </p:stCondLst>
                                        </p:cTn>
                                        <p:tgtEl>
                                          <p:spTgt spid="93"/>
                                        </p:tgtEl>
                                        <p:attrNameLst>
                                          <p:attrName>style.visibility</p:attrName>
                                        </p:attrNameLst>
                                      </p:cBhvr>
                                      <p:to>
                                        <p:strVal val="visible"/>
                                      </p:to>
                                    </p:set>
                                    <p:animEffect transition="in" filter="wipe(right)">
                                      <p:cBhvr>
                                        <p:cTn id="18" dur="1000"/>
                                        <p:tgtEl>
                                          <p:spTgt spid="93"/>
                                        </p:tgtEl>
                                      </p:cBhvr>
                                    </p:animEffect>
                                  </p:childTnLst>
                                </p:cTn>
                              </p:par>
                            </p:childTnLst>
                          </p:cTn>
                        </p:par>
                        <p:par>
                          <p:cTn id="19" fill="hold">
                            <p:stCondLst>
                              <p:cond delay="4500"/>
                            </p:stCondLst>
                            <p:childTnLst>
                              <p:par>
                                <p:cTn id="20" presetID="22" presetClass="entr" presetSubtype="2" fill="hold" nodeType="afterEffect">
                                  <p:stCondLst>
                                    <p:cond delay="500"/>
                                  </p:stCondLst>
                                  <p:childTnLst>
                                    <p:set>
                                      <p:cBhvr>
                                        <p:cTn id="21" dur="1" fill="hold">
                                          <p:stCondLst>
                                            <p:cond delay="0"/>
                                          </p:stCondLst>
                                        </p:cTn>
                                        <p:tgtEl>
                                          <p:spTgt spid="96"/>
                                        </p:tgtEl>
                                        <p:attrNameLst>
                                          <p:attrName>style.visibility</p:attrName>
                                        </p:attrNameLst>
                                      </p:cBhvr>
                                      <p:to>
                                        <p:strVal val="visible"/>
                                      </p:to>
                                    </p:set>
                                    <p:animEffect transition="in" filter="wipe(right)">
                                      <p:cBhvr>
                                        <p:cTn id="22" dur="10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AutoShape 5"/>
          <p:cNvSpPr>
            <a:spLocks noChangeArrowheads="1"/>
          </p:cNvSpPr>
          <p:nvPr/>
        </p:nvSpPr>
        <p:spPr bwMode="auto">
          <a:xfrm>
            <a:off x="517853" y="613941"/>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矩形 4"/>
          <p:cNvSpPr>
            <a:spLocks noChangeArrowheads="1"/>
          </p:cNvSpPr>
          <p:nvPr/>
        </p:nvSpPr>
        <p:spPr bwMode="auto">
          <a:xfrm>
            <a:off x="635844" y="564113"/>
            <a:ext cx="281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协议的工作原理 </a:t>
            </a:r>
          </a:p>
        </p:txBody>
      </p:sp>
      <p:sp>
        <p:nvSpPr>
          <p:cNvPr id="110" name="Rectangle 46"/>
          <p:cNvSpPr>
            <a:spLocks noChangeArrowheads="1"/>
          </p:cNvSpPr>
          <p:nvPr/>
        </p:nvSpPr>
        <p:spPr bwMode="auto">
          <a:xfrm>
            <a:off x="511896" y="934535"/>
            <a:ext cx="8295674"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err="1">
                <a:latin typeface="微软雅黑" pitchFamily="34" charset="-122"/>
                <a:ea typeface="微软雅黑" pitchFamily="34" charset="-122"/>
              </a:rPr>
              <a:t>IntServ</a:t>
            </a:r>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所基于的概念是</a:t>
            </a:r>
            <a:r>
              <a:rPr lang="zh-CN" altLang="en-US" sz="2000" b="1" dirty="0">
                <a:solidFill>
                  <a:srgbClr val="0000FF"/>
                </a:solidFill>
                <a:latin typeface="微软雅黑" pitchFamily="34" charset="-122"/>
                <a:ea typeface="微软雅黑" pitchFamily="34" charset="-122"/>
              </a:rPr>
              <a:t>端系统中与分组流有关的状态信息。</a:t>
            </a:r>
            <a:endParaRPr lang="en-US" altLang="zh-CN" sz="2000" b="1" dirty="0">
              <a:solidFill>
                <a:srgbClr val="0000FF"/>
              </a:solidFill>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各路由器中的预留信息只存储</a:t>
            </a:r>
            <a:r>
              <a:rPr lang="zh-CN" altLang="en-US" sz="2000" b="1" dirty="0">
                <a:solidFill>
                  <a:srgbClr val="C00000"/>
                </a:solidFill>
                <a:latin typeface="微软雅黑" pitchFamily="34" charset="-122"/>
                <a:ea typeface="微软雅黑" pitchFamily="34" charset="-122"/>
              </a:rPr>
              <a:t>有限时间</a:t>
            </a:r>
            <a:r>
              <a:rPr lang="zh-CN" altLang="en-US" sz="2000" b="1" dirty="0">
                <a:latin typeface="微软雅黑" pitchFamily="34" charset="-122"/>
                <a:ea typeface="微软雅黑" pitchFamily="34" charset="-122"/>
              </a:rPr>
              <a:t>（称为</a:t>
            </a:r>
            <a:r>
              <a:rPr lang="zh-CN" altLang="en-US" sz="2000" b="1" dirty="0">
                <a:solidFill>
                  <a:srgbClr val="0000FF"/>
                </a:solidFill>
                <a:latin typeface="微软雅黑" pitchFamily="34" charset="-122"/>
                <a:ea typeface="微软雅黑" pitchFamily="34" charset="-122"/>
              </a:rPr>
              <a:t>软状态 </a:t>
            </a:r>
            <a:r>
              <a:rPr lang="en-US" altLang="zh-CN" sz="2000" b="1" dirty="0">
                <a:latin typeface="微软雅黑" pitchFamily="34" charset="-122"/>
                <a:ea typeface="微软雅黑" pitchFamily="34" charset="-122"/>
              </a:rPr>
              <a:t>soft-state</a:t>
            </a:r>
            <a:r>
              <a:rPr lang="zh-CN" altLang="en-US" sz="2000" b="1" dirty="0">
                <a:latin typeface="微软雅黑" pitchFamily="34" charset="-122"/>
                <a:ea typeface="微软雅黑" pitchFamily="34" charset="-122"/>
              </a:rPr>
              <a:t>），因而各终点对这些预留信息必须</a:t>
            </a:r>
            <a:r>
              <a:rPr lang="zh-CN" altLang="en-US" sz="2000" b="1" dirty="0">
                <a:solidFill>
                  <a:srgbClr val="C00000"/>
                </a:solidFill>
                <a:latin typeface="微软雅黑" pitchFamily="34" charset="-122"/>
                <a:ea typeface="微软雅黑" pitchFamily="34" charset="-122"/>
              </a:rPr>
              <a:t>定期进行更新。</a:t>
            </a:r>
            <a:endParaRPr lang="en-US" altLang="zh-CN" sz="2000" b="1" dirty="0">
              <a:solidFill>
                <a:srgbClr val="C00000"/>
              </a:solidFill>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协议不是运输层协议，而是</a:t>
            </a:r>
            <a:r>
              <a:rPr lang="zh-CN" altLang="en-US" sz="2000" b="1" dirty="0">
                <a:solidFill>
                  <a:srgbClr val="C00000"/>
                </a:solidFill>
                <a:latin typeface="微软雅黑" pitchFamily="34" charset="-122"/>
                <a:ea typeface="微软雅黑" pitchFamily="34" charset="-122"/>
              </a:rPr>
              <a:t>网络层</a:t>
            </a:r>
            <a:r>
              <a:rPr lang="zh-CN" altLang="en-US" sz="2000" b="1" dirty="0">
                <a:latin typeface="微软雅黑" pitchFamily="34" charset="-122"/>
                <a:ea typeface="微软雅黑" pitchFamily="34" charset="-122"/>
              </a:rPr>
              <a:t>的控制协议。</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RSVP </a:t>
            </a:r>
            <a:r>
              <a:rPr lang="zh-CN" altLang="en-US" sz="2000" b="1" dirty="0">
                <a:solidFill>
                  <a:srgbClr val="C00000"/>
                </a:solidFill>
                <a:latin typeface="微软雅黑" pitchFamily="34" charset="-122"/>
                <a:ea typeface="微软雅黑" pitchFamily="34" charset="-122"/>
              </a:rPr>
              <a:t>不携带</a:t>
            </a:r>
            <a:r>
              <a:rPr lang="zh-CN" altLang="en-US" sz="2000" b="1" dirty="0">
                <a:latin typeface="微软雅黑" pitchFamily="34" charset="-122"/>
                <a:ea typeface="微软雅黑" pitchFamily="34" charset="-122"/>
              </a:rPr>
              <a:t>应用数据。</a:t>
            </a:r>
          </a:p>
        </p:txBody>
      </p:sp>
    </p:spTree>
    <p:extLst>
      <p:ext uri="{BB962C8B-B14F-4D97-AF65-F5344CB8AC3E}">
        <p14:creationId xmlns:p14="http://schemas.microsoft.com/office/powerpoint/2010/main" val="7943403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a:xfrm>
            <a:off x="511897" y="998271"/>
            <a:ext cx="8140783" cy="31921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AutoShape 5"/>
          <p:cNvSpPr>
            <a:spLocks noChangeArrowheads="1"/>
          </p:cNvSpPr>
          <p:nvPr/>
        </p:nvSpPr>
        <p:spPr bwMode="auto">
          <a:xfrm>
            <a:off x="511897" y="60679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6"/>
          <p:cNvSpPr>
            <a:spLocks noChangeArrowheads="1"/>
          </p:cNvSpPr>
          <p:nvPr/>
        </p:nvSpPr>
        <p:spPr bwMode="auto">
          <a:xfrm>
            <a:off x="2399064" y="573581"/>
            <a:ext cx="43458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体系结构在路由器中的实现 </a:t>
            </a:r>
            <a:endParaRPr lang="fr-FR" altLang="zh-CN" sz="2000" b="1" dirty="0">
              <a:solidFill>
                <a:schemeClr val="bg1"/>
              </a:solidFill>
              <a:latin typeface="微软雅黑" pitchFamily="34" charset="-122"/>
              <a:ea typeface="微软雅黑" pitchFamily="34" charset="-122"/>
            </a:endParaRPr>
          </a:p>
        </p:txBody>
      </p:sp>
      <p:sp>
        <p:nvSpPr>
          <p:cNvPr id="23" name="Rectangle 4"/>
          <p:cNvSpPr>
            <a:spLocks noChangeArrowheads="1"/>
          </p:cNvSpPr>
          <p:nvPr/>
        </p:nvSpPr>
        <p:spPr bwMode="auto">
          <a:xfrm>
            <a:off x="2382554" y="1232850"/>
            <a:ext cx="5437025" cy="2737624"/>
          </a:xfrm>
          <a:prstGeom prst="rect">
            <a:avLst/>
          </a:prstGeom>
          <a:solidFill>
            <a:srgbClr val="FFCC66"/>
          </a:solidFill>
          <a:ln w="9525">
            <a:solidFill>
              <a:srgbClr val="333399"/>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24" name="Rectangle 5"/>
          <p:cNvSpPr>
            <a:spLocks noChangeArrowheads="1"/>
          </p:cNvSpPr>
          <p:nvPr/>
        </p:nvSpPr>
        <p:spPr bwMode="auto">
          <a:xfrm>
            <a:off x="2399064" y="1245097"/>
            <a:ext cx="5414577" cy="1716720"/>
          </a:xfrm>
          <a:prstGeom prst="rect">
            <a:avLst/>
          </a:prstGeom>
          <a:solidFill>
            <a:srgbClr val="99FFCC"/>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25" name="Rectangle 6"/>
          <p:cNvSpPr>
            <a:spLocks noChangeArrowheads="1"/>
          </p:cNvSpPr>
          <p:nvPr/>
        </p:nvSpPr>
        <p:spPr bwMode="auto">
          <a:xfrm>
            <a:off x="2581557" y="1376467"/>
            <a:ext cx="1332723" cy="433076"/>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路由选择协议</a:t>
            </a:r>
          </a:p>
        </p:txBody>
      </p:sp>
      <p:sp>
        <p:nvSpPr>
          <p:cNvPr id="26" name="Rectangle 7"/>
          <p:cNvSpPr>
            <a:spLocks noChangeArrowheads="1"/>
          </p:cNvSpPr>
          <p:nvPr/>
        </p:nvSpPr>
        <p:spPr bwMode="auto">
          <a:xfrm>
            <a:off x="2463362" y="2169142"/>
            <a:ext cx="1518459" cy="433076"/>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路由选择数据库</a:t>
            </a:r>
          </a:p>
        </p:txBody>
      </p:sp>
      <p:sp>
        <p:nvSpPr>
          <p:cNvPr id="27" name="Rectangle 8"/>
          <p:cNvSpPr>
            <a:spLocks noChangeArrowheads="1"/>
          </p:cNvSpPr>
          <p:nvPr/>
        </p:nvSpPr>
        <p:spPr bwMode="auto">
          <a:xfrm>
            <a:off x="4381034" y="1376467"/>
            <a:ext cx="665758" cy="433076"/>
          </a:xfrm>
          <a:prstGeom prst="rect">
            <a:avLst/>
          </a:prstGeom>
          <a:solidFill>
            <a:srgbClr val="00FFFF"/>
          </a:solidFill>
          <a:ln w="9525">
            <a:solidFill>
              <a:srgbClr val="333399"/>
            </a:solidFill>
            <a:miter lim="800000"/>
            <a:headEnd/>
            <a:tailEnd/>
          </a:ln>
          <a:effectLst/>
        </p:spPr>
        <p:txBody>
          <a:bodyPr wrap="none" anchor="ctr"/>
          <a:lstStyle/>
          <a:p>
            <a:pPr algn="ctr"/>
            <a:r>
              <a:rPr kumimoji="1" lang="en-US" altLang="zh-CN" sz="1400" b="1">
                <a:latin typeface="微软雅黑" pitchFamily="34" charset="-122"/>
                <a:ea typeface="微软雅黑" pitchFamily="34" charset="-122"/>
              </a:rPr>
              <a:t>RSVP</a:t>
            </a:r>
          </a:p>
        </p:txBody>
      </p:sp>
      <p:sp>
        <p:nvSpPr>
          <p:cNvPr id="28" name="Rectangle 9"/>
          <p:cNvSpPr>
            <a:spLocks noChangeArrowheads="1"/>
          </p:cNvSpPr>
          <p:nvPr/>
        </p:nvSpPr>
        <p:spPr bwMode="auto">
          <a:xfrm>
            <a:off x="5512341" y="1376467"/>
            <a:ext cx="799634" cy="433076"/>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接纳控制</a:t>
            </a:r>
          </a:p>
        </p:txBody>
      </p:sp>
      <p:sp>
        <p:nvSpPr>
          <p:cNvPr id="29" name="Rectangle 10"/>
          <p:cNvSpPr>
            <a:spLocks noChangeArrowheads="1"/>
          </p:cNvSpPr>
          <p:nvPr/>
        </p:nvSpPr>
        <p:spPr bwMode="auto">
          <a:xfrm>
            <a:off x="6778729" y="1376467"/>
            <a:ext cx="799634" cy="433076"/>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管理代理</a:t>
            </a:r>
          </a:p>
        </p:txBody>
      </p:sp>
      <p:sp>
        <p:nvSpPr>
          <p:cNvPr id="30" name="Rectangle 11"/>
          <p:cNvSpPr>
            <a:spLocks noChangeArrowheads="1"/>
          </p:cNvSpPr>
          <p:nvPr/>
        </p:nvSpPr>
        <p:spPr bwMode="auto">
          <a:xfrm>
            <a:off x="5379671" y="2169141"/>
            <a:ext cx="1066178" cy="576693"/>
          </a:xfrm>
          <a:prstGeom prst="rect">
            <a:avLst/>
          </a:prstGeom>
          <a:solidFill>
            <a:srgbClr val="0000FF"/>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通信量控制</a:t>
            </a:r>
          </a:p>
          <a:p>
            <a:pPr algn="ctr"/>
            <a:r>
              <a:rPr kumimoji="1" lang="zh-CN" altLang="en-US" sz="1400" b="1" dirty="0">
                <a:solidFill>
                  <a:schemeClr val="bg1"/>
                </a:solidFill>
                <a:latin typeface="微软雅黑" pitchFamily="34" charset="-122"/>
                <a:ea typeface="微软雅黑" pitchFamily="34" charset="-122"/>
              </a:rPr>
              <a:t>数据库</a:t>
            </a:r>
          </a:p>
        </p:txBody>
      </p:sp>
      <p:sp>
        <p:nvSpPr>
          <p:cNvPr id="31" name="Rectangle 12"/>
          <p:cNvSpPr>
            <a:spLocks noChangeArrowheads="1"/>
          </p:cNvSpPr>
          <p:nvPr/>
        </p:nvSpPr>
        <p:spPr bwMode="auto">
          <a:xfrm>
            <a:off x="2781767" y="3105433"/>
            <a:ext cx="932303" cy="721423"/>
          </a:xfrm>
          <a:prstGeom prst="rect">
            <a:avLst/>
          </a:prstGeom>
          <a:solidFill>
            <a:srgbClr val="009900"/>
          </a:solidFill>
          <a:ln w="9525">
            <a:solidFill>
              <a:srgbClr val="333399"/>
            </a:solidFill>
            <a:miter lim="800000"/>
            <a:headEnd/>
            <a:tailEnd/>
          </a:ln>
          <a:effectLst/>
        </p:spPr>
        <p:txBody>
          <a:bodyPr wrap="none" anchor="ctr"/>
          <a:lstStyle/>
          <a:p>
            <a:pPr algn="ctr">
              <a:lnSpc>
                <a:spcPct val="90000"/>
              </a:lnSpc>
            </a:pPr>
            <a:r>
              <a:rPr kumimoji="1" lang="zh-CN" altLang="en-US" sz="1400" b="1" dirty="0">
                <a:solidFill>
                  <a:schemeClr val="bg1"/>
                </a:solidFill>
                <a:latin typeface="微软雅黑" pitchFamily="34" charset="-122"/>
                <a:ea typeface="微软雅黑" pitchFamily="34" charset="-122"/>
              </a:rPr>
              <a:t>分类器</a:t>
            </a:r>
          </a:p>
          <a:p>
            <a:pPr algn="ctr">
              <a:lnSpc>
                <a:spcPct val="90000"/>
              </a:lnSpc>
            </a:pPr>
            <a:r>
              <a:rPr kumimoji="1" lang="zh-CN" altLang="en-US" sz="1400" b="1" dirty="0">
                <a:solidFill>
                  <a:schemeClr val="bg1"/>
                </a:solidFill>
                <a:latin typeface="微软雅黑" pitchFamily="34" charset="-122"/>
                <a:ea typeface="微软雅黑" pitchFamily="34" charset="-122"/>
              </a:rPr>
              <a:t>与</a:t>
            </a:r>
          </a:p>
          <a:p>
            <a:pPr algn="ctr">
              <a:lnSpc>
                <a:spcPct val="90000"/>
              </a:lnSpc>
            </a:pPr>
            <a:r>
              <a:rPr kumimoji="1" lang="zh-CN" altLang="en-US" sz="1400" b="1" dirty="0">
                <a:solidFill>
                  <a:schemeClr val="bg1"/>
                </a:solidFill>
                <a:latin typeface="微软雅黑" pitchFamily="34" charset="-122"/>
                <a:ea typeface="微软雅黑" pitchFamily="34" charset="-122"/>
              </a:rPr>
              <a:t>分组转发</a:t>
            </a:r>
          </a:p>
        </p:txBody>
      </p:sp>
      <p:sp>
        <p:nvSpPr>
          <p:cNvPr id="32" name="Rectangle 13"/>
          <p:cNvSpPr>
            <a:spLocks noChangeArrowheads="1"/>
          </p:cNvSpPr>
          <p:nvPr/>
        </p:nvSpPr>
        <p:spPr bwMode="auto">
          <a:xfrm>
            <a:off x="5512341" y="3177799"/>
            <a:ext cx="799634" cy="576693"/>
          </a:xfrm>
          <a:prstGeom prst="rect">
            <a:avLst/>
          </a:prstGeom>
          <a:solidFill>
            <a:srgbClr val="009900"/>
          </a:solidFill>
          <a:ln w="9525">
            <a:solidFill>
              <a:srgbClr val="333399"/>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调度器</a:t>
            </a:r>
          </a:p>
        </p:txBody>
      </p:sp>
      <p:sp>
        <p:nvSpPr>
          <p:cNvPr id="33" name="Freeform 14"/>
          <p:cNvSpPr>
            <a:spLocks/>
          </p:cNvSpPr>
          <p:nvPr/>
        </p:nvSpPr>
        <p:spPr bwMode="auto">
          <a:xfrm>
            <a:off x="6553191" y="3177799"/>
            <a:ext cx="358207" cy="215982"/>
          </a:xfrm>
          <a:custGeom>
            <a:avLst/>
            <a:gdLst>
              <a:gd name="T0" fmla="*/ 0 w 576"/>
              <a:gd name="T1" fmla="*/ 0 h 96"/>
              <a:gd name="T2" fmla="*/ 576 w 576"/>
              <a:gd name="T3" fmla="*/ 0 h 96"/>
              <a:gd name="T4" fmla="*/ 576 w 576"/>
              <a:gd name="T5" fmla="*/ 96 h 96"/>
              <a:gd name="T6" fmla="*/ 0 w 576"/>
              <a:gd name="T7" fmla="*/ 96 h 96"/>
            </a:gdLst>
            <a:ahLst/>
            <a:cxnLst>
              <a:cxn ang="0">
                <a:pos x="T0" y="T1"/>
              </a:cxn>
              <a:cxn ang="0">
                <a:pos x="T2" y="T3"/>
              </a:cxn>
              <a:cxn ang="0">
                <a:pos x="T4" y="T5"/>
              </a:cxn>
              <a:cxn ang="0">
                <a:pos x="T6" y="T7"/>
              </a:cxn>
            </a:cxnLst>
            <a:rect l="0" t="0" r="r" b="b"/>
            <a:pathLst>
              <a:path w="576" h="96">
                <a:moveTo>
                  <a:pt x="0" y="0"/>
                </a:moveTo>
                <a:lnTo>
                  <a:pt x="576" y="0"/>
                </a:lnTo>
                <a:lnTo>
                  <a:pt x="576" y="96"/>
                </a:lnTo>
                <a:lnTo>
                  <a:pt x="0"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4" name="Line 15"/>
          <p:cNvSpPr>
            <a:spLocks noChangeShapeType="1"/>
          </p:cNvSpPr>
          <p:nvPr/>
        </p:nvSpPr>
        <p:spPr bwMode="auto">
          <a:xfrm>
            <a:off x="6845063" y="3177799"/>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5" name="Line 16"/>
          <p:cNvSpPr>
            <a:spLocks noChangeShapeType="1"/>
          </p:cNvSpPr>
          <p:nvPr/>
        </p:nvSpPr>
        <p:spPr bwMode="auto">
          <a:xfrm>
            <a:off x="6778728" y="3177799"/>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6" name="Line 17"/>
          <p:cNvSpPr>
            <a:spLocks noChangeShapeType="1"/>
          </p:cNvSpPr>
          <p:nvPr/>
        </p:nvSpPr>
        <p:spPr bwMode="auto">
          <a:xfrm>
            <a:off x="6712394" y="3177799"/>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7" name="Line 18"/>
          <p:cNvSpPr>
            <a:spLocks noChangeShapeType="1"/>
          </p:cNvSpPr>
          <p:nvPr/>
        </p:nvSpPr>
        <p:spPr bwMode="auto">
          <a:xfrm>
            <a:off x="6644854" y="3177799"/>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8" name="Freeform 19"/>
          <p:cNvSpPr>
            <a:spLocks/>
          </p:cNvSpPr>
          <p:nvPr/>
        </p:nvSpPr>
        <p:spPr bwMode="auto">
          <a:xfrm>
            <a:off x="6553191" y="3538511"/>
            <a:ext cx="358207" cy="215982"/>
          </a:xfrm>
          <a:custGeom>
            <a:avLst/>
            <a:gdLst>
              <a:gd name="T0" fmla="*/ 0 w 576"/>
              <a:gd name="T1" fmla="*/ 0 h 96"/>
              <a:gd name="T2" fmla="*/ 576 w 576"/>
              <a:gd name="T3" fmla="*/ 0 h 96"/>
              <a:gd name="T4" fmla="*/ 576 w 576"/>
              <a:gd name="T5" fmla="*/ 96 h 96"/>
              <a:gd name="T6" fmla="*/ 0 w 576"/>
              <a:gd name="T7" fmla="*/ 96 h 96"/>
            </a:gdLst>
            <a:ahLst/>
            <a:cxnLst>
              <a:cxn ang="0">
                <a:pos x="T0" y="T1"/>
              </a:cxn>
              <a:cxn ang="0">
                <a:pos x="T2" y="T3"/>
              </a:cxn>
              <a:cxn ang="0">
                <a:pos x="T4" y="T5"/>
              </a:cxn>
              <a:cxn ang="0">
                <a:pos x="T6" y="T7"/>
              </a:cxn>
            </a:cxnLst>
            <a:rect l="0" t="0" r="r" b="b"/>
            <a:pathLst>
              <a:path w="576" h="96">
                <a:moveTo>
                  <a:pt x="0" y="0"/>
                </a:moveTo>
                <a:lnTo>
                  <a:pt x="576" y="0"/>
                </a:lnTo>
                <a:lnTo>
                  <a:pt x="576" y="96"/>
                </a:lnTo>
                <a:lnTo>
                  <a:pt x="0"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9" name="Line 20"/>
          <p:cNvSpPr>
            <a:spLocks noChangeShapeType="1"/>
          </p:cNvSpPr>
          <p:nvPr/>
        </p:nvSpPr>
        <p:spPr bwMode="auto">
          <a:xfrm>
            <a:off x="6845063" y="3538511"/>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0" name="Line 21"/>
          <p:cNvSpPr>
            <a:spLocks noChangeShapeType="1"/>
          </p:cNvSpPr>
          <p:nvPr/>
        </p:nvSpPr>
        <p:spPr bwMode="auto">
          <a:xfrm>
            <a:off x="6778728" y="3538511"/>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1" name="Line 22"/>
          <p:cNvSpPr>
            <a:spLocks noChangeShapeType="1"/>
          </p:cNvSpPr>
          <p:nvPr/>
        </p:nvSpPr>
        <p:spPr bwMode="auto">
          <a:xfrm>
            <a:off x="6712394" y="3538511"/>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2" name="Line 23"/>
          <p:cNvSpPr>
            <a:spLocks noChangeShapeType="1"/>
          </p:cNvSpPr>
          <p:nvPr/>
        </p:nvSpPr>
        <p:spPr bwMode="auto">
          <a:xfrm>
            <a:off x="6644854" y="3538511"/>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3" name="Line 24"/>
          <p:cNvSpPr>
            <a:spLocks noChangeShapeType="1"/>
          </p:cNvSpPr>
          <p:nvPr/>
        </p:nvSpPr>
        <p:spPr bwMode="auto">
          <a:xfrm>
            <a:off x="7619369" y="3448332"/>
            <a:ext cx="524646"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4" name="Line 25"/>
          <p:cNvSpPr>
            <a:spLocks noChangeShapeType="1"/>
          </p:cNvSpPr>
          <p:nvPr/>
        </p:nvSpPr>
        <p:spPr bwMode="auto">
          <a:xfrm rot="5400000">
            <a:off x="5696778" y="2961817"/>
            <a:ext cx="431963"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nvGrpSpPr>
          <p:cNvPr id="45" name="Group 26"/>
          <p:cNvGrpSpPr>
            <a:grpSpLocks/>
          </p:cNvGrpSpPr>
          <p:nvPr/>
        </p:nvGrpSpPr>
        <p:grpSpPr bwMode="auto">
          <a:xfrm>
            <a:off x="6311975" y="3285789"/>
            <a:ext cx="266544" cy="360712"/>
            <a:chOff x="3408" y="2088"/>
            <a:chExt cx="240" cy="240"/>
          </a:xfrm>
        </p:grpSpPr>
        <p:sp>
          <p:nvSpPr>
            <p:cNvPr id="46" name="Line 27"/>
            <p:cNvSpPr>
              <a:spLocks noChangeShapeType="1"/>
            </p:cNvSpPr>
            <p:nvPr/>
          </p:nvSpPr>
          <p:spPr bwMode="auto">
            <a:xfrm>
              <a:off x="3408" y="2088"/>
              <a:ext cx="240"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7" name="Line 28"/>
            <p:cNvSpPr>
              <a:spLocks noChangeShapeType="1"/>
            </p:cNvSpPr>
            <p:nvPr/>
          </p:nvSpPr>
          <p:spPr bwMode="auto">
            <a:xfrm>
              <a:off x="3408" y="2328"/>
              <a:ext cx="240"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
        <p:nvSpPr>
          <p:cNvPr id="48" name="Line 29"/>
          <p:cNvSpPr>
            <a:spLocks noChangeShapeType="1"/>
          </p:cNvSpPr>
          <p:nvPr/>
        </p:nvSpPr>
        <p:spPr bwMode="auto">
          <a:xfrm>
            <a:off x="3714070" y="3466145"/>
            <a:ext cx="1798270"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49" name="Line 30"/>
          <p:cNvSpPr>
            <a:spLocks noChangeShapeType="1"/>
          </p:cNvSpPr>
          <p:nvPr/>
        </p:nvSpPr>
        <p:spPr bwMode="auto">
          <a:xfrm>
            <a:off x="2048468" y="3466145"/>
            <a:ext cx="733299"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0" name="Line 31"/>
          <p:cNvSpPr>
            <a:spLocks noChangeShapeType="1"/>
          </p:cNvSpPr>
          <p:nvPr/>
        </p:nvSpPr>
        <p:spPr bwMode="auto">
          <a:xfrm>
            <a:off x="2382554" y="2961817"/>
            <a:ext cx="54370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1" name="Freeform 32"/>
          <p:cNvSpPr>
            <a:spLocks/>
          </p:cNvSpPr>
          <p:nvPr/>
        </p:nvSpPr>
        <p:spPr bwMode="auto">
          <a:xfrm>
            <a:off x="6910191" y="3276882"/>
            <a:ext cx="130257" cy="365165"/>
          </a:xfrm>
          <a:custGeom>
            <a:avLst/>
            <a:gdLst>
              <a:gd name="T0" fmla="*/ 1 w 94"/>
              <a:gd name="T1" fmla="*/ 0 h 243"/>
              <a:gd name="T2" fmla="*/ 94 w 94"/>
              <a:gd name="T3" fmla="*/ 0 h 243"/>
              <a:gd name="T4" fmla="*/ 94 w 94"/>
              <a:gd name="T5" fmla="*/ 243 h 243"/>
              <a:gd name="T6" fmla="*/ 0 w 94"/>
              <a:gd name="T7" fmla="*/ 243 h 243"/>
            </a:gdLst>
            <a:ahLst/>
            <a:cxnLst>
              <a:cxn ang="0">
                <a:pos x="T0" y="T1"/>
              </a:cxn>
              <a:cxn ang="0">
                <a:pos x="T2" y="T3"/>
              </a:cxn>
              <a:cxn ang="0">
                <a:pos x="T4" y="T5"/>
              </a:cxn>
              <a:cxn ang="0">
                <a:pos x="T6" y="T7"/>
              </a:cxn>
            </a:cxnLst>
            <a:rect l="0" t="0" r="r" b="b"/>
            <a:pathLst>
              <a:path w="94" h="243">
                <a:moveTo>
                  <a:pt x="1" y="0"/>
                </a:moveTo>
                <a:lnTo>
                  <a:pt x="94" y="0"/>
                </a:lnTo>
                <a:lnTo>
                  <a:pt x="94" y="243"/>
                </a:lnTo>
                <a:lnTo>
                  <a:pt x="0" y="243"/>
                </a:ln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2" name="Line 33"/>
          <p:cNvSpPr>
            <a:spLocks noChangeShapeType="1"/>
          </p:cNvSpPr>
          <p:nvPr/>
        </p:nvSpPr>
        <p:spPr bwMode="auto">
          <a:xfrm flipV="1">
            <a:off x="7039242" y="3452786"/>
            <a:ext cx="230363" cy="334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3" name="Freeform 34"/>
          <p:cNvSpPr>
            <a:spLocks/>
          </p:cNvSpPr>
          <p:nvPr/>
        </p:nvSpPr>
        <p:spPr bwMode="auto">
          <a:xfrm>
            <a:off x="7239453" y="3345908"/>
            <a:ext cx="379917" cy="215982"/>
          </a:xfrm>
          <a:custGeom>
            <a:avLst/>
            <a:gdLst>
              <a:gd name="T0" fmla="*/ 0 w 576"/>
              <a:gd name="T1" fmla="*/ 0 h 96"/>
              <a:gd name="T2" fmla="*/ 576 w 576"/>
              <a:gd name="T3" fmla="*/ 0 h 96"/>
              <a:gd name="T4" fmla="*/ 576 w 576"/>
              <a:gd name="T5" fmla="*/ 96 h 96"/>
              <a:gd name="T6" fmla="*/ 0 w 576"/>
              <a:gd name="T7" fmla="*/ 96 h 96"/>
            </a:gdLst>
            <a:ahLst/>
            <a:cxnLst>
              <a:cxn ang="0">
                <a:pos x="T0" y="T1"/>
              </a:cxn>
              <a:cxn ang="0">
                <a:pos x="T2" y="T3"/>
              </a:cxn>
              <a:cxn ang="0">
                <a:pos x="T4" y="T5"/>
              </a:cxn>
              <a:cxn ang="0">
                <a:pos x="T6" y="T7"/>
              </a:cxn>
            </a:cxnLst>
            <a:rect l="0" t="0" r="r" b="b"/>
            <a:pathLst>
              <a:path w="576" h="96">
                <a:moveTo>
                  <a:pt x="0" y="0"/>
                </a:moveTo>
                <a:lnTo>
                  <a:pt x="576" y="0"/>
                </a:lnTo>
                <a:lnTo>
                  <a:pt x="576" y="96"/>
                </a:lnTo>
                <a:lnTo>
                  <a:pt x="0" y="9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4" name="Line 35"/>
          <p:cNvSpPr>
            <a:spLocks noChangeShapeType="1"/>
          </p:cNvSpPr>
          <p:nvPr/>
        </p:nvSpPr>
        <p:spPr bwMode="auto">
          <a:xfrm>
            <a:off x="7553034" y="3345908"/>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5" name="Line 36"/>
          <p:cNvSpPr>
            <a:spLocks noChangeShapeType="1"/>
          </p:cNvSpPr>
          <p:nvPr/>
        </p:nvSpPr>
        <p:spPr bwMode="auto">
          <a:xfrm>
            <a:off x="7486700" y="3345908"/>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6" name="Line 37"/>
          <p:cNvSpPr>
            <a:spLocks noChangeShapeType="1"/>
          </p:cNvSpPr>
          <p:nvPr/>
        </p:nvSpPr>
        <p:spPr bwMode="auto">
          <a:xfrm>
            <a:off x="7419159" y="3345908"/>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7" name="Line 38"/>
          <p:cNvSpPr>
            <a:spLocks noChangeShapeType="1"/>
          </p:cNvSpPr>
          <p:nvPr/>
        </p:nvSpPr>
        <p:spPr bwMode="auto">
          <a:xfrm>
            <a:off x="7352824" y="3345908"/>
            <a:ext cx="0" cy="2159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8" name="Line 39"/>
          <p:cNvSpPr>
            <a:spLocks noChangeShapeType="1"/>
          </p:cNvSpPr>
          <p:nvPr/>
        </p:nvSpPr>
        <p:spPr bwMode="auto">
          <a:xfrm rot="5400000">
            <a:off x="3068723" y="1989342"/>
            <a:ext cx="359599"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59" name="Line 40"/>
          <p:cNvSpPr>
            <a:spLocks noChangeShapeType="1"/>
          </p:cNvSpPr>
          <p:nvPr/>
        </p:nvSpPr>
        <p:spPr bwMode="auto">
          <a:xfrm rot="5400000">
            <a:off x="2996914" y="2853825"/>
            <a:ext cx="503215"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0" name="Line 41"/>
          <p:cNvSpPr>
            <a:spLocks noChangeShapeType="1"/>
          </p:cNvSpPr>
          <p:nvPr/>
        </p:nvSpPr>
        <p:spPr bwMode="auto">
          <a:xfrm>
            <a:off x="5046792" y="1593561"/>
            <a:ext cx="465549"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1" name="Line 42"/>
          <p:cNvSpPr>
            <a:spLocks noChangeShapeType="1"/>
          </p:cNvSpPr>
          <p:nvPr/>
        </p:nvSpPr>
        <p:spPr bwMode="auto">
          <a:xfrm flipH="1">
            <a:off x="6311974" y="1593561"/>
            <a:ext cx="466754"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2" name="Freeform 43"/>
          <p:cNvSpPr>
            <a:spLocks/>
          </p:cNvSpPr>
          <p:nvPr/>
        </p:nvSpPr>
        <p:spPr bwMode="auto">
          <a:xfrm>
            <a:off x="4713913" y="1809543"/>
            <a:ext cx="665758" cy="647945"/>
          </a:xfrm>
          <a:custGeom>
            <a:avLst/>
            <a:gdLst>
              <a:gd name="T0" fmla="*/ 0 w 480"/>
              <a:gd name="T1" fmla="*/ 0 h 432"/>
              <a:gd name="T2" fmla="*/ 0 w 480"/>
              <a:gd name="T3" fmla="*/ 432 h 432"/>
              <a:gd name="T4" fmla="*/ 480 w 480"/>
              <a:gd name="T5" fmla="*/ 432 h 432"/>
            </a:gdLst>
            <a:ahLst/>
            <a:cxnLst>
              <a:cxn ang="0">
                <a:pos x="T0" y="T1"/>
              </a:cxn>
              <a:cxn ang="0">
                <a:pos x="T2" y="T3"/>
              </a:cxn>
              <a:cxn ang="0">
                <a:pos x="T4" y="T5"/>
              </a:cxn>
            </a:cxnLst>
            <a:rect l="0" t="0" r="r" b="b"/>
            <a:pathLst>
              <a:path w="480" h="432">
                <a:moveTo>
                  <a:pt x="0" y="0"/>
                </a:moveTo>
                <a:lnTo>
                  <a:pt x="0" y="432"/>
                </a:lnTo>
                <a:lnTo>
                  <a:pt x="480" y="432"/>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3" name="Freeform 44"/>
          <p:cNvSpPr>
            <a:spLocks/>
          </p:cNvSpPr>
          <p:nvPr/>
        </p:nvSpPr>
        <p:spPr bwMode="auto">
          <a:xfrm flipH="1">
            <a:off x="6445850" y="1809543"/>
            <a:ext cx="732093" cy="647945"/>
          </a:xfrm>
          <a:custGeom>
            <a:avLst/>
            <a:gdLst>
              <a:gd name="T0" fmla="*/ 0 w 480"/>
              <a:gd name="T1" fmla="*/ 0 h 432"/>
              <a:gd name="T2" fmla="*/ 0 w 480"/>
              <a:gd name="T3" fmla="*/ 432 h 432"/>
              <a:gd name="T4" fmla="*/ 480 w 480"/>
              <a:gd name="T5" fmla="*/ 432 h 432"/>
            </a:gdLst>
            <a:ahLst/>
            <a:cxnLst>
              <a:cxn ang="0">
                <a:pos x="T0" y="T1"/>
              </a:cxn>
              <a:cxn ang="0">
                <a:pos x="T2" y="T3"/>
              </a:cxn>
              <a:cxn ang="0">
                <a:pos x="T4" y="T5"/>
              </a:cxn>
            </a:cxnLst>
            <a:rect l="0" t="0" r="r" b="b"/>
            <a:pathLst>
              <a:path w="480" h="432">
                <a:moveTo>
                  <a:pt x="0" y="0"/>
                </a:moveTo>
                <a:lnTo>
                  <a:pt x="0" y="432"/>
                </a:lnTo>
                <a:lnTo>
                  <a:pt x="480" y="432"/>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4" name="Text Box 45"/>
          <p:cNvSpPr txBox="1">
            <a:spLocks noChangeArrowheads="1"/>
          </p:cNvSpPr>
          <p:nvPr/>
        </p:nvSpPr>
        <p:spPr bwMode="auto">
          <a:xfrm>
            <a:off x="1675789" y="313660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分组入</a:t>
            </a:r>
          </a:p>
        </p:txBody>
      </p:sp>
      <p:sp>
        <p:nvSpPr>
          <p:cNvPr id="65" name="Text Box 46"/>
          <p:cNvSpPr txBox="1">
            <a:spLocks noChangeArrowheads="1"/>
          </p:cNvSpPr>
          <p:nvPr/>
        </p:nvSpPr>
        <p:spPr bwMode="auto">
          <a:xfrm>
            <a:off x="7830433" y="311211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分组出</a:t>
            </a:r>
          </a:p>
        </p:txBody>
      </p:sp>
      <p:sp>
        <p:nvSpPr>
          <p:cNvPr id="2" name="矩形 1"/>
          <p:cNvSpPr/>
          <p:nvPr/>
        </p:nvSpPr>
        <p:spPr>
          <a:xfrm>
            <a:off x="2225134" y="4215951"/>
            <a:ext cx="4784002" cy="42575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ts val="2600"/>
              </a:lnSpc>
            </a:pPr>
            <a:r>
              <a:rPr lang="en-US" altLang="zh-CN" b="1" dirty="0" err="1">
                <a:solidFill>
                  <a:schemeClr val="dk1"/>
                </a:solidFill>
                <a:latin typeface="微软雅黑" pitchFamily="34" charset="-122"/>
                <a:ea typeface="微软雅黑" pitchFamily="34" charset="-122"/>
              </a:rPr>
              <a:t>IntServ</a:t>
            </a:r>
            <a:r>
              <a:rPr lang="en-US" altLang="zh-CN" b="1" dirty="0">
                <a:solidFill>
                  <a:schemeClr val="dk1"/>
                </a:solidFill>
                <a:latin typeface="微软雅黑" pitchFamily="34" charset="-122"/>
                <a:ea typeface="微软雅黑" pitchFamily="34" charset="-122"/>
              </a:rPr>
              <a:t> </a:t>
            </a:r>
            <a:r>
              <a:rPr lang="zh-CN" altLang="en-US" b="1" dirty="0">
                <a:solidFill>
                  <a:schemeClr val="dk1"/>
                </a:solidFill>
                <a:latin typeface="微软雅黑" pitchFamily="34" charset="-122"/>
                <a:ea typeface="微软雅黑" pitchFamily="34" charset="-122"/>
              </a:rPr>
              <a:t>体系结构分为前台和后台两个部分。</a:t>
            </a:r>
          </a:p>
        </p:txBody>
      </p:sp>
      <p:grpSp>
        <p:nvGrpSpPr>
          <p:cNvPr id="5" name="组合 4"/>
          <p:cNvGrpSpPr/>
          <p:nvPr/>
        </p:nvGrpSpPr>
        <p:grpSpPr>
          <a:xfrm>
            <a:off x="914514" y="2961817"/>
            <a:ext cx="722697" cy="1008657"/>
            <a:chOff x="914514" y="2961817"/>
            <a:chExt cx="722697" cy="1008657"/>
          </a:xfrm>
        </p:grpSpPr>
        <p:sp>
          <p:nvSpPr>
            <p:cNvPr id="66" name="矩形 65"/>
            <p:cNvSpPr/>
            <p:nvPr/>
          </p:nvSpPr>
          <p:spPr>
            <a:xfrm>
              <a:off x="914514" y="3281298"/>
              <a:ext cx="595035" cy="338554"/>
            </a:xfrm>
            <a:prstGeom prst="rect">
              <a:avLst/>
            </a:prstGeom>
          </p:spPr>
          <p:txBody>
            <a:bodyPr wrap="none">
              <a:spAutoFit/>
            </a:bodyPr>
            <a:lstStyle/>
            <a:p>
              <a:r>
                <a:rPr lang="zh-CN" altLang="en-US" sz="1600" b="1" dirty="0">
                  <a:solidFill>
                    <a:schemeClr val="dk1"/>
                  </a:solidFill>
                  <a:latin typeface="微软雅黑" pitchFamily="34" charset="-122"/>
                  <a:ea typeface="微软雅黑" pitchFamily="34" charset="-122"/>
                </a:rPr>
                <a:t>前台</a:t>
              </a:r>
              <a:endParaRPr lang="zh-CN" altLang="en-US" sz="1600" dirty="0"/>
            </a:p>
          </p:txBody>
        </p:sp>
        <p:sp>
          <p:nvSpPr>
            <p:cNvPr id="4" name="左大括号 3"/>
            <p:cNvSpPr/>
            <p:nvPr/>
          </p:nvSpPr>
          <p:spPr>
            <a:xfrm>
              <a:off x="1446385" y="2961817"/>
              <a:ext cx="190826" cy="1008657"/>
            </a:xfrm>
            <a:prstGeom prst="leftBrace">
              <a:avLst>
                <a:gd name="adj1" fmla="val 35535"/>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grpSp>
      <p:grpSp>
        <p:nvGrpSpPr>
          <p:cNvPr id="6" name="组合 5"/>
          <p:cNvGrpSpPr/>
          <p:nvPr/>
        </p:nvGrpSpPr>
        <p:grpSpPr>
          <a:xfrm>
            <a:off x="914514" y="1233706"/>
            <a:ext cx="723034" cy="1690562"/>
            <a:chOff x="914514" y="1233706"/>
            <a:chExt cx="723034" cy="1690562"/>
          </a:xfrm>
        </p:grpSpPr>
        <p:sp>
          <p:nvSpPr>
            <p:cNvPr id="3" name="矩形 2"/>
            <p:cNvSpPr/>
            <p:nvPr/>
          </p:nvSpPr>
          <p:spPr>
            <a:xfrm>
              <a:off x="914514" y="1909710"/>
              <a:ext cx="595035" cy="338554"/>
            </a:xfrm>
            <a:prstGeom prst="rect">
              <a:avLst/>
            </a:prstGeom>
          </p:spPr>
          <p:txBody>
            <a:bodyPr wrap="none">
              <a:spAutoFit/>
            </a:bodyPr>
            <a:lstStyle/>
            <a:p>
              <a:r>
                <a:rPr lang="zh-CN" altLang="en-US" sz="1600" b="1" dirty="0">
                  <a:solidFill>
                    <a:schemeClr val="dk1"/>
                  </a:solidFill>
                  <a:latin typeface="微软雅黑" pitchFamily="34" charset="-122"/>
                  <a:ea typeface="微软雅黑" pitchFamily="34" charset="-122"/>
                </a:rPr>
                <a:t>后台</a:t>
              </a:r>
              <a:endParaRPr lang="zh-CN" altLang="en-US" sz="1600" dirty="0"/>
            </a:p>
          </p:txBody>
        </p:sp>
        <p:sp>
          <p:nvSpPr>
            <p:cNvPr id="67" name="左大括号 66"/>
            <p:cNvSpPr/>
            <p:nvPr/>
          </p:nvSpPr>
          <p:spPr>
            <a:xfrm>
              <a:off x="1446385" y="1233706"/>
              <a:ext cx="191163" cy="1690562"/>
            </a:xfrm>
            <a:prstGeom prst="leftBrace">
              <a:avLst>
                <a:gd name="adj1" fmla="val 35535"/>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40806126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11896" y="960662"/>
            <a:ext cx="8327304" cy="3683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前台：</a:t>
            </a:r>
            <a:r>
              <a:rPr lang="zh-CN" altLang="en-US" sz="2000" b="1" dirty="0">
                <a:latin typeface="微软雅黑" pitchFamily="34" charset="-122"/>
                <a:ea typeface="微软雅黑" pitchFamily="34" charset="-122"/>
              </a:rPr>
              <a:t>两个功能块。每一个进入的分组都要通过这两个功能块。</a:t>
            </a:r>
            <a:endParaRPr lang="en-US" altLang="zh-CN" sz="2000" b="1" dirty="0">
              <a:latin typeface="微软雅黑" pitchFamily="34" charset="-122"/>
              <a:ea typeface="微软雅黑" pitchFamily="34" charset="-122"/>
            </a:endParaRP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分类器与分组转发。</a:t>
            </a:r>
            <a:endParaRPr lang="en-US" altLang="zh-CN" sz="2000" b="1" dirty="0">
              <a:latin typeface="微软雅黑" pitchFamily="34" charset="-122"/>
              <a:ea typeface="微软雅黑" pitchFamily="34" charset="-122"/>
            </a:endParaRP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分组的调度器。</a:t>
            </a:r>
            <a:endParaRPr lang="en-US" altLang="zh-CN" sz="2000"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后台：</a:t>
            </a:r>
            <a:r>
              <a:rPr lang="zh-CN" altLang="en-US" sz="2000" b="1" dirty="0">
                <a:latin typeface="微软雅黑" pitchFamily="34" charset="-122"/>
                <a:ea typeface="微软雅黑" pitchFamily="34" charset="-122"/>
              </a:rPr>
              <a:t>四个功能块，两个数据库。</a:t>
            </a:r>
            <a:endParaRPr lang="en-US" altLang="zh-CN" sz="2000" b="1" dirty="0">
              <a:latin typeface="微软雅黑" pitchFamily="34" charset="-122"/>
              <a:ea typeface="微软雅黑" pitchFamily="34" charset="-122"/>
            </a:endParaRP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路由选择协议：</a:t>
            </a:r>
            <a:r>
              <a:rPr lang="zh-CN" altLang="en-US" sz="2000" b="1" dirty="0">
                <a:latin typeface="微软雅黑" pitchFamily="34" charset="-122"/>
                <a:ea typeface="微软雅黑" pitchFamily="34" charset="-122"/>
              </a:rPr>
              <a:t>负责维持</a:t>
            </a:r>
            <a:r>
              <a:rPr lang="zh-CN" altLang="en-US" sz="2000" b="1" dirty="0">
                <a:solidFill>
                  <a:srgbClr val="C00000"/>
                </a:solidFill>
                <a:latin typeface="微软雅黑" pitchFamily="34" charset="-122"/>
                <a:ea typeface="微软雅黑" pitchFamily="34" charset="-122"/>
              </a:rPr>
              <a:t>路由选择数据库</a:t>
            </a:r>
            <a:r>
              <a:rPr lang="zh-CN" altLang="en-US" sz="2000" b="1" dirty="0">
                <a:latin typeface="微软雅黑" pitchFamily="34" charset="-122"/>
                <a:ea typeface="微软雅黑" pitchFamily="34" charset="-122"/>
              </a:rPr>
              <a:t>。</a:t>
            </a:r>
          </a:p>
          <a:p>
            <a:pPr marL="717550" lvl="1" indent="-342900" eaLnBrk="0" hangingPunct="0">
              <a:lnSpc>
                <a:spcPts val="2800"/>
              </a:lnSpc>
              <a:buClr>
                <a:srgbClr val="9900CC"/>
              </a:buClr>
              <a:buSzPct val="85000"/>
              <a:buFont typeface="Wingdings" panose="05000000000000000000" pitchFamily="2" charset="2"/>
              <a:buChar char="u"/>
            </a:pPr>
            <a:r>
              <a:rPr lang="en-US" altLang="zh-CN" sz="2000" b="1" dirty="0">
                <a:solidFill>
                  <a:srgbClr val="0000FF"/>
                </a:solidFill>
                <a:latin typeface="微软雅黑" pitchFamily="34" charset="-122"/>
                <a:ea typeface="微软雅黑" pitchFamily="34" charset="-122"/>
              </a:rPr>
              <a:t>RSVP </a:t>
            </a:r>
            <a:r>
              <a:rPr lang="zh-CN" altLang="en-US" sz="2000" b="1" dirty="0">
                <a:solidFill>
                  <a:srgbClr val="0000FF"/>
                </a:solidFill>
                <a:latin typeface="微软雅黑" pitchFamily="34" charset="-122"/>
                <a:ea typeface="微软雅黑" pitchFamily="34" charset="-122"/>
              </a:rPr>
              <a:t>协议：</a:t>
            </a:r>
            <a:r>
              <a:rPr lang="zh-CN" altLang="en-US" sz="2000" b="1" dirty="0">
                <a:latin typeface="微软雅黑" pitchFamily="34" charset="-122"/>
                <a:ea typeface="微软雅黑" pitchFamily="34" charset="-122"/>
              </a:rPr>
              <a:t>为每一个流预留必要的资源，并不断地更新</a:t>
            </a:r>
            <a:r>
              <a:rPr lang="zh-CN" altLang="en-US" sz="2000" b="1" dirty="0">
                <a:solidFill>
                  <a:srgbClr val="C00000"/>
                </a:solidFill>
                <a:latin typeface="微软雅黑" pitchFamily="34" charset="-122"/>
                <a:ea typeface="微软雅黑" pitchFamily="34" charset="-122"/>
              </a:rPr>
              <a:t>通信量控制数据库</a:t>
            </a:r>
            <a:r>
              <a:rPr lang="zh-CN" altLang="en-US" sz="2000" b="1" dirty="0">
                <a:latin typeface="微软雅黑" pitchFamily="34" charset="-122"/>
                <a:ea typeface="微软雅黑" pitchFamily="34" charset="-122"/>
              </a:rPr>
              <a:t>。</a:t>
            </a: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接纳控制：</a:t>
            </a:r>
            <a:r>
              <a:rPr lang="zh-CN" altLang="en-US" sz="2000" b="1" dirty="0">
                <a:latin typeface="微软雅黑" pitchFamily="34" charset="-122"/>
                <a:ea typeface="微软雅黑" pitchFamily="34" charset="-122"/>
              </a:rPr>
              <a:t>确定是否有足够的资源可供这个流使用。</a:t>
            </a:r>
          </a:p>
          <a:p>
            <a:pPr marL="717550" lvl="1" indent="-342900" eaLnBrk="0" hangingPunct="0">
              <a:lnSpc>
                <a:spcPts val="2800"/>
              </a:lnSpc>
              <a:buClr>
                <a:srgbClr val="9900CC"/>
              </a:buClr>
              <a:buSzPct val="85000"/>
              <a:buFont typeface="Wingdings" panose="05000000000000000000" pitchFamily="2" charset="2"/>
              <a:buChar char="u"/>
            </a:pPr>
            <a:r>
              <a:rPr lang="zh-CN" altLang="en-US" sz="2000" b="1" dirty="0">
                <a:solidFill>
                  <a:srgbClr val="0000FF"/>
                </a:solidFill>
                <a:latin typeface="微软雅黑" pitchFamily="34" charset="-122"/>
                <a:ea typeface="微软雅黑" pitchFamily="34" charset="-122"/>
              </a:rPr>
              <a:t>管理代理：</a:t>
            </a:r>
            <a:r>
              <a:rPr lang="zh-CN" altLang="en-US" sz="2000" b="1" dirty="0">
                <a:latin typeface="微软雅黑" pitchFamily="34" charset="-122"/>
                <a:ea typeface="微软雅黑" pitchFamily="34" charset="-122"/>
              </a:rPr>
              <a:t>用来修改通信量控制数据库和管理接纳控制功能块，包括设置接纳控制策略。</a:t>
            </a:r>
          </a:p>
        </p:txBody>
      </p:sp>
      <p:sp>
        <p:nvSpPr>
          <p:cNvPr id="6" name="AutoShape 5"/>
          <p:cNvSpPr>
            <a:spLocks noChangeArrowheads="1"/>
          </p:cNvSpPr>
          <p:nvPr/>
        </p:nvSpPr>
        <p:spPr bwMode="auto">
          <a:xfrm>
            <a:off x="511897" y="60679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399064" y="573581"/>
            <a:ext cx="43458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体系结构在路由器中的实现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6195362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1896" y="963779"/>
            <a:ext cx="8129015" cy="2163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9900CC"/>
              </a:buClr>
              <a:buFont typeface="+mj-lt"/>
              <a:buAutoNum type="arabicPeriod"/>
            </a:pPr>
            <a:r>
              <a:rPr lang="zh-CN" altLang="en-US" sz="2000" b="1" dirty="0">
                <a:latin typeface="微软雅黑" pitchFamily="34" charset="-122"/>
                <a:ea typeface="微软雅黑" pitchFamily="34" charset="-122"/>
              </a:rPr>
              <a:t>状态信息的数量与流的数目</a:t>
            </a:r>
            <a:r>
              <a:rPr lang="zh-CN" altLang="en-US" sz="2000" b="1" dirty="0">
                <a:solidFill>
                  <a:srgbClr val="0000FF"/>
                </a:solidFill>
                <a:latin typeface="微软雅黑" pitchFamily="34" charset="-122"/>
                <a:ea typeface="微软雅黑" pitchFamily="34" charset="-122"/>
              </a:rPr>
              <a:t>成正比</a:t>
            </a:r>
            <a:r>
              <a:rPr lang="zh-CN" altLang="en-US" sz="2000" b="1" dirty="0">
                <a:latin typeface="微软雅黑" pitchFamily="34" charset="-122"/>
                <a:ea typeface="微软雅黑" pitchFamily="34" charset="-122"/>
              </a:rPr>
              <a:t>。因此在大型网络中，按每个流进行资源预留会产生很大的开销。</a:t>
            </a:r>
          </a:p>
          <a:p>
            <a:pPr marL="342900" indent="-342900" eaLnBrk="0" hangingPunct="0">
              <a:lnSpc>
                <a:spcPts val="3300"/>
              </a:lnSpc>
              <a:buClr>
                <a:srgbClr val="9900CC"/>
              </a:buClr>
              <a:buFont typeface="+mj-lt"/>
              <a:buAutoNum type="arabicPeriod"/>
            </a:pPr>
            <a:r>
              <a:rPr lang="en-US" altLang="zh-CN" sz="2000" b="1" dirty="0" err="1">
                <a:latin typeface="微软雅黑" pitchFamily="34" charset="-122"/>
                <a:ea typeface="微软雅黑" pitchFamily="34" charset="-122"/>
              </a:rPr>
              <a:t>IntServ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体系结构</a:t>
            </a:r>
            <a:r>
              <a:rPr lang="zh-CN" altLang="en-US" sz="2000" b="1" dirty="0">
                <a:solidFill>
                  <a:srgbClr val="0000FF"/>
                </a:solidFill>
                <a:latin typeface="微软雅黑" pitchFamily="34" charset="-122"/>
                <a:ea typeface="微软雅黑" pitchFamily="34" charset="-122"/>
              </a:rPr>
              <a:t>复杂</a:t>
            </a:r>
            <a:r>
              <a:rPr lang="zh-CN" altLang="en-US" sz="2000" b="1" dirty="0">
                <a:latin typeface="微软雅黑" pitchFamily="34" charset="-122"/>
                <a:ea typeface="微软雅黑" pitchFamily="34" charset="-122"/>
              </a:rPr>
              <a:t>。若要得到有保证的服务，所有的路由器都必须装有 </a:t>
            </a:r>
            <a:r>
              <a:rPr lang="en-US" altLang="zh-CN" sz="2000" b="1" dirty="0">
                <a:latin typeface="微软雅黑" pitchFamily="34" charset="-122"/>
                <a:ea typeface="微软雅黑" pitchFamily="34" charset="-122"/>
              </a:rPr>
              <a:t>RSVP</a:t>
            </a:r>
            <a:r>
              <a:rPr lang="zh-CN" altLang="en-US" sz="2000" b="1" dirty="0">
                <a:latin typeface="微软雅黑" pitchFamily="34" charset="-122"/>
                <a:ea typeface="微软雅黑" pitchFamily="34" charset="-122"/>
              </a:rPr>
              <a:t>、接纳控制、分类器和调度器。</a:t>
            </a:r>
          </a:p>
          <a:p>
            <a:pPr marL="342900" indent="-342900" eaLnBrk="0" hangingPunct="0">
              <a:lnSpc>
                <a:spcPts val="3300"/>
              </a:lnSpc>
              <a:buClr>
                <a:srgbClr val="9900CC"/>
              </a:buClr>
              <a:buFont typeface="+mj-lt"/>
              <a:buAutoNum type="arabicPeriod"/>
            </a:pPr>
            <a:r>
              <a:rPr lang="zh-CN" altLang="en-US" sz="2000" b="1" dirty="0">
                <a:latin typeface="微软雅黑" pitchFamily="34" charset="-122"/>
                <a:ea typeface="微软雅黑" pitchFamily="34" charset="-122"/>
              </a:rPr>
              <a:t>服务质量等级数量</a:t>
            </a:r>
            <a:r>
              <a:rPr lang="zh-CN" altLang="en-US" sz="2000" b="1" dirty="0">
                <a:solidFill>
                  <a:srgbClr val="0000FF"/>
                </a:solidFill>
                <a:latin typeface="微软雅黑" pitchFamily="34" charset="-122"/>
                <a:ea typeface="微软雅黑" pitchFamily="34" charset="-122"/>
              </a:rPr>
              <a:t>太少，不够灵活</a:t>
            </a:r>
            <a:r>
              <a:rPr lang="zh-CN" altLang="en-US" sz="2000" b="1" dirty="0">
                <a:latin typeface="微软雅黑" pitchFamily="34" charset="-122"/>
                <a:ea typeface="微软雅黑" pitchFamily="34" charset="-122"/>
              </a:rPr>
              <a:t>。 </a:t>
            </a:r>
          </a:p>
        </p:txBody>
      </p:sp>
      <p:sp>
        <p:nvSpPr>
          <p:cNvPr id="3" name="AutoShape 5"/>
          <p:cNvSpPr>
            <a:spLocks noChangeArrowheads="1"/>
          </p:cNvSpPr>
          <p:nvPr/>
        </p:nvSpPr>
        <p:spPr bwMode="auto">
          <a:xfrm>
            <a:off x="511897" y="6082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1997940" y="574991"/>
            <a:ext cx="51922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综合服务 </a:t>
            </a:r>
            <a:r>
              <a:rPr lang="en-US" altLang="zh-CN" sz="2000" b="1" dirty="0" err="1">
                <a:solidFill>
                  <a:schemeClr val="bg1"/>
                </a:solidFill>
                <a:latin typeface="微软雅黑" pitchFamily="34" charset="-122"/>
                <a:ea typeface="微软雅黑" pitchFamily="34" charset="-122"/>
              </a:rPr>
              <a:t>IntServ</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体系结构存在的主要问题 </a:t>
            </a:r>
          </a:p>
        </p:txBody>
      </p:sp>
    </p:spTree>
    <p:extLst>
      <p:ext uri="{BB962C8B-B14F-4D97-AF65-F5344CB8AC3E}">
        <p14:creationId xmlns:p14="http://schemas.microsoft.com/office/powerpoint/2010/main" val="15811925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12"/>
          <p:cNvSpPr>
            <a:spLocks noChangeArrowheads="1"/>
          </p:cNvSpPr>
          <p:nvPr/>
        </p:nvSpPr>
        <p:spPr bwMode="auto">
          <a:xfrm>
            <a:off x="511896" y="613681"/>
            <a:ext cx="8129016" cy="422275"/>
          </a:xfrm>
          <a:prstGeom prst="roundRect">
            <a:avLst>
              <a:gd name="adj" fmla="val 16667"/>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0" name="Rectangle 13"/>
          <p:cNvSpPr>
            <a:spLocks noChangeArrowheads="1"/>
          </p:cNvSpPr>
          <p:nvPr/>
        </p:nvSpPr>
        <p:spPr bwMode="auto">
          <a:xfrm>
            <a:off x="2678096" y="588217"/>
            <a:ext cx="37966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8.4.4  </a:t>
            </a:r>
            <a:r>
              <a:rPr lang="zh-CN" altLang="en-US" sz="2400" b="1" dirty="0">
                <a:solidFill>
                  <a:schemeClr val="bg1"/>
                </a:solidFill>
                <a:latin typeface="微软雅黑" pitchFamily="34" charset="-122"/>
                <a:ea typeface="微软雅黑" pitchFamily="34" charset="-122"/>
              </a:rPr>
              <a:t>区分服务 </a:t>
            </a:r>
            <a:r>
              <a:rPr lang="en-US" altLang="zh-CN" sz="2400" b="1" dirty="0" err="1">
                <a:solidFill>
                  <a:schemeClr val="bg1"/>
                </a:solidFill>
                <a:latin typeface="微软雅黑" pitchFamily="34" charset="-122"/>
                <a:ea typeface="微软雅黑" pitchFamily="34" charset="-122"/>
              </a:rPr>
              <a:t>DiffServ</a:t>
            </a:r>
            <a:r>
              <a:rPr lang="en-US" altLang="zh-CN" sz="2400" b="1" dirty="0">
                <a:solidFill>
                  <a:schemeClr val="bg1"/>
                </a:solidFill>
                <a:latin typeface="微软雅黑" pitchFamily="34" charset="-122"/>
                <a:ea typeface="微软雅黑" pitchFamily="34" charset="-122"/>
              </a:rPr>
              <a:t> </a:t>
            </a:r>
          </a:p>
        </p:txBody>
      </p:sp>
      <p:sp>
        <p:nvSpPr>
          <p:cNvPr id="4" name="Rectangle 46"/>
          <p:cNvSpPr>
            <a:spLocks noChangeArrowheads="1"/>
          </p:cNvSpPr>
          <p:nvPr/>
        </p:nvSpPr>
        <p:spPr bwMode="auto">
          <a:xfrm>
            <a:off x="536196" y="1666386"/>
            <a:ext cx="818511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由于</a:t>
            </a:r>
            <a:r>
              <a:rPr lang="zh-CN" altLang="en-US" sz="2000" b="1" dirty="0">
                <a:solidFill>
                  <a:srgbClr val="C00000"/>
                </a:solidFill>
                <a:latin typeface="微软雅黑" pitchFamily="34" charset="-122"/>
                <a:ea typeface="微软雅黑" pitchFamily="34" charset="-122"/>
              </a:rPr>
              <a:t>综合服务 </a:t>
            </a:r>
            <a:r>
              <a:rPr lang="en-US" altLang="zh-CN" sz="2000" b="1" dirty="0" err="1">
                <a:solidFill>
                  <a:srgbClr val="C00000"/>
                </a:solidFill>
                <a:latin typeface="微软雅黑" pitchFamily="34" charset="-122"/>
                <a:ea typeface="微软雅黑" pitchFamily="34" charset="-122"/>
              </a:rPr>
              <a:t>IntServ</a:t>
            </a:r>
            <a:r>
              <a:rPr lang="en-US" altLang="zh-CN" sz="2000" b="1" dirty="0">
                <a:solidFill>
                  <a:srgbClr val="C00000"/>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和资源预留协议 </a:t>
            </a:r>
            <a:r>
              <a:rPr lang="en-US" altLang="zh-CN" sz="2000" b="1" dirty="0">
                <a:latin typeface="微软雅黑" pitchFamily="34" charset="-122"/>
                <a:ea typeface="微软雅黑" pitchFamily="34" charset="-122"/>
              </a:rPr>
              <a:t>RSVP </a:t>
            </a:r>
            <a:r>
              <a:rPr lang="zh-CN" altLang="en-US" sz="2000" b="1" dirty="0">
                <a:latin typeface="微软雅黑" pitchFamily="34" charset="-122"/>
                <a:ea typeface="微软雅黑" pitchFamily="34" charset="-122"/>
              </a:rPr>
              <a:t>都较复杂，很难在大规模的网络中实现，因此  </a:t>
            </a:r>
            <a:r>
              <a:rPr lang="en-US" altLang="zh-CN" sz="2000" b="1" dirty="0">
                <a:latin typeface="微软雅黑" pitchFamily="34" charset="-122"/>
                <a:ea typeface="微软雅黑" pitchFamily="34" charset="-122"/>
              </a:rPr>
              <a:t>IETF </a:t>
            </a:r>
            <a:r>
              <a:rPr lang="zh-CN" altLang="en-US" sz="2000" b="1" dirty="0">
                <a:latin typeface="微软雅黑" pitchFamily="34" charset="-122"/>
                <a:ea typeface="微软雅黑" pitchFamily="34" charset="-122"/>
              </a:rPr>
              <a:t>提出了新的策略，即区分服务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区分服务 </a:t>
            </a:r>
            <a:r>
              <a:rPr lang="en-US" altLang="zh-CN" sz="2000" b="1" dirty="0" err="1">
                <a:solidFill>
                  <a:srgbClr val="C00000"/>
                </a:solidFill>
                <a:latin typeface="微软雅黑" pitchFamily="34" charset="-122"/>
                <a:ea typeface="微软雅黑" pitchFamily="34" charset="-122"/>
              </a:rPr>
              <a:t>DiffServ</a:t>
            </a:r>
            <a:r>
              <a:rPr lang="en-US" altLang="zh-CN"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(Differentiated Services) </a:t>
            </a:r>
            <a:r>
              <a:rPr lang="zh-CN" altLang="en-US" sz="2000" b="1" dirty="0">
                <a:latin typeface="微软雅黑" pitchFamily="34" charset="-122"/>
                <a:ea typeface="微软雅黑" pitchFamily="34" charset="-122"/>
              </a:rPr>
              <a:t>有时也简写为 </a:t>
            </a:r>
            <a:r>
              <a:rPr lang="en-US" altLang="zh-CN" sz="2000" b="1" dirty="0">
                <a:solidFill>
                  <a:srgbClr val="0000FF"/>
                </a:solidFill>
                <a:latin typeface="微软雅黑" pitchFamily="34" charset="-122"/>
                <a:ea typeface="微软雅黑" pitchFamily="34" charset="-122"/>
              </a:rPr>
              <a:t>DS</a:t>
            </a:r>
            <a:r>
              <a:rPr lang="zh-CN" altLang="en-US" sz="2000" b="1" dirty="0">
                <a:latin typeface="微软雅黑" pitchFamily="34" charset="-122"/>
                <a:ea typeface="微软雅黑" pitchFamily="34" charset="-122"/>
              </a:rPr>
              <a:t>。因此，具有区分服务功能的结点就称为 </a:t>
            </a:r>
            <a:r>
              <a:rPr lang="en-US" altLang="zh-CN" sz="2000" b="1" dirty="0">
                <a:latin typeface="微软雅黑" pitchFamily="34" charset="-122"/>
                <a:ea typeface="微软雅黑" pitchFamily="34" charset="-122"/>
              </a:rPr>
              <a:t>DS </a:t>
            </a:r>
            <a:r>
              <a:rPr lang="zh-CN" altLang="en-US" sz="2000" b="1" dirty="0">
                <a:latin typeface="微软雅黑" pitchFamily="34" charset="-122"/>
                <a:ea typeface="微软雅黑" pitchFamily="34" charset="-122"/>
              </a:rPr>
              <a:t>结点。 </a:t>
            </a:r>
          </a:p>
        </p:txBody>
      </p:sp>
      <p:sp>
        <p:nvSpPr>
          <p:cNvPr id="5" name="AutoShape 5"/>
          <p:cNvSpPr>
            <a:spLocks noChangeArrowheads="1"/>
          </p:cNvSpPr>
          <p:nvPr/>
        </p:nvSpPr>
        <p:spPr bwMode="auto">
          <a:xfrm>
            <a:off x="511897" y="129339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125462" y="1260180"/>
            <a:ext cx="28793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区分服务的基本概念</a:t>
            </a:r>
          </a:p>
        </p:txBody>
      </p:sp>
    </p:spTree>
    <p:extLst>
      <p:ext uri="{BB962C8B-B14F-4D97-AF65-F5344CB8AC3E}">
        <p14:creationId xmlns:p14="http://schemas.microsoft.com/office/powerpoint/2010/main" val="4206929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5"/>
          <p:cNvSpPr>
            <a:spLocks noChangeArrowheads="1"/>
          </p:cNvSpPr>
          <p:nvPr/>
        </p:nvSpPr>
        <p:spPr bwMode="auto">
          <a:xfrm>
            <a:off x="517853" y="622484"/>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矩形 4"/>
          <p:cNvSpPr>
            <a:spLocks noChangeArrowheads="1"/>
          </p:cNvSpPr>
          <p:nvPr/>
        </p:nvSpPr>
        <p:spPr bwMode="auto">
          <a:xfrm>
            <a:off x="635844" y="572656"/>
            <a:ext cx="32686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的要点 </a:t>
            </a:r>
          </a:p>
        </p:txBody>
      </p:sp>
      <p:sp>
        <p:nvSpPr>
          <p:cNvPr id="22" name="圆角矩形 21"/>
          <p:cNvSpPr/>
          <p:nvPr/>
        </p:nvSpPr>
        <p:spPr>
          <a:xfrm>
            <a:off x="635844" y="3221707"/>
            <a:ext cx="8133857" cy="98692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46"/>
          <p:cNvSpPr>
            <a:spLocks noChangeArrowheads="1"/>
          </p:cNvSpPr>
          <p:nvPr/>
        </p:nvSpPr>
        <p:spPr bwMode="auto">
          <a:xfrm>
            <a:off x="517853" y="940668"/>
            <a:ext cx="8373598" cy="2272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7188" indent="-357188" eaLnBrk="0" hangingPunct="0">
              <a:lnSpc>
                <a:spcPts val="3000"/>
              </a:lnSpc>
              <a:buClr>
                <a:srgbClr val="9900CC"/>
              </a:buClr>
              <a:buFont typeface="+mj-lt"/>
              <a:buAutoNum type="arabicPeriod"/>
            </a:pPr>
            <a:r>
              <a:rPr lang="zh-CN" altLang="en-US" sz="2000" b="1" dirty="0">
                <a:latin typeface="微软雅黑" pitchFamily="34" charset="-122"/>
                <a:ea typeface="微软雅黑" pitchFamily="34" charset="-122"/>
              </a:rPr>
              <a:t>力图</a:t>
            </a:r>
            <a:r>
              <a:rPr lang="zh-CN" altLang="en-US" sz="2000" b="1" dirty="0">
                <a:solidFill>
                  <a:srgbClr val="C00000"/>
                </a:solidFill>
                <a:latin typeface="微软雅黑" pitchFamily="34" charset="-122"/>
                <a:ea typeface="微软雅黑" pitchFamily="34" charset="-122"/>
              </a:rPr>
              <a:t>不改变</a:t>
            </a:r>
            <a:r>
              <a:rPr lang="zh-CN" altLang="en-US" sz="2000" b="1" dirty="0">
                <a:latin typeface="微软雅黑" pitchFamily="34" charset="-122"/>
                <a:ea typeface="微软雅黑" pitchFamily="34" charset="-122"/>
              </a:rPr>
              <a:t>网络的基础结构，但在路由器中</a:t>
            </a:r>
            <a:r>
              <a:rPr lang="zh-CN" altLang="en-US" sz="2000" b="1" dirty="0">
                <a:solidFill>
                  <a:srgbClr val="C00000"/>
                </a:solidFill>
                <a:latin typeface="微软雅黑" pitchFamily="34" charset="-122"/>
                <a:ea typeface="微软雅黑" pitchFamily="34" charset="-122"/>
              </a:rPr>
              <a:t>增加</a:t>
            </a:r>
            <a:r>
              <a:rPr lang="zh-CN" altLang="en-US" sz="2000" b="1" dirty="0">
                <a:latin typeface="微软雅黑" pitchFamily="34" charset="-122"/>
                <a:ea typeface="微软雅黑" pitchFamily="34" charset="-122"/>
              </a:rPr>
              <a:t>区分服务的功能。</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solidFill>
                  <a:srgbClr val="0000FF"/>
                </a:solidFill>
                <a:latin typeface="微软雅黑" pitchFamily="34" charset="-122"/>
                <a:ea typeface="微软雅黑" pitchFamily="34" charset="-122"/>
              </a:rPr>
              <a:t>区分服务字段 </a:t>
            </a:r>
            <a:r>
              <a:rPr lang="en-US" altLang="zh-CN" b="1" dirty="0">
                <a:solidFill>
                  <a:srgbClr val="0000FF"/>
                </a:solidFill>
                <a:latin typeface="微软雅黑" pitchFamily="34" charset="-122"/>
                <a:ea typeface="微软雅黑" pitchFamily="34" charset="-122"/>
              </a:rPr>
              <a:t>DS</a:t>
            </a:r>
            <a:r>
              <a:rPr lang="zh-CN" altLang="en-US" b="1" dirty="0">
                <a:solidFill>
                  <a:srgbClr val="0000FF"/>
                </a:solidFill>
                <a:latin typeface="微软雅黑" pitchFamily="34" charset="-122"/>
                <a:ea typeface="微软雅黑" pitchFamily="34" charset="-122"/>
              </a:rPr>
              <a:t>：</a:t>
            </a:r>
            <a:r>
              <a:rPr lang="zh-CN" altLang="en-US" b="1" dirty="0">
                <a:latin typeface="微软雅黑" pitchFamily="34" charset="-122"/>
                <a:ea typeface="微软雅黑" pitchFamily="34" charset="-122"/>
              </a:rPr>
              <a:t>服务类型字段 </a:t>
            </a:r>
            <a:r>
              <a:rPr lang="en-US" altLang="zh-CN" b="1" dirty="0">
                <a:latin typeface="微软雅黑" pitchFamily="34" charset="-122"/>
                <a:ea typeface="微软雅黑" pitchFamily="34" charset="-122"/>
              </a:rPr>
              <a:t>(IPv4) </a:t>
            </a:r>
            <a:r>
              <a:rPr lang="zh-CN" altLang="en-US" b="1" dirty="0">
                <a:latin typeface="微软雅黑" pitchFamily="34" charset="-122"/>
                <a:ea typeface="微软雅黑" pitchFamily="34" charset="-122"/>
              </a:rPr>
              <a:t>，通信量类字段 </a:t>
            </a:r>
            <a:r>
              <a:rPr lang="en-US" altLang="zh-CN" b="1" dirty="0">
                <a:latin typeface="微软雅黑" pitchFamily="34" charset="-122"/>
                <a:ea typeface="微软雅黑" pitchFamily="34" charset="-122"/>
              </a:rPr>
              <a:t>(IPv6)</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根据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字段的值来转发分组。</a:t>
            </a:r>
            <a:endParaRPr lang="en-US" altLang="zh-CN" b="1" dirty="0">
              <a:latin typeface="微软雅黑" pitchFamily="34" charset="-122"/>
              <a:ea typeface="微软雅黑" pitchFamily="34" charset="-122"/>
            </a:endParaRP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利用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字段提供</a:t>
            </a:r>
            <a:r>
              <a:rPr lang="zh-CN" altLang="en-US" b="1" dirty="0">
                <a:solidFill>
                  <a:srgbClr val="0000FF"/>
                </a:solidFill>
                <a:latin typeface="微软雅黑" pitchFamily="34" charset="-122"/>
                <a:ea typeface="微软雅黑" pitchFamily="34" charset="-122"/>
              </a:rPr>
              <a:t>不同等级的服务质量。</a:t>
            </a:r>
          </a:p>
          <a:p>
            <a:pPr marL="717550" lvl="1" indent="-342900" eaLnBrk="0" hangingPunct="0">
              <a:lnSpc>
                <a:spcPts val="2800"/>
              </a:lnSpc>
              <a:buClr>
                <a:srgbClr val="0000CC"/>
              </a:buClr>
              <a:buSzPct val="85000"/>
              <a:buFont typeface="Wingdings" panose="05000000000000000000" pitchFamily="2" charset="2"/>
              <a:buChar char="u"/>
            </a:pP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字段现只使用前 </a:t>
            </a:r>
            <a:r>
              <a:rPr lang="en-US" altLang="zh-CN" b="1" dirty="0">
                <a:latin typeface="微软雅黑" pitchFamily="34" charset="-122"/>
                <a:ea typeface="微软雅黑" pitchFamily="34" charset="-122"/>
              </a:rPr>
              <a:t>6 bit</a:t>
            </a:r>
            <a:r>
              <a:rPr lang="zh-CN" altLang="en-US" b="1" dirty="0">
                <a:latin typeface="微软雅黑" pitchFamily="34" charset="-122"/>
                <a:ea typeface="微软雅黑" pitchFamily="34" charset="-122"/>
              </a:rPr>
              <a:t>，即</a:t>
            </a:r>
            <a:r>
              <a:rPr lang="zh-CN" altLang="en-US" b="1" dirty="0">
                <a:solidFill>
                  <a:srgbClr val="0000FF"/>
                </a:solidFill>
                <a:latin typeface="微软雅黑" pitchFamily="34" charset="-122"/>
                <a:ea typeface="微软雅黑" pitchFamily="34" charset="-122"/>
              </a:rPr>
              <a:t>区分服务码点 </a:t>
            </a:r>
            <a:r>
              <a:rPr lang="en-US" altLang="zh-CN" b="1" dirty="0">
                <a:solidFill>
                  <a:srgbClr val="0000FF"/>
                </a:solidFill>
                <a:latin typeface="微软雅黑" pitchFamily="34" charset="-122"/>
                <a:ea typeface="微软雅黑" pitchFamily="34" charset="-122"/>
              </a:rPr>
              <a:t>DSCP  </a:t>
            </a:r>
            <a:r>
              <a:rPr lang="en-US" altLang="zh-CN" b="1" dirty="0">
                <a:latin typeface="微软雅黑" pitchFamily="34" charset="-122"/>
                <a:ea typeface="微软雅黑" pitchFamily="34" charset="-122"/>
              </a:rPr>
              <a:t>(Differentiated Services </a:t>
            </a:r>
            <a:r>
              <a:rPr lang="en-US" altLang="zh-CN" b="1" dirty="0" err="1">
                <a:latin typeface="微软雅黑" pitchFamily="34" charset="-122"/>
                <a:ea typeface="微软雅黑" pitchFamily="34" charset="-122"/>
              </a:rPr>
              <a:t>CodePoint</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 </a:t>
            </a:r>
          </a:p>
        </p:txBody>
      </p:sp>
      <p:grpSp>
        <p:nvGrpSpPr>
          <p:cNvPr id="21" name="组合 20"/>
          <p:cNvGrpSpPr/>
          <p:nvPr/>
        </p:nvGrpSpPr>
        <p:grpSpPr>
          <a:xfrm>
            <a:off x="2317725" y="3274138"/>
            <a:ext cx="4812376" cy="719966"/>
            <a:chOff x="2027820" y="5290146"/>
            <a:chExt cx="6371617" cy="1019174"/>
          </a:xfrm>
        </p:grpSpPr>
        <p:sp>
          <p:nvSpPr>
            <p:cNvPr id="8" name="Rectangle 5"/>
            <p:cNvSpPr>
              <a:spLocks noChangeArrowheads="1"/>
            </p:cNvSpPr>
            <p:nvPr/>
          </p:nvSpPr>
          <p:spPr bwMode="auto">
            <a:xfrm>
              <a:off x="2736151" y="5688608"/>
              <a:ext cx="3599525" cy="620712"/>
            </a:xfrm>
            <a:prstGeom prst="rect">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7" name="Rectangle 4"/>
            <p:cNvSpPr>
              <a:spLocks noChangeArrowheads="1"/>
            </p:cNvSpPr>
            <p:nvPr/>
          </p:nvSpPr>
          <p:spPr bwMode="auto">
            <a:xfrm>
              <a:off x="5437944" y="5688608"/>
              <a:ext cx="897732"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9" name="Line 6"/>
            <p:cNvSpPr>
              <a:spLocks noChangeShapeType="1"/>
            </p:cNvSpPr>
            <p:nvPr/>
          </p:nvSpPr>
          <p:spPr bwMode="auto">
            <a:xfrm>
              <a:off x="3185017"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0" name="Line 7"/>
            <p:cNvSpPr>
              <a:spLocks noChangeShapeType="1"/>
            </p:cNvSpPr>
            <p:nvPr/>
          </p:nvSpPr>
          <p:spPr bwMode="auto">
            <a:xfrm>
              <a:off x="3637322"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1" name="Line 8"/>
            <p:cNvSpPr>
              <a:spLocks noChangeShapeType="1"/>
            </p:cNvSpPr>
            <p:nvPr/>
          </p:nvSpPr>
          <p:spPr bwMode="auto">
            <a:xfrm>
              <a:off x="4086188"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2" name="Line 9"/>
            <p:cNvSpPr>
              <a:spLocks noChangeShapeType="1"/>
            </p:cNvSpPr>
            <p:nvPr/>
          </p:nvSpPr>
          <p:spPr bwMode="auto">
            <a:xfrm>
              <a:off x="4536773"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3" name="Line 10"/>
            <p:cNvSpPr>
              <a:spLocks noChangeShapeType="1"/>
            </p:cNvSpPr>
            <p:nvPr/>
          </p:nvSpPr>
          <p:spPr bwMode="auto">
            <a:xfrm>
              <a:off x="4985638"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4" name="Line 11"/>
            <p:cNvSpPr>
              <a:spLocks noChangeShapeType="1"/>
            </p:cNvSpPr>
            <p:nvPr/>
          </p:nvSpPr>
          <p:spPr bwMode="auto">
            <a:xfrm>
              <a:off x="5437944"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5" name="Line 12"/>
            <p:cNvSpPr>
              <a:spLocks noChangeShapeType="1"/>
            </p:cNvSpPr>
            <p:nvPr/>
          </p:nvSpPr>
          <p:spPr bwMode="auto">
            <a:xfrm>
              <a:off x="5886809" y="5688608"/>
              <a:ext cx="0" cy="620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6" name="Text Box 13"/>
            <p:cNvSpPr txBox="1">
              <a:spLocks noChangeArrowheads="1"/>
            </p:cNvSpPr>
            <p:nvPr/>
          </p:nvSpPr>
          <p:spPr bwMode="auto">
            <a:xfrm>
              <a:off x="5580116" y="5798146"/>
              <a:ext cx="598488" cy="396875"/>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1" lang="en-US" altLang="zh-CN" sz="1600" b="1" dirty="0">
                  <a:latin typeface="微软雅黑" pitchFamily="34" charset="-122"/>
                  <a:ea typeface="微软雅黑" pitchFamily="34" charset="-122"/>
                </a:rPr>
                <a:t>CU</a:t>
              </a:r>
            </a:p>
          </p:txBody>
        </p:sp>
        <p:sp>
          <p:nvSpPr>
            <p:cNvPr id="17" name="Text Box 14"/>
            <p:cNvSpPr txBox="1">
              <a:spLocks noChangeArrowheads="1"/>
            </p:cNvSpPr>
            <p:nvPr/>
          </p:nvSpPr>
          <p:spPr bwMode="auto">
            <a:xfrm>
              <a:off x="2994120" y="5775647"/>
              <a:ext cx="1950897" cy="479252"/>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defRPr kumimoji="1" sz="1600" b="1">
                  <a:latin typeface="微软雅黑" pitchFamily="34" charset="-122"/>
                  <a:ea typeface="微软雅黑" pitchFamily="34" charset="-122"/>
                </a:defRPr>
              </a:lvl1pPr>
            </a:lstStyle>
            <a:p>
              <a:r>
                <a:rPr lang="en-US" altLang="zh-CN" dirty="0"/>
                <a:t>      DSCP      </a:t>
              </a:r>
            </a:p>
          </p:txBody>
        </p:sp>
        <p:sp>
          <p:nvSpPr>
            <p:cNvPr id="18" name="Text Box 15"/>
            <p:cNvSpPr txBox="1">
              <a:spLocks noChangeArrowheads="1"/>
            </p:cNvSpPr>
            <p:nvPr/>
          </p:nvSpPr>
          <p:spPr bwMode="auto">
            <a:xfrm>
              <a:off x="2027820" y="5290146"/>
              <a:ext cx="4832614" cy="479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dirty="0">
                  <a:latin typeface="微软雅黑" pitchFamily="34" charset="-122"/>
                  <a:ea typeface="微软雅黑" pitchFamily="34" charset="-122"/>
                </a:rPr>
                <a:t>比特  </a:t>
              </a:r>
              <a:r>
                <a:rPr kumimoji="1" lang="en-US" altLang="zh-CN" sz="1600" b="1" dirty="0">
                  <a:latin typeface="微软雅黑" pitchFamily="34" charset="-122"/>
                  <a:ea typeface="微软雅黑" pitchFamily="34" charset="-122"/>
                </a:rPr>
                <a:t>0                           5   6   7</a:t>
              </a:r>
            </a:p>
          </p:txBody>
        </p:sp>
        <p:sp>
          <p:nvSpPr>
            <p:cNvPr id="19" name="Line 17"/>
            <p:cNvSpPr>
              <a:spLocks noChangeShapeType="1"/>
            </p:cNvSpPr>
            <p:nvPr/>
          </p:nvSpPr>
          <p:spPr bwMode="auto">
            <a:xfrm flipH="1">
              <a:off x="6210203" y="5733059"/>
              <a:ext cx="858177" cy="217487"/>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0" name="Text Box 18"/>
            <p:cNvSpPr txBox="1">
              <a:spLocks noChangeArrowheads="1"/>
            </p:cNvSpPr>
            <p:nvPr/>
          </p:nvSpPr>
          <p:spPr bwMode="auto">
            <a:xfrm>
              <a:off x="6932443" y="5374283"/>
              <a:ext cx="1466994" cy="522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latin typeface="微软雅黑" pitchFamily="34" charset="-122"/>
                  <a:ea typeface="微软雅黑" pitchFamily="34" charset="-122"/>
                </a:rPr>
                <a:t>暂不使用</a:t>
              </a:r>
            </a:p>
          </p:txBody>
        </p:sp>
      </p:grpSp>
    </p:spTree>
    <p:extLst>
      <p:ext uri="{BB962C8B-B14F-4D97-AF65-F5344CB8AC3E}">
        <p14:creationId xmlns:p14="http://schemas.microsoft.com/office/powerpoint/2010/main" val="35576445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20157"/>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70329"/>
            <a:ext cx="2294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服务等级协定 </a:t>
            </a:r>
            <a:r>
              <a:rPr lang="en-US" altLang="zh-CN" sz="2000" b="1" dirty="0">
                <a:latin typeface="微软雅黑" pitchFamily="34" charset="-122"/>
                <a:ea typeface="微软雅黑" pitchFamily="34" charset="-122"/>
              </a:rPr>
              <a:t>SLA</a:t>
            </a:r>
          </a:p>
        </p:txBody>
      </p:sp>
      <p:sp>
        <p:nvSpPr>
          <p:cNvPr id="4" name="Rectangle 46"/>
          <p:cNvSpPr>
            <a:spLocks noChangeArrowheads="1"/>
          </p:cNvSpPr>
          <p:nvPr/>
        </p:nvSpPr>
        <p:spPr bwMode="auto">
          <a:xfrm>
            <a:off x="517853" y="942496"/>
            <a:ext cx="8298343"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在使用 </a:t>
            </a:r>
            <a:r>
              <a:rPr lang="en-US" altLang="zh-CN" sz="2000" b="1" dirty="0">
                <a:latin typeface="微软雅黑" pitchFamily="34" charset="-122"/>
                <a:ea typeface="微软雅黑" pitchFamily="34" charset="-122"/>
              </a:rPr>
              <a:t>DS </a:t>
            </a:r>
            <a:r>
              <a:rPr lang="zh-CN" altLang="en-US" sz="2000" b="1" dirty="0">
                <a:latin typeface="微软雅黑" pitchFamily="34" charset="-122"/>
                <a:ea typeface="微软雅黑" pitchFamily="34" charset="-122"/>
              </a:rPr>
              <a:t>字段之前，互联网的 </a:t>
            </a:r>
            <a:r>
              <a:rPr lang="en-US" altLang="zh-CN" sz="2000" b="1" dirty="0">
                <a:latin typeface="微软雅黑" pitchFamily="34" charset="-122"/>
                <a:ea typeface="微软雅黑" pitchFamily="34" charset="-122"/>
              </a:rPr>
              <a:t>ISP </a:t>
            </a:r>
            <a:r>
              <a:rPr lang="zh-CN" altLang="en-US" sz="2000" b="1" dirty="0">
                <a:latin typeface="微软雅黑" pitchFamily="34" charset="-122"/>
                <a:ea typeface="微软雅黑" pitchFamily="34" charset="-122"/>
              </a:rPr>
              <a:t>要和用户商定</a:t>
            </a:r>
            <a:r>
              <a:rPr lang="zh-CN" altLang="en-US" sz="2000" b="1" dirty="0">
                <a:solidFill>
                  <a:srgbClr val="C00000"/>
                </a:solidFill>
                <a:latin typeface="微软雅黑" pitchFamily="34" charset="-122"/>
                <a:ea typeface="微软雅黑" pitchFamily="34" charset="-122"/>
              </a:rPr>
              <a:t>服务等级协定 </a:t>
            </a:r>
            <a:r>
              <a:rPr lang="en-US" altLang="zh-CN" sz="2000" b="1" dirty="0">
                <a:solidFill>
                  <a:srgbClr val="C00000"/>
                </a:solidFill>
                <a:latin typeface="微软雅黑" pitchFamily="34" charset="-122"/>
                <a:ea typeface="微软雅黑" pitchFamily="34" charset="-122"/>
              </a:rPr>
              <a:t>SLA </a:t>
            </a:r>
            <a:r>
              <a:rPr lang="en-US" altLang="zh-CN" sz="2000" b="1" dirty="0">
                <a:latin typeface="微软雅黑" pitchFamily="34" charset="-122"/>
                <a:ea typeface="微软雅黑" pitchFamily="34" charset="-122"/>
              </a:rPr>
              <a:t>(Service Level Agreement)</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SLA </a:t>
            </a:r>
            <a:r>
              <a:rPr lang="zh-CN" altLang="en-US" sz="2000" b="1" dirty="0">
                <a:latin typeface="微软雅黑" pitchFamily="34" charset="-122"/>
                <a:ea typeface="微软雅黑" pitchFamily="34" charset="-122"/>
              </a:rPr>
              <a:t>中</a:t>
            </a:r>
            <a:r>
              <a:rPr lang="zh-CN" altLang="en-US" sz="2000" b="1" dirty="0">
                <a:solidFill>
                  <a:srgbClr val="C00000"/>
                </a:solidFill>
                <a:latin typeface="微软雅黑" pitchFamily="34" charset="-122"/>
                <a:ea typeface="微软雅黑" pitchFamily="34" charset="-122"/>
              </a:rPr>
              <a:t>指明：</a:t>
            </a:r>
            <a:r>
              <a:rPr lang="zh-CN" altLang="en-US" sz="2000" b="1" dirty="0">
                <a:latin typeface="微软雅黑" pitchFamily="34" charset="-122"/>
                <a:ea typeface="微软雅黑" pitchFamily="34" charset="-122"/>
              </a:rPr>
              <a:t>被支持的服务类别（可包括吞吐量、分组丢失率、时延和时延抖动、网络的可用性等）和每一类所容许的通信量。 </a:t>
            </a:r>
          </a:p>
        </p:txBody>
      </p:sp>
    </p:spTree>
    <p:extLst>
      <p:ext uri="{BB962C8B-B14F-4D97-AF65-F5344CB8AC3E}">
        <p14:creationId xmlns:p14="http://schemas.microsoft.com/office/powerpoint/2010/main" val="123673696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utoShape 5"/>
          <p:cNvSpPr>
            <a:spLocks noChangeArrowheads="1"/>
          </p:cNvSpPr>
          <p:nvPr/>
        </p:nvSpPr>
        <p:spPr bwMode="auto">
          <a:xfrm>
            <a:off x="517853" y="61872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4"/>
          <p:cNvSpPr>
            <a:spLocks noChangeArrowheads="1"/>
          </p:cNvSpPr>
          <p:nvPr/>
        </p:nvSpPr>
        <p:spPr bwMode="auto">
          <a:xfrm>
            <a:off x="635844" y="568898"/>
            <a:ext cx="31917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的要点</a:t>
            </a:r>
          </a:p>
        </p:txBody>
      </p:sp>
      <p:sp>
        <p:nvSpPr>
          <p:cNvPr id="5" name="圆角矩形 4"/>
          <p:cNvSpPr/>
          <p:nvPr/>
        </p:nvSpPr>
        <p:spPr>
          <a:xfrm>
            <a:off x="517854" y="2451396"/>
            <a:ext cx="8133856" cy="190289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 name="组合 1"/>
          <p:cNvGrpSpPr/>
          <p:nvPr/>
        </p:nvGrpSpPr>
        <p:grpSpPr>
          <a:xfrm>
            <a:off x="1057456" y="2533447"/>
            <a:ext cx="7032806" cy="1597111"/>
            <a:chOff x="1057456" y="2533447"/>
            <a:chExt cx="7032806" cy="1597111"/>
          </a:xfrm>
        </p:grpSpPr>
        <p:grpSp>
          <p:nvGrpSpPr>
            <p:cNvPr id="77" name="Group 10"/>
            <p:cNvGrpSpPr>
              <a:grpSpLocks/>
            </p:cNvGrpSpPr>
            <p:nvPr/>
          </p:nvGrpSpPr>
          <p:grpSpPr bwMode="auto">
            <a:xfrm>
              <a:off x="1611896" y="2561027"/>
              <a:ext cx="2331692" cy="1562275"/>
              <a:chOff x="1680" y="240"/>
              <a:chExt cx="2529" cy="1270"/>
            </a:xfrm>
            <a:solidFill>
              <a:schemeClr val="bg1"/>
            </a:solidFill>
          </p:grpSpPr>
          <p:sp>
            <p:nvSpPr>
              <p:cNvPr id="78"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79"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0"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1"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2"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3"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4"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5"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6"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grpSp>
          <p:nvGrpSpPr>
            <p:cNvPr id="87" name="Group 10"/>
            <p:cNvGrpSpPr>
              <a:grpSpLocks/>
            </p:cNvGrpSpPr>
            <p:nvPr/>
          </p:nvGrpSpPr>
          <p:grpSpPr bwMode="auto">
            <a:xfrm>
              <a:off x="5141049" y="2568283"/>
              <a:ext cx="2256528" cy="1562275"/>
              <a:chOff x="1680" y="240"/>
              <a:chExt cx="2529" cy="1270"/>
            </a:xfrm>
            <a:solidFill>
              <a:schemeClr val="bg1"/>
            </a:solidFill>
          </p:grpSpPr>
          <p:sp>
            <p:nvSpPr>
              <p:cNvPr id="88"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89"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0"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1"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2"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3"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4"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5"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96"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46" name="Line 44"/>
            <p:cNvSpPr>
              <a:spLocks noChangeShapeType="1"/>
            </p:cNvSpPr>
            <p:nvPr/>
          </p:nvSpPr>
          <p:spPr bwMode="auto">
            <a:xfrm>
              <a:off x="7410791" y="3859408"/>
              <a:ext cx="566675" cy="7117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Line 45"/>
            <p:cNvSpPr>
              <a:spLocks noChangeShapeType="1"/>
            </p:cNvSpPr>
            <p:nvPr/>
          </p:nvSpPr>
          <p:spPr bwMode="auto">
            <a:xfrm>
              <a:off x="3872596" y="3403887"/>
              <a:ext cx="1343838"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8" name="Line 46"/>
            <p:cNvSpPr>
              <a:spLocks noChangeShapeType="1"/>
            </p:cNvSpPr>
            <p:nvPr/>
          </p:nvSpPr>
          <p:spPr bwMode="auto">
            <a:xfrm flipV="1">
              <a:off x="1179943" y="3677637"/>
              <a:ext cx="503568" cy="192721"/>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9" name="Oval 47"/>
            <p:cNvSpPr>
              <a:spLocks noChangeArrowheads="1"/>
            </p:cNvSpPr>
            <p:nvPr/>
          </p:nvSpPr>
          <p:spPr bwMode="auto">
            <a:xfrm>
              <a:off x="1872832" y="2947272"/>
              <a:ext cx="1888058" cy="973456"/>
            </a:xfrm>
            <a:prstGeom prst="ellipse">
              <a:avLst/>
            </a:prstGeom>
            <a:solidFill>
              <a:srgbClr val="66FFCC"/>
            </a:solidFill>
            <a:ln w="6350">
              <a:solidFill>
                <a:schemeClr val="tx1"/>
              </a:solidFill>
              <a:prstDash val="dash"/>
              <a:round/>
              <a:headEnd/>
              <a:tailEnd/>
            </a:ln>
            <a:effectLst/>
          </p:spPr>
          <p:txBody>
            <a:bodyPr wrap="none" anchor="ctr"/>
            <a:lstStyle/>
            <a:p>
              <a:endParaRPr lang="zh-CN" altLang="en-US" sz="1400" b="1">
                <a:latin typeface="微软雅黑" pitchFamily="34" charset="-122"/>
                <a:ea typeface="微软雅黑" pitchFamily="34" charset="-122"/>
              </a:endParaRPr>
            </a:p>
          </p:txBody>
        </p:sp>
        <p:pic>
          <p:nvPicPr>
            <p:cNvPr id="50" name="Picture 4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8586" y="3554997"/>
              <a:ext cx="314247" cy="182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1" name="Text Box 49"/>
            <p:cNvSpPr txBox="1">
              <a:spLocks noChangeArrowheads="1"/>
            </p:cNvSpPr>
            <p:nvPr/>
          </p:nvSpPr>
          <p:spPr bwMode="auto">
            <a:xfrm>
              <a:off x="2317641" y="3108086"/>
              <a:ext cx="1125295"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内部路由器</a:t>
              </a:r>
            </a:p>
          </p:txBody>
        </p:sp>
        <p:sp>
          <p:nvSpPr>
            <p:cNvPr id="52" name="Text Box 50"/>
            <p:cNvSpPr txBox="1">
              <a:spLocks noChangeArrowheads="1"/>
            </p:cNvSpPr>
            <p:nvPr/>
          </p:nvSpPr>
          <p:spPr bwMode="auto">
            <a:xfrm>
              <a:off x="4001036" y="2533447"/>
              <a:ext cx="1139290" cy="293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00000"/>
                  </a:solidFill>
                  <a:latin typeface="微软雅黑" pitchFamily="34" charset="-122"/>
                  <a:ea typeface="微软雅黑" pitchFamily="34" charset="-122"/>
                </a:rPr>
                <a:t>边界路由器</a:t>
              </a:r>
            </a:p>
          </p:txBody>
        </p:sp>
        <p:pic>
          <p:nvPicPr>
            <p:cNvPr id="55" name="Picture 5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6860" y="3616318"/>
              <a:ext cx="314247" cy="182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6" name="Picture 5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9047" y="3251683"/>
              <a:ext cx="314247" cy="181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7" name="Picture 5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20429" y="3311907"/>
              <a:ext cx="314247" cy="182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8" name="Picture 5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3293" y="3494772"/>
              <a:ext cx="314247" cy="18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 name="Picture 5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1470" y="3737863"/>
              <a:ext cx="315535" cy="18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2" name="Oval 60"/>
            <p:cNvSpPr>
              <a:spLocks noChangeArrowheads="1"/>
            </p:cNvSpPr>
            <p:nvPr/>
          </p:nvSpPr>
          <p:spPr bwMode="auto">
            <a:xfrm>
              <a:off x="5396520" y="2947272"/>
              <a:ext cx="1888058" cy="973456"/>
            </a:xfrm>
            <a:prstGeom prst="ellipse">
              <a:avLst/>
            </a:prstGeom>
            <a:solidFill>
              <a:srgbClr val="66FFCC"/>
            </a:solidFill>
            <a:ln w="6350">
              <a:solidFill>
                <a:schemeClr val="tx1"/>
              </a:solidFill>
              <a:prstDash val="dash"/>
              <a:round/>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63" name="Text Box 61"/>
            <p:cNvSpPr txBox="1">
              <a:spLocks noChangeArrowheads="1"/>
            </p:cNvSpPr>
            <p:nvPr/>
          </p:nvSpPr>
          <p:spPr bwMode="auto">
            <a:xfrm>
              <a:off x="5819585" y="3108086"/>
              <a:ext cx="1125295"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内部路由器</a:t>
              </a:r>
            </a:p>
          </p:txBody>
        </p:sp>
        <p:pic>
          <p:nvPicPr>
            <p:cNvPr id="64" name="Picture 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0548" y="3677638"/>
              <a:ext cx="314247" cy="181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5" name="Picture 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5840" y="3494772"/>
              <a:ext cx="314247" cy="18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 name="Picture 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81009" y="3433452"/>
              <a:ext cx="315535" cy="18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7" name="Picture 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9409" y="3373228"/>
              <a:ext cx="314247" cy="181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8" name="Text Box 66"/>
            <p:cNvSpPr txBox="1">
              <a:spLocks noChangeArrowheads="1"/>
            </p:cNvSpPr>
            <p:nvPr/>
          </p:nvSpPr>
          <p:spPr bwMode="auto">
            <a:xfrm>
              <a:off x="3847178" y="3021732"/>
              <a:ext cx="320323"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B</a:t>
              </a:r>
            </a:p>
          </p:txBody>
        </p:sp>
        <p:sp>
          <p:nvSpPr>
            <p:cNvPr id="69" name="Text Box 67"/>
            <p:cNvSpPr txBox="1">
              <a:spLocks noChangeArrowheads="1"/>
            </p:cNvSpPr>
            <p:nvPr/>
          </p:nvSpPr>
          <p:spPr bwMode="auto">
            <a:xfrm>
              <a:off x="4963787" y="3021732"/>
              <a:ext cx="320323"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B</a:t>
              </a:r>
            </a:p>
          </p:txBody>
        </p:sp>
        <p:sp>
          <p:nvSpPr>
            <p:cNvPr id="70" name="Text Box 68"/>
            <p:cNvSpPr txBox="1">
              <a:spLocks noChangeArrowheads="1"/>
            </p:cNvSpPr>
            <p:nvPr/>
          </p:nvSpPr>
          <p:spPr bwMode="auto">
            <a:xfrm>
              <a:off x="1392446" y="3277962"/>
              <a:ext cx="320323"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B</a:t>
              </a:r>
            </a:p>
          </p:txBody>
        </p:sp>
        <p:sp>
          <p:nvSpPr>
            <p:cNvPr id="71" name="Text Box 69"/>
            <p:cNvSpPr txBox="1">
              <a:spLocks noChangeArrowheads="1"/>
            </p:cNvSpPr>
            <p:nvPr/>
          </p:nvSpPr>
          <p:spPr bwMode="auto">
            <a:xfrm>
              <a:off x="7386321" y="3468491"/>
              <a:ext cx="320323" cy="2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B</a:t>
              </a:r>
            </a:p>
          </p:txBody>
        </p:sp>
        <p:sp>
          <p:nvSpPr>
            <p:cNvPr id="72" name="Text Box 70"/>
            <p:cNvSpPr txBox="1">
              <a:spLocks noChangeArrowheads="1"/>
            </p:cNvSpPr>
            <p:nvPr/>
          </p:nvSpPr>
          <p:spPr bwMode="auto">
            <a:xfrm>
              <a:off x="2472199" y="2645516"/>
              <a:ext cx="692747" cy="293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dirty="0">
                  <a:solidFill>
                    <a:srgbClr val="0000FF"/>
                  </a:solidFill>
                  <a:latin typeface="微软雅黑" pitchFamily="34" charset="-122"/>
                  <a:ea typeface="微软雅黑" pitchFamily="34" charset="-122"/>
                </a:rPr>
                <a:t>DS </a:t>
              </a:r>
              <a:r>
                <a:rPr kumimoji="1" lang="zh-CN" altLang="en-US" sz="1600" b="1" dirty="0">
                  <a:solidFill>
                    <a:srgbClr val="0000FF"/>
                  </a:solidFill>
                  <a:latin typeface="微软雅黑" pitchFamily="34" charset="-122"/>
                  <a:ea typeface="微软雅黑" pitchFamily="34" charset="-122"/>
                </a:rPr>
                <a:t>域</a:t>
              </a:r>
            </a:p>
          </p:txBody>
        </p:sp>
        <p:sp>
          <p:nvSpPr>
            <p:cNvPr id="73" name="Text Box 71"/>
            <p:cNvSpPr txBox="1">
              <a:spLocks noChangeArrowheads="1"/>
            </p:cNvSpPr>
            <p:nvPr/>
          </p:nvSpPr>
          <p:spPr bwMode="auto">
            <a:xfrm>
              <a:off x="5994599" y="2650991"/>
              <a:ext cx="692747" cy="293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dirty="0">
                  <a:solidFill>
                    <a:srgbClr val="0000FF"/>
                  </a:solidFill>
                  <a:latin typeface="微软雅黑" pitchFamily="34" charset="-122"/>
                  <a:ea typeface="微软雅黑" pitchFamily="34" charset="-122"/>
                </a:rPr>
                <a:t>DS </a:t>
              </a:r>
              <a:r>
                <a:rPr kumimoji="1" lang="zh-CN" altLang="en-US" sz="1600" b="1" dirty="0">
                  <a:solidFill>
                    <a:srgbClr val="0000FF"/>
                  </a:solidFill>
                  <a:latin typeface="微软雅黑" pitchFamily="34" charset="-122"/>
                  <a:ea typeface="微软雅黑" pitchFamily="34" charset="-122"/>
                </a:rPr>
                <a:t>域</a:t>
              </a:r>
            </a:p>
          </p:txBody>
        </p:sp>
        <p:sp>
          <p:nvSpPr>
            <p:cNvPr id="74" name="Line 72"/>
            <p:cNvSpPr>
              <a:spLocks noChangeShapeType="1"/>
            </p:cNvSpPr>
            <p:nvPr/>
          </p:nvSpPr>
          <p:spPr bwMode="auto">
            <a:xfrm flipH="1">
              <a:off x="4075135" y="2843426"/>
              <a:ext cx="337956" cy="4684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5" name="Line 73"/>
            <p:cNvSpPr>
              <a:spLocks noChangeShapeType="1"/>
            </p:cNvSpPr>
            <p:nvPr/>
          </p:nvSpPr>
          <p:spPr bwMode="auto">
            <a:xfrm>
              <a:off x="4635075" y="2826915"/>
              <a:ext cx="328712" cy="5156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pic>
          <p:nvPicPr>
            <p:cNvPr id="97"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7456" y="3677638"/>
              <a:ext cx="363809" cy="335096"/>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00"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6453" y="3727447"/>
              <a:ext cx="363809" cy="335096"/>
            </a:xfrm>
            <a:prstGeom prst="rect">
              <a:avLst/>
            </a:prstGeom>
            <a:noFill/>
            <a:extLst>
              <a:ext uri="{909E8E84-426E-40DD-AFC4-6F175D3DCCD1}">
                <a14:hiddenFill xmlns:a14="http://schemas.microsoft.com/office/drawing/2010/main">
                  <a:solidFill>
                    <a:srgbClr val="FFFFFF"/>
                  </a:solidFill>
                </a14:hiddenFill>
              </a:ext>
            </a:extLst>
          </p:spPr>
        </p:pic>
      </p:grpSp>
      <p:sp>
        <p:nvSpPr>
          <p:cNvPr id="100" name="Rectangle 46"/>
          <p:cNvSpPr>
            <a:spLocks noChangeArrowheads="1"/>
          </p:cNvSpPr>
          <p:nvPr/>
        </p:nvSpPr>
        <p:spPr bwMode="auto">
          <a:xfrm>
            <a:off x="517853" y="940668"/>
            <a:ext cx="8133857" cy="1554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7188" indent="-357188" eaLnBrk="0" hangingPunct="0">
              <a:lnSpc>
                <a:spcPts val="3000"/>
              </a:lnSpc>
              <a:buClr>
                <a:srgbClr val="9900CC"/>
              </a:buClr>
              <a:buFont typeface="+mj-lt"/>
              <a:buAutoNum type="arabicPeriod" startAt="2"/>
            </a:pPr>
            <a:r>
              <a:rPr lang="zh-CN" altLang="en-US" sz="2000" b="1" dirty="0">
                <a:latin typeface="微软雅黑" pitchFamily="34" charset="-122"/>
                <a:ea typeface="微软雅黑" pitchFamily="34" charset="-122"/>
              </a:rPr>
              <a:t>网络被</a:t>
            </a:r>
            <a:r>
              <a:rPr lang="zh-CN" altLang="en-US" sz="2000" b="1" dirty="0">
                <a:solidFill>
                  <a:srgbClr val="C00000"/>
                </a:solidFill>
                <a:latin typeface="微软雅黑" pitchFamily="34" charset="-122"/>
                <a:ea typeface="微软雅黑" pitchFamily="34" charset="-122"/>
              </a:rPr>
              <a:t>划分</a:t>
            </a:r>
            <a:r>
              <a:rPr lang="zh-CN" altLang="en-US" sz="2000" b="1" dirty="0">
                <a:latin typeface="微软雅黑" pitchFamily="34" charset="-122"/>
                <a:ea typeface="微软雅黑" pitchFamily="34" charset="-122"/>
              </a:rPr>
              <a:t>为许多个 </a:t>
            </a:r>
            <a:r>
              <a:rPr lang="en-US" altLang="zh-CN" sz="2000" b="1" dirty="0">
                <a:latin typeface="微软雅黑" pitchFamily="34" charset="-122"/>
                <a:ea typeface="微软雅黑" pitchFamily="34" charset="-122"/>
              </a:rPr>
              <a:t>DS </a:t>
            </a:r>
            <a:r>
              <a:rPr lang="zh-CN" altLang="en-US" sz="2000" b="1" dirty="0">
                <a:latin typeface="微软雅黑" pitchFamily="34" charset="-122"/>
                <a:ea typeface="微软雅黑" pitchFamily="34" charset="-122"/>
              </a:rPr>
              <a:t>域。</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将所有的复杂性放在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域的</a:t>
            </a:r>
            <a:r>
              <a:rPr lang="zh-CN" altLang="en-US" b="1" dirty="0">
                <a:solidFill>
                  <a:srgbClr val="C00000"/>
                </a:solidFill>
                <a:latin typeface="微软雅黑" pitchFamily="34" charset="-122"/>
                <a:ea typeface="微软雅黑" pitchFamily="34" charset="-122"/>
              </a:rPr>
              <a:t>边界节点 </a:t>
            </a:r>
            <a:r>
              <a:rPr lang="en-US" altLang="zh-CN" b="1" dirty="0">
                <a:latin typeface="微软雅黑" pitchFamily="34" charset="-122"/>
                <a:ea typeface="微软雅黑" pitchFamily="34" charset="-122"/>
              </a:rPr>
              <a:t>(boundary node) </a:t>
            </a:r>
            <a:r>
              <a:rPr lang="zh-CN" altLang="en-US" b="1" dirty="0">
                <a:latin typeface="微软雅黑" pitchFamily="34" charset="-122"/>
                <a:ea typeface="微软雅黑" pitchFamily="34" charset="-122"/>
              </a:rPr>
              <a:t>中，使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域内部路由器工作得尽可能地简单。</a:t>
            </a:r>
            <a:endParaRPr lang="en-US" altLang="zh-CN" b="1" dirty="0">
              <a:latin typeface="微软雅黑" pitchFamily="34" charset="-122"/>
              <a:ea typeface="微软雅黑" pitchFamily="34" charset="-122"/>
            </a:endParaRP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边界节点可以是主机、路由器或防火墙等。 </a:t>
            </a:r>
          </a:p>
        </p:txBody>
      </p:sp>
      <p:pic>
        <p:nvPicPr>
          <p:cNvPr id="59" name="Picture 5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97870" y="3277962"/>
            <a:ext cx="388757" cy="253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1" name="Picture 5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6059" y="3277962"/>
            <a:ext cx="388757" cy="253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Tree>
    <p:extLst>
      <p:ext uri="{BB962C8B-B14F-4D97-AF65-F5344CB8AC3E}">
        <p14:creationId xmlns:p14="http://schemas.microsoft.com/office/powerpoint/2010/main" val="32417990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nodeType="withEffect">
                                  <p:stCondLst>
                                    <p:cond delay="0"/>
                                  </p:stCondLst>
                                  <p:childTnLst>
                                    <p:anim calcmode="discrete" valueType="str">
                                      <p:cBhvr>
                                        <p:cTn id="6" dur="1000" fill="hold"/>
                                        <p:tgtEl>
                                          <p:spTgt spid="59"/>
                                        </p:tgtEl>
                                        <p:attrNameLst>
                                          <p:attrName>style.visibility</p:attrName>
                                        </p:attrNameLst>
                                      </p:cBhvr>
                                      <p:tavLst>
                                        <p:tav tm="0">
                                          <p:val>
                                            <p:strVal val="hidden"/>
                                          </p:val>
                                        </p:tav>
                                        <p:tav tm="50000">
                                          <p:val>
                                            <p:strVal val="visible"/>
                                          </p:val>
                                        </p:tav>
                                      </p:tavLst>
                                    </p:anim>
                                  </p:childTnLst>
                                </p:cTn>
                              </p:par>
                              <p:par>
                                <p:cTn id="7" presetID="35" presetClass="emph" presetSubtype="0" repeatCount="4000" fill="hold" nodeType="withEffect">
                                  <p:stCondLst>
                                    <p:cond delay="0"/>
                                  </p:stCondLst>
                                  <p:childTnLst>
                                    <p:anim calcmode="discrete" valueType="str">
                                      <p:cBhvr>
                                        <p:cTn id="8"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17853" y="61872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矩形 4"/>
          <p:cNvSpPr>
            <a:spLocks noChangeArrowheads="1"/>
          </p:cNvSpPr>
          <p:nvPr/>
        </p:nvSpPr>
        <p:spPr bwMode="auto">
          <a:xfrm>
            <a:off x="635844" y="568898"/>
            <a:ext cx="31917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的要点</a:t>
            </a:r>
          </a:p>
        </p:txBody>
      </p:sp>
      <p:sp>
        <p:nvSpPr>
          <p:cNvPr id="9" name="Rectangle 46"/>
          <p:cNvSpPr>
            <a:spLocks noChangeArrowheads="1"/>
          </p:cNvSpPr>
          <p:nvPr/>
        </p:nvSpPr>
        <p:spPr bwMode="auto">
          <a:xfrm>
            <a:off x="517853" y="940668"/>
            <a:ext cx="8133857" cy="2272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7188" indent="-357188" eaLnBrk="0" hangingPunct="0">
              <a:lnSpc>
                <a:spcPts val="3000"/>
              </a:lnSpc>
              <a:buClr>
                <a:srgbClr val="9900CC"/>
              </a:buClr>
              <a:buFont typeface="+mj-lt"/>
              <a:buAutoNum type="arabicPeriod" startAt="3"/>
            </a:pPr>
            <a:r>
              <a:rPr lang="zh-CN" altLang="en-US" sz="2000" b="1" dirty="0">
                <a:latin typeface="微软雅黑" pitchFamily="34" charset="-122"/>
                <a:ea typeface="微软雅黑" pitchFamily="34" charset="-122"/>
              </a:rPr>
              <a:t>边界路由器中的功能较多。分为：</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solidFill>
                  <a:srgbClr val="0000FF"/>
                </a:solidFill>
                <a:latin typeface="微软雅黑" pitchFamily="34" charset="-122"/>
                <a:ea typeface="微软雅黑" pitchFamily="34" charset="-122"/>
              </a:rPr>
              <a:t>分类器</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(classifier)</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solidFill>
                  <a:srgbClr val="0000FF"/>
                </a:solidFill>
                <a:latin typeface="微软雅黑" pitchFamily="34" charset="-122"/>
                <a:ea typeface="微软雅黑" pitchFamily="34" charset="-122"/>
              </a:rPr>
              <a:t>通信量调节器 </a:t>
            </a:r>
            <a:r>
              <a:rPr lang="en-US" altLang="zh-CN" b="1" dirty="0">
                <a:latin typeface="微软雅黑" pitchFamily="34" charset="-122"/>
                <a:ea typeface="微软雅黑" pitchFamily="34" charset="-122"/>
              </a:rPr>
              <a:t>(conditioner) </a:t>
            </a:r>
          </a:p>
          <a:p>
            <a:pPr marL="984250" lvl="2" indent="-269875" eaLnBrk="0" hangingPunct="0">
              <a:lnSpc>
                <a:spcPts val="2800"/>
              </a:lnSpc>
              <a:buClr>
                <a:srgbClr val="993300"/>
              </a:buClr>
              <a:buSzPct val="85000"/>
              <a:buFont typeface="Wingdings" panose="05000000000000000000" pitchFamily="2" charset="2"/>
              <a:buChar char="Ø"/>
            </a:pPr>
            <a:r>
              <a:rPr lang="zh-CN" altLang="en-US" b="1" dirty="0">
                <a:latin typeface="微软雅黑" pitchFamily="34" charset="-122"/>
                <a:ea typeface="微软雅黑" pitchFamily="34" charset="-122"/>
              </a:rPr>
              <a:t>标记器 </a:t>
            </a:r>
            <a:r>
              <a:rPr lang="en-US" altLang="zh-CN" b="1" dirty="0">
                <a:latin typeface="微软雅黑" pitchFamily="34" charset="-122"/>
                <a:ea typeface="微软雅黑" pitchFamily="34" charset="-122"/>
              </a:rPr>
              <a:t>(marker)</a:t>
            </a:r>
          </a:p>
          <a:p>
            <a:pPr marL="984250" lvl="2" indent="-269875" eaLnBrk="0" hangingPunct="0">
              <a:lnSpc>
                <a:spcPts val="2800"/>
              </a:lnSpc>
              <a:buClr>
                <a:srgbClr val="993300"/>
              </a:buClr>
              <a:buSzPct val="85000"/>
              <a:buFont typeface="Wingdings" panose="05000000000000000000" pitchFamily="2" charset="2"/>
              <a:buChar char="Ø"/>
            </a:pPr>
            <a:r>
              <a:rPr lang="zh-CN" altLang="en-US" b="1" dirty="0">
                <a:latin typeface="微软雅黑" pitchFamily="34" charset="-122"/>
                <a:ea typeface="微软雅黑" pitchFamily="34" charset="-122"/>
              </a:rPr>
              <a:t>整形器 </a:t>
            </a:r>
            <a:r>
              <a:rPr lang="en-US" altLang="zh-CN" b="1" dirty="0">
                <a:latin typeface="微软雅黑" pitchFamily="34" charset="-122"/>
                <a:ea typeface="微软雅黑" pitchFamily="34" charset="-122"/>
              </a:rPr>
              <a:t>(shaper)</a:t>
            </a:r>
          </a:p>
          <a:p>
            <a:pPr marL="984250" lvl="2" indent="-269875" eaLnBrk="0" hangingPunct="0">
              <a:lnSpc>
                <a:spcPts val="2800"/>
              </a:lnSpc>
              <a:buClr>
                <a:srgbClr val="993300"/>
              </a:buClr>
              <a:buSzPct val="85000"/>
              <a:buFont typeface="Wingdings" panose="05000000000000000000" pitchFamily="2" charset="2"/>
              <a:buChar char="Ø"/>
            </a:pPr>
            <a:r>
              <a:rPr lang="zh-CN" altLang="en-US" b="1" dirty="0">
                <a:latin typeface="微软雅黑" pitchFamily="34" charset="-122"/>
                <a:ea typeface="微软雅黑" pitchFamily="34" charset="-122"/>
              </a:rPr>
              <a:t>测定器 </a:t>
            </a:r>
            <a:r>
              <a:rPr lang="en-US" altLang="zh-CN" b="1" dirty="0">
                <a:latin typeface="微软雅黑" pitchFamily="34" charset="-122"/>
                <a:ea typeface="微软雅黑" pitchFamily="34" charset="-122"/>
              </a:rPr>
              <a:t>(meter)</a:t>
            </a:r>
          </a:p>
        </p:txBody>
      </p:sp>
    </p:spTree>
    <p:extLst>
      <p:ext uri="{BB962C8B-B14F-4D97-AF65-F5344CB8AC3E}">
        <p14:creationId xmlns:p14="http://schemas.microsoft.com/office/powerpoint/2010/main" val="39431129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AutoShape 5"/>
          <p:cNvSpPr>
            <a:spLocks noChangeArrowheads="1"/>
          </p:cNvSpPr>
          <p:nvPr/>
        </p:nvSpPr>
        <p:spPr bwMode="auto">
          <a:xfrm>
            <a:off x="517853" y="618780"/>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矩形 4"/>
          <p:cNvSpPr>
            <a:spLocks noChangeArrowheads="1"/>
          </p:cNvSpPr>
          <p:nvPr/>
        </p:nvSpPr>
        <p:spPr bwMode="auto">
          <a:xfrm>
            <a:off x="635844" y="568952"/>
            <a:ext cx="38523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边界路由器中的各功能块的关系 </a:t>
            </a:r>
          </a:p>
        </p:txBody>
      </p:sp>
      <p:sp>
        <p:nvSpPr>
          <p:cNvPr id="4" name="圆角矩形 3"/>
          <p:cNvSpPr/>
          <p:nvPr/>
        </p:nvSpPr>
        <p:spPr>
          <a:xfrm>
            <a:off x="517852" y="974517"/>
            <a:ext cx="8133857" cy="329659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9" name="组合 38"/>
          <p:cNvGrpSpPr/>
          <p:nvPr/>
        </p:nvGrpSpPr>
        <p:grpSpPr>
          <a:xfrm>
            <a:off x="914730" y="1132926"/>
            <a:ext cx="7032708" cy="2976947"/>
            <a:chOff x="227005" y="1772816"/>
            <a:chExt cx="9115870" cy="3858750"/>
          </a:xfrm>
        </p:grpSpPr>
        <p:sp>
          <p:nvSpPr>
            <p:cNvPr id="7" name="Rectangle 6"/>
            <p:cNvSpPr>
              <a:spLocks noChangeArrowheads="1"/>
            </p:cNvSpPr>
            <p:nvPr/>
          </p:nvSpPr>
          <p:spPr bwMode="auto">
            <a:xfrm>
              <a:off x="1191063" y="1823616"/>
              <a:ext cx="4075906" cy="1946275"/>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 name="Rectangle 4"/>
            <p:cNvSpPr>
              <a:spLocks noChangeArrowheads="1"/>
            </p:cNvSpPr>
            <p:nvPr/>
          </p:nvSpPr>
          <p:spPr bwMode="auto">
            <a:xfrm>
              <a:off x="2448977" y="1815385"/>
              <a:ext cx="2817993" cy="1958975"/>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 name="Freeform 5"/>
            <p:cNvSpPr>
              <a:spLocks/>
            </p:cNvSpPr>
            <p:nvPr/>
          </p:nvSpPr>
          <p:spPr bwMode="auto">
            <a:xfrm>
              <a:off x="3229016" y="2585615"/>
              <a:ext cx="1720" cy="419100"/>
            </a:xfrm>
            <a:custGeom>
              <a:avLst/>
              <a:gdLst>
                <a:gd name="T0" fmla="*/ 0 w 1"/>
                <a:gd name="T1" fmla="*/ 0 h 195"/>
                <a:gd name="T2" fmla="*/ 0 w 1"/>
                <a:gd name="T3" fmla="*/ 195 h 195"/>
              </a:gdLst>
              <a:ahLst/>
              <a:cxnLst>
                <a:cxn ang="0">
                  <a:pos x="T0" y="T1"/>
                </a:cxn>
                <a:cxn ang="0">
                  <a:pos x="T2" y="T3"/>
                </a:cxn>
              </a:cxnLst>
              <a:rect l="0" t="0" r="r" b="b"/>
              <a:pathLst>
                <a:path w="1" h="195">
                  <a:moveTo>
                    <a:pt x="0" y="0"/>
                  </a:moveTo>
                  <a:lnTo>
                    <a:pt x="0" y="195"/>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 name="Oval 7"/>
            <p:cNvSpPr>
              <a:spLocks noChangeArrowheads="1"/>
            </p:cNvSpPr>
            <p:nvPr/>
          </p:nvSpPr>
          <p:spPr bwMode="auto">
            <a:xfrm>
              <a:off x="4198978" y="4031828"/>
              <a:ext cx="3687233" cy="1441450"/>
            </a:xfrm>
            <a:prstGeom prst="ellipse">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8"/>
            <p:cNvSpPr>
              <a:spLocks noChangeShapeType="1"/>
            </p:cNvSpPr>
            <p:nvPr/>
          </p:nvSpPr>
          <p:spPr bwMode="auto">
            <a:xfrm flipV="1">
              <a:off x="1968408" y="4750965"/>
              <a:ext cx="7374467" cy="158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 name="Text Box 11"/>
            <p:cNvSpPr txBox="1">
              <a:spLocks noChangeArrowheads="1"/>
            </p:cNvSpPr>
            <p:nvPr/>
          </p:nvSpPr>
          <p:spPr bwMode="auto">
            <a:xfrm>
              <a:off x="5385495" y="4931308"/>
              <a:ext cx="1402951"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内部路由器</a:t>
              </a:r>
            </a:p>
          </p:txBody>
        </p:sp>
        <p:sp>
          <p:nvSpPr>
            <p:cNvPr id="13" name="Text Box 12"/>
            <p:cNvSpPr txBox="1">
              <a:spLocks noChangeArrowheads="1"/>
            </p:cNvSpPr>
            <p:nvPr/>
          </p:nvSpPr>
          <p:spPr bwMode="auto">
            <a:xfrm>
              <a:off x="2599770" y="4953363"/>
              <a:ext cx="1402951" cy="678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边界路由器</a:t>
              </a:r>
            </a:p>
            <a:p>
              <a:pPr algn="ctr"/>
              <a:r>
                <a:rPr kumimoji="1" lang="zh-CN" altLang="en-US" sz="1400" b="1" dirty="0">
                  <a:solidFill>
                    <a:srgbClr val="C00000"/>
                  </a:solidFill>
                  <a:latin typeface="微软雅黑" pitchFamily="34" charset="-122"/>
                  <a:ea typeface="微软雅黑" pitchFamily="34" charset="-122"/>
                </a:rPr>
                <a:t>（入口）</a:t>
              </a:r>
            </a:p>
          </p:txBody>
        </p:sp>
        <p:sp>
          <p:nvSpPr>
            <p:cNvPr id="14" name="Text Box 13"/>
            <p:cNvSpPr txBox="1">
              <a:spLocks noChangeArrowheads="1"/>
            </p:cNvSpPr>
            <p:nvPr/>
          </p:nvSpPr>
          <p:spPr bwMode="auto">
            <a:xfrm>
              <a:off x="7779783" y="4953363"/>
              <a:ext cx="1402951" cy="678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边界路由器</a:t>
              </a:r>
            </a:p>
            <a:p>
              <a:pPr algn="ctr"/>
              <a:r>
                <a:rPr kumimoji="1" lang="zh-CN" altLang="en-US" sz="1400" b="1" dirty="0">
                  <a:solidFill>
                    <a:srgbClr val="C00000"/>
                  </a:solidFill>
                  <a:latin typeface="微软雅黑" pitchFamily="34" charset="-122"/>
                  <a:ea typeface="微软雅黑" pitchFamily="34" charset="-122"/>
                </a:rPr>
                <a:t>（出口）</a:t>
              </a:r>
            </a:p>
          </p:txBody>
        </p:sp>
        <p:pic>
          <p:nvPicPr>
            <p:cNvPr id="16"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9497" y="4598566"/>
              <a:ext cx="484981"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51951" y="4598566"/>
              <a:ext cx="484981"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8" name="Picture 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4403" y="4598566"/>
              <a:ext cx="48670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9"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8576" y="4598566"/>
              <a:ext cx="484981"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0" name="Rectangle 19"/>
            <p:cNvSpPr>
              <a:spLocks noChangeArrowheads="1"/>
            </p:cNvSpPr>
            <p:nvPr/>
          </p:nvSpPr>
          <p:spPr bwMode="auto">
            <a:xfrm>
              <a:off x="1340244" y="2999954"/>
              <a:ext cx="969963" cy="619125"/>
            </a:xfrm>
            <a:prstGeom prst="rect">
              <a:avLst/>
            </a:prstGeom>
            <a:solidFill>
              <a:srgbClr val="66FFFF"/>
            </a:solidFill>
            <a:ln w="9525">
              <a:solidFill>
                <a:schemeClr val="tx1"/>
              </a:solidFill>
              <a:miter lim="800000"/>
              <a:headEnd/>
              <a:tailEnd/>
            </a:ln>
            <a:effectLst/>
          </p:spPr>
          <p:txBody>
            <a:bodyPr wrap="none" anchor="ctr"/>
            <a:lstStyle/>
            <a:p>
              <a:pPr algn="ctr"/>
              <a:r>
                <a:rPr kumimoji="1" lang="zh-CN" altLang="en-US" sz="1400" b="1">
                  <a:latin typeface="微软雅黑" pitchFamily="34" charset="-122"/>
                  <a:ea typeface="微软雅黑" pitchFamily="34" charset="-122"/>
                </a:rPr>
                <a:t>分类器</a:t>
              </a:r>
            </a:p>
          </p:txBody>
        </p:sp>
        <p:sp>
          <p:nvSpPr>
            <p:cNvPr id="21" name="Rectangle 20"/>
            <p:cNvSpPr>
              <a:spLocks noChangeArrowheads="1"/>
            </p:cNvSpPr>
            <p:nvPr/>
          </p:nvSpPr>
          <p:spPr bwMode="auto">
            <a:xfrm>
              <a:off x="2744034" y="2999954"/>
              <a:ext cx="969963" cy="619125"/>
            </a:xfrm>
            <a:prstGeom prst="rect">
              <a:avLst/>
            </a:prstGeom>
            <a:solidFill>
              <a:srgbClr val="FFFF00"/>
            </a:solidFill>
            <a:ln w="9525">
              <a:solidFill>
                <a:schemeClr val="tx1"/>
              </a:solidFill>
              <a:miter lim="800000"/>
              <a:headEnd/>
              <a:tailEnd/>
            </a:ln>
            <a:effectLst/>
          </p:spPr>
          <p:txBody>
            <a:bodyPr wrap="none" anchor="ctr"/>
            <a:lstStyle/>
            <a:p>
              <a:pPr algn="ctr"/>
              <a:r>
                <a:rPr kumimoji="1" lang="zh-CN" altLang="en-US" sz="1400" b="1">
                  <a:latin typeface="微软雅黑" pitchFamily="34" charset="-122"/>
                  <a:ea typeface="微软雅黑" pitchFamily="34" charset="-122"/>
                </a:rPr>
                <a:t>标记器</a:t>
              </a:r>
            </a:p>
          </p:txBody>
        </p:sp>
        <p:sp>
          <p:nvSpPr>
            <p:cNvPr id="22" name="Rectangle 21"/>
            <p:cNvSpPr>
              <a:spLocks noChangeArrowheads="1"/>
            </p:cNvSpPr>
            <p:nvPr/>
          </p:nvSpPr>
          <p:spPr bwMode="auto">
            <a:xfrm>
              <a:off x="4102669" y="2999954"/>
              <a:ext cx="969963" cy="619125"/>
            </a:xfrm>
            <a:prstGeom prst="rect">
              <a:avLst/>
            </a:prstGeom>
            <a:solidFill>
              <a:srgbClr val="FFFF00"/>
            </a:solidFill>
            <a:ln w="9525">
              <a:solidFill>
                <a:schemeClr val="tx1"/>
              </a:solidFill>
              <a:miter lim="800000"/>
              <a:headEnd/>
              <a:tailEnd/>
            </a:ln>
            <a:effectLst/>
          </p:spPr>
          <p:txBody>
            <a:bodyPr wrap="none" anchor="ctr"/>
            <a:lstStyle/>
            <a:p>
              <a:pPr algn="ctr"/>
              <a:r>
                <a:rPr kumimoji="1" lang="zh-CN" altLang="en-US" sz="1400" b="1">
                  <a:latin typeface="微软雅黑" pitchFamily="34" charset="-122"/>
                  <a:ea typeface="微软雅黑" pitchFamily="34" charset="-122"/>
                </a:rPr>
                <a:t>整形器</a:t>
              </a:r>
            </a:p>
          </p:txBody>
        </p:sp>
        <p:sp>
          <p:nvSpPr>
            <p:cNvPr id="23" name="Rectangle 22"/>
            <p:cNvSpPr>
              <a:spLocks noChangeArrowheads="1"/>
            </p:cNvSpPr>
            <p:nvPr/>
          </p:nvSpPr>
          <p:spPr bwMode="auto">
            <a:xfrm>
              <a:off x="2744034" y="2029991"/>
              <a:ext cx="969963" cy="619125"/>
            </a:xfrm>
            <a:prstGeom prst="rect">
              <a:avLst/>
            </a:prstGeom>
            <a:solidFill>
              <a:srgbClr val="FFFF00"/>
            </a:solidFill>
            <a:ln w="9525">
              <a:solidFill>
                <a:schemeClr val="tx1"/>
              </a:solidFill>
              <a:miter lim="800000"/>
              <a:headEnd/>
              <a:tailEnd/>
            </a:ln>
            <a:effectLst/>
          </p:spPr>
          <p:txBody>
            <a:bodyPr wrap="none" anchor="ctr"/>
            <a:lstStyle/>
            <a:p>
              <a:pPr algn="ctr"/>
              <a:r>
                <a:rPr kumimoji="1" lang="zh-CN" altLang="en-US" sz="1400" b="1" dirty="0">
                  <a:latin typeface="微软雅黑" pitchFamily="34" charset="-122"/>
                  <a:ea typeface="微软雅黑" pitchFamily="34" charset="-122"/>
                </a:rPr>
                <a:t>测定器</a:t>
              </a:r>
            </a:p>
          </p:txBody>
        </p:sp>
        <p:sp>
          <p:nvSpPr>
            <p:cNvPr id="24" name="Line 23"/>
            <p:cNvSpPr>
              <a:spLocks noChangeShapeType="1"/>
            </p:cNvSpPr>
            <p:nvPr/>
          </p:nvSpPr>
          <p:spPr bwMode="auto">
            <a:xfrm>
              <a:off x="308555" y="3309515"/>
              <a:ext cx="873654"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072632" y="3309515"/>
              <a:ext cx="873654"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flipV="1">
              <a:off x="2367400" y="3309515"/>
              <a:ext cx="376634" cy="1270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 name="Line 26"/>
            <p:cNvSpPr>
              <a:spLocks noChangeShapeType="1"/>
            </p:cNvSpPr>
            <p:nvPr/>
          </p:nvSpPr>
          <p:spPr bwMode="auto">
            <a:xfrm>
              <a:off x="3713997" y="3309515"/>
              <a:ext cx="397272" cy="0"/>
            </a:xfrm>
            <a:prstGeom prst="line">
              <a:avLst/>
            </a:prstGeom>
            <a:noFill/>
            <a:ln w="190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8" name="Freeform 27"/>
            <p:cNvSpPr>
              <a:spLocks/>
            </p:cNvSpPr>
            <p:nvPr/>
          </p:nvSpPr>
          <p:spPr bwMode="auto">
            <a:xfrm>
              <a:off x="1829106" y="2339553"/>
              <a:ext cx="926968" cy="660400"/>
            </a:xfrm>
            <a:custGeom>
              <a:avLst/>
              <a:gdLst>
                <a:gd name="T0" fmla="*/ 0 w 117"/>
                <a:gd name="T1" fmla="*/ 240 h 240"/>
                <a:gd name="T2" fmla="*/ 0 w 117"/>
                <a:gd name="T3" fmla="*/ 0 h 240"/>
                <a:gd name="T4" fmla="*/ 117 w 117"/>
                <a:gd name="T5" fmla="*/ 1 h 240"/>
              </a:gdLst>
              <a:ahLst/>
              <a:cxnLst>
                <a:cxn ang="0">
                  <a:pos x="T0" y="T1"/>
                </a:cxn>
                <a:cxn ang="0">
                  <a:pos x="T2" y="T3"/>
                </a:cxn>
                <a:cxn ang="0">
                  <a:pos x="T4" y="T5"/>
                </a:cxn>
              </a:cxnLst>
              <a:rect l="0" t="0" r="r" b="b"/>
              <a:pathLst>
                <a:path w="117" h="240">
                  <a:moveTo>
                    <a:pt x="0" y="240"/>
                  </a:moveTo>
                  <a:lnTo>
                    <a:pt x="0" y="0"/>
                  </a:lnTo>
                  <a:lnTo>
                    <a:pt x="117" y="1"/>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9" name="Freeform 28"/>
            <p:cNvSpPr>
              <a:spLocks/>
            </p:cNvSpPr>
            <p:nvPr/>
          </p:nvSpPr>
          <p:spPr bwMode="auto">
            <a:xfrm>
              <a:off x="3738074" y="2491953"/>
              <a:ext cx="851297" cy="506412"/>
            </a:xfrm>
            <a:custGeom>
              <a:avLst/>
              <a:gdLst>
                <a:gd name="T0" fmla="*/ 0 w 437"/>
                <a:gd name="T1" fmla="*/ 1 h 236"/>
                <a:gd name="T2" fmla="*/ 437 w 437"/>
                <a:gd name="T3" fmla="*/ 0 h 236"/>
                <a:gd name="T4" fmla="*/ 437 w 437"/>
                <a:gd name="T5" fmla="*/ 236 h 236"/>
              </a:gdLst>
              <a:ahLst/>
              <a:cxnLst>
                <a:cxn ang="0">
                  <a:pos x="T0" y="T1"/>
                </a:cxn>
                <a:cxn ang="0">
                  <a:pos x="T2" y="T3"/>
                </a:cxn>
                <a:cxn ang="0">
                  <a:pos x="T4" y="T5"/>
                </a:cxn>
              </a:cxnLst>
              <a:rect l="0" t="0" r="r" b="b"/>
              <a:pathLst>
                <a:path w="437" h="236">
                  <a:moveTo>
                    <a:pt x="0" y="1"/>
                  </a:moveTo>
                  <a:lnTo>
                    <a:pt x="437" y="0"/>
                  </a:lnTo>
                  <a:lnTo>
                    <a:pt x="437" y="236"/>
                  </a:lnTo>
                </a:path>
              </a:pathLst>
            </a:custGeom>
            <a:noFill/>
            <a:ln w="19050" cmpd="sng">
              <a:solidFill>
                <a:srgbClr val="0000FF"/>
              </a:solidFill>
              <a:round/>
              <a:headEnd type="none" w="med" len="me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0" name="Line 29"/>
            <p:cNvSpPr>
              <a:spLocks noChangeShapeType="1"/>
            </p:cNvSpPr>
            <p:nvPr/>
          </p:nvSpPr>
          <p:spPr bwMode="auto">
            <a:xfrm flipV="1">
              <a:off x="3351122" y="3782590"/>
              <a:ext cx="1915848" cy="874713"/>
            </a:xfrm>
            <a:prstGeom prst="line">
              <a:avLst/>
            </a:prstGeom>
            <a:noFill/>
            <a:ln w="9525">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1" name="Line 30"/>
            <p:cNvSpPr>
              <a:spLocks noChangeShapeType="1"/>
            </p:cNvSpPr>
            <p:nvPr/>
          </p:nvSpPr>
          <p:spPr bwMode="auto">
            <a:xfrm flipH="1" flipV="1">
              <a:off x="1191062" y="3778122"/>
              <a:ext cx="1941644" cy="891881"/>
            </a:xfrm>
            <a:prstGeom prst="line">
              <a:avLst/>
            </a:prstGeom>
            <a:noFill/>
            <a:ln w="9525">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2" name="AutoShape 31"/>
            <p:cNvSpPr>
              <a:spLocks noChangeArrowheads="1"/>
            </p:cNvSpPr>
            <p:nvPr/>
          </p:nvSpPr>
          <p:spPr bwMode="auto">
            <a:xfrm>
              <a:off x="7099242" y="2644082"/>
              <a:ext cx="1950245" cy="1030286"/>
            </a:xfrm>
            <a:prstGeom prst="wedgeRoundRectCallout">
              <a:avLst>
                <a:gd name="adj1" fmla="val -60713"/>
                <a:gd name="adj2" fmla="val 91910"/>
                <a:gd name="adj3" fmla="val 16667"/>
              </a:avLst>
            </a:prstGeom>
            <a:solidFill>
              <a:srgbClr val="FFFF99"/>
            </a:solidFill>
            <a:ln w="9525">
              <a:solidFill>
                <a:schemeClr val="tx1"/>
              </a:solidFill>
              <a:miter lim="800000"/>
              <a:headEnd/>
              <a:tailEnd/>
            </a:ln>
            <a:effectLst/>
          </p:spPr>
          <p:txBody>
            <a:bodyPr/>
            <a:lstStyle/>
            <a:p>
              <a:pPr algn="ctr"/>
              <a:r>
                <a:rPr kumimoji="1" lang="zh-CN" altLang="en-US" sz="1400" b="1" dirty="0">
                  <a:latin typeface="微软雅黑" pitchFamily="34" charset="-122"/>
                  <a:ea typeface="微软雅黑" pitchFamily="34" charset="-122"/>
                </a:rPr>
                <a:t>路由器根据 </a:t>
              </a:r>
              <a:endParaRPr kumimoji="1" lang="en-US" altLang="zh-CN" sz="1400" b="1" dirty="0">
                <a:latin typeface="微软雅黑" pitchFamily="34" charset="-122"/>
                <a:ea typeface="微软雅黑" pitchFamily="34" charset="-122"/>
              </a:endParaRPr>
            </a:p>
            <a:p>
              <a:pPr algn="ctr"/>
              <a:r>
                <a:rPr kumimoji="1" lang="en-US" altLang="zh-CN" sz="1400" b="1" dirty="0">
                  <a:latin typeface="微软雅黑" pitchFamily="34" charset="-122"/>
                  <a:ea typeface="微软雅黑" pitchFamily="34" charset="-122"/>
                </a:rPr>
                <a:t>DS </a:t>
              </a:r>
              <a:r>
                <a:rPr kumimoji="1" lang="zh-CN" altLang="en-US" sz="1400" b="1" dirty="0">
                  <a:latin typeface="微软雅黑" pitchFamily="34" charset="-122"/>
                  <a:ea typeface="微软雅黑" pitchFamily="34" charset="-122"/>
                </a:rPr>
                <a:t>值</a:t>
              </a:r>
            </a:p>
            <a:p>
              <a:pPr algn="ctr"/>
              <a:r>
                <a:rPr kumimoji="1" lang="zh-CN" altLang="en-US" sz="1400" b="1" dirty="0">
                  <a:latin typeface="微软雅黑" pitchFamily="34" charset="-122"/>
                  <a:ea typeface="微软雅黑" pitchFamily="34" charset="-122"/>
                </a:rPr>
                <a:t>进行转发</a:t>
              </a:r>
            </a:p>
          </p:txBody>
        </p:sp>
        <p:sp>
          <p:nvSpPr>
            <p:cNvPr id="33" name="Text Box 32"/>
            <p:cNvSpPr txBox="1">
              <a:spLocks noChangeArrowheads="1"/>
            </p:cNvSpPr>
            <p:nvPr/>
          </p:nvSpPr>
          <p:spPr bwMode="auto">
            <a:xfrm>
              <a:off x="4287432" y="1772816"/>
              <a:ext cx="937517"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调节器</a:t>
              </a:r>
            </a:p>
          </p:txBody>
        </p:sp>
        <p:sp>
          <p:nvSpPr>
            <p:cNvPr id="34" name="Text Box 33"/>
            <p:cNvSpPr txBox="1">
              <a:spLocks noChangeArrowheads="1"/>
            </p:cNvSpPr>
            <p:nvPr/>
          </p:nvSpPr>
          <p:spPr bwMode="auto">
            <a:xfrm>
              <a:off x="227005" y="2845966"/>
              <a:ext cx="937517"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分组入</a:t>
              </a:r>
            </a:p>
          </p:txBody>
        </p:sp>
        <p:sp>
          <p:nvSpPr>
            <p:cNvPr id="35" name="Text Box 34"/>
            <p:cNvSpPr txBox="1">
              <a:spLocks noChangeArrowheads="1"/>
            </p:cNvSpPr>
            <p:nvPr/>
          </p:nvSpPr>
          <p:spPr bwMode="auto">
            <a:xfrm>
              <a:off x="5360582" y="2853904"/>
              <a:ext cx="937517"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分组出</a:t>
              </a:r>
            </a:p>
          </p:txBody>
        </p:sp>
        <p:sp>
          <p:nvSpPr>
            <p:cNvPr id="36" name="AutoShape 35"/>
            <p:cNvSpPr>
              <a:spLocks noChangeArrowheads="1"/>
            </p:cNvSpPr>
            <p:nvPr/>
          </p:nvSpPr>
          <p:spPr bwMode="auto">
            <a:xfrm>
              <a:off x="4506822" y="3625251"/>
              <a:ext cx="134144" cy="406400"/>
            </a:xfrm>
            <a:prstGeom prst="downArrow">
              <a:avLst>
                <a:gd name="adj1" fmla="val 50000"/>
                <a:gd name="adj2" fmla="val 82051"/>
              </a:avLst>
            </a:prstGeom>
            <a:solidFill>
              <a:srgbClr val="CC00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latin typeface="微软雅黑" pitchFamily="34" charset="-122"/>
                <a:ea typeface="微软雅黑" pitchFamily="34" charset="-122"/>
              </a:endParaRPr>
            </a:p>
          </p:txBody>
        </p:sp>
        <p:sp>
          <p:nvSpPr>
            <p:cNvPr id="37" name="Text Box 36"/>
            <p:cNvSpPr txBox="1">
              <a:spLocks noChangeArrowheads="1"/>
            </p:cNvSpPr>
            <p:nvPr/>
          </p:nvSpPr>
          <p:spPr bwMode="auto">
            <a:xfrm>
              <a:off x="3866356" y="3719092"/>
              <a:ext cx="704800" cy="39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C00CC"/>
                  </a:solidFill>
                  <a:latin typeface="微软雅黑" pitchFamily="34" charset="-122"/>
                  <a:ea typeface="微软雅黑" pitchFamily="34" charset="-122"/>
                </a:rPr>
                <a:t>丢弃</a:t>
              </a:r>
            </a:p>
          </p:txBody>
        </p:sp>
        <p:sp>
          <p:nvSpPr>
            <p:cNvPr id="38" name="Line 37"/>
            <p:cNvSpPr>
              <a:spLocks noChangeShapeType="1"/>
            </p:cNvSpPr>
            <p:nvPr/>
          </p:nvSpPr>
          <p:spPr bwMode="auto">
            <a:xfrm>
              <a:off x="2549698" y="1823616"/>
              <a:ext cx="0" cy="19589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pic>
          <p:nvPicPr>
            <p:cNvPr id="15"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2641" y="4598566"/>
              <a:ext cx="484981"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pic>
        <p:nvPicPr>
          <p:cNvPr id="40"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41757" y="3153865"/>
            <a:ext cx="449780" cy="44978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00"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5325" y="3127693"/>
            <a:ext cx="449780" cy="449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0328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17853" y="618726"/>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矩形 4"/>
          <p:cNvSpPr>
            <a:spLocks noChangeArrowheads="1"/>
          </p:cNvSpPr>
          <p:nvPr/>
        </p:nvSpPr>
        <p:spPr bwMode="auto">
          <a:xfrm>
            <a:off x="635844" y="568898"/>
            <a:ext cx="31917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的要点</a:t>
            </a:r>
          </a:p>
        </p:txBody>
      </p:sp>
      <p:sp>
        <p:nvSpPr>
          <p:cNvPr id="9" name="Rectangle 46"/>
          <p:cNvSpPr>
            <a:spLocks noChangeArrowheads="1"/>
          </p:cNvSpPr>
          <p:nvPr/>
        </p:nvSpPr>
        <p:spPr bwMode="auto">
          <a:xfrm>
            <a:off x="517853" y="940668"/>
            <a:ext cx="8133857" cy="1913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7188" indent="-357188" eaLnBrk="0" hangingPunct="0">
              <a:lnSpc>
                <a:spcPts val="3000"/>
              </a:lnSpc>
              <a:buClr>
                <a:srgbClr val="9900CC"/>
              </a:buClr>
              <a:buFont typeface="+mj-lt"/>
              <a:buAutoNum type="arabicPeriod" startAt="4"/>
            </a:pPr>
            <a:r>
              <a:rPr lang="zh-CN" altLang="en-US" sz="2000" b="1" dirty="0">
                <a:solidFill>
                  <a:srgbClr val="C00000"/>
                </a:solidFill>
                <a:latin typeface="微软雅黑" pitchFamily="34" charset="-122"/>
                <a:ea typeface="微软雅黑" pitchFamily="34" charset="-122"/>
              </a:rPr>
              <a:t>聚合</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(aggregation) </a:t>
            </a:r>
            <a:r>
              <a:rPr lang="zh-CN" altLang="en-US" sz="2000" b="1" dirty="0">
                <a:latin typeface="微软雅黑" pitchFamily="34" charset="-122"/>
                <a:ea typeface="微软雅黑" pitchFamily="34" charset="-122"/>
              </a:rPr>
              <a:t>功能。</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将若干个流根据其 </a:t>
            </a:r>
            <a:r>
              <a:rPr lang="en-US" altLang="zh-CN" b="1" dirty="0">
                <a:latin typeface="微软雅黑" pitchFamily="34" charset="-122"/>
                <a:ea typeface="微软雅黑" pitchFamily="34" charset="-122"/>
              </a:rPr>
              <a:t>DS </a:t>
            </a:r>
            <a:r>
              <a:rPr lang="zh-CN" altLang="en-US" b="1" dirty="0">
                <a:latin typeface="微软雅黑" pitchFamily="34" charset="-122"/>
                <a:ea typeface="微软雅黑" pitchFamily="34" charset="-122"/>
              </a:rPr>
              <a:t>值</a:t>
            </a:r>
            <a:r>
              <a:rPr lang="zh-CN" altLang="en-US" b="1" dirty="0">
                <a:solidFill>
                  <a:srgbClr val="C00000"/>
                </a:solidFill>
                <a:latin typeface="微软雅黑" pitchFamily="34" charset="-122"/>
                <a:ea typeface="微软雅黑" pitchFamily="34" charset="-122"/>
              </a:rPr>
              <a:t>聚合</a:t>
            </a:r>
            <a:r>
              <a:rPr lang="zh-CN" altLang="en-US" b="1" dirty="0">
                <a:latin typeface="微软雅黑" pitchFamily="34" charset="-122"/>
                <a:ea typeface="微软雅黑" pitchFamily="34" charset="-122"/>
              </a:rPr>
              <a:t>成少量的流。</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路由器对</a:t>
            </a:r>
            <a:r>
              <a:rPr lang="zh-CN" altLang="en-US" b="1" dirty="0">
                <a:solidFill>
                  <a:srgbClr val="C00000"/>
                </a:solidFill>
                <a:latin typeface="微软雅黑" pitchFamily="34" charset="-122"/>
                <a:ea typeface="微软雅黑" pitchFamily="34" charset="-122"/>
              </a:rPr>
              <a:t>相同 </a:t>
            </a:r>
            <a:r>
              <a:rPr lang="en-US" altLang="zh-CN" b="1" dirty="0">
                <a:solidFill>
                  <a:srgbClr val="C00000"/>
                </a:solidFill>
                <a:latin typeface="微软雅黑" pitchFamily="34" charset="-122"/>
                <a:ea typeface="微软雅黑" pitchFamily="34" charset="-122"/>
              </a:rPr>
              <a:t>DS </a:t>
            </a:r>
            <a:r>
              <a:rPr lang="zh-CN" altLang="en-US" b="1" dirty="0">
                <a:solidFill>
                  <a:srgbClr val="C00000"/>
                </a:solidFill>
                <a:latin typeface="微软雅黑" pitchFamily="34" charset="-122"/>
                <a:ea typeface="微软雅黑" pitchFamily="34" charset="-122"/>
              </a:rPr>
              <a:t>值</a:t>
            </a:r>
            <a:r>
              <a:rPr lang="zh-CN" altLang="en-US" b="1" dirty="0">
                <a:latin typeface="微软雅黑" pitchFamily="34" charset="-122"/>
                <a:ea typeface="微软雅黑" pitchFamily="34" charset="-122"/>
              </a:rPr>
              <a:t>的流都按</a:t>
            </a:r>
            <a:r>
              <a:rPr lang="zh-CN" altLang="en-US" b="1" dirty="0">
                <a:solidFill>
                  <a:srgbClr val="C00000"/>
                </a:solidFill>
                <a:latin typeface="微软雅黑" pitchFamily="34" charset="-122"/>
                <a:ea typeface="微软雅黑" pitchFamily="34" charset="-122"/>
              </a:rPr>
              <a:t>相同的优先级</a:t>
            </a:r>
            <a:r>
              <a:rPr lang="zh-CN" altLang="en-US" b="1" dirty="0">
                <a:latin typeface="微软雅黑" pitchFamily="34" charset="-122"/>
                <a:ea typeface="微软雅黑" pitchFamily="34" charset="-122"/>
              </a:rPr>
              <a:t>进行转发，简化了网络内部的路由器的转发机制。</a:t>
            </a:r>
          </a:p>
          <a:p>
            <a:pPr marL="717550" lvl="1" indent="-342900" eaLnBrk="0" hangingPunct="0">
              <a:lnSpc>
                <a:spcPts val="2800"/>
              </a:lnSpc>
              <a:buClr>
                <a:srgbClr val="0000CC"/>
              </a:buClr>
              <a:buSzPct val="85000"/>
              <a:buFont typeface="Wingdings" panose="05000000000000000000" pitchFamily="2" charset="2"/>
              <a:buChar char="u"/>
            </a:pPr>
            <a:r>
              <a:rPr lang="zh-CN" altLang="en-US" b="1" dirty="0">
                <a:latin typeface="微软雅黑" pitchFamily="34" charset="-122"/>
                <a:ea typeface="微软雅黑" pitchFamily="34" charset="-122"/>
              </a:rPr>
              <a:t>区分服务 </a:t>
            </a:r>
            <a:r>
              <a:rPr lang="en-US" altLang="zh-CN" b="1" dirty="0" err="1">
                <a:latin typeface="微软雅黑" pitchFamily="34" charset="-122"/>
                <a:ea typeface="微软雅黑" pitchFamily="34" charset="-122"/>
              </a:rPr>
              <a:t>DiffServ</a:t>
            </a:r>
            <a:r>
              <a:rPr lang="en-US" altLang="zh-CN" b="1" dirty="0">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不需要</a:t>
            </a:r>
            <a:r>
              <a:rPr lang="zh-CN" altLang="en-US" b="1" dirty="0">
                <a:latin typeface="微软雅黑" pitchFamily="34" charset="-122"/>
                <a:ea typeface="微软雅黑" pitchFamily="34" charset="-122"/>
              </a:rPr>
              <a:t>使用 </a:t>
            </a:r>
            <a:r>
              <a:rPr lang="en-US" altLang="zh-CN" b="1" dirty="0">
                <a:latin typeface="微软雅黑" pitchFamily="34" charset="-122"/>
                <a:ea typeface="微软雅黑" pitchFamily="34" charset="-122"/>
              </a:rPr>
              <a:t>RSVP </a:t>
            </a:r>
            <a:r>
              <a:rPr lang="zh-CN" altLang="en-US" b="1" dirty="0">
                <a:latin typeface="微软雅黑" pitchFamily="34" charset="-122"/>
                <a:ea typeface="微软雅黑" pitchFamily="34" charset="-122"/>
              </a:rPr>
              <a:t>信令。</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262305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18944" y="975859"/>
            <a:ext cx="8121967"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每跳行为 </a:t>
            </a:r>
            <a:r>
              <a:rPr lang="en-US" altLang="zh-CN" sz="2000" b="1" dirty="0">
                <a:solidFill>
                  <a:srgbClr val="C00000"/>
                </a:solidFill>
                <a:latin typeface="微软雅黑" pitchFamily="34" charset="-122"/>
                <a:ea typeface="微软雅黑" pitchFamily="34" charset="-122"/>
              </a:rPr>
              <a:t>PHB </a:t>
            </a:r>
            <a:r>
              <a:rPr lang="en-US" altLang="zh-CN" sz="2000" b="1" dirty="0">
                <a:latin typeface="微软雅黑" pitchFamily="34" charset="-122"/>
                <a:ea typeface="微软雅黑" pitchFamily="34" charset="-122"/>
              </a:rPr>
              <a:t>(Per-Hop Behavior)</a:t>
            </a:r>
            <a:r>
              <a:rPr lang="zh-CN" altLang="en-US" sz="2000" b="1" dirty="0">
                <a:latin typeface="微软雅黑" pitchFamily="34" charset="-122"/>
                <a:ea typeface="微软雅黑" pitchFamily="34" charset="-122"/>
              </a:rPr>
              <a:t>：转发分组时</a:t>
            </a:r>
            <a:r>
              <a:rPr lang="zh-CN" altLang="en-US" sz="2000" b="1" dirty="0">
                <a:solidFill>
                  <a:srgbClr val="C00000"/>
                </a:solidFill>
                <a:latin typeface="微软雅黑" pitchFamily="34" charset="-122"/>
                <a:ea typeface="微软雅黑" pitchFamily="34" charset="-122"/>
              </a:rPr>
              <a:t>体现</a:t>
            </a:r>
            <a:r>
              <a:rPr lang="zh-CN" altLang="en-US" sz="2000" b="1" dirty="0">
                <a:latin typeface="微软雅黑" pitchFamily="34" charset="-122"/>
                <a:ea typeface="微软雅黑" pitchFamily="34" charset="-122"/>
              </a:rPr>
              <a:t>服务水平。</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行为</a:t>
            </a:r>
            <a:r>
              <a:rPr lang="zh-CN" altLang="en-US" sz="2000" b="1" dirty="0">
                <a:latin typeface="微软雅黑" pitchFamily="34" charset="-122"/>
                <a:ea typeface="微软雅黑" pitchFamily="34" charset="-122"/>
              </a:rPr>
              <a:t>：指在转发分组时如何处理分组。</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每跳</a:t>
            </a:r>
            <a:r>
              <a:rPr lang="zh-CN" altLang="en-US" sz="2000" b="1" dirty="0">
                <a:latin typeface="微软雅黑" pitchFamily="34" charset="-122"/>
                <a:ea typeface="微软雅黑" pitchFamily="34" charset="-122"/>
              </a:rPr>
              <a:t>：强调行为只涉及到本路由器转发的这一跳的行为，与下一个路由器如何处理无关。</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与 </a:t>
            </a:r>
            <a:r>
              <a:rPr lang="en-US" altLang="zh-CN" sz="2000" b="1" dirty="0" err="1">
                <a:latin typeface="微软雅黑" pitchFamily="34" charset="-122"/>
                <a:ea typeface="微软雅黑" pitchFamily="34" charset="-122"/>
              </a:rPr>
              <a:t>IntServ</a:t>
            </a:r>
            <a:r>
              <a:rPr lang="en-US" altLang="zh-CN" sz="2000" b="1" dirty="0">
                <a:latin typeface="微软雅黑" pitchFamily="34" charset="-122"/>
                <a:ea typeface="微软雅黑" pitchFamily="34" charset="-122"/>
              </a:rPr>
              <a:t> / RSVP </a:t>
            </a:r>
            <a:r>
              <a:rPr lang="zh-CN" altLang="en-US" sz="2000" b="1" dirty="0">
                <a:latin typeface="微软雅黑" pitchFamily="34" charset="-122"/>
                <a:ea typeface="微软雅黑" pitchFamily="34" charset="-122"/>
              </a:rPr>
              <a:t>考虑的服务质量是“端到端”的很不一样。 </a:t>
            </a:r>
          </a:p>
        </p:txBody>
      </p:sp>
      <p:sp>
        <p:nvSpPr>
          <p:cNvPr id="3" name="AutoShape 5"/>
          <p:cNvSpPr>
            <a:spLocks noChangeArrowheads="1"/>
          </p:cNvSpPr>
          <p:nvPr/>
        </p:nvSpPr>
        <p:spPr bwMode="auto">
          <a:xfrm>
            <a:off x="511897" y="61854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451673" y="585332"/>
            <a:ext cx="22268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每跳行为 </a:t>
            </a:r>
            <a:r>
              <a:rPr lang="en-US" altLang="zh-CN" sz="2000" b="1" dirty="0">
                <a:solidFill>
                  <a:schemeClr val="bg1"/>
                </a:solidFill>
                <a:latin typeface="微软雅黑" pitchFamily="34" charset="-122"/>
                <a:ea typeface="微软雅黑" pitchFamily="34" charset="-122"/>
              </a:rPr>
              <a:t>PHB </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880022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20540"/>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70712"/>
            <a:ext cx="33087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定义的两种 </a:t>
            </a:r>
            <a:r>
              <a:rPr lang="en-US" altLang="zh-CN" sz="2000" b="1" dirty="0">
                <a:latin typeface="微软雅黑" pitchFamily="34" charset="-122"/>
                <a:ea typeface="微软雅黑" pitchFamily="34" charset="-122"/>
              </a:rPr>
              <a:t>PHB </a:t>
            </a:r>
          </a:p>
        </p:txBody>
      </p:sp>
      <p:graphicFrame>
        <p:nvGraphicFramePr>
          <p:cNvPr id="2" name="图示 1"/>
          <p:cNvGraphicFramePr/>
          <p:nvPr>
            <p:extLst>
              <p:ext uri="{D42A27DB-BD31-4B8C-83A1-F6EECF244321}">
                <p14:modId xmlns:p14="http://schemas.microsoft.com/office/powerpoint/2010/main" val="1820134425"/>
              </p:ext>
            </p:extLst>
          </p:nvPr>
        </p:nvGraphicFramePr>
        <p:xfrm>
          <a:off x="651560" y="1020651"/>
          <a:ext cx="7866441" cy="32813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65917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17853" y="619739"/>
            <a:ext cx="8133857" cy="309562"/>
          </a:xfrm>
          <a:prstGeom prst="roundRect">
            <a:avLst>
              <a:gd name="adj" fmla="val 16667"/>
            </a:avLst>
          </a:prstGeom>
          <a:solidFill>
            <a:srgbClr val="ABEBD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4"/>
          <p:cNvSpPr>
            <a:spLocks noChangeArrowheads="1"/>
          </p:cNvSpPr>
          <p:nvPr/>
        </p:nvSpPr>
        <p:spPr bwMode="auto">
          <a:xfrm>
            <a:off x="635844" y="569911"/>
            <a:ext cx="23453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微软雅黑" pitchFamily="34" charset="-122"/>
                <a:ea typeface="微软雅黑" pitchFamily="34" charset="-122"/>
              </a:rPr>
              <a:t>区分服务 </a:t>
            </a:r>
            <a:r>
              <a:rPr lang="en-US" altLang="zh-CN" sz="2000" b="1" dirty="0" err="1">
                <a:latin typeface="微软雅黑" pitchFamily="34" charset="-122"/>
                <a:ea typeface="微软雅黑" pitchFamily="34" charset="-122"/>
              </a:rPr>
              <a:t>DiffServ</a:t>
            </a:r>
            <a:endParaRPr lang="en-US" altLang="zh-CN" sz="2000" b="1" dirty="0">
              <a:latin typeface="微软雅黑" pitchFamily="34" charset="-122"/>
              <a:ea typeface="微软雅黑" pitchFamily="34" charset="-122"/>
            </a:endParaRPr>
          </a:p>
        </p:txBody>
      </p:sp>
      <p:sp>
        <p:nvSpPr>
          <p:cNvPr id="4" name="Rectangle 46"/>
          <p:cNvSpPr>
            <a:spLocks noChangeArrowheads="1"/>
          </p:cNvSpPr>
          <p:nvPr/>
        </p:nvSpPr>
        <p:spPr bwMode="auto">
          <a:xfrm>
            <a:off x="517853" y="930447"/>
            <a:ext cx="8133857"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可以看出：</a:t>
            </a:r>
            <a:r>
              <a:rPr lang="zh-CN" altLang="en-US" sz="2000" b="1" dirty="0">
                <a:solidFill>
                  <a:srgbClr val="0000FF"/>
                </a:solidFill>
                <a:latin typeface="微软雅黑" pitchFamily="34" charset="-122"/>
                <a:ea typeface="微软雅黑" pitchFamily="34" charset="-122"/>
              </a:rPr>
              <a:t>区分服务 </a:t>
            </a:r>
            <a:r>
              <a:rPr lang="en-US" altLang="zh-CN" sz="2000" b="1" dirty="0" err="1">
                <a:solidFill>
                  <a:srgbClr val="0000FF"/>
                </a:solidFill>
                <a:latin typeface="微软雅黑" pitchFamily="34" charset="-122"/>
                <a:ea typeface="微软雅黑" pitchFamily="34" charset="-122"/>
              </a:rPr>
              <a:t>DiffServ</a:t>
            </a:r>
            <a:r>
              <a:rPr lang="en-US" altLang="zh-CN" sz="2000" b="1" dirty="0">
                <a:solidFill>
                  <a:srgbClr val="0000FF"/>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比较灵活，</a:t>
            </a:r>
            <a:r>
              <a:rPr lang="zh-CN" altLang="en-US" sz="2000" b="1" dirty="0">
                <a:latin typeface="微软雅黑" pitchFamily="34" charset="-122"/>
                <a:ea typeface="微软雅黑" pitchFamily="34" charset="-122"/>
              </a:rPr>
              <a:t>因为它并没有定义特定的服务或服务类别。</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当新的服务类别出现而旧的服务类别不再使用时，</a:t>
            </a:r>
            <a:r>
              <a:rPr lang="en-US" altLang="zh-CN" sz="2000" b="1" dirty="0" err="1">
                <a:latin typeface="微软雅黑" pitchFamily="34" charset="-122"/>
                <a:ea typeface="微软雅黑" pitchFamily="34" charset="-122"/>
              </a:rPr>
              <a:t>DiffServ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仍然可以工作。</a:t>
            </a:r>
          </a:p>
        </p:txBody>
      </p:sp>
    </p:spTree>
    <p:extLst>
      <p:ext uri="{BB962C8B-B14F-4D97-AF65-F5344CB8AC3E}">
        <p14:creationId xmlns:p14="http://schemas.microsoft.com/office/powerpoint/2010/main" val="50263130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4741</TotalTime>
  <Words>8404</Words>
  <Application>Microsoft Office PowerPoint</Application>
  <PresentationFormat>全屏显示(16:9)</PresentationFormat>
  <Paragraphs>1313</Paragraphs>
  <Slides>108</Slides>
  <Notes>12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108</vt:i4>
      </vt:variant>
    </vt:vector>
  </HeadingPairs>
  <TitlesOfParts>
    <vt:vector size="118" baseType="lpstr">
      <vt:lpstr>Wingdings</vt:lpstr>
      <vt:lpstr>Times New Roman</vt:lpstr>
      <vt:lpstr>Symbol</vt:lpstr>
      <vt:lpstr>宋体</vt:lpstr>
      <vt:lpstr>Arial</vt:lpstr>
      <vt:lpstr>Calibri</vt:lpstr>
      <vt:lpstr>微软雅黑</vt:lpstr>
      <vt:lpstr>Office 主题​​</vt:lpstr>
      <vt:lpstr>VISIO</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ILY FAM</cp:lastModifiedBy>
  <cp:revision>498</cp:revision>
  <dcterms:created xsi:type="dcterms:W3CDTF">2018-07-18T08:51:30Z</dcterms:created>
  <dcterms:modified xsi:type="dcterms:W3CDTF">2024-05-30T09:20:10Z</dcterms:modified>
</cp:coreProperties>
</file>