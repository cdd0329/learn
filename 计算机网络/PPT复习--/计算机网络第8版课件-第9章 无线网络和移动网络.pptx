
<file path=[Content_Types].xml><?xml version="1.0" encoding="utf-8"?>
<Types xmlns="http://schemas.openxmlformats.org/package/2006/content-types">
  <Default Extension="bin" ContentType="application/vnd.openxmlformats-officedocument.oleObject"/>
  <Default Extension="fntdata" ContentType="application/x-fontdata"/>
  <Default Extension="gif" ContentType="image/gi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48" r:id="rId1"/>
  </p:sldMasterIdLst>
  <p:notesMasterIdLst>
    <p:notesMasterId r:id="rId163"/>
  </p:notesMasterIdLst>
  <p:sldIdLst>
    <p:sldId id="257" r:id="rId2"/>
    <p:sldId id="593" r:id="rId3"/>
    <p:sldId id="258" r:id="rId4"/>
    <p:sldId id="259" r:id="rId5"/>
    <p:sldId id="524" r:id="rId6"/>
    <p:sldId id="522" r:id="rId7"/>
    <p:sldId id="260" r:id="rId8"/>
    <p:sldId id="459" r:id="rId9"/>
    <p:sldId id="602" r:id="rId10"/>
    <p:sldId id="603" r:id="rId11"/>
    <p:sldId id="613" r:id="rId12"/>
    <p:sldId id="604" r:id="rId13"/>
    <p:sldId id="605" r:id="rId14"/>
    <p:sldId id="606" r:id="rId15"/>
    <p:sldId id="607" r:id="rId16"/>
    <p:sldId id="608" r:id="rId17"/>
    <p:sldId id="610" r:id="rId18"/>
    <p:sldId id="611" r:id="rId19"/>
    <p:sldId id="612" r:id="rId20"/>
    <p:sldId id="469" r:id="rId21"/>
    <p:sldId id="614" r:id="rId22"/>
    <p:sldId id="616" r:id="rId23"/>
    <p:sldId id="527" r:id="rId24"/>
    <p:sldId id="530" r:id="rId25"/>
    <p:sldId id="466" r:id="rId26"/>
    <p:sldId id="531" r:id="rId27"/>
    <p:sldId id="479" r:id="rId28"/>
    <p:sldId id="478" r:id="rId29"/>
    <p:sldId id="483" r:id="rId30"/>
    <p:sldId id="482" r:id="rId31"/>
    <p:sldId id="481" r:id="rId32"/>
    <p:sldId id="486" r:id="rId33"/>
    <p:sldId id="537" r:id="rId34"/>
    <p:sldId id="484" r:id="rId35"/>
    <p:sldId id="617" r:id="rId36"/>
    <p:sldId id="490" r:id="rId37"/>
    <p:sldId id="488" r:id="rId38"/>
    <p:sldId id="618" r:id="rId39"/>
    <p:sldId id="487" r:id="rId40"/>
    <p:sldId id="619" r:id="rId41"/>
    <p:sldId id="620" r:id="rId42"/>
    <p:sldId id="491" r:id="rId43"/>
    <p:sldId id="622" r:id="rId44"/>
    <p:sldId id="476" r:id="rId45"/>
    <p:sldId id="625" r:id="rId46"/>
    <p:sldId id="626" r:id="rId47"/>
    <p:sldId id="627" r:id="rId48"/>
    <p:sldId id="596" r:id="rId49"/>
    <p:sldId id="505" r:id="rId50"/>
    <p:sldId id="629" r:id="rId51"/>
    <p:sldId id="630" r:id="rId52"/>
    <p:sldId id="633" r:id="rId53"/>
    <p:sldId id="632" r:id="rId54"/>
    <p:sldId id="504" r:id="rId55"/>
    <p:sldId id="631" r:id="rId56"/>
    <p:sldId id="509" r:id="rId57"/>
    <p:sldId id="507" r:id="rId58"/>
    <p:sldId id="635" r:id="rId59"/>
    <p:sldId id="637" r:id="rId60"/>
    <p:sldId id="639" r:id="rId61"/>
    <p:sldId id="636" r:id="rId62"/>
    <p:sldId id="640" r:id="rId63"/>
    <p:sldId id="641" r:id="rId64"/>
    <p:sldId id="511" r:id="rId65"/>
    <p:sldId id="642" r:id="rId66"/>
    <p:sldId id="598" r:id="rId67"/>
    <p:sldId id="516" r:id="rId68"/>
    <p:sldId id="515" r:id="rId69"/>
    <p:sldId id="644" r:id="rId70"/>
    <p:sldId id="514" r:id="rId71"/>
    <p:sldId id="502" r:id="rId72"/>
    <p:sldId id="521" r:id="rId73"/>
    <p:sldId id="557" r:id="rId74"/>
    <p:sldId id="558" r:id="rId75"/>
    <p:sldId id="559" r:id="rId76"/>
    <p:sldId id="560" r:id="rId77"/>
    <p:sldId id="645" r:id="rId78"/>
    <p:sldId id="562" r:id="rId79"/>
    <p:sldId id="563" r:id="rId80"/>
    <p:sldId id="564" r:id="rId81"/>
    <p:sldId id="566" r:id="rId82"/>
    <p:sldId id="567" r:id="rId83"/>
    <p:sldId id="568" r:id="rId84"/>
    <p:sldId id="570" r:id="rId85"/>
    <p:sldId id="571" r:id="rId86"/>
    <p:sldId id="575" r:id="rId87"/>
    <p:sldId id="576" r:id="rId88"/>
    <p:sldId id="646" r:id="rId89"/>
    <p:sldId id="649" r:id="rId90"/>
    <p:sldId id="660" r:id="rId91"/>
    <p:sldId id="650" r:id="rId92"/>
    <p:sldId id="652" r:id="rId93"/>
    <p:sldId id="653" r:id="rId94"/>
    <p:sldId id="654" r:id="rId95"/>
    <p:sldId id="648" r:id="rId96"/>
    <p:sldId id="656" r:id="rId97"/>
    <p:sldId id="661" r:id="rId98"/>
    <p:sldId id="662" r:id="rId99"/>
    <p:sldId id="663" r:id="rId100"/>
    <p:sldId id="655" r:id="rId101"/>
    <p:sldId id="665" r:id="rId102"/>
    <p:sldId id="666" r:id="rId103"/>
    <p:sldId id="668" r:id="rId104"/>
    <p:sldId id="669" r:id="rId105"/>
    <p:sldId id="671" r:id="rId106"/>
    <p:sldId id="664" r:id="rId107"/>
    <p:sldId id="672" r:id="rId108"/>
    <p:sldId id="673" r:id="rId109"/>
    <p:sldId id="674" r:id="rId110"/>
    <p:sldId id="676" r:id="rId111"/>
    <p:sldId id="678" r:id="rId112"/>
    <p:sldId id="679" r:id="rId113"/>
    <p:sldId id="680" r:id="rId114"/>
    <p:sldId id="681" r:id="rId115"/>
    <p:sldId id="682" r:id="rId116"/>
    <p:sldId id="683" r:id="rId117"/>
    <p:sldId id="675" r:id="rId118"/>
    <p:sldId id="684" r:id="rId119"/>
    <p:sldId id="685" r:id="rId120"/>
    <p:sldId id="686" r:id="rId121"/>
    <p:sldId id="687" r:id="rId122"/>
    <p:sldId id="688" r:id="rId123"/>
    <p:sldId id="690" r:id="rId124"/>
    <p:sldId id="689" r:id="rId125"/>
    <p:sldId id="647" r:id="rId126"/>
    <p:sldId id="691" r:id="rId127"/>
    <p:sldId id="692" r:id="rId128"/>
    <p:sldId id="693" r:id="rId129"/>
    <p:sldId id="694" r:id="rId130"/>
    <p:sldId id="695" r:id="rId131"/>
    <p:sldId id="696" r:id="rId132"/>
    <p:sldId id="697" r:id="rId133"/>
    <p:sldId id="698" r:id="rId134"/>
    <p:sldId id="699" r:id="rId135"/>
    <p:sldId id="700" r:id="rId136"/>
    <p:sldId id="701" r:id="rId137"/>
    <p:sldId id="702" r:id="rId138"/>
    <p:sldId id="709" r:id="rId139"/>
    <p:sldId id="703" r:id="rId140"/>
    <p:sldId id="704" r:id="rId141"/>
    <p:sldId id="581" r:id="rId142"/>
    <p:sldId id="706" r:id="rId143"/>
    <p:sldId id="708" r:id="rId144"/>
    <p:sldId id="710" r:id="rId145"/>
    <p:sldId id="716" r:id="rId146"/>
    <p:sldId id="713" r:id="rId147"/>
    <p:sldId id="714" r:id="rId148"/>
    <p:sldId id="715" r:id="rId149"/>
    <p:sldId id="583" r:id="rId150"/>
    <p:sldId id="584" r:id="rId151"/>
    <p:sldId id="585" r:id="rId152"/>
    <p:sldId id="717" r:id="rId153"/>
    <p:sldId id="721" r:id="rId154"/>
    <p:sldId id="719" r:id="rId155"/>
    <p:sldId id="720" r:id="rId156"/>
    <p:sldId id="722" r:id="rId157"/>
    <p:sldId id="723" r:id="rId158"/>
    <p:sldId id="724" r:id="rId159"/>
    <p:sldId id="725" r:id="rId160"/>
    <p:sldId id="726" r:id="rId161"/>
    <p:sldId id="727" r:id="rId162"/>
  </p:sldIdLst>
  <p:sldSz cx="9144000" cy="5143500" type="screen16x9"/>
  <p:notesSz cx="6858000" cy="9144000"/>
  <p:embeddedFontLst>
    <p:embeddedFont>
      <p:font typeface="微软雅黑" panose="020B0503020204020204" pitchFamily="34" charset="-122"/>
      <p:regular r:id="rId164"/>
      <p:bold r:id="rId165"/>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00CC"/>
    <a:srgbClr val="000099"/>
    <a:srgbClr val="000066"/>
    <a:srgbClr val="FFFF99"/>
    <a:srgbClr val="00CCFF"/>
    <a:srgbClr val="99FFCC"/>
    <a:srgbClr val="FFCCFF"/>
    <a:srgbClr val="99FF99"/>
    <a:srgbClr val="9900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353" autoAdjust="0"/>
    <p:restoredTop sz="77389" autoAdjust="0"/>
  </p:normalViewPr>
  <p:slideViewPr>
    <p:cSldViewPr snapToGrid="0">
      <p:cViewPr varScale="1">
        <p:scale>
          <a:sx n="80" d="100"/>
          <a:sy n="80" d="100"/>
        </p:scale>
        <p:origin x="1296" y="53"/>
      </p:cViewPr>
      <p:guideLst>
        <p:guide orient="horz" pos="1620"/>
        <p:guide pos="2880"/>
      </p:guideLst>
    </p:cSldViewPr>
  </p:slideViewPr>
  <p:notesTextViewPr>
    <p:cViewPr>
      <p:scale>
        <a:sx n="1" d="1"/>
        <a:sy n="1" d="1"/>
      </p:scale>
      <p:origin x="0" y="0"/>
    </p:cViewPr>
  </p:notesTextViewPr>
  <p:sorterViewPr>
    <p:cViewPr>
      <p:scale>
        <a:sx n="125" d="100"/>
        <a:sy n="125" d="100"/>
      </p:scale>
      <p:origin x="0" y="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notesMaster" Target="notesMasters/notesMaster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font" Target="fonts/font1.fntdata"/><Relationship Id="rId16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font" Target="fonts/font2.fntdata"/><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移动 </a:t>
          </a:r>
          <a:r>
            <a:rPr lang="en-US" altLang="en-US" sz="1600" b="1" dirty="0">
              <a:latin typeface="微软雅黑" panose="020B0503020204020204" pitchFamily="34" charset="-122"/>
              <a:ea typeface="微软雅黑" panose="020B0503020204020204" pitchFamily="34" charset="-122"/>
            </a:rPr>
            <a:t>IP</a:t>
          </a:r>
          <a:endParaRPr lang="zh-CN" altLang="en-US" sz="1600" b="1" dirty="0">
            <a:latin typeface="微软雅黑" panose="020B0503020204020204" pitchFamily="34" charset="-122"/>
            <a:ea typeface="微软雅黑" panose="020B0503020204020204" pitchFamily="34" charset="-122"/>
          </a:endParaRP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A1A2DED1-7A96-449B-948C-9AFFC52870FB}">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漫游的主机可以用多种方式连接到互联网。</a:t>
          </a:r>
        </a:p>
      </dgm:t>
    </dgm:pt>
    <dgm:pt modelId="{42EDD29C-C998-46AA-9647-EA61F597E67E}" type="par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1B74F761-EE9E-4C6D-991D-7D504BE042BB}" type="sib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漫游的主机可以直接或通过无线链路连接到固定网络上的另一个子网。</a:t>
          </a: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移动自组网络</a:t>
          </a: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把移动性扩展到无线领域中的自治系统。</a:t>
          </a: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C59DC06-678D-4673-A543-AFE2B46C2819}">
      <dgm:prSet phldrT="[文本]" custT="1"/>
      <dgm:spPr/>
      <dgm:t>
        <a:bodyPr/>
        <a:lstStyle/>
        <a:p>
          <a:pPr>
            <a:spcBef>
              <a:spcPts val="0"/>
            </a:spcBef>
            <a:spcAft>
              <a:spcPts val="0"/>
            </a:spcAft>
          </a:pPr>
          <a:r>
            <a:rPr lang="zh-CN" altLang="en-US" sz="1600" b="1" dirty="0">
              <a:solidFill>
                <a:srgbClr val="0000FF"/>
              </a:solidFill>
              <a:latin typeface="微软雅黑" panose="020B0503020204020204" pitchFamily="34" charset="-122"/>
              <a:ea typeface="微软雅黑" panose="020B0503020204020204" pitchFamily="34" charset="-122"/>
            </a:rPr>
            <a:t>末梢网络：</a:t>
          </a:r>
          <a:r>
            <a:rPr lang="zh-CN" altLang="en-US" sz="1600" b="1" dirty="0">
              <a:latin typeface="微软雅黑" panose="020B0503020204020204" pitchFamily="34" charset="-122"/>
              <a:ea typeface="微软雅黑" panose="020B0503020204020204" pitchFamily="34" charset="-122"/>
            </a:rPr>
            <a:t>不允许外部通信量穿越该网络。</a:t>
          </a:r>
        </a:p>
      </dgm:t>
    </dgm:pt>
    <dgm:pt modelId="{34454BE2-E2DB-4D77-A1CE-FA0835A86B80}" type="par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B84E97B-383D-4F59-A29F-DFA1D111AD75}" type="sib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需要地址管理和增加协议的互操作性。</a:t>
          </a: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36C43ABF-8093-4D8B-B4EE-7F9F1334402C}">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核心网络功能仍然是各种路由选择协议。</a:t>
          </a:r>
        </a:p>
      </dgm:t>
    </dgm:pt>
    <dgm:pt modelId="{25F6A130-6126-48BF-83F7-C930D16E1EAA}" type="parTrans" cxnId="{DC3BF987-96BA-4937-B38C-B8A73941A992}">
      <dgm:prSet/>
      <dgm:spPr/>
      <dgm:t>
        <a:bodyPr/>
        <a:lstStyle/>
        <a:p>
          <a:pPr>
            <a:spcBef>
              <a:spcPts val="0"/>
            </a:spcBef>
            <a:spcAft>
              <a:spcPts val="0"/>
            </a:spcAft>
          </a:pPr>
          <a:endParaRPr lang="zh-CN" altLang="en-US"/>
        </a:p>
      </dgm:t>
    </dgm:pt>
    <dgm:pt modelId="{ABE328B4-1E6E-4BBE-9548-C1FAD39E5704}" type="sibTrans" cxnId="{DC3BF987-96BA-4937-B38C-B8A73941A992}">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具有自己特定的路由选择协议，并且可以不和互联网相连。</a:t>
          </a: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7F4AB62F-E6E8-401C-A65C-9108D00A792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即使和互联网相连时，移动自组网络也是以末梢网络 </a:t>
          </a:r>
          <a:r>
            <a:rPr lang="en-US" altLang="en-US" sz="1600" b="1" dirty="0">
              <a:latin typeface="微软雅黑" panose="020B0503020204020204" pitchFamily="34" charset="-122"/>
              <a:ea typeface="微软雅黑" panose="020B0503020204020204" pitchFamily="34" charset="-122"/>
            </a:rPr>
            <a:t>(stub network) </a:t>
          </a:r>
          <a:r>
            <a:rPr lang="zh-CN" altLang="en-US" sz="1600" b="1" dirty="0">
              <a:latin typeface="微软雅黑" panose="020B0503020204020204" pitchFamily="34" charset="-122"/>
              <a:ea typeface="微软雅黑" panose="020B0503020204020204" pitchFamily="34" charset="-122"/>
            </a:rPr>
            <a:t>方式工作。</a:t>
          </a:r>
        </a:p>
      </dgm:t>
    </dgm:pt>
    <dgm:pt modelId="{AB7C995F-FB13-4B1E-BAF4-677848CDB566}" type="parTrans" cxnId="{AEAEE0FD-72BE-4188-B948-15A16CEAF2D0}">
      <dgm:prSet/>
      <dgm:spPr/>
      <dgm:t>
        <a:bodyPr/>
        <a:lstStyle/>
        <a:p>
          <a:pPr>
            <a:spcBef>
              <a:spcPts val="0"/>
            </a:spcBef>
            <a:spcAft>
              <a:spcPts val="0"/>
            </a:spcAft>
          </a:pPr>
          <a:endParaRPr lang="zh-CN" altLang="en-US"/>
        </a:p>
      </dgm:t>
    </dgm:pt>
    <dgm:pt modelId="{1D9068A5-5133-40EC-9D89-5986C783D863}" type="sibTrans" cxnId="{AEAEE0FD-72BE-4188-B948-15A16CEAF2D0}">
      <dgm:prSet/>
      <dgm:spPr/>
      <dgm:t>
        <a:bodyPr/>
        <a:lstStyle/>
        <a:p>
          <a:pPr>
            <a:spcBef>
              <a:spcPts val="0"/>
            </a:spcBef>
            <a:spcAft>
              <a:spcPts val="0"/>
            </a:spcAft>
          </a:pPr>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pt>
    <dgm:pt modelId="{029A2D68-A105-4969-A5E9-8387CC29AA4B}" type="pres">
      <dgm:prSet presAssocID="{CD89CDF2-D34B-4E0E-B217-8BF9E13E4DF1}" presName="desTx" presStyleLbl="alignAccFollowNode1" presStyleIdx="0" presStyleCnt="2">
        <dgm:presLayoutVars>
          <dgm:bulletEnabled val="1"/>
        </dgm:presLayoutVars>
      </dgm:prSet>
      <dgm:spPr/>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pt>
    <dgm:pt modelId="{43F97FFB-59E7-4DDE-8C5D-7BAF62EB5EA3}" type="pres">
      <dgm:prSet presAssocID="{64BFC9BD-47C9-429C-9319-1A95A4D648B4}" presName="desTx" presStyleLbl="alignAccFollowNode1" presStyleIdx="1" presStyleCnt="2">
        <dgm:presLayoutVars>
          <dgm:bulletEnabled val="1"/>
        </dgm:presLayoutVars>
      </dgm:prSet>
      <dgm:spPr/>
    </dgm:pt>
  </dgm:ptLst>
  <dgm:cxnLst>
    <dgm:cxn modelId="{F37E952F-FE17-4FD9-A441-46178DFE840B}" srcId="{64BFC9BD-47C9-429C-9319-1A95A4D648B4}" destId="{B10E6D86-9A0A-4BA3-A144-CE80F82EA404}" srcOrd="0" destOrd="0" parTransId="{B4C83756-7CBE-49A4-83D9-98C9797F0F1F}" sibTransId="{61415CCA-A283-4BCD-AE6A-894BBC950D7F}"/>
    <dgm:cxn modelId="{60B2A25F-BEE1-40B6-B74F-BC653E2FDC71}" type="presOf" srcId="{5F8EB3A2-7713-485D-B3D6-8372B817B21E}" destId="{029A2D68-A105-4969-A5E9-8387CC29AA4B}" srcOrd="0" destOrd="1" presId="urn:microsoft.com/office/officeart/2005/8/layout/hList1"/>
    <dgm:cxn modelId="{FC25E160-E350-4B33-A525-0E0C09C17A68}" type="presOf" srcId="{64BFC9BD-47C9-429C-9319-1A95A4D648B4}" destId="{8AD6637D-68E4-4546-B053-8729057570A5}"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6D58668-C2C4-4749-80B7-3587C55695F4}" type="presOf" srcId="{A1A2DED1-7A96-449B-948C-9AFFC52870FB}" destId="{029A2D68-A105-4969-A5E9-8387CC29AA4B}" srcOrd="0" destOrd="0"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1C4A554D-A23F-44C0-A015-4B6FD97EE942}" srcId="{64BFC9BD-47C9-429C-9319-1A95A4D648B4}" destId="{9C59DC06-678D-4673-A543-AFE2B46C2819}" srcOrd="3" destOrd="0" parTransId="{34454BE2-E2DB-4D77-A1CE-FA0835A86B80}" sibTransId="{9B84E97B-383D-4F59-A29F-DFA1D111AD75}"/>
    <dgm:cxn modelId="{2C0A324F-DF5A-4A07-A60A-72C90FCEB4B8}" type="presOf" srcId="{9C59DC06-678D-4673-A543-AFE2B46C2819}" destId="{43F97FFB-59E7-4DDE-8C5D-7BAF62EB5EA3}" srcOrd="0" destOrd="3" presId="urn:microsoft.com/office/officeart/2005/8/layout/hList1"/>
    <dgm:cxn modelId="{CCC9EB6F-6FEC-4D99-86D4-E468A228D5D4}" type="presOf" srcId="{CD89CDF2-D34B-4E0E-B217-8BF9E13E4DF1}" destId="{80F058AD-5D1D-4AA0-BE37-0F9A4669F34C}" srcOrd="0" destOrd="0" presId="urn:microsoft.com/office/officeart/2005/8/layout/hList1"/>
    <dgm:cxn modelId="{87013B80-343F-44E9-A581-A6E0143C2796}" type="presOf" srcId="{87AC13B5-C017-43A5-A3FC-9E24388100A6}" destId="{B5F25D68-A1B3-44EE-8DB4-D9520513E1D9}" srcOrd="0" destOrd="0" presId="urn:microsoft.com/office/officeart/2005/8/layout/hList1"/>
    <dgm:cxn modelId="{AB306B81-FB8F-45EC-A77B-BC8ED986A75C}" srcId="{CD89CDF2-D34B-4E0E-B217-8BF9E13E4DF1}" destId="{A1A2DED1-7A96-449B-948C-9AFFC52870FB}" srcOrd="0" destOrd="0" parTransId="{42EDD29C-C998-46AA-9647-EA61F597E67E}" sibTransId="{1B74F761-EE9E-4C6D-991D-7D504BE042BB}"/>
    <dgm:cxn modelId="{DC3BF987-96BA-4937-B38C-B8A73941A992}" srcId="{CD89CDF2-D34B-4E0E-B217-8BF9E13E4DF1}" destId="{36C43ABF-8093-4D8B-B4EE-7F9F1334402C}" srcOrd="3" destOrd="0" parTransId="{25F6A130-6126-48BF-83F7-C930D16E1EAA}" sibTransId="{ABE328B4-1E6E-4BBE-9548-C1FAD39E5704}"/>
    <dgm:cxn modelId="{41259695-477E-43EC-9F8A-54E073AA91FB}" type="presOf" srcId="{6E6D6E1A-3588-42D1-9E3E-C780F05F295F}" destId="{029A2D68-A105-4969-A5E9-8387CC29AA4B}" srcOrd="0" destOrd="2"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C4614AB7-C9E1-4182-B65D-FC39AF3EE3CD}" srcId="{CD89CDF2-D34B-4E0E-B217-8BF9E13E4DF1}" destId="{6E6D6E1A-3588-42D1-9E3E-C780F05F295F}" srcOrd="2" destOrd="0" parTransId="{3A2ED0FA-1EF3-45F6-865A-ABC242F67A38}" sibTransId="{DCA4CE6B-16AE-4B9E-8C62-30C60CAD6A5B}"/>
    <dgm:cxn modelId="{EA526FD2-5E73-4CF7-BC74-38162A9B4F85}" type="presOf" srcId="{B10E6D86-9A0A-4BA3-A144-CE80F82EA404}" destId="{43F97FFB-59E7-4DDE-8C5D-7BAF62EB5EA3}" srcOrd="0" destOrd="0" presId="urn:microsoft.com/office/officeart/2005/8/layout/hList1"/>
    <dgm:cxn modelId="{F36DECD8-0377-4F2F-A48A-C8BA8688B250}" srcId="{CD89CDF2-D34B-4E0E-B217-8BF9E13E4DF1}" destId="{5F8EB3A2-7713-485D-B3D6-8372B817B21E}" srcOrd="1" destOrd="0" parTransId="{D26F16F3-24B6-4492-B0D5-019ED015B7F8}" sibTransId="{B0385B2A-5833-4B55-895D-33BC84F41DCE}"/>
    <dgm:cxn modelId="{10D067D9-9067-4BA7-8465-53ECEED177FF}" type="presOf" srcId="{7F4AB62F-E6E8-401C-A65C-9108D00A7921}" destId="{43F97FFB-59E7-4DDE-8C5D-7BAF62EB5EA3}" srcOrd="0" destOrd="2" presId="urn:microsoft.com/office/officeart/2005/8/layout/hList1"/>
    <dgm:cxn modelId="{E4E847E9-3331-494E-BFF3-24CD4E42339A}" type="presOf" srcId="{36C43ABF-8093-4D8B-B4EE-7F9F1334402C}" destId="{029A2D68-A105-4969-A5E9-8387CC29AA4B}" srcOrd="0" destOrd="3" presId="urn:microsoft.com/office/officeart/2005/8/layout/hList1"/>
    <dgm:cxn modelId="{AEAEE0FD-72BE-4188-B948-15A16CEAF2D0}" srcId="{64BFC9BD-47C9-429C-9319-1A95A4D648B4}" destId="{7F4AB62F-E6E8-401C-A65C-9108D00A7921}" srcOrd="2" destOrd="0" parTransId="{AB7C995F-FB13-4B1E-BAF4-677848CDB566}" sibTransId="{1D9068A5-5133-40EC-9D89-5986C783D863}"/>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虚拟载波监听</a:t>
          </a: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源站 </a:t>
          </a:r>
          <a:r>
            <a:rPr lang="en-US" altLang="en-US"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把要占用信道的时间（</a:t>
          </a:r>
          <a:r>
            <a:rPr lang="en-US" altLang="en-US" sz="1400" b="1" dirty="0">
              <a:latin typeface="微软雅黑" panose="020B0503020204020204" pitchFamily="34" charset="-122"/>
              <a:ea typeface="微软雅黑" panose="020B0503020204020204" pitchFamily="34" charset="-122"/>
            </a:rPr>
            <a:t>DATA + SIFS + ACK</a:t>
          </a:r>
          <a:r>
            <a:rPr lang="zh-CN" altLang="en-US" sz="1400" b="1" dirty="0">
              <a:latin typeface="微软雅黑" panose="020B0503020204020204" pitchFamily="34" charset="-122"/>
              <a:ea typeface="微软雅黑" panose="020B0503020204020204" pitchFamily="34" charset="-122"/>
            </a:rPr>
            <a:t>），写入其数据帧 </a:t>
          </a:r>
          <a:r>
            <a:rPr lang="en-US" altLang="en-US" sz="1400" b="1" dirty="0">
              <a:latin typeface="微软雅黑" panose="020B0503020204020204" pitchFamily="34" charset="-122"/>
              <a:ea typeface="微软雅黑" panose="020B0503020204020204" pitchFamily="34" charset="-122"/>
            </a:rPr>
            <a:t>DATA </a:t>
          </a:r>
          <a:r>
            <a:rPr lang="zh-CN" altLang="en-US" sz="1400" b="1" dirty="0">
              <a:latin typeface="微软雅黑" panose="020B0503020204020204" pitchFamily="34" charset="-122"/>
              <a:ea typeface="微软雅黑" panose="020B0503020204020204" pitchFamily="34" charset="-122"/>
            </a:rPr>
            <a:t>的首部。</a:t>
          </a: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载波监听</a:t>
          </a: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在物理层用硬件实现。</a:t>
          </a: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所有处在站点 </a:t>
          </a:r>
          <a:r>
            <a:rPr lang="en-US" altLang="en-US"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dirty="0">
              <a:solidFill>
                <a:srgbClr val="C00000"/>
              </a:solidFill>
              <a:latin typeface="微软雅黑" panose="020B0503020204020204" pitchFamily="34" charset="-122"/>
              <a:ea typeface="微软雅黑" panose="020B0503020204020204" pitchFamily="34" charset="-122"/>
            </a:rPr>
            <a:t>网络分配向量 </a:t>
          </a:r>
          <a:r>
            <a:rPr lang="en-US" altLang="en-US" sz="1400" b="1" dirty="0">
              <a:solidFill>
                <a:srgbClr val="C00000"/>
              </a:solidFill>
              <a:latin typeface="微软雅黑" panose="020B0503020204020204" pitchFamily="34" charset="-122"/>
              <a:ea typeface="微软雅黑" panose="020B0503020204020204" pitchFamily="34" charset="-122"/>
            </a:rPr>
            <a:t>NAV </a:t>
          </a:r>
          <a:r>
            <a:rPr lang="en-US" altLang="en-US" sz="1400" b="1" dirty="0">
              <a:latin typeface="微软雅黑" panose="020B0503020204020204" pitchFamily="34" charset="-122"/>
              <a:ea typeface="微软雅黑" panose="020B0503020204020204" pitchFamily="34" charset="-122"/>
            </a:rPr>
            <a:t>(Network Allocation Vector)</a:t>
          </a:r>
          <a:r>
            <a:rPr lang="zh-CN" altLang="en-US" sz="1400" b="1" dirty="0">
              <a:latin typeface="微软雅黑" panose="020B0503020204020204" pitchFamily="34" charset="-122"/>
              <a:ea typeface="微软雅黑" panose="020B0503020204020204" pitchFamily="34" charset="-122"/>
            </a:rPr>
            <a:t>。</a:t>
          </a: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0188EC0A-1A5B-42A1-B50A-BF29D2AA4D6D}">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软件实现。</a:t>
          </a:r>
        </a:p>
      </dgm:t>
    </dgm:pt>
    <dgm:pt modelId="{01A3DD19-B181-4D55-858F-BB5E7C2BC91E}" type="parTrans" cxnId="{8F3FBD3D-2A6F-4FF1-928D-A390DDB890DE}">
      <dgm:prSet/>
      <dgm:spPr/>
      <dgm:t>
        <a:bodyPr/>
        <a:lstStyle/>
        <a:p>
          <a:endParaRPr lang="zh-CN" altLang="en-US"/>
        </a:p>
      </dgm:t>
    </dgm:pt>
    <dgm:pt modelId="{55374888-2704-4B5E-85C7-C12A139ABCEF}" type="sibTrans" cxnId="{8F3FBD3D-2A6F-4FF1-928D-A390DDB890DE}">
      <dgm:prSet/>
      <dgm:spPr/>
      <dgm:t>
        <a:bodyPr/>
        <a:lstStyle/>
        <a:p>
          <a:endParaRPr lang="zh-CN" altLang="en-US"/>
        </a:p>
      </dgm:t>
    </dgm:pt>
    <dgm:pt modelId="{820A8474-FE3A-48D0-A3DF-8BFDEE4ED16B}">
      <dgm:prSet phldrT="[文本]" custT="1"/>
      <dgm:spPr/>
      <dgm:t>
        <a:bodyPr/>
        <a:lstStyle/>
        <a:p>
          <a:pPr>
            <a:spcBef>
              <a:spcPts val="0"/>
            </a:spcBef>
            <a:spcAft>
              <a:spcPts val="0"/>
            </a:spcAft>
          </a:pPr>
          <a:r>
            <a:rPr lang="en-US" altLang="en-US" sz="1400" b="1" dirty="0">
              <a:solidFill>
                <a:srgbClr val="0000CC"/>
              </a:solidFill>
              <a:latin typeface="微软雅黑" panose="020B0503020204020204" pitchFamily="34" charset="-122"/>
              <a:ea typeface="微软雅黑" panose="020B0503020204020204" pitchFamily="34" charset="-122"/>
            </a:rPr>
            <a:t>NAV </a:t>
          </a:r>
          <a:r>
            <a:rPr lang="zh-CN" altLang="en-US" sz="1400" b="1" dirty="0">
              <a:solidFill>
                <a:srgbClr val="0000CC"/>
              </a:solidFill>
              <a:latin typeface="微软雅黑" panose="020B0503020204020204" pitchFamily="34" charset="-122"/>
              <a:ea typeface="微软雅黑" panose="020B0503020204020204" pitchFamily="34" charset="-122"/>
            </a:rPr>
            <a:t>指出：</a:t>
          </a:r>
          <a:r>
            <a:rPr lang="zh-CN" altLang="en-US" sz="1400" b="1" dirty="0">
              <a:latin typeface="微软雅黑" panose="020B0503020204020204" pitchFamily="34" charset="-122"/>
              <a:ea typeface="微软雅黑" panose="020B0503020204020204" pitchFamily="34" charset="-122"/>
            </a:rPr>
            <a:t>信道忙的持续时间，意思是：“</a:t>
          </a:r>
          <a:r>
            <a:rPr lang="zh-CN" altLang="en-US" sz="1400" b="1" dirty="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dirty="0">
              <a:latin typeface="微软雅黑" panose="020B0503020204020204" pitchFamily="34" charset="-122"/>
              <a:ea typeface="微软雅黑" panose="020B0503020204020204" pitchFamily="34" charset="-122"/>
            </a:rPr>
            <a:t>”。</a:t>
          </a:r>
        </a:p>
      </dgm:t>
    </dgm:pt>
    <dgm:pt modelId="{5C22BFD3-8E28-42A4-9FD7-07DDA0D9D4A9}" type="parTrans" cxnId="{5EAAE858-5395-49DB-98C1-474CC4602E97}">
      <dgm:prSet/>
      <dgm:spPr/>
      <dgm:t>
        <a:bodyPr/>
        <a:lstStyle/>
        <a:p>
          <a:endParaRPr lang="zh-CN" altLang="en-US"/>
        </a:p>
      </dgm:t>
    </dgm:pt>
    <dgm:pt modelId="{8660CE10-724B-4F6A-BEEE-1BD7D9E38FF4}" type="sibTrans" cxnId="{5EAAE858-5395-49DB-98C1-474CC4602E97}">
      <dgm:prSet/>
      <dgm:spPr/>
      <dgm:t>
        <a:bodyPr/>
        <a:lstStyle/>
        <a:p>
          <a:endParaRPr lang="zh-CN" altLang="en-US"/>
        </a:p>
      </dgm:t>
    </dgm:pt>
    <dgm:pt modelId="{647F3DE4-4200-4DCC-86D6-539D04826DA4}">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任何站要发送数据之前，必须监听信道。只要监听到信道忙，就不能发送数据。</a:t>
          </a:r>
        </a:p>
      </dgm:t>
    </dgm:pt>
    <dgm:pt modelId="{ACA452C0-FA06-4219-B47C-91D32414F5D3}" type="parTrans" cxnId="{421A1B94-6AE9-4C0C-A5DC-24F5001B4A6E}">
      <dgm:prSet/>
      <dgm:spPr/>
      <dgm:t>
        <a:bodyPr/>
        <a:lstStyle/>
        <a:p>
          <a:endParaRPr lang="zh-CN" altLang="en-US"/>
        </a:p>
      </dgm:t>
    </dgm:pt>
    <dgm:pt modelId="{0AFECCB2-A04F-445D-8EA3-E4C5E0B864A6}" type="sibTrans" cxnId="{421A1B94-6AE9-4C0C-A5DC-24F5001B4A6E}">
      <dgm:prSet/>
      <dgm:spPr/>
      <dgm:t>
        <a:bodyPr/>
        <a:lstStyle/>
        <a:p>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pt>
    <dgm:pt modelId="{029A2D68-A105-4969-A5E9-8387CC29AA4B}" type="pres">
      <dgm:prSet presAssocID="{CD89CDF2-D34B-4E0E-B217-8BF9E13E4DF1}" presName="desTx" presStyleLbl="alignAccFollowNode1" presStyleIdx="0" presStyleCnt="2">
        <dgm:presLayoutVars>
          <dgm:bulletEnabled val="1"/>
        </dgm:presLayoutVars>
      </dgm:prSet>
      <dgm:spPr/>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pt>
    <dgm:pt modelId="{43F97FFB-59E7-4DDE-8C5D-7BAF62EB5EA3}" type="pres">
      <dgm:prSet presAssocID="{64BFC9BD-47C9-429C-9319-1A95A4D648B4}" presName="desTx" presStyleLbl="alignAccFollowNode1" presStyleIdx="1" presStyleCnt="2" custLinFactNeighborY="308">
        <dgm:presLayoutVars>
          <dgm:bulletEnabled val="1"/>
        </dgm:presLayoutVars>
      </dgm:prSet>
      <dgm:spPr/>
    </dgm:pt>
  </dgm:ptLst>
  <dgm:cxnLst>
    <dgm:cxn modelId="{677ACA0E-F971-476E-921D-3B622B85C553}" type="presOf" srcId="{0188EC0A-1A5B-42A1-B50A-BF29D2AA4D6D}" destId="{029A2D68-A105-4969-A5E9-8387CC29AA4B}" srcOrd="0" destOrd="0" presId="urn:microsoft.com/office/officeart/2005/8/layout/hList1"/>
    <dgm:cxn modelId="{F37E952F-FE17-4FD9-A441-46178DFE840B}" srcId="{64BFC9BD-47C9-429C-9319-1A95A4D648B4}" destId="{B10E6D86-9A0A-4BA3-A144-CE80F82EA404}" srcOrd="0" destOrd="0" parTransId="{B4C83756-7CBE-49A4-83D9-98C9797F0F1F}" sibTransId="{61415CCA-A283-4BCD-AE6A-894BBC950D7F}"/>
    <dgm:cxn modelId="{8F3FBD3D-2A6F-4FF1-928D-A390DDB890DE}" srcId="{CD89CDF2-D34B-4E0E-B217-8BF9E13E4DF1}" destId="{0188EC0A-1A5B-42A1-B50A-BF29D2AA4D6D}" srcOrd="0" destOrd="0" parTransId="{01A3DD19-B181-4D55-858F-BB5E7C2BC91E}" sibTransId="{55374888-2704-4B5E-85C7-C12A139ABCEF}"/>
    <dgm:cxn modelId="{60B2A25F-BEE1-40B6-B74F-BC653E2FDC71}" type="presOf" srcId="{5F8EB3A2-7713-485D-B3D6-8372B817B21E}" destId="{029A2D68-A105-4969-A5E9-8387CC29AA4B}" srcOrd="0" destOrd="1" presId="urn:microsoft.com/office/officeart/2005/8/layout/hList1"/>
    <dgm:cxn modelId="{FC25E160-E350-4B33-A525-0E0C09C17A68}" type="presOf" srcId="{64BFC9BD-47C9-429C-9319-1A95A4D648B4}" destId="{8AD6637D-68E4-4546-B053-8729057570A5}"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17E1AE4D-4B6B-4F2E-AC3C-115C8155A0EA}" type="presOf" srcId="{647F3DE4-4200-4DCC-86D6-539D04826DA4}" destId="{43F97FFB-59E7-4DDE-8C5D-7BAF62EB5EA3}" srcOrd="0" destOrd="2" presId="urn:microsoft.com/office/officeart/2005/8/layout/hList1"/>
    <dgm:cxn modelId="{CCC9EB6F-6FEC-4D99-86D4-E468A228D5D4}" type="presOf" srcId="{CD89CDF2-D34B-4E0E-B217-8BF9E13E4DF1}" destId="{80F058AD-5D1D-4AA0-BE37-0F9A4669F34C}" srcOrd="0" destOrd="0" presId="urn:microsoft.com/office/officeart/2005/8/layout/hList1"/>
    <dgm:cxn modelId="{5EAAE858-5395-49DB-98C1-474CC4602E97}" srcId="{CD89CDF2-D34B-4E0E-B217-8BF9E13E4DF1}" destId="{820A8474-FE3A-48D0-A3DF-8BFDEE4ED16B}" srcOrd="3" destOrd="0" parTransId="{5C22BFD3-8E28-42A4-9FD7-07DDA0D9D4A9}" sibTransId="{8660CE10-724B-4F6A-BEEE-1BD7D9E38FF4}"/>
    <dgm:cxn modelId="{87013B80-343F-44E9-A581-A6E0143C2796}" type="presOf" srcId="{87AC13B5-C017-43A5-A3FC-9E24388100A6}" destId="{B5F25D68-A1B3-44EE-8DB4-D9520513E1D9}" srcOrd="0" destOrd="0" presId="urn:microsoft.com/office/officeart/2005/8/layout/hList1"/>
    <dgm:cxn modelId="{421A1B94-6AE9-4C0C-A5DC-24F5001B4A6E}" srcId="{64BFC9BD-47C9-429C-9319-1A95A4D648B4}" destId="{647F3DE4-4200-4DCC-86D6-539D04826DA4}" srcOrd="2" destOrd="0" parTransId="{ACA452C0-FA06-4219-B47C-91D32414F5D3}" sibTransId="{0AFECCB2-A04F-445D-8EA3-E4C5E0B864A6}"/>
    <dgm:cxn modelId="{41259695-477E-43EC-9F8A-54E073AA91FB}" type="presOf" srcId="{6E6D6E1A-3588-42D1-9E3E-C780F05F295F}" destId="{029A2D68-A105-4969-A5E9-8387CC29AA4B}" srcOrd="0" destOrd="2"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C4614AB7-C9E1-4182-B65D-FC39AF3EE3CD}" srcId="{CD89CDF2-D34B-4E0E-B217-8BF9E13E4DF1}" destId="{6E6D6E1A-3588-42D1-9E3E-C780F05F295F}" srcOrd="2" destOrd="0" parTransId="{3A2ED0FA-1EF3-45F6-865A-ABC242F67A38}" sibTransId="{DCA4CE6B-16AE-4B9E-8C62-30C60CAD6A5B}"/>
    <dgm:cxn modelId="{EA526FD2-5E73-4CF7-BC74-38162A9B4F85}" type="presOf" srcId="{B10E6D86-9A0A-4BA3-A144-CE80F82EA404}" destId="{43F97FFB-59E7-4DDE-8C5D-7BAF62EB5EA3}" srcOrd="0" destOrd="0" presId="urn:microsoft.com/office/officeart/2005/8/layout/hList1"/>
    <dgm:cxn modelId="{F36DECD8-0377-4F2F-A48A-C8BA8688B250}" srcId="{CD89CDF2-D34B-4E0E-B217-8BF9E13E4DF1}" destId="{5F8EB3A2-7713-485D-B3D6-8372B817B21E}" srcOrd="1" destOrd="0" parTransId="{D26F16F3-24B6-4492-B0D5-019ED015B7F8}" sibTransId="{B0385B2A-5833-4B55-895D-33BC84F41DCE}"/>
    <dgm:cxn modelId="{00BDBAFE-A979-4AE7-B303-C8A309558C7F}" type="presOf" srcId="{820A8474-FE3A-48D0-A3DF-8BFDEE4ED16B}" destId="{029A2D68-A105-4969-A5E9-8387CC29AA4B}" srcOrd="0" destOrd="3" presId="urn:microsoft.com/office/officeart/2005/8/layout/hList1"/>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4" y="4083"/>
          <a:ext cx="3304342"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移动 </a:t>
          </a:r>
          <a:r>
            <a:rPr lang="en-US" altLang="en-US" sz="1600" b="1" kern="1200" dirty="0">
              <a:latin typeface="微软雅黑" panose="020B0503020204020204" pitchFamily="34" charset="-122"/>
              <a:ea typeface="微软雅黑" panose="020B0503020204020204" pitchFamily="34" charset="-122"/>
            </a:rPr>
            <a:t>IP</a:t>
          </a:r>
          <a:endParaRPr lang="zh-CN" altLang="en-US" sz="1600" b="1" kern="1200" dirty="0">
            <a:latin typeface="微软雅黑" panose="020B0503020204020204" pitchFamily="34" charset="-122"/>
            <a:ea typeface="微软雅黑" panose="020B0503020204020204" pitchFamily="34" charset="-122"/>
          </a:endParaRPr>
        </a:p>
      </dsp:txBody>
      <dsp:txXfrm>
        <a:off x="34" y="4083"/>
        <a:ext cx="3304342" cy="518400"/>
      </dsp:txXfrm>
    </dsp:sp>
    <dsp:sp modelId="{029A2D68-A105-4969-A5E9-8387CC29AA4B}">
      <dsp:nvSpPr>
        <dsp:cNvPr id="0" name=""/>
        <dsp:cNvSpPr/>
      </dsp:nvSpPr>
      <dsp:spPr>
        <a:xfrm>
          <a:off x="34" y="522483"/>
          <a:ext cx="3304342" cy="306342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漫游的主机可以用多种方式连接到互联网。</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漫游的主机可以直接或通过无线链路连接到固定网络上的另一个子网。</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需要地址管理和增加协议的互操作性。</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核心网络功能仍然是各种路由选择协议。</a:t>
          </a:r>
        </a:p>
      </dsp:txBody>
      <dsp:txXfrm>
        <a:off x="34" y="522483"/>
        <a:ext cx="3304342" cy="3063420"/>
      </dsp:txXfrm>
    </dsp:sp>
    <dsp:sp modelId="{8AD6637D-68E4-4546-B053-8729057570A5}">
      <dsp:nvSpPr>
        <dsp:cNvPr id="0" name=""/>
        <dsp:cNvSpPr/>
      </dsp:nvSpPr>
      <dsp:spPr>
        <a:xfrm>
          <a:off x="3766985" y="4083"/>
          <a:ext cx="3304342"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移动自组网络</a:t>
          </a:r>
        </a:p>
      </dsp:txBody>
      <dsp:txXfrm>
        <a:off x="3766985" y="4083"/>
        <a:ext cx="3304342" cy="518400"/>
      </dsp:txXfrm>
    </dsp:sp>
    <dsp:sp modelId="{43F97FFB-59E7-4DDE-8C5D-7BAF62EB5EA3}">
      <dsp:nvSpPr>
        <dsp:cNvPr id="0" name=""/>
        <dsp:cNvSpPr/>
      </dsp:nvSpPr>
      <dsp:spPr>
        <a:xfrm>
          <a:off x="3766985" y="522483"/>
          <a:ext cx="3304342" cy="306342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把移动性扩展到无线领域中的自治系统。</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具有自己特定的路由选择协议，并且可以不和互联网相连。</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即使和互联网相连时，移动自组网络也是以末梢网络 </a:t>
          </a:r>
          <a:r>
            <a:rPr lang="en-US" altLang="en-US" sz="1600" b="1" kern="1200" dirty="0">
              <a:latin typeface="微软雅黑" panose="020B0503020204020204" pitchFamily="34" charset="-122"/>
              <a:ea typeface="微软雅黑" panose="020B0503020204020204" pitchFamily="34" charset="-122"/>
            </a:rPr>
            <a:t>(stub network) </a:t>
          </a:r>
          <a:r>
            <a:rPr lang="zh-CN" altLang="en-US" sz="1600" b="1" kern="1200" dirty="0">
              <a:latin typeface="微软雅黑" panose="020B0503020204020204" pitchFamily="34" charset="-122"/>
              <a:ea typeface="微软雅黑" panose="020B0503020204020204" pitchFamily="34" charset="-122"/>
            </a:rPr>
            <a:t>方式工作。</a:t>
          </a:r>
        </a:p>
        <a:p>
          <a:pPr marL="171450" lvl="1" indent="-171450" algn="l" defTabSz="711200">
            <a:lnSpc>
              <a:spcPct val="90000"/>
            </a:lnSpc>
            <a:spcBef>
              <a:spcPts val="0"/>
            </a:spcBef>
            <a:spcAft>
              <a:spcPts val="0"/>
            </a:spcAft>
            <a:buChar char="•"/>
          </a:pPr>
          <a:r>
            <a:rPr lang="zh-CN" altLang="en-US" sz="1600" b="1" kern="1200" dirty="0">
              <a:solidFill>
                <a:srgbClr val="0000FF"/>
              </a:solidFill>
              <a:latin typeface="微软雅黑" panose="020B0503020204020204" pitchFamily="34" charset="-122"/>
              <a:ea typeface="微软雅黑" panose="020B0503020204020204" pitchFamily="34" charset="-122"/>
            </a:rPr>
            <a:t>末梢网络：</a:t>
          </a:r>
          <a:r>
            <a:rPr lang="zh-CN" altLang="en-US" sz="1600" b="1" kern="1200" dirty="0">
              <a:latin typeface="微软雅黑" panose="020B0503020204020204" pitchFamily="34" charset="-122"/>
              <a:ea typeface="微软雅黑" panose="020B0503020204020204" pitchFamily="34" charset="-122"/>
            </a:rPr>
            <a:t>不允许外部通信量穿越该网络。</a:t>
          </a:r>
        </a:p>
      </dsp:txBody>
      <dsp:txXfrm>
        <a:off x="3766985" y="522483"/>
        <a:ext cx="3304342" cy="306342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7" y="12675"/>
          <a:ext cx="3576598"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虚拟载波监听</a:t>
          </a:r>
        </a:p>
      </dsp:txBody>
      <dsp:txXfrm>
        <a:off x="37" y="12675"/>
        <a:ext cx="3576598" cy="518400"/>
      </dsp:txXfrm>
    </dsp:sp>
    <dsp:sp modelId="{029A2D68-A105-4969-A5E9-8387CC29AA4B}">
      <dsp:nvSpPr>
        <dsp:cNvPr id="0" name=""/>
        <dsp:cNvSpPr/>
      </dsp:nvSpPr>
      <dsp:spPr>
        <a:xfrm>
          <a:off x="37" y="531075"/>
          <a:ext cx="3576598" cy="2964599"/>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软件实现。</a:t>
          </a:r>
        </a:p>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源站 </a:t>
          </a:r>
          <a:r>
            <a:rPr lang="en-US" altLang="en-US" sz="1400" b="1" kern="1200" dirty="0">
              <a:latin typeface="微软雅黑" panose="020B0503020204020204" pitchFamily="34" charset="-122"/>
              <a:ea typeface="微软雅黑" panose="020B0503020204020204" pitchFamily="34" charset="-122"/>
            </a:rPr>
            <a:t>A </a:t>
          </a:r>
          <a:r>
            <a:rPr lang="zh-CN" altLang="en-US" sz="1400" b="1" kern="1200" dirty="0">
              <a:latin typeface="微软雅黑" panose="020B0503020204020204" pitchFamily="34" charset="-122"/>
              <a:ea typeface="微软雅黑" panose="020B0503020204020204" pitchFamily="34" charset="-122"/>
            </a:rPr>
            <a:t>把要占用信道的时间（</a:t>
          </a:r>
          <a:r>
            <a:rPr lang="en-US" altLang="en-US" sz="1400" b="1" kern="1200" dirty="0">
              <a:latin typeface="微软雅黑" panose="020B0503020204020204" pitchFamily="34" charset="-122"/>
              <a:ea typeface="微软雅黑" panose="020B0503020204020204" pitchFamily="34" charset="-122"/>
            </a:rPr>
            <a:t>DATA + SIFS + ACK</a:t>
          </a:r>
          <a:r>
            <a:rPr lang="zh-CN" altLang="en-US" sz="1400" b="1" kern="1200" dirty="0">
              <a:latin typeface="微软雅黑" panose="020B0503020204020204" pitchFamily="34" charset="-122"/>
              <a:ea typeface="微软雅黑" panose="020B0503020204020204" pitchFamily="34" charset="-122"/>
            </a:rPr>
            <a:t>），写入其数据帧 </a:t>
          </a:r>
          <a:r>
            <a:rPr lang="en-US" altLang="en-US" sz="1400" b="1" kern="1200" dirty="0">
              <a:latin typeface="微软雅黑" panose="020B0503020204020204" pitchFamily="34" charset="-122"/>
              <a:ea typeface="微软雅黑" panose="020B0503020204020204" pitchFamily="34" charset="-122"/>
            </a:rPr>
            <a:t>DATA </a:t>
          </a:r>
          <a:r>
            <a:rPr lang="zh-CN" altLang="en-US" sz="1400" b="1" kern="1200" dirty="0">
              <a:latin typeface="微软雅黑" panose="020B0503020204020204" pitchFamily="34" charset="-122"/>
              <a:ea typeface="微软雅黑" panose="020B0503020204020204" pitchFamily="34" charset="-122"/>
            </a:rPr>
            <a:t>的首部。</a:t>
          </a:r>
        </a:p>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所有处在站点 </a:t>
          </a:r>
          <a:r>
            <a:rPr lang="en-US" altLang="en-US" sz="1400" b="1" kern="1200" dirty="0">
              <a:latin typeface="微软雅黑" panose="020B0503020204020204" pitchFamily="34" charset="-122"/>
              <a:ea typeface="微软雅黑" panose="020B0503020204020204" pitchFamily="34" charset="-122"/>
            </a:rPr>
            <a:t>A </a:t>
          </a:r>
          <a:r>
            <a:rPr lang="zh-CN" altLang="en-US" sz="1400" b="1" kern="1200" dirty="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kern="1200" dirty="0">
              <a:solidFill>
                <a:srgbClr val="C00000"/>
              </a:solidFill>
              <a:latin typeface="微软雅黑" panose="020B0503020204020204" pitchFamily="34" charset="-122"/>
              <a:ea typeface="微软雅黑" panose="020B0503020204020204" pitchFamily="34" charset="-122"/>
            </a:rPr>
            <a:t>网络分配向量 </a:t>
          </a:r>
          <a:r>
            <a:rPr lang="en-US" altLang="en-US" sz="1400" b="1" kern="1200" dirty="0">
              <a:solidFill>
                <a:srgbClr val="C00000"/>
              </a:solidFill>
              <a:latin typeface="微软雅黑" panose="020B0503020204020204" pitchFamily="34" charset="-122"/>
              <a:ea typeface="微软雅黑" panose="020B0503020204020204" pitchFamily="34" charset="-122"/>
            </a:rPr>
            <a:t>NAV </a:t>
          </a:r>
          <a:r>
            <a:rPr lang="en-US" altLang="en-US" sz="1400" b="1" kern="1200" dirty="0">
              <a:latin typeface="微软雅黑" panose="020B0503020204020204" pitchFamily="34" charset="-122"/>
              <a:ea typeface="微软雅黑" panose="020B0503020204020204" pitchFamily="34" charset="-122"/>
            </a:rPr>
            <a:t>(Network Allocation Vector)</a:t>
          </a:r>
          <a:r>
            <a:rPr lang="zh-CN" altLang="en-US" sz="1400" b="1" kern="1200" dirty="0">
              <a:latin typeface="微软雅黑" panose="020B0503020204020204" pitchFamily="34" charset="-122"/>
              <a:ea typeface="微软雅黑" panose="020B0503020204020204" pitchFamily="34" charset="-122"/>
            </a:rPr>
            <a:t>。</a:t>
          </a:r>
        </a:p>
        <a:p>
          <a:pPr marL="114300" lvl="1" indent="-114300" algn="l" defTabSz="622300">
            <a:lnSpc>
              <a:spcPct val="90000"/>
            </a:lnSpc>
            <a:spcBef>
              <a:spcPts val="0"/>
            </a:spcBef>
            <a:spcAft>
              <a:spcPts val="0"/>
            </a:spcAft>
            <a:buChar char="•"/>
          </a:pPr>
          <a:r>
            <a:rPr lang="en-US" altLang="en-US" sz="1400" b="1" kern="1200" dirty="0">
              <a:solidFill>
                <a:srgbClr val="0000CC"/>
              </a:solidFill>
              <a:latin typeface="微软雅黑" panose="020B0503020204020204" pitchFamily="34" charset="-122"/>
              <a:ea typeface="微软雅黑" panose="020B0503020204020204" pitchFamily="34" charset="-122"/>
            </a:rPr>
            <a:t>NAV </a:t>
          </a:r>
          <a:r>
            <a:rPr lang="zh-CN" altLang="en-US" sz="1400" b="1" kern="1200" dirty="0">
              <a:solidFill>
                <a:srgbClr val="0000CC"/>
              </a:solidFill>
              <a:latin typeface="微软雅黑" panose="020B0503020204020204" pitchFamily="34" charset="-122"/>
              <a:ea typeface="微软雅黑" panose="020B0503020204020204" pitchFamily="34" charset="-122"/>
            </a:rPr>
            <a:t>指出：</a:t>
          </a:r>
          <a:r>
            <a:rPr lang="zh-CN" altLang="en-US" sz="1400" b="1" kern="1200" dirty="0">
              <a:latin typeface="微软雅黑" panose="020B0503020204020204" pitchFamily="34" charset="-122"/>
              <a:ea typeface="微软雅黑" panose="020B0503020204020204" pitchFamily="34" charset="-122"/>
            </a:rPr>
            <a:t>信道忙的持续时间，意思是：“</a:t>
          </a:r>
          <a:r>
            <a:rPr lang="zh-CN" altLang="en-US" sz="1400" b="1" kern="1200" dirty="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kern="1200" dirty="0">
              <a:latin typeface="微软雅黑" panose="020B0503020204020204" pitchFamily="34" charset="-122"/>
              <a:ea typeface="微软雅黑" panose="020B0503020204020204" pitchFamily="34" charset="-122"/>
            </a:rPr>
            <a:t>”。</a:t>
          </a:r>
        </a:p>
      </dsp:txBody>
      <dsp:txXfrm>
        <a:off x="37" y="531075"/>
        <a:ext cx="3576598" cy="2964599"/>
      </dsp:txXfrm>
    </dsp:sp>
    <dsp:sp modelId="{8AD6637D-68E4-4546-B053-8729057570A5}">
      <dsp:nvSpPr>
        <dsp:cNvPr id="0" name=""/>
        <dsp:cNvSpPr/>
      </dsp:nvSpPr>
      <dsp:spPr>
        <a:xfrm>
          <a:off x="4077359" y="12675"/>
          <a:ext cx="3576598"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载波监听</a:t>
          </a:r>
        </a:p>
      </dsp:txBody>
      <dsp:txXfrm>
        <a:off x="4077359" y="12675"/>
        <a:ext cx="3576598" cy="518400"/>
      </dsp:txXfrm>
    </dsp:sp>
    <dsp:sp modelId="{43F97FFB-59E7-4DDE-8C5D-7BAF62EB5EA3}">
      <dsp:nvSpPr>
        <dsp:cNvPr id="0" name=""/>
        <dsp:cNvSpPr/>
      </dsp:nvSpPr>
      <dsp:spPr>
        <a:xfrm>
          <a:off x="4077359" y="540206"/>
          <a:ext cx="3576598" cy="2964599"/>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在物理层用硬件实现。</a:t>
          </a:r>
        </a:p>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p>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任何站要发送数据之前，必须监听信道。只要监听到信道忙，就不能发送数据。</a:t>
          </a:r>
        </a:p>
      </dsp:txBody>
      <dsp:txXfrm>
        <a:off x="4077359" y="540206"/>
        <a:ext cx="3576598" cy="2964599"/>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2025/5/26</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a:t>
            </a:fld>
            <a:endParaRPr lang="zh-CN" altLang="en-US"/>
          </a:p>
        </p:txBody>
      </p:sp>
    </p:spTree>
    <p:extLst>
      <p:ext uri="{BB962C8B-B14F-4D97-AF65-F5344CB8AC3E}">
        <p14:creationId xmlns:p14="http://schemas.microsoft.com/office/powerpoint/2010/main" val="238033341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l"/>
            <a:r>
              <a:rPr lang="en-US" altLang="zh-CN" b="0" i="0" dirty="0">
                <a:solidFill>
                  <a:srgbClr val="4D4D4D"/>
                </a:solidFill>
                <a:effectLst/>
                <a:highlight>
                  <a:srgbClr val="FFFFFF"/>
                </a:highlight>
                <a:latin typeface="-apple-system"/>
              </a:rPr>
              <a:t>2G</a:t>
            </a:r>
            <a:r>
              <a:rPr lang="zh-CN" altLang="en-US" b="0" i="0" dirty="0">
                <a:solidFill>
                  <a:srgbClr val="4D4D4D"/>
                </a:solidFill>
                <a:effectLst/>
                <a:highlight>
                  <a:srgbClr val="FFFFFF"/>
                </a:highlight>
                <a:latin typeface="-apple-system"/>
              </a:rPr>
              <a:t>基站的覆盖半径约为</a:t>
            </a:r>
            <a:r>
              <a:rPr lang="en-US" altLang="zh-CN" b="0" i="0" dirty="0">
                <a:solidFill>
                  <a:srgbClr val="4D4D4D"/>
                </a:solidFill>
                <a:effectLst/>
                <a:highlight>
                  <a:srgbClr val="FFFFFF"/>
                </a:highlight>
                <a:latin typeface="-apple-system"/>
              </a:rPr>
              <a:t>5-10</a:t>
            </a:r>
            <a:r>
              <a:rPr lang="zh-CN" altLang="en-US" b="0" i="0" dirty="0">
                <a:solidFill>
                  <a:srgbClr val="4D4D4D"/>
                </a:solidFill>
                <a:effectLst/>
                <a:highlight>
                  <a:srgbClr val="FFFFFF"/>
                </a:highlight>
                <a:latin typeface="-apple-system"/>
              </a:rPr>
              <a:t>公里</a:t>
            </a:r>
          </a:p>
          <a:p>
            <a:pPr algn="l"/>
            <a:r>
              <a:rPr lang="en-US" altLang="zh-CN" b="0" i="0" dirty="0">
                <a:solidFill>
                  <a:srgbClr val="333333"/>
                </a:solidFill>
                <a:effectLst/>
                <a:highlight>
                  <a:srgbClr val="FFFFFF"/>
                </a:highlight>
                <a:latin typeface="-apple-system"/>
              </a:rPr>
              <a:t>3G</a:t>
            </a:r>
            <a:r>
              <a:rPr lang="zh-CN" altLang="en-US" b="0" i="0" dirty="0">
                <a:solidFill>
                  <a:srgbClr val="333333"/>
                </a:solidFill>
                <a:effectLst/>
                <a:highlight>
                  <a:srgbClr val="FFFFFF"/>
                </a:highlight>
                <a:latin typeface="-apple-system"/>
              </a:rPr>
              <a:t>基站的覆盖半径约为</a:t>
            </a:r>
            <a:r>
              <a:rPr lang="en-US" altLang="zh-CN" b="0" i="0" dirty="0">
                <a:solidFill>
                  <a:srgbClr val="333333"/>
                </a:solidFill>
                <a:effectLst/>
                <a:highlight>
                  <a:srgbClr val="FFFFFF"/>
                </a:highlight>
                <a:latin typeface="-apple-system"/>
              </a:rPr>
              <a:t>2-5</a:t>
            </a:r>
            <a:r>
              <a:rPr lang="zh-CN" altLang="en-US" b="0" i="0" dirty="0">
                <a:solidFill>
                  <a:srgbClr val="333333"/>
                </a:solidFill>
                <a:effectLst/>
                <a:highlight>
                  <a:srgbClr val="FFFFFF"/>
                </a:highlight>
                <a:latin typeface="-apple-system"/>
              </a:rPr>
              <a:t>公里 </a:t>
            </a:r>
          </a:p>
          <a:p>
            <a:pPr algn="l"/>
            <a:r>
              <a:rPr lang="en-US" altLang="zh-CN" b="0" i="0" dirty="0">
                <a:solidFill>
                  <a:srgbClr val="333333"/>
                </a:solidFill>
                <a:effectLst/>
                <a:highlight>
                  <a:srgbClr val="FFFFFF"/>
                </a:highlight>
                <a:latin typeface="-apple-system"/>
              </a:rPr>
              <a:t>4G</a:t>
            </a:r>
            <a:r>
              <a:rPr lang="zh-CN" altLang="en-US" b="0" i="0" dirty="0">
                <a:solidFill>
                  <a:srgbClr val="333333"/>
                </a:solidFill>
                <a:effectLst/>
                <a:highlight>
                  <a:srgbClr val="FFFFFF"/>
                </a:highlight>
                <a:latin typeface="-apple-system"/>
              </a:rPr>
              <a:t>基站的覆盖半径约为</a:t>
            </a:r>
            <a:r>
              <a:rPr lang="en-US" altLang="zh-CN" b="0" i="0" dirty="0">
                <a:solidFill>
                  <a:srgbClr val="333333"/>
                </a:solidFill>
                <a:effectLst/>
                <a:highlight>
                  <a:srgbClr val="FFFFFF"/>
                </a:highlight>
                <a:latin typeface="-apple-system"/>
              </a:rPr>
              <a:t>1-3</a:t>
            </a:r>
            <a:r>
              <a:rPr lang="zh-CN" altLang="en-US" b="0" i="0" dirty="0">
                <a:solidFill>
                  <a:srgbClr val="333333"/>
                </a:solidFill>
                <a:effectLst/>
                <a:highlight>
                  <a:srgbClr val="FFFFFF"/>
                </a:highlight>
                <a:latin typeface="-apple-system"/>
              </a:rPr>
              <a:t>公里 </a:t>
            </a:r>
          </a:p>
          <a:p>
            <a:pPr algn="l"/>
            <a:r>
              <a:rPr lang="en-US" altLang="zh-CN" b="0" i="0" dirty="0">
                <a:solidFill>
                  <a:srgbClr val="333333"/>
                </a:solidFill>
                <a:effectLst/>
                <a:highlight>
                  <a:srgbClr val="FFFFFF"/>
                </a:highlight>
                <a:latin typeface="-apple-system"/>
              </a:rPr>
              <a:t>5G</a:t>
            </a:r>
            <a:r>
              <a:rPr lang="zh-CN" altLang="en-US" b="0" i="0" dirty="0">
                <a:solidFill>
                  <a:srgbClr val="333333"/>
                </a:solidFill>
                <a:effectLst/>
                <a:highlight>
                  <a:srgbClr val="FFFFFF"/>
                </a:highlight>
                <a:latin typeface="-apple-system"/>
              </a:rPr>
              <a:t>基站的覆盖半径约为</a:t>
            </a:r>
            <a:r>
              <a:rPr lang="en-US" altLang="zh-CN" b="0" i="0" dirty="0">
                <a:solidFill>
                  <a:srgbClr val="333333"/>
                </a:solidFill>
                <a:effectLst/>
                <a:highlight>
                  <a:srgbClr val="FFFFFF"/>
                </a:highlight>
                <a:latin typeface="-apple-system"/>
              </a:rPr>
              <a:t>100-300</a:t>
            </a:r>
            <a:r>
              <a:rPr lang="zh-CN" altLang="en-US" b="0" i="0" dirty="0">
                <a:solidFill>
                  <a:srgbClr val="333333"/>
                </a:solidFill>
                <a:effectLst/>
                <a:highlight>
                  <a:srgbClr val="FFFFFF"/>
                </a:highlight>
                <a:latin typeface="-apple-system"/>
              </a:rPr>
              <a:t>米</a:t>
            </a:r>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19</a:t>
            </a:fld>
            <a:endParaRPr lang="zh-CN" altLang="en-US"/>
          </a:p>
        </p:txBody>
      </p:sp>
    </p:spTree>
    <p:extLst>
      <p:ext uri="{BB962C8B-B14F-4D97-AF65-F5344CB8AC3E}">
        <p14:creationId xmlns:p14="http://schemas.microsoft.com/office/powerpoint/2010/main" val="130209231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a:t>
            </a:fld>
            <a:endParaRPr lang="zh-CN" altLang="en-US"/>
          </a:p>
        </p:txBody>
      </p:sp>
    </p:spTree>
    <p:extLst>
      <p:ext uri="{BB962C8B-B14F-4D97-AF65-F5344CB8AC3E}">
        <p14:creationId xmlns:p14="http://schemas.microsoft.com/office/powerpoint/2010/main" val="275674660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a:t>
            </a:fld>
            <a:endParaRPr lang="zh-CN" altLang="en-US"/>
          </a:p>
        </p:txBody>
      </p:sp>
    </p:spTree>
    <p:extLst>
      <p:ext uri="{BB962C8B-B14F-4D97-AF65-F5344CB8AC3E}">
        <p14:creationId xmlns:p14="http://schemas.microsoft.com/office/powerpoint/2010/main" val="31147954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灾后重建的移动指挥中西</a:t>
            </a:r>
            <a:endParaRPr lang="en-US" altLang="zh-CN" dirty="0"/>
          </a:p>
          <a:p>
            <a:r>
              <a:rPr lang="zh-CN" altLang="en-US" dirty="0"/>
              <a:t>军事用途</a:t>
            </a:r>
            <a:r>
              <a:rPr lang="en-US" altLang="zh-CN" dirty="0"/>
              <a:t>-</a:t>
            </a:r>
            <a:r>
              <a:rPr lang="zh-CN" altLang="en-US" dirty="0"/>
              <a:t>海上舰艇、空中机群</a:t>
            </a:r>
            <a:endParaRPr lang="en-US" altLang="zh-CN" dirty="0"/>
          </a:p>
          <a:p>
            <a:r>
              <a:rPr lang="zh-CN" altLang="en-US" dirty="0"/>
              <a:t>户外对讲机</a:t>
            </a:r>
            <a:endParaRPr lang="en-US" altLang="zh-CN" dirty="0"/>
          </a:p>
          <a:p>
            <a:endParaRPr lang="en-US" altLang="zh-CN" dirty="0"/>
          </a:p>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26</a:t>
            </a:fld>
            <a:endParaRPr lang="zh-CN" altLang="en-US"/>
          </a:p>
        </p:txBody>
      </p:sp>
    </p:spTree>
    <p:extLst>
      <p:ext uri="{BB962C8B-B14F-4D97-AF65-F5344CB8AC3E}">
        <p14:creationId xmlns:p14="http://schemas.microsoft.com/office/powerpoint/2010/main" val="9883483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a:t>
            </a:fld>
            <a:endParaRPr lang="zh-CN" altLang="en-US"/>
          </a:p>
        </p:txBody>
      </p:sp>
    </p:spTree>
    <p:extLst>
      <p:ext uri="{BB962C8B-B14F-4D97-AF65-F5344CB8AC3E}">
        <p14:creationId xmlns:p14="http://schemas.microsoft.com/office/powerpoint/2010/main" val="28968129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34</a:t>
            </a:fld>
            <a:endParaRPr lang="zh-CN" altLang="en-US"/>
          </a:p>
        </p:txBody>
      </p:sp>
    </p:spTree>
    <p:extLst>
      <p:ext uri="{BB962C8B-B14F-4D97-AF65-F5344CB8AC3E}">
        <p14:creationId xmlns:p14="http://schemas.microsoft.com/office/powerpoint/2010/main" val="48254331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检测不到发给</a:t>
            </a:r>
            <a:r>
              <a:rPr lang="en-US" altLang="zh-CN" dirty="0"/>
              <a:t>B</a:t>
            </a:r>
            <a:r>
              <a:rPr lang="zh-CN" altLang="en-US" dirty="0"/>
              <a:t>的信号</a:t>
            </a:r>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36</a:t>
            </a:fld>
            <a:endParaRPr lang="zh-CN" altLang="en-US"/>
          </a:p>
        </p:txBody>
      </p:sp>
    </p:spTree>
    <p:extLst>
      <p:ext uri="{BB962C8B-B14F-4D97-AF65-F5344CB8AC3E}">
        <p14:creationId xmlns:p14="http://schemas.microsoft.com/office/powerpoint/2010/main" val="376100356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42</a:t>
            </a:fld>
            <a:endParaRPr lang="zh-CN" altLang="en-US"/>
          </a:p>
        </p:txBody>
      </p:sp>
    </p:spTree>
    <p:extLst>
      <p:ext uri="{BB962C8B-B14F-4D97-AF65-F5344CB8AC3E}">
        <p14:creationId xmlns:p14="http://schemas.microsoft.com/office/powerpoint/2010/main" val="315208931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49</a:t>
            </a:fld>
            <a:endParaRPr lang="zh-CN" altLang="en-US"/>
          </a:p>
        </p:txBody>
      </p:sp>
    </p:spTree>
    <p:extLst>
      <p:ext uri="{BB962C8B-B14F-4D97-AF65-F5344CB8AC3E}">
        <p14:creationId xmlns:p14="http://schemas.microsoft.com/office/powerpoint/2010/main" val="232246174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50</a:t>
            </a:fld>
            <a:endParaRPr lang="zh-CN" altLang="en-US"/>
          </a:p>
        </p:txBody>
      </p:sp>
    </p:spTree>
    <p:extLst>
      <p:ext uri="{BB962C8B-B14F-4D97-AF65-F5344CB8AC3E}">
        <p14:creationId xmlns:p14="http://schemas.microsoft.com/office/powerpoint/2010/main" val="1996901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51</a:t>
            </a:fld>
            <a:endParaRPr lang="zh-CN" altLang="en-US"/>
          </a:p>
        </p:txBody>
      </p:sp>
    </p:spTree>
    <p:extLst>
      <p:ext uri="{BB962C8B-B14F-4D97-AF65-F5344CB8AC3E}">
        <p14:creationId xmlns:p14="http://schemas.microsoft.com/office/powerpoint/2010/main" val="153218612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55</a:t>
            </a:fld>
            <a:endParaRPr lang="zh-CN" altLang="en-US"/>
          </a:p>
        </p:txBody>
      </p:sp>
    </p:spTree>
    <p:extLst>
      <p:ext uri="{BB962C8B-B14F-4D97-AF65-F5344CB8AC3E}">
        <p14:creationId xmlns:p14="http://schemas.microsoft.com/office/powerpoint/2010/main" val="296397363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57</a:t>
            </a:fld>
            <a:endParaRPr lang="zh-CN" altLang="en-US"/>
          </a:p>
        </p:txBody>
      </p:sp>
    </p:spTree>
    <p:extLst>
      <p:ext uri="{BB962C8B-B14F-4D97-AF65-F5344CB8AC3E}">
        <p14:creationId xmlns:p14="http://schemas.microsoft.com/office/powerpoint/2010/main" val="35297451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58</a:t>
            </a:fld>
            <a:endParaRPr lang="zh-CN" altLang="en-US"/>
          </a:p>
        </p:txBody>
      </p:sp>
    </p:spTree>
    <p:extLst>
      <p:ext uri="{BB962C8B-B14F-4D97-AF65-F5344CB8AC3E}">
        <p14:creationId xmlns:p14="http://schemas.microsoft.com/office/powerpoint/2010/main" val="230319323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59</a:t>
            </a:fld>
            <a:endParaRPr lang="zh-CN" altLang="en-US"/>
          </a:p>
        </p:txBody>
      </p:sp>
    </p:spTree>
    <p:extLst>
      <p:ext uri="{BB962C8B-B14F-4D97-AF65-F5344CB8AC3E}">
        <p14:creationId xmlns:p14="http://schemas.microsoft.com/office/powerpoint/2010/main" val="87066306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60</a:t>
            </a:fld>
            <a:endParaRPr lang="zh-CN" altLang="en-US"/>
          </a:p>
        </p:txBody>
      </p:sp>
    </p:spTree>
    <p:extLst>
      <p:ext uri="{BB962C8B-B14F-4D97-AF65-F5344CB8AC3E}">
        <p14:creationId xmlns:p14="http://schemas.microsoft.com/office/powerpoint/2010/main" val="298961299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61</a:t>
            </a:fld>
            <a:endParaRPr lang="zh-CN" altLang="en-US"/>
          </a:p>
        </p:txBody>
      </p:sp>
    </p:spTree>
    <p:extLst>
      <p:ext uri="{BB962C8B-B14F-4D97-AF65-F5344CB8AC3E}">
        <p14:creationId xmlns:p14="http://schemas.microsoft.com/office/powerpoint/2010/main" val="398214242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62</a:t>
            </a:fld>
            <a:endParaRPr lang="zh-CN" altLang="en-US"/>
          </a:p>
        </p:txBody>
      </p:sp>
    </p:spTree>
    <p:extLst>
      <p:ext uri="{BB962C8B-B14F-4D97-AF65-F5344CB8AC3E}">
        <p14:creationId xmlns:p14="http://schemas.microsoft.com/office/powerpoint/2010/main" val="33122416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63</a:t>
            </a:fld>
            <a:endParaRPr lang="zh-CN" altLang="en-US"/>
          </a:p>
        </p:txBody>
      </p:sp>
    </p:spTree>
    <p:extLst>
      <p:ext uri="{BB962C8B-B14F-4D97-AF65-F5344CB8AC3E}">
        <p14:creationId xmlns:p14="http://schemas.microsoft.com/office/powerpoint/2010/main" val="370222475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64</a:t>
            </a:fld>
            <a:endParaRPr lang="zh-CN" altLang="en-US"/>
          </a:p>
        </p:txBody>
      </p:sp>
    </p:spTree>
    <p:extLst>
      <p:ext uri="{BB962C8B-B14F-4D97-AF65-F5344CB8AC3E}">
        <p14:creationId xmlns:p14="http://schemas.microsoft.com/office/powerpoint/2010/main" val="187750526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地址三位来自的地址，以及下一跳发送的地址</a:t>
            </a:r>
            <a:endParaRPr lang="en-US" altLang="zh-CN" dirty="0"/>
          </a:p>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68</a:t>
            </a:fld>
            <a:endParaRPr lang="zh-CN" altLang="en-US"/>
          </a:p>
        </p:txBody>
      </p:sp>
    </p:spTree>
    <p:extLst>
      <p:ext uri="{BB962C8B-B14F-4D97-AF65-F5344CB8AC3E}">
        <p14:creationId xmlns:p14="http://schemas.microsoft.com/office/powerpoint/2010/main" val="341024087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71</a:t>
            </a:fld>
            <a:endParaRPr lang="zh-CN" altLang="en-US"/>
          </a:p>
        </p:txBody>
      </p:sp>
    </p:spTree>
    <p:extLst>
      <p:ext uri="{BB962C8B-B14F-4D97-AF65-F5344CB8AC3E}">
        <p14:creationId xmlns:p14="http://schemas.microsoft.com/office/powerpoint/2010/main" val="312080790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90</a:t>
            </a:fld>
            <a:endParaRPr lang="zh-CN" altLang="en-US"/>
          </a:p>
        </p:txBody>
      </p:sp>
    </p:spTree>
    <p:extLst>
      <p:ext uri="{BB962C8B-B14F-4D97-AF65-F5344CB8AC3E}">
        <p14:creationId xmlns:p14="http://schemas.microsoft.com/office/powerpoint/2010/main" val="16313671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41102134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92</a:t>
            </a:fld>
            <a:endParaRPr lang="zh-CN" altLang="en-US"/>
          </a:p>
        </p:txBody>
      </p:sp>
    </p:spTree>
    <p:extLst>
      <p:ext uri="{BB962C8B-B14F-4D97-AF65-F5344CB8AC3E}">
        <p14:creationId xmlns:p14="http://schemas.microsoft.com/office/powerpoint/2010/main" val="5473464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93</a:t>
            </a:fld>
            <a:endParaRPr lang="zh-CN" altLang="en-US"/>
          </a:p>
        </p:txBody>
      </p:sp>
    </p:spTree>
    <p:extLst>
      <p:ext uri="{BB962C8B-B14F-4D97-AF65-F5344CB8AC3E}">
        <p14:creationId xmlns:p14="http://schemas.microsoft.com/office/powerpoint/2010/main" val="58606636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94</a:t>
            </a:fld>
            <a:endParaRPr lang="zh-CN" altLang="en-US"/>
          </a:p>
        </p:txBody>
      </p:sp>
    </p:spTree>
    <p:extLst>
      <p:ext uri="{BB962C8B-B14F-4D97-AF65-F5344CB8AC3E}">
        <p14:creationId xmlns:p14="http://schemas.microsoft.com/office/powerpoint/2010/main" val="12709007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96</a:t>
            </a:fld>
            <a:endParaRPr lang="zh-CN" altLang="en-US"/>
          </a:p>
        </p:txBody>
      </p:sp>
    </p:spTree>
    <p:extLst>
      <p:ext uri="{BB962C8B-B14F-4D97-AF65-F5344CB8AC3E}">
        <p14:creationId xmlns:p14="http://schemas.microsoft.com/office/powerpoint/2010/main" val="370420113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97</a:t>
            </a:fld>
            <a:endParaRPr lang="zh-CN" altLang="en-US"/>
          </a:p>
        </p:txBody>
      </p:sp>
    </p:spTree>
    <p:extLst>
      <p:ext uri="{BB962C8B-B14F-4D97-AF65-F5344CB8AC3E}">
        <p14:creationId xmlns:p14="http://schemas.microsoft.com/office/powerpoint/2010/main" val="66364234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98</a:t>
            </a:fld>
            <a:endParaRPr lang="zh-CN" altLang="en-US"/>
          </a:p>
        </p:txBody>
      </p:sp>
    </p:spTree>
    <p:extLst>
      <p:ext uri="{BB962C8B-B14F-4D97-AF65-F5344CB8AC3E}">
        <p14:creationId xmlns:p14="http://schemas.microsoft.com/office/powerpoint/2010/main" val="59938926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99</a:t>
            </a:fld>
            <a:endParaRPr lang="zh-CN" altLang="en-US"/>
          </a:p>
        </p:txBody>
      </p:sp>
    </p:spTree>
    <p:extLst>
      <p:ext uri="{BB962C8B-B14F-4D97-AF65-F5344CB8AC3E}">
        <p14:creationId xmlns:p14="http://schemas.microsoft.com/office/powerpoint/2010/main" val="109358218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101</a:t>
            </a:fld>
            <a:endParaRPr lang="zh-CN" altLang="en-US"/>
          </a:p>
        </p:txBody>
      </p:sp>
    </p:spTree>
    <p:extLst>
      <p:ext uri="{BB962C8B-B14F-4D97-AF65-F5344CB8AC3E}">
        <p14:creationId xmlns:p14="http://schemas.microsoft.com/office/powerpoint/2010/main" val="275130451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102</a:t>
            </a:fld>
            <a:endParaRPr lang="zh-CN" altLang="en-US"/>
          </a:p>
        </p:txBody>
      </p:sp>
    </p:spTree>
    <p:extLst>
      <p:ext uri="{BB962C8B-B14F-4D97-AF65-F5344CB8AC3E}">
        <p14:creationId xmlns:p14="http://schemas.microsoft.com/office/powerpoint/2010/main" val="274225669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103</a:t>
            </a:fld>
            <a:endParaRPr lang="zh-CN" altLang="en-US"/>
          </a:p>
        </p:txBody>
      </p:sp>
    </p:spTree>
    <p:extLst>
      <p:ext uri="{BB962C8B-B14F-4D97-AF65-F5344CB8AC3E}">
        <p14:creationId xmlns:p14="http://schemas.microsoft.com/office/powerpoint/2010/main" val="57385951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104</a:t>
            </a:fld>
            <a:endParaRPr lang="zh-CN" altLang="en-US"/>
          </a:p>
        </p:txBody>
      </p:sp>
    </p:spTree>
    <p:extLst>
      <p:ext uri="{BB962C8B-B14F-4D97-AF65-F5344CB8AC3E}">
        <p14:creationId xmlns:p14="http://schemas.microsoft.com/office/powerpoint/2010/main" val="208299780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105</a:t>
            </a:fld>
            <a:endParaRPr lang="zh-CN" altLang="en-US"/>
          </a:p>
        </p:txBody>
      </p:sp>
    </p:spTree>
    <p:extLst>
      <p:ext uri="{BB962C8B-B14F-4D97-AF65-F5344CB8AC3E}">
        <p14:creationId xmlns:p14="http://schemas.microsoft.com/office/powerpoint/2010/main" val="354052486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107</a:t>
            </a:fld>
            <a:endParaRPr lang="zh-CN" altLang="en-US"/>
          </a:p>
        </p:txBody>
      </p:sp>
    </p:spTree>
    <p:extLst>
      <p:ext uri="{BB962C8B-B14F-4D97-AF65-F5344CB8AC3E}">
        <p14:creationId xmlns:p14="http://schemas.microsoft.com/office/powerpoint/2010/main" val="118158963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108</a:t>
            </a:fld>
            <a:endParaRPr lang="zh-CN" altLang="en-US"/>
          </a:p>
        </p:txBody>
      </p:sp>
    </p:spTree>
    <p:extLst>
      <p:ext uri="{BB962C8B-B14F-4D97-AF65-F5344CB8AC3E}">
        <p14:creationId xmlns:p14="http://schemas.microsoft.com/office/powerpoint/2010/main" val="417847166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p14="http://schemas.microsoft.com/office/powerpoint/2010/main" val="214982046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239095578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p14="http://schemas.microsoft.com/office/powerpoint/2010/main" val="143757248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p14="http://schemas.microsoft.com/office/powerpoint/2010/main" val="340140068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p14="http://schemas.microsoft.com/office/powerpoint/2010/main" val="381502842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188866790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p14="http://schemas.microsoft.com/office/powerpoint/2010/main" val="130355747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116</a:t>
            </a:fld>
            <a:endParaRPr lang="zh-CN" altLang="en-US"/>
          </a:p>
        </p:txBody>
      </p:sp>
    </p:spTree>
    <p:extLst>
      <p:ext uri="{BB962C8B-B14F-4D97-AF65-F5344CB8AC3E}">
        <p14:creationId xmlns:p14="http://schemas.microsoft.com/office/powerpoint/2010/main" val="109042498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117</a:t>
            </a:fld>
            <a:endParaRPr lang="zh-CN" altLang="en-US"/>
          </a:p>
        </p:txBody>
      </p:sp>
    </p:spTree>
    <p:extLst>
      <p:ext uri="{BB962C8B-B14F-4D97-AF65-F5344CB8AC3E}">
        <p14:creationId xmlns:p14="http://schemas.microsoft.com/office/powerpoint/2010/main" val="258728378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122</a:t>
            </a:fld>
            <a:endParaRPr lang="zh-CN" altLang="en-US"/>
          </a:p>
        </p:txBody>
      </p:sp>
    </p:spTree>
    <p:extLst>
      <p:ext uri="{BB962C8B-B14F-4D97-AF65-F5344CB8AC3E}">
        <p14:creationId xmlns:p14="http://schemas.microsoft.com/office/powerpoint/2010/main" val="403037973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123</a:t>
            </a:fld>
            <a:endParaRPr lang="zh-CN" altLang="en-US"/>
          </a:p>
        </p:txBody>
      </p:sp>
    </p:spTree>
    <p:extLst>
      <p:ext uri="{BB962C8B-B14F-4D97-AF65-F5344CB8AC3E}">
        <p14:creationId xmlns:p14="http://schemas.microsoft.com/office/powerpoint/2010/main" val="274423016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128</a:t>
            </a:fld>
            <a:endParaRPr lang="zh-CN" altLang="en-US"/>
          </a:p>
        </p:txBody>
      </p:sp>
    </p:spTree>
    <p:extLst>
      <p:ext uri="{BB962C8B-B14F-4D97-AF65-F5344CB8AC3E}">
        <p14:creationId xmlns:p14="http://schemas.microsoft.com/office/powerpoint/2010/main" val="242685109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133</a:t>
            </a:fld>
            <a:endParaRPr lang="zh-CN" altLang="en-US"/>
          </a:p>
        </p:txBody>
      </p:sp>
    </p:spTree>
    <p:extLst>
      <p:ext uri="{BB962C8B-B14F-4D97-AF65-F5344CB8AC3E}">
        <p14:creationId xmlns:p14="http://schemas.microsoft.com/office/powerpoint/2010/main" val="146173781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134</a:t>
            </a:fld>
            <a:endParaRPr lang="zh-CN" altLang="en-US"/>
          </a:p>
        </p:txBody>
      </p:sp>
    </p:spTree>
    <p:extLst>
      <p:ext uri="{BB962C8B-B14F-4D97-AF65-F5344CB8AC3E}">
        <p14:creationId xmlns:p14="http://schemas.microsoft.com/office/powerpoint/2010/main" val="75781630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135</a:t>
            </a:fld>
            <a:endParaRPr lang="zh-CN" altLang="en-US"/>
          </a:p>
        </p:txBody>
      </p:sp>
    </p:spTree>
    <p:extLst>
      <p:ext uri="{BB962C8B-B14F-4D97-AF65-F5344CB8AC3E}">
        <p14:creationId xmlns:p14="http://schemas.microsoft.com/office/powerpoint/2010/main" val="243892510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156</a:t>
            </a:fld>
            <a:endParaRPr lang="zh-CN" altLang="en-US"/>
          </a:p>
        </p:txBody>
      </p:sp>
    </p:spTree>
    <p:extLst>
      <p:ext uri="{BB962C8B-B14F-4D97-AF65-F5344CB8AC3E}">
        <p14:creationId xmlns:p14="http://schemas.microsoft.com/office/powerpoint/2010/main" val="172391735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160</a:t>
            </a:fld>
            <a:endParaRPr lang="zh-CN" altLang="en-US"/>
          </a:p>
        </p:txBody>
      </p:sp>
    </p:spTree>
    <p:extLst>
      <p:ext uri="{BB962C8B-B14F-4D97-AF65-F5344CB8AC3E}">
        <p14:creationId xmlns:p14="http://schemas.microsoft.com/office/powerpoint/2010/main" val="292903519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161</a:t>
            </a:fld>
            <a:endParaRPr lang="zh-CN" altLang="en-US"/>
          </a:p>
        </p:txBody>
      </p:sp>
    </p:spTree>
    <p:extLst>
      <p:ext uri="{BB962C8B-B14F-4D97-AF65-F5344CB8AC3E}">
        <p14:creationId xmlns:p14="http://schemas.microsoft.com/office/powerpoint/2010/main" val="9023424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499667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00640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9922684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6171865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591302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228525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71567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16946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2025/5/26</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315308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image" Target="../media/image4.gif"/><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gif"/><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1" name="图片 10"/>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141223" y="4662544"/>
            <a:ext cx="1125345" cy="267703"/>
          </a:xfrm>
          <a:prstGeom prst="rect">
            <a:avLst/>
          </a:prstGeom>
        </p:spPr>
      </p:pic>
      <p:sp>
        <p:nvSpPr>
          <p:cNvPr id="12" name="Line 3"/>
          <p:cNvSpPr>
            <a:spLocks noChangeShapeType="1"/>
          </p:cNvSpPr>
          <p:nvPr userDrawn="1"/>
        </p:nvSpPr>
        <p:spPr bwMode="auto">
          <a:xfrm>
            <a:off x="1266568" y="4803998"/>
            <a:ext cx="6942395" cy="0"/>
          </a:xfrm>
          <a:prstGeom prst="line">
            <a:avLst/>
          </a:prstGeom>
          <a:noFill/>
          <a:ln w="1905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 name="Rectangle 9"/>
          <p:cNvSpPr>
            <a:spLocks noChangeArrowheads="1"/>
          </p:cNvSpPr>
          <p:nvPr userDrawn="1"/>
        </p:nvSpPr>
        <p:spPr bwMode="auto">
          <a:xfrm>
            <a:off x="8208962" y="4394656"/>
            <a:ext cx="609917" cy="609917"/>
          </a:xfrm>
          <a:prstGeom prst="rect">
            <a:avLst/>
          </a:prstGeom>
          <a:solidFill>
            <a:schemeClr val="bg1"/>
          </a:solidFill>
          <a:ln w="25400" algn="ctr">
            <a:solidFill>
              <a:srgbClr val="85D1F7"/>
            </a:solidFill>
            <a:miter lim="800000"/>
            <a:headEnd/>
            <a:tailEnd/>
          </a:ln>
        </p:spPr>
        <p:txBody>
          <a:bodyPr wrap="none" anchor="ctr"/>
          <a:lstStyle/>
          <a:p>
            <a:pPr algn="ctr" eaLnBrk="0" hangingPunct="0"/>
            <a:endParaRPr lang="fr-FR">
              <a:cs typeface="Arial" charset="0"/>
            </a:endParaRPr>
          </a:p>
        </p:txBody>
      </p:sp>
      <p:pic>
        <p:nvPicPr>
          <p:cNvPr id="16" name="图片 15"/>
          <p:cNvPicPr>
            <a:picLocks noChangeAspect="1"/>
          </p:cNvPicPr>
          <p:nvPr userDrawn="1"/>
        </p:nvPicPr>
        <p:blipFill>
          <a:blip r:embed="rId14" cstate="print">
            <a:extLst>
              <a:ext uri="{28A0092B-C50C-407E-A947-70E740481C1C}">
                <a14:useLocalDpi xmlns:a14="http://schemas.microsoft.com/office/drawing/2010/main" val="0"/>
              </a:ext>
            </a:extLst>
          </a:blip>
          <a:stretch>
            <a:fillRect/>
          </a:stretch>
        </p:blipFill>
        <p:spPr>
          <a:xfrm>
            <a:off x="8262049" y="4419021"/>
            <a:ext cx="503429" cy="559959"/>
          </a:xfrm>
          <a:prstGeom prst="rect">
            <a:avLst/>
          </a:prstGeom>
        </p:spPr>
      </p:pic>
      <p:pic>
        <p:nvPicPr>
          <p:cNvPr id="20" name="图片 19"/>
          <p:cNvPicPr>
            <a:picLocks noChangeAspect="1"/>
          </p:cNvPicPr>
          <p:nvPr userDrawn="1"/>
        </p:nvPicPr>
        <p:blipFill>
          <a:blip r:embed="rId15" cstate="print">
            <a:extLst>
              <a:ext uri="{28A0092B-C50C-407E-A947-70E740481C1C}">
                <a14:useLocalDpi xmlns:a14="http://schemas.microsoft.com/office/drawing/2010/main" val="0"/>
              </a:ext>
            </a:extLst>
          </a:blip>
          <a:stretch>
            <a:fillRect/>
          </a:stretch>
        </p:blipFill>
        <p:spPr>
          <a:xfrm>
            <a:off x="4392827" y="149234"/>
            <a:ext cx="358346" cy="458684"/>
          </a:xfrm>
          <a:prstGeom prst="rect">
            <a:avLst/>
          </a:prstGeom>
        </p:spPr>
      </p:pic>
      <p:sp>
        <p:nvSpPr>
          <p:cNvPr id="21" name="Line 3"/>
          <p:cNvSpPr>
            <a:spLocks noChangeShapeType="1"/>
          </p:cNvSpPr>
          <p:nvPr userDrawn="1"/>
        </p:nvSpPr>
        <p:spPr bwMode="auto">
          <a:xfrm>
            <a:off x="0" y="428092"/>
            <a:ext cx="9144000" cy="0"/>
          </a:xfrm>
          <a:prstGeom prst="line">
            <a:avLst/>
          </a:prstGeom>
          <a:noFill/>
          <a:ln w="2540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 name="矩形 21"/>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Line 3"/>
          <p:cNvSpPr>
            <a:spLocks noChangeShapeType="1"/>
          </p:cNvSpPr>
          <p:nvPr userDrawn="1"/>
        </p:nvSpPr>
        <p:spPr bwMode="auto">
          <a:xfrm>
            <a:off x="0" y="301530"/>
            <a:ext cx="2835464"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4" name="Rectangle 4"/>
          <p:cNvSpPr>
            <a:spLocks noChangeArrowheads="1"/>
          </p:cNvSpPr>
          <p:nvPr userDrawn="1"/>
        </p:nvSpPr>
        <p:spPr bwMode="auto">
          <a:xfrm>
            <a:off x="4810742" y="164227"/>
            <a:ext cx="1065212"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r>
              <a:rPr lang="fr-FR" sz="1100" b="1" dirty="0">
                <a:solidFill>
                  <a:srgbClr val="0070C0"/>
                </a:solidFill>
                <a:latin typeface="微软雅黑" pitchFamily="34" charset="-122"/>
                <a:ea typeface="微软雅黑" pitchFamily="34" charset="-122"/>
              </a:rPr>
              <a:t>谢希仁 编著</a:t>
            </a:r>
          </a:p>
        </p:txBody>
      </p:sp>
      <p:sp>
        <p:nvSpPr>
          <p:cNvPr id="25" name="Rectangle 5"/>
          <p:cNvSpPr>
            <a:spLocks noChangeArrowheads="1"/>
          </p:cNvSpPr>
          <p:nvPr userDrawn="1"/>
        </p:nvSpPr>
        <p:spPr bwMode="auto">
          <a:xfrm>
            <a:off x="2835464" y="164857"/>
            <a:ext cx="149271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1" dirty="0">
                <a:solidFill>
                  <a:srgbClr val="0070C0"/>
                </a:solidFill>
                <a:latin typeface="微软雅黑" pitchFamily="34" charset="-122"/>
                <a:ea typeface="微软雅黑" pitchFamily="34" charset="-122"/>
              </a:rPr>
              <a:t>计算机网络 </a:t>
            </a:r>
            <a:r>
              <a:rPr lang="en-US" altLang="zh-CN" sz="1100" b="1" dirty="0">
                <a:solidFill>
                  <a:srgbClr val="0070C0"/>
                </a:solidFill>
                <a:latin typeface="微软雅黑" pitchFamily="34" charset="-122"/>
                <a:ea typeface="微软雅黑" pitchFamily="34" charset="-122"/>
              </a:rPr>
              <a:t>(</a:t>
            </a:r>
            <a:r>
              <a:rPr lang="zh-CN" altLang="en-US" sz="1100" b="1" dirty="0">
                <a:solidFill>
                  <a:srgbClr val="0070C0"/>
                </a:solidFill>
                <a:latin typeface="微软雅黑" pitchFamily="34" charset="-122"/>
                <a:ea typeface="微软雅黑" pitchFamily="34" charset="-122"/>
              </a:rPr>
              <a:t>第 </a:t>
            </a:r>
            <a:r>
              <a:rPr lang="en-US" altLang="zh-CN" sz="1100" b="1" dirty="0">
                <a:solidFill>
                  <a:srgbClr val="0070C0"/>
                </a:solidFill>
                <a:latin typeface="微软雅黑" pitchFamily="34" charset="-122"/>
                <a:ea typeface="微软雅黑" pitchFamily="34" charset="-122"/>
              </a:rPr>
              <a:t>8 </a:t>
            </a:r>
            <a:r>
              <a:rPr lang="zh-CN" altLang="en-US" sz="1100" b="1" dirty="0">
                <a:solidFill>
                  <a:srgbClr val="0070C0"/>
                </a:solidFill>
                <a:latin typeface="微软雅黑" pitchFamily="34" charset="-122"/>
                <a:ea typeface="微软雅黑" pitchFamily="34" charset="-122"/>
              </a:rPr>
              <a:t>版</a:t>
            </a:r>
            <a:r>
              <a:rPr lang="en-US" altLang="zh-CN" sz="1100" b="1" dirty="0">
                <a:solidFill>
                  <a:srgbClr val="0070C0"/>
                </a:solidFill>
                <a:latin typeface="微软雅黑" pitchFamily="34" charset="-122"/>
                <a:ea typeface="微软雅黑" pitchFamily="34" charset="-122"/>
              </a:rPr>
              <a:t>)</a:t>
            </a:r>
            <a:endParaRPr lang="fr-FR" sz="1100" b="1" dirty="0">
              <a:solidFill>
                <a:srgbClr val="0070C0"/>
              </a:solidFill>
              <a:latin typeface="微软雅黑" pitchFamily="34" charset="-122"/>
              <a:ea typeface="微软雅黑" pitchFamily="34" charset="-122"/>
            </a:endParaRPr>
          </a:p>
        </p:txBody>
      </p:sp>
      <p:sp>
        <p:nvSpPr>
          <p:cNvPr id="26" name="椭圆 25"/>
          <p:cNvSpPr/>
          <p:nvPr userDrawn="1"/>
        </p:nvSpPr>
        <p:spPr>
          <a:xfrm>
            <a:off x="2793115"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sp>
        <p:nvSpPr>
          <p:cNvPr id="31" name="Line 3"/>
          <p:cNvSpPr>
            <a:spLocks noChangeShapeType="1"/>
          </p:cNvSpPr>
          <p:nvPr userDrawn="1"/>
        </p:nvSpPr>
        <p:spPr bwMode="auto">
          <a:xfrm>
            <a:off x="5713428" y="301530"/>
            <a:ext cx="3430572"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32" name="椭圆 31"/>
          <p:cNvSpPr/>
          <p:nvPr userDrawn="1"/>
        </p:nvSpPr>
        <p:spPr>
          <a:xfrm>
            <a:off x="5710547"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pic>
        <p:nvPicPr>
          <p:cNvPr id="33" name="图片 32"/>
          <p:cNvPicPr>
            <a:picLocks noChangeAspect="1"/>
          </p:cNvPicPr>
          <p:nvPr userDrawn="1"/>
        </p:nvPicPr>
        <p:blipFill>
          <a:blip r:embed="rId16" cstate="print">
            <a:extLst>
              <a:ext uri="{28A0092B-C50C-407E-A947-70E740481C1C}">
                <a14:useLocalDpi xmlns:a14="http://schemas.microsoft.com/office/drawing/2010/main" val="0"/>
              </a:ext>
            </a:extLst>
          </a:blip>
          <a:stretch>
            <a:fillRect/>
          </a:stretch>
        </p:blipFill>
        <p:spPr>
          <a:xfrm>
            <a:off x="4388612" y="149234"/>
            <a:ext cx="358346" cy="458684"/>
          </a:xfrm>
          <a:prstGeom prst="rect">
            <a:avLst/>
          </a:prstGeom>
        </p:spPr>
      </p:pic>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8.wmf"/></Relationships>
</file>

<file path=ppt/slides/_rels/slide9.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11.wmf"/></Relationships>
</file>

<file path=ppt/slides/_rels/slide10.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11.wmf"/></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8.wmf"/></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11.wmf"/></Relationships>
</file>

<file path=ppt/slides/_rels/slide14.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11.wmf"/></Relationships>
</file>

<file path=ppt/slides/_rels/slide15.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11.wmf"/></Relationships>
</file>

<file path=ppt/slides/_rels/slide16.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11.wmf"/></Relationships>
</file>

<file path=ppt/slides/_rels/slide17.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11.wmf"/></Relationships>
</file>

<file path=ppt/slides/_rels/slide18.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image" Target="../media/image7.jpeg"/><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11.wmf"/></Relationships>
</file>

<file path=ppt/slides/_rels/slide19.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0.pn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9.wmf"/><Relationship Id="rId5" Type="http://schemas.openxmlformats.org/officeDocument/2006/relationships/image" Target="../media/image11.wmf"/><Relationship Id="rId4" Type="http://schemas.openxmlformats.org/officeDocument/2006/relationships/oleObject" Target="../embeddings/oleObject11.bin"/></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2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7.jpe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15.wmf"/></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6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22.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16.wmf"/></Relationships>
</file>

<file path=ppt/slides/_rels/slide69.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oleObject" Target="../embeddings/oleObject12.bin"/><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7.jpe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8" Type="http://schemas.openxmlformats.org/officeDocument/2006/relationships/image" Target="../media/image20.wmf"/><Relationship Id="rId3" Type="http://schemas.openxmlformats.org/officeDocument/2006/relationships/image" Target="../media/image17.jpeg"/><Relationship Id="rId7" Type="http://schemas.openxmlformats.org/officeDocument/2006/relationships/oleObject" Target="../embeddings/oleObject14.bin"/><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image" Target="../media/image19.jpeg"/><Relationship Id="rId5" Type="http://schemas.openxmlformats.org/officeDocument/2006/relationships/image" Target="../media/image18.wmf"/><Relationship Id="rId4" Type="http://schemas.openxmlformats.org/officeDocument/2006/relationships/oleObject" Target="../embeddings/oleObject13.bin"/></Relationships>
</file>

<file path=ppt/slides/_rels/slide91.xml.rels><?xml version="1.0" encoding="UTF-8" standalone="yes"?>
<Relationships xmlns="http://schemas.openxmlformats.org/package/2006/relationships"><Relationship Id="rId8" Type="http://schemas.openxmlformats.org/officeDocument/2006/relationships/image" Target="../media/image20.wmf"/><Relationship Id="rId3" Type="http://schemas.openxmlformats.org/officeDocument/2006/relationships/image" Target="../media/image17.jpeg"/><Relationship Id="rId7" Type="http://schemas.openxmlformats.org/officeDocument/2006/relationships/oleObject" Target="../embeddings/oleObject16.bin"/><Relationship Id="rId2" Type="http://schemas.openxmlformats.org/officeDocument/2006/relationships/notesSlide" Target="../notesSlides/notesSlide25.xml"/><Relationship Id="rId1" Type="http://schemas.openxmlformats.org/officeDocument/2006/relationships/slideLayout" Target="../slideLayouts/slideLayout2.xml"/><Relationship Id="rId6" Type="http://schemas.openxmlformats.org/officeDocument/2006/relationships/image" Target="../media/image19.jpeg"/><Relationship Id="rId5" Type="http://schemas.openxmlformats.org/officeDocument/2006/relationships/image" Target="../media/image18.wmf"/><Relationship Id="rId4" Type="http://schemas.openxmlformats.org/officeDocument/2006/relationships/oleObject" Target="../embeddings/oleObject15.bin"/></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oleObject" Target="../embeddings/oleObject18.bin"/><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image" Target="../media/image19.jpeg"/><Relationship Id="rId5" Type="http://schemas.openxmlformats.org/officeDocument/2006/relationships/image" Target="../media/image20.wmf"/><Relationship Id="rId4" Type="http://schemas.openxmlformats.org/officeDocument/2006/relationships/oleObject" Target="../embeddings/oleObject17.bin"/></Relationships>
</file>

<file path=ppt/slides/_rels/slide94.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oleObject" Target="../embeddings/oleObject20.bin"/><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image" Target="../media/image19.jpeg"/><Relationship Id="rId5" Type="http://schemas.openxmlformats.org/officeDocument/2006/relationships/image" Target="../media/image20.wmf"/><Relationship Id="rId4" Type="http://schemas.openxmlformats.org/officeDocument/2006/relationships/oleObject" Target="../embeddings/oleObject19.bin"/></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image" Target="../media/image21.jpeg"/><Relationship Id="rId7" Type="http://schemas.openxmlformats.org/officeDocument/2006/relationships/oleObject" Target="../embeddings/oleObject22.bin"/><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image" Target="../media/image19.jpeg"/><Relationship Id="rId5" Type="http://schemas.openxmlformats.org/officeDocument/2006/relationships/image" Target="../media/image20.wmf"/><Relationship Id="rId10" Type="http://schemas.openxmlformats.org/officeDocument/2006/relationships/image" Target="../media/image8.wmf"/><Relationship Id="rId4" Type="http://schemas.openxmlformats.org/officeDocument/2006/relationships/oleObject" Target="../embeddings/oleObject21.bin"/><Relationship Id="rId9" Type="http://schemas.openxmlformats.org/officeDocument/2006/relationships/oleObject" Target="../embeddings/oleObject23.bin"/></Relationships>
</file>

<file path=ppt/slides/_rels/slide97.xml.rels><?xml version="1.0" encoding="UTF-8" standalone="yes"?>
<Relationships xmlns="http://schemas.openxmlformats.org/package/2006/relationships"><Relationship Id="rId8" Type="http://schemas.openxmlformats.org/officeDocument/2006/relationships/image" Target="../media/image20.wmf"/><Relationship Id="rId3" Type="http://schemas.openxmlformats.org/officeDocument/2006/relationships/image" Target="../media/image21.jpeg"/><Relationship Id="rId7" Type="http://schemas.openxmlformats.org/officeDocument/2006/relationships/oleObject" Target="../embeddings/oleObject25.bin"/><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image" Target="../media/image19.jpeg"/><Relationship Id="rId11" Type="http://schemas.openxmlformats.org/officeDocument/2006/relationships/image" Target="../media/image8.wmf"/><Relationship Id="rId5" Type="http://schemas.openxmlformats.org/officeDocument/2006/relationships/image" Target="../media/image18.wmf"/><Relationship Id="rId10" Type="http://schemas.openxmlformats.org/officeDocument/2006/relationships/oleObject" Target="../embeddings/oleObject26.bin"/><Relationship Id="rId4" Type="http://schemas.openxmlformats.org/officeDocument/2006/relationships/oleObject" Target="../embeddings/oleObject24.bin"/><Relationship Id="rId9" Type="http://schemas.openxmlformats.org/officeDocument/2006/relationships/image" Target="../media/image9.wmf"/></Relationships>
</file>

<file path=ppt/slides/_rels/slide98.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image" Target="../media/image21.jpeg"/><Relationship Id="rId7" Type="http://schemas.openxmlformats.org/officeDocument/2006/relationships/oleObject" Target="../embeddings/oleObject28.bin"/><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image" Target="../media/image19.jpeg"/><Relationship Id="rId5" Type="http://schemas.openxmlformats.org/officeDocument/2006/relationships/image" Target="../media/image20.wmf"/><Relationship Id="rId10" Type="http://schemas.openxmlformats.org/officeDocument/2006/relationships/image" Target="../media/image11.wmf"/><Relationship Id="rId4" Type="http://schemas.openxmlformats.org/officeDocument/2006/relationships/oleObject" Target="../embeddings/oleObject27.bin"/><Relationship Id="rId9" Type="http://schemas.openxmlformats.org/officeDocument/2006/relationships/oleObject" Target="../embeddings/oleObject29.bin"/></Relationships>
</file>

<file path=ppt/slides/_rels/slide99.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image" Target="../media/image21.jpeg"/><Relationship Id="rId7" Type="http://schemas.openxmlformats.org/officeDocument/2006/relationships/oleObject" Target="../embeddings/oleObject31.bin"/><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image" Target="../media/image19.jpeg"/><Relationship Id="rId5" Type="http://schemas.openxmlformats.org/officeDocument/2006/relationships/image" Target="../media/image20.wmf"/><Relationship Id="rId10" Type="http://schemas.openxmlformats.org/officeDocument/2006/relationships/image" Target="../media/image11.wmf"/><Relationship Id="rId4" Type="http://schemas.openxmlformats.org/officeDocument/2006/relationships/oleObject" Target="../embeddings/oleObject30.bin"/><Relationship Id="rId9" Type="http://schemas.openxmlformats.org/officeDocument/2006/relationships/oleObject" Target="../embeddings/oleObject32.bin"/></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8" Type="http://schemas.openxmlformats.org/officeDocument/2006/relationships/oleObject" Target="../embeddings/oleObject34.bin"/><Relationship Id="rId3" Type="http://schemas.openxmlformats.org/officeDocument/2006/relationships/image" Target="../media/image19.jpeg"/><Relationship Id="rId7" Type="http://schemas.openxmlformats.org/officeDocument/2006/relationships/image" Target="../media/image21.jpe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8.wmf"/><Relationship Id="rId11" Type="http://schemas.openxmlformats.org/officeDocument/2006/relationships/image" Target="../media/image20.wmf"/><Relationship Id="rId5" Type="http://schemas.openxmlformats.org/officeDocument/2006/relationships/oleObject" Target="../embeddings/oleObject33.bin"/><Relationship Id="rId10" Type="http://schemas.openxmlformats.org/officeDocument/2006/relationships/oleObject" Target="../embeddings/oleObject35.bin"/><Relationship Id="rId4" Type="http://schemas.openxmlformats.org/officeDocument/2006/relationships/image" Target="../media/image9.wmf"/><Relationship Id="rId9" Type="http://schemas.openxmlformats.org/officeDocument/2006/relationships/image" Target="../media/image18.wmf"/></Relationships>
</file>

<file path=ppt/slides/_rels/slide102.xml.rels><?xml version="1.0" encoding="UTF-8" standalone="yes"?>
<Relationships xmlns="http://schemas.openxmlformats.org/package/2006/relationships"><Relationship Id="rId8" Type="http://schemas.openxmlformats.org/officeDocument/2006/relationships/oleObject" Target="../embeddings/oleObject37.bin"/><Relationship Id="rId3" Type="http://schemas.openxmlformats.org/officeDocument/2006/relationships/image" Target="../media/image19.jpeg"/><Relationship Id="rId7" Type="http://schemas.openxmlformats.org/officeDocument/2006/relationships/image" Target="../media/image21.jpeg"/><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image" Target="../media/image11.wmf"/><Relationship Id="rId5" Type="http://schemas.openxmlformats.org/officeDocument/2006/relationships/oleObject" Target="../embeddings/oleObject36.bin"/><Relationship Id="rId10" Type="http://schemas.openxmlformats.org/officeDocument/2006/relationships/oleObject" Target="../embeddings/oleObject38.bin"/><Relationship Id="rId4" Type="http://schemas.openxmlformats.org/officeDocument/2006/relationships/image" Target="../media/image9.wmf"/><Relationship Id="rId9" Type="http://schemas.openxmlformats.org/officeDocument/2006/relationships/image" Target="../media/image20.wmf"/></Relationships>
</file>

<file path=ppt/slides/_rels/slide103.xml.rels><?xml version="1.0" encoding="UTF-8" standalone="yes"?>
<Relationships xmlns="http://schemas.openxmlformats.org/package/2006/relationships"><Relationship Id="rId8" Type="http://schemas.openxmlformats.org/officeDocument/2006/relationships/oleObject" Target="../embeddings/oleObject40.bin"/><Relationship Id="rId3" Type="http://schemas.openxmlformats.org/officeDocument/2006/relationships/image" Target="../media/image19.jpeg"/><Relationship Id="rId7" Type="http://schemas.openxmlformats.org/officeDocument/2006/relationships/image" Target="../media/image21.jpeg"/><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image" Target="../media/image11.wmf"/><Relationship Id="rId5" Type="http://schemas.openxmlformats.org/officeDocument/2006/relationships/oleObject" Target="../embeddings/oleObject39.bin"/><Relationship Id="rId10" Type="http://schemas.openxmlformats.org/officeDocument/2006/relationships/oleObject" Target="../embeddings/oleObject41.bin"/><Relationship Id="rId4" Type="http://schemas.openxmlformats.org/officeDocument/2006/relationships/image" Target="../media/image9.wmf"/><Relationship Id="rId9" Type="http://schemas.openxmlformats.org/officeDocument/2006/relationships/image" Target="../media/image20.wmf"/></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8.wmf"/><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oleObject" Target="../embeddings/oleObject43.bin"/><Relationship Id="rId5" Type="http://schemas.openxmlformats.org/officeDocument/2006/relationships/image" Target="../media/image18.wmf"/><Relationship Id="rId4" Type="http://schemas.openxmlformats.org/officeDocument/2006/relationships/oleObject" Target="../embeddings/oleObject42.bin"/></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41.xml"/><Relationship Id="rId1" Type="http://schemas.openxmlformats.org/officeDocument/2006/relationships/slideLayout" Target="../slideLayouts/slideLayout2.xml"/><Relationship Id="rId6" Type="http://schemas.openxmlformats.org/officeDocument/2006/relationships/oleObject" Target="../embeddings/oleObject45.bin"/><Relationship Id="rId5" Type="http://schemas.openxmlformats.org/officeDocument/2006/relationships/image" Target="../media/image20.wmf"/><Relationship Id="rId4" Type="http://schemas.openxmlformats.org/officeDocument/2006/relationships/oleObject" Target="../embeddings/oleObject44.bin"/></Relationships>
</file>

<file path=ppt/slides/_rels/slide111.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42.xml"/><Relationship Id="rId1" Type="http://schemas.openxmlformats.org/officeDocument/2006/relationships/slideLayout" Target="../slideLayouts/slideLayout2.xml"/><Relationship Id="rId6" Type="http://schemas.openxmlformats.org/officeDocument/2006/relationships/oleObject" Target="../embeddings/oleObject47.bin"/><Relationship Id="rId5" Type="http://schemas.openxmlformats.org/officeDocument/2006/relationships/image" Target="../media/image20.wmf"/><Relationship Id="rId4" Type="http://schemas.openxmlformats.org/officeDocument/2006/relationships/oleObject" Target="../embeddings/oleObject46.bin"/></Relationships>
</file>

<file path=ppt/slides/_rels/slide112.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oleObject" Target="../embeddings/oleObject49.bin"/><Relationship Id="rId5" Type="http://schemas.openxmlformats.org/officeDocument/2006/relationships/image" Target="../media/image20.wmf"/><Relationship Id="rId4" Type="http://schemas.openxmlformats.org/officeDocument/2006/relationships/oleObject" Target="../embeddings/oleObject48.bin"/></Relationships>
</file>

<file path=ppt/slides/_rels/slide113.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oleObject" Target="../embeddings/oleObject51.bin"/><Relationship Id="rId5" Type="http://schemas.openxmlformats.org/officeDocument/2006/relationships/image" Target="../media/image20.wmf"/><Relationship Id="rId4" Type="http://schemas.openxmlformats.org/officeDocument/2006/relationships/oleObject" Target="../embeddings/oleObject50.bin"/></Relationships>
</file>

<file path=ppt/slides/_rels/slide114.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8.wmf"/><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oleObject" Target="../embeddings/oleObject53.bin"/><Relationship Id="rId5" Type="http://schemas.openxmlformats.org/officeDocument/2006/relationships/image" Target="../media/image18.wmf"/><Relationship Id="rId4" Type="http://schemas.openxmlformats.org/officeDocument/2006/relationships/oleObject" Target="../embeddings/oleObject52.bin"/></Relationships>
</file>

<file path=ppt/slides/_rels/slide115.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oleObject" Target="../embeddings/oleObject55.bin"/><Relationship Id="rId5" Type="http://schemas.openxmlformats.org/officeDocument/2006/relationships/image" Target="../media/image20.wmf"/><Relationship Id="rId4" Type="http://schemas.openxmlformats.org/officeDocument/2006/relationships/oleObject" Target="../embeddings/oleObject54.bin"/></Relationships>
</file>

<file path=ppt/slides/_rels/slide116.xml.rels><?xml version="1.0" encoding="UTF-8" standalone="yes"?>
<Relationships xmlns="http://schemas.openxmlformats.org/package/2006/relationships"><Relationship Id="rId3" Type="http://schemas.openxmlformats.org/officeDocument/2006/relationships/image" Target="../media/image22.jpeg"/><Relationship Id="rId7" Type="http://schemas.openxmlformats.org/officeDocument/2006/relationships/image" Target="../media/image11.wmf"/><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oleObject" Target="../embeddings/oleObject57.bin"/><Relationship Id="rId5" Type="http://schemas.openxmlformats.org/officeDocument/2006/relationships/image" Target="../media/image20.wmf"/><Relationship Id="rId4" Type="http://schemas.openxmlformats.org/officeDocument/2006/relationships/oleObject" Target="../embeddings/oleObject56.bin"/></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6.wmf"/><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4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6.wmf"/><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6.wmf"/><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4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6.wmf"/><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4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6.wmf"/><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6.wmf"/><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16.wmf"/><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16.wmf"/><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16.wmf"/><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16.wmf"/><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15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16.wmf"/><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16.wmf"/><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16.wmf"/><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240934" y="1943628"/>
            <a:ext cx="3986989" cy="1785104"/>
          </a:xfrm>
          <a:prstGeom prst="rect">
            <a:avLst/>
          </a:prstGeom>
        </p:spPr>
        <p:txBody>
          <a:bodyPr wrap="none">
            <a:spAutoFit/>
          </a:bodyPr>
          <a:lstStyle/>
          <a:p>
            <a:pPr algn="ctr" eaLnBrk="0" hangingPunct="0"/>
            <a:r>
              <a:rPr lang="zh-CN" altLang="en-US" sz="5500" b="1" dirty="0">
                <a:solidFill>
                  <a:schemeClr val="bg1"/>
                </a:solidFill>
                <a:latin typeface="微软雅黑" pitchFamily="34" charset="-122"/>
                <a:ea typeface="微软雅黑" pitchFamily="34" charset="-122"/>
              </a:rPr>
              <a:t>无</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线</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网</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endParaRPr lang="en-US" altLang="zh-CN" sz="5500" b="1" dirty="0">
              <a:solidFill>
                <a:schemeClr val="bg1"/>
              </a:solidFill>
              <a:latin typeface="微软雅黑" pitchFamily="34" charset="-122"/>
              <a:ea typeface="微软雅黑" pitchFamily="34" charset="-122"/>
            </a:endParaRPr>
          </a:p>
          <a:p>
            <a:pPr algn="ctr" eaLnBrk="0" hangingPunct="0"/>
            <a:r>
              <a:rPr lang="zh-CN" altLang="en-US" sz="5500" b="1" dirty="0">
                <a:solidFill>
                  <a:schemeClr val="bg1"/>
                </a:solidFill>
                <a:latin typeface="微软雅黑" pitchFamily="34" charset="-122"/>
                <a:ea typeface="微软雅黑" pitchFamily="34" charset="-122"/>
              </a:rPr>
              <a:t>和</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移</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动</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网</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endParaRPr lang="fr-FR" altLang="zh-CN" sz="5500" b="1" dirty="0">
              <a:solidFill>
                <a:schemeClr val="bg1"/>
              </a:solidFill>
              <a:latin typeface="微软雅黑" pitchFamily="34" charset="-122"/>
              <a:ea typeface="微软雅黑" pitchFamily="34" charset="-122"/>
            </a:endParaRPr>
          </a:p>
        </p:txBody>
      </p:sp>
      <p:sp>
        <p:nvSpPr>
          <p:cNvPr id="8" name="矩形 7"/>
          <p:cNvSpPr/>
          <p:nvPr/>
        </p:nvSpPr>
        <p:spPr>
          <a:xfrm>
            <a:off x="5565012" y="1461010"/>
            <a:ext cx="1338828" cy="523220"/>
          </a:xfrm>
          <a:prstGeom prst="rect">
            <a:avLst/>
          </a:prstGeom>
        </p:spPr>
        <p:txBody>
          <a:bodyPr wrap="none">
            <a:spAutoFit/>
          </a:bodyPr>
          <a:lstStyle/>
          <a:p>
            <a:pPr algn="ctr" eaLnBrk="0" hangingPunct="0"/>
            <a:r>
              <a:rPr lang="fr-FR" altLang="zh-CN" sz="2800" b="1" dirty="0">
                <a:solidFill>
                  <a:schemeClr val="bg1"/>
                </a:solidFill>
                <a:latin typeface="微软雅黑" pitchFamily="34" charset="-122"/>
                <a:ea typeface="微软雅黑" pitchFamily="34" charset="-122"/>
              </a:rPr>
              <a:t>第 9 章</a:t>
            </a: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itchFamily="34" charset="-122"/>
                <a:ea typeface="微软雅黑" pitchFamily="34" charset="-122"/>
              </a:rPr>
              <a:t>谢希仁  编著</a:t>
            </a: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itchFamily="34" charset="-122"/>
                <a:ea typeface="微软雅黑" pitchFamily="34" charset="-122"/>
              </a:rPr>
              <a:t>计算机网络（第 8 版）</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05601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9"/>
          <p:cNvSpPr>
            <a:spLocks noChangeArrowheads="1"/>
          </p:cNvSpPr>
          <p:nvPr/>
        </p:nvSpPr>
        <p:spPr bwMode="auto">
          <a:xfrm>
            <a:off x="1736635" y="123343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4" name="Rectangle 10"/>
          <p:cNvSpPr>
            <a:spLocks noChangeArrowheads="1"/>
          </p:cNvSpPr>
          <p:nvPr/>
        </p:nvSpPr>
        <p:spPr bwMode="auto">
          <a:xfrm>
            <a:off x="1736635" y="1713557"/>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5" name="Rectangle 11"/>
          <p:cNvSpPr>
            <a:spLocks noChangeArrowheads="1"/>
          </p:cNvSpPr>
          <p:nvPr/>
        </p:nvSpPr>
        <p:spPr bwMode="auto">
          <a:xfrm>
            <a:off x="1736635" y="2203551"/>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6" name="Rectangle 12"/>
          <p:cNvSpPr>
            <a:spLocks noChangeArrowheads="1"/>
          </p:cNvSpPr>
          <p:nvPr/>
        </p:nvSpPr>
        <p:spPr bwMode="auto">
          <a:xfrm>
            <a:off x="1736635" y="2692045"/>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endParaRPr lang="fr-FR">
              <a:solidFill>
                <a:srgbClr val="FFFFFF"/>
              </a:solidFill>
              <a:latin typeface="宋体" charset="-122"/>
            </a:endParaRPr>
          </a:p>
        </p:txBody>
      </p:sp>
      <p:sp>
        <p:nvSpPr>
          <p:cNvPr id="7" name="Line 16"/>
          <p:cNvSpPr>
            <a:spLocks noChangeShapeType="1"/>
          </p:cNvSpPr>
          <p:nvPr/>
        </p:nvSpPr>
        <p:spPr bwMode="auto">
          <a:xfrm>
            <a:off x="2484345" y="1052264"/>
            <a:ext cx="0" cy="287203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 name="Rectangle 17"/>
          <p:cNvSpPr>
            <a:spLocks noChangeArrowheads="1"/>
          </p:cNvSpPr>
          <p:nvPr/>
        </p:nvSpPr>
        <p:spPr bwMode="auto">
          <a:xfrm>
            <a:off x="1768382" y="1075295"/>
            <a:ext cx="5661539" cy="2041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800"/>
              </a:lnSpc>
            </a:pPr>
            <a:r>
              <a:rPr lang="en-US" altLang="zh-CN" sz="2000" b="1" dirty="0">
                <a:solidFill>
                  <a:schemeClr val="bg1"/>
                </a:solidFill>
                <a:latin typeface="微软雅黑" pitchFamily="34" charset="-122"/>
                <a:ea typeface="微软雅黑" pitchFamily="34" charset="-122"/>
              </a:rPr>
              <a:t>9.1 			       </a:t>
            </a:r>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p>
          <a:p>
            <a:pPr>
              <a:lnSpc>
                <a:spcPts val="3800"/>
              </a:lnSpc>
            </a:pPr>
            <a:r>
              <a:rPr lang="en-US" altLang="zh-CN" sz="2000" b="1" dirty="0">
                <a:solidFill>
                  <a:schemeClr val="bg1"/>
                </a:solidFill>
                <a:latin typeface="微软雅黑" pitchFamily="34" charset="-122"/>
                <a:ea typeface="微软雅黑" pitchFamily="34" charset="-122"/>
              </a:rPr>
              <a:t>9.2  			</a:t>
            </a:r>
            <a:r>
              <a:rPr lang="zh-CN" altLang="en-US" sz="2000" b="1" dirty="0">
                <a:solidFill>
                  <a:schemeClr val="bg1"/>
                </a:solidFill>
                <a:latin typeface="微软雅黑" pitchFamily="34" charset="-122"/>
                <a:ea typeface="微软雅黑" pitchFamily="34" charset="-122"/>
              </a:rPr>
              <a:t>无线个人区域网 </a:t>
            </a:r>
            <a:r>
              <a:rPr lang="en-US" altLang="zh-CN" sz="2000" b="1" dirty="0">
                <a:solidFill>
                  <a:schemeClr val="bg1"/>
                </a:solidFill>
                <a:latin typeface="微软雅黑" pitchFamily="34" charset="-122"/>
                <a:ea typeface="微软雅黑" pitchFamily="34" charset="-122"/>
              </a:rPr>
              <a:t>WPAN</a:t>
            </a:r>
          </a:p>
          <a:p>
            <a:pPr>
              <a:lnSpc>
                <a:spcPts val="3800"/>
              </a:lnSpc>
            </a:pPr>
            <a:r>
              <a:rPr lang="en-US" altLang="zh-CN" sz="2000" b="1" dirty="0">
                <a:solidFill>
                  <a:schemeClr val="bg1"/>
                </a:solidFill>
                <a:latin typeface="微软雅黑" pitchFamily="34" charset="-122"/>
                <a:ea typeface="微软雅黑" pitchFamily="34" charset="-122"/>
              </a:rPr>
              <a:t>9.4  			            </a:t>
            </a:r>
            <a:r>
              <a:rPr lang="zh-CN" altLang="en-US" sz="2000" b="1" dirty="0">
                <a:solidFill>
                  <a:schemeClr val="bg1"/>
                </a:solidFill>
                <a:latin typeface="微软雅黑" pitchFamily="34" charset="-122"/>
                <a:ea typeface="微软雅黑" pitchFamily="34" charset="-122"/>
              </a:rPr>
              <a:t>蜂窝移动通信网</a:t>
            </a:r>
            <a:endParaRPr lang="en-US" altLang="zh-CN" sz="2000" b="1" dirty="0">
              <a:solidFill>
                <a:schemeClr val="bg1"/>
              </a:solidFill>
              <a:latin typeface="微软雅黑" pitchFamily="34" charset="-122"/>
              <a:ea typeface="微软雅黑" pitchFamily="34" charset="-122"/>
            </a:endParaRPr>
          </a:p>
          <a:p>
            <a:pPr>
              <a:lnSpc>
                <a:spcPts val="3800"/>
              </a:lnSpc>
            </a:pPr>
            <a:r>
              <a:rPr lang="en-US" altLang="zh-CN" sz="2000" b="1" dirty="0">
                <a:solidFill>
                  <a:schemeClr val="bg1"/>
                </a:solidFill>
                <a:latin typeface="微软雅黑" pitchFamily="34" charset="-122"/>
                <a:ea typeface="微软雅黑" pitchFamily="34" charset="-122"/>
              </a:rPr>
              <a:t>9.4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521699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7"/>
          <p:cNvSpPr>
            <a:spLocks noChangeArrowheads="1"/>
          </p:cNvSpPr>
          <p:nvPr/>
        </p:nvSpPr>
        <p:spPr bwMode="auto">
          <a:xfrm>
            <a:off x="639730" y="119867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6" name="Rectangle 29"/>
          <p:cNvSpPr>
            <a:spLocks noChangeArrowheads="1"/>
          </p:cNvSpPr>
          <p:nvPr/>
        </p:nvSpPr>
        <p:spPr bwMode="auto">
          <a:xfrm>
            <a:off x="648619" y="129360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9.1</a:t>
            </a:r>
          </a:p>
          <a:p>
            <a:pPr eaLnBrk="0" hangingPunct="0"/>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endParaRPr lang="zh-CN" altLang="fr-FR" sz="2000" b="1" dirty="0">
              <a:solidFill>
                <a:schemeClr val="bg1"/>
              </a:solidFill>
              <a:latin typeface="微软雅黑" pitchFamily="34" charset="-122"/>
              <a:ea typeface="微软雅黑" pitchFamily="34" charset="-122"/>
            </a:endParaRPr>
          </a:p>
        </p:txBody>
      </p:sp>
      <p:sp>
        <p:nvSpPr>
          <p:cNvPr id="12" name="Rectangle 10"/>
          <p:cNvSpPr>
            <a:spLocks noChangeArrowheads="1"/>
          </p:cNvSpPr>
          <p:nvPr/>
        </p:nvSpPr>
        <p:spPr bwMode="auto">
          <a:xfrm>
            <a:off x="2629135" y="303380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9"/>
          <p:cNvSpPr>
            <a:spLocks noChangeArrowheads="1"/>
          </p:cNvSpPr>
          <p:nvPr/>
        </p:nvSpPr>
        <p:spPr bwMode="auto">
          <a:xfrm>
            <a:off x="2629135" y="240897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9"/>
          <p:cNvSpPr>
            <a:spLocks noChangeArrowheads="1"/>
          </p:cNvSpPr>
          <p:nvPr/>
        </p:nvSpPr>
        <p:spPr bwMode="auto">
          <a:xfrm>
            <a:off x="2629135" y="119867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10"/>
          <p:cNvSpPr>
            <a:spLocks noChangeArrowheads="1"/>
          </p:cNvSpPr>
          <p:nvPr/>
        </p:nvSpPr>
        <p:spPr bwMode="auto">
          <a:xfrm>
            <a:off x="2629135" y="180509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6" name="Line 16"/>
          <p:cNvSpPr>
            <a:spLocks noChangeShapeType="1"/>
          </p:cNvSpPr>
          <p:nvPr/>
        </p:nvSpPr>
        <p:spPr bwMode="auto">
          <a:xfrm>
            <a:off x="3637198" y="1127232"/>
            <a:ext cx="0" cy="2371983"/>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944670"/>
            <a:ext cx="5611577"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9.1.1  			        </a:t>
            </a:r>
            <a:r>
              <a:rPr lang="zh-CN" altLang="en-US" sz="2000" b="1" dirty="0">
                <a:solidFill>
                  <a:schemeClr val="bg1"/>
                </a:solidFill>
                <a:latin typeface="微软雅黑" pitchFamily="34" charset="-122"/>
                <a:ea typeface="微软雅黑" pitchFamily="34" charset="-122"/>
              </a:rPr>
              <a:t>无线局域网的组成</a:t>
            </a:r>
          </a:p>
          <a:p>
            <a:pPr eaLnBrk="0" hangingPunct="0">
              <a:lnSpc>
                <a:spcPct val="200000"/>
              </a:lnSpc>
            </a:pPr>
            <a:r>
              <a:rPr lang="en-US" altLang="zh-CN" sz="2000" b="1" dirty="0">
                <a:solidFill>
                  <a:schemeClr val="bg1"/>
                </a:solidFill>
                <a:latin typeface="微软雅黑" pitchFamily="34" charset="-122"/>
                <a:ea typeface="微软雅黑" pitchFamily="34" charset="-122"/>
              </a:rPr>
              <a:t>9.1.2  		           802.11 </a:t>
            </a:r>
            <a:r>
              <a:rPr lang="zh-CN" altLang="en-US" sz="2000" b="1" dirty="0">
                <a:solidFill>
                  <a:schemeClr val="bg1"/>
                </a:solidFill>
                <a:latin typeface="微软雅黑" pitchFamily="34" charset="-122"/>
                <a:ea typeface="微软雅黑" pitchFamily="34" charset="-122"/>
              </a:rPr>
              <a:t>局域网的物理层</a:t>
            </a:r>
          </a:p>
          <a:p>
            <a:pPr eaLnBrk="0" hangingPunct="0">
              <a:lnSpc>
                <a:spcPct val="200000"/>
              </a:lnSpc>
            </a:pPr>
            <a:r>
              <a:rPr lang="en-US" altLang="zh-CN" sz="2000" b="1" dirty="0">
                <a:solidFill>
                  <a:schemeClr val="bg1"/>
                </a:solidFill>
                <a:latin typeface="微软雅黑" pitchFamily="34" charset="-122"/>
                <a:ea typeface="微软雅黑" pitchFamily="34" charset="-122"/>
              </a:rPr>
              <a:t>9.1.3 		 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层协议</a:t>
            </a:r>
          </a:p>
          <a:p>
            <a:pPr eaLnBrk="0" hangingPunct="0">
              <a:lnSpc>
                <a:spcPct val="200000"/>
              </a:lnSpc>
            </a:pPr>
            <a:r>
              <a:rPr lang="en-US" altLang="zh-CN" sz="2000" b="1" dirty="0">
                <a:solidFill>
                  <a:schemeClr val="bg1"/>
                </a:solidFill>
                <a:latin typeface="微软雅黑" pitchFamily="34" charset="-122"/>
                <a:ea typeface="微软雅黑" pitchFamily="34" charset="-122"/>
              </a:rPr>
              <a:t>9.1.4 		        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帧</a:t>
            </a:r>
          </a:p>
        </p:txBody>
      </p:sp>
    </p:spTree>
    <p:extLst>
      <p:ext uri="{BB962C8B-B14F-4D97-AF65-F5344CB8AC3E}">
        <p14:creationId xmlns:p14="http://schemas.microsoft.com/office/powerpoint/2010/main" val="14007001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
        <p:nvSpPr>
          <p:cNvPr id="10" name="Rectangle 46"/>
          <p:cNvSpPr>
            <a:spLocks noChangeArrowheads="1"/>
          </p:cNvSpPr>
          <p:nvPr/>
        </p:nvSpPr>
        <p:spPr bwMode="auto">
          <a:xfrm>
            <a:off x="511896" y="1034104"/>
            <a:ext cx="8129016"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solidFill>
                  <a:srgbClr val="C00000"/>
                </a:solidFill>
                <a:highlight>
                  <a:srgbClr val="FFFF00"/>
                </a:highlight>
                <a:latin typeface="微软雅黑" pitchFamily="34" charset="-122"/>
                <a:ea typeface="微软雅黑" pitchFamily="34" charset="-122"/>
              </a:rPr>
              <a:t>无线局域网 </a:t>
            </a:r>
            <a:r>
              <a:rPr lang="en-US" altLang="zh-CN" sz="2000" b="1" dirty="0">
                <a:solidFill>
                  <a:srgbClr val="C00000"/>
                </a:solidFill>
                <a:highlight>
                  <a:srgbClr val="FFFF00"/>
                </a:highlight>
                <a:latin typeface="微软雅黑" pitchFamily="34" charset="-122"/>
                <a:ea typeface="微软雅黑" pitchFamily="34" charset="-122"/>
              </a:rPr>
              <a:t>WLAN </a:t>
            </a:r>
            <a:r>
              <a:rPr lang="en-US" altLang="zh-CN" sz="2000" b="1" dirty="0">
                <a:latin typeface="微软雅黑" pitchFamily="34" charset="-122"/>
                <a:ea typeface="微软雅黑" pitchFamily="34" charset="-122"/>
              </a:rPr>
              <a:t>(Wireless Local Area Network) </a:t>
            </a:r>
            <a:r>
              <a:rPr lang="zh-CN" altLang="en-US" sz="2000" b="1" dirty="0">
                <a:latin typeface="微软雅黑" pitchFamily="34" charset="-122"/>
                <a:ea typeface="微软雅黑" pitchFamily="34" charset="-122"/>
              </a:rPr>
              <a:t>：采用无线通信技术的局域网。</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特点：</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提供了移动接入的功能</a:t>
            </a:r>
            <a:endParaRPr lang="en-US" altLang="zh-CN"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节省投资，建网速度较快</a:t>
            </a:r>
            <a:endParaRPr lang="en-US" altLang="zh-CN"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支持便携设备联网</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由于手机普及率日益增高，通过无线局域网接入到互联网已成为当今上网的最常用的方式。</a:t>
            </a:r>
          </a:p>
        </p:txBody>
      </p:sp>
    </p:spTree>
    <p:extLst>
      <p:ext uri="{BB962C8B-B14F-4D97-AF65-F5344CB8AC3E}">
        <p14:creationId xmlns:p14="http://schemas.microsoft.com/office/powerpoint/2010/main" val="2616902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46069"/>
            <a:ext cx="8129016" cy="12818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便携站和移动站表示的意思并不一样。</a:t>
            </a:r>
          </a:p>
          <a:p>
            <a:pPr marL="342900" indent="-342900" eaLnBrk="0" hangingPunct="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便携站</a:t>
            </a:r>
            <a:r>
              <a:rPr lang="zh-CN" altLang="en-US" sz="2000" b="1" dirty="0">
                <a:latin typeface="微软雅黑" pitchFamily="34" charset="-122"/>
                <a:ea typeface="微软雅黑" pitchFamily="34" charset="-122"/>
              </a:rPr>
              <a:t>：便于移动，但在工作时，其位置是固定不变的。</a:t>
            </a:r>
          </a:p>
          <a:p>
            <a:pPr marL="342900" indent="-342900" eaLnBrk="0" hangingPunct="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移动站</a:t>
            </a:r>
            <a:r>
              <a:rPr lang="zh-CN" altLang="en-US" sz="2000" b="1" dirty="0">
                <a:latin typeface="微软雅黑" pitchFamily="34" charset="-122"/>
                <a:ea typeface="微软雅黑" pitchFamily="34" charset="-122"/>
              </a:rPr>
              <a:t>：不仅能够移动，还可以在移动的过程中进行通信。</a:t>
            </a: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Tree>
    <p:extLst>
      <p:ext uri="{BB962C8B-B14F-4D97-AF65-F5344CB8AC3E}">
        <p14:creationId xmlns:p14="http://schemas.microsoft.com/office/powerpoint/2010/main" val="36291605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34658"/>
            <a:ext cx="8420564"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可分为</a:t>
            </a:r>
            <a:r>
              <a:rPr lang="zh-CN" altLang="en-US" sz="2000" b="1" dirty="0">
                <a:solidFill>
                  <a:srgbClr val="0000FF"/>
                </a:solidFill>
                <a:latin typeface="微软雅黑" pitchFamily="34" charset="-122"/>
                <a:ea typeface="微软雅黑" pitchFamily="34" charset="-122"/>
              </a:rPr>
              <a:t>两大类：</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有固定基础设施的 </a:t>
            </a:r>
            <a:r>
              <a:rPr lang="en-US" altLang="zh-CN" sz="2000" b="1" dirty="0">
                <a:latin typeface="微软雅黑" pitchFamily="34" charset="-122"/>
                <a:ea typeface="微软雅黑" pitchFamily="34" charset="-122"/>
              </a:rPr>
              <a:t>WLAN</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无固定基础设施的 </a:t>
            </a:r>
            <a:r>
              <a:rPr lang="en-US" altLang="zh-CN" sz="2000" b="1" dirty="0">
                <a:latin typeface="微软雅黑" pitchFamily="34" charset="-122"/>
                <a:ea typeface="微软雅黑" pitchFamily="34" charset="-122"/>
              </a:rPr>
              <a:t>WLAN</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所谓“</a:t>
            </a:r>
            <a:r>
              <a:rPr lang="zh-CN" altLang="en-US" sz="2000" b="1" dirty="0">
                <a:solidFill>
                  <a:srgbClr val="C00000"/>
                </a:solidFill>
                <a:latin typeface="微软雅黑" pitchFamily="34" charset="-122"/>
                <a:ea typeface="微软雅黑" pitchFamily="34" charset="-122"/>
              </a:rPr>
              <a:t>固定基础设施</a:t>
            </a:r>
            <a:r>
              <a:rPr lang="zh-CN" altLang="en-US" sz="2000" b="1" dirty="0">
                <a:latin typeface="微软雅黑" pitchFamily="34" charset="-122"/>
                <a:ea typeface="微软雅黑" pitchFamily="34" charset="-122"/>
              </a:rPr>
              <a:t>”是指预先建立起来的、能够覆盖一定地理范围 的一批</a:t>
            </a:r>
            <a:r>
              <a:rPr lang="zh-CN" altLang="en-US" sz="2000" b="1" dirty="0">
                <a:solidFill>
                  <a:srgbClr val="C00000"/>
                </a:solidFill>
                <a:latin typeface="微软雅黑" pitchFamily="34" charset="-122"/>
                <a:ea typeface="微软雅黑" pitchFamily="34" charset="-122"/>
              </a:rPr>
              <a:t>固定基站。</a:t>
            </a: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Tree>
    <p:extLst>
      <p:ext uri="{BB962C8B-B14F-4D97-AF65-F5344CB8AC3E}">
        <p14:creationId xmlns:p14="http://schemas.microsoft.com/office/powerpoint/2010/main" val="22498668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09475" y="962940"/>
            <a:ext cx="8129015"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IEEE 802.11 </a:t>
            </a:r>
            <a:r>
              <a:rPr lang="zh-CN" altLang="en-US" sz="2000" b="1" dirty="0">
                <a:latin typeface="微软雅黑" pitchFamily="34" charset="-122"/>
                <a:ea typeface="微软雅黑" pitchFamily="34" charset="-122"/>
              </a:rPr>
              <a:t>是一个有</a:t>
            </a:r>
            <a:r>
              <a:rPr lang="zh-CN" altLang="en-US" sz="2000" b="1" dirty="0">
                <a:solidFill>
                  <a:srgbClr val="C00000"/>
                </a:solidFill>
                <a:latin typeface="微软雅黑" pitchFamily="34" charset="-122"/>
                <a:ea typeface="微软雅黑" pitchFamily="34" charset="-122"/>
              </a:rPr>
              <a:t>固定基础设施</a:t>
            </a:r>
            <a:r>
              <a:rPr lang="zh-CN" altLang="en-US" sz="2000" b="1" dirty="0">
                <a:latin typeface="微软雅黑" pitchFamily="34" charset="-122"/>
                <a:ea typeface="微软雅黑" pitchFamily="34" charset="-122"/>
              </a:rPr>
              <a:t>的无线局域网的国际标准。</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使用星形拓扑，中心叫做</a:t>
            </a:r>
            <a:r>
              <a:rPr lang="zh-CN" altLang="en-US" sz="2000" b="1" dirty="0">
                <a:solidFill>
                  <a:srgbClr val="0000FF"/>
                </a:solidFill>
                <a:latin typeface="微软雅黑" pitchFamily="34" charset="-122"/>
                <a:ea typeface="微软雅黑" pitchFamily="34" charset="-122"/>
              </a:rPr>
              <a:t>接入点 </a:t>
            </a:r>
            <a:r>
              <a:rPr lang="en-US" altLang="zh-CN" sz="2000" b="1" dirty="0">
                <a:solidFill>
                  <a:srgbClr val="0000FF"/>
                </a:solidFill>
                <a:latin typeface="微软雅黑" pitchFamily="34" charset="-122"/>
                <a:ea typeface="微软雅黑" pitchFamily="34" charset="-122"/>
              </a:rPr>
              <a:t>AP </a:t>
            </a:r>
            <a:r>
              <a:rPr lang="en-US" altLang="zh-CN" sz="2000" b="1" dirty="0">
                <a:latin typeface="微软雅黑" pitchFamily="34" charset="-122"/>
                <a:ea typeface="微软雅黑" pitchFamily="34" charset="-122"/>
              </a:rPr>
              <a:t>(Access Point)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a:latin typeface="微软雅黑" pitchFamily="34" charset="-122"/>
                <a:ea typeface="微软雅黑" pitchFamily="34" charset="-122"/>
              </a:rPr>
              <a:t>AP </a:t>
            </a:r>
            <a:r>
              <a:rPr lang="zh-CN" altLang="en-US" b="1" dirty="0">
                <a:latin typeface="微软雅黑" pitchFamily="34" charset="-122"/>
                <a:ea typeface="微软雅黑" pitchFamily="34" charset="-122"/>
              </a:rPr>
              <a:t>是无线局域网的</a:t>
            </a:r>
            <a:r>
              <a:rPr lang="zh-CN" altLang="en-US" b="1" dirty="0">
                <a:solidFill>
                  <a:srgbClr val="C00000"/>
                </a:solidFill>
                <a:latin typeface="微软雅黑" pitchFamily="34" charset="-122"/>
                <a:ea typeface="微软雅黑" pitchFamily="34" charset="-122"/>
              </a:rPr>
              <a:t>基础设施，</a:t>
            </a:r>
            <a:r>
              <a:rPr lang="zh-CN" altLang="en-US" b="1" dirty="0">
                <a:latin typeface="微软雅黑" pitchFamily="34" charset="-122"/>
                <a:ea typeface="微软雅黑" pitchFamily="34" charset="-122"/>
              </a:rPr>
              <a:t>也是一个</a:t>
            </a:r>
            <a:r>
              <a:rPr lang="zh-CN" altLang="en-US" b="1" dirty="0">
                <a:solidFill>
                  <a:srgbClr val="C00000"/>
                </a:solidFill>
                <a:latin typeface="微软雅黑" pitchFamily="34" charset="-122"/>
                <a:ea typeface="微软雅黑" pitchFamily="34" charset="-122"/>
              </a:rPr>
              <a:t>链路层</a:t>
            </a:r>
            <a:r>
              <a:rPr lang="zh-CN" altLang="en-US" b="1" dirty="0">
                <a:latin typeface="微软雅黑" pitchFamily="34" charset="-122"/>
                <a:ea typeface="微软雅黑" pitchFamily="34" charset="-122"/>
              </a:rPr>
              <a:t>的设备。</a:t>
            </a:r>
            <a:endParaRPr lang="en-US" altLang="zh-CN"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a:latin typeface="微软雅黑" pitchFamily="34" charset="-122"/>
                <a:ea typeface="微软雅黑" pitchFamily="34" charset="-122"/>
              </a:rPr>
              <a:t>AP </a:t>
            </a:r>
            <a:r>
              <a:rPr lang="zh-CN" altLang="en-US" b="1" dirty="0">
                <a:latin typeface="微软雅黑" pitchFamily="34" charset="-122"/>
                <a:ea typeface="微软雅黑" pitchFamily="34" charset="-122"/>
              </a:rPr>
              <a:t>也叫做</a:t>
            </a:r>
            <a:r>
              <a:rPr lang="zh-CN" altLang="en-US" b="1" dirty="0">
                <a:solidFill>
                  <a:srgbClr val="C00000"/>
                </a:solidFill>
                <a:latin typeface="微软雅黑" pitchFamily="34" charset="-122"/>
                <a:ea typeface="微软雅黑" pitchFamily="34" charset="-122"/>
              </a:rPr>
              <a:t>无线接入点 </a:t>
            </a:r>
            <a:r>
              <a:rPr lang="en-US" altLang="zh-CN" b="1" dirty="0">
                <a:solidFill>
                  <a:srgbClr val="C00000"/>
                </a:solidFill>
                <a:latin typeface="微软雅黑" pitchFamily="34" charset="-122"/>
                <a:ea typeface="微软雅黑" pitchFamily="34" charset="-122"/>
              </a:rPr>
              <a:t>WAP </a:t>
            </a:r>
            <a:r>
              <a:rPr lang="en-US" altLang="zh-CN" b="1" dirty="0">
                <a:latin typeface="微软雅黑" pitchFamily="34" charset="-122"/>
                <a:ea typeface="微软雅黑" pitchFamily="34" charset="-122"/>
              </a:rPr>
              <a:t>(Wireless Access Point)</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zh-CN" altLang="en-US" b="1" dirty="0">
                <a:latin typeface="微软雅黑" pitchFamily="34" charset="-122"/>
                <a:ea typeface="微软雅黑" pitchFamily="34" charset="-122"/>
              </a:rPr>
              <a:t>无线局域网中的站点对网内或网外的通信</a:t>
            </a:r>
            <a:r>
              <a:rPr lang="zh-CN" altLang="en-US" b="1" dirty="0">
                <a:solidFill>
                  <a:srgbClr val="C00000"/>
                </a:solidFill>
                <a:latin typeface="微软雅黑" pitchFamily="34" charset="-122"/>
                <a:ea typeface="微软雅黑" pitchFamily="34" charset="-122"/>
              </a:rPr>
              <a:t>都必须通过 </a:t>
            </a:r>
            <a:r>
              <a:rPr lang="en-US" altLang="zh-CN" b="1" dirty="0">
                <a:solidFill>
                  <a:srgbClr val="C00000"/>
                </a:solidFill>
                <a:latin typeface="微软雅黑" pitchFamily="34" charset="-122"/>
                <a:ea typeface="微软雅黑" pitchFamily="34" charset="-122"/>
              </a:rPr>
              <a:t>AP</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684000" indent="-342900" eaLnBrk="0" hangingPunct="0">
              <a:lnSpc>
                <a:spcPts val="3200"/>
              </a:lnSpc>
              <a:buClr>
                <a:srgbClr val="7030A0"/>
              </a:buClr>
              <a:buFont typeface="+mj-lt"/>
              <a:buAutoNum type="arabicPeriod"/>
            </a:pPr>
            <a:r>
              <a:rPr lang="zh-CN" altLang="en-US" sz="2000" b="1" dirty="0">
                <a:highlight>
                  <a:srgbClr val="FFFF00"/>
                </a:highlight>
                <a:latin typeface="微软雅黑" pitchFamily="34" charset="-122"/>
                <a:ea typeface="微软雅黑" pitchFamily="34" charset="-122"/>
              </a:rPr>
              <a:t>在 </a:t>
            </a:r>
            <a:r>
              <a:rPr lang="en-US" altLang="zh-CN" sz="2000" b="1" dirty="0">
                <a:highlight>
                  <a:srgbClr val="FFFF00"/>
                </a:highlight>
                <a:latin typeface="微软雅黑" pitchFamily="34" charset="-122"/>
                <a:ea typeface="微软雅黑" pitchFamily="34" charset="-122"/>
              </a:rPr>
              <a:t>MAC </a:t>
            </a:r>
            <a:r>
              <a:rPr lang="zh-CN" altLang="en-US" sz="2000" b="1" dirty="0">
                <a:highlight>
                  <a:srgbClr val="FFFF00"/>
                </a:highlight>
                <a:latin typeface="微软雅黑" pitchFamily="34" charset="-122"/>
                <a:ea typeface="微软雅黑" pitchFamily="34" charset="-122"/>
              </a:rPr>
              <a:t>层使用 </a:t>
            </a:r>
            <a:r>
              <a:rPr lang="en-US" altLang="zh-CN" sz="2000" b="1" dirty="0">
                <a:solidFill>
                  <a:srgbClr val="0000FF"/>
                </a:solidFill>
                <a:highlight>
                  <a:srgbClr val="FFFF00"/>
                </a:highlight>
                <a:latin typeface="微软雅黑" pitchFamily="34" charset="-122"/>
                <a:ea typeface="微软雅黑" pitchFamily="34" charset="-122"/>
              </a:rPr>
              <a:t>CSMA/CA </a:t>
            </a:r>
            <a:r>
              <a:rPr lang="zh-CN" altLang="en-US" sz="2000" b="1" dirty="0">
                <a:highlight>
                  <a:srgbClr val="FFFF00"/>
                </a:highlight>
                <a:latin typeface="微软雅黑" pitchFamily="34" charset="-122"/>
                <a:ea typeface="微软雅黑" pitchFamily="34" charset="-122"/>
              </a:rPr>
              <a:t>协议</a:t>
            </a:r>
          </a:p>
          <a:p>
            <a:pPr marL="342900" indent="-342900" eaLnBrk="0" hangingPunct="0">
              <a:lnSpc>
                <a:spcPts val="3200"/>
              </a:lnSpc>
              <a:buClr>
                <a:srgbClr val="0070C0"/>
              </a:buClr>
              <a:buFont typeface="Wingdings" pitchFamily="2" charset="2"/>
              <a:buChar char="l"/>
            </a:pPr>
            <a:r>
              <a:rPr lang="zh-CN" altLang="en-US" sz="2000" b="1" dirty="0">
                <a:highlight>
                  <a:srgbClr val="FFFF00"/>
                </a:highlight>
                <a:latin typeface="微软雅黑" pitchFamily="34" charset="-122"/>
                <a:ea typeface="微软雅黑" pitchFamily="34" charset="-122"/>
              </a:rPr>
              <a:t>凡使用 </a:t>
            </a:r>
            <a:r>
              <a:rPr lang="en-US" altLang="zh-CN" sz="2000" b="1" dirty="0">
                <a:highlight>
                  <a:srgbClr val="FFFF00"/>
                </a:highlight>
                <a:latin typeface="微软雅黑" pitchFamily="34" charset="-122"/>
                <a:ea typeface="微软雅黑" pitchFamily="34" charset="-122"/>
              </a:rPr>
              <a:t>802.11 </a:t>
            </a:r>
            <a:r>
              <a:rPr lang="zh-CN" altLang="en-US" sz="2000" b="1" dirty="0">
                <a:highlight>
                  <a:srgbClr val="FFFF00"/>
                </a:highlight>
                <a:latin typeface="微软雅黑" pitchFamily="34" charset="-122"/>
                <a:ea typeface="微软雅黑" pitchFamily="34" charset="-122"/>
              </a:rPr>
              <a:t>系列协议的局域网又称为 </a:t>
            </a:r>
            <a:r>
              <a:rPr lang="en-US" altLang="zh-CN" sz="2000" b="1" dirty="0">
                <a:solidFill>
                  <a:srgbClr val="0000FF"/>
                </a:solidFill>
                <a:highlight>
                  <a:srgbClr val="FFFF00"/>
                </a:highlight>
                <a:latin typeface="微软雅黑" pitchFamily="34" charset="-122"/>
                <a:ea typeface="微软雅黑" pitchFamily="34" charset="-122"/>
              </a:rPr>
              <a:t>Wi-Fi </a:t>
            </a:r>
            <a:r>
              <a:rPr lang="zh-CN" altLang="en-US" sz="2000" b="1" dirty="0">
                <a:latin typeface="微软雅黑" pitchFamily="34" charset="-122"/>
                <a:ea typeface="微软雅黑" pitchFamily="34" charset="-122"/>
              </a:rPr>
              <a:t>。</a:t>
            </a:r>
          </a:p>
        </p:txBody>
      </p:sp>
      <p:sp>
        <p:nvSpPr>
          <p:cNvPr id="7"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rgbClr val="FF0000"/>
                </a:solidFill>
                <a:highlight>
                  <a:srgbClr val="FFFF00"/>
                </a:highlight>
                <a:latin typeface="微软雅黑" pitchFamily="34" charset="-122"/>
                <a:ea typeface="微软雅黑" pitchFamily="34" charset="-122"/>
              </a:rPr>
              <a:t>1. IEEE </a:t>
            </a:r>
            <a:r>
              <a:rPr lang="en-US" altLang="zh-CN" sz="2000" b="1" dirty="0">
                <a:solidFill>
                  <a:srgbClr val="FF0000"/>
                </a:solidFill>
                <a:highlight>
                  <a:srgbClr val="800080"/>
                </a:highlight>
                <a:latin typeface="微软雅黑" pitchFamily="34" charset="-122"/>
                <a:ea typeface="微软雅黑" pitchFamily="34" charset="-122"/>
              </a:rPr>
              <a:t>802.11</a:t>
            </a:r>
            <a:endParaRPr lang="fr-FR" altLang="zh-CN" sz="2000" b="1" dirty="0">
              <a:solidFill>
                <a:srgbClr val="FF0000"/>
              </a:solidFill>
              <a:highlight>
                <a:srgbClr val="800080"/>
              </a:highlight>
              <a:latin typeface="微软雅黑" pitchFamily="34" charset="-122"/>
              <a:ea typeface="微软雅黑" pitchFamily="34" charset="-122"/>
            </a:endParaRPr>
          </a:p>
        </p:txBody>
      </p:sp>
    </p:spTree>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54860" y="1086004"/>
            <a:ext cx="5231253" cy="338554"/>
          </a:xfrm>
          <a:prstGeom prst="rect">
            <a:avLst/>
          </a:prstGeom>
          <a:noFill/>
          <a:ln>
            <a:noFill/>
          </a:ln>
        </p:spPr>
        <p:txBody>
          <a:bodyPr wrap="square">
            <a:spAutoFit/>
          </a:bodyPr>
          <a:lstStyle/>
          <a:p>
            <a:pPr algn="ctr"/>
            <a:r>
              <a:rPr lang="en-US" altLang="zh-CN" sz="1600" b="1" dirty="0">
                <a:solidFill>
                  <a:srgbClr val="0000FF"/>
                </a:solidFill>
                <a:latin typeface="微软雅黑" pitchFamily="34" charset="-122"/>
                <a:ea typeface="微软雅黑" pitchFamily="34" charset="-122"/>
              </a:rPr>
              <a:t>IEEE 802.11 </a:t>
            </a:r>
            <a:r>
              <a:rPr lang="zh-CN" altLang="en-US" sz="1600" b="1" dirty="0">
                <a:solidFill>
                  <a:srgbClr val="0000FF"/>
                </a:solidFill>
                <a:latin typeface="微软雅黑" pitchFamily="34" charset="-122"/>
                <a:ea typeface="微软雅黑" pitchFamily="34" charset="-122"/>
              </a:rPr>
              <a:t>的</a:t>
            </a:r>
            <a:r>
              <a:rPr lang="zh-CN" altLang="en-US" sz="1600" b="1" dirty="0">
                <a:solidFill>
                  <a:srgbClr val="C00000"/>
                </a:solidFill>
                <a:latin typeface="微软雅黑" pitchFamily="34" charset="-122"/>
                <a:ea typeface="微软雅黑" pitchFamily="34" charset="-122"/>
              </a:rPr>
              <a:t>基本服务集 </a:t>
            </a:r>
            <a:r>
              <a:rPr lang="en-US" altLang="zh-CN" sz="1600" b="1" dirty="0">
                <a:solidFill>
                  <a:srgbClr val="C00000"/>
                </a:solidFill>
                <a:latin typeface="微软雅黑" pitchFamily="34" charset="-122"/>
                <a:ea typeface="微软雅黑" pitchFamily="34" charset="-122"/>
              </a:rPr>
              <a:t>BSS </a:t>
            </a:r>
            <a:r>
              <a:rPr lang="zh-CN" altLang="en-US" sz="1600" b="1" dirty="0">
                <a:solidFill>
                  <a:srgbClr val="0000FF"/>
                </a:solidFill>
                <a:latin typeface="微软雅黑" pitchFamily="34" charset="-122"/>
                <a:ea typeface="微软雅黑" pitchFamily="34" charset="-122"/>
              </a:rPr>
              <a:t>和</a:t>
            </a:r>
            <a:r>
              <a:rPr lang="zh-CN" altLang="en-US" sz="1600" b="1" dirty="0">
                <a:solidFill>
                  <a:srgbClr val="C00000"/>
                </a:solidFill>
                <a:latin typeface="微软雅黑" pitchFamily="34" charset="-122"/>
                <a:ea typeface="微软雅黑" pitchFamily="34" charset="-122"/>
              </a:rPr>
              <a:t>扩展服务集 </a:t>
            </a:r>
            <a:r>
              <a:rPr lang="en-US" altLang="zh-CN" sz="1600" b="1" dirty="0">
                <a:solidFill>
                  <a:srgbClr val="C00000"/>
                </a:solidFill>
                <a:latin typeface="微软雅黑" pitchFamily="34" charset="-122"/>
                <a:ea typeface="微软雅黑" pitchFamily="34" charset="-122"/>
              </a:rPr>
              <a:t>ESS</a:t>
            </a: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9525">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41732141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677947"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基本服务集 </a:t>
            </a:r>
            <a:r>
              <a:rPr lang="en-US" altLang="zh-CN" sz="1400" b="1" dirty="0">
                <a:solidFill>
                  <a:srgbClr val="0000CC"/>
                </a:solidFill>
                <a:latin typeface="微软雅黑" pitchFamily="34" charset="-122"/>
                <a:ea typeface="微软雅黑" pitchFamily="34" charset="-122"/>
              </a:rPr>
              <a:t>BSS (Basic Service Set )</a:t>
            </a:r>
            <a:r>
              <a:rPr lang="zh-CN" altLang="en-US" sz="1400" b="1" dirty="0">
                <a:solidFill>
                  <a:srgbClr val="0000CC"/>
                </a:solidFill>
                <a:latin typeface="微软雅黑" pitchFamily="34" charset="-122"/>
                <a:ea typeface="微软雅黑" pitchFamily="34" charset="-122"/>
              </a:rPr>
              <a:t>是无线局域网的</a:t>
            </a:r>
            <a:r>
              <a:rPr lang="zh-CN" altLang="en-US" sz="1400" b="1" dirty="0">
                <a:solidFill>
                  <a:srgbClr val="C00000"/>
                </a:solidFill>
                <a:latin typeface="微软雅黑" pitchFamily="34" charset="-122"/>
                <a:ea typeface="微软雅黑" pitchFamily="34" charset="-122"/>
              </a:rPr>
              <a:t>最小构件。</a:t>
            </a:r>
            <a:endParaRPr lang="en-US" altLang="zh-CN" sz="1400" b="1" dirty="0">
              <a:solidFill>
                <a:srgbClr val="C00000"/>
              </a:solidFill>
              <a:latin typeface="微软雅黑" pitchFamily="34" charset="-122"/>
              <a:ea typeface="微软雅黑" pitchFamily="34" charset="-122"/>
            </a:endParaRPr>
          </a:p>
          <a:p>
            <a:pPr algn="ctr"/>
            <a:r>
              <a:rPr lang="zh-CN" altLang="en-US" sz="1400" b="1" dirty="0">
                <a:solidFill>
                  <a:srgbClr val="0000CC"/>
                </a:solidFill>
                <a:latin typeface="微软雅黑" pitchFamily="34" charset="-122"/>
                <a:ea typeface="微软雅黑" pitchFamily="34" charset="-122"/>
              </a:rPr>
              <a:t>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包括一个接入点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和若干个移动站。</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459325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6"/>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392"/>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405"/>
                                        </p:tgtEl>
                                        <p:attrNameLst>
                                          <p:attrName>style.visibility</p:attrName>
                                        </p:attrNameLst>
                                      </p:cBhvr>
                                      <p:tavLst>
                                        <p:tav tm="0">
                                          <p:val>
                                            <p:strVal val="hidden"/>
                                          </p:val>
                                        </p:tav>
                                        <p:tav tm="50000">
                                          <p:val>
                                            <p:strVal val="visible"/>
                                          </p:val>
                                        </p:tav>
                                      </p:tavLst>
                                    </p:anim>
                                  </p:childTnLst>
                                </p:cTn>
                              </p:par>
                            </p:childTnLst>
                          </p:cTn>
                        </p:par>
                        <p:par>
                          <p:cTn id="13" fill="hold">
                            <p:stCondLst>
                              <p:cond delay="3000"/>
                            </p:stCondLst>
                            <p:childTnLst>
                              <p:par>
                                <p:cTn id="14" presetID="35" presetClass="emph" presetSubtype="0" repeatCount="3000" fill="hold" grpId="0" nodeType="afterEffect">
                                  <p:stCondLst>
                                    <p:cond delay="0"/>
                                  </p:stCondLst>
                                  <p:childTnLst>
                                    <p:anim calcmode="discrete" valueType="str">
                                      <p:cBhvr>
                                        <p:cTn id="15" dur="1000" fill="hold"/>
                                        <p:tgtEl>
                                          <p:spTgt spid="31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0"/>
                                  </p:stCondLst>
                                  <p:childTnLst>
                                    <p:anim calcmode="discrete" valueType="str">
                                      <p:cBhvr>
                                        <p:cTn id="17"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2" grpId="0"/>
      <p:bldP spid="318" grpId="0"/>
      <p:bldP spid="392" grpId="0" animBg="1"/>
      <p:bldP spid="405" grpId="0"/>
      <p:bldP spid="406" grpId="0" animBg="1"/>
      <p:bldP spid="40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必须为该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分配一个不超过 </a:t>
            </a:r>
            <a:r>
              <a:rPr lang="en-US" altLang="zh-CN" sz="1400" b="1" dirty="0">
                <a:solidFill>
                  <a:srgbClr val="0000CC"/>
                </a:solidFill>
                <a:latin typeface="微软雅黑" pitchFamily="34" charset="-122"/>
                <a:ea typeface="微软雅黑" pitchFamily="34" charset="-122"/>
              </a:rPr>
              <a:t>32 </a:t>
            </a:r>
            <a:r>
              <a:rPr lang="zh-CN" altLang="en-US" sz="1400" b="1" dirty="0">
                <a:solidFill>
                  <a:srgbClr val="0000CC"/>
                </a:solidFill>
                <a:latin typeface="微软雅黑" pitchFamily="34" charset="-122"/>
                <a:ea typeface="微软雅黑" pitchFamily="34" charset="-122"/>
              </a:rPr>
              <a:t>字节的</a:t>
            </a:r>
            <a:r>
              <a:rPr lang="zh-CN" altLang="en-US" sz="1400" b="1" dirty="0">
                <a:solidFill>
                  <a:srgbClr val="C00000"/>
                </a:solidFill>
                <a:latin typeface="微软雅黑" pitchFamily="34" charset="-122"/>
                <a:ea typeface="微软雅黑" pitchFamily="34" charset="-122"/>
              </a:rPr>
              <a:t>服务集标识符 </a:t>
            </a:r>
            <a:r>
              <a:rPr lang="en-US" altLang="zh-CN" sz="1400" b="1" dirty="0">
                <a:solidFill>
                  <a:srgbClr val="C00000"/>
                </a:solidFill>
                <a:latin typeface="微软雅黑" pitchFamily="34" charset="-122"/>
                <a:ea typeface="微软雅黑" pitchFamily="34" charset="-122"/>
              </a:rPr>
              <a:t>SSID </a:t>
            </a:r>
            <a:r>
              <a:rPr lang="en-US" altLang="zh-CN" sz="1400" b="1" dirty="0">
                <a:solidFill>
                  <a:srgbClr val="0000CC"/>
                </a:solidFill>
                <a:latin typeface="微软雅黑" pitchFamily="34" charset="-122"/>
                <a:ea typeface="微软雅黑" pitchFamily="34" charset="-122"/>
              </a:rPr>
              <a:t>(Service Set </a:t>
            </a:r>
            <a:r>
              <a:rPr lang="en-US" altLang="zh-CN" sz="1400" b="1" dirty="0" err="1">
                <a:solidFill>
                  <a:srgbClr val="0000CC"/>
                </a:solidFill>
                <a:latin typeface="微软雅黑" pitchFamily="34" charset="-122"/>
                <a:ea typeface="微软雅黑" pitchFamily="34" charset="-122"/>
              </a:rPr>
              <a:t>IDentifier</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（即该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的无线局域网的</a:t>
            </a:r>
            <a:r>
              <a:rPr lang="zh-CN" altLang="en-US" sz="1400" b="1" dirty="0">
                <a:solidFill>
                  <a:srgbClr val="C00000"/>
                </a:solidFill>
                <a:latin typeface="微软雅黑" pitchFamily="34" charset="-122"/>
                <a:ea typeface="微软雅黑" pitchFamily="34" charset="-122"/>
              </a:rPr>
              <a:t>名字</a:t>
            </a:r>
            <a:r>
              <a:rPr lang="zh-CN" altLang="en-US" sz="1400" b="1" dirty="0">
                <a:solidFill>
                  <a:srgbClr val="0000CC"/>
                </a:solidFill>
                <a:latin typeface="微软雅黑" pitchFamily="34" charset="-122"/>
                <a:ea typeface="微软雅黑" pitchFamily="34" charset="-122"/>
              </a:rPr>
              <a:t>）和一个通信信道。</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一个 </a:t>
            </a: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所覆盖的地理范围叫做一个</a:t>
            </a:r>
            <a:r>
              <a:rPr lang="zh-CN" altLang="en-US" sz="1600" b="1" dirty="0">
                <a:solidFill>
                  <a:srgbClr val="0000FF"/>
                </a:solidFill>
                <a:latin typeface="微软雅黑" panose="020B0503020204020204" pitchFamily="34" charset="-122"/>
                <a:ea typeface="微软雅黑" panose="020B0503020204020204" pitchFamily="34" charset="-122"/>
              </a:rPr>
              <a:t>基本服务区 </a:t>
            </a:r>
            <a:r>
              <a:rPr lang="en-US" altLang="zh-CN" sz="1600" b="1" dirty="0">
                <a:solidFill>
                  <a:srgbClr val="0000FF"/>
                </a:solidFill>
                <a:latin typeface="微软雅黑" panose="020B0503020204020204" pitchFamily="34" charset="-122"/>
                <a:ea typeface="微软雅黑" panose="020B0503020204020204" pitchFamily="34" charset="-122"/>
              </a:rPr>
              <a:t>BSA</a:t>
            </a:r>
            <a:r>
              <a:rPr lang="en-US" altLang="zh-CN" sz="1600" b="1" dirty="0">
                <a:latin typeface="微软雅黑" panose="020B0503020204020204" pitchFamily="34" charset="-122"/>
                <a:ea typeface="微软雅黑" panose="020B0503020204020204" pitchFamily="34" charset="-122"/>
              </a:rPr>
              <a:t> (Basic Service Area)</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2055507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 name="圆角矩形 217"/>
          <p:cNvSpPr/>
          <p:nvPr/>
        </p:nvSpPr>
        <p:spPr>
          <a:xfrm>
            <a:off x="1052051" y="2772699"/>
            <a:ext cx="6990735" cy="17894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Rectangle 46"/>
          <p:cNvSpPr>
            <a:spLocks noChangeArrowheads="1"/>
          </p:cNvSpPr>
          <p:nvPr/>
        </p:nvSpPr>
        <p:spPr bwMode="auto">
          <a:xfrm>
            <a:off x="509475" y="933444"/>
            <a:ext cx="8129015"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无线局域网通常使用 </a:t>
            </a:r>
            <a:r>
              <a:rPr lang="en-US" altLang="zh-CN" sz="2000" b="1" dirty="0">
                <a:latin typeface="微软雅黑" pitchFamily="34" charset="-122"/>
                <a:ea typeface="微软雅黑" pitchFamily="34" charset="-122"/>
              </a:rPr>
              <a:t>2.4 GHz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5 GHz </a:t>
            </a:r>
            <a:r>
              <a:rPr lang="zh-CN" altLang="en-US" sz="2000" b="1" dirty="0">
                <a:latin typeface="微软雅黑" pitchFamily="34" charset="-122"/>
                <a:ea typeface="微软雅黑" pitchFamily="34" charset="-122"/>
              </a:rPr>
              <a:t>频段。每一个频段划分为若干个信道，供各无线局域网使用。</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802.11b </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2.4 GHz </a:t>
            </a:r>
            <a:r>
              <a:rPr lang="zh-CN" altLang="en-US" sz="2000" b="1" dirty="0">
                <a:latin typeface="微软雅黑" pitchFamily="34" charset="-122"/>
                <a:ea typeface="微软雅黑" pitchFamily="34" charset="-122"/>
              </a:rPr>
              <a:t>频段，带宽约 </a:t>
            </a:r>
            <a:r>
              <a:rPr lang="en-US" altLang="zh-CN" sz="2000" b="1" dirty="0">
                <a:latin typeface="微软雅黑" pitchFamily="34" charset="-122"/>
                <a:ea typeface="微软雅黑" pitchFamily="34" charset="-122"/>
              </a:rPr>
              <a:t>85 MHz</a:t>
            </a:r>
            <a:r>
              <a:rPr lang="zh-CN" altLang="en-US" sz="2000" b="1" dirty="0">
                <a:latin typeface="微软雅黑" pitchFamily="34" charset="-122"/>
                <a:ea typeface="微软雅黑" pitchFamily="34" charset="-122"/>
              </a:rPr>
              <a:t>。定义了 </a:t>
            </a:r>
            <a:r>
              <a:rPr lang="en-US" altLang="zh-CN" sz="2000" b="1" dirty="0">
                <a:latin typeface="微软雅黑" pitchFamily="34" charset="-122"/>
                <a:ea typeface="微软雅黑" pitchFamily="34" charset="-122"/>
              </a:rPr>
              <a:t>11 </a:t>
            </a:r>
            <a:r>
              <a:rPr lang="zh-CN" altLang="en-US" sz="2000" b="1" dirty="0">
                <a:latin typeface="微软雅黑" pitchFamily="34" charset="-122"/>
                <a:ea typeface="微软雅黑" pitchFamily="34" charset="-122"/>
              </a:rPr>
              <a:t>个部分重叠的信道集。相邻信道的中心频率相差 </a:t>
            </a:r>
            <a:r>
              <a:rPr lang="en-US" altLang="zh-CN" sz="2000" b="1" dirty="0">
                <a:latin typeface="微软雅黑" pitchFamily="34" charset="-122"/>
                <a:ea typeface="微软雅黑" pitchFamily="34" charset="-122"/>
              </a:rPr>
              <a:t>5 MHz</a:t>
            </a:r>
            <a:r>
              <a:rPr lang="zh-CN" altLang="en-US" sz="2000" b="1" dirty="0">
                <a:latin typeface="微软雅黑" pitchFamily="34" charset="-122"/>
                <a:ea typeface="微软雅黑" pitchFamily="34" charset="-122"/>
              </a:rPr>
              <a:t>，每个信道的带宽约为 </a:t>
            </a:r>
            <a:r>
              <a:rPr lang="en-US" altLang="zh-CN" sz="2000" b="1" dirty="0">
                <a:latin typeface="微软雅黑" pitchFamily="34" charset="-122"/>
                <a:ea typeface="微软雅黑" pitchFamily="34" charset="-122"/>
              </a:rPr>
              <a:t>22 MHz</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130" name="AutoShape 5"/>
          <p:cNvSpPr>
            <a:spLocks noChangeArrowheads="1"/>
          </p:cNvSpPr>
          <p:nvPr/>
        </p:nvSpPr>
        <p:spPr bwMode="auto">
          <a:xfrm>
            <a:off x="517853" y="62249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1" name="矩形 4"/>
          <p:cNvSpPr>
            <a:spLocks noChangeArrowheads="1"/>
          </p:cNvSpPr>
          <p:nvPr/>
        </p:nvSpPr>
        <p:spPr bwMode="auto">
          <a:xfrm>
            <a:off x="635844" y="572662"/>
            <a:ext cx="19768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 </a:t>
            </a:r>
            <a:r>
              <a:rPr lang="en-US" altLang="zh-CN" sz="2000" b="1" dirty="0">
                <a:latin typeface="微软雅黑" pitchFamily="34" charset="-122"/>
                <a:ea typeface="微软雅黑" pitchFamily="34" charset="-122"/>
              </a:rPr>
              <a:t>(channel)</a:t>
            </a:r>
          </a:p>
        </p:txBody>
      </p:sp>
      <p:grpSp>
        <p:nvGrpSpPr>
          <p:cNvPr id="22" name="组合 21"/>
          <p:cNvGrpSpPr/>
          <p:nvPr/>
        </p:nvGrpSpPr>
        <p:grpSpPr>
          <a:xfrm>
            <a:off x="1258768" y="2909432"/>
            <a:ext cx="6459555" cy="1573230"/>
            <a:chOff x="1210829" y="2062669"/>
            <a:chExt cx="6991296" cy="1983225"/>
          </a:xfrm>
        </p:grpSpPr>
        <p:cxnSp>
          <p:nvCxnSpPr>
            <p:cNvPr id="5" name="直接连接符 4"/>
            <p:cNvCxnSpPr/>
            <p:nvPr/>
          </p:nvCxnSpPr>
          <p:spPr>
            <a:xfrm>
              <a:off x="1252682" y="3313463"/>
              <a:ext cx="694944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弧形 6"/>
            <p:cNvSpPr/>
            <p:nvPr/>
          </p:nvSpPr>
          <p:spPr>
            <a:xfrm>
              <a:off x="1606642"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39" name="弧形 138"/>
            <p:cNvSpPr/>
            <p:nvPr/>
          </p:nvSpPr>
          <p:spPr>
            <a:xfrm>
              <a:off x="1996685"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0" name="弧形 139"/>
            <p:cNvSpPr/>
            <p:nvPr/>
          </p:nvSpPr>
          <p:spPr>
            <a:xfrm>
              <a:off x="240782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1" name="弧形 140"/>
            <p:cNvSpPr/>
            <p:nvPr/>
          </p:nvSpPr>
          <p:spPr>
            <a:xfrm>
              <a:off x="2796827"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2" name="弧形 141"/>
            <p:cNvSpPr/>
            <p:nvPr/>
          </p:nvSpPr>
          <p:spPr>
            <a:xfrm>
              <a:off x="3194716"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3" name="弧形 142"/>
            <p:cNvSpPr/>
            <p:nvPr/>
          </p:nvSpPr>
          <p:spPr>
            <a:xfrm>
              <a:off x="3616525"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4" name="弧形 143"/>
            <p:cNvSpPr/>
            <p:nvPr/>
          </p:nvSpPr>
          <p:spPr>
            <a:xfrm>
              <a:off x="401640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5" name="弧形 144"/>
            <p:cNvSpPr/>
            <p:nvPr/>
          </p:nvSpPr>
          <p:spPr>
            <a:xfrm>
              <a:off x="440787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6" name="弧形 145"/>
            <p:cNvSpPr/>
            <p:nvPr/>
          </p:nvSpPr>
          <p:spPr>
            <a:xfrm>
              <a:off x="480671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7" name="弧形 146"/>
            <p:cNvSpPr/>
            <p:nvPr/>
          </p:nvSpPr>
          <p:spPr>
            <a:xfrm>
              <a:off x="5204599"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8" name="弧形 147"/>
            <p:cNvSpPr/>
            <p:nvPr/>
          </p:nvSpPr>
          <p:spPr>
            <a:xfrm>
              <a:off x="5620368"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9" name="文本框 8"/>
            <p:cNvSpPr txBox="1"/>
            <p:nvPr/>
          </p:nvSpPr>
          <p:spPr>
            <a:xfrm>
              <a:off x="1210829" y="3331408"/>
              <a:ext cx="734235" cy="659575"/>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2.401</a:t>
              </a:r>
            </a:p>
            <a:p>
              <a:pPr algn="ctr"/>
              <a:r>
                <a:rPr lang="en-US" altLang="zh-CN" sz="1400" b="1" dirty="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sp>
          <p:nvSpPr>
            <p:cNvPr id="156" name="文本框 155"/>
            <p:cNvSpPr txBox="1"/>
            <p:nvPr/>
          </p:nvSpPr>
          <p:spPr>
            <a:xfrm>
              <a:off x="7203763" y="3331408"/>
              <a:ext cx="734235" cy="659575"/>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2.473</a:t>
              </a:r>
            </a:p>
            <a:p>
              <a:pPr algn="ctr"/>
              <a:r>
                <a:rPr lang="en-US" altLang="zh-CN" sz="1400" b="1" dirty="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grpSp>
          <p:nvGrpSpPr>
            <p:cNvPr id="12" name="组合 11"/>
            <p:cNvGrpSpPr/>
            <p:nvPr/>
          </p:nvGrpSpPr>
          <p:grpSpPr>
            <a:xfrm>
              <a:off x="2403681" y="2062669"/>
              <a:ext cx="319581" cy="1249075"/>
              <a:chOff x="1733067" y="1669387"/>
              <a:chExt cx="319581" cy="1249075"/>
            </a:xfrm>
          </p:grpSpPr>
          <p:cxnSp>
            <p:nvCxnSpPr>
              <p:cNvPr id="11" name="直接连接符 10"/>
              <p:cNvCxnSpPr/>
              <p:nvPr/>
            </p:nvCxnSpPr>
            <p:spPr>
              <a:xfrm>
                <a:off x="1904668"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1" name="文本框 160"/>
              <p:cNvSpPr txBox="1"/>
              <p:nvPr/>
            </p:nvSpPr>
            <p:spPr>
              <a:xfrm>
                <a:off x="1733067" y="1669387"/>
                <a:ext cx="319581"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a:t>
                </a:r>
                <a:endParaRPr lang="zh-CN" altLang="en-US" sz="14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4422588" y="2062669"/>
              <a:ext cx="319580" cy="1249075"/>
              <a:chOff x="3751974" y="1669387"/>
              <a:chExt cx="319580" cy="1249075"/>
            </a:xfrm>
          </p:grpSpPr>
          <p:cxnSp>
            <p:nvCxnSpPr>
              <p:cNvPr id="159" name="直接连接符 158"/>
              <p:cNvCxnSpPr/>
              <p:nvPr/>
            </p:nvCxnSpPr>
            <p:spPr>
              <a:xfrm>
                <a:off x="3924282"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2" name="文本框 161"/>
              <p:cNvSpPr txBox="1"/>
              <p:nvPr/>
            </p:nvSpPr>
            <p:spPr>
              <a:xfrm>
                <a:off x="3751974"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6</a:t>
                </a:r>
                <a:endParaRPr lang="zh-CN" altLang="en-US" sz="14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6370507" y="2062669"/>
              <a:ext cx="439292" cy="1249075"/>
              <a:chOff x="5709725" y="1669387"/>
              <a:chExt cx="439292" cy="1249075"/>
            </a:xfrm>
          </p:grpSpPr>
          <p:cxnSp>
            <p:nvCxnSpPr>
              <p:cNvPr id="160" name="直接连接符 159"/>
              <p:cNvCxnSpPr/>
              <p:nvPr/>
            </p:nvCxnSpPr>
            <p:spPr>
              <a:xfrm>
                <a:off x="5951791"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3" name="文本框 162"/>
              <p:cNvSpPr txBox="1"/>
              <p:nvPr/>
            </p:nvSpPr>
            <p:spPr>
              <a:xfrm>
                <a:off x="5709725" y="1669387"/>
                <a:ext cx="439292"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11</a:t>
                </a:r>
                <a:endParaRPr lang="zh-CN" altLang="en-US" sz="1400" b="1" dirty="0">
                  <a:latin typeface="微软雅黑" panose="020B0503020204020204" pitchFamily="34" charset="-122"/>
                  <a:ea typeface="微软雅黑" panose="020B0503020204020204" pitchFamily="34" charset="-122"/>
                </a:endParaRPr>
              </a:p>
            </p:txBody>
          </p:sp>
        </p:grpSp>
        <p:grpSp>
          <p:nvGrpSpPr>
            <p:cNvPr id="167" name="组合 166"/>
            <p:cNvGrpSpPr/>
            <p:nvPr/>
          </p:nvGrpSpPr>
          <p:grpSpPr>
            <a:xfrm>
              <a:off x="2808838" y="2062669"/>
              <a:ext cx="319580" cy="1249075"/>
              <a:chOff x="1733068" y="1669387"/>
              <a:chExt cx="319580" cy="1249075"/>
            </a:xfrm>
          </p:grpSpPr>
          <p:cxnSp>
            <p:nvCxnSpPr>
              <p:cNvPr id="168" name="直接连接符 16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9" name="文本框 16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a:t>
                </a:r>
                <a:endParaRPr lang="zh-CN" altLang="en-US" sz="1400" b="1" dirty="0">
                  <a:latin typeface="微软雅黑" panose="020B0503020204020204" pitchFamily="34" charset="-122"/>
                  <a:ea typeface="微软雅黑" panose="020B0503020204020204" pitchFamily="34" charset="-122"/>
                </a:endParaRPr>
              </a:p>
            </p:txBody>
          </p:sp>
        </p:grpSp>
        <p:grpSp>
          <p:nvGrpSpPr>
            <p:cNvPr id="170" name="组合 169"/>
            <p:cNvGrpSpPr/>
            <p:nvPr/>
          </p:nvGrpSpPr>
          <p:grpSpPr>
            <a:xfrm>
              <a:off x="3210385" y="2062669"/>
              <a:ext cx="319580" cy="1249075"/>
              <a:chOff x="1733068" y="1669387"/>
              <a:chExt cx="319580" cy="1249075"/>
            </a:xfrm>
          </p:grpSpPr>
          <p:cxnSp>
            <p:nvCxnSpPr>
              <p:cNvPr id="171" name="直接连接符 17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2" name="文本框 17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3</a:t>
                </a:r>
                <a:endParaRPr lang="zh-CN" altLang="en-US" sz="1400" b="1" dirty="0">
                  <a:latin typeface="微软雅黑" panose="020B0503020204020204" pitchFamily="34" charset="-122"/>
                  <a:ea typeface="微软雅黑" panose="020B0503020204020204" pitchFamily="34" charset="-122"/>
                </a:endParaRPr>
              </a:p>
            </p:txBody>
          </p:sp>
        </p:grpSp>
        <p:grpSp>
          <p:nvGrpSpPr>
            <p:cNvPr id="173" name="组合 172"/>
            <p:cNvGrpSpPr/>
            <p:nvPr/>
          </p:nvGrpSpPr>
          <p:grpSpPr>
            <a:xfrm>
              <a:off x="3615541" y="2062669"/>
              <a:ext cx="319580" cy="1249075"/>
              <a:chOff x="1733068" y="1669387"/>
              <a:chExt cx="319580" cy="1249075"/>
            </a:xfrm>
          </p:grpSpPr>
          <p:cxnSp>
            <p:nvCxnSpPr>
              <p:cNvPr id="174" name="直接连接符 17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5" name="文本框 174"/>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4</a:t>
                </a:r>
                <a:endParaRPr lang="zh-CN" altLang="en-US" sz="1400" b="1" dirty="0">
                  <a:latin typeface="微软雅黑" panose="020B0503020204020204" pitchFamily="34" charset="-122"/>
                  <a:ea typeface="微软雅黑" panose="020B0503020204020204" pitchFamily="34" charset="-122"/>
                </a:endParaRPr>
              </a:p>
            </p:txBody>
          </p:sp>
        </p:grpSp>
        <p:grpSp>
          <p:nvGrpSpPr>
            <p:cNvPr id="176" name="组合 175"/>
            <p:cNvGrpSpPr/>
            <p:nvPr/>
          </p:nvGrpSpPr>
          <p:grpSpPr>
            <a:xfrm>
              <a:off x="4018326" y="2062669"/>
              <a:ext cx="319580" cy="1249075"/>
              <a:chOff x="1733068" y="1669387"/>
              <a:chExt cx="319580" cy="1249075"/>
            </a:xfrm>
          </p:grpSpPr>
          <p:cxnSp>
            <p:nvCxnSpPr>
              <p:cNvPr id="177" name="直接连接符 176"/>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8" name="文本框 177"/>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5</a:t>
                </a:r>
                <a:endParaRPr lang="zh-CN" altLang="en-US" sz="1400" b="1" dirty="0">
                  <a:latin typeface="微软雅黑" panose="020B0503020204020204" pitchFamily="34" charset="-122"/>
                  <a:ea typeface="微软雅黑" panose="020B0503020204020204" pitchFamily="34" charset="-122"/>
                </a:endParaRPr>
              </a:p>
            </p:txBody>
          </p:sp>
        </p:grpSp>
        <p:grpSp>
          <p:nvGrpSpPr>
            <p:cNvPr id="194" name="组合 193"/>
            <p:cNvGrpSpPr/>
            <p:nvPr/>
          </p:nvGrpSpPr>
          <p:grpSpPr>
            <a:xfrm>
              <a:off x="4815187" y="2062669"/>
              <a:ext cx="319580" cy="1249075"/>
              <a:chOff x="1733068" y="1669387"/>
              <a:chExt cx="319580" cy="1249075"/>
            </a:xfrm>
          </p:grpSpPr>
          <p:cxnSp>
            <p:nvCxnSpPr>
              <p:cNvPr id="195" name="直接连接符 194"/>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6" name="文本框 195"/>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7</a:t>
                </a:r>
                <a:endParaRPr lang="zh-CN" altLang="en-US" sz="1400" b="1" dirty="0">
                  <a:latin typeface="微软雅黑" panose="020B0503020204020204" pitchFamily="34" charset="-122"/>
                  <a:ea typeface="微软雅黑" panose="020B0503020204020204" pitchFamily="34" charset="-122"/>
                </a:endParaRPr>
              </a:p>
            </p:txBody>
          </p:sp>
        </p:grpSp>
        <p:grpSp>
          <p:nvGrpSpPr>
            <p:cNvPr id="197" name="组合 196"/>
            <p:cNvGrpSpPr/>
            <p:nvPr/>
          </p:nvGrpSpPr>
          <p:grpSpPr>
            <a:xfrm>
              <a:off x="5216734" y="2062669"/>
              <a:ext cx="319580" cy="1249075"/>
              <a:chOff x="1733068" y="1669387"/>
              <a:chExt cx="319580" cy="1249075"/>
            </a:xfrm>
          </p:grpSpPr>
          <p:cxnSp>
            <p:nvCxnSpPr>
              <p:cNvPr id="198" name="直接连接符 19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9" name="文本框 19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8</a:t>
                </a:r>
                <a:endParaRPr lang="zh-CN" altLang="en-US" sz="1400" b="1" dirty="0">
                  <a:latin typeface="微软雅黑" panose="020B0503020204020204" pitchFamily="34" charset="-122"/>
                  <a:ea typeface="微软雅黑" panose="020B0503020204020204" pitchFamily="34" charset="-122"/>
                </a:endParaRPr>
              </a:p>
            </p:txBody>
          </p:sp>
        </p:grpSp>
        <p:grpSp>
          <p:nvGrpSpPr>
            <p:cNvPr id="200" name="组合 199"/>
            <p:cNvGrpSpPr/>
            <p:nvPr/>
          </p:nvGrpSpPr>
          <p:grpSpPr>
            <a:xfrm>
              <a:off x="5621890" y="2062669"/>
              <a:ext cx="319580" cy="1249075"/>
              <a:chOff x="1733068" y="1669387"/>
              <a:chExt cx="319580" cy="1249075"/>
            </a:xfrm>
          </p:grpSpPr>
          <p:cxnSp>
            <p:nvCxnSpPr>
              <p:cNvPr id="201" name="直接连接符 20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2" name="文本框 20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9</a:t>
                </a:r>
                <a:endParaRPr lang="zh-CN" altLang="en-US" sz="1400" b="1" dirty="0">
                  <a:latin typeface="微软雅黑" panose="020B0503020204020204" pitchFamily="34" charset="-122"/>
                  <a:ea typeface="微软雅黑" panose="020B0503020204020204" pitchFamily="34" charset="-122"/>
                </a:endParaRPr>
              </a:p>
            </p:txBody>
          </p:sp>
        </p:grpSp>
        <p:grpSp>
          <p:nvGrpSpPr>
            <p:cNvPr id="203" name="组合 202"/>
            <p:cNvGrpSpPr/>
            <p:nvPr/>
          </p:nvGrpSpPr>
          <p:grpSpPr>
            <a:xfrm>
              <a:off x="5964819" y="2062669"/>
              <a:ext cx="439292" cy="1249075"/>
              <a:chOff x="1673212" y="1669387"/>
              <a:chExt cx="439292" cy="1249075"/>
            </a:xfrm>
          </p:grpSpPr>
          <p:cxnSp>
            <p:nvCxnSpPr>
              <p:cNvPr id="204" name="直接连接符 20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5" name="文本框 204"/>
              <p:cNvSpPr txBox="1"/>
              <p:nvPr/>
            </p:nvSpPr>
            <p:spPr>
              <a:xfrm>
                <a:off x="1673212" y="1669387"/>
                <a:ext cx="439292"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10</a:t>
                </a:r>
                <a:endParaRPr lang="zh-CN" altLang="en-US" sz="1400" b="1" dirty="0">
                  <a:latin typeface="微软雅黑" panose="020B0503020204020204" pitchFamily="34" charset="-122"/>
                  <a:ea typeface="微软雅黑" panose="020B0503020204020204" pitchFamily="34" charset="-122"/>
                </a:endParaRPr>
              </a:p>
            </p:txBody>
          </p:sp>
        </p:grpSp>
        <p:sp>
          <p:nvSpPr>
            <p:cNvPr id="207" name="文本框 206"/>
            <p:cNvSpPr txBox="1"/>
            <p:nvPr/>
          </p:nvSpPr>
          <p:spPr>
            <a:xfrm>
              <a:off x="4100757" y="3399930"/>
              <a:ext cx="95631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22 MHz</a:t>
              </a:r>
              <a:endParaRPr lang="zh-CN" altLang="en-US" sz="1400" b="1" dirty="0">
                <a:latin typeface="微软雅黑" panose="020B0503020204020204" pitchFamily="34" charset="-122"/>
                <a:ea typeface="微软雅黑" panose="020B0503020204020204" pitchFamily="34" charset="-122"/>
              </a:endParaRPr>
            </a:p>
          </p:txBody>
        </p:sp>
        <p:cxnSp>
          <p:nvCxnSpPr>
            <p:cNvPr id="16" name="直接连接符 15"/>
            <p:cNvCxnSpPr/>
            <p:nvPr/>
          </p:nvCxnSpPr>
          <p:spPr>
            <a:xfrm>
              <a:off x="3616525"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0" name="直接连接符 209"/>
            <p:cNvCxnSpPr/>
            <p:nvPr/>
          </p:nvCxnSpPr>
          <p:spPr>
            <a:xfrm>
              <a:off x="5578848"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2" name="直接连接符 211"/>
            <p:cNvCxnSpPr/>
            <p:nvPr/>
          </p:nvCxnSpPr>
          <p:spPr>
            <a:xfrm>
              <a:off x="3618213" y="3681139"/>
              <a:ext cx="1960635" cy="0"/>
            </a:xfrm>
            <a:prstGeom prst="line">
              <a:avLst/>
            </a:prstGeom>
            <a:ln w="12700">
              <a:headEnd type="triangle" w="med" len="med"/>
              <a:tailEnd type="triangle" w="med" len="med"/>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7965422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936047" y="1086004"/>
            <a:ext cx="727587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每个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有一个唯一的 </a:t>
            </a:r>
            <a:r>
              <a:rPr lang="en-US" altLang="zh-CN" sz="1400" b="1" dirty="0">
                <a:solidFill>
                  <a:srgbClr val="0000CC"/>
                </a:solidFill>
                <a:latin typeface="微软雅黑" pitchFamily="34" charset="-122"/>
                <a:ea typeface="微软雅黑" pitchFamily="34" charset="-122"/>
              </a:rPr>
              <a:t>48 </a:t>
            </a:r>
            <a:r>
              <a:rPr lang="zh-CN" altLang="en-US" sz="1400" b="1" dirty="0">
                <a:solidFill>
                  <a:srgbClr val="0000CC"/>
                </a:solidFill>
                <a:latin typeface="微软雅黑" pitchFamily="34" charset="-122"/>
                <a:ea typeface="微软雅黑" pitchFamily="34" charset="-122"/>
              </a:rPr>
              <a:t>位 </a:t>
            </a:r>
            <a:r>
              <a:rPr lang="en-US" altLang="zh-CN" sz="1400" b="1" dirty="0">
                <a:solidFill>
                  <a:srgbClr val="0000CC"/>
                </a:solidFill>
                <a:latin typeface="微软雅黑" pitchFamily="34" charset="-122"/>
                <a:ea typeface="微软雅黑" pitchFamily="34" charset="-122"/>
              </a:rPr>
              <a:t>MAC </a:t>
            </a:r>
            <a:r>
              <a:rPr lang="zh-CN" altLang="en-US" sz="1400" b="1" dirty="0">
                <a:solidFill>
                  <a:srgbClr val="0000CC"/>
                </a:solidFill>
                <a:latin typeface="微软雅黑" pitchFamily="34" charset="-122"/>
                <a:ea typeface="微软雅黑" pitchFamily="34" charset="-122"/>
              </a:rPr>
              <a:t>地址，名称是</a:t>
            </a:r>
            <a:r>
              <a:rPr lang="zh-CN" altLang="en-US" sz="1400" b="1" dirty="0">
                <a:solidFill>
                  <a:srgbClr val="C00000"/>
                </a:solidFill>
                <a:latin typeface="微软雅黑" pitchFamily="34" charset="-122"/>
                <a:ea typeface="微软雅黑" pitchFamily="34" charset="-122"/>
              </a:rPr>
              <a:t>基本服务集标识符 </a:t>
            </a:r>
            <a:r>
              <a:rPr lang="en-US" altLang="zh-CN" sz="1400" b="1" dirty="0">
                <a:solidFill>
                  <a:srgbClr val="C00000"/>
                </a:solidFill>
                <a:latin typeface="微软雅黑" pitchFamily="34" charset="-122"/>
                <a:ea typeface="微软雅黑" pitchFamily="34" charset="-122"/>
              </a:rPr>
              <a:t>BSSID</a:t>
            </a:r>
            <a:r>
              <a:rPr lang="zh-CN" altLang="en-US" sz="1400" b="1" dirty="0">
                <a:solidFill>
                  <a:srgbClr val="0000CC"/>
                </a:solidFill>
                <a:latin typeface="微软雅黑" pitchFamily="34" charset="-122"/>
                <a:ea typeface="微软雅黑" pitchFamily="34" charset="-122"/>
              </a:rPr>
              <a:t>。在无线局域网中传送的各种帧的首部中，都必须有节点的 </a:t>
            </a:r>
            <a:r>
              <a:rPr lang="en-US" altLang="zh-CN" sz="1400" b="1" dirty="0">
                <a:solidFill>
                  <a:srgbClr val="0000CC"/>
                </a:solidFill>
                <a:latin typeface="微软雅黑" pitchFamily="34" charset="-122"/>
                <a:ea typeface="微软雅黑" pitchFamily="34" charset="-122"/>
              </a:rPr>
              <a:t>MAC </a:t>
            </a:r>
            <a:r>
              <a:rPr lang="zh-CN" altLang="en-US" sz="1400" b="1" dirty="0">
                <a:solidFill>
                  <a:srgbClr val="0000CC"/>
                </a:solidFill>
                <a:latin typeface="微软雅黑" pitchFamily="34" charset="-122"/>
                <a:ea typeface="微软雅黑" pitchFamily="34" charset="-122"/>
              </a:rPr>
              <a:t>地址（即 </a:t>
            </a:r>
            <a:r>
              <a:rPr lang="en-US" altLang="zh-CN" sz="1400" b="1" dirty="0">
                <a:solidFill>
                  <a:srgbClr val="0000CC"/>
                </a:solidFill>
                <a:latin typeface="微软雅黑" pitchFamily="34" charset="-122"/>
                <a:ea typeface="微软雅黑" pitchFamily="34" charset="-122"/>
              </a:rPr>
              <a:t>BSSID</a:t>
            </a:r>
            <a:r>
              <a:rPr lang="zh-CN" altLang="en-US" sz="1400" b="1" dirty="0">
                <a:solidFill>
                  <a:srgbClr val="0000CC"/>
                </a:solidFill>
                <a:latin typeface="微软雅黑" pitchFamily="34" charset="-122"/>
                <a:ea typeface="微软雅黑" pitchFamily="34" charset="-122"/>
              </a:rPr>
              <a:t>，但不是 </a:t>
            </a:r>
            <a:r>
              <a:rPr lang="en-US" altLang="zh-CN" sz="1400" b="1" dirty="0">
                <a:solidFill>
                  <a:srgbClr val="0000CC"/>
                </a:solidFill>
                <a:latin typeface="微软雅黑" pitchFamily="34" charset="-122"/>
                <a:ea typeface="微软雅黑" pitchFamily="34" charset="-122"/>
              </a:rPr>
              <a:t>SSID</a:t>
            </a:r>
            <a:r>
              <a:rPr lang="zh-CN" altLang="en-US" sz="1400" b="1" dirty="0">
                <a:solidFill>
                  <a:srgbClr val="0000CC"/>
                </a:solidFill>
                <a:latin typeface="微软雅黑" pitchFamily="34" charset="-122"/>
                <a:ea typeface="微软雅黑" pitchFamily="34" charset="-122"/>
              </a:rPr>
              <a:t>）。</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用户通常都知道所连接的无线局域网 </a:t>
            </a:r>
            <a:r>
              <a:rPr lang="en-US" altLang="zh-CN" sz="1600" b="1" dirty="0">
                <a:latin typeface="微软雅黑" panose="020B0503020204020204" pitchFamily="34" charset="-122"/>
                <a:ea typeface="微软雅黑" panose="020B0503020204020204" pitchFamily="34" charset="-122"/>
              </a:rPr>
              <a:t>SSID</a:t>
            </a:r>
            <a:r>
              <a:rPr lang="zh-CN" altLang="en-US" sz="1600" b="1" dirty="0">
                <a:latin typeface="微软雅黑" panose="020B0503020204020204" pitchFamily="34" charset="-122"/>
                <a:ea typeface="微软雅黑" panose="020B0503020204020204" pitchFamily="34" charset="-122"/>
              </a:rPr>
              <a:t>，但可以不知道其 </a:t>
            </a:r>
            <a:r>
              <a:rPr lang="en-US" altLang="zh-CN" sz="1600" b="1" dirty="0">
                <a:latin typeface="微软雅黑" panose="020B0503020204020204" pitchFamily="34" charset="-122"/>
                <a:ea typeface="微软雅黑" panose="020B0503020204020204" pitchFamily="34" charset="-122"/>
              </a:rPr>
              <a:t>BSSID</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11238675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9"/>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 grpId="0" animBg="1"/>
      <p:bldP spid="40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可以通过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连接到一个</a:t>
            </a:r>
            <a:r>
              <a:rPr lang="zh-CN" altLang="en-US" sz="1400" b="1" dirty="0">
                <a:solidFill>
                  <a:srgbClr val="C00000"/>
                </a:solidFill>
                <a:latin typeface="微软雅黑" pitchFamily="34" charset="-122"/>
                <a:ea typeface="微软雅黑" pitchFamily="34" charset="-122"/>
              </a:rPr>
              <a:t>分配系统 </a:t>
            </a:r>
            <a:r>
              <a:rPr lang="en-US" altLang="zh-CN" sz="1400" b="1" dirty="0">
                <a:solidFill>
                  <a:srgbClr val="C00000"/>
                </a:solidFill>
                <a:latin typeface="微软雅黑" pitchFamily="34" charset="-122"/>
                <a:ea typeface="微软雅黑" pitchFamily="34" charset="-122"/>
              </a:rPr>
              <a:t>DS </a:t>
            </a:r>
            <a:r>
              <a:rPr lang="en-US" altLang="zh-CN" sz="1400" b="1" dirty="0">
                <a:solidFill>
                  <a:srgbClr val="0000CC"/>
                </a:solidFill>
                <a:latin typeface="微软雅黑" pitchFamily="34" charset="-122"/>
                <a:ea typeface="微软雅黑" pitchFamily="34" charset="-122"/>
              </a:rPr>
              <a:t>(Distribution System)</a:t>
            </a:r>
            <a:r>
              <a:rPr lang="zh-CN" altLang="en-US" sz="1400" b="1" dirty="0">
                <a:solidFill>
                  <a:srgbClr val="0000CC"/>
                </a:solidFill>
                <a:latin typeface="微软雅黑" pitchFamily="34" charset="-122"/>
                <a:ea typeface="微软雅黑" pitchFamily="34" charset="-122"/>
              </a:rPr>
              <a:t>，然后再连接到另一个 </a:t>
            </a:r>
            <a:r>
              <a:rPr lang="en-US" altLang="zh-CN" sz="1400" b="1" dirty="0">
                <a:solidFill>
                  <a:srgbClr val="0000CC"/>
                </a:solidFill>
                <a:latin typeface="微软雅黑" pitchFamily="34" charset="-122"/>
                <a:ea typeface="微软雅黑" pitchFamily="34" charset="-122"/>
              </a:rPr>
              <a:t>BSS</a:t>
            </a:r>
            <a:r>
              <a:rPr lang="zh-CN" altLang="en-US" sz="1400" b="1" dirty="0">
                <a:solidFill>
                  <a:srgbClr val="0000CC"/>
                </a:solidFill>
                <a:latin typeface="微软雅黑" pitchFamily="34" charset="-122"/>
                <a:ea typeface="微软雅黑" pitchFamily="34" charset="-122"/>
              </a:rPr>
              <a:t>，构成了一个</a:t>
            </a:r>
            <a:r>
              <a:rPr lang="zh-CN" altLang="en-US" sz="1400" b="1" dirty="0">
                <a:solidFill>
                  <a:srgbClr val="C00000"/>
                </a:solidFill>
                <a:latin typeface="微软雅黑" pitchFamily="34" charset="-122"/>
                <a:ea typeface="微软雅黑" pitchFamily="34" charset="-122"/>
              </a:rPr>
              <a:t>扩展服务集 </a:t>
            </a:r>
            <a:r>
              <a:rPr lang="en-US" altLang="zh-CN" sz="1400" b="1" dirty="0">
                <a:solidFill>
                  <a:srgbClr val="C00000"/>
                </a:solidFill>
                <a:latin typeface="微软雅黑" pitchFamily="34" charset="-122"/>
                <a:ea typeface="微软雅黑" pitchFamily="34" charset="-122"/>
              </a:rPr>
              <a:t>ESS </a:t>
            </a:r>
            <a:r>
              <a:rPr lang="en-US" altLang="zh-CN" sz="1400" b="1" dirty="0">
                <a:solidFill>
                  <a:srgbClr val="0000CC"/>
                </a:solidFill>
                <a:latin typeface="微软雅黑" pitchFamily="34" charset="-122"/>
                <a:ea typeface="微软雅黑" pitchFamily="34" charset="-122"/>
              </a:rPr>
              <a:t>(Extended Service Set)</a:t>
            </a:r>
            <a:r>
              <a:rPr lang="zh-CN" altLang="en-US" sz="1400" b="1" dirty="0">
                <a:solidFill>
                  <a:srgbClr val="0000CC"/>
                </a:solidFill>
                <a:latin typeface="微软雅黑" pitchFamily="34" charset="-122"/>
                <a:ea typeface="微软雅黑" pitchFamily="34" charset="-122"/>
              </a:rPr>
              <a:t>。</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5591116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35" presetClass="emph" presetSubtype="0" repeatCount="3000" fill="hold" grpId="0" nodeType="afterEffect">
                                  <p:stCondLst>
                                    <p:cond delay="0"/>
                                  </p:stCondLst>
                                  <p:childTnLst>
                                    <p:anim calcmode="discrete" valueType="str">
                                      <p:cBhvr>
                                        <p:cTn id="9" dur="1000" fill="hold"/>
                                        <p:tgtEl>
                                          <p:spTgt spid="243"/>
                                        </p:tgtEl>
                                        <p:attrNameLst>
                                          <p:attrName>style.visibility</p:attrName>
                                        </p:attrNameLst>
                                      </p:cBhvr>
                                      <p:tavLst>
                                        <p:tav tm="0">
                                          <p:val>
                                            <p:strVal val="hidden"/>
                                          </p:val>
                                        </p:tav>
                                        <p:tav tm="50000">
                                          <p:val>
                                            <p:strVal val="visible"/>
                                          </p:val>
                                        </p:tav>
                                      </p:tavLst>
                                    </p:anim>
                                  </p:childTnLst>
                                </p:cTn>
                              </p:par>
                              <p:par>
                                <p:cTn id="10" presetID="35" presetClass="emph" presetSubtype="0" repeatCount="3000" fill="hold" grpId="0" nodeType="withEffect">
                                  <p:stCondLst>
                                    <p:cond delay="0"/>
                                  </p:stCondLst>
                                  <p:childTnLst>
                                    <p:anim calcmode="discrete" valueType="str">
                                      <p:cBhvr>
                                        <p:cTn id="11" dur="1000" fill="hold"/>
                                        <p:tgtEl>
                                          <p:spTgt spid="30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P spid="307" grpId="0"/>
      <p:bldP spid="32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a:solidFill>
                  <a:srgbClr val="0000CC"/>
                </a:solidFill>
                <a:latin typeface="微软雅黑" pitchFamily="34" charset="-122"/>
                <a:ea typeface="微软雅黑" pitchFamily="34" charset="-122"/>
              </a:rPr>
              <a:t>ESS </a:t>
            </a:r>
            <a:r>
              <a:rPr lang="zh-CN" altLang="en-US" sz="1400" b="1" dirty="0">
                <a:solidFill>
                  <a:srgbClr val="0000CC"/>
                </a:solidFill>
                <a:latin typeface="微软雅黑" pitchFamily="34" charset="-122"/>
                <a:ea typeface="微软雅黑" pitchFamily="34" charset="-122"/>
              </a:rPr>
              <a:t>也有个标识符，是不超过 </a:t>
            </a:r>
            <a:r>
              <a:rPr lang="en-US" altLang="zh-CN" sz="1400" b="1" dirty="0">
                <a:solidFill>
                  <a:srgbClr val="0000CC"/>
                </a:solidFill>
                <a:latin typeface="微软雅黑" pitchFamily="34" charset="-122"/>
                <a:ea typeface="微软雅黑" pitchFamily="34" charset="-122"/>
              </a:rPr>
              <a:t>32 </a:t>
            </a:r>
            <a:r>
              <a:rPr lang="zh-CN" altLang="en-US" sz="1400" b="1" dirty="0">
                <a:solidFill>
                  <a:srgbClr val="0000CC"/>
                </a:solidFill>
                <a:latin typeface="微软雅黑" pitchFamily="34" charset="-122"/>
                <a:ea typeface="微软雅黑" pitchFamily="34" charset="-122"/>
              </a:rPr>
              <a:t>字符的字符串名字 </a:t>
            </a:r>
            <a:r>
              <a:rPr lang="en-US" altLang="zh-CN" sz="1400" b="1" dirty="0">
                <a:solidFill>
                  <a:srgbClr val="0000CC"/>
                </a:solidFill>
                <a:latin typeface="微软雅黑" pitchFamily="34" charset="-122"/>
                <a:ea typeface="微软雅黑" pitchFamily="34" charset="-122"/>
              </a:rPr>
              <a:t>(</a:t>
            </a:r>
            <a:r>
              <a:rPr lang="zh-CN" altLang="en-US" sz="1400" b="1" dirty="0">
                <a:solidFill>
                  <a:srgbClr val="C00000"/>
                </a:solidFill>
                <a:latin typeface="微软雅黑" pitchFamily="34" charset="-122"/>
                <a:ea typeface="微软雅黑" pitchFamily="34" charset="-122"/>
              </a:rPr>
              <a:t>不是地址</a:t>
            </a:r>
            <a:r>
              <a:rPr lang="en-US" altLang="zh-CN" sz="1400" b="1" dirty="0">
                <a:solidFill>
                  <a:srgbClr val="0000CC"/>
                </a:solidFill>
                <a:latin typeface="微软雅黑" pitchFamily="34" charset="-122"/>
                <a:ea typeface="微软雅黑" pitchFamily="34" charset="-122"/>
              </a:rPr>
              <a:t>)</a:t>
            </a:r>
            <a:r>
              <a:rPr lang="zh-CN" altLang="en-US" sz="1400" b="1" dirty="0">
                <a:solidFill>
                  <a:srgbClr val="0000CC"/>
                </a:solidFill>
                <a:latin typeface="微软雅黑" pitchFamily="34" charset="-122"/>
                <a:ea typeface="微软雅黑" pitchFamily="34" charset="-122"/>
              </a:rPr>
              <a:t>，叫做</a:t>
            </a:r>
            <a:r>
              <a:rPr lang="zh-CN" altLang="en-US" sz="1400" b="1" dirty="0">
                <a:solidFill>
                  <a:srgbClr val="C00000"/>
                </a:solidFill>
                <a:latin typeface="微软雅黑" pitchFamily="34" charset="-122"/>
                <a:ea typeface="微软雅黑" pitchFamily="34" charset="-122"/>
              </a:rPr>
              <a:t>扩展服务集标识符 </a:t>
            </a:r>
            <a:r>
              <a:rPr lang="en-US" altLang="zh-CN" sz="1400" b="1" dirty="0">
                <a:solidFill>
                  <a:srgbClr val="C00000"/>
                </a:solidFill>
                <a:latin typeface="微软雅黑" pitchFamily="34" charset="-122"/>
                <a:ea typeface="微软雅黑" pitchFamily="34" charset="-122"/>
              </a:rPr>
              <a:t>ESSID</a:t>
            </a:r>
            <a:r>
              <a:rPr lang="zh-CN" altLang="en-US" sz="1400" b="1" dirty="0">
                <a:solidFill>
                  <a:srgbClr val="C00000"/>
                </a:solidFill>
                <a:latin typeface="微软雅黑" pitchFamily="34" charset="-122"/>
                <a:ea typeface="微软雅黑" pitchFamily="34" charset="-122"/>
              </a:rPr>
              <a:t>。</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8901089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a:solidFill>
                  <a:srgbClr val="0000CC"/>
                </a:solidFill>
                <a:latin typeface="微软雅黑" pitchFamily="34" charset="-122"/>
                <a:ea typeface="微软雅黑" pitchFamily="34" charset="-122"/>
              </a:rPr>
              <a:t>DS </a:t>
            </a:r>
            <a:r>
              <a:rPr lang="zh-CN" altLang="en-US" sz="1400" b="1" dirty="0">
                <a:solidFill>
                  <a:srgbClr val="0000CC"/>
                </a:solidFill>
                <a:latin typeface="微软雅黑" pitchFamily="34" charset="-122"/>
                <a:ea typeface="微软雅黑" pitchFamily="34" charset="-122"/>
              </a:rPr>
              <a:t>的作用：使 </a:t>
            </a:r>
            <a:r>
              <a:rPr lang="en-US" altLang="zh-CN" sz="1400" b="1" dirty="0">
                <a:solidFill>
                  <a:srgbClr val="0000CC"/>
                </a:solidFill>
                <a:latin typeface="微软雅黑" pitchFamily="34" charset="-122"/>
                <a:ea typeface="微软雅黑" pitchFamily="34" charset="-122"/>
              </a:rPr>
              <a:t>ESS </a:t>
            </a:r>
            <a:r>
              <a:rPr lang="zh-CN" altLang="en-US" sz="1400" b="1" dirty="0">
                <a:solidFill>
                  <a:srgbClr val="0000CC"/>
                </a:solidFill>
                <a:latin typeface="微软雅黑" pitchFamily="34" charset="-122"/>
                <a:ea typeface="微软雅黑" pitchFamily="34" charset="-122"/>
              </a:rPr>
              <a:t>对上层的表现就像一个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一样。</a:t>
            </a:r>
            <a:endParaRPr lang="en-US" altLang="zh-CN" sz="1400" b="1" dirty="0">
              <a:solidFill>
                <a:srgbClr val="0000CC"/>
              </a:solidFill>
              <a:latin typeface="微软雅黑" pitchFamily="34" charset="-122"/>
              <a:ea typeface="微软雅黑" pitchFamily="34" charset="-122"/>
            </a:endParaRPr>
          </a:p>
          <a:p>
            <a:pPr algn="ctr"/>
            <a:r>
              <a:rPr lang="en-US" altLang="zh-CN" sz="1400" b="1" dirty="0">
                <a:solidFill>
                  <a:srgbClr val="0000CC"/>
                </a:solidFill>
                <a:latin typeface="微软雅黑" pitchFamily="34" charset="-122"/>
                <a:ea typeface="微软雅黑" pitchFamily="34" charset="-122"/>
              </a:rPr>
              <a:t>DS </a:t>
            </a:r>
            <a:r>
              <a:rPr lang="zh-CN" altLang="en-US" sz="1400" b="1" dirty="0">
                <a:solidFill>
                  <a:srgbClr val="0000CC"/>
                </a:solidFill>
                <a:latin typeface="微软雅黑" pitchFamily="34" charset="-122"/>
                <a:ea typeface="微软雅黑" pitchFamily="34" charset="-122"/>
              </a:rPr>
              <a:t>可以使用</a:t>
            </a:r>
            <a:r>
              <a:rPr lang="zh-CN" altLang="en-US" sz="1400" b="1" dirty="0">
                <a:solidFill>
                  <a:srgbClr val="C00000"/>
                </a:solidFill>
                <a:latin typeface="微软雅黑" pitchFamily="34" charset="-122"/>
                <a:ea typeface="微软雅黑" pitchFamily="34" charset="-122"/>
              </a:rPr>
              <a:t>以太网</a:t>
            </a:r>
            <a:r>
              <a:rPr lang="zh-CN" altLang="en-US" sz="1400" b="1" dirty="0">
                <a:solidFill>
                  <a:srgbClr val="0000CC"/>
                </a:solidFill>
                <a:latin typeface="微软雅黑" pitchFamily="34" charset="-122"/>
                <a:ea typeface="微软雅黑" pitchFamily="34" charset="-122"/>
              </a:rPr>
              <a:t>（最常用）、点对点链路或其他无线网络。</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9442926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en-US" altLang="zh-CN" sz="1400" b="1" dirty="0">
                <a:solidFill>
                  <a:srgbClr val="0000CC"/>
                </a:solidFill>
                <a:latin typeface="微软雅黑" pitchFamily="34" charset="-122"/>
                <a:ea typeface="微软雅黑" pitchFamily="34" charset="-122"/>
              </a:rPr>
              <a:t>ESS </a:t>
            </a:r>
            <a:r>
              <a:rPr lang="zh-CN" altLang="en-US" sz="1400" b="1" dirty="0">
                <a:solidFill>
                  <a:srgbClr val="0000CC"/>
                </a:solidFill>
                <a:latin typeface="微软雅黑" pitchFamily="34" charset="-122"/>
                <a:ea typeface="微软雅黑" pitchFamily="34" charset="-122"/>
              </a:rPr>
              <a:t>还可为无线用户提供到 </a:t>
            </a:r>
            <a:r>
              <a:rPr lang="en-US" altLang="zh-CN" sz="1400" b="1" dirty="0">
                <a:solidFill>
                  <a:srgbClr val="0000CC"/>
                </a:solidFill>
                <a:latin typeface="微软雅黑" pitchFamily="34" charset="-122"/>
                <a:ea typeface="微软雅黑" pitchFamily="34" charset="-122"/>
              </a:rPr>
              <a:t>802.x </a:t>
            </a:r>
            <a:r>
              <a:rPr lang="zh-CN" altLang="en-US" sz="1400" b="1" dirty="0">
                <a:solidFill>
                  <a:srgbClr val="0000CC"/>
                </a:solidFill>
                <a:latin typeface="微软雅黑" pitchFamily="34" charset="-122"/>
                <a:ea typeface="微软雅黑" pitchFamily="34" charset="-122"/>
              </a:rPr>
              <a:t>局域网（非</a:t>
            </a:r>
            <a:r>
              <a:rPr lang="en-US" altLang="zh-CN" sz="1400" b="1" dirty="0">
                <a:solidFill>
                  <a:srgbClr val="0000CC"/>
                </a:solidFill>
                <a:latin typeface="微软雅黑" pitchFamily="34" charset="-122"/>
                <a:ea typeface="微软雅黑" pitchFamily="34" charset="-122"/>
              </a:rPr>
              <a:t>802.11</a:t>
            </a:r>
            <a:r>
              <a:rPr lang="zh-CN" altLang="en-US" sz="1400" b="1" dirty="0">
                <a:solidFill>
                  <a:srgbClr val="0000CC"/>
                </a:solidFill>
                <a:latin typeface="微软雅黑" pitchFamily="34" charset="-122"/>
                <a:ea typeface="微软雅黑" pitchFamily="34" charset="-122"/>
              </a:rPr>
              <a:t>无线局域网）的</a:t>
            </a:r>
            <a:r>
              <a:rPr lang="zh-CN" altLang="en-US" sz="1400" b="1" dirty="0">
                <a:solidFill>
                  <a:srgbClr val="C00000"/>
                </a:solidFill>
                <a:latin typeface="微软雅黑" pitchFamily="34" charset="-122"/>
                <a:ea typeface="微软雅黑" pitchFamily="34" charset="-122"/>
              </a:rPr>
              <a:t>接入。</a:t>
            </a:r>
            <a:r>
              <a:rPr lang="zh-CN" altLang="en-US" sz="1400" b="1" dirty="0">
                <a:solidFill>
                  <a:srgbClr val="0000CC"/>
                </a:solidFill>
                <a:latin typeface="微软雅黑" pitchFamily="34" charset="-122"/>
                <a:ea typeface="微软雅黑" pitchFamily="34" charset="-122"/>
              </a:rPr>
              <a:t>通过</a:t>
            </a:r>
            <a:r>
              <a:rPr lang="zh-CN" altLang="en-US" sz="1400" b="1" dirty="0">
                <a:solidFill>
                  <a:srgbClr val="C00000"/>
                </a:solidFill>
                <a:latin typeface="微软雅黑" pitchFamily="34" charset="-122"/>
                <a:ea typeface="微软雅黑" pitchFamily="34" charset="-122"/>
              </a:rPr>
              <a:t>门户 </a:t>
            </a:r>
            <a:r>
              <a:rPr lang="en-US" altLang="zh-CN" sz="1400" b="1" dirty="0">
                <a:solidFill>
                  <a:srgbClr val="0000CC"/>
                </a:solidFill>
                <a:latin typeface="微软雅黑" pitchFamily="34" charset="-122"/>
                <a:ea typeface="微软雅黑" pitchFamily="34" charset="-122"/>
              </a:rPr>
              <a:t>(Portal) </a:t>
            </a:r>
            <a:r>
              <a:rPr lang="zh-CN" altLang="en-US" sz="1400" b="1" dirty="0">
                <a:solidFill>
                  <a:srgbClr val="0000CC"/>
                </a:solidFill>
                <a:latin typeface="微软雅黑" pitchFamily="34" charset="-122"/>
                <a:ea typeface="微软雅黑" pitchFamily="34" charset="-122"/>
              </a:rPr>
              <a:t>设备实现。门户相当于一个网桥。</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门户</a:t>
            </a:r>
            <a:endParaRPr lang="en-US" altLang="zh-CN" sz="1200" b="1" dirty="0">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81848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移动站 </a:t>
            </a:r>
            <a:r>
              <a:rPr lang="en-US" altLang="zh-CN" sz="1400" b="1" dirty="0">
                <a:solidFill>
                  <a:srgbClr val="0000CC"/>
                </a:solidFill>
                <a:latin typeface="微软雅黑" pitchFamily="34" charset="-122"/>
                <a:ea typeface="微软雅黑" pitchFamily="34" charset="-122"/>
              </a:rPr>
              <a:t>A </a:t>
            </a:r>
            <a:r>
              <a:rPr lang="zh-CN" altLang="en-US" sz="1400" b="1" dirty="0">
                <a:solidFill>
                  <a:srgbClr val="0000CC"/>
                </a:solidFill>
                <a:latin typeface="微软雅黑" pitchFamily="34" charset="-122"/>
                <a:ea typeface="微软雅黑" pitchFamily="34" charset="-122"/>
              </a:rPr>
              <a:t>如果要和另一个 </a:t>
            </a:r>
            <a:r>
              <a:rPr lang="en-US" altLang="zh-CN" sz="1400" b="1" dirty="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中的移动站 </a:t>
            </a:r>
            <a:r>
              <a:rPr lang="en-US" altLang="zh-CN" sz="1400" b="1" dirty="0">
                <a:solidFill>
                  <a:srgbClr val="0000CC"/>
                </a:solidFill>
                <a:latin typeface="微软雅黑" pitchFamily="34" charset="-122"/>
                <a:ea typeface="微软雅黑" pitchFamily="34" charset="-122"/>
              </a:rPr>
              <a:t>B </a:t>
            </a:r>
            <a:r>
              <a:rPr lang="zh-CN" altLang="en-US" sz="1400" b="1" dirty="0">
                <a:solidFill>
                  <a:srgbClr val="0000CC"/>
                </a:solidFill>
                <a:latin typeface="微软雅黑" pitchFamily="34" charset="-122"/>
                <a:ea typeface="微软雅黑" pitchFamily="34" charset="-122"/>
              </a:rPr>
              <a:t>通信，就必须经过两个接入点 </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1</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和 </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zh-CN" altLang="en-US" sz="1400" b="1" dirty="0">
                <a:solidFill>
                  <a:srgbClr val="0000CC"/>
                </a:solidFill>
                <a:latin typeface="微软雅黑" pitchFamily="34" charset="-122"/>
                <a:ea typeface="微软雅黑" pitchFamily="34" charset="-122"/>
              </a:rPr>
              <a:t>，即 </a:t>
            </a:r>
            <a:r>
              <a:rPr lang="en-US" altLang="zh-CN" sz="1400" b="1" dirty="0">
                <a:solidFill>
                  <a:srgbClr val="0000CC"/>
                </a:solidFill>
                <a:latin typeface="微软雅黑" pitchFamily="34" charset="-122"/>
                <a:ea typeface="微软雅黑" pitchFamily="34" charset="-122"/>
              </a:rPr>
              <a:t>A→AP</a:t>
            </a:r>
            <a:r>
              <a:rPr lang="en-US" altLang="zh-CN" sz="1400" b="1" baseline="-25000" dirty="0">
                <a:solidFill>
                  <a:srgbClr val="0000CC"/>
                </a:solidFill>
                <a:latin typeface="微软雅黑" pitchFamily="34" charset="-122"/>
                <a:ea typeface="微软雅黑" pitchFamily="34" charset="-122"/>
              </a:rPr>
              <a:t>1</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→B</a:t>
            </a:r>
            <a:r>
              <a:rPr lang="zh-CN" altLang="en-US" sz="1400" b="1" dirty="0">
                <a:solidFill>
                  <a:srgbClr val="0000CC"/>
                </a:solidFill>
                <a:latin typeface="微软雅黑" pitchFamily="34" charset="-122"/>
                <a:ea typeface="微软雅黑" pitchFamily="34" charset="-122"/>
              </a:rPr>
              <a:t>。</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6451413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309"/>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08"/>
                                        </p:tgtEl>
                                        <p:attrNameLst>
                                          <p:attrName>style.visibility</p:attrName>
                                        </p:attrNameLst>
                                      </p:cBhvr>
                                      <p:tavLst>
                                        <p:tav tm="0">
                                          <p:val>
                                            <p:strVal val="hidden"/>
                                          </p:val>
                                        </p:tav>
                                        <p:tav tm="50000">
                                          <p:val>
                                            <p:strVal val="visible"/>
                                          </p:val>
                                        </p:tav>
                                      </p:tavLst>
                                    </p:anim>
                                  </p:childTnLst>
                                </p:cTn>
                              </p:par>
                              <p:par>
                                <p:cTn id="9" presetID="35" presetClass="emph" presetSubtype="0" repeatCount="indefinite" fill="hold" grpId="0" nodeType="withEffect">
                                  <p:stCondLst>
                                    <p:cond delay="0"/>
                                  </p:stCondLst>
                                  <p:endCondLst>
                                    <p:cond evt="onNext" delay="0">
                                      <p:tgtEl>
                                        <p:sldTgt/>
                                      </p:tgtEl>
                                    </p:cond>
                                  </p:endCondLst>
                                  <p:childTnLst>
                                    <p:anim calcmode="discrete" valueType="str">
                                      <p:cBhvr>
                                        <p:cTn id="10" dur="1000" fill="hold"/>
                                        <p:tgtEl>
                                          <p:spTgt spid="312"/>
                                        </p:tgtEl>
                                        <p:attrNameLst>
                                          <p:attrName>style.visibility</p:attrName>
                                        </p:attrNameLst>
                                      </p:cBhvr>
                                      <p:tavLst>
                                        <p:tav tm="0">
                                          <p:val>
                                            <p:strVal val="hidden"/>
                                          </p:val>
                                        </p:tav>
                                        <p:tav tm="50000">
                                          <p:val>
                                            <p:strVal val="visible"/>
                                          </p:val>
                                        </p:tav>
                                      </p:tavLst>
                                    </p:anim>
                                  </p:childTnLst>
                                </p:cTn>
                              </p:par>
                              <p:par>
                                <p:cTn id="11" presetID="35" presetClass="emph" presetSubtype="0" repeatCount="indefinite" fill="hold" grpId="0" nodeType="withEffect">
                                  <p:stCondLst>
                                    <p:cond delay="0"/>
                                  </p:stCondLst>
                                  <p:endCondLst>
                                    <p:cond evt="onNext" delay="0">
                                      <p:tgtEl>
                                        <p:sldTgt/>
                                      </p:tgtEl>
                                    </p:cond>
                                  </p:endCondLst>
                                  <p:childTnLst>
                                    <p:anim calcmode="discrete" valueType="str">
                                      <p:cBhvr>
                                        <p:cTn id="12"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 grpId="0"/>
      <p:bldP spid="309" grpId="0"/>
      <p:bldP spid="312" grpId="0"/>
      <p:bldP spid="31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移动站 </a:t>
            </a:r>
            <a:r>
              <a:rPr lang="en-US" altLang="zh-CN" sz="1400" b="1" dirty="0">
                <a:solidFill>
                  <a:srgbClr val="0000CC"/>
                </a:solidFill>
                <a:latin typeface="微软雅黑" pitchFamily="34" charset="-122"/>
                <a:ea typeface="微软雅黑" pitchFamily="34" charset="-122"/>
              </a:rPr>
              <a:t>A </a:t>
            </a:r>
            <a:r>
              <a:rPr lang="zh-CN" altLang="en-US" sz="1400" b="1" dirty="0">
                <a:solidFill>
                  <a:srgbClr val="0000CC"/>
                </a:solidFill>
                <a:latin typeface="微软雅黑" pitchFamily="34" charset="-122"/>
                <a:ea typeface="微软雅黑" pitchFamily="34" charset="-122"/>
              </a:rPr>
              <a:t>漫游到位置 </a:t>
            </a:r>
            <a:r>
              <a:rPr lang="en-US" altLang="zh-CN" sz="1400" b="1" dirty="0">
                <a:solidFill>
                  <a:srgbClr val="0000CC"/>
                </a:solidFill>
                <a:latin typeface="微软雅黑" pitchFamily="34" charset="-122"/>
                <a:ea typeface="微软雅黑" pitchFamily="34" charset="-122"/>
              </a:rPr>
              <a:t>A</a:t>
            </a:r>
            <a:r>
              <a:rPr lang="en-US" altLang="zh-CN" sz="1400" b="1" baseline="-25000" dirty="0">
                <a:solidFill>
                  <a:srgbClr val="0000CC"/>
                </a:solidFill>
                <a:latin typeface="微软雅黑" pitchFamily="34" charset="-122"/>
                <a:ea typeface="微软雅黑" pitchFamily="34" charset="-122"/>
              </a:rPr>
              <a:t>1</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时，选择和信号较强的一个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联系。当漫游到位置 </a:t>
            </a:r>
            <a:r>
              <a:rPr lang="en-US" altLang="zh-CN" sz="1400" b="1" dirty="0">
                <a:solidFill>
                  <a:srgbClr val="0000CC"/>
                </a:solidFill>
                <a:latin typeface="微软雅黑" pitchFamily="34" charset="-122"/>
                <a:ea typeface="微软雅黑" pitchFamily="34" charset="-122"/>
              </a:rPr>
              <a:t>A</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时，就只能和 </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 </a:t>
            </a:r>
            <a:r>
              <a:rPr lang="zh-CN" altLang="en-US" sz="1400" b="1" dirty="0">
                <a:solidFill>
                  <a:srgbClr val="0000CC"/>
                </a:solidFill>
                <a:latin typeface="微软雅黑" pitchFamily="34" charset="-122"/>
                <a:ea typeface="微软雅黑" pitchFamily="34" charset="-122"/>
              </a:rPr>
              <a:t>联系了。</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的服务范围是由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所发射的电磁波的辐射范围确定的。</a:t>
            </a:r>
          </a:p>
        </p:txBody>
      </p:sp>
    </p:spTree>
    <p:extLst>
      <p:ext uri="{BB962C8B-B14F-4D97-AF65-F5344CB8AC3E}">
        <p14:creationId xmlns:p14="http://schemas.microsoft.com/office/powerpoint/2010/main" val="15881705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10"/>
                                        </p:tgtEl>
                                        <p:attrNameLst>
                                          <p:attrName>style.visibility</p:attrName>
                                        </p:attrNameLst>
                                      </p:cBhvr>
                                      <p:to>
                                        <p:strVal val="visible"/>
                                      </p:to>
                                    </p:set>
                                    <p:animEffect transition="in" filter="wipe(left)">
                                      <p:cBhvr>
                                        <p:cTn id="7" dur="1000"/>
                                        <p:tgtEl>
                                          <p:spTgt spid="310"/>
                                        </p:tgtEl>
                                      </p:cBhvr>
                                    </p:animEffect>
                                  </p:childTnLst>
                                </p:cTn>
                              </p:par>
                            </p:childTnLst>
                          </p:cTn>
                        </p:par>
                        <p:par>
                          <p:cTn id="8" fill="hold">
                            <p:stCondLst>
                              <p:cond delay="1000"/>
                            </p:stCondLst>
                            <p:childTnLst>
                              <p:par>
                                <p:cTn id="9" presetID="22" presetClass="entr" presetSubtype="8" fill="hold" grpId="0" nodeType="afterEffect">
                                  <p:stCondLst>
                                    <p:cond delay="1000"/>
                                  </p:stCondLst>
                                  <p:childTnLst>
                                    <p:set>
                                      <p:cBhvr>
                                        <p:cTn id="10" dur="1" fill="hold">
                                          <p:stCondLst>
                                            <p:cond delay="0"/>
                                          </p:stCondLst>
                                        </p:cTn>
                                        <p:tgtEl>
                                          <p:spTgt spid="395"/>
                                        </p:tgtEl>
                                        <p:attrNameLst>
                                          <p:attrName>style.visibility</p:attrName>
                                        </p:attrNameLst>
                                      </p:cBhvr>
                                      <p:to>
                                        <p:strVal val="visible"/>
                                      </p:to>
                                    </p:set>
                                    <p:animEffect transition="in" filter="wipe(left)">
                                      <p:cBhvr>
                                        <p:cTn id="11" dur="1000"/>
                                        <p:tgtEl>
                                          <p:spTgt spid="3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 grpId="0" animBg="1"/>
      <p:bldP spid="39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移动站只要能够和其中一个 </a:t>
            </a:r>
            <a:r>
              <a:rPr lang="en-US" altLang="zh-CN" sz="1400" b="1" dirty="0">
                <a:solidFill>
                  <a:srgbClr val="0000CC"/>
                </a:solidFill>
                <a:latin typeface="微软雅黑" pitchFamily="34" charset="-122"/>
                <a:ea typeface="微软雅黑" pitchFamily="34" charset="-122"/>
              </a:rPr>
              <a:t>AP </a:t>
            </a:r>
            <a:r>
              <a:rPr lang="zh-CN" altLang="en-US" sz="1400" b="1" dirty="0">
                <a:solidFill>
                  <a:srgbClr val="0000CC"/>
                </a:solidFill>
                <a:latin typeface="微软雅黑" pitchFamily="34" charset="-122"/>
                <a:ea typeface="微软雅黑" pitchFamily="34" charset="-122"/>
              </a:rPr>
              <a:t>联系上，就可以一直保持与另一个移动站 </a:t>
            </a:r>
            <a:r>
              <a:rPr lang="en-US" altLang="zh-CN" sz="1400" b="1" dirty="0">
                <a:solidFill>
                  <a:srgbClr val="0000CC"/>
                </a:solidFill>
                <a:latin typeface="微软雅黑" pitchFamily="34" charset="-122"/>
                <a:ea typeface="微软雅黑" pitchFamily="34" charset="-122"/>
              </a:rPr>
              <a:t>B </a:t>
            </a:r>
            <a:r>
              <a:rPr lang="zh-CN" altLang="en-US" sz="1400" b="1" dirty="0">
                <a:solidFill>
                  <a:srgbClr val="0000CC"/>
                </a:solidFill>
                <a:latin typeface="微软雅黑" pitchFamily="34" charset="-122"/>
                <a:ea typeface="微软雅黑" pitchFamily="34" charset="-122"/>
              </a:rPr>
              <a:t>的通信。</a:t>
            </a:r>
            <a:endParaRPr lang="en-US" altLang="zh-CN" sz="14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5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的服务范围是由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所发射的电磁波的辐射范围确定的。</a:t>
            </a:r>
          </a:p>
        </p:txBody>
      </p:sp>
    </p:spTree>
    <p:extLst>
      <p:ext uri="{BB962C8B-B14F-4D97-AF65-F5344CB8AC3E}">
        <p14:creationId xmlns:p14="http://schemas.microsoft.com/office/powerpoint/2010/main" val="12405307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24144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itchFamily="34" charset="-122"/>
                <a:ea typeface="微软雅黑" pitchFamily="34" charset="-122"/>
              </a:rPr>
              <a:t>关联 </a:t>
            </a:r>
            <a:r>
              <a:rPr lang="en-US" altLang="zh-CN" sz="2000" b="1" dirty="0">
                <a:latin typeface="微软雅黑" pitchFamily="34" charset="-122"/>
                <a:ea typeface="微软雅黑" pitchFamily="34" charset="-122"/>
              </a:rPr>
              <a:t>(association)</a:t>
            </a:r>
          </a:p>
        </p:txBody>
      </p:sp>
      <p:sp>
        <p:nvSpPr>
          <p:cNvPr id="4" name="Rectangle 46"/>
          <p:cNvSpPr>
            <a:spLocks noChangeArrowheads="1"/>
          </p:cNvSpPr>
          <p:nvPr/>
        </p:nvSpPr>
        <p:spPr bwMode="auto">
          <a:xfrm>
            <a:off x="517853" y="943809"/>
            <a:ext cx="823718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一个移动站若要加入到一个 </a:t>
            </a:r>
            <a:r>
              <a:rPr lang="en-US" altLang="zh-CN" sz="2000" b="1" dirty="0">
                <a:latin typeface="微软雅黑" pitchFamily="34" charset="-122"/>
                <a:ea typeface="微软雅黑" pitchFamily="34" charset="-122"/>
              </a:rPr>
              <a:t>BSS</a:t>
            </a:r>
            <a:r>
              <a:rPr lang="zh-CN" altLang="en-US" sz="2000" b="1" dirty="0">
                <a:latin typeface="微软雅黑" pitchFamily="34" charset="-122"/>
                <a:ea typeface="微软雅黑" pitchFamily="34" charset="-122"/>
              </a:rPr>
              <a:t>，就必须先与某个 </a:t>
            </a:r>
            <a:r>
              <a:rPr lang="en-US" altLang="zh-CN" sz="2000" b="1" dirty="0">
                <a:latin typeface="微软雅黑" pitchFamily="34" charset="-122"/>
                <a:ea typeface="微软雅黑" pitchFamily="34" charset="-122"/>
              </a:rPr>
              <a:t>AP </a:t>
            </a:r>
            <a:r>
              <a:rPr lang="zh-CN" altLang="en-US" sz="2000" b="1" dirty="0">
                <a:solidFill>
                  <a:srgbClr val="0000FF"/>
                </a:solidFill>
                <a:latin typeface="微软雅黑" pitchFamily="34" charset="-122"/>
                <a:ea typeface="微软雅黑" pitchFamily="34" charset="-122"/>
              </a:rPr>
              <a:t>建立关联</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建立关联：</a:t>
            </a:r>
            <a:r>
              <a:rPr lang="zh-CN" altLang="en-US" sz="2000" b="1" dirty="0">
                <a:latin typeface="微软雅黑" pitchFamily="34" charset="-122"/>
                <a:ea typeface="微软雅黑" pitchFamily="34" charset="-122"/>
              </a:rPr>
              <a:t>表示这个移动站加入了选定的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所属的子网，并和这个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之间创建了一个</a:t>
            </a:r>
            <a:r>
              <a:rPr lang="zh-CN" altLang="en-US" sz="2000" b="1" dirty="0">
                <a:solidFill>
                  <a:srgbClr val="0000FF"/>
                </a:solidFill>
                <a:latin typeface="微软雅黑" pitchFamily="34" charset="-122"/>
                <a:ea typeface="微软雅黑" pitchFamily="34" charset="-122"/>
              </a:rPr>
              <a:t>虚拟线路</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只有关联的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才能向这个移动站发送数据帧，而这个移动站也只有通过关联的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才能向其他站点发送数据帧。</a:t>
            </a:r>
          </a:p>
        </p:txBody>
      </p:sp>
    </p:spTree>
    <p:extLst>
      <p:ext uri="{BB962C8B-B14F-4D97-AF65-F5344CB8AC3E}">
        <p14:creationId xmlns:p14="http://schemas.microsoft.com/office/powerpoint/2010/main" val="34665892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建立关联的两种方法：</a:t>
            </a:r>
            <a:r>
              <a:rPr lang="en-US" altLang="zh-CN" sz="2000" b="1" dirty="0">
                <a:solidFill>
                  <a:srgbClr val="0000FF"/>
                </a:solidFill>
                <a:latin typeface="微软雅黑" pitchFamily="34" charset="-122"/>
                <a:ea typeface="微软雅黑" pitchFamily="34" charset="-122"/>
                <a:sym typeface="Wingdings" panose="05000000000000000000" pitchFamily="2" charset="2"/>
              </a:rPr>
              <a:t>(1) </a:t>
            </a:r>
            <a:r>
              <a:rPr lang="zh-CN" altLang="en-US" sz="2000" b="1" dirty="0">
                <a:solidFill>
                  <a:srgbClr val="0000FF"/>
                </a:solidFill>
                <a:latin typeface="微软雅黑" pitchFamily="34" charset="-122"/>
                <a:ea typeface="微软雅黑" pitchFamily="34" charset="-122"/>
              </a:rPr>
              <a:t>被动扫描</a:t>
            </a:r>
            <a:endParaRPr lang="en-US" altLang="zh-CN" sz="2000" b="1" dirty="0">
              <a:solidFill>
                <a:srgbClr val="0000FF"/>
              </a:solidFill>
              <a:latin typeface="微软雅黑" pitchFamily="34" charset="-122"/>
              <a:ea typeface="微软雅黑" pitchFamily="34" charset="-122"/>
            </a:endParaRPr>
          </a:p>
        </p:txBody>
      </p:sp>
      <p:sp>
        <p:nvSpPr>
          <p:cNvPr id="8" name="Oval 70"/>
          <p:cNvSpPr>
            <a:spLocks noChangeArrowheads="1"/>
          </p:cNvSpPr>
          <p:nvPr/>
        </p:nvSpPr>
        <p:spPr bwMode="auto">
          <a:xfrm>
            <a:off x="2140830" y="1132542"/>
            <a:ext cx="2569492" cy="1649789"/>
          </a:xfrm>
          <a:prstGeom prst="ellipse">
            <a:avLst/>
          </a:prstGeom>
          <a:solidFill>
            <a:schemeClr val="bg1"/>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 name="Oval 70"/>
          <p:cNvSpPr>
            <a:spLocks noChangeArrowheads="1"/>
          </p:cNvSpPr>
          <p:nvPr/>
        </p:nvSpPr>
        <p:spPr bwMode="auto">
          <a:xfrm>
            <a:off x="4183909" y="1126274"/>
            <a:ext cx="2569492" cy="1649789"/>
          </a:xfrm>
          <a:prstGeom prst="ellipse">
            <a:avLst/>
          </a:prstGeom>
          <a:solidFill>
            <a:schemeClr val="bg1">
              <a:alpha val="70000"/>
            </a:scheme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 name="Text Box 84"/>
          <p:cNvSpPr txBox="1">
            <a:spLocks noChangeArrowheads="1"/>
          </p:cNvSpPr>
          <p:nvPr/>
        </p:nvSpPr>
        <p:spPr bwMode="auto">
          <a:xfrm>
            <a:off x="3051919" y="114173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11" name="Text Box 96"/>
          <p:cNvSpPr txBox="1">
            <a:spLocks noChangeArrowheads="1"/>
          </p:cNvSpPr>
          <p:nvPr/>
        </p:nvSpPr>
        <p:spPr bwMode="auto">
          <a:xfrm>
            <a:off x="4277085" y="2782331"/>
            <a:ext cx="3577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pic>
        <p:nvPicPr>
          <p:cNvPr id="25" name="Picture 222"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1195"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96"/>
          <p:cNvSpPr txBox="1">
            <a:spLocks noChangeArrowheads="1"/>
          </p:cNvSpPr>
          <p:nvPr/>
        </p:nvSpPr>
        <p:spPr bwMode="auto">
          <a:xfrm>
            <a:off x="2099596" y="176234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1</a:t>
            </a:r>
          </a:p>
        </p:txBody>
      </p:sp>
      <p:sp>
        <p:nvSpPr>
          <p:cNvPr id="27" name="Text Box 96"/>
          <p:cNvSpPr txBox="1">
            <a:spLocks noChangeArrowheads="1"/>
          </p:cNvSpPr>
          <p:nvPr/>
        </p:nvSpPr>
        <p:spPr bwMode="auto">
          <a:xfrm>
            <a:off x="5920965" y="1720410"/>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28" name="Text Box 84"/>
          <p:cNvSpPr txBox="1">
            <a:spLocks noChangeArrowheads="1"/>
          </p:cNvSpPr>
          <p:nvPr/>
        </p:nvSpPr>
        <p:spPr bwMode="auto">
          <a:xfrm>
            <a:off x="5041583" y="119458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4124458" y="2366750"/>
            <a:ext cx="670033" cy="464129"/>
            <a:chOff x="4406004" y="4260453"/>
            <a:chExt cx="558674" cy="429804"/>
          </a:xfrm>
        </p:grpSpPr>
        <p:grpSp>
          <p:nvGrpSpPr>
            <p:cNvPr id="38" name="Group 460"/>
            <p:cNvGrpSpPr>
              <a:grpSpLocks/>
            </p:cNvGrpSpPr>
            <p:nvPr/>
          </p:nvGrpSpPr>
          <p:grpSpPr bwMode="auto">
            <a:xfrm>
              <a:off x="4543772" y="4322623"/>
              <a:ext cx="420906" cy="367634"/>
              <a:chOff x="657" y="1570"/>
              <a:chExt cx="318" cy="318"/>
            </a:xfrm>
          </p:grpSpPr>
          <p:sp>
            <p:nvSpPr>
              <p:cNvPr id="4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9" name="Group 463"/>
            <p:cNvGrpSpPr>
              <a:grpSpLocks/>
            </p:cNvGrpSpPr>
            <p:nvPr/>
          </p:nvGrpSpPr>
          <p:grpSpPr bwMode="auto">
            <a:xfrm>
              <a:off x="4406004" y="4260453"/>
              <a:ext cx="405022" cy="119404"/>
              <a:chOff x="748" y="2251"/>
              <a:chExt cx="306" cy="90"/>
            </a:xfrm>
            <a:solidFill>
              <a:srgbClr val="0066FF"/>
            </a:solidFill>
          </p:grpSpPr>
          <p:sp>
            <p:nvSpPr>
              <p:cNvPr id="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pic>
        <p:nvPicPr>
          <p:cNvPr id="48" name="Picture 222"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54543"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2" name="组合 51"/>
          <p:cNvGrpSpPr/>
          <p:nvPr/>
        </p:nvGrpSpPr>
        <p:grpSpPr>
          <a:xfrm>
            <a:off x="3089312" y="1678757"/>
            <a:ext cx="1060126" cy="692116"/>
            <a:chOff x="3236796" y="1678757"/>
            <a:chExt cx="1060126" cy="692116"/>
          </a:xfrm>
        </p:grpSpPr>
        <p:sp>
          <p:nvSpPr>
            <p:cNvPr id="23" name="Line 245"/>
            <p:cNvSpPr>
              <a:spLocks noChangeShapeType="1"/>
            </p:cNvSpPr>
            <p:nvPr/>
          </p:nvSpPr>
          <p:spPr bwMode="auto">
            <a:xfrm>
              <a:off x="3469729" y="1897938"/>
              <a:ext cx="827193" cy="472935"/>
            </a:xfrm>
            <a:prstGeom prst="line">
              <a:avLst/>
            </a:prstGeom>
            <a:noFill/>
            <a:ln w="9525">
              <a:solidFill>
                <a:schemeClr val="tx1"/>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 name="TextBox 82"/>
            <p:cNvSpPr txBox="1">
              <a:spLocks noChangeArrowheads="1"/>
            </p:cNvSpPr>
            <p:nvPr/>
          </p:nvSpPr>
          <p:spPr bwMode="auto">
            <a:xfrm>
              <a:off x="3236796" y="1678757"/>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4701711" y="1835438"/>
            <a:ext cx="1077184" cy="718964"/>
            <a:chOff x="4849195" y="1835438"/>
            <a:chExt cx="1077184" cy="718964"/>
          </a:xfrm>
        </p:grpSpPr>
        <p:sp>
          <p:nvSpPr>
            <p:cNvPr id="36" name="Line 245"/>
            <p:cNvSpPr>
              <a:spLocks noChangeShapeType="1"/>
            </p:cNvSpPr>
            <p:nvPr/>
          </p:nvSpPr>
          <p:spPr bwMode="auto">
            <a:xfrm flipH="1">
              <a:off x="4849195" y="2049656"/>
              <a:ext cx="802569" cy="504746"/>
            </a:xfrm>
            <a:prstGeom prst="line">
              <a:avLst/>
            </a:prstGeom>
            <a:noFill/>
            <a:ln w="9525">
              <a:solidFill>
                <a:srgbClr val="0000FF"/>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 name="TextBox 91"/>
            <p:cNvSpPr txBox="1">
              <a:spLocks noChangeArrowheads="1"/>
            </p:cNvSpPr>
            <p:nvPr/>
          </p:nvSpPr>
          <p:spPr bwMode="auto">
            <a:xfrm>
              <a:off x="5536529" y="183543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3" name="组合 52"/>
          <p:cNvGrpSpPr/>
          <p:nvPr/>
        </p:nvGrpSpPr>
        <p:grpSpPr>
          <a:xfrm>
            <a:off x="4476374" y="1644505"/>
            <a:ext cx="1019582" cy="715114"/>
            <a:chOff x="4623858" y="1644505"/>
            <a:chExt cx="1019582" cy="715114"/>
          </a:xfrm>
        </p:grpSpPr>
        <p:sp>
          <p:nvSpPr>
            <p:cNvPr id="29" name="Line 245"/>
            <p:cNvSpPr>
              <a:spLocks noChangeShapeType="1"/>
            </p:cNvSpPr>
            <p:nvPr/>
          </p:nvSpPr>
          <p:spPr bwMode="auto">
            <a:xfrm flipH="1">
              <a:off x="4623858" y="1865150"/>
              <a:ext cx="770601" cy="494469"/>
            </a:xfrm>
            <a:prstGeom prst="line">
              <a:avLst/>
            </a:prstGeom>
            <a:noFill/>
            <a:ln w="9525">
              <a:solidFill>
                <a:schemeClr val="tx1"/>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 name="TextBox 94"/>
            <p:cNvSpPr txBox="1">
              <a:spLocks noChangeArrowheads="1"/>
            </p:cNvSpPr>
            <p:nvPr/>
          </p:nvSpPr>
          <p:spPr bwMode="auto">
            <a:xfrm>
              <a:off x="5253590" y="164450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33" name="椭圆 97"/>
          <p:cNvSpPr>
            <a:spLocks noChangeArrowheads="1"/>
          </p:cNvSpPr>
          <p:nvPr/>
        </p:nvSpPr>
        <p:spPr bwMode="auto">
          <a:xfrm>
            <a:off x="4777205" y="2525451"/>
            <a:ext cx="146862" cy="111711"/>
          </a:xfrm>
          <a:prstGeom prst="ellipse">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54" name="组合 53"/>
          <p:cNvGrpSpPr/>
          <p:nvPr/>
        </p:nvGrpSpPr>
        <p:grpSpPr>
          <a:xfrm>
            <a:off x="4486392" y="1878275"/>
            <a:ext cx="998745" cy="681631"/>
            <a:chOff x="4633876" y="1878275"/>
            <a:chExt cx="998745" cy="681631"/>
          </a:xfrm>
        </p:grpSpPr>
        <p:sp>
          <p:nvSpPr>
            <p:cNvPr id="7" name="Line 245"/>
            <p:cNvSpPr>
              <a:spLocks noChangeShapeType="1"/>
            </p:cNvSpPr>
            <p:nvPr/>
          </p:nvSpPr>
          <p:spPr bwMode="auto">
            <a:xfrm flipV="1">
              <a:off x="4867202" y="1878275"/>
              <a:ext cx="765419" cy="481344"/>
            </a:xfrm>
            <a:prstGeom prst="line">
              <a:avLst/>
            </a:prstGeom>
            <a:noFill/>
            <a:ln w="9525">
              <a:solidFill>
                <a:srgbClr val="9900CC"/>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TextBox 91"/>
            <p:cNvSpPr txBox="1">
              <a:spLocks noChangeArrowheads="1"/>
            </p:cNvSpPr>
            <p:nvPr/>
          </p:nvSpPr>
          <p:spPr bwMode="auto">
            <a:xfrm>
              <a:off x="4633876" y="219057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AP </a:t>
            </a:r>
            <a:r>
              <a:rPr lang="zh-CN" altLang="zh-CN" sz="1600" b="1" dirty="0">
                <a:latin typeface="微软雅黑" panose="020B0503020204020204" pitchFamily="34" charset="-122"/>
                <a:ea typeface="微软雅黑" panose="020B0503020204020204" pitchFamily="34" charset="-122"/>
              </a:rPr>
              <a:t>周期性发出</a:t>
            </a:r>
            <a:r>
              <a:rPr lang="zh-CN" altLang="zh-CN" sz="1600" b="1" dirty="0">
                <a:solidFill>
                  <a:srgbClr val="C00000"/>
                </a:solidFill>
                <a:latin typeface="微软雅黑" panose="020B0503020204020204" pitchFamily="34" charset="-122"/>
                <a:ea typeface="微软雅黑" panose="020B0503020204020204" pitchFamily="34" charset="-122"/>
              </a:rPr>
              <a:t>信标帧</a:t>
            </a:r>
            <a:r>
              <a:rPr lang="en-US" altLang="zh-CN" sz="1600" b="1" dirty="0">
                <a:latin typeface="微软雅黑" panose="020B0503020204020204" pitchFamily="34" charset="-122"/>
                <a:ea typeface="微软雅黑" panose="020B0503020204020204" pitchFamily="34" charset="-122"/>
              </a:rPr>
              <a:t> (beacon frame)</a:t>
            </a:r>
            <a:r>
              <a:rPr lang="zh-CN" altLang="zh-CN" sz="1600" b="1" dirty="0">
                <a:latin typeface="微软雅黑" panose="020B0503020204020204" pitchFamily="34" charset="-122"/>
                <a:ea typeface="微软雅黑" panose="020B0503020204020204" pitchFamily="34" charset="-122"/>
              </a:rPr>
              <a:t>，其中包含</a:t>
            </a:r>
            <a:r>
              <a:rPr lang="en-US" altLang="zh-CN" sz="1600" b="1" dirty="0">
                <a:latin typeface="微软雅黑" panose="020B0503020204020204" pitchFamily="34" charset="-122"/>
                <a:ea typeface="微软雅黑" panose="020B0503020204020204" pitchFamily="34" charset="-122"/>
              </a:rPr>
              <a:t> SSID </a:t>
            </a:r>
            <a:r>
              <a:rPr lang="zh-CN" altLang="en-US" sz="1600" b="1" dirty="0">
                <a:latin typeface="微软雅黑" panose="020B0503020204020204" pitchFamily="34" charset="-122"/>
                <a:ea typeface="微软雅黑" panose="020B0503020204020204" pitchFamily="34" charset="-122"/>
              </a:rPr>
              <a:t>、</a:t>
            </a:r>
            <a:r>
              <a:rPr lang="zh-CN" altLang="zh-CN" sz="1600" b="1" dirty="0">
                <a:latin typeface="微软雅黑" panose="020B0503020204020204" pitchFamily="34" charset="-122"/>
                <a:ea typeface="微软雅黑" panose="020B0503020204020204" pitchFamily="34" charset="-122"/>
              </a:rPr>
              <a:t>速率等系统参数。</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移动站</a:t>
            </a:r>
            <a:r>
              <a:rPr lang="en-US" altLang="zh-CN" sz="1600" b="1" dirty="0">
                <a:latin typeface="微软雅黑" panose="020B0503020204020204" pitchFamily="34" charset="-122"/>
                <a:ea typeface="微软雅黑" panose="020B0503020204020204" pitchFamily="34" charset="-122"/>
              </a:rPr>
              <a:t> A </a:t>
            </a:r>
            <a:r>
              <a:rPr lang="zh-CN" altLang="zh-CN" sz="1600" b="1" dirty="0">
                <a:latin typeface="微软雅黑" panose="020B0503020204020204" pitchFamily="34" charset="-122"/>
                <a:ea typeface="微软雅黑" panose="020B0503020204020204" pitchFamily="34" charset="-122"/>
              </a:rPr>
              <a:t>扫描</a:t>
            </a:r>
            <a:r>
              <a:rPr lang="en-US" altLang="zh-CN" sz="1600" b="1" dirty="0">
                <a:latin typeface="微软雅黑" panose="020B0503020204020204" pitchFamily="34" charset="-122"/>
                <a:ea typeface="微软雅黑" panose="020B0503020204020204" pitchFamily="34" charset="-122"/>
              </a:rPr>
              <a:t> 11 </a:t>
            </a:r>
            <a:r>
              <a:rPr lang="zh-CN" altLang="zh-CN" sz="1600" b="1" dirty="0">
                <a:latin typeface="微软雅黑" panose="020B0503020204020204" pitchFamily="34" charset="-122"/>
                <a:ea typeface="微软雅黑" panose="020B0503020204020204" pitchFamily="34" charset="-122"/>
              </a:rPr>
              <a:t>个信道，选择加入到</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所在的基本服务集</a:t>
            </a:r>
            <a:r>
              <a:rPr lang="en-US" altLang="zh-CN" sz="1600" b="1" dirty="0">
                <a:latin typeface="微软雅黑" panose="020B0503020204020204" pitchFamily="34" charset="-122"/>
                <a:ea typeface="微软雅黑" panose="020B0503020204020204" pitchFamily="34" charset="-122"/>
              </a:rPr>
              <a:t> BSS</a:t>
            </a:r>
            <a:r>
              <a:rPr lang="en-US" altLang="zh-CN" sz="1600" b="1" baseline="-25000" dirty="0">
                <a:latin typeface="微软雅黑" panose="020B0503020204020204" pitchFamily="34" charset="-122"/>
                <a:ea typeface="微软雅黑" panose="020B0503020204020204" pitchFamily="34" charset="-122"/>
              </a:rPr>
              <a:t>2</a:t>
            </a:r>
            <a:r>
              <a:rPr lang="zh-CN" altLang="zh-CN" sz="1600" b="1" dirty="0">
                <a:latin typeface="微软雅黑" panose="020B0503020204020204" pitchFamily="34" charset="-122"/>
                <a:ea typeface="微软雅黑" panose="020B0503020204020204" pitchFamily="34" charset="-122"/>
              </a:rPr>
              <a:t>，向</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发出</a:t>
            </a:r>
            <a:r>
              <a:rPr lang="zh-CN" altLang="zh-CN" sz="1600" b="1" dirty="0">
                <a:solidFill>
                  <a:srgbClr val="C00000"/>
                </a:solidFill>
                <a:latin typeface="微软雅黑" panose="020B0503020204020204" pitchFamily="34" charset="-122"/>
                <a:ea typeface="微软雅黑" panose="020B0503020204020204" pitchFamily="34" charset="-122"/>
              </a:rPr>
              <a:t>关联请求帧</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(Association Request frame)</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同意移动站</a:t>
            </a:r>
            <a:r>
              <a:rPr lang="en-US" altLang="zh-CN" sz="1600" b="1" dirty="0">
                <a:latin typeface="微软雅黑" panose="020B0503020204020204" pitchFamily="34" charset="-122"/>
                <a:ea typeface="微软雅黑" panose="020B0503020204020204" pitchFamily="34" charset="-122"/>
              </a:rPr>
              <a:t> A </a:t>
            </a:r>
            <a:r>
              <a:rPr lang="zh-CN" altLang="zh-CN" sz="1600" b="1" dirty="0">
                <a:latin typeface="微软雅黑" panose="020B0503020204020204" pitchFamily="34" charset="-122"/>
                <a:ea typeface="微软雅黑" panose="020B0503020204020204" pitchFamily="34" charset="-122"/>
              </a:rPr>
              <a:t>发来的关联请求，向移动站</a:t>
            </a:r>
            <a:r>
              <a:rPr lang="en-US" altLang="zh-CN" sz="1600" b="1" dirty="0">
                <a:latin typeface="微软雅黑" panose="020B0503020204020204" pitchFamily="34" charset="-122"/>
                <a:ea typeface="微软雅黑" panose="020B0503020204020204" pitchFamily="34" charset="-122"/>
              </a:rPr>
              <a:t>A</a:t>
            </a:r>
            <a:r>
              <a:rPr lang="zh-CN" altLang="zh-CN" sz="1600" b="1" dirty="0">
                <a:latin typeface="微软雅黑" panose="020B0503020204020204" pitchFamily="34" charset="-122"/>
                <a:ea typeface="微软雅黑" panose="020B0503020204020204" pitchFamily="34" charset="-122"/>
              </a:rPr>
              <a:t>发送</a:t>
            </a:r>
            <a:r>
              <a:rPr lang="zh-CN" altLang="zh-CN" sz="1600" b="1" dirty="0">
                <a:solidFill>
                  <a:srgbClr val="C00000"/>
                </a:solidFill>
                <a:latin typeface="微软雅黑" panose="020B0503020204020204" pitchFamily="34" charset="-122"/>
                <a:ea typeface="微软雅黑" panose="020B0503020204020204" pitchFamily="34" charset="-122"/>
              </a:rPr>
              <a:t>关联响应帧</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(Association Response frame)</a:t>
            </a:r>
            <a:r>
              <a:rPr lang="zh-CN" altLang="zh-CN"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031774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left)">
                                      <p:cBhvr>
                                        <p:cTn id="7" dur="1000"/>
                                        <p:tgtEl>
                                          <p:spTgt spid="52"/>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wipe(right)">
                                      <p:cBhvr>
                                        <p:cTn id="10" dur="1000"/>
                                        <p:tgtEl>
                                          <p:spTgt spid="5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55"/>
                                        </p:tgtEl>
                                        <p:attrNameLst>
                                          <p:attrName>style.visibility</p:attrName>
                                        </p:attrNameLst>
                                      </p:cBhvr>
                                      <p:to>
                                        <p:strVal val="visible"/>
                                      </p:to>
                                    </p:set>
                                    <p:animEffect transition="in" filter="wipe(right)">
                                      <p:cBhvr>
                                        <p:cTn id="20" dur="1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主动发出广播的</a:t>
            </a:r>
            <a:r>
              <a:rPr lang="zh-CN" altLang="en-US" sz="1600" b="1" dirty="0">
                <a:solidFill>
                  <a:srgbClr val="C00000"/>
                </a:solidFill>
                <a:latin typeface="微软雅黑" panose="020B0503020204020204" pitchFamily="34" charset="-122"/>
                <a:ea typeface="微软雅黑" panose="020B0503020204020204" pitchFamily="34" charset="-122"/>
              </a:rPr>
              <a:t>探测请求帧</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(Probe Request frame)</a:t>
            </a:r>
            <a:r>
              <a:rPr lang="zh-CN" altLang="en-US" sz="1600" b="1" dirty="0">
                <a:latin typeface="微软雅黑" panose="020B0503020204020204" pitchFamily="34" charset="-122"/>
                <a:ea typeface="微软雅黑" panose="020B0503020204020204" pitchFamily="34" charset="-122"/>
              </a:rPr>
              <a:t>，让所有能够收到此帧的接入点知道有移动站要求建立关联</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两个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都回答</a:t>
            </a:r>
            <a:r>
              <a:rPr lang="zh-CN" altLang="en-US" sz="1600" b="1" dirty="0">
                <a:solidFill>
                  <a:srgbClr val="C00000"/>
                </a:solidFill>
                <a:latin typeface="微软雅黑" panose="020B0503020204020204" pitchFamily="34" charset="-122"/>
                <a:ea typeface="微软雅黑" panose="020B0503020204020204" pitchFamily="34" charset="-122"/>
              </a:rPr>
              <a:t>探测响应帧 </a:t>
            </a:r>
            <a:r>
              <a:rPr lang="en-US" altLang="zh-CN" sz="1600" b="1" dirty="0">
                <a:latin typeface="微软雅黑" panose="020B0503020204020204" pitchFamily="34" charset="-122"/>
                <a:ea typeface="微软雅黑" panose="020B0503020204020204" pitchFamily="34" charset="-122"/>
              </a:rPr>
              <a:t>(Probe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向 </a:t>
            </a:r>
            <a:r>
              <a:rPr lang="en-US" altLang="zh-CN" sz="1600" b="1" dirty="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发出</a:t>
            </a:r>
            <a:r>
              <a:rPr lang="zh-CN" altLang="en-US" sz="1600" b="1" dirty="0">
                <a:solidFill>
                  <a:srgbClr val="C00000"/>
                </a:solidFill>
                <a:latin typeface="微软雅黑" panose="020B0503020204020204" pitchFamily="34" charset="-122"/>
                <a:ea typeface="微软雅黑" panose="020B0503020204020204" pitchFamily="34" charset="-122"/>
              </a:rPr>
              <a:t>关联请求帧 </a:t>
            </a:r>
            <a:r>
              <a:rPr lang="en-US" altLang="zh-CN" sz="1600" b="1" dirty="0">
                <a:latin typeface="微软雅黑" panose="020B0503020204020204" pitchFamily="34" charset="-122"/>
                <a:ea typeface="微软雅黑" panose="020B0503020204020204" pitchFamily="34" charset="-122"/>
              </a:rPr>
              <a:t>(Association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 </a:t>
            </a:r>
            <a:r>
              <a:rPr lang="en-US" altLang="zh-CN" sz="1600" b="1" dirty="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向移动站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发送关联响应帧，与移动站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建立关联。</a:t>
            </a:r>
          </a:p>
        </p:txBody>
      </p:sp>
      <p:sp>
        <p:nvSpPr>
          <p:cNvPr id="56"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建立关联的两种方法：</a:t>
            </a:r>
            <a:r>
              <a:rPr lang="en-US" altLang="zh-CN" sz="2000" b="1" dirty="0">
                <a:solidFill>
                  <a:srgbClr val="0000FF"/>
                </a:solidFill>
                <a:latin typeface="微软雅黑" pitchFamily="34" charset="-122"/>
                <a:ea typeface="微软雅黑" pitchFamily="34" charset="-122"/>
                <a:sym typeface="Wingdings" panose="05000000000000000000" pitchFamily="2" charset="2"/>
              </a:rPr>
              <a:t>(2) </a:t>
            </a:r>
            <a:r>
              <a:rPr lang="zh-CN" altLang="en-US" sz="2000" b="1" dirty="0">
                <a:solidFill>
                  <a:srgbClr val="0000FF"/>
                </a:solidFill>
                <a:latin typeface="微软雅黑" pitchFamily="34" charset="-122"/>
                <a:ea typeface="微软雅黑" pitchFamily="34" charset="-122"/>
              </a:rPr>
              <a:t>主动扫描</a:t>
            </a:r>
            <a:endParaRPr lang="en-US" altLang="zh-CN" sz="2000" b="1" dirty="0">
              <a:solidFill>
                <a:srgbClr val="0000FF"/>
              </a:solidFill>
              <a:latin typeface="微软雅黑" pitchFamily="34" charset="-122"/>
              <a:ea typeface="微软雅黑" pitchFamily="34" charset="-122"/>
            </a:endParaRPr>
          </a:p>
        </p:txBody>
      </p:sp>
      <p:sp>
        <p:nvSpPr>
          <p:cNvPr id="60" name="Oval 70"/>
          <p:cNvSpPr>
            <a:spLocks noChangeArrowheads="1"/>
          </p:cNvSpPr>
          <p:nvPr/>
        </p:nvSpPr>
        <p:spPr bwMode="auto">
          <a:xfrm>
            <a:off x="1668551" y="1109160"/>
            <a:ext cx="3178782" cy="1776142"/>
          </a:xfrm>
          <a:prstGeom prst="ellipse">
            <a:avLst/>
          </a:prstGeom>
          <a:solidFill>
            <a:srgbClr val="FFFFFF"/>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Oval 70"/>
          <p:cNvSpPr>
            <a:spLocks noChangeArrowheads="1"/>
          </p:cNvSpPr>
          <p:nvPr/>
        </p:nvSpPr>
        <p:spPr bwMode="auto">
          <a:xfrm>
            <a:off x="3986001" y="1119055"/>
            <a:ext cx="3178782" cy="1776142"/>
          </a:xfrm>
          <a:prstGeom prst="ellipse">
            <a:avLst/>
          </a:prstGeom>
          <a:solidFill>
            <a:srgbClr val="FFFFFF">
              <a:alpha val="70000"/>
            </a:srgb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Text Box 96"/>
          <p:cNvSpPr txBox="1">
            <a:spLocks noChangeArrowheads="1"/>
          </p:cNvSpPr>
          <p:nvPr/>
        </p:nvSpPr>
        <p:spPr bwMode="auto">
          <a:xfrm>
            <a:off x="4232067" y="2784624"/>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sp>
        <p:nvSpPr>
          <p:cNvPr id="78" name="Text Box 96"/>
          <p:cNvSpPr txBox="1">
            <a:spLocks noChangeArrowheads="1"/>
          </p:cNvSpPr>
          <p:nvPr/>
        </p:nvSpPr>
        <p:spPr bwMode="auto">
          <a:xfrm>
            <a:off x="2008839" y="182932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a:latin typeface="微软雅黑" panose="020B0503020204020204" pitchFamily="34" charset="-122"/>
                <a:ea typeface="微软雅黑" panose="020B0503020204020204" pitchFamily="34" charset="-122"/>
              </a:rPr>
              <a:t>AP</a:t>
            </a:r>
            <a:r>
              <a:rPr lang="en-US" altLang="zh-CN" sz="1800" b="1" baseline="-25000">
                <a:latin typeface="微软雅黑" panose="020B0503020204020204" pitchFamily="34" charset="-122"/>
                <a:ea typeface="微软雅黑" panose="020B0503020204020204" pitchFamily="34" charset="-122"/>
              </a:rPr>
              <a:t>1</a:t>
            </a:r>
          </a:p>
        </p:txBody>
      </p:sp>
      <p:grpSp>
        <p:nvGrpSpPr>
          <p:cNvPr id="114" name="组合 113"/>
          <p:cNvGrpSpPr/>
          <p:nvPr/>
        </p:nvGrpSpPr>
        <p:grpSpPr>
          <a:xfrm>
            <a:off x="4084482" y="2396894"/>
            <a:ext cx="670033" cy="464129"/>
            <a:chOff x="4406004" y="4260453"/>
            <a:chExt cx="558674" cy="429804"/>
          </a:xfrm>
        </p:grpSpPr>
        <p:grpSp>
          <p:nvGrpSpPr>
            <p:cNvPr id="115" name="Group 460"/>
            <p:cNvGrpSpPr>
              <a:grpSpLocks/>
            </p:cNvGrpSpPr>
            <p:nvPr/>
          </p:nvGrpSpPr>
          <p:grpSpPr bwMode="auto">
            <a:xfrm>
              <a:off x="4543772" y="4322623"/>
              <a:ext cx="420906" cy="367634"/>
              <a:chOff x="657" y="1570"/>
              <a:chExt cx="318" cy="318"/>
            </a:xfrm>
          </p:grpSpPr>
          <p:sp>
            <p:nvSpPr>
              <p:cNvPr id="12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oup 463"/>
            <p:cNvGrpSpPr>
              <a:grpSpLocks/>
            </p:cNvGrpSpPr>
            <p:nvPr/>
          </p:nvGrpSpPr>
          <p:grpSpPr bwMode="auto">
            <a:xfrm>
              <a:off x="4406004" y="4260453"/>
              <a:ext cx="405022" cy="119404"/>
              <a:chOff x="748" y="2251"/>
              <a:chExt cx="306" cy="90"/>
            </a:xfrm>
            <a:solidFill>
              <a:srgbClr val="0066FF"/>
            </a:solidFill>
          </p:grpSpPr>
          <p:sp>
            <p:nvSpPr>
              <p:cNvPr id="11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62" name="Text Box 84"/>
          <p:cNvSpPr txBox="1">
            <a:spLocks noChangeArrowheads="1"/>
          </p:cNvSpPr>
          <p:nvPr/>
        </p:nvSpPr>
        <p:spPr bwMode="auto">
          <a:xfrm>
            <a:off x="2880485" y="112029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79" name="Text Box 96"/>
          <p:cNvSpPr txBox="1">
            <a:spLocks noChangeArrowheads="1"/>
          </p:cNvSpPr>
          <p:nvPr/>
        </p:nvSpPr>
        <p:spPr bwMode="auto">
          <a:xfrm>
            <a:off x="6239034" y="1688701"/>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80" name="Text Box 84"/>
          <p:cNvSpPr txBox="1">
            <a:spLocks noChangeArrowheads="1"/>
          </p:cNvSpPr>
          <p:nvPr/>
        </p:nvSpPr>
        <p:spPr bwMode="auto">
          <a:xfrm>
            <a:off x="5237587" y="117595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19" name="组合 18"/>
          <p:cNvGrpSpPr/>
          <p:nvPr/>
        </p:nvGrpSpPr>
        <p:grpSpPr>
          <a:xfrm>
            <a:off x="4475127" y="2010990"/>
            <a:ext cx="1304124" cy="770522"/>
            <a:chOff x="4632443" y="2010990"/>
            <a:chExt cx="1304124" cy="770522"/>
          </a:xfrm>
        </p:grpSpPr>
        <p:sp>
          <p:nvSpPr>
            <p:cNvPr id="59" name="Line 245"/>
            <p:cNvSpPr>
              <a:spLocks noChangeShapeType="1"/>
            </p:cNvSpPr>
            <p:nvPr/>
          </p:nvSpPr>
          <p:spPr bwMode="auto">
            <a:xfrm flipV="1">
              <a:off x="4889252" y="2010990"/>
              <a:ext cx="1047315" cy="560463"/>
            </a:xfrm>
            <a:prstGeom prst="line">
              <a:avLst/>
            </a:prstGeom>
            <a:noFill/>
            <a:ln w="9525">
              <a:solidFill>
                <a:srgbClr val="9900CC"/>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82" name="TextBox 123"/>
            <p:cNvSpPr txBox="1">
              <a:spLocks noChangeArrowheads="1"/>
            </p:cNvSpPr>
            <p:nvPr/>
          </p:nvSpPr>
          <p:spPr bwMode="auto">
            <a:xfrm>
              <a:off x="4632443" y="2412180"/>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4676594" y="2229459"/>
            <a:ext cx="1953929" cy="521954"/>
            <a:chOff x="4833910" y="2229459"/>
            <a:chExt cx="1953929" cy="521954"/>
          </a:xfrm>
        </p:grpSpPr>
        <p:sp>
          <p:nvSpPr>
            <p:cNvPr id="93" name="Line 245"/>
            <p:cNvSpPr>
              <a:spLocks noChangeShapeType="1"/>
            </p:cNvSpPr>
            <p:nvPr/>
          </p:nvSpPr>
          <p:spPr bwMode="auto">
            <a:xfrm rot="5400000" flipH="1" flipV="1">
              <a:off x="5653313" y="1616886"/>
              <a:ext cx="315124" cy="195392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9" name="TextBox 90"/>
            <p:cNvSpPr txBox="1">
              <a:spLocks noChangeArrowheads="1"/>
            </p:cNvSpPr>
            <p:nvPr/>
          </p:nvSpPr>
          <p:spPr bwMode="auto">
            <a:xfrm>
              <a:off x="6360797" y="2229459"/>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pic>
        <p:nvPicPr>
          <p:cNvPr id="112" name="Picture 222"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00686" y="1720907"/>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222"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97943" y="1618681"/>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 name="组合 16"/>
          <p:cNvGrpSpPr/>
          <p:nvPr/>
        </p:nvGrpSpPr>
        <p:grpSpPr>
          <a:xfrm>
            <a:off x="2871760" y="1857159"/>
            <a:ext cx="1362200" cy="700678"/>
            <a:chOff x="3029076" y="1857159"/>
            <a:chExt cx="1362200" cy="700678"/>
          </a:xfrm>
        </p:grpSpPr>
        <p:sp>
          <p:nvSpPr>
            <p:cNvPr id="90" name="Line 245"/>
            <p:cNvSpPr>
              <a:spLocks noChangeShapeType="1"/>
            </p:cNvSpPr>
            <p:nvPr/>
          </p:nvSpPr>
          <p:spPr bwMode="auto">
            <a:xfrm>
              <a:off x="3285869" y="2037398"/>
              <a:ext cx="1105407" cy="520439"/>
            </a:xfrm>
            <a:prstGeom prst="line">
              <a:avLst/>
            </a:prstGeom>
            <a:noFill/>
            <a:ln w="9525">
              <a:solidFill>
                <a:srgbClr val="990000"/>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1" name="TextBox 126"/>
            <p:cNvSpPr txBox="1">
              <a:spLocks noChangeArrowheads="1"/>
            </p:cNvSpPr>
            <p:nvPr/>
          </p:nvSpPr>
          <p:spPr bwMode="auto">
            <a:xfrm>
              <a:off x="3029076" y="1857159"/>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3337723" y="1595641"/>
            <a:ext cx="824510" cy="798625"/>
            <a:chOff x="3495039" y="1595641"/>
            <a:chExt cx="824510" cy="798625"/>
          </a:xfrm>
        </p:grpSpPr>
        <p:sp>
          <p:nvSpPr>
            <p:cNvPr id="85" name="Line 245"/>
            <p:cNvSpPr>
              <a:spLocks noChangeShapeType="1"/>
            </p:cNvSpPr>
            <p:nvPr/>
          </p:nvSpPr>
          <p:spPr bwMode="auto">
            <a:xfrm rot="5400000" flipH="1">
              <a:off x="3511249" y="1585967"/>
              <a:ext cx="792089" cy="82451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5" name="TextBox 90"/>
            <p:cNvSpPr txBox="1">
              <a:spLocks noChangeArrowheads="1"/>
            </p:cNvSpPr>
            <p:nvPr/>
          </p:nvSpPr>
          <p:spPr bwMode="auto">
            <a:xfrm>
              <a:off x="3536962" y="159564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2" name="组合 11"/>
          <p:cNvGrpSpPr/>
          <p:nvPr/>
        </p:nvGrpSpPr>
        <p:grpSpPr>
          <a:xfrm>
            <a:off x="2862522" y="2113495"/>
            <a:ext cx="1391246" cy="532935"/>
            <a:chOff x="3019838" y="2113495"/>
            <a:chExt cx="1391246" cy="532935"/>
          </a:xfrm>
        </p:grpSpPr>
        <p:sp>
          <p:nvSpPr>
            <p:cNvPr id="75" name="Line 245"/>
            <p:cNvSpPr>
              <a:spLocks noChangeShapeType="1"/>
            </p:cNvSpPr>
            <p:nvPr/>
          </p:nvSpPr>
          <p:spPr bwMode="auto">
            <a:xfrm rot="5400000" flipH="1">
              <a:off x="3448993" y="1684340"/>
              <a:ext cx="532935" cy="1391246"/>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6" name="TextBox 90"/>
            <p:cNvSpPr txBox="1">
              <a:spLocks noChangeArrowheads="1"/>
            </p:cNvSpPr>
            <p:nvPr/>
          </p:nvSpPr>
          <p:spPr bwMode="auto">
            <a:xfrm>
              <a:off x="3235828" y="215836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662057" y="2439874"/>
            <a:ext cx="1541617" cy="369332"/>
            <a:chOff x="2819373" y="2439874"/>
            <a:chExt cx="1541617" cy="369332"/>
          </a:xfrm>
        </p:grpSpPr>
        <p:sp>
          <p:nvSpPr>
            <p:cNvPr id="84" name="Line 245"/>
            <p:cNvSpPr>
              <a:spLocks noChangeShapeType="1"/>
            </p:cNvSpPr>
            <p:nvPr/>
          </p:nvSpPr>
          <p:spPr bwMode="auto">
            <a:xfrm rot="5400000" flipH="1">
              <a:off x="3507010" y="1817946"/>
              <a:ext cx="166343" cy="1541617"/>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7" name="TextBox 90"/>
            <p:cNvSpPr txBox="1">
              <a:spLocks noChangeArrowheads="1"/>
            </p:cNvSpPr>
            <p:nvPr/>
          </p:nvSpPr>
          <p:spPr bwMode="auto">
            <a:xfrm>
              <a:off x="3097577" y="2439874"/>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4560957" y="1765465"/>
            <a:ext cx="1300008" cy="760214"/>
            <a:chOff x="4718273" y="1765465"/>
            <a:chExt cx="1300008" cy="760214"/>
          </a:xfrm>
        </p:grpSpPr>
        <p:sp>
          <p:nvSpPr>
            <p:cNvPr id="83" name="Line 245"/>
            <p:cNvSpPr>
              <a:spLocks noChangeShapeType="1"/>
            </p:cNvSpPr>
            <p:nvPr/>
          </p:nvSpPr>
          <p:spPr bwMode="auto">
            <a:xfrm flipH="1">
              <a:off x="4718273" y="1975880"/>
              <a:ext cx="1036797" cy="549799"/>
            </a:xfrm>
            <a:prstGeom prst="line">
              <a:avLst/>
            </a:prstGeom>
            <a:noFill/>
            <a:ln w="9525">
              <a:solidFill>
                <a:srgbClr val="990000"/>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8" name="TextBox 126"/>
            <p:cNvSpPr txBox="1">
              <a:spLocks noChangeArrowheads="1"/>
            </p:cNvSpPr>
            <p:nvPr/>
          </p:nvSpPr>
          <p:spPr bwMode="auto">
            <a:xfrm>
              <a:off x="5628431" y="176546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5" name="组合 14"/>
          <p:cNvGrpSpPr/>
          <p:nvPr/>
        </p:nvGrpSpPr>
        <p:grpSpPr>
          <a:xfrm>
            <a:off x="4461827" y="1838412"/>
            <a:ext cx="1083478" cy="611510"/>
            <a:chOff x="4619143" y="1838412"/>
            <a:chExt cx="1083478" cy="611510"/>
          </a:xfrm>
        </p:grpSpPr>
        <p:sp>
          <p:nvSpPr>
            <p:cNvPr id="81" name="Line 245"/>
            <p:cNvSpPr>
              <a:spLocks noChangeShapeType="1"/>
            </p:cNvSpPr>
            <p:nvPr/>
          </p:nvSpPr>
          <p:spPr bwMode="auto">
            <a:xfrm flipV="1">
              <a:off x="4619143" y="1846775"/>
              <a:ext cx="1083478" cy="603147"/>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9" name="TextBox 90"/>
            <p:cNvSpPr txBox="1">
              <a:spLocks noChangeArrowheads="1"/>
            </p:cNvSpPr>
            <p:nvPr/>
          </p:nvSpPr>
          <p:spPr bwMode="auto">
            <a:xfrm>
              <a:off x="5055047" y="183841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4761421" y="1920866"/>
            <a:ext cx="1307897" cy="777350"/>
            <a:chOff x="4918737" y="1920866"/>
            <a:chExt cx="1307897" cy="777350"/>
          </a:xfrm>
        </p:grpSpPr>
        <p:sp>
          <p:nvSpPr>
            <p:cNvPr id="92" name="Line 245"/>
            <p:cNvSpPr>
              <a:spLocks noChangeShapeType="1"/>
            </p:cNvSpPr>
            <p:nvPr/>
          </p:nvSpPr>
          <p:spPr bwMode="auto">
            <a:xfrm flipH="1">
              <a:off x="4918737" y="2132524"/>
              <a:ext cx="1069983" cy="565692"/>
            </a:xfrm>
            <a:prstGeom prst="line">
              <a:avLst/>
            </a:prstGeom>
            <a:noFill/>
            <a:ln w="9525">
              <a:solidFill>
                <a:srgbClr val="0000FF"/>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8" name="TextBox 89"/>
            <p:cNvSpPr txBox="1">
              <a:spLocks noChangeArrowheads="1"/>
            </p:cNvSpPr>
            <p:nvPr/>
          </p:nvSpPr>
          <p:spPr bwMode="auto">
            <a:xfrm>
              <a:off x="5836784" y="192086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4102764" y="1551959"/>
            <a:ext cx="409513" cy="860221"/>
            <a:chOff x="4260080" y="1551959"/>
            <a:chExt cx="409513" cy="860221"/>
          </a:xfrm>
        </p:grpSpPr>
        <p:sp>
          <p:nvSpPr>
            <p:cNvPr id="86" name="Line 245"/>
            <p:cNvSpPr>
              <a:spLocks noChangeShapeType="1"/>
            </p:cNvSpPr>
            <p:nvPr/>
          </p:nvSpPr>
          <p:spPr bwMode="auto">
            <a:xfrm rot="5400000" flipH="1" flipV="1">
              <a:off x="4086080" y="1980452"/>
              <a:ext cx="860221" cy="3236"/>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0" name="TextBox 90"/>
            <p:cNvSpPr txBox="1">
              <a:spLocks noChangeArrowheads="1"/>
            </p:cNvSpPr>
            <p:nvPr/>
          </p:nvSpPr>
          <p:spPr bwMode="auto">
            <a:xfrm>
              <a:off x="4260080" y="164596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21" name="矩形 20"/>
          <p:cNvSpPr/>
          <p:nvPr/>
        </p:nvSpPr>
        <p:spPr>
          <a:xfrm>
            <a:off x="7213335" y="1774568"/>
            <a:ext cx="1438649" cy="1323439"/>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一个移动站可以</a:t>
            </a:r>
            <a:r>
              <a:rPr lang="zh-CN" altLang="en-US" sz="1600" b="1" dirty="0">
                <a:solidFill>
                  <a:srgbClr val="C00000"/>
                </a:solidFill>
                <a:latin typeface="微软雅黑" pitchFamily="34" charset="-122"/>
                <a:ea typeface="微软雅黑" pitchFamily="34" charset="-122"/>
              </a:rPr>
              <a:t>同时</a:t>
            </a:r>
            <a:r>
              <a:rPr lang="zh-CN" altLang="en-US" sz="1600" b="1" dirty="0">
                <a:latin typeface="微软雅黑" pitchFamily="34" charset="-122"/>
                <a:ea typeface="微软雅黑" pitchFamily="34" charset="-122"/>
              </a:rPr>
              <a:t>进行主动扫描和被动扫描。</a:t>
            </a:r>
            <a:endParaRPr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22313153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repeatCount="3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right)">
                                      <p:cBhvr>
                                        <p:cTn id="10" dur="1000"/>
                                        <p:tgtEl>
                                          <p:spTgt spid="12"/>
                                        </p:tgtEl>
                                      </p:cBhvr>
                                    </p:animEffect>
                                  </p:childTnLst>
                                </p:cTn>
                              </p:par>
                              <p:par>
                                <p:cTn id="11" presetID="22" presetClass="entr" presetSubtype="2" repeatCount="300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right)">
                                      <p:cBhvr>
                                        <p:cTn id="13" dur="1000"/>
                                        <p:tgtEl>
                                          <p:spTgt spid="13"/>
                                        </p:tgtEl>
                                      </p:cBhvr>
                                    </p:animEffect>
                                  </p:childTnLst>
                                </p:cTn>
                              </p:par>
                              <p:par>
                                <p:cTn id="14" presetID="22" presetClass="entr" presetSubtype="4" repeatCount="300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1000"/>
                                        <p:tgtEl>
                                          <p:spTgt spid="14"/>
                                        </p:tgtEl>
                                      </p:cBhvr>
                                    </p:animEffect>
                                  </p:childTnLst>
                                </p:cTn>
                              </p:par>
                              <p:par>
                                <p:cTn id="17" presetID="22" presetClass="entr" presetSubtype="8" repeatCount="3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1000"/>
                                        <p:tgtEl>
                                          <p:spTgt spid="15"/>
                                        </p:tgtEl>
                                      </p:cBhvr>
                                    </p:animEffect>
                                  </p:childTnLst>
                                </p:cTn>
                              </p:par>
                              <p:par>
                                <p:cTn id="20" presetID="22" presetClass="entr" presetSubtype="8" repeatCount="3000"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left)">
                                      <p:cBhvr>
                                        <p:cTn id="22" dur="10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1000"/>
                                        <p:tgtEl>
                                          <p:spTgt spid="17"/>
                                        </p:tgtEl>
                                      </p:cBhvr>
                                    </p:animEffect>
                                  </p:childTnLst>
                                </p:cTn>
                              </p:par>
                              <p:par>
                                <p:cTn id="28" presetID="22" presetClass="entr" presetSubtype="2"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wipe(right)">
                                      <p:cBhvr>
                                        <p:cTn id="30" dur="1000"/>
                                        <p:tgtEl>
                                          <p:spTgt spid="1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down)">
                                      <p:cBhvr>
                                        <p:cTn id="35" dur="10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wipe(up)">
                                      <p:cBhvr>
                                        <p:cTn id="40" dur="10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18228"/>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8400"/>
            <a:ext cx="5845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重建关联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reassociation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和分离 </a:t>
            </a:r>
            <a:r>
              <a:rPr lang="en-US" altLang="zh-CN" sz="2000" b="1" dirty="0">
                <a:latin typeface="微软雅黑" pitchFamily="34" charset="-122"/>
                <a:ea typeface="微软雅黑" pitchFamily="34" charset="-122"/>
              </a:rPr>
              <a:t>(dissociation)</a:t>
            </a:r>
          </a:p>
        </p:txBody>
      </p:sp>
      <p:sp>
        <p:nvSpPr>
          <p:cNvPr id="4" name="Rectangle 46"/>
          <p:cNvSpPr>
            <a:spLocks noChangeArrowheads="1"/>
          </p:cNvSpPr>
          <p:nvPr/>
        </p:nvSpPr>
        <p:spPr bwMode="auto">
          <a:xfrm>
            <a:off x="517853" y="928050"/>
            <a:ext cx="8133857"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移动站使用</a:t>
            </a:r>
            <a:r>
              <a:rPr lang="zh-CN" altLang="en-US" sz="2000" b="1" dirty="0">
                <a:solidFill>
                  <a:srgbClr val="C00000"/>
                </a:solidFill>
                <a:latin typeface="微软雅黑" pitchFamily="34" charset="-122"/>
                <a:ea typeface="微软雅黑" pitchFamily="34" charset="-122"/>
              </a:rPr>
              <a:t>重建关联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reassociation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服务，可把这种关联转移到另一个接入点。</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当使用</a:t>
            </a:r>
            <a:r>
              <a:rPr lang="zh-CN" altLang="en-US" sz="2000" b="1" dirty="0">
                <a:solidFill>
                  <a:srgbClr val="C00000"/>
                </a:solidFill>
                <a:latin typeface="微软雅黑" pitchFamily="34" charset="-122"/>
                <a:ea typeface="微软雅黑" pitchFamily="34" charset="-122"/>
              </a:rPr>
              <a:t>分离</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(dissociation) </a:t>
            </a:r>
            <a:r>
              <a:rPr lang="zh-CN" altLang="en-US" sz="2000" b="1" dirty="0">
                <a:latin typeface="微软雅黑" pitchFamily="34" charset="-122"/>
                <a:ea typeface="微软雅黑" pitchFamily="34" charset="-122"/>
              </a:rPr>
              <a:t>服务时，可终止这种关联。</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14558507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322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p>
        </p:txBody>
      </p:sp>
      <p:sp>
        <p:nvSpPr>
          <p:cNvPr id="6" name="矩形 4"/>
          <p:cNvSpPr>
            <a:spLocks noChangeArrowheads="1"/>
          </p:cNvSpPr>
          <p:nvPr/>
        </p:nvSpPr>
        <p:spPr bwMode="auto">
          <a:xfrm>
            <a:off x="635843" y="573396"/>
            <a:ext cx="37296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安全地建立关联</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617"/>
            <a:ext cx="813385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用户在和附近的接入点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建立关联时，一般还要键入用户密码。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初期加密方案：</a:t>
            </a:r>
            <a:r>
              <a:rPr lang="zh-CN" altLang="en-US" sz="2000" b="1" dirty="0">
                <a:solidFill>
                  <a:srgbClr val="C00000"/>
                </a:solidFill>
                <a:latin typeface="微软雅黑" pitchFamily="34" charset="-122"/>
                <a:ea typeface="微软雅黑" pitchFamily="34" charset="-122"/>
              </a:rPr>
              <a:t>有线等效的保密 </a:t>
            </a:r>
            <a:r>
              <a:rPr lang="en-US" altLang="zh-CN" sz="2000" b="1" dirty="0">
                <a:solidFill>
                  <a:srgbClr val="C00000"/>
                </a:solidFill>
                <a:latin typeface="微软雅黑" pitchFamily="34" charset="-122"/>
                <a:ea typeface="微软雅黑" pitchFamily="34" charset="-122"/>
              </a:rPr>
              <a:t>WEP </a:t>
            </a:r>
            <a:r>
              <a:rPr lang="en-US" altLang="zh-CN" sz="2000" b="1" dirty="0">
                <a:latin typeface="微软雅黑" pitchFamily="34" charset="-122"/>
                <a:ea typeface="微软雅黑" pitchFamily="34" charset="-122"/>
              </a:rPr>
              <a:t>(Wired Equivalent Privacy)</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现在加密方案：</a:t>
            </a:r>
            <a:r>
              <a:rPr lang="zh-CN" altLang="en-US" sz="2000" b="1" dirty="0">
                <a:solidFill>
                  <a:srgbClr val="C00000"/>
                </a:solidFill>
                <a:latin typeface="微软雅黑" pitchFamily="34" charset="-122"/>
                <a:ea typeface="微软雅黑" pitchFamily="34" charset="-122"/>
              </a:rPr>
              <a:t>无线局域网受保护的接入 </a:t>
            </a:r>
            <a:r>
              <a:rPr lang="en-US" altLang="zh-CN" sz="2000" b="1" dirty="0">
                <a:solidFill>
                  <a:srgbClr val="C00000"/>
                </a:solidFill>
                <a:latin typeface="微软雅黑" pitchFamily="34" charset="-122"/>
                <a:ea typeface="微软雅黑" pitchFamily="34" charset="-122"/>
              </a:rPr>
              <a:t>WPA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WiFi</a:t>
            </a:r>
            <a:r>
              <a:rPr lang="en-US" altLang="zh-CN" sz="2000" b="1" dirty="0">
                <a:latin typeface="微软雅黑" pitchFamily="34" charset="-122"/>
                <a:ea typeface="微软雅黑" pitchFamily="34" charset="-122"/>
              </a:rPr>
              <a:t> Protected Access)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WPA2</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21723408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圆角矩形 154"/>
          <p:cNvSpPr/>
          <p:nvPr/>
        </p:nvSpPr>
        <p:spPr>
          <a:xfrm>
            <a:off x="509475" y="2168700"/>
            <a:ext cx="8129015" cy="21672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46"/>
          <p:cNvSpPr>
            <a:spLocks noChangeArrowheads="1"/>
          </p:cNvSpPr>
          <p:nvPr/>
        </p:nvSpPr>
        <p:spPr bwMode="auto">
          <a:xfrm>
            <a:off x="509475" y="964105"/>
            <a:ext cx="8129015" cy="1246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C00000"/>
                </a:solidFill>
                <a:latin typeface="微软雅黑" pitchFamily="34" charset="-122"/>
                <a:ea typeface="微软雅黑" pitchFamily="34" charset="-122"/>
              </a:rPr>
              <a:t>自组网络 </a:t>
            </a:r>
            <a:r>
              <a:rPr lang="en-US" altLang="zh-CN" sz="2000" b="1" dirty="0">
                <a:latin typeface="微软雅黑" pitchFamily="34" charset="-122"/>
                <a:ea typeface="微软雅黑" pitchFamily="34" charset="-122"/>
              </a:rPr>
              <a:t>(ad hoc network) </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是没有固定基础设施（即没有 </a:t>
            </a:r>
            <a:r>
              <a:rPr lang="en-US" altLang="zh-CN" sz="2000" b="1" dirty="0">
                <a:latin typeface="微软雅黑" pitchFamily="34" charset="-122"/>
                <a:ea typeface="微软雅黑" pitchFamily="34" charset="-122"/>
              </a:rPr>
              <a:t>AP</a:t>
            </a:r>
            <a:r>
              <a:rPr lang="zh-CN" altLang="en-US" sz="2000" b="1" dirty="0">
                <a:latin typeface="微软雅黑" pitchFamily="34" charset="-122"/>
                <a:ea typeface="微软雅黑" pitchFamily="34" charset="-122"/>
              </a:rPr>
              <a:t>）的无线局域网。</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移动站都处于平等状态。</a:t>
            </a:r>
          </a:p>
        </p:txBody>
      </p:sp>
      <p:sp>
        <p:nvSpPr>
          <p:cNvPr id="3" name="AutoShape 5"/>
          <p:cNvSpPr>
            <a:spLocks noChangeArrowheads="1"/>
          </p:cNvSpPr>
          <p:nvPr/>
        </p:nvSpPr>
        <p:spPr bwMode="auto">
          <a:xfrm>
            <a:off x="509475" y="61077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7563"/>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
        <p:nvSpPr>
          <p:cNvPr id="5" name="Oval 21"/>
          <p:cNvSpPr>
            <a:spLocks noChangeArrowheads="1"/>
          </p:cNvSpPr>
          <p:nvPr/>
        </p:nvSpPr>
        <p:spPr bwMode="auto">
          <a:xfrm>
            <a:off x="2096395" y="2638111"/>
            <a:ext cx="4509748" cy="1393523"/>
          </a:xfrm>
          <a:prstGeom prst="ellipse">
            <a:avLst/>
          </a:prstGeom>
          <a:solidFill>
            <a:srgbClr val="99FF99"/>
          </a:solidFill>
          <a:ln w="9525">
            <a:solidFill>
              <a:schemeClr val="tx1"/>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 name="Text Box 45"/>
          <p:cNvSpPr txBox="1">
            <a:spLocks noChangeArrowheads="1"/>
          </p:cNvSpPr>
          <p:nvPr/>
        </p:nvSpPr>
        <p:spPr bwMode="auto">
          <a:xfrm>
            <a:off x="3833313" y="3133732"/>
            <a:ext cx="1023847"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自组网络</a:t>
            </a:r>
          </a:p>
        </p:txBody>
      </p:sp>
      <p:sp>
        <p:nvSpPr>
          <p:cNvPr id="7" name="Text Box 172"/>
          <p:cNvSpPr txBox="1">
            <a:spLocks noChangeArrowheads="1"/>
          </p:cNvSpPr>
          <p:nvPr/>
        </p:nvSpPr>
        <p:spPr bwMode="auto">
          <a:xfrm>
            <a:off x="3125435" y="3498082"/>
            <a:ext cx="34258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8" name="Text Box 173"/>
          <p:cNvSpPr txBox="1">
            <a:spLocks noChangeArrowheads="1"/>
          </p:cNvSpPr>
          <p:nvPr/>
        </p:nvSpPr>
        <p:spPr bwMode="auto">
          <a:xfrm>
            <a:off x="6289406" y="3104401"/>
            <a:ext cx="30527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9" name="Text Box 174"/>
          <p:cNvSpPr txBox="1">
            <a:spLocks noChangeArrowheads="1"/>
          </p:cNvSpPr>
          <p:nvPr/>
        </p:nvSpPr>
        <p:spPr bwMode="auto">
          <a:xfrm>
            <a:off x="5144058" y="2654060"/>
            <a:ext cx="35069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D</a:t>
            </a:r>
          </a:p>
        </p:txBody>
      </p:sp>
      <p:sp>
        <p:nvSpPr>
          <p:cNvPr id="10" name="Text Box 175"/>
          <p:cNvSpPr txBox="1">
            <a:spLocks noChangeArrowheads="1"/>
          </p:cNvSpPr>
          <p:nvPr/>
        </p:nvSpPr>
        <p:spPr bwMode="auto">
          <a:xfrm>
            <a:off x="3794689" y="2577449"/>
            <a:ext cx="336092"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11" name="Text Box 176"/>
          <p:cNvSpPr txBox="1">
            <a:spLocks noChangeArrowheads="1"/>
          </p:cNvSpPr>
          <p:nvPr/>
        </p:nvSpPr>
        <p:spPr bwMode="auto">
          <a:xfrm>
            <a:off x="2214935" y="2986720"/>
            <a:ext cx="32960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12" name="Text Box 177"/>
          <p:cNvSpPr txBox="1">
            <a:spLocks noChangeArrowheads="1"/>
          </p:cNvSpPr>
          <p:nvPr/>
        </p:nvSpPr>
        <p:spPr bwMode="auto">
          <a:xfrm>
            <a:off x="5017366" y="3543961"/>
            <a:ext cx="313383"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F</a:t>
            </a:r>
          </a:p>
        </p:txBody>
      </p:sp>
      <p:sp>
        <p:nvSpPr>
          <p:cNvPr id="13" name="AutoShape 179"/>
          <p:cNvSpPr>
            <a:spLocks noChangeArrowheads="1"/>
          </p:cNvSpPr>
          <p:nvPr/>
        </p:nvSpPr>
        <p:spPr bwMode="auto">
          <a:xfrm rot="114164">
            <a:off x="3981022" y="2823305"/>
            <a:ext cx="1012853" cy="139894"/>
          </a:xfrm>
          <a:prstGeom prst="rightArrow">
            <a:avLst>
              <a:gd name="adj1" fmla="val 50000"/>
              <a:gd name="adj2" fmla="val 137745"/>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4" name="AutoShape 180"/>
          <p:cNvSpPr>
            <a:spLocks noChangeArrowheads="1"/>
          </p:cNvSpPr>
          <p:nvPr/>
        </p:nvSpPr>
        <p:spPr bwMode="auto">
          <a:xfrm rot="1262345">
            <a:off x="5355894" y="3026335"/>
            <a:ext cx="778607" cy="121323"/>
          </a:xfrm>
          <a:prstGeom prst="rightArrow">
            <a:avLst>
              <a:gd name="adj1" fmla="val 50000"/>
              <a:gd name="adj2" fmla="val 122096"/>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5" name="AutoShape 181"/>
          <p:cNvSpPr>
            <a:spLocks noChangeArrowheads="1"/>
          </p:cNvSpPr>
          <p:nvPr/>
        </p:nvSpPr>
        <p:spPr bwMode="auto">
          <a:xfrm rot="20907191">
            <a:off x="2795144" y="2914916"/>
            <a:ext cx="858464" cy="127514"/>
          </a:xfrm>
          <a:prstGeom prst="rightArrow">
            <a:avLst>
              <a:gd name="adj1" fmla="val 50000"/>
              <a:gd name="adj2" fmla="val 128084"/>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6" name="AutoShape 182"/>
          <p:cNvSpPr>
            <a:spLocks noChangeArrowheads="1"/>
          </p:cNvSpPr>
          <p:nvPr/>
        </p:nvSpPr>
        <p:spPr bwMode="auto">
          <a:xfrm rot="14368129">
            <a:off x="2548223" y="3359506"/>
            <a:ext cx="424632" cy="119786"/>
          </a:xfrm>
          <a:prstGeom prst="rightArrow">
            <a:avLst>
              <a:gd name="adj1" fmla="val 50000"/>
              <a:gd name="adj2" fmla="val 77951"/>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 name="Text Box 183"/>
          <p:cNvSpPr txBox="1">
            <a:spLocks noChangeArrowheads="1"/>
          </p:cNvSpPr>
          <p:nvPr/>
        </p:nvSpPr>
        <p:spPr bwMode="auto">
          <a:xfrm>
            <a:off x="2653789" y="3925323"/>
            <a:ext cx="800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源节点</a:t>
            </a:r>
          </a:p>
        </p:txBody>
      </p:sp>
      <p:sp>
        <p:nvSpPr>
          <p:cNvPr id="18" name="Text Box 184"/>
          <p:cNvSpPr txBox="1">
            <a:spLocks noChangeArrowheads="1"/>
          </p:cNvSpPr>
          <p:nvPr/>
        </p:nvSpPr>
        <p:spPr bwMode="auto">
          <a:xfrm>
            <a:off x="6535756" y="3097107"/>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目的节点</a:t>
            </a:r>
          </a:p>
        </p:txBody>
      </p:sp>
      <p:sp>
        <p:nvSpPr>
          <p:cNvPr id="19" name="Text Box 185"/>
          <p:cNvSpPr txBox="1">
            <a:spLocks noChangeArrowheads="1"/>
          </p:cNvSpPr>
          <p:nvPr/>
        </p:nvSpPr>
        <p:spPr bwMode="auto">
          <a:xfrm>
            <a:off x="1338556" y="2785264"/>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0" name="Text Box 186"/>
          <p:cNvSpPr txBox="1">
            <a:spLocks noChangeArrowheads="1"/>
          </p:cNvSpPr>
          <p:nvPr/>
        </p:nvSpPr>
        <p:spPr bwMode="auto">
          <a:xfrm>
            <a:off x="3174784" y="2261969"/>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1" name="Text Box 187"/>
          <p:cNvSpPr txBox="1">
            <a:spLocks noChangeArrowheads="1"/>
          </p:cNvSpPr>
          <p:nvPr/>
        </p:nvSpPr>
        <p:spPr bwMode="auto">
          <a:xfrm>
            <a:off x="4765097" y="2299048"/>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grpSp>
        <p:nvGrpSpPr>
          <p:cNvPr id="89" name="组合 88"/>
          <p:cNvGrpSpPr/>
          <p:nvPr/>
        </p:nvGrpSpPr>
        <p:grpSpPr>
          <a:xfrm>
            <a:off x="2769848" y="3451678"/>
            <a:ext cx="614662" cy="423778"/>
            <a:chOff x="4406004" y="4260453"/>
            <a:chExt cx="558674" cy="429804"/>
          </a:xfrm>
        </p:grpSpPr>
        <p:grpSp>
          <p:nvGrpSpPr>
            <p:cNvPr id="90" name="Group 460"/>
            <p:cNvGrpSpPr>
              <a:grpSpLocks/>
            </p:cNvGrpSpPr>
            <p:nvPr/>
          </p:nvGrpSpPr>
          <p:grpSpPr bwMode="auto">
            <a:xfrm>
              <a:off x="4543772" y="4322623"/>
              <a:ext cx="420906" cy="367634"/>
              <a:chOff x="657" y="1570"/>
              <a:chExt cx="318" cy="318"/>
            </a:xfrm>
          </p:grpSpPr>
          <p:sp>
            <p:nvSpPr>
              <p:cNvPr id="9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9"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 name="Group 463"/>
            <p:cNvGrpSpPr>
              <a:grpSpLocks/>
            </p:cNvGrpSpPr>
            <p:nvPr/>
          </p:nvGrpSpPr>
          <p:grpSpPr bwMode="auto">
            <a:xfrm>
              <a:off x="4406004" y="4260453"/>
              <a:ext cx="405022" cy="119404"/>
              <a:chOff x="748" y="2251"/>
              <a:chExt cx="306" cy="90"/>
            </a:xfrm>
            <a:solidFill>
              <a:srgbClr val="0066FF"/>
            </a:solidFill>
          </p:grpSpPr>
          <p:sp>
            <p:nvSpPr>
              <p:cNvPr id="9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00" name="组合 99"/>
          <p:cNvGrpSpPr/>
          <p:nvPr/>
        </p:nvGrpSpPr>
        <p:grpSpPr>
          <a:xfrm>
            <a:off x="5079921" y="3471456"/>
            <a:ext cx="614662" cy="423778"/>
            <a:chOff x="4406004" y="4260453"/>
            <a:chExt cx="558674" cy="429804"/>
          </a:xfrm>
        </p:grpSpPr>
        <p:grpSp>
          <p:nvGrpSpPr>
            <p:cNvPr id="101" name="Group 460"/>
            <p:cNvGrpSpPr>
              <a:grpSpLocks/>
            </p:cNvGrpSpPr>
            <p:nvPr/>
          </p:nvGrpSpPr>
          <p:grpSpPr bwMode="auto">
            <a:xfrm>
              <a:off x="4543772" y="4322623"/>
              <a:ext cx="420906" cy="367634"/>
              <a:chOff x="657" y="1570"/>
              <a:chExt cx="318" cy="318"/>
            </a:xfrm>
          </p:grpSpPr>
          <p:sp>
            <p:nvSpPr>
              <p:cNvPr id="10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0"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463"/>
            <p:cNvGrpSpPr>
              <a:grpSpLocks/>
            </p:cNvGrpSpPr>
            <p:nvPr/>
          </p:nvGrpSpPr>
          <p:grpSpPr bwMode="auto">
            <a:xfrm>
              <a:off x="4406004" y="4260453"/>
              <a:ext cx="405022" cy="119404"/>
              <a:chOff x="748" y="2251"/>
              <a:chExt cx="306" cy="90"/>
            </a:xfrm>
            <a:solidFill>
              <a:srgbClr val="0066FF"/>
            </a:solidFill>
          </p:grpSpPr>
          <p:sp>
            <p:nvSpPr>
              <p:cNvPr id="10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1" name="组合 110"/>
          <p:cNvGrpSpPr/>
          <p:nvPr/>
        </p:nvGrpSpPr>
        <p:grpSpPr>
          <a:xfrm>
            <a:off x="2339640" y="2806528"/>
            <a:ext cx="614662" cy="423778"/>
            <a:chOff x="4406004" y="4260453"/>
            <a:chExt cx="558674" cy="429804"/>
          </a:xfrm>
        </p:grpSpPr>
        <p:grpSp>
          <p:nvGrpSpPr>
            <p:cNvPr id="112" name="Group 460"/>
            <p:cNvGrpSpPr>
              <a:grpSpLocks/>
            </p:cNvGrpSpPr>
            <p:nvPr/>
          </p:nvGrpSpPr>
          <p:grpSpPr bwMode="auto">
            <a:xfrm>
              <a:off x="4543772" y="4322623"/>
              <a:ext cx="420906" cy="367634"/>
              <a:chOff x="657" y="1570"/>
              <a:chExt cx="318" cy="318"/>
            </a:xfrm>
          </p:grpSpPr>
          <p:sp>
            <p:nvSpPr>
              <p:cNvPr id="120"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1"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 name="Group 463"/>
            <p:cNvGrpSpPr>
              <a:grpSpLocks/>
            </p:cNvGrpSpPr>
            <p:nvPr/>
          </p:nvGrpSpPr>
          <p:grpSpPr bwMode="auto">
            <a:xfrm>
              <a:off x="4406004" y="4260453"/>
              <a:ext cx="405022" cy="119404"/>
              <a:chOff x="748" y="2251"/>
              <a:chExt cx="306" cy="90"/>
            </a:xfrm>
            <a:solidFill>
              <a:srgbClr val="0066FF"/>
            </a:solidFill>
          </p:grpSpPr>
          <p:sp>
            <p:nvSpPr>
              <p:cNvPr id="114"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7"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22" name="组合 121"/>
          <p:cNvGrpSpPr/>
          <p:nvPr/>
        </p:nvGrpSpPr>
        <p:grpSpPr>
          <a:xfrm>
            <a:off x="3471686" y="2590487"/>
            <a:ext cx="614662" cy="423778"/>
            <a:chOff x="4406004" y="4260453"/>
            <a:chExt cx="558674" cy="429804"/>
          </a:xfrm>
        </p:grpSpPr>
        <p:grpSp>
          <p:nvGrpSpPr>
            <p:cNvPr id="123" name="Group 460"/>
            <p:cNvGrpSpPr>
              <a:grpSpLocks/>
            </p:cNvGrpSpPr>
            <p:nvPr/>
          </p:nvGrpSpPr>
          <p:grpSpPr bwMode="auto">
            <a:xfrm>
              <a:off x="4543772" y="4322623"/>
              <a:ext cx="420906" cy="367634"/>
              <a:chOff x="657" y="1570"/>
              <a:chExt cx="318" cy="318"/>
            </a:xfrm>
          </p:grpSpPr>
          <p:sp>
            <p:nvSpPr>
              <p:cNvPr id="13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3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 name="Group 463"/>
            <p:cNvGrpSpPr>
              <a:grpSpLocks/>
            </p:cNvGrpSpPr>
            <p:nvPr/>
          </p:nvGrpSpPr>
          <p:grpSpPr bwMode="auto">
            <a:xfrm>
              <a:off x="4406004" y="4260453"/>
              <a:ext cx="405022" cy="119404"/>
              <a:chOff x="748" y="2251"/>
              <a:chExt cx="306" cy="90"/>
            </a:xfrm>
            <a:solidFill>
              <a:srgbClr val="0066FF"/>
            </a:solidFill>
          </p:grpSpPr>
          <p:sp>
            <p:nvSpPr>
              <p:cNvPr id="12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3" name="组合 132"/>
          <p:cNvGrpSpPr/>
          <p:nvPr/>
        </p:nvGrpSpPr>
        <p:grpSpPr>
          <a:xfrm>
            <a:off x="4828690" y="2649130"/>
            <a:ext cx="614662" cy="423778"/>
            <a:chOff x="4406004" y="4260453"/>
            <a:chExt cx="558674" cy="429804"/>
          </a:xfrm>
        </p:grpSpPr>
        <p:grpSp>
          <p:nvGrpSpPr>
            <p:cNvPr id="134" name="Group 460"/>
            <p:cNvGrpSpPr>
              <a:grpSpLocks/>
            </p:cNvGrpSpPr>
            <p:nvPr/>
          </p:nvGrpSpPr>
          <p:grpSpPr bwMode="auto">
            <a:xfrm>
              <a:off x="4543772" y="4322623"/>
              <a:ext cx="420906" cy="367634"/>
              <a:chOff x="657" y="1570"/>
              <a:chExt cx="318" cy="318"/>
            </a:xfrm>
          </p:grpSpPr>
          <p:sp>
            <p:nvSpPr>
              <p:cNvPr id="14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43"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 name="Group 463"/>
            <p:cNvGrpSpPr>
              <a:grpSpLocks/>
            </p:cNvGrpSpPr>
            <p:nvPr/>
          </p:nvGrpSpPr>
          <p:grpSpPr bwMode="auto">
            <a:xfrm>
              <a:off x="4406004" y="4260453"/>
              <a:ext cx="405022" cy="119404"/>
              <a:chOff x="748" y="2251"/>
              <a:chExt cx="306" cy="90"/>
            </a:xfrm>
            <a:solidFill>
              <a:srgbClr val="0066FF"/>
            </a:solidFill>
          </p:grpSpPr>
          <p:sp>
            <p:nvSpPr>
              <p:cNvPr id="13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44" name="组合 143"/>
          <p:cNvGrpSpPr/>
          <p:nvPr/>
        </p:nvGrpSpPr>
        <p:grpSpPr>
          <a:xfrm>
            <a:off x="5972232" y="3049366"/>
            <a:ext cx="614662" cy="423778"/>
            <a:chOff x="4406004" y="4260453"/>
            <a:chExt cx="558674" cy="429804"/>
          </a:xfrm>
        </p:grpSpPr>
        <p:grpSp>
          <p:nvGrpSpPr>
            <p:cNvPr id="145" name="Group 460"/>
            <p:cNvGrpSpPr>
              <a:grpSpLocks/>
            </p:cNvGrpSpPr>
            <p:nvPr/>
          </p:nvGrpSpPr>
          <p:grpSpPr bwMode="auto">
            <a:xfrm>
              <a:off x="4543772" y="4322623"/>
              <a:ext cx="420906" cy="367634"/>
              <a:chOff x="657" y="1570"/>
              <a:chExt cx="318" cy="318"/>
            </a:xfrm>
          </p:grpSpPr>
          <p:sp>
            <p:nvSpPr>
              <p:cNvPr id="15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463"/>
            <p:cNvGrpSpPr>
              <a:grpSpLocks/>
            </p:cNvGrpSpPr>
            <p:nvPr/>
          </p:nvGrpSpPr>
          <p:grpSpPr bwMode="auto">
            <a:xfrm>
              <a:off x="4406004" y="4260453"/>
              <a:ext cx="405022" cy="119404"/>
              <a:chOff x="748" y="2251"/>
              <a:chExt cx="306" cy="90"/>
            </a:xfrm>
            <a:solidFill>
              <a:srgbClr val="0066FF"/>
            </a:solidFill>
          </p:grpSpPr>
          <p:sp>
            <p:nvSpPr>
              <p:cNvPr id="14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56" name="矩形 155"/>
          <p:cNvSpPr/>
          <p:nvPr/>
        </p:nvSpPr>
        <p:spPr>
          <a:xfrm>
            <a:off x="1799304" y="4344487"/>
            <a:ext cx="5427406" cy="369332"/>
          </a:xfrm>
          <a:prstGeom prst="rect">
            <a:avLst/>
          </a:prstGeom>
        </p:spPr>
        <p:txBody>
          <a:bodyPr wrap="square">
            <a:spAutoFit/>
          </a:bodyPr>
          <a:lstStyle/>
          <a:p>
            <a:pPr algn="ctr"/>
            <a:r>
              <a:rPr lang="zh-CN" altLang="en-US" b="1" dirty="0">
                <a:solidFill>
                  <a:srgbClr val="C00000"/>
                </a:solidFill>
                <a:latin typeface="微软雅黑" pitchFamily="34" charset="-122"/>
                <a:ea typeface="微软雅黑" pitchFamily="34" charset="-122"/>
              </a:rPr>
              <a:t>三个主要问题：</a:t>
            </a:r>
            <a:r>
              <a:rPr lang="zh-CN" altLang="en-US" b="1" dirty="0">
                <a:latin typeface="微软雅黑" pitchFamily="34" charset="-122"/>
                <a:ea typeface="微软雅黑" pitchFamily="34" charset="-122"/>
              </a:rPr>
              <a:t>路由选择协议，多播，安全。</a:t>
            </a:r>
          </a:p>
        </p:txBody>
      </p:sp>
    </p:spTree>
    <p:extLst>
      <p:ext uri="{BB962C8B-B14F-4D97-AF65-F5344CB8AC3E}">
        <p14:creationId xmlns:p14="http://schemas.microsoft.com/office/powerpoint/2010/main" val="744795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
                                        </p:tgtEl>
                                        <p:attrNameLst>
                                          <p:attrName>style.visibility</p:attrName>
                                        </p:attrNameLst>
                                      </p:cBhvr>
                                      <p:tavLst>
                                        <p:tav tm="0">
                                          <p:val>
                                            <p:strVal val="hidden"/>
                                          </p:val>
                                        </p:tav>
                                        <p:tav tm="50000">
                                          <p:val>
                                            <p:strVal val="visible"/>
                                          </p:val>
                                        </p:tav>
                                      </p:tavLst>
                                    </p:anim>
                                  </p:childTnLst>
                                </p:cTn>
                              </p:par>
                            </p:childTnLst>
                          </p:cTn>
                        </p:par>
                        <p:par>
                          <p:cTn id="9" fill="hold">
                            <p:stCondLst>
                              <p:cond delay="3000"/>
                            </p:stCondLst>
                            <p:childTnLst>
                              <p:par>
                                <p:cTn id="10" presetID="2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wipe(down)">
                                      <p:cBhvr>
                                        <p:cTn id="12" dur="1000"/>
                                        <p:tgtEl>
                                          <p:spTgt spid="16"/>
                                        </p:tgtEl>
                                      </p:cBhvr>
                                    </p:animEffect>
                                  </p:childTnLst>
                                </p:cTn>
                              </p:par>
                            </p:childTnLst>
                          </p:cTn>
                        </p:par>
                        <p:par>
                          <p:cTn id="13" fill="hold">
                            <p:stCondLst>
                              <p:cond delay="4000"/>
                            </p:stCondLst>
                            <p:childTnLst>
                              <p:par>
                                <p:cTn id="14" presetID="22" presetClass="entr" presetSubtype="8" fill="hold" grpId="0"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1000"/>
                                        <p:tgtEl>
                                          <p:spTgt spid="15"/>
                                        </p:tgtEl>
                                      </p:cBhvr>
                                    </p:animEffect>
                                  </p:childTnLst>
                                </p:cTn>
                              </p:par>
                            </p:childTnLst>
                          </p:cTn>
                        </p:par>
                        <p:par>
                          <p:cTn id="17" fill="hold">
                            <p:stCondLst>
                              <p:cond delay="5000"/>
                            </p:stCondLst>
                            <p:childTnLst>
                              <p:par>
                                <p:cTn id="18" presetID="22" presetClass="entr" presetSubtype="8"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left)">
                                      <p:cBhvr>
                                        <p:cTn id="20" dur="1000"/>
                                        <p:tgtEl>
                                          <p:spTgt spid="13"/>
                                        </p:tgtEl>
                                      </p:cBhvr>
                                    </p:animEffect>
                                  </p:childTnLst>
                                </p:cTn>
                              </p:par>
                            </p:childTnLst>
                          </p:cTn>
                        </p:par>
                        <p:par>
                          <p:cTn id="21" fill="hold">
                            <p:stCondLst>
                              <p:cond delay="6000"/>
                            </p:stCondLst>
                            <p:childTnLst>
                              <p:par>
                                <p:cTn id="22" presetID="22" presetClass="entr" presetSubtype="8"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left)">
                                      <p:cBhvr>
                                        <p:cTn id="24" dur="10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6"/>
                                        </p:tgtEl>
                                        <p:attrNameLst>
                                          <p:attrName>style.visibility</p:attrName>
                                        </p:attrNameLst>
                                      </p:cBhvr>
                                      <p:to>
                                        <p:strVal val="visible"/>
                                      </p:to>
                                    </p:set>
                                    <p:animEffect transition="in" filter="fade">
                                      <p:cBhvr>
                                        <p:cTn id="29" dur="50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p:bldP spid="18" grpId="0"/>
      <p:bldP spid="15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09475" y="958806"/>
            <a:ext cx="812901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服务范围通常是受限的，一般不和外界的其他网络相连接。</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移动自组网络也就是</a:t>
            </a:r>
            <a:r>
              <a:rPr lang="zh-CN" altLang="en-US" sz="2000" b="1" dirty="0">
                <a:solidFill>
                  <a:srgbClr val="0000FF"/>
                </a:solidFill>
                <a:latin typeface="微软雅黑" pitchFamily="34" charset="-122"/>
                <a:ea typeface="微软雅黑" pitchFamily="34" charset="-122"/>
              </a:rPr>
              <a:t>移动分组无线网络</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方便灵活。</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生存性非常好。</a:t>
            </a:r>
          </a:p>
        </p:txBody>
      </p:sp>
      <p:sp>
        <p:nvSpPr>
          <p:cNvPr id="3" name="AutoShape 5"/>
          <p:cNvSpPr>
            <a:spLocks noChangeArrowheads="1"/>
          </p:cNvSpPr>
          <p:nvPr/>
        </p:nvSpPr>
        <p:spPr bwMode="auto">
          <a:xfrm>
            <a:off x="509475" y="60547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2264"/>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6240275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571"/>
            <a:ext cx="8291169"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743"/>
            <a:ext cx="27568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无线传感器网络 </a:t>
            </a:r>
            <a:r>
              <a:rPr lang="en-US" altLang="zh-CN" sz="2000" b="1" dirty="0">
                <a:latin typeface="微软雅黑" pitchFamily="34" charset="-122"/>
                <a:ea typeface="微软雅黑" pitchFamily="34" charset="-122"/>
              </a:rPr>
              <a:t>WSN</a:t>
            </a:r>
          </a:p>
        </p:txBody>
      </p:sp>
      <p:sp>
        <p:nvSpPr>
          <p:cNvPr id="4" name="Rectangle 46"/>
          <p:cNvSpPr>
            <a:spLocks noChangeArrowheads="1"/>
          </p:cNvSpPr>
          <p:nvPr/>
        </p:nvSpPr>
        <p:spPr bwMode="auto">
          <a:xfrm>
            <a:off x="517853" y="948796"/>
            <a:ext cx="8291169"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无线传感器网络 </a:t>
            </a:r>
            <a:r>
              <a:rPr lang="en-US" altLang="zh-CN" sz="1900" b="1" dirty="0">
                <a:solidFill>
                  <a:srgbClr val="C00000"/>
                </a:solidFill>
                <a:latin typeface="微软雅黑" pitchFamily="34" charset="-122"/>
                <a:ea typeface="微软雅黑" pitchFamily="34" charset="-122"/>
              </a:rPr>
              <a:t>WSN </a:t>
            </a:r>
            <a:r>
              <a:rPr lang="en-US" altLang="zh-CN" sz="1900" b="1" dirty="0">
                <a:latin typeface="微软雅黑" pitchFamily="34" charset="-122"/>
                <a:ea typeface="微软雅黑" pitchFamily="34" charset="-122"/>
              </a:rPr>
              <a:t>(Wireless Sensor Network) </a:t>
            </a:r>
            <a:r>
              <a:rPr lang="zh-CN" altLang="en-US" sz="1900" b="1" dirty="0">
                <a:latin typeface="微软雅黑" pitchFamily="34" charset="-122"/>
                <a:ea typeface="微软雅黑" pitchFamily="34" charset="-122"/>
              </a:rPr>
              <a:t>：由大量</a:t>
            </a:r>
            <a:r>
              <a:rPr lang="zh-CN" altLang="en-US" sz="1900" b="1" dirty="0">
                <a:solidFill>
                  <a:srgbClr val="0000FF"/>
                </a:solidFill>
                <a:latin typeface="微软雅黑" pitchFamily="34" charset="-122"/>
                <a:ea typeface="微软雅黑" pitchFamily="34" charset="-122"/>
              </a:rPr>
              <a:t>传感器</a:t>
            </a:r>
            <a:r>
              <a:rPr lang="zh-CN" altLang="en-US" sz="1900" b="1" dirty="0">
                <a:latin typeface="微软雅黑" pitchFamily="34" charset="-122"/>
                <a:ea typeface="微软雅黑" pitchFamily="34" charset="-122"/>
              </a:rPr>
              <a:t>结点通过无线通信技术构成的</a:t>
            </a:r>
            <a:r>
              <a:rPr lang="zh-CN" altLang="en-US" sz="1900" b="1" dirty="0">
                <a:solidFill>
                  <a:srgbClr val="0000FF"/>
                </a:solidFill>
                <a:latin typeface="微软雅黑" pitchFamily="34" charset="-122"/>
                <a:ea typeface="微软雅黑" pitchFamily="34" charset="-122"/>
              </a:rPr>
              <a:t>自组网络</a:t>
            </a:r>
            <a:r>
              <a:rPr lang="zh-CN" altLang="en-US" sz="19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应用：</a:t>
            </a:r>
            <a:r>
              <a:rPr lang="zh-CN" altLang="en-US" sz="1900" b="1" dirty="0">
                <a:latin typeface="微软雅黑" pitchFamily="34" charset="-122"/>
                <a:ea typeface="微软雅黑" pitchFamily="34" charset="-122"/>
              </a:rPr>
              <a:t>进行各种数据的采集、处理和传输。</a:t>
            </a:r>
            <a:endParaRPr lang="en-US" altLang="zh-CN" sz="19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特点：</a:t>
            </a:r>
            <a:endParaRPr lang="en-US" altLang="zh-CN" sz="1900" b="1" dirty="0">
              <a:solidFill>
                <a:srgbClr val="C00000"/>
              </a:solidFill>
              <a:latin typeface="微软雅黑" pitchFamily="34" charset="-122"/>
              <a:ea typeface="微软雅黑" pitchFamily="34" charset="-122"/>
            </a:endParaRP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不需要很高的带宽，但大部分时间必须保持低功耗。</a:t>
            </a: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对协议栈的大小有严格的限制。</a:t>
            </a: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对网络安全性、结点自动配置、网络动态重组等方面有一定的要求。 </a:t>
            </a:r>
          </a:p>
        </p:txBody>
      </p:sp>
    </p:spTree>
    <p:extLst>
      <p:ext uri="{BB962C8B-B14F-4D97-AF65-F5344CB8AC3E}">
        <p14:creationId xmlns:p14="http://schemas.microsoft.com/office/powerpoint/2010/main" val="3724227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14520"/>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p:nvPr/>
        </p:nvSpPr>
        <p:spPr>
          <a:xfrm>
            <a:off x="637984" y="565208"/>
            <a:ext cx="3005951" cy="400110"/>
          </a:xfrm>
          <a:prstGeom prst="rect">
            <a:avLst/>
          </a:prstGeom>
        </p:spPr>
        <p:txBody>
          <a:bodyPr wrap="none">
            <a:spAutoFit/>
          </a:bodyPr>
          <a:lstStyle/>
          <a:p>
            <a:r>
              <a:rPr lang="zh-CN" altLang="en-US" sz="2000" b="1" dirty="0">
                <a:latin typeface="微软雅黑" pitchFamily="34" charset="-122"/>
                <a:ea typeface="微软雅黑" pitchFamily="34" charset="-122"/>
              </a:rPr>
              <a:t>传感器结点的形状和组成</a:t>
            </a:r>
          </a:p>
        </p:txBody>
      </p:sp>
      <p:sp>
        <p:nvSpPr>
          <p:cNvPr id="6" name="圆角矩形 5"/>
          <p:cNvSpPr/>
          <p:nvPr/>
        </p:nvSpPr>
        <p:spPr>
          <a:xfrm>
            <a:off x="517852" y="96484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758424" y="1408605"/>
            <a:ext cx="7618591" cy="2693466"/>
            <a:chOff x="758424" y="1408605"/>
            <a:chExt cx="7618591" cy="2693466"/>
          </a:xfrm>
        </p:grpSpPr>
        <p:sp>
          <p:nvSpPr>
            <p:cNvPr id="7" name="Rectangle 6"/>
            <p:cNvSpPr>
              <a:spLocks noChangeArrowheads="1"/>
            </p:cNvSpPr>
            <p:nvPr/>
          </p:nvSpPr>
          <p:spPr bwMode="auto">
            <a:xfrm>
              <a:off x="4775611" y="1408605"/>
              <a:ext cx="3601404" cy="2245051"/>
            </a:xfrm>
            <a:prstGeom prst="rect">
              <a:avLst/>
            </a:prstGeom>
            <a:solidFill>
              <a:schemeClr val="bg1"/>
            </a:solidFill>
            <a:ln w="12700" cap="sq">
              <a:solidFill>
                <a:srgbClr val="333399"/>
              </a:solidFill>
              <a:miter lim="800000"/>
              <a:headEnd type="none" w="sm" len="sm"/>
              <a:tailEnd type="none" w="sm" len="sm"/>
            </a:ln>
            <a:effectLst/>
          </p:spPr>
          <p:txBody>
            <a:bodyPr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8" name="AutoShape 7"/>
            <p:cNvSpPr>
              <a:spLocks noChangeArrowheads="1"/>
            </p:cNvSpPr>
            <p:nvPr/>
          </p:nvSpPr>
          <p:spPr bwMode="auto">
            <a:xfrm>
              <a:off x="4965992" y="2487930"/>
              <a:ext cx="832924" cy="1038317"/>
            </a:xfrm>
            <a:prstGeom prst="roundRect">
              <a:avLst>
                <a:gd name="adj" fmla="val 16667"/>
              </a:avLst>
            </a:prstGeom>
            <a:solidFill>
              <a:srgbClr val="008000"/>
            </a:solidFill>
            <a:ln w="12700" cap="sq">
              <a:solidFill>
                <a:srgbClr val="333399"/>
              </a:solidFill>
              <a:round/>
              <a:headEnd type="none" w="sm" len="sm"/>
              <a:tailEnd type="none" w="sm" len="sm"/>
            </a:ln>
            <a:effectLst/>
          </p:spPr>
          <p:txBody>
            <a:bodyPr wrap="none" anchor="ctr"/>
            <a:lstStyle/>
            <a:p>
              <a:pPr algn="ctr" eaLnBrk="0" hangingPunct="0"/>
              <a:r>
                <a:rPr lang="zh-CN" altLang="en-US" b="1">
                  <a:solidFill>
                    <a:schemeClr val="bg1"/>
                  </a:solidFill>
                  <a:latin typeface="微软雅黑" panose="020B0503020204020204" pitchFamily="34" charset="-122"/>
                  <a:ea typeface="微软雅黑" panose="020B0503020204020204" pitchFamily="34" charset="-122"/>
                </a:rPr>
                <a:t>存储器</a:t>
              </a:r>
            </a:p>
          </p:txBody>
        </p:sp>
        <p:sp>
          <p:nvSpPr>
            <p:cNvPr id="9" name="AutoShape 8"/>
            <p:cNvSpPr>
              <a:spLocks noChangeArrowheads="1"/>
            </p:cNvSpPr>
            <p:nvPr/>
          </p:nvSpPr>
          <p:spPr bwMode="auto">
            <a:xfrm>
              <a:off x="5914733" y="1588738"/>
              <a:ext cx="945567" cy="664875"/>
            </a:xfrm>
            <a:prstGeom prst="roundRect">
              <a:avLst>
                <a:gd name="adj" fmla="val 16667"/>
              </a:avLst>
            </a:prstGeom>
            <a:solidFill>
              <a:srgbClr val="0000FF"/>
            </a:solidFill>
            <a:ln w="12700" cap="sq">
              <a:solidFill>
                <a:schemeClr val="tx2"/>
              </a:solidFill>
              <a:round/>
              <a:headEnd type="none" w="sm" len="sm"/>
              <a:tailEnd type="none" w="sm" len="sm"/>
            </a:ln>
            <a:effectLst/>
          </p:spPr>
          <p:txBody>
            <a:bodyPr wrap="none" anchor="ctr"/>
            <a:lstStyle/>
            <a:p>
              <a:pPr algn="ctr" eaLnBrk="0" hangingPunct="0"/>
              <a:r>
                <a:rPr lang="en-US" altLang="zh-CN" b="1">
                  <a:solidFill>
                    <a:schemeClr val="bg1"/>
                  </a:solidFill>
                  <a:latin typeface="微软雅黑" panose="020B0503020204020204" pitchFamily="34" charset="-122"/>
                  <a:ea typeface="微软雅黑" panose="020B0503020204020204" pitchFamily="34" charset="-122"/>
                </a:rPr>
                <a:t>CPU</a:t>
              </a:r>
            </a:p>
          </p:txBody>
        </p:sp>
        <p:grpSp>
          <p:nvGrpSpPr>
            <p:cNvPr id="10" name="Group 9"/>
            <p:cNvGrpSpPr>
              <a:grpSpLocks/>
            </p:cNvGrpSpPr>
            <p:nvPr/>
          </p:nvGrpSpPr>
          <p:grpSpPr bwMode="auto">
            <a:xfrm>
              <a:off x="6101942" y="2487930"/>
              <a:ext cx="1042346" cy="1032459"/>
              <a:chOff x="1296" y="2064"/>
              <a:chExt cx="768" cy="1344"/>
            </a:xfrm>
            <a:solidFill>
              <a:srgbClr val="00B050"/>
            </a:solidFill>
          </p:grpSpPr>
          <p:sp>
            <p:nvSpPr>
              <p:cNvPr id="11" name="AutoShape 10"/>
              <p:cNvSpPr>
                <a:spLocks noChangeArrowheads="1"/>
              </p:cNvSpPr>
              <p:nvPr/>
            </p:nvSpPr>
            <p:spPr bwMode="auto">
              <a:xfrm>
                <a:off x="1296"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2" name="AutoShape 11"/>
              <p:cNvSpPr>
                <a:spLocks noChangeArrowheads="1"/>
              </p:cNvSpPr>
              <p:nvPr/>
            </p:nvSpPr>
            <p:spPr bwMode="auto">
              <a:xfrm>
                <a:off x="1872"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3" name="AutoShape 12"/>
              <p:cNvSpPr>
                <a:spLocks noChangeArrowheads="1"/>
              </p:cNvSpPr>
              <p:nvPr/>
            </p:nvSpPr>
            <p:spPr bwMode="auto">
              <a:xfrm>
                <a:off x="1584"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grpSp>
        <p:sp>
          <p:nvSpPr>
            <p:cNvPr id="14" name="AutoShape 13"/>
            <p:cNvSpPr>
              <a:spLocks noChangeArrowheads="1"/>
            </p:cNvSpPr>
            <p:nvPr/>
          </p:nvSpPr>
          <p:spPr bwMode="auto">
            <a:xfrm rot="5400000">
              <a:off x="6965988" y="1767037"/>
              <a:ext cx="613617" cy="257016"/>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00FFFF"/>
            </a:solidFill>
            <a:ln w="12700" cap="sq">
              <a:solidFill>
                <a:srgbClr val="333399"/>
              </a:solidFill>
              <a:miter lim="800000"/>
              <a:headEnd type="none" w="sm" len="sm"/>
              <a:tailEnd type="none" w="sm" len="sm"/>
            </a:ln>
            <a:effectLst/>
          </p:spPr>
          <p:txBody>
            <a:bodyPr rot="10800000" vert="eaVert"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15" name="Rectangle 14"/>
            <p:cNvSpPr>
              <a:spLocks noChangeArrowheads="1"/>
            </p:cNvSpPr>
            <p:nvPr/>
          </p:nvSpPr>
          <p:spPr bwMode="auto">
            <a:xfrm>
              <a:off x="7174125" y="2618267"/>
              <a:ext cx="800219" cy="5478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1600" b="1" dirty="0">
                  <a:latin typeface="微软雅黑" panose="020B0503020204020204" pitchFamily="34" charset="-122"/>
                  <a:ea typeface="微软雅黑" panose="020B0503020204020204" pitchFamily="34" charset="-122"/>
                </a:rPr>
                <a:t>传感器</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硬件</a:t>
              </a:r>
            </a:p>
          </p:txBody>
        </p:sp>
        <p:sp>
          <p:nvSpPr>
            <p:cNvPr id="16" name="Oval 15"/>
            <p:cNvSpPr>
              <a:spLocks noChangeArrowheads="1"/>
            </p:cNvSpPr>
            <p:nvPr/>
          </p:nvSpPr>
          <p:spPr bwMode="auto">
            <a:xfrm>
              <a:off x="5059598" y="1587273"/>
              <a:ext cx="664752" cy="629727"/>
            </a:xfrm>
            <a:prstGeom prst="ellipse">
              <a:avLst/>
            </a:prstGeom>
            <a:solidFill>
              <a:srgbClr val="CC00FF"/>
            </a:solidFill>
            <a:ln w="9525">
              <a:solidFill>
                <a:srgbClr val="333399"/>
              </a:solidFill>
              <a:round/>
              <a:headEnd/>
              <a:tailEnd/>
            </a:ln>
            <a:effectLst/>
          </p:spPr>
          <p:txBody>
            <a:bodyPr wrap="none" anchor="ctr"/>
            <a:lstStyle/>
            <a:p>
              <a:pPr algn="ctr"/>
              <a:r>
                <a:rPr lang="zh-CN" altLang="en-US" b="1">
                  <a:solidFill>
                    <a:schemeClr val="bg1"/>
                  </a:solidFill>
                  <a:latin typeface="微软雅黑" panose="020B0503020204020204" pitchFamily="34" charset="-122"/>
                  <a:ea typeface="微软雅黑" panose="020B0503020204020204" pitchFamily="34" charset="-122"/>
                </a:rPr>
                <a:t>电池</a:t>
              </a:r>
            </a:p>
          </p:txBody>
        </p:sp>
        <p:sp>
          <p:nvSpPr>
            <p:cNvPr id="17" name="Rectangle 16"/>
            <p:cNvSpPr>
              <a:spLocks noChangeArrowheads="1"/>
            </p:cNvSpPr>
            <p:nvPr/>
          </p:nvSpPr>
          <p:spPr bwMode="auto">
            <a:xfrm>
              <a:off x="7458113" y="1622795"/>
              <a:ext cx="800219" cy="5109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无线</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收发器</a:t>
              </a:r>
            </a:p>
          </p:txBody>
        </p:sp>
        <p:pic>
          <p:nvPicPr>
            <p:cNvPr id="18" name="Picture 17" descr="UCB-sensor-dots"/>
            <p:cNvPicPr>
              <a:picLocks noChangeAspect="1" noChangeArrowheads="1"/>
            </p:cNvPicPr>
            <p:nvPr/>
          </p:nvPicPr>
          <p:blipFill>
            <a:blip r:embed="rId3" cstate="print">
              <a:extLst>
                <a:ext uri="{28A0092B-C50C-407E-A947-70E740481C1C}">
                  <a14:useLocalDpi xmlns:a14="http://schemas.microsoft.com/office/drawing/2010/main" val="0"/>
                </a:ext>
              </a:extLst>
            </a:blip>
            <a:srcRect l="2850" t="11598" r="7932" b="12183"/>
            <a:stretch>
              <a:fillRect/>
            </a:stretch>
          </p:blipFill>
          <p:spPr bwMode="auto">
            <a:xfrm>
              <a:off x="758424" y="1408605"/>
              <a:ext cx="3693423" cy="2243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21"/>
            <p:cNvSpPr txBox="1">
              <a:spLocks noChangeArrowheads="1"/>
            </p:cNvSpPr>
            <p:nvPr/>
          </p:nvSpPr>
          <p:spPr bwMode="auto">
            <a:xfrm>
              <a:off x="2176050" y="3725415"/>
              <a:ext cx="102784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(a) </a:t>
              </a:r>
              <a:r>
                <a:rPr lang="zh-CN" altLang="en-US" b="1" dirty="0">
                  <a:solidFill>
                    <a:srgbClr val="0000FF"/>
                  </a:solidFill>
                  <a:latin typeface="微软雅黑" panose="020B0503020204020204" pitchFamily="34" charset="-122"/>
                  <a:ea typeface="微软雅黑" panose="020B0503020204020204" pitchFamily="34" charset="-122"/>
                </a:rPr>
                <a:t>形状</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20" name="Text Box 22"/>
            <p:cNvSpPr txBox="1">
              <a:spLocks noChangeArrowheads="1"/>
            </p:cNvSpPr>
            <p:nvPr/>
          </p:nvSpPr>
          <p:spPr bwMode="auto">
            <a:xfrm>
              <a:off x="6109152" y="3732739"/>
              <a:ext cx="104868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(b) </a:t>
              </a:r>
              <a:r>
                <a:rPr lang="zh-CN" altLang="en-US" b="1" dirty="0">
                  <a:solidFill>
                    <a:srgbClr val="0000FF"/>
                  </a:solidFill>
                  <a:latin typeface="微软雅黑" panose="020B0503020204020204" pitchFamily="34" charset="-122"/>
                  <a:ea typeface="微软雅黑" panose="020B0503020204020204" pitchFamily="34" charset="-122"/>
                </a:rPr>
                <a:t>组成</a:t>
              </a:r>
              <a:endParaRPr lang="en-US" altLang="zh-CN" b="1" dirty="0">
                <a:solidFill>
                  <a:srgbClr val="0000FF"/>
                </a:solidFill>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7418322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348"/>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520"/>
            <a:ext cx="38523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无线传感器网络主要的应用领域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741"/>
            <a:ext cx="81338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组成各种</a:t>
            </a:r>
            <a:r>
              <a:rPr lang="zh-CN" altLang="en-US" sz="2000" b="1" dirty="0">
                <a:solidFill>
                  <a:srgbClr val="C00000"/>
                </a:solidFill>
                <a:latin typeface="微软雅黑" pitchFamily="34" charset="-122"/>
                <a:ea typeface="微软雅黑" pitchFamily="34" charset="-122"/>
              </a:rPr>
              <a:t>物联网 </a:t>
            </a:r>
            <a:r>
              <a:rPr lang="en-US" altLang="zh-CN" sz="2000" b="1" dirty="0" err="1">
                <a:solidFill>
                  <a:srgbClr val="C00000"/>
                </a:solidFill>
                <a:latin typeface="微软雅黑" pitchFamily="34" charset="-122"/>
                <a:ea typeface="微软雅黑" pitchFamily="34" charset="-122"/>
              </a:rPr>
              <a:t>IoT</a:t>
            </a:r>
            <a:r>
              <a:rPr lang="en-US" altLang="zh-CN"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(Internet of Things) </a:t>
            </a:r>
            <a:r>
              <a:rPr lang="zh-CN" altLang="en-US" sz="2000" b="1" dirty="0">
                <a:latin typeface="微软雅黑" pitchFamily="34" charset="-122"/>
                <a:ea typeface="微软雅黑" pitchFamily="34" charset="-122"/>
              </a:rPr>
              <a:t>，例如：</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环境监测与保护；</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战争中对敌情的侦查和对兵力、装备、物资等的监控；</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医疗中对病房的监测和对患者的护理；</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在危险的工业环境中的安全监测；</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城市交通管理、建筑内的温度</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照明</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安全控制等。 </a:t>
            </a:r>
          </a:p>
        </p:txBody>
      </p:sp>
    </p:spTree>
    <p:extLst>
      <p:ext uri="{BB962C8B-B14F-4D97-AF65-F5344CB8AC3E}">
        <p14:creationId xmlns:p14="http://schemas.microsoft.com/office/powerpoint/2010/main" val="41851703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262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2795"/>
            <a:ext cx="33377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itchFamily="34" charset="-122"/>
                <a:ea typeface="微软雅黑" pitchFamily="34" charset="-122"/>
              </a:rPr>
              <a:t>移动自组网络</a:t>
            </a:r>
            <a:r>
              <a:rPr lang="zh-CN" altLang="en-US" sz="2000" b="1" dirty="0">
                <a:solidFill>
                  <a:srgbClr val="C00000"/>
                </a:solidFill>
                <a:latin typeface="微软雅黑" pitchFamily="34" charset="-122"/>
                <a:ea typeface="微软雅黑" pitchFamily="34" charset="-122"/>
              </a:rPr>
              <a:t>不同于</a:t>
            </a:r>
            <a:r>
              <a:rPr lang="zh-CN" altLang="en-US" sz="2000" b="1" dirty="0">
                <a:solidFill>
                  <a:srgbClr val="0000FF"/>
                </a:solidFill>
                <a:latin typeface="微软雅黑" pitchFamily="34" charset="-122"/>
                <a:ea typeface="微软雅黑" pitchFamily="34" charset="-122"/>
              </a:rPr>
              <a:t>移动 </a:t>
            </a:r>
            <a:r>
              <a:rPr lang="en-US" altLang="zh-CN" sz="2000" b="1" dirty="0">
                <a:solidFill>
                  <a:srgbClr val="0000FF"/>
                </a:solidFill>
                <a:latin typeface="微软雅黑" pitchFamily="34" charset="-122"/>
                <a:ea typeface="微软雅黑" pitchFamily="34" charset="-122"/>
              </a:rPr>
              <a:t>IP</a:t>
            </a:r>
          </a:p>
        </p:txBody>
      </p:sp>
      <p:graphicFrame>
        <p:nvGraphicFramePr>
          <p:cNvPr id="5" name="图示 4"/>
          <p:cNvGraphicFramePr/>
          <p:nvPr>
            <p:extLst>
              <p:ext uri="{D42A27DB-BD31-4B8C-83A1-F6EECF244321}">
                <p14:modId xmlns:p14="http://schemas.microsoft.com/office/powerpoint/2010/main" val="2377605325"/>
              </p:ext>
            </p:extLst>
          </p:nvPr>
        </p:nvGraphicFramePr>
        <p:xfrm>
          <a:off x="1089410" y="991844"/>
          <a:ext cx="7071363" cy="358998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130016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889"/>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几种不同的接入</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1278"/>
            <a:ext cx="8133857"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固定接入 </a:t>
            </a:r>
            <a:r>
              <a:rPr lang="en-US" altLang="zh-CN" sz="2000" b="1" dirty="0">
                <a:latin typeface="微软雅黑" pitchFamily="34" charset="-122"/>
                <a:ea typeface="微软雅黑" pitchFamily="34" charset="-122"/>
              </a:rPr>
              <a:t>(fixed access)</a:t>
            </a:r>
            <a:r>
              <a:rPr lang="zh-CN" altLang="en-US" sz="2000" b="1" dirty="0">
                <a:latin typeface="微软雅黑" pitchFamily="34" charset="-122"/>
                <a:ea typeface="微软雅黑" pitchFamily="34" charset="-122"/>
              </a:rPr>
              <a:t>：在作为网络用户期间，用户设置的地理位置保持不变。</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移动接入 </a:t>
            </a:r>
            <a:r>
              <a:rPr lang="en-US" altLang="zh-CN" sz="2000" b="1" dirty="0">
                <a:latin typeface="微软雅黑" pitchFamily="34" charset="-122"/>
                <a:ea typeface="微软雅黑" pitchFamily="34" charset="-122"/>
              </a:rPr>
              <a:t>(mobility access)</a:t>
            </a:r>
            <a:r>
              <a:rPr lang="zh-CN" altLang="en-US" sz="2000" b="1" dirty="0">
                <a:latin typeface="微软雅黑" pitchFamily="34" charset="-122"/>
                <a:ea typeface="微软雅黑" pitchFamily="34" charset="-122"/>
              </a:rPr>
              <a:t>：用户设置能够以车辆速度移动时进行网络通信。当发生切换时，通信仍然是连续的。</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便携接入 </a:t>
            </a:r>
            <a:r>
              <a:rPr lang="en-US" altLang="zh-CN" sz="2000" b="1" dirty="0">
                <a:latin typeface="微软雅黑" pitchFamily="34" charset="-122"/>
                <a:ea typeface="微软雅黑" pitchFamily="34" charset="-122"/>
              </a:rPr>
              <a:t>(portable access)</a:t>
            </a:r>
            <a:r>
              <a:rPr lang="zh-CN" altLang="en-US" sz="2000" b="1" dirty="0">
                <a:latin typeface="微软雅黑" pitchFamily="34" charset="-122"/>
                <a:ea typeface="微软雅黑" pitchFamily="34" charset="-122"/>
              </a:rPr>
              <a:t>：在受限的网络覆盖面积中，用户设备能够在以步行速度移动时进行网络通信，提供有限的切换能力。</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游牧接入 </a:t>
            </a:r>
            <a:r>
              <a:rPr lang="en-US" altLang="zh-CN" sz="2000" b="1" dirty="0">
                <a:latin typeface="微软雅黑" pitchFamily="34" charset="-122"/>
                <a:ea typeface="微软雅黑" pitchFamily="34" charset="-122"/>
              </a:rPr>
              <a:t>(nomadic access)</a:t>
            </a:r>
            <a:r>
              <a:rPr lang="zh-CN" altLang="en-US" sz="2000" b="1" dirty="0">
                <a:latin typeface="微软雅黑" pitchFamily="34" charset="-122"/>
                <a:ea typeface="微软雅黑" pitchFamily="34" charset="-122"/>
              </a:rPr>
              <a:t>：用户设备的地理位置至少在进行网络通信时保持不变。如用户设备移动了位置，则再次进行通信时可能还要寻找最佳的基站。</a:t>
            </a:r>
          </a:p>
        </p:txBody>
      </p:sp>
    </p:spTree>
    <p:extLst>
      <p:ext uri="{BB962C8B-B14F-4D97-AF65-F5344CB8AC3E}">
        <p14:creationId xmlns:p14="http://schemas.microsoft.com/office/powerpoint/2010/main" val="22958173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84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335246" y="590381"/>
            <a:ext cx="448231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9.1.2   802.11 </a:t>
            </a:r>
            <a:r>
              <a:rPr lang="zh-CN" altLang="en-US" sz="2400" b="1" dirty="0">
                <a:solidFill>
                  <a:schemeClr val="bg1"/>
                </a:solidFill>
                <a:latin typeface="微软雅黑" pitchFamily="34" charset="-122"/>
                <a:ea typeface="微软雅黑" pitchFamily="34" charset="-122"/>
              </a:rPr>
              <a:t>局域网的物理层</a:t>
            </a:r>
          </a:p>
        </p:txBody>
      </p:sp>
      <p:sp>
        <p:nvSpPr>
          <p:cNvPr id="4" name="Rectangle 46"/>
          <p:cNvSpPr>
            <a:spLocks noChangeArrowheads="1"/>
          </p:cNvSpPr>
          <p:nvPr/>
        </p:nvSpPr>
        <p:spPr bwMode="auto">
          <a:xfrm>
            <a:off x="511896" y="1040821"/>
            <a:ext cx="8129016"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highlight>
                  <a:srgbClr val="FFFF00"/>
                </a:highlight>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标准中物理层相当复杂。根据物理层的不同（如工作频段、数据率、调制方法等），对应的标准也不同。</a:t>
            </a:r>
          </a:p>
        </p:txBody>
      </p:sp>
      <p:graphicFrame>
        <p:nvGraphicFramePr>
          <p:cNvPr id="6" name="表格 5"/>
          <p:cNvGraphicFramePr>
            <a:graphicFrameLocks noGrp="1"/>
          </p:cNvGraphicFramePr>
          <p:nvPr>
            <p:extLst>
              <p:ext uri="{D42A27DB-BD31-4B8C-83A1-F6EECF244321}">
                <p14:modId xmlns:p14="http://schemas.microsoft.com/office/powerpoint/2010/main" val="4081263142"/>
              </p:ext>
            </p:extLst>
          </p:nvPr>
        </p:nvGraphicFramePr>
        <p:xfrm>
          <a:off x="668595" y="1857626"/>
          <a:ext cx="7649494" cy="2655146"/>
        </p:xfrm>
        <a:graphic>
          <a:graphicData uri="http://schemas.openxmlformats.org/drawingml/2006/table">
            <a:tbl>
              <a:tblPr firstRow="1" firstCol="1" bandRow="1">
                <a:tableStyleId>{7DF18680-E054-41AD-8BC1-D1AEF772440D}</a:tableStyleId>
              </a:tblPr>
              <a:tblGrid>
                <a:gridCol w="824619">
                  <a:extLst>
                    <a:ext uri="{9D8B030D-6E8A-4147-A177-3AD203B41FA5}">
                      <a16:colId xmlns:a16="http://schemas.microsoft.com/office/drawing/2014/main" val="312102651"/>
                    </a:ext>
                  </a:extLst>
                </a:gridCol>
                <a:gridCol w="747340">
                  <a:extLst>
                    <a:ext uri="{9D8B030D-6E8A-4147-A177-3AD203B41FA5}">
                      <a16:colId xmlns:a16="http://schemas.microsoft.com/office/drawing/2014/main" val="1686003285"/>
                    </a:ext>
                  </a:extLst>
                </a:gridCol>
                <a:gridCol w="1043420">
                  <a:extLst>
                    <a:ext uri="{9D8B030D-6E8A-4147-A177-3AD203B41FA5}">
                      <a16:colId xmlns:a16="http://schemas.microsoft.com/office/drawing/2014/main" val="2290814331"/>
                    </a:ext>
                  </a:extLst>
                </a:gridCol>
                <a:gridCol w="1022555">
                  <a:extLst>
                    <a:ext uri="{9D8B030D-6E8A-4147-A177-3AD203B41FA5}">
                      <a16:colId xmlns:a16="http://schemas.microsoft.com/office/drawing/2014/main" val="2582411929"/>
                    </a:ext>
                  </a:extLst>
                </a:gridCol>
                <a:gridCol w="786580">
                  <a:extLst>
                    <a:ext uri="{9D8B030D-6E8A-4147-A177-3AD203B41FA5}">
                      <a16:colId xmlns:a16="http://schemas.microsoft.com/office/drawing/2014/main" val="3858860930"/>
                    </a:ext>
                  </a:extLst>
                </a:gridCol>
                <a:gridCol w="3224980">
                  <a:extLst>
                    <a:ext uri="{9D8B030D-6E8A-4147-A177-3AD203B41FA5}">
                      <a16:colId xmlns:a16="http://schemas.microsoft.com/office/drawing/2014/main" val="1201765892"/>
                    </a:ext>
                  </a:extLst>
                </a:gridCol>
              </a:tblGrid>
              <a:tr h="285806">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标准</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别名</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频段</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最高数据率</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物理层</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优缺点</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673052632"/>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802.11b</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1</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11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200" b="1" kern="500">
                          <a:effectLst/>
                          <a:latin typeface="微软雅黑" panose="020B0503020204020204" pitchFamily="34" charset="-122"/>
                          <a:ea typeface="微软雅黑" panose="020B0503020204020204" pitchFamily="34" charset="-122"/>
                        </a:rPr>
                        <a:t>扩频</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最高数据率较低，价格最低，信号传播距离最远，且不易受阻碍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411001665"/>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2</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54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OFDM</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最高数据率较高，支持更多用户同时上网，价格最高，信号传播距离较短，且易受阻碍。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180692589"/>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802.11g</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(2003</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3</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54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OFDM</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最高数据率较高，支持更多用户同时上网，信号传播距离最远，且不易受阻碍，价格比</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802.11b </a:t>
                      </a:r>
                      <a:r>
                        <a:rPr lang="zh-CN" sz="1100" b="1" kern="500" dirty="0">
                          <a:effectLst/>
                          <a:latin typeface="微软雅黑" panose="020B0503020204020204" pitchFamily="34" charset="-122"/>
                          <a:ea typeface="微软雅黑" panose="020B0503020204020204" pitchFamily="34" charset="-122"/>
                        </a:rPr>
                        <a:t>贵。</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101587694"/>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802.11n</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4</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dirty="0">
                          <a:effectLst/>
                          <a:latin typeface="微软雅黑" panose="020B0503020204020204" pitchFamily="34" charset="-122"/>
                          <a:ea typeface="微软雅黑" panose="020B0503020204020204" pitchFamily="34" charset="-122"/>
                        </a:rPr>
                        <a:t>600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使用多个发射和接收天线达到更高的数据传输率，</a:t>
                      </a:r>
                    </a:p>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当使用双倍带宽</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(40 MHz) </a:t>
                      </a:r>
                      <a:r>
                        <a:rPr lang="zh-CN" sz="1100" b="1" kern="500" dirty="0">
                          <a:effectLst/>
                          <a:latin typeface="微软雅黑" panose="020B0503020204020204" pitchFamily="34" charset="-122"/>
                          <a:ea typeface="微软雅黑" panose="020B0503020204020204" pitchFamily="34" charset="-122"/>
                        </a:rPr>
                        <a:t>时速率可达</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600 Mbit/s</a:t>
                      </a:r>
                      <a:r>
                        <a:rPr lang="zh-CN"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06416923"/>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802.11ac</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(2014</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5</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a:effectLst/>
                          <a:latin typeface="微软雅黑" panose="020B0503020204020204" pitchFamily="34" charset="-122"/>
                          <a:ea typeface="微软雅黑" panose="020B0503020204020204" pitchFamily="34" charset="-122"/>
                        </a:rPr>
                        <a:t>5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7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完全遵循</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802.11i </a:t>
                      </a:r>
                      <a:r>
                        <a:rPr lang="zh-CN" sz="1100" b="1" kern="500" dirty="0">
                          <a:effectLst/>
                          <a:latin typeface="微软雅黑" panose="020B0503020204020204" pitchFamily="34" charset="-122"/>
                          <a:ea typeface="微软雅黑" panose="020B0503020204020204" pitchFamily="34" charset="-122"/>
                        </a:rPr>
                        <a:t>安全标准的所有内容，使得无线连接能够在安全性方面达到企业级用户的需求。</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4157720987"/>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802.11ax</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6</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9.6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侧重解决密集环境下（如火车站、机场）提高吞吐量密度（即单位面积的吞吐量）</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089963033"/>
                  </a:ext>
                </a:extLst>
              </a:tr>
            </a:tbl>
          </a:graphicData>
        </a:graphic>
      </p:graphicFrame>
      <p:sp>
        <p:nvSpPr>
          <p:cNvPr id="7" name="Rectangle 1"/>
          <p:cNvSpPr>
            <a:spLocks noChangeArrowheads="1"/>
          </p:cNvSpPr>
          <p:nvPr/>
        </p:nvSpPr>
        <p:spPr bwMode="auto">
          <a:xfrm>
            <a:off x="1866900" y="19986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zh-CN" altLang="zh-CN" sz="1800" b="0" i="0" u="none" strike="noStrike" cap="none" normalizeH="0" baseline="0">
                <a:ln>
                  <a:noFill/>
                </a:ln>
                <a:solidFill>
                  <a:schemeClr val="tx1"/>
                </a:solidFill>
                <a:effectLst/>
                <a:latin typeface="Arial" panose="020B0604020202020204" pitchFamily="34" charset="0"/>
              </a:rPr>
            </a:br>
            <a:endParaRPr kumimoji="0" lang="zh-CN" altLang="zh-CN"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8829499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25279"/>
            <a:ext cx="8277262"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的物理层有以下几种实现方法：</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扩频</a:t>
            </a:r>
            <a:endParaRPr lang="en-US" altLang="zh-CN" sz="2000" b="1" dirty="0">
              <a:latin typeface="微软雅黑" pitchFamily="34" charset="-122"/>
              <a:ea typeface="微软雅黑"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多入多出 </a:t>
            </a:r>
            <a:r>
              <a:rPr lang="en-US" altLang="zh-CN" sz="2000" b="1" dirty="0">
                <a:latin typeface="微软雅黑" pitchFamily="34" charset="-122"/>
                <a:ea typeface="微软雅黑" pitchFamily="34" charset="-122"/>
              </a:rPr>
              <a:t>MIMO (Multiple Input Multiple Output)</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正交频分复用 </a:t>
            </a:r>
            <a:r>
              <a:rPr lang="en-US" altLang="zh-CN" sz="2000" b="1" dirty="0">
                <a:latin typeface="微软雅黑" pitchFamily="34" charset="-122"/>
                <a:ea typeface="微软雅黑" pitchFamily="34" charset="-122"/>
              </a:rPr>
              <a:t>OFDM (Orthogonal Frequency Division Multiplexing)</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跳频扩频 </a:t>
            </a:r>
            <a:r>
              <a:rPr lang="en-US" altLang="zh-CN" sz="2000" b="1" dirty="0">
                <a:latin typeface="微软雅黑" pitchFamily="34" charset="-122"/>
                <a:ea typeface="微软雅黑" pitchFamily="34" charset="-122"/>
              </a:rPr>
              <a:t>FHSS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已很少用</a:t>
            </a:r>
            <a:r>
              <a:rPr lang="zh-CN" altLang="en-US" sz="2000" b="1" dirty="0">
                <a:latin typeface="微软雅黑" pitchFamily="34" charset="-122"/>
                <a:ea typeface="微软雅黑" pitchFamily="34" charset="-122"/>
              </a:rPr>
              <a:t>）</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红外线 </a:t>
            </a:r>
            <a:r>
              <a:rPr lang="en-US" altLang="zh-CN" sz="2000" b="1" dirty="0">
                <a:latin typeface="微软雅黑" pitchFamily="34" charset="-122"/>
                <a:ea typeface="微软雅黑" pitchFamily="34" charset="-122"/>
              </a:rPr>
              <a:t>IR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已很少用</a:t>
            </a:r>
            <a:r>
              <a:rPr lang="zh-CN" altLang="en-US" sz="2000" b="1" dirty="0">
                <a:latin typeface="微软雅黑" pitchFamily="34" charset="-122"/>
                <a:ea typeface="微软雅黑" pitchFamily="34" charset="-122"/>
              </a:rPr>
              <a:t>） </a:t>
            </a:r>
          </a:p>
        </p:txBody>
      </p:sp>
      <p:sp>
        <p:nvSpPr>
          <p:cNvPr id="5"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5889"/>
            <a:ext cx="4012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的物理层的几种实现方法</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781109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1229031" y="3579066"/>
            <a:ext cx="6882581" cy="400110"/>
          </a:xfrm>
          <a:prstGeom prst="rect">
            <a:avLst/>
          </a:prstGeom>
        </p:spPr>
        <p:txBody>
          <a:bodyPr wrap="square">
            <a:spAutoFit/>
          </a:bodyPr>
          <a:lstStyle/>
          <a:p>
            <a:pPr algn="ctr"/>
            <a:r>
              <a:rPr lang="zh-CN" altLang="en-US" sz="2000" b="1" dirty="0">
                <a:latin typeface="微软雅黑" pitchFamily="34" charset="-122"/>
                <a:ea typeface="微软雅黑" pitchFamily="34" charset="-122"/>
              </a:rPr>
              <a:t>必须解决共享信道上的</a:t>
            </a:r>
            <a:r>
              <a:rPr lang="zh-CN" altLang="en-US" sz="2000" b="1" dirty="0">
                <a:solidFill>
                  <a:srgbClr val="C00000"/>
                </a:solidFill>
                <a:latin typeface="微软雅黑" pitchFamily="34" charset="-122"/>
                <a:ea typeface="微软雅黑" pitchFamily="34" charset="-122"/>
              </a:rPr>
              <a:t>碰撞问题</a:t>
            </a:r>
          </a:p>
        </p:txBody>
      </p:sp>
      <p:sp>
        <p:nvSpPr>
          <p:cNvPr id="5" name="AutoShape 12"/>
          <p:cNvSpPr>
            <a:spLocks noChangeArrowheads="1"/>
          </p:cNvSpPr>
          <p:nvPr/>
        </p:nvSpPr>
        <p:spPr bwMode="auto">
          <a:xfrm>
            <a:off x="511896" y="623733"/>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9" name="Rectangle 13"/>
          <p:cNvSpPr>
            <a:spLocks noChangeArrowheads="1"/>
          </p:cNvSpPr>
          <p:nvPr/>
        </p:nvSpPr>
        <p:spPr bwMode="auto">
          <a:xfrm>
            <a:off x="1915323" y="598269"/>
            <a:ext cx="5322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9.1.3  802.11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层协议</a:t>
            </a:r>
            <a:endParaRPr lang="en-US" altLang="zh-CN" sz="2400" b="1" dirty="0">
              <a:solidFill>
                <a:schemeClr val="bg1"/>
              </a:solidFill>
              <a:latin typeface="微软雅黑" pitchFamily="34" charset="-122"/>
              <a:ea typeface="微软雅黑" pitchFamily="34" charset="-122"/>
            </a:endParaRPr>
          </a:p>
        </p:txBody>
      </p:sp>
      <p:sp>
        <p:nvSpPr>
          <p:cNvPr id="10" name="圆角矩形 9"/>
          <p:cNvSpPr/>
          <p:nvPr/>
        </p:nvSpPr>
        <p:spPr>
          <a:xfrm>
            <a:off x="569293" y="1086643"/>
            <a:ext cx="8133857" cy="251196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组合 2"/>
          <p:cNvGrpSpPr/>
          <p:nvPr/>
        </p:nvGrpSpPr>
        <p:grpSpPr>
          <a:xfrm>
            <a:off x="2614076" y="1126696"/>
            <a:ext cx="3472216" cy="2280689"/>
            <a:chOff x="2394395" y="1432607"/>
            <a:chExt cx="3472216" cy="2280689"/>
          </a:xfrm>
        </p:grpSpPr>
        <p:grpSp>
          <p:nvGrpSpPr>
            <p:cNvPr id="11" name="组合 10"/>
            <p:cNvGrpSpPr/>
            <p:nvPr/>
          </p:nvGrpSpPr>
          <p:grpSpPr>
            <a:xfrm>
              <a:off x="2394395" y="1432607"/>
              <a:ext cx="3472216" cy="2280689"/>
              <a:chOff x="4116438" y="2064574"/>
              <a:chExt cx="4113022" cy="3260496"/>
            </a:xfrm>
          </p:grpSpPr>
          <p:sp>
            <p:nvSpPr>
              <p:cNvPr id="12"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Text Box 89"/>
              <p:cNvSpPr txBox="1">
                <a:spLocks noChangeArrowheads="1"/>
              </p:cNvSpPr>
              <p:nvPr/>
            </p:nvSpPr>
            <p:spPr bwMode="auto">
              <a:xfrm>
                <a:off x="4116438" y="2064574"/>
                <a:ext cx="1312481" cy="528001"/>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b="1" dirty="0">
                    <a:latin typeface="微软雅黑" panose="020B0503020204020204" pitchFamily="34" charset="-122"/>
                    <a:ea typeface="微软雅黑" panose="020B0503020204020204" pitchFamily="34" charset="-122"/>
                  </a:rPr>
                  <a:t>共享信道</a:t>
                </a:r>
              </a:p>
            </p:txBody>
          </p:sp>
          <p:sp>
            <p:nvSpPr>
              <p:cNvPr id="14" name="Line 139"/>
              <p:cNvSpPr>
                <a:spLocks noChangeShapeType="1"/>
              </p:cNvSpPr>
              <p:nvPr/>
            </p:nvSpPr>
            <p:spPr bwMode="auto">
              <a:xfrm>
                <a:off x="5152289" y="2496073"/>
                <a:ext cx="747000" cy="96130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组合 34"/>
            <p:cNvGrpSpPr/>
            <p:nvPr/>
          </p:nvGrpSpPr>
          <p:grpSpPr>
            <a:xfrm>
              <a:off x="3268486" y="2874919"/>
              <a:ext cx="547291" cy="482329"/>
              <a:chOff x="2565534" y="4101618"/>
              <a:chExt cx="360485" cy="386301"/>
            </a:xfrm>
          </p:grpSpPr>
          <p:sp>
            <p:nvSpPr>
              <p:cNvPr id="3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7" name="Group 424"/>
              <p:cNvGrpSpPr>
                <a:grpSpLocks/>
              </p:cNvGrpSpPr>
              <p:nvPr/>
            </p:nvGrpSpPr>
            <p:grpSpPr bwMode="auto">
              <a:xfrm>
                <a:off x="2565534" y="4101618"/>
                <a:ext cx="360485" cy="119330"/>
                <a:chOff x="748" y="2251"/>
                <a:chExt cx="306" cy="90"/>
              </a:xfrm>
            </p:grpSpPr>
            <p:sp>
              <p:nvSpPr>
                <p:cNvPr id="3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5" name="组合 44"/>
            <p:cNvGrpSpPr/>
            <p:nvPr/>
          </p:nvGrpSpPr>
          <p:grpSpPr>
            <a:xfrm>
              <a:off x="4117785" y="2874919"/>
              <a:ext cx="547291" cy="482329"/>
              <a:chOff x="2565534" y="4101618"/>
              <a:chExt cx="360485" cy="386301"/>
            </a:xfrm>
          </p:grpSpPr>
          <p:sp>
            <p:nvSpPr>
              <p:cNvPr id="4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47" name="Group 424"/>
              <p:cNvGrpSpPr>
                <a:grpSpLocks/>
              </p:cNvGrpSpPr>
              <p:nvPr/>
            </p:nvGrpSpPr>
            <p:grpSpPr bwMode="auto">
              <a:xfrm>
                <a:off x="2565534" y="4101618"/>
                <a:ext cx="360485" cy="119330"/>
                <a:chOff x="748" y="2251"/>
                <a:chExt cx="306" cy="90"/>
              </a:xfrm>
            </p:grpSpPr>
            <p:sp>
              <p:nvSpPr>
                <p:cNvPr id="4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4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5" name="组合 54"/>
            <p:cNvGrpSpPr/>
            <p:nvPr/>
          </p:nvGrpSpPr>
          <p:grpSpPr>
            <a:xfrm>
              <a:off x="4978437" y="2892725"/>
              <a:ext cx="547291" cy="482329"/>
              <a:chOff x="2565534" y="4101618"/>
              <a:chExt cx="360485" cy="386301"/>
            </a:xfrm>
          </p:grpSpPr>
          <p:sp>
            <p:nvSpPr>
              <p:cNvPr id="5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57" name="Group 424"/>
              <p:cNvGrpSpPr>
                <a:grpSpLocks/>
              </p:cNvGrpSpPr>
              <p:nvPr/>
            </p:nvGrpSpPr>
            <p:grpSpPr bwMode="auto">
              <a:xfrm>
                <a:off x="2565534" y="4101618"/>
                <a:ext cx="360485" cy="119330"/>
                <a:chOff x="748" y="2251"/>
                <a:chExt cx="306" cy="90"/>
              </a:xfrm>
            </p:grpSpPr>
            <p:sp>
              <p:nvSpPr>
                <p:cNvPr id="5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5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66" name="Text Box 34"/>
            <p:cNvSpPr txBox="1">
              <a:spLocks noChangeArrowheads="1"/>
            </p:cNvSpPr>
            <p:nvPr/>
          </p:nvSpPr>
          <p:spPr bwMode="auto">
            <a:xfrm>
              <a:off x="4509021" y="1917571"/>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omic Sans MS" panose="030F0702030302020204" pitchFamily="66" charset="0"/>
                </a:defRPr>
              </a:lvl1pPr>
              <a:lvl2pPr marL="742950" indent="-285750">
                <a:defRPr>
                  <a:solidFill>
                    <a:schemeClr val="tx1"/>
                  </a:solidFill>
                  <a:latin typeface="Comic Sans MS" panose="030F0702030302020204" pitchFamily="66" charset="0"/>
                </a:defRPr>
              </a:lvl2pPr>
              <a:lvl3pPr marL="1143000" indent="-228600">
                <a:defRPr>
                  <a:solidFill>
                    <a:schemeClr val="tx1"/>
                  </a:solidFill>
                  <a:latin typeface="Comic Sans MS" panose="030F0702030302020204" pitchFamily="66" charset="0"/>
                </a:defRPr>
              </a:lvl3pPr>
              <a:lvl4pPr marL="1600200" indent="-228600">
                <a:defRPr>
                  <a:solidFill>
                    <a:schemeClr val="tx1"/>
                  </a:solidFill>
                  <a:latin typeface="Comic Sans MS" panose="030F0702030302020204" pitchFamily="66" charset="0"/>
                </a:defRPr>
              </a:lvl4pPr>
              <a:lvl5pPr marL="2057400" indent="-228600">
                <a:defRPr>
                  <a:solidFill>
                    <a:schemeClr val="tx1"/>
                  </a:solidFill>
                  <a:latin typeface="Comic Sans MS" panose="030F0702030302020204" pitchFamily="66" charset="0"/>
                </a:defRPr>
              </a:lvl5pPr>
              <a:lvl6pPr marL="2514600" indent="-228600" eaLnBrk="0" fontAlgn="base" hangingPunct="0">
                <a:spcBef>
                  <a:spcPct val="0"/>
                </a:spcBef>
                <a:spcAft>
                  <a:spcPct val="0"/>
                </a:spcAft>
                <a:defRPr>
                  <a:solidFill>
                    <a:schemeClr val="tx1"/>
                  </a:solidFill>
                  <a:latin typeface="Comic Sans MS" panose="030F0702030302020204" pitchFamily="66" charset="0"/>
                </a:defRPr>
              </a:lvl6pPr>
              <a:lvl7pPr marL="2971800" indent="-228600" eaLnBrk="0" fontAlgn="base" hangingPunct="0">
                <a:spcBef>
                  <a:spcPct val="0"/>
                </a:spcBef>
                <a:spcAft>
                  <a:spcPct val="0"/>
                </a:spcAft>
                <a:defRPr>
                  <a:solidFill>
                    <a:schemeClr val="tx1"/>
                  </a:solidFill>
                  <a:latin typeface="Comic Sans MS" panose="030F0702030302020204" pitchFamily="66" charset="0"/>
                </a:defRPr>
              </a:lvl7pPr>
              <a:lvl8pPr marL="3429000" indent="-228600" eaLnBrk="0" fontAlgn="base" hangingPunct="0">
                <a:spcBef>
                  <a:spcPct val="0"/>
                </a:spcBef>
                <a:spcAft>
                  <a:spcPct val="0"/>
                </a:spcAft>
                <a:defRPr>
                  <a:solidFill>
                    <a:schemeClr val="tx1"/>
                  </a:solidFill>
                  <a:latin typeface="Comic Sans MS" panose="030F0702030302020204" pitchFamily="66" charset="0"/>
                </a:defRPr>
              </a:lvl8pPr>
              <a:lvl9pPr marL="3886200" indent="-228600" eaLnBrk="0" fontAlgn="base" hangingPunct="0">
                <a:spcBef>
                  <a:spcPct val="0"/>
                </a:spcBef>
                <a:spcAft>
                  <a:spcPct val="0"/>
                </a:spcAft>
                <a:defRPr>
                  <a:solidFill>
                    <a:schemeClr val="tx1"/>
                  </a:solidFill>
                  <a:latin typeface="Comic Sans MS" panose="030F0702030302020204" pitchFamily="66" charset="0"/>
                </a:defRPr>
              </a:lvl9pPr>
            </a:lstStyle>
            <a:p>
              <a:pPr eaLnBrk="1" hangingPunct="1"/>
              <a:r>
                <a:rPr lang="en-US" altLang="zh-CN" b="1" dirty="0">
                  <a:latin typeface="微软雅黑" panose="020B0503020204020204" pitchFamily="34" charset="-122"/>
                  <a:ea typeface="微软雅黑" panose="020B0503020204020204" pitchFamily="34" charset="-122"/>
                </a:rPr>
                <a:t>AP</a:t>
              </a:r>
            </a:p>
          </p:txBody>
        </p:sp>
        <p:grpSp>
          <p:nvGrpSpPr>
            <p:cNvPr id="2" name="组合 1"/>
            <p:cNvGrpSpPr/>
            <p:nvPr/>
          </p:nvGrpSpPr>
          <p:grpSpPr>
            <a:xfrm>
              <a:off x="4189495" y="1724606"/>
              <a:ext cx="501231" cy="520389"/>
              <a:chOff x="4061675" y="1960580"/>
              <a:chExt cx="501231" cy="520389"/>
            </a:xfrm>
          </p:grpSpPr>
          <p:pic>
            <p:nvPicPr>
              <p:cNvPr id="68" name="Picture 36" descr="31u_bnrz[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6200000">
                <a:off x="4153354" y="2237163"/>
                <a:ext cx="295337" cy="19227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grpSp>
            <p:nvGrpSpPr>
              <p:cNvPr id="88" name="Group 463"/>
              <p:cNvGrpSpPr>
                <a:grpSpLocks/>
              </p:cNvGrpSpPr>
              <p:nvPr/>
            </p:nvGrpSpPr>
            <p:grpSpPr bwMode="auto">
              <a:xfrm>
                <a:off x="4061675" y="1960580"/>
                <a:ext cx="501231" cy="202502"/>
                <a:chOff x="748" y="2251"/>
                <a:chExt cx="306" cy="90"/>
              </a:xfrm>
              <a:solidFill>
                <a:srgbClr val="0066FF"/>
              </a:solidFill>
            </p:grpSpPr>
            <p:sp>
              <p:nvSpPr>
                <p:cNvPr id="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97" name="Freeform 293"/>
            <p:cNvSpPr>
              <a:spLocks/>
            </p:cNvSpPr>
            <p:nvPr/>
          </p:nvSpPr>
          <p:spPr bwMode="auto">
            <a:xfrm>
              <a:off x="3781110" y="2350626"/>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Freeform 293"/>
            <p:cNvSpPr>
              <a:spLocks/>
            </p:cNvSpPr>
            <p:nvPr/>
          </p:nvSpPr>
          <p:spPr bwMode="auto">
            <a:xfrm flipH="1">
              <a:off x="4793538" y="2397028"/>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Freeform 293"/>
            <p:cNvSpPr>
              <a:spLocks/>
            </p:cNvSpPr>
            <p:nvPr/>
          </p:nvSpPr>
          <p:spPr bwMode="auto">
            <a:xfrm rot="2515369" flipH="1">
              <a:off x="4304612" y="2384373"/>
              <a:ext cx="259952" cy="377144"/>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1204131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a:t>
            </a:r>
            <a:r>
              <a:rPr lang="zh-CN" altLang="en-US" sz="2000" b="1" dirty="0">
                <a:solidFill>
                  <a:srgbClr val="C00000"/>
                </a:solidFill>
                <a:latin typeface="微软雅黑" pitchFamily="34" charset="-122"/>
                <a:ea typeface="微软雅黑" pitchFamily="34" charset="-122"/>
              </a:rPr>
              <a:t>不能</a:t>
            </a:r>
            <a:r>
              <a:rPr lang="zh-CN" altLang="en-US" sz="2000" b="1" dirty="0">
                <a:latin typeface="微软雅黑" pitchFamily="34" charset="-122"/>
                <a:ea typeface="微软雅黑" pitchFamily="34" charset="-122"/>
              </a:rPr>
              <a:t>简单地搬用 </a:t>
            </a:r>
            <a:r>
              <a:rPr lang="en-US" altLang="zh-CN" sz="2000" b="1" dirty="0">
                <a:latin typeface="微软雅黑" pitchFamily="34" charset="-122"/>
                <a:ea typeface="微软雅黑" pitchFamily="34" charset="-122"/>
              </a:rPr>
              <a:t>CSMA/CD </a:t>
            </a:r>
            <a:r>
              <a:rPr lang="zh-CN" altLang="en-US" sz="2000" b="1" dirty="0">
                <a:latin typeface="微软雅黑" pitchFamily="34" charset="-122"/>
                <a:ea typeface="微软雅黑" pitchFamily="34" charset="-122"/>
              </a:rPr>
              <a:t>协议。因为：</a:t>
            </a:r>
          </a:p>
          <a:p>
            <a:pPr marL="684000" indent="-342900" eaLnBrk="0" hangingPunct="0">
              <a:lnSpc>
                <a:spcPts val="3300"/>
              </a:lnSpc>
              <a:buClr>
                <a:srgbClr val="7030A0"/>
              </a:buClr>
              <a:buFont typeface="+mj-lt"/>
              <a:buAutoNum type="arabicPeriod"/>
            </a:pPr>
            <a:r>
              <a:rPr lang="zh-CN" altLang="en-US" sz="2000" b="1" dirty="0">
                <a:solidFill>
                  <a:srgbClr val="C00000"/>
                </a:solidFill>
                <a:latin typeface="微软雅黑" pitchFamily="34" charset="-122"/>
                <a:ea typeface="微软雅黑" pitchFamily="34" charset="-122"/>
              </a:rPr>
              <a:t>碰撞检测（</a:t>
            </a:r>
            <a:r>
              <a:rPr lang="en-US" altLang="zh-CN" sz="2000" b="1" dirty="0">
                <a:solidFill>
                  <a:srgbClr val="C00000"/>
                </a:solidFill>
                <a:latin typeface="微软雅黑" pitchFamily="34" charset="-122"/>
                <a:ea typeface="微软雅黑" pitchFamily="34" charset="-122"/>
              </a:rPr>
              <a:t>CD</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要求：一个站点在发送本站数据的同时，还必须不间断地检测信道，但接收到的信号强度往往会远远小于发送信号的强度，在无线局域网的设备中要实现这种功能就</a:t>
            </a:r>
            <a:r>
              <a:rPr lang="zh-CN" altLang="en-US" sz="2000" b="1" dirty="0">
                <a:solidFill>
                  <a:srgbClr val="0000FF"/>
                </a:solidFill>
                <a:latin typeface="微软雅黑" pitchFamily="34" charset="-122"/>
                <a:ea typeface="微软雅黑" pitchFamily="34" charset="-122"/>
              </a:rPr>
              <a:t>花费过大</a:t>
            </a:r>
            <a:r>
              <a:rPr lang="zh-CN" altLang="en-US" sz="2000" b="1" dirty="0">
                <a:latin typeface="微软雅黑" pitchFamily="34" charset="-122"/>
                <a:ea typeface="微软雅黑" pitchFamily="34" charset="-122"/>
              </a:rPr>
              <a:t>。</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即使能够实现碰撞检测的功能，并且在发送数据时检测到信道是空闲的时候，在接收端仍然有</a:t>
            </a:r>
            <a:r>
              <a:rPr lang="zh-CN" altLang="en-US" sz="2000" b="1" dirty="0">
                <a:solidFill>
                  <a:srgbClr val="0000FF"/>
                </a:solidFill>
                <a:latin typeface="微软雅黑" pitchFamily="34" charset="-122"/>
                <a:ea typeface="微软雅黑" pitchFamily="34" charset="-122"/>
              </a:rPr>
              <a:t>可能发生碰撞</a:t>
            </a:r>
            <a:r>
              <a:rPr lang="zh-CN" altLang="en-US" sz="2000" b="1" dirty="0">
                <a:latin typeface="微软雅黑" pitchFamily="34" charset="-122"/>
                <a:ea typeface="微软雅黑" pitchFamily="34" charset="-122"/>
              </a:rPr>
              <a:t>。 </a:t>
            </a: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334567" y="582249"/>
            <a:ext cx="24320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a:t>
            </a:r>
            <a:r>
              <a:rPr lang="en-US" altLang="zh-CN" sz="2000" b="1" dirty="0">
                <a:solidFill>
                  <a:srgbClr val="FF0000"/>
                </a:solidFill>
                <a:highlight>
                  <a:srgbClr val="FFFF00"/>
                </a:highlight>
                <a:latin typeface="微软雅黑" pitchFamily="34" charset="-122"/>
                <a:ea typeface="微软雅黑" pitchFamily="34" charset="-122"/>
              </a:rPr>
              <a:t>. CSMA/CA </a:t>
            </a:r>
            <a:r>
              <a:rPr lang="zh-CN" altLang="en-US" sz="2000" b="1" dirty="0">
                <a:solidFill>
                  <a:srgbClr val="FF0000"/>
                </a:solidFill>
                <a:highlight>
                  <a:srgbClr val="FFFF00"/>
                </a:highlight>
                <a:latin typeface="微软雅黑" pitchFamily="34" charset="-122"/>
                <a:ea typeface="微软雅黑" pitchFamily="34" charset="-122"/>
              </a:rPr>
              <a:t>协议</a:t>
            </a:r>
          </a:p>
        </p:txBody>
      </p:sp>
    </p:spTree>
    <p:extLst>
      <p:ext uri="{BB962C8B-B14F-4D97-AF65-F5344CB8AC3E}">
        <p14:creationId xmlns:p14="http://schemas.microsoft.com/office/powerpoint/2010/main" val="30210994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68216"/>
            <a:ext cx="2826415" cy="400110"/>
          </a:xfrm>
          <a:prstGeom prst="rect">
            <a:avLst/>
          </a:prstGeom>
        </p:spPr>
        <p:txBody>
          <a:bodyPr wrap="none">
            <a:spAutoFit/>
          </a:bodyPr>
          <a:lstStyle/>
          <a:p>
            <a:r>
              <a:rPr lang="zh-CN" altLang="en-US" sz="2000" b="1" dirty="0">
                <a:latin typeface="微软雅黑" pitchFamily="34" charset="-122"/>
                <a:ea typeface="微软雅黑" pitchFamily="34" charset="-122"/>
              </a:rPr>
              <a:t>无线局域网的特殊问题 </a:t>
            </a:r>
          </a:p>
        </p:txBody>
      </p:sp>
      <p:sp>
        <p:nvSpPr>
          <p:cNvPr id="4" name="圆角矩形 3"/>
          <p:cNvSpPr/>
          <p:nvPr/>
        </p:nvSpPr>
        <p:spPr>
          <a:xfrm>
            <a:off x="517852" y="967849"/>
            <a:ext cx="8133857" cy="26012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5" name="组合 4"/>
          <p:cNvGrpSpPr/>
          <p:nvPr/>
        </p:nvGrpSpPr>
        <p:grpSpPr>
          <a:xfrm>
            <a:off x="3058554" y="1176953"/>
            <a:ext cx="1881866" cy="2146352"/>
            <a:chOff x="4691515" y="1628800"/>
            <a:chExt cx="3537945" cy="3696270"/>
          </a:xfrm>
        </p:grpSpPr>
        <p:sp>
          <p:nvSpPr>
            <p:cNvPr id="6"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Text Box 89"/>
            <p:cNvSpPr txBox="1">
              <a:spLocks noChangeArrowheads="1"/>
            </p:cNvSpPr>
            <p:nvPr/>
          </p:nvSpPr>
          <p:spPr bwMode="auto">
            <a:xfrm>
              <a:off x="4691515" y="1628800"/>
              <a:ext cx="1945749"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C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8" name="Line 139"/>
            <p:cNvSpPr>
              <a:spLocks noChangeShapeType="1"/>
            </p:cNvSpPr>
            <p:nvPr/>
          </p:nvSpPr>
          <p:spPr bwMode="auto">
            <a:xfrm>
              <a:off x="5169023" y="2179371"/>
              <a:ext cx="424789" cy="390525"/>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9" name="Text Box 92"/>
          <p:cNvSpPr txBox="1">
            <a:spLocks noChangeArrowheads="1"/>
          </p:cNvSpPr>
          <p:nvPr/>
        </p:nvSpPr>
        <p:spPr bwMode="auto">
          <a:xfrm>
            <a:off x="3866763" y="2634591"/>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33" name="组合 32"/>
          <p:cNvGrpSpPr/>
          <p:nvPr/>
        </p:nvGrpSpPr>
        <p:grpSpPr>
          <a:xfrm>
            <a:off x="1541455" y="1176953"/>
            <a:ext cx="1970389" cy="2146352"/>
            <a:chOff x="1476798" y="1628800"/>
            <a:chExt cx="3835897" cy="3696270"/>
          </a:xfrm>
        </p:grpSpPr>
        <p:sp>
          <p:nvSpPr>
            <p:cNvPr id="34"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35"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6"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7" name="Text Box 90"/>
          <p:cNvSpPr txBox="1">
            <a:spLocks noChangeArrowheads="1"/>
          </p:cNvSpPr>
          <p:nvPr/>
        </p:nvSpPr>
        <p:spPr bwMode="auto">
          <a:xfrm>
            <a:off x="2356147" y="267071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sp>
        <p:nvSpPr>
          <p:cNvPr id="38" name="Text Box 91"/>
          <p:cNvSpPr txBox="1">
            <a:spLocks noChangeArrowheads="1"/>
          </p:cNvSpPr>
          <p:nvPr/>
        </p:nvSpPr>
        <p:spPr bwMode="auto">
          <a:xfrm>
            <a:off x="3161549" y="2659955"/>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64" name="组合 63"/>
          <p:cNvGrpSpPr/>
          <p:nvPr/>
        </p:nvGrpSpPr>
        <p:grpSpPr>
          <a:xfrm>
            <a:off x="2259505" y="2154213"/>
            <a:ext cx="565079" cy="519500"/>
            <a:chOff x="2565534" y="4101618"/>
            <a:chExt cx="360485" cy="386301"/>
          </a:xfrm>
        </p:grpSpPr>
        <p:sp>
          <p:nvSpPr>
            <p:cNvPr id="6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66" name="Group 424"/>
            <p:cNvGrpSpPr>
              <a:grpSpLocks/>
            </p:cNvGrpSpPr>
            <p:nvPr/>
          </p:nvGrpSpPr>
          <p:grpSpPr bwMode="auto">
            <a:xfrm>
              <a:off x="2565534" y="4101618"/>
              <a:ext cx="360485" cy="119330"/>
              <a:chOff x="748" y="2251"/>
              <a:chExt cx="306" cy="90"/>
            </a:xfrm>
          </p:grpSpPr>
          <p:sp>
            <p:nvSpPr>
              <p:cNvPr id="6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67"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4" name="组合 73"/>
          <p:cNvGrpSpPr/>
          <p:nvPr/>
        </p:nvGrpSpPr>
        <p:grpSpPr>
          <a:xfrm>
            <a:off x="3042584" y="2154213"/>
            <a:ext cx="565079" cy="519500"/>
            <a:chOff x="2565534" y="4101618"/>
            <a:chExt cx="360485" cy="386301"/>
          </a:xfrm>
        </p:grpSpPr>
        <p:sp>
          <p:nvSpPr>
            <p:cNvPr id="7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76" name="Group 424"/>
            <p:cNvGrpSpPr>
              <a:grpSpLocks/>
            </p:cNvGrpSpPr>
            <p:nvPr/>
          </p:nvGrpSpPr>
          <p:grpSpPr bwMode="auto">
            <a:xfrm>
              <a:off x="2565534" y="4101618"/>
              <a:ext cx="360485" cy="119330"/>
              <a:chOff x="748" y="2251"/>
              <a:chExt cx="306" cy="90"/>
            </a:xfrm>
          </p:grpSpPr>
          <p:sp>
            <p:nvSpPr>
              <p:cNvPr id="7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77"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4" name="组合 83"/>
          <p:cNvGrpSpPr/>
          <p:nvPr/>
        </p:nvGrpSpPr>
        <p:grpSpPr>
          <a:xfrm>
            <a:off x="3753819" y="2154213"/>
            <a:ext cx="565079" cy="519500"/>
            <a:chOff x="2565534" y="4101618"/>
            <a:chExt cx="360485" cy="386301"/>
          </a:xfrm>
        </p:grpSpPr>
        <p:sp>
          <p:nvSpPr>
            <p:cNvPr id="8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86" name="Group 424"/>
            <p:cNvGrpSpPr>
              <a:grpSpLocks/>
            </p:cNvGrpSpPr>
            <p:nvPr/>
          </p:nvGrpSpPr>
          <p:grpSpPr bwMode="auto">
            <a:xfrm>
              <a:off x="2565534" y="4101618"/>
              <a:ext cx="360485" cy="119330"/>
              <a:chOff x="748" y="2251"/>
              <a:chExt cx="306" cy="90"/>
            </a:xfrm>
          </p:grpSpPr>
          <p:sp>
            <p:nvSpPr>
              <p:cNvPr id="8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87"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9" name="组合 58"/>
          <p:cNvGrpSpPr/>
          <p:nvPr/>
        </p:nvGrpSpPr>
        <p:grpSpPr>
          <a:xfrm>
            <a:off x="5687758" y="1176953"/>
            <a:ext cx="1970389" cy="2146352"/>
            <a:chOff x="1476798" y="1628800"/>
            <a:chExt cx="3835897" cy="3696270"/>
          </a:xfrm>
        </p:grpSpPr>
        <p:sp>
          <p:nvSpPr>
            <p:cNvPr id="60"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61"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5" name="Text Box 90"/>
          <p:cNvSpPr txBox="1">
            <a:spLocks noChangeArrowheads="1"/>
          </p:cNvSpPr>
          <p:nvPr/>
        </p:nvSpPr>
        <p:spPr bwMode="auto">
          <a:xfrm>
            <a:off x="6522114" y="262155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grpSp>
        <p:nvGrpSpPr>
          <p:cNvPr id="106" name="组合 105"/>
          <p:cNvGrpSpPr/>
          <p:nvPr/>
        </p:nvGrpSpPr>
        <p:grpSpPr>
          <a:xfrm>
            <a:off x="6405808" y="2154213"/>
            <a:ext cx="565079" cy="519500"/>
            <a:chOff x="2565534" y="4101618"/>
            <a:chExt cx="360485" cy="386301"/>
          </a:xfrm>
        </p:grpSpPr>
        <p:sp>
          <p:nvSpPr>
            <p:cNvPr id="10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8" name="Group 424"/>
            <p:cNvGrpSpPr>
              <a:grpSpLocks/>
            </p:cNvGrpSpPr>
            <p:nvPr/>
          </p:nvGrpSpPr>
          <p:grpSpPr bwMode="auto">
            <a:xfrm>
              <a:off x="2565534" y="4101618"/>
              <a:ext cx="360485" cy="119330"/>
              <a:chOff x="748" y="2251"/>
              <a:chExt cx="306" cy="90"/>
            </a:xfrm>
          </p:grpSpPr>
          <p:sp>
            <p:nvSpPr>
              <p:cNvPr id="11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18" name="Text Box 91"/>
          <p:cNvSpPr txBox="1">
            <a:spLocks noChangeArrowheads="1"/>
          </p:cNvSpPr>
          <p:nvPr/>
        </p:nvSpPr>
        <p:spPr bwMode="auto">
          <a:xfrm>
            <a:off x="7316099" y="2669787"/>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119" name="组合 118"/>
          <p:cNvGrpSpPr/>
          <p:nvPr/>
        </p:nvGrpSpPr>
        <p:grpSpPr>
          <a:xfrm>
            <a:off x="7197134" y="2164045"/>
            <a:ext cx="565079" cy="519500"/>
            <a:chOff x="2565534" y="4101618"/>
            <a:chExt cx="360485" cy="386301"/>
          </a:xfrm>
        </p:grpSpPr>
        <p:sp>
          <p:nvSpPr>
            <p:cNvPr id="120"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21" name="Group 424"/>
            <p:cNvGrpSpPr>
              <a:grpSpLocks/>
            </p:cNvGrpSpPr>
            <p:nvPr/>
          </p:nvGrpSpPr>
          <p:grpSpPr bwMode="auto">
            <a:xfrm>
              <a:off x="2565534" y="4101618"/>
              <a:ext cx="360485" cy="119330"/>
              <a:chOff x="748" y="2251"/>
              <a:chExt cx="306" cy="90"/>
            </a:xfrm>
          </p:grpSpPr>
          <p:sp>
            <p:nvSpPr>
              <p:cNvPr id="123"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4"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5"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6"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7"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8"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2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29" name="Text Box 92"/>
          <p:cNvSpPr txBox="1">
            <a:spLocks noChangeArrowheads="1"/>
          </p:cNvSpPr>
          <p:nvPr/>
        </p:nvSpPr>
        <p:spPr bwMode="auto">
          <a:xfrm>
            <a:off x="7291951" y="1526547"/>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130" name="组合 129"/>
          <p:cNvGrpSpPr/>
          <p:nvPr/>
        </p:nvGrpSpPr>
        <p:grpSpPr>
          <a:xfrm>
            <a:off x="6887081" y="1450108"/>
            <a:ext cx="565079" cy="519500"/>
            <a:chOff x="2565534" y="4101618"/>
            <a:chExt cx="360485" cy="386301"/>
          </a:xfrm>
        </p:grpSpPr>
        <p:sp>
          <p:nvSpPr>
            <p:cNvPr id="131"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32" name="Group 424"/>
            <p:cNvGrpSpPr>
              <a:grpSpLocks/>
            </p:cNvGrpSpPr>
            <p:nvPr/>
          </p:nvGrpSpPr>
          <p:grpSpPr bwMode="auto">
            <a:xfrm>
              <a:off x="2565534" y="4101618"/>
              <a:ext cx="360485" cy="119330"/>
              <a:chOff x="748" y="2251"/>
              <a:chExt cx="306" cy="90"/>
            </a:xfrm>
          </p:grpSpPr>
          <p:sp>
            <p:nvSpPr>
              <p:cNvPr id="134"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5"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6"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7"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8"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9"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33"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40" name="右箭头 139"/>
          <p:cNvSpPr/>
          <p:nvPr/>
        </p:nvSpPr>
        <p:spPr bwMode="auto">
          <a:xfrm rot="10800000" flipH="1">
            <a:off x="6891030" y="2395742"/>
            <a:ext cx="383596"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1" name="右箭头 140"/>
          <p:cNvSpPr/>
          <p:nvPr/>
        </p:nvSpPr>
        <p:spPr bwMode="auto">
          <a:xfrm rot="14218024" flipH="1">
            <a:off x="7227909" y="2041707"/>
            <a:ext cx="223787" cy="101722"/>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r>
              <a:rPr lang="en-US" altLang="zh-CN" dirty="0"/>
              <a:t>                        </a:t>
            </a:r>
            <a:endParaRPr lang="zh-CN" altLang="en-US" dirty="0"/>
          </a:p>
        </p:txBody>
      </p:sp>
      <p:sp>
        <p:nvSpPr>
          <p:cNvPr id="142" name="右箭头 141"/>
          <p:cNvSpPr/>
          <p:nvPr/>
        </p:nvSpPr>
        <p:spPr bwMode="auto">
          <a:xfrm rot="10800000" flipH="1">
            <a:off x="2752916"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43" name="右箭头 142"/>
          <p:cNvSpPr/>
          <p:nvPr/>
        </p:nvSpPr>
        <p:spPr bwMode="auto">
          <a:xfrm rot="10800000">
            <a:off x="3498879"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a:p>
        </p:txBody>
      </p:sp>
      <p:sp>
        <p:nvSpPr>
          <p:cNvPr id="11" name="矩形 10"/>
          <p:cNvSpPr/>
          <p:nvPr/>
        </p:nvSpPr>
        <p:spPr>
          <a:xfrm>
            <a:off x="1038414" y="3583369"/>
            <a:ext cx="7122360" cy="1015663"/>
          </a:xfrm>
          <a:prstGeom prst="rect">
            <a:avLst/>
          </a:prstGeom>
        </p:spPr>
        <p:txBody>
          <a:bodyPr wrap="square">
            <a:spAutoFit/>
          </a:bodyPr>
          <a:lstStyle/>
          <a:p>
            <a:pPr>
              <a:lnSpc>
                <a:spcPts val="2400"/>
              </a:lnSpc>
            </a:pPr>
            <a:r>
              <a:rPr lang="zh-CN" altLang="en-US" b="1" dirty="0">
                <a:solidFill>
                  <a:srgbClr val="CC0000"/>
                </a:solidFill>
                <a:latin typeface="微软雅黑" pitchFamily="34" charset="-122"/>
                <a:ea typeface="微软雅黑" pitchFamily="34" charset="-122"/>
              </a:rPr>
              <a:t>隐蔽站问题 </a:t>
            </a:r>
            <a:r>
              <a:rPr lang="en-US" altLang="zh-CN" b="1" dirty="0">
                <a:latin typeface="微软雅黑" pitchFamily="34" charset="-122"/>
                <a:ea typeface="微软雅黑" pitchFamily="34" charset="-122"/>
              </a:rPr>
              <a:t>(hidden station problem)</a:t>
            </a:r>
            <a:r>
              <a:rPr lang="zh-CN" altLang="en-US" b="1" dirty="0">
                <a:latin typeface="微软雅黑" pitchFamily="34" charset="-122"/>
                <a:ea typeface="微软雅黑" pitchFamily="34" charset="-122"/>
              </a:rPr>
              <a:t>：由于无线信号覆盖范围和穿透能力有限，</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C </a:t>
            </a:r>
            <a:r>
              <a:rPr lang="zh-CN" altLang="en-US" b="1" dirty="0">
                <a:latin typeface="微软雅黑" pitchFamily="34" charset="-122"/>
                <a:ea typeface="微软雅黑" pitchFamily="34" charset="-122"/>
              </a:rPr>
              <a:t>检测不到彼此的无线信号，都以为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是空闲的，因而都向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发送数据，结果发生碰撞。</a:t>
            </a:r>
          </a:p>
        </p:txBody>
      </p:sp>
      <p:grpSp>
        <p:nvGrpSpPr>
          <p:cNvPr id="12" name="组合 11"/>
          <p:cNvGrpSpPr/>
          <p:nvPr/>
        </p:nvGrpSpPr>
        <p:grpSpPr>
          <a:xfrm>
            <a:off x="6601007" y="1671839"/>
            <a:ext cx="653110" cy="627973"/>
            <a:chOff x="6620671" y="1830536"/>
            <a:chExt cx="520462" cy="479108"/>
          </a:xfrm>
        </p:grpSpPr>
        <p:pic>
          <p:nvPicPr>
            <p:cNvPr id="116" name="Picture 1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20535" y="1919327"/>
              <a:ext cx="320598" cy="390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7" name="Picture 1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20671" y="1830536"/>
              <a:ext cx="280083" cy="339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4720708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nodeType="withEffect">
                                  <p:stCondLst>
                                    <p:cond delay="0"/>
                                  </p:stCondLst>
                                  <p:childTnLst>
                                    <p:anim calcmode="discrete" valueType="str">
                                      <p:cBhvr>
                                        <p:cTn id="10"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0425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必须考虑的特点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无线局域网的适配器</a:t>
            </a:r>
            <a:r>
              <a:rPr lang="zh-CN" altLang="en-US" sz="2000" b="1" dirty="0">
                <a:solidFill>
                  <a:srgbClr val="0000FF"/>
                </a:solidFill>
                <a:latin typeface="微软雅黑" pitchFamily="34" charset="-122"/>
                <a:ea typeface="微软雅黑" pitchFamily="34" charset="-122"/>
              </a:rPr>
              <a:t>无法实现</a:t>
            </a:r>
            <a:r>
              <a:rPr lang="zh-CN" altLang="en-US" sz="2000" b="1" dirty="0">
                <a:latin typeface="微软雅黑" pitchFamily="34" charset="-122"/>
                <a:ea typeface="微软雅黑" pitchFamily="34" charset="-122"/>
              </a:rPr>
              <a:t>碰撞检测；</a:t>
            </a:r>
          </a:p>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检测到信道空闲，其实信道</a:t>
            </a:r>
            <a:r>
              <a:rPr lang="zh-CN" altLang="en-US" sz="2000" b="1" dirty="0">
                <a:solidFill>
                  <a:srgbClr val="0000FF"/>
                </a:solidFill>
                <a:latin typeface="微软雅黑" pitchFamily="34" charset="-122"/>
                <a:ea typeface="微软雅黑" pitchFamily="34" charset="-122"/>
              </a:rPr>
              <a:t>可能并不空闲；</a:t>
            </a:r>
          </a:p>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即使能够在硬件上实现无线局域网的碰撞检测功能，也无法检测出</a:t>
            </a:r>
            <a:r>
              <a:rPr lang="zh-CN" altLang="en-US" sz="2000" b="1" dirty="0">
                <a:solidFill>
                  <a:srgbClr val="0000FF"/>
                </a:solidFill>
                <a:latin typeface="微软雅黑" pitchFamily="34" charset="-122"/>
                <a:ea typeface="微软雅黑" pitchFamily="34" charset="-122"/>
              </a:rPr>
              <a:t>隐蔽站问题</a:t>
            </a:r>
            <a:r>
              <a:rPr lang="zh-CN" altLang="en-US" sz="2000" b="1" dirty="0">
                <a:latin typeface="微软雅黑" pitchFamily="34" charset="-122"/>
                <a:ea typeface="微软雅黑" pitchFamily="34" charset="-122"/>
              </a:rPr>
              <a:t>带来的碰撞。</a:t>
            </a:r>
          </a:p>
        </p:txBody>
      </p:sp>
    </p:spTree>
    <p:extLst>
      <p:ext uri="{BB962C8B-B14F-4D97-AF65-F5344CB8AC3E}">
        <p14:creationId xmlns:p14="http://schemas.microsoft.com/office/powerpoint/2010/main" val="3900269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1226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无线局域网不能使用 </a:t>
            </a:r>
            <a:r>
              <a:rPr lang="en-US" altLang="zh-CN" sz="2000" b="1" dirty="0">
                <a:latin typeface="微软雅黑" pitchFamily="34" charset="-122"/>
                <a:ea typeface="微软雅黑" pitchFamily="34" charset="-122"/>
              </a:rPr>
              <a:t>CSMA/CD</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但可以使用 </a:t>
            </a:r>
            <a:r>
              <a:rPr lang="en-US" altLang="zh-CN" sz="2000" b="1" dirty="0">
                <a:latin typeface="微软雅黑" pitchFamily="34" charset="-122"/>
                <a:ea typeface="微软雅黑" pitchFamily="34" charset="-122"/>
              </a:rPr>
              <a:t>CSMA </a:t>
            </a:r>
            <a:r>
              <a:rPr lang="zh-CN" altLang="en-US" sz="2000" b="1" dirty="0">
                <a:latin typeface="微软雅黑" pitchFamily="34" charset="-122"/>
                <a:ea typeface="微软雅黑" pitchFamily="34" charset="-122"/>
              </a:rPr>
              <a:t>协议。</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C0000"/>
                </a:solidFill>
                <a:latin typeface="微软雅黑" pitchFamily="34" charset="-122"/>
                <a:ea typeface="微软雅黑" pitchFamily="34" charset="-122"/>
              </a:rPr>
              <a:t>改进：</a:t>
            </a:r>
            <a:endParaRPr lang="en-US" altLang="zh-CN" sz="2000" b="1" dirty="0">
              <a:solidFill>
                <a:srgbClr val="CC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增加</a:t>
            </a:r>
            <a:r>
              <a:rPr lang="zh-CN" altLang="en-US" sz="2000" b="1" dirty="0">
                <a:solidFill>
                  <a:srgbClr val="C00000"/>
                </a:solidFill>
                <a:latin typeface="微软雅黑" pitchFamily="34" charset="-122"/>
                <a:ea typeface="微软雅黑" pitchFamily="34" charset="-122"/>
              </a:rPr>
              <a:t>碰撞避免 </a:t>
            </a:r>
            <a:r>
              <a:rPr lang="en-US" altLang="zh-CN" sz="2000" b="1" dirty="0">
                <a:solidFill>
                  <a:srgbClr val="C00000"/>
                </a:solidFill>
                <a:latin typeface="微软雅黑" pitchFamily="34" charset="-122"/>
                <a:ea typeface="微软雅黑" pitchFamily="34" charset="-122"/>
              </a:rPr>
              <a:t>CA </a:t>
            </a:r>
            <a:r>
              <a:rPr lang="en-US" altLang="zh-CN" sz="2000" b="1" dirty="0">
                <a:latin typeface="微软雅黑" pitchFamily="34" charset="-122"/>
                <a:ea typeface="微软雅黑" pitchFamily="34" charset="-122"/>
              </a:rPr>
              <a:t>(Collision Avoidance) </a:t>
            </a:r>
            <a:r>
              <a:rPr lang="zh-CN" altLang="en-US" sz="2000" b="1" dirty="0">
                <a:latin typeface="微软雅黑" pitchFamily="34" charset="-122"/>
                <a:ea typeface="微软雅黑" pitchFamily="34" charset="-122"/>
              </a:rPr>
              <a:t>：尽量减少碰撞发生的概率。</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的同时，使用</a:t>
            </a:r>
            <a:r>
              <a:rPr lang="zh-CN" altLang="en-US" sz="2000" b="1" dirty="0">
                <a:solidFill>
                  <a:srgbClr val="C00000"/>
                </a:solidFill>
                <a:latin typeface="微软雅黑" pitchFamily="34" charset="-122"/>
                <a:ea typeface="微软雅黑" pitchFamily="34" charset="-122"/>
              </a:rPr>
              <a:t>停止等待协议：</a:t>
            </a:r>
            <a:r>
              <a:rPr lang="zh-CN" altLang="en-US" sz="2000" b="1" dirty="0">
                <a:latin typeface="微软雅黑" pitchFamily="34" charset="-122"/>
                <a:ea typeface="微软雅黑" pitchFamily="34" charset="-122"/>
              </a:rPr>
              <a:t>链路层确认，解决碰撞后重传。</a:t>
            </a:r>
          </a:p>
        </p:txBody>
      </p:sp>
    </p:spTree>
    <p:extLst>
      <p:ext uri="{BB962C8B-B14F-4D97-AF65-F5344CB8AC3E}">
        <p14:creationId xmlns:p14="http://schemas.microsoft.com/office/powerpoint/2010/main" val="9783542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2498504"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 </a:t>
            </a:r>
          </a:p>
        </p:txBody>
      </p:sp>
      <p:sp>
        <p:nvSpPr>
          <p:cNvPr id="5" name="矩形 4"/>
          <p:cNvSpPr/>
          <p:nvPr/>
        </p:nvSpPr>
        <p:spPr>
          <a:xfrm>
            <a:off x="1501546" y="3923701"/>
            <a:ext cx="6364260" cy="759182"/>
          </a:xfrm>
          <a:prstGeom prst="rect">
            <a:avLst/>
          </a:prstGeom>
        </p:spPr>
        <p:txBody>
          <a:bodyPr wrap="square">
            <a:spAutoFit/>
          </a:bodyPr>
          <a:lstStyle/>
          <a:p>
            <a:pPr>
              <a:lnSpc>
                <a:spcPts val="2600"/>
              </a:lnSpc>
            </a:pPr>
            <a:r>
              <a:rPr lang="en-US" altLang="zh-CN" b="1" dirty="0">
                <a:latin typeface="微软雅黑" pitchFamily="34" charset="-122"/>
                <a:ea typeface="微软雅黑" pitchFamily="34" charset="-122"/>
              </a:rPr>
              <a:t>MAC </a:t>
            </a:r>
            <a:r>
              <a:rPr lang="zh-CN" altLang="en-US" b="1" dirty="0">
                <a:latin typeface="微软雅黑" pitchFamily="34" charset="-122"/>
                <a:ea typeface="微软雅黑" pitchFamily="34" charset="-122"/>
              </a:rPr>
              <a:t>层通过</a:t>
            </a:r>
            <a:r>
              <a:rPr lang="zh-CN" altLang="en-US" b="1" dirty="0">
                <a:solidFill>
                  <a:srgbClr val="C00000"/>
                </a:solidFill>
                <a:latin typeface="微软雅黑" pitchFamily="34" charset="-122"/>
                <a:ea typeface="微软雅黑" pitchFamily="34" charset="-122"/>
              </a:rPr>
              <a:t>协调功能</a:t>
            </a:r>
            <a:r>
              <a:rPr lang="zh-CN" altLang="en-US" b="1" dirty="0">
                <a:latin typeface="微软雅黑" pitchFamily="34" charset="-122"/>
                <a:ea typeface="微软雅黑" pitchFamily="34" charset="-122"/>
              </a:rPr>
              <a:t>来确定在基本服务集 </a:t>
            </a:r>
            <a:r>
              <a:rPr lang="en-US" altLang="zh-CN" b="1" dirty="0">
                <a:latin typeface="微软雅黑" pitchFamily="34" charset="-122"/>
                <a:ea typeface="微软雅黑" pitchFamily="34" charset="-122"/>
              </a:rPr>
              <a:t>BSS </a:t>
            </a:r>
            <a:r>
              <a:rPr lang="zh-CN" altLang="en-US" b="1" dirty="0">
                <a:latin typeface="微软雅黑" pitchFamily="34" charset="-122"/>
                <a:ea typeface="微软雅黑" pitchFamily="34" charset="-122"/>
              </a:rPr>
              <a:t>中的移动站何时可以发送或接收数据。包括</a:t>
            </a:r>
            <a:r>
              <a:rPr lang="zh-CN" altLang="en-US" b="1" dirty="0">
                <a:solidFill>
                  <a:srgbClr val="C00000"/>
                </a:solidFill>
                <a:latin typeface="微软雅黑" pitchFamily="34" charset="-122"/>
                <a:ea typeface="微软雅黑" pitchFamily="34" charset="-122"/>
              </a:rPr>
              <a:t>两个子层：</a:t>
            </a:r>
            <a:r>
              <a:rPr lang="en-US" altLang="zh-CN" b="1" dirty="0">
                <a:latin typeface="微软雅黑" pitchFamily="34" charset="-122"/>
                <a:ea typeface="微软雅黑" pitchFamily="34" charset="-122"/>
              </a:rPr>
              <a:t>DCF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PCF</a:t>
            </a:r>
            <a:r>
              <a:rPr lang="zh-CN" altLang="en-US" b="1" dirty="0">
                <a:latin typeface="微软雅黑" pitchFamily="34" charset="-122"/>
                <a:ea typeface="微软雅黑" pitchFamily="34" charset="-122"/>
              </a:rPr>
              <a:t>。 </a:t>
            </a: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6281367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890185"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分布协调功能 </a:t>
            </a:r>
            <a:r>
              <a:rPr lang="en-US" altLang="zh-CN" sz="2000" b="1" dirty="0">
                <a:solidFill>
                  <a:srgbClr val="0000FF"/>
                </a:solidFill>
                <a:latin typeface="微软雅黑" pitchFamily="34" charset="-122"/>
                <a:ea typeface="微软雅黑" pitchFamily="34" charset="-122"/>
              </a:rPr>
              <a:t>DCF</a:t>
            </a:r>
            <a:r>
              <a:rPr lang="zh-CN" altLang="en-US" sz="2000" b="1" dirty="0">
                <a:solidFill>
                  <a:srgbClr val="0000FF"/>
                </a:solidFill>
                <a:latin typeface="微软雅黑" pitchFamily="34" charset="-122"/>
                <a:ea typeface="微软雅黑" pitchFamily="34" charset="-122"/>
              </a:rPr>
              <a:t> </a:t>
            </a: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DCF </a:t>
            </a:r>
            <a:r>
              <a:rPr lang="zh-CN" altLang="en-US" sz="1600" b="1" dirty="0">
                <a:solidFill>
                  <a:srgbClr val="C00000"/>
                </a:solidFill>
                <a:latin typeface="微软雅黑" pitchFamily="34" charset="-122"/>
                <a:ea typeface="微软雅黑" pitchFamily="34" charset="-122"/>
              </a:rPr>
              <a:t>子层：</a:t>
            </a:r>
            <a:r>
              <a:rPr lang="zh-CN" altLang="en-US" sz="1600" b="1" dirty="0">
                <a:latin typeface="微软雅黑" pitchFamily="34" charset="-122"/>
                <a:ea typeface="微软雅黑" pitchFamily="34" charset="-122"/>
              </a:rPr>
              <a:t>不采用任何中心控制。每个节点使用 </a:t>
            </a:r>
            <a:r>
              <a:rPr lang="en-US" altLang="zh-CN" sz="1600" b="1" dirty="0">
                <a:latin typeface="微软雅黑" pitchFamily="34" charset="-122"/>
                <a:ea typeface="微软雅黑" pitchFamily="34" charset="-122"/>
              </a:rPr>
              <a:t>CSMA/CA </a:t>
            </a:r>
            <a:r>
              <a:rPr lang="zh-CN" altLang="en-US" sz="1600" b="1" dirty="0">
                <a:latin typeface="微软雅黑" pitchFamily="34" charset="-122"/>
                <a:ea typeface="微软雅黑" pitchFamily="34" charset="-122"/>
              </a:rPr>
              <a:t>机制的分布式接入算法，让各个站通过争用信道来获取发送权。因此 </a:t>
            </a:r>
            <a:r>
              <a:rPr lang="en-US" altLang="zh-CN" sz="1600" b="1" dirty="0">
                <a:latin typeface="微软雅黑" pitchFamily="34" charset="-122"/>
                <a:ea typeface="微软雅黑" pitchFamily="34" charset="-122"/>
              </a:rPr>
              <a:t>DCF </a:t>
            </a:r>
            <a:r>
              <a:rPr lang="zh-CN" altLang="en-US" sz="1600" b="1" dirty="0">
                <a:latin typeface="微软雅黑" pitchFamily="34" charset="-122"/>
                <a:ea typeface="微软雅黑" pitchFamily="34" charset="-122"/>
              </a:rPr>
              <a:t>向上提供</a:t>
            </a:r>
            <a:r>
              <a:rPr lang="zh-CN" altLang="en-US" sz="1600" b="1" dirty="0">
                <a:solidFill>
                  <a:srgbClr val="C00000"/>
                </a:solidFill>
                <a:latin typeface="微软雅黑" pitchFamily="34" charset="-122"/>
                <a:ea typeface="微软雅黑" pitchFamily="34" charset="-122"/>
              </a:rPr>
              <a:t>争用服务。</a:t>
            </a:r>
            <a:r>
              <a:rPr lang="zh-CN" altLang="en-US" sz="1600" b="1" dirty="0">
                <a:solidFill>
                  <a:srgbClr val="0000FF"/>
                </a:solidFill>
                <a:latin typeface="微软雅黑" pitchFamily="34" charset="-122"/>
                <a:ea typeface="微软雅黑" pitchFamily="34" charset="-122"/>
              </a:rPr>
              <a:t>所有实现都必须有 </a:t>
            </a:r>
            <a:r>
              <a:rPr lang="en-US" altLang="zh-CN" sz="1600" b="1" dirty="0">
                <a:solidFill>
                  <a:srgbClr val="0000FF"/>
                </a:solidFill>
                <a:latin typeface="微软雅黑" pitchFamily="34" charset="-122"/>
                <a:ea typeface="微软雅黑" pitchFamily="34" charset="-122"/>
              </a:rPr>
              <a:t>DCF </a:t>
            </a:r>
            <a:r>
              <a:rPr lang="zh-CN" altLang="en-US" sz="1600" b="1" dirty="0">
                <a:solidFill>
                  <a:srgbClr val="0000FF"/>
                </a:solidFill>
                <a:latin typeface="微软雅黑" pitchFamily="34" charset="-122"/>
                <a:ea typeface="微软雅黑" pitchFamily="34" charset="-122"/>
              </a:rPr>
              <a:t>功能。</a:t>
            </a: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6824703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521494" cy="707886"/>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点协调功能 </a:t>
            </a:r>
            <a:r>
              <a:rPr lang="en-US" altLang="zh-CN" sz="2000" b="1" dirty="0">
                <a:solidFill>
                  <a:srgbClr val="0000FF"/>
                </a:solidFill>
                <a:latin typeface="微软雅黑" pitchFamily="34" charset="-122"/>
                <a:ea typeface="微软雅黑" pitchFamily="34" charset="-122"/>
              </a:rPr>
              <a:t>PCF</a:t>
            </a:r>
          </a:p>
          <a:p>
            <a:r>
              <a:rPr lang="zh-CN" altLang="en-US" sz="2000" b="1" dirty="0">
                <a:solidFill>
                  <a:srgbClr val="0000FF"/>
                </a:solidFill>
                <a:latin typeface="微软雅黑" pitchFamily="34" charset="-122"/>
                <a:ea typeface="微软雅黑" pitchFamily="34" charset="-122"/>
              </a:rPr>
              <a:t> </a:t>
            </a: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PCF </a:t>
            </a:r>
            <a:r>
              <a:rPr lang="zh-CN" altLang="en-US" sz="1600" b="1" dirty="0">
                <a:solidFill>
                  <a:srgbClr val="C00000"/>
                </a:solidFill>
                <a:latin typeface="微软雅黑" pitchFamily="34" charset="-122"/>
                <a:ea typeface="微软雅黑" pitchFamily="34" charset="-122"/>
              </a:rPr>
              <a:t>子层：</a:t>
            </a:r>
            <a:r>
              <a:rPr lang="zh-CN" altLang="en-US" sz="1600" b="1" dirty="0">
                <a:latin typeface="微软雅黑" pitchFamily="34" charset="-122"/>
                <a:ea typeface="微软雅黑" pitchFamily="34" charset="-122"/>
              </a:rPr>
              <a:t>可选。使用集中控制的接入算法，用类似于探询的方法把发送数据权轮流交给各个站，从而避免碰撞。自组网络没有 </a:t>
            </a:r>
            <a:r>
              <a:rPr lang="en-US" altLang="zh-CN" sz="1600" b="1" dirty="0">
                <a:latin typeface="微软雅黑" pitchFamily="34" charset="-122"/>
                <a:ea typeface="微软雅黑" pitchFamily="34" charset="-122"/>
              </a:rPr>
              <a:t>PCF </a:t>
            </a:r>
            <a:r>
              <a:rPr lang="zh-CN" altLang="en-US" sz="1600" b="1" dirty="0">
                <a:latin typeface="微软雅黑" pitchFamily="34" charset="-122"/>
                <a:ea typeface="微软雅黑" pitchFamily="34" charset="-122"/>
              </a:rPr>
              <a:t>子层。</a:t>
            </a:r>
            <a:endParaRPr lang="en-US" altLang="zh-CN" sz="1600" b="1" dirty="0">
              <a:latin typeface="微软雅黑" pitchFamily="34" charset="-122"/>
              <a:ea typeface="微软雅黑" pitchFamily="34" charset="-122"/>
            </a:endParaRPr>
          </a:p>
          <a:p>
            <a:pPr>
              <a:lnSpc>
                <a:spcPts val="2000"/>
              </a:lnSpc>
            </a:pPr>
            <a:r>
              <a:rPr lang="zh-CN" altLang="en-US" sz="1600" b="1" dirty="0">
                <a:latin typeface="微软雅黑" pitchFamily="34" charset="-122"/>
                <a:ea typeface="微软雅黑" pitchFamily="34" charset="-122"/>
              </a:rPr>
              <a:t>对时间敏感的业务，如分组话音，应使用提供无争用服务的 </a:t>
            </a:r>
            <a:r>
              <a:rPr lang="en-US" altLang="zh-CN" sz="1600" b="1" dirty="0">
                <a:latin typeface="微软雅黑" pitchFamily="34" charset="-122"/>
                <a:ea typeface="微软雅黑" pitchFamily="34" charset="-122"/>
              </a:rPr>
              <a:t>PCF</a:t>
            </a:r>
            <a:r>
              <a:rPr lang="zh-CN" altLang="en-US" sz="1600" b="1" dirty="0">
                <a:latin typeface="微软雅黑" pitchFamily="34" charset="-122"/>
                <a:ea typeface="微软雅黑" pitchFamily="34" charset="-122"/>
              </a:rPr>
              <a:t>。</a:t>
            </a:r>
            <a:endParaRPr lang="zh-CN" altLang="en-US" sz="1600" b="1" dirty="0">
              <a:solidFill>
                <a:srgbClr val="0000FF"/>
              </a:solidFill>
              <a:latin typeface="微软雅黑" pitchFamily="34" charset="-122"/>
              <a:ea typeface="微软雅黑"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8242057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p:cNvSpPr/>
          <p:nvPr/>
        </p:nvSpPr>
        <p:spPr>
          <a:xfrm>
            <a:off x="4037870" y="1269096"/>
            <a:ext cx="3985253" cy="2899781"/>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矩形 127"/>
          <p:cNvSpPr/>
          <p:nvPr/>
        </p:nvSpPr>
        <p:spPr>
          <a:xfrm>
            <a:off x="432619" y="2475296"/>
            <a:ext cx="3417939" cy="202792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矩形 126"/>
          <p:cNvSpPr/>
          <p:nvPr/>
        </p:nvSpPr>
        <p:spPr>
          <a:xfrm>
            <a:off x="432619" y="1018031"/>
            <a:ext cx="3417939" cy="132765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17853" y="61792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093"/>
            <a:ext cx="281519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协议的要点</a:t>
            </a:r>
            <a:endParaRPr lang="en-US" altLang="zh-CN" sz="2000" b="1" dirty="0">
              <a:latin typeface="微软雅黑" pitchFamily="34" charset="-122"/>
              <a:ea typeface="微软雅黑" pitchFamily="34" charset="-122"/>
            </a:endParaRPr>
          </a:p>
        </p:txBody>
      </p:sp>
      <p:sp>
        <p:nvSpPr>
          <p:cNvPr id="10" name="矩形 9"/>
          <p:cNvSpPr/>
          <p:nvPr/>
        </p:nvSpPr>
        <p:spPr>
          <a:xfrm>
            <a:off x="381719" y="100112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1" name="矩形 10"/>
          <p:cNvSpPr/>
          <p:nvPr/>
        </p:nvSpPr>
        <p:spPr>
          <a:xfrm>
            <a:off x="374893" y="406759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2" name="矩形 11"/>
          <p:cNvSpPr/>
          <p:nvPr/>
        </p:nvSpPr>
        <p:spPr>
          <a:xfrm>
            <a:off x="4030241" y="121843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grpSp>
        <p:nvGrpSpPr>
          <p:cNvPr id="126" name="组合 125"/>
          <p:cNvGrpSpPr/>
          <p:nvPr/>
        </p:nvGrpSpPr>
        <p:grpSpPr>
          <a:xfrm>
            <a:off x="864046" y="1093509"/>
            <a:ext cx="6748962" cy="3349015"/>
            <a:chOff x="814885" y="1142670"/>
            <a:chExt cx="6748962" cy="3349015"/>
          </a:xfrm>
        </p:grpSpPr>
        <p:sp>
          <p:nvSpPr>
            <p:cNvPr id="5" name="矩形 4"/>
            <p:cNvSpPr/>
            <p:nvPr/>
          </p:nvSpPr>
          <p:spPr>
            <a:xfrm>
              <a:off x="1116205" y="1142670"/>
              <a:ext cx="2361518" cy="5344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监听信道。检测信道在时间间隔 </a:t>
              </a:r>
              <a:r>
                <a:rPr lang="en-US" altLang="zh-CN" sz="1400" b="1" dirty="0">
                  <a:solidFill>
                    <a:schemeClr val="tx1"/>
                  </a:solidFill>
                  <a:latin typeface="微软雅黑" panose="020B0503020204020204" pitchFamily="34" charset="-122"/>
                  <a:ea typeface="微软雅黑" panose="020B0503020204020204" pitchFamily="34" charset="-122"/>
                </a:rPr>
                <a:t>DIFS </a:t>
              </a:r>
              <a:r>
                <a:rPr lang="zh-CN" altLang="en-US" sz="1400" b="1" dirty="0">
                  <a:solidFill>
                    <a:schemeClr val="tx1"/>
                  </a:solidFill>
                  <a:latin typeface="微软雅黑" panose="020B0503020204020204" pitchFamily="34" charset="-122"/>
                  <a:ea typeface="微软雅黑" panose="020B0503020204020204" pitchFamily="34" charset="-122"/>
                </a:rPr>
                <a:t>内是否空闲。</a:t>
              </a:r>
            </a:p>
          </p:txBody>
        </p:sp>
        <p:sp>
          <p:nvSpPr>
            <p:cNvPr id="6" name="菱形 5"/>
            <p:cNvSpPr/>
            <p:nvPr/>
          </p:nvSpPr>
          <p:spPr>
            <a:xfrm>
              <a:off x="1190835" y="18861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空闲？</a:t>
              </a:r>
              <a:endParaRPr lang="zh-CN" altLang="en-US" sz="1400" dirty="0"/>
            </a:p>
          </p:txBody>
        </p:sp>
        <p:sp>
          <p:nvSpPr>
            <p:cNvPr id="7" name="矩形 6"/>
            <p:cNvSpPr/>
            <p:nvPr/>
          </p:nvSpPr>
          <p:spPr>
            <a:xfrm>
              <a:off x="1116205" y="2585058"/>
              <a:ext cx="2361518" cy="561086"/>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选择一随机数，</a:t>
              </a:r>
              <a:endParaRPr lang="en-US" altLang="zh-CN" sz="1400" b="1" dirty="0">
                <a:solidFill>
                  <a:schemeClr val="tx1"/>
                </a:solidFill>
                <a:latin typeface="微软雅黑" panose="020B0503020204020204" pitchFamily="34" charset="-122"/>
                <a:ea typeface="微软雅黑" panose="020B0503020204020204" pitchFamily="34" charset="-122"/>
              </a:endParaRPr>
            </a:p>
            <a:p>
              <a:pPr algn="ctr"/>
              <a:r>
                <a:rPr lang="zh-CN" altLang="en-US" sz="1400" b="1" dirty="0">
                  <a:solidFill>
                    <a:schemeClr val="tx1"/>
                  </a:solidFill>
                  <a:latin typeface="微软雅黑" panose="020B0503020204020204" pitchFamily="34" charset="-122"/>
                  <a:ea typeface="微软雅黑" panose="020B0503020204020204" pitchFamily="34" charset="-122"/>
                </a:rPr>
                <a:t>设置退避计时器。</a:t>
              </a:r>
            </a:p>
          </p:txBody>
        </p:sp>
        <p:sp>
          <p:nvSpPr>
            <p:cNvPr id="8" name="矩形 7"/>
            <p:cNvSpPr/>
            <p:nvPr/>
          </p:nvSpPr>
          <p:spPr>
            <a:xfrm>
              <a:off x="5351589" y="1455977"/>
              <a:ext cx="2212258" cy="5406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等待确认帧。</a:t>
              </a:r>
            </a:p>
          </p:txBody>
        </p:sp>
        <p:sp>
          <p:nvSpPr>
            <p:cNvPr id="14" name="矩形 13"/>
            <p:cNvSpPr/>
            <p:nvPr/>
          </p:nvSpPr>
          <p:spPr>
            <a:xfrm>
              <a:off x="1116205" y="4112117"/>
              <a:ext cx="2361518" cy="37956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发送数据帧。</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15" name="菱形 14"/>
            <p:cNvSpPr/>
            <p:nvPr/>
          </p:nvSpPr>
          <p:spPr>
            <a:xfrm>
              <a:off x="1190835" y="34279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时间减到零？</a:t>
              </a:r>
              <a:endParaRPr lang="zh-CN" altLang="en-US" sz="1400" dirty="0"/>
            </a:p>
          </p:txBody>
        </p:sp>
        <p:cxnSp>
          <p:nvCxnSpPr>
            <p:cNvPr id="17" name="直接箭头连接符 16"/>
            <p:cNvCxnSpPr>
              <a:stCxn id="5" idx="2"/>
              <a:endCxn id="6" idx="0"/>
            </p:cNvCxnSpPr>
            <p:nvPr/>
          </p:nvCxnSpPr>
          <p:spPr>
            <a:xfrm>
              <a:off x="2296964" y="1677164"/>
              <a:ext cx="0" cy="20898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18" name="直接箭头连接符 17"/>
            <p:cNvCxnSpPr>
              <a:stCxn id="6" idx="2"/>
              <a:endCxn id="7" idx="0"/>
            </p:cNvCxnSpPr>
            <p:nvPr/>
          </p:nvCxnSpPr>
          <p:spPr>
            <a:xfrm>
              <a:off x="2296964" y="2336744"/>
              <a:ext cx="0" cy="24831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1" name="直接箭头连接符 20"/>
            <p:cNvCxnSpPr>
              <a:stCxn id="7" idx="2"/>
              <a:endCxn id="15" idx="0"/>
            </p:cNvCxnSpPr>
            <p:nvPr/>
          </p:nvCxnSpPr>
          <p:spPr>
            <a:xfrm>
              <a:off x="2296964" y="3146144"/>
              <a:ext cx="0" cy="28180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4" name="直接箭头连接符 23"/>
            <p:cNvCxnSpPr>
              <a:stCxn id="15" idx="2"/>
              <a:endCxn id="14" idx="0"/>
            </p:cNvCxnSpPr>
            <p:nvPr/>
          </p:nvCxnSpPr>
          <p:spPr>
            <a:xfrm>
              <a:off x="2296964" y="3878544"/>
              <a:ext cx="0" cy="233573"/>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sp>
          <p:nvSpPr>
            <p:cNvPr id="27" name="菱形 26"/>
            <p:cNvSpPr/>
            <p:nvPr/>
          </p:nvSpPr>
          <p:spPr>
            <a:xfrm>
              <a:off x="5351589" y="2284313"/>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收到确认帧？</a:t>
              </a:r>
              <a:endParaRPr lang="zh-CN" altLang="en-US" sz="1400" dirty="0"/>
            </a:p>
          </p:txBody>
        </p:sp>
        <p:sp>
          <p:nvSpPr>
            <p:cNvPr id="28" name="菱形 27"/>
            <p:cNvSpPr/>
            <p:nvPr/>
          </p:nvSpPr>
          <p:spPr>
            <a:xfrm>
              <a:off x="5351589" y="2976287"/>
              <a:ext cx="2212258" cy="501786"/>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还有后续帧要发送？</a:t>
              </a:r>
              <a:endParaRPr lang="zh-CN" altLang="en-US" sz="1400" dirty="0"/>
            </a:p>
          </p:txBody>
        </p:sp>
        <p:sp>
          <p:nvSpPr>
            <p:cNvPr id="30" name="矩形 29"/>
            <p:cNvSpPr/>
            <p:nvPr/>
          </p:nvSpPr>
          <p:spPr>
            <a:xfrm>
              <a:off x="5920972" y="3741858"/>
              <a:ext cx="1073492" cy="317473"/>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结束</a:t>
              </a:r>
            </a:p>
          </p:txBody>
        </p:sp>
        <p:cxnSp>
          <p:nvCxnSpPr>
            <p:cNvPr id="43" name="直接箭头连接符 42"/>
            <p:cNvCxnSpPr>
              <a:stCxn id="8" idx="2"/>
              <a:endCxn id="27" idx="0"/>
            </p:cNvCxnSpPr>
            <p:nvPr/>
          </p:nvCxnSpPr>
          <p:spPr>
            <a:xfrm>
              <a:off x="6457718" y="1996671"/>
              <a:ext cx="0" cy="287642"/>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27" idx="2"/>
              <a:endCxn id="28" idx="0"/>
            </p:cNvCxnSpPr>
            <p:nvPr/>
          </p:nvCxnSpPr>
          <p:spPr>
            <a:xfrm>
              <a:off x="6457718" y="2734907"/>
              <a:ext cx="0" cy="24138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50" name="肘形连接符 49"/>
            <p:cNvCxnSpPr>
              <a:stCxn id="14" idx="2"/>
              <a:endCxn id="8" idx="0"/>
            </p:cNvCxnSpPr>
            <p:nvPr/>
          </p:nvCxnSpPr>
          <p:spPr>
            <a:xfrm rot="5400000" flipH="1" flipV="1">
              <a:off x="2859487" y="893454"/>
              <a:ext cx="3035708" cy="4160754"/>
            </a:xfrm>
            <a:prstGeom prst="bentConnector5">
              <a:avLst>
                <a:gd name="adj1" fmla="val -7530"/>
                <a:gd name="adj2" fmla="val 139040"/>
                <a:gd name="adj3" fmla="val 107530"/>
              </a:avLst>
            </a:prstGeom>
            <a:ln w="12700">
              <a:tailEnd type="triangle"/>
            </a:ln>
          </p:spPr>
          <p:style>
            <a:lnRef idx="1">
              <a:schemeClr val="dk1"/>
            </a:lnRef>
            <a:fillRef idx="0">
              <a:schemeClr val="dk1"/>
            </a:fillRef>
            <a:effectRef idx="0">
              <a:schemeClr val="dk1"/>
            </a:effectRef>
            <a:fontRef idx="minor">
              <a:schemeClr val="tx1"/>
            </a:fontRef>
          </p:style>
        </p:cxnSp>
        <p:cxnSp>
          <p:nvCxnSpPr>
            <p:cNvPr id="55" name="肘形连接符 54"/>
            <p:cNvCxnSpPr>
              <a:stCxn id="28" idx="1"/>
            </p:cNvCxnSpPr>
            <p:nvPr/>
          </p:nvCxnSpPr>
          <p:spPr>
            <a:xfrm rot="10800000">
              <a:off x="2335499" y="2455540"/>
              <a:ext cx="3016091" cy="771640"/>
            </a:xfrm>
            <a:prstGeom prst="bentConnector3">
              <a:avLst>
                <a:gd name="adj1" fmla="val 50000"/>
              </a:avLst>
            </a:prstGeom>
            <a:ln w="12700">
              <a:tailEnd type="triangle"/>
            </a:ln>
          </p:spPr>
          <p:style>
            <a:lnRef idx="1">
              <a:schemeClr val="dk1"/>
            </a:lnRef>
            <a:fillRef idx="0">
              <a:schemeClr val="dk1"/>
            </a:fillRef>
            <a:effectRef idx="0">
              <a:schemeClr val="dk1"/>
            </a:effectRef>
            <a:fontRef idx="minor">
              <a:schemeClr val="tx1"/>
            </a:fontRef>
          </p:style>
        </p:cxnSp>
        <p:sp>
          <p:nvSpPr>
            <p:cNvPr id="66" name="矩形 65"/>
            <p:cNvSpPr/>
            <p:nvPr/>
          </p:nvSpPr>
          <p:spPr>
            <a:xfrm>
              <a:off x="4090216" y="2239263"/>
              <a:ext cx="1025376" cy="540694"/>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准备重传。</a:t>
              </a:r>
            </a:p>
          </p:txBody>
        </p:sp>
        <p:cxnSp>
          <p:nvCxnSpPr>
            <p:cNvPr id="72" name="直接箭头连接符 71"/>
            <p:cNvCxnSpPr>
              <a:stCxn id="27" idx="1"/>
              <a:endCxn id="66" idx="3"/>
            </p:cNvCxnSpPr>
            <p:nvPr/>
          </p:nvCxnSpPr>
          <p:spPr>
            <a:xfrm flipH="1">
              <a:off x="5115592" y="2509610"/>
              <a:ext cx="235997" cy="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76" name="直接箭头连接符 75"/>
            <p:cNvCxnSpPr>
              <a:stCxn id="28" idx="2"/>
              <a:endCxn id="30" idx="0"/>
            </p:cNvCxnSpPr>
            <p:nvPr/>
          </p:nvCxnSpPr>
          <p:spPr>
            <a:xfrm>
              <a:off x="6457718" y="3478073"/>
              <a:ext cx="0" cy="263785"/>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85" name="直接箭头连接符 84"/>
            <p:cNvCxnSpPr>
              <a:stCxn id="66" idx="2"/>
            </p:cNvCxnSpPr>
            <p:nvPr/>
          </p:nvCxnSpPr>
          <p:spPr>
            <a:xfrm>
              <a:off x="4602904" y="2779957"/>
              <a:ext cx="0" cy="44722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94" name="肘形连接符 93"/>
            <p:cNvCxnSpPr>
              <a:stCxn id="15" idx="1"/>
            </p:cNvCxnSpPr>
            <p:nvPr/>
          </p:nvCxnSpPr>
          <p:spPr>
            <a:xfrm rot="10800000" flipH="1">
              <a:off x="1190835" y="3267383"/>
              <a:ext cx="1106128" cy="385864"/>
            </a:xfrm>
            <a:prstGeom prst="bentConnector3">
              <a:avLst>
                <a:gd name="adj1" fmla="val -20667"/>
              </a:avLst>
            </a:prstGeom>
            <a:ln w="12700">
              <a:tailEnd type="triangle"/>
            </a:ln>
          </p:spPr>
          <p:style>
            <a:lnRef idx="1">
              <a:schemeClr val="dk1"/>
            </a:lnRef>
            <a:fillRef idx="0">
              <a:schemeClr val="dk1"/>
            </a:fillRef>
            <a:effectRef idx="0">
              <a:schemeClr val="dk1"/>
            </a:effectRef>
            <a:fontRef idx="minor">
              <a:schemeClr val="tx1"/>
            </a:fontRef>
          </p:style>
        </p:cxnSp>
        <p:sp>
          <p:nvSpPr>
            <p:cNvPr id="108" name="矩形 107"/>
            <p:cNvSpPr/>
            <p:nvPr/>
          </p:nvSpPr>
          <p:spPr>
            <a:xfrm>
              <a:off x="6450857" y="2707795"/>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09" name="矩形 108"/>
            <p:cNvSpPr/>
            <p:nvPr/>
          </p:nvSpPr>
          <p:spPr>
            <a:xfrm>
              <a:off x="6450857" y="3454972"/>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10" name="矩形 109"/>
            <p:cNvSpPr/>
            <p:nvPr/>
          </p:nvSpPr>
          <p:spPr>
            <a:xfrm>
              <a:off x="814885" y="1870418"/>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cxnSp>
          <p:nvCxnSpPr>
            <p:cNvPr id="112" name="肘形连接符 111"/>
            <p:cNvCxnSpPr>
              <a:stCxn id="6" idx="1"/>
            </p:cNvCxnSpPr>
            <p:nvPr/>
          </p:nvCxnSpPr>
          <p:spPr>
            <a:xfrm rot="10800000" flipH="1" flipV="1">
              <a:off x="1190835" y="2111446"/>
              <a:ext cx="1049546" cy="1883883"/>
            </a:xfrm>
            <a:prstGeom prst="bentConnector4">
              <a:avLst>
                <a:gd name="adj1" fmla="val -53633"/>
                <a:gd name="adj2" fmla="val 99821"/>
              </a:avLst>
            </a:prstGeom>
            <a:ln w="12700">
              <a:tailEnd type="triangle"/>
            </a:ln>
          </p:spPr>
          <p:style>
            <a:lnRef idx="1">
              <a:schemeClr val="dk1"/>
            </a:lnRef>
            <a:fillRef idx="0">
              <a:schemeClr val="dk1"/>
            </a:fillRef>
            <a:effectRef idx="0">
              <a:schemeClr val="dk1"/>
            </a:effectRef>
            <a:fontRef idx="minor">
              <a:schemeClr val="tx1"/>
            </a:fontRef>
          </p:style>
        </p:cxnSp>
        <p:sp>
          <p:nvSpPr>
            <p:cNvPr id="122" name="矩形 121"/>
            <p:cNvSpPr/>
            <p:nvPr/>
          </p:nvSpPr>
          <p:spPr>
            <a:xfrm>
              <a:off x="984162" y="3405744"/>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3" name="矩形 122"/>
            <p:cNvSpPr/>
            <p:nvPr/>
          </p:nvSpPr>
          <p:spPr>
            <a:xfrm>
              <a:off x="1990765" y="2335408"/>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4" name="矩形 123"/>
            <p:cNvSpPr/>
            <p:nvPr/>
          </p:nvSpPr>
          <p:spPr>
            <a:xfrm>
              <a:off x="5125729" y="2256346"/>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grpSp>
    </p:spTree>
    <p:extLst>
      <p:ext uri="{BB962C8B-B14F-4D97-AF65-F5344CB8AC3E}">
        <p14:creationId xmlns:p14="http://schemas.microsoft.com/office/powerpoint/2010/main" val="36847224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在完成发送后，必须再等待一段很短的时间（继续监听）才能发送下一帧。这段时间的通称是</a:t>
            </a:r>
            <a:r>
              <a:rPr lang="zh-CN" altLang="en-US" sz="2000" b="1" dirty="0">
                <a:solidFill>
                  <a:srgbClr val="C00000"/>
                </a:solidFill>
                <a:latin typeface="微软雅黑" pitchFamily="34" charset="-122"/>
                <a:ea typeface="微软雅黑" pitchFamily="34" charset="-122"/>
              </a:rPr>
              <a:t>帧间间隔 </a:t>
            </a:r>
            <a:r>
              <a:rPr lang="en-US" altLang="zh-CN" sz="2000" b="1" dirty="0">
                <a:solidFill>
                  <a:srgbClr val="C00000"/>
                </a:solidFill>
                <a:latin typeface="微软雅黑" pitchFamily="34" charset="-122"/>
                <a:ea typeface="微软雅黑" pitchFamily="34" charset="-122"/>
              </a:rPr>
              <a:t>IFS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InterFrame</a:t>
            </a:r>
            <a:r>
              <a:rPr lang="en-US" altLang="zh-CN" sz="2000" b="1" dirty="0">
                <a:latin typeface="微软雅黑" pitchFamily="34" charset="-122"/>
                <a:ea typeface="微软雅黑" pitchFamily="34" charset="-122"/>
              </a:rPr>
              <a:t> Space)</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两种常用的帧间间隔：</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分布协调功能帧间间隔 </a:t>
            </a:r>
            <a:r>
              <a:rPr lang="en-US" altLang="zh-CN" sz="2000" b="1" dirty="0">
                <a:solidFill>
                  <a:srgbClr val="C00000"/>
                </a:solidFill>
                <a:latin typeface="微软雅黑" pitchFamily="34" charset="-122"/>
                <a:ea typeface="微软雅黑" pitchFamily="34" charset="-122"/>
              </a:rPr>
              <a:t>DIFS</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短 </a:t>
            </a:r>
            <a:r>
              <a:rPr lang="en-US" altLang="zh-CN" sz="2000" b="1" dirty="0">
                <a:latin typeface="微软雅黑" pitchFamily="34" charset="-122"/>
                <a:ea typeface="微软雅黑" pitchFamily="34" charset="-122"/>
              </a:rPr>
              <a:t>(Short) </a:t>
            </a:r>
            <a:r>
              <a:rPr lang="zh-CN" altLang="en-US" sz="2000" b="1" dirty="0">
                <a:latin typeface="微软雅黑" pitchFamily="34" charset="-122"/>
                <a:ea typeface="微软雅黑" pitchFamily="34" charset="-122"/>
              </a:rPr>
              <a:t>帧间间隔 </a:t>
            </a:r>
            <a:r>
              <a:rPr lang="en-US" altLang="zh-CN" sz="2000" b="1" dirty="0">
                <a:solidFill>
                  <a:srgbClr val="C00000"/>
                </a:solidFill>
                <a:latin typeface="微软雅黑" pitchFamily="34" charset="-122"/>
                <a:ea typeface="微软雅黑" pitchFamily="34" charset="-122"/>
              </a:rPr>
              <a:t>SIFS</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908874" y="582249"/>
            <a:ext cx="328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时间间隔 </a:t>
            </a:r>
            <a:r>
              <a:rPr lang="en-US" altLang="zh-CN" sz="2000" b="1" dirty="0">
                <a:solidFill>
                  <a:schemeClr val="bg1"/>
                </a:solidFill>
                <a:latin typeface="微软雅黑" pitchFamily="34" charset="-122"/>
                <a:ea typeface="微软雅黑" pitchFamily="34" charset="-122"/>
              </a:rPr>
              <a:t>DIFS </a:t>
            </a:r>
            <a:r>
              <a:rPr lang="zh-CN" altLang="en-US" sz="2000" b="1" dirty="0">
                <a:solidFill>
                  <a:schemeClr val="bg1"/>
                </a:solidFill>
                <a:latin typeface="微软雅黑" pitchFamily="34" charset="-122"/>
                <a:ea typeface="微软雅黑" pitchFamily="34" charset="-122"/>
              </a:rPr>
              <a:t>的重要性</a:t>
            </a:r>
          </a:p>
        </p:txBody>
      </p:sp>
    </p:spTree>
    <p:extLst>
      <p:ext uri="{BB962C8B-B14F-4D97-AF65-F5344CB8AC3E}">
        <p14:creationId xmlns:p14="http://schemas.microsoft.com/office/powerpoint/2010/main" val="3596268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718658" cy="400110"/>
          </a:xfrm>
          <a:prstGeom prst="rect">
            <a:avLst/>
          </a:prstGeom>
        </p:spPr>
        <p:txBody>
          <a:bodyPr wrap="none">
            <a:spAutoFit/>
          </a:bodyPr>
          <a:lstStyle/>
          <a:p>
            <a:r>
              <a:rPr lang="en-US" altLang="zh-CN" sz="2000" b="1" dirty="0">
                <a:latin typeface="微软雅黑" pitchFamily="34" charset="-122"/>
                <a:ea typeface="微软雅黑" pitchFamily="34" charset="-122"/>
              </a:rPr>
              <a:t>SIFS</a:t>
            </a:r>
            <a:endParaRPr lang="zh-CN" altLang="en-US" sz="2000" b="1" dirty="0">
              <a:latin typeface="微软雅黑" pitchFamily="34" charset="-122"/>
              <a:ea typeface="微软雅黑" pitchFamily="34" charset="-122"/>
            </a:endParaRPr>
          </a:p>
        </p:txBody>
      </p:sp>
      <p:sp>
        <p:nvSpPr>
          <p:cNvPr id="68" name="矩形 67"/>
          <p:cNvSpPr/>
          <p:nvPr/>
        </p:nvSpPr>
        <p:spPr>
          <a:xfrm>
            <a:off x="1038242" y="1120172"/>
            <a:ext cx="3433173" cy="954107"/>
          </a:xfrm>
          <a:prstGeom prst="rect">
            <a:avLst/>
          </a:prstGeom>
          <a:solidFill>
            <a:srgbClr val="00FFFF"/>
          </a:solidFill>
          <a:ln>
            <a:solidFill>
              <a:schemeClr val="tx1"/>
            </a:solidFill>
          </a:ln>
          <a:effectLst/>
        </p:spPr>
        <p:txBody>
          <a:bodyPr wrap="square">
            <a:spAutoFit/>
          </a:bodyPr>
          <a:lstStyle/>
          <a:p>
            <a:r>
              <a:rPr lang="zh-CN" altLang="en-US" sz="1400" b="1" dirty="0">
                <a:latin typeface="微软雅黑" pitchFamily="34" charset="-122"/>
                <a:ea typeface="微软雅黑" pitchFamily="34" charset="-122"/>
              </a:rPr>
              <a:t>是最短的帧间间隔，用来分隔属于一次对话的各帧。</a:t>
            </a:r>
            <a:endParaRPr lang="en-US" altLang="zh-CN" sz="1400" b="1" dirty="0">
              <a:latin typeface="微软雅黑" pitchFamily="34" charset="-122"/>
              <a:ea typeface="微软雅黑" pitchFamily="34" charset="-122"/>
            </a:endParaRPr>
          </a:p>
          <a:p>
            <a:r>
              <a:rPr lang="zh-CN" altLang="en-US" sz="1400" b="1" dirty="0">
                <a:latin typeface="微软雅黑" pitchFamily="34" charset="-122"/>
                <a:ea typeface="微软雅黑" pitchFamily="34" charset="-122"/>
              </a:rPr>
              <a:t>一个站应当能够在这段时间内从发送方式切换到接收方式。</a:t>
            </a:r>
          </a:p>
        </p:txBody>
      </p:sp>
      <p:sp>
        <p:nvSpPr>
          <p:cNvPr id="69" name="矩形 68"/>
          <p:cNvSpPr/>
          <p:nvPr/>
        </p:nvSpPr>
        <p:spPr>
          <a:xfrm>
            <a:off x="4697649" y="1120172"/>
            <a:ext cx="3512096" cy="954107"/>
          </a:xfrm>
          <a:prstGeom prst="rect">
            <a:avLst/>
          </a:prstGeom>
          <a:solidFill>
            <a:schemeClr val="bg1"/>
          </a:solidFill>
          <a:ln>
            <a:noFill/>
          </a:ln>
        </p:spPr>
        <p:txBody>
          <a:bodyPr wrap="square">
            <a:spAutoFit/>
          </a:bodyPr>
          <a:lstStyle/>
          <a:p>
            <a:r>
              <a:rPr lang="zh-CN" altLang="en-US" sz="1400" b="1" dirty="0">
                <a:latin typeface="微软雅黑" pitchFamily="34" charset="-122"/>
                <a:ea typeface="微软雅黑" pitchFamily="34" charset="-122"/>
              </a:rPr>
              <a:t>使用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的帧类型有：</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帧、</a:t>
            </a:r>
            <a:r>
              <a:rPr lang="en-US" altLang="zh-CN" sz="1400" b="1" dirty="0">
                <a:latin typeface="微软雅黑" pitchFamily="34" charset="-122"/>
                <a:ea typeface="微软雅黑" pitchFamily="34" charset="-122"/>
              </a:rPr>
              <a:t>CTS </a:t>
            </a:r>
            <a:r>
              <a:rPr lang="zh-CN" altLang="en-US" sz="1400" b="1" dirty="0">
                <a:latin typeface="微软雅黑" pitchFamily="34" charset="-122"/>
                <a:ea typeface="微软雅黑" pitchFamily="34" charset="-122"/>
              </a:rPr>
              <a:t>帧、由过长的 </a:t>
            </a:r>
            <a:r>
              <a:rPr lang="en-US" altLang="zh-CN" sz="1400" b="1" dirty="0">
                <a:latin typeface="微软雅黑" pitchFamily="34" charset="-122"/>
                <a:ea typeface="微软雅黑" pitchFamily="34" charset="-122"/>
              </a:rPr>
              <a:t>MAC </a:t>
            </a:r>
            <a:r>
              <a:rPr lang="zh-CN" altLang="en-US" sz="1400" b="1" dirty="0">
                <a:latin typeface="微软雅黑" pitchFamily="34" charset="-122"/>
                <a:ea typeface="微软雅黑" pitchFamily="34" charset="-122"/>
              </a:rPr>
              <a:t>帧分片后的数据帧，以及所有回答 </a:t>
            </a:r>
            <a:r>
              <a:rPr lang="en-US" altLang="zh-CN" sz="1400" b="1" dirty="0">
                <a:latin typeface="微软雅黑" pitchFamily="34" charset="-122"/>
                <a:ea typeface="微软雅黑" pitchFamily="34" charset="-122"/>
              </a:rPr>
              <a:t>AP </a:t>
            </a:r>
            <a:r>
              <a:rPr lang="zh-CN" altLang="en-US" sz="1400" b="1" dirty="0">
                <a:latin typeface="微软雅黑" pitchFamily="34" charset="-122"/>
                <a:ea typeface="微软雅黑" pitchFamily="34" charset="-122"/>
              </a:rPr>
              <a:t>探测请求帧和在 </a:t>
            </a:r>
            <a:r>
              <a:rPr lang="en-US" altLang="zh-CN" sz="1400" b="1" dirty="0">
                <a:latin typeface="微软雅黑" pitchFamily="34" charset="-122"/>
                <a:ea typeface="微软雅黑" pitchFamily="34" charset="-122"/>
              </a:rPr>
              <a:t>PCF </a:t>
            </a:r>
            <a:r>
              <a:rPr lang="zh-CN" altLang="en-US" sz="1400" b="1" dirty="0">
                <a:latin typeface="微软雅黑" pitchFamily="34" charset="-122"/>
                <a:ea typeface="微软雅黑" pitchFamily="34" charset="-122"/>
              </a:rPr>
              <a:t>方式中接入点 </a:t>
            </a:r>
            <a:r>
              <a:rPr lang="en-US" altLang="zh-CN" sz="1400" b="1" dirty="0">
                <a:latin typeface="微软雅黑" pitchFamily="34" charset="-122"/>
                <a:ea typeface="微软雅黑" pitchFamily="34" charset="-122"/>
              </a:rPr>
              <a:t>AP </a:t>
            </a:r>
            <a:r>
              <a:rPr lang="zh-CN" altLang="en-US" sz="1400" b="1" dirty="0">
                <a:latin typeface="微软雅黑" pitchFamily="34" charset="-122"/>
                <a:ea typeface="微软雅黑" pitchFamily="34" charset="-122"/>
              </a:rPr>
              <a:t>发送出的任何帧。</a:t>
            </a:r>
          </a:p>
        </p:txBody>
      </p:sp>
      <p:grpSp>
        <p:nvGrpSpPr>
          <p:cNvPr id="34" name="组合 33"/>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653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5312051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768352" cy="400110"/>
          </a:xfrm>
          <a:prstGeom prst="rect">
            <a:avLst/>
          </a:prstGeom>
        </p:spPr>
        <p:txBody>
          <a:bodyPr wrap="none">
            <a:spAutoFit/>
          </a:bodyPr>
          <a:lstStyle/>
          <a:p>
            <a:r>
              <a:rPr lang="en-US" altLang="zh-CN" sz="2000" b="1" dirty="0">
                <a:latin typeface="微软雅黑" pitchFamily="34" charset="-122"/>
                <a:ea typeface="微软雅黑" pitchFamily="34" charset="-122"/>
              </a:rPr>
              <a:t>DIFS</a:t>
            </a:r>
            <a:endParaRPr lang="zh-CN" altLang="en-US" sz="2000" b="1" dirty="0">
              <a:latin typeface="微软雅黑" pitchFamily="34" charset="-122"/>
              <a:ea typeface="微软雅黑" pitchFamily="34" charset="-122"/>
            </a:endParaRPr>
          </a:p>
        </p:txBody>
      </p:sp>
      <p:sp>
        <p:nvSpPr>
          <p:cNvPr id="68" name="矩形 67"/>
          <p:cNvSpPr/>
          <p:nvPr/>
        </p:nvSpPr>
        <p:spPr>
          <a:xfrm>
            <a:off x="1306287" y="1120172"/>
            <a:ext cx="6540136" cy="861774"/>
          </a:xfrm>
          <a:prstGeom prst="rect">
            <a:avLst/>
          </a:prstGeom>
          <a:solidFill>
            <a:srgbClr val="00FFFF"/>
          </a:solidFill>
          <a:ln>
            <a:solidFill>
              <a:schemeClr val="tx1"/>
            </a:solidFill>
          </a:ln>
          <a:effectLst/>
        </p:spPr>
        <p:txBody>
          <a:bodyPr wrap="square">
            <a:spAutoFit/>
          </a:bodyPr>
          <a:lstStyle/>
          <a:p>
            <a:pPr>
              <a:lnSpc>
                <a:spcPts val="2000"/>
              </a:lnSpc>
            </a:pPr>
            <a:r>
              <a:rPr lang="zh-CN" altLang="en-US" sz="1400" b="1" dirty="0">
                <a:latin typeface="微软雅黑" pitchFamily="34" charset="-122"/>
                <a:ea typeface="微软雅黑" pitchFamily="34" charset="-122"/>
              </a:rPr>
              <a:t>比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的帧间间隔要长得多。在 </a:t>
            </a:r>
            <a:r>
              <a:rPr lang="en-US" altLang="zh-CN" sz="1400" b="1" dirty="0">
                <a:latin typeface="微软雅黑" pitchFamily="34" charset="-122"/>
                <a:ea typeface="微软雅黑" pitchFamily="34" charset="-122"/>
              </a:rPr>
              <a:t>DCF </a:t>
            </a:r>
            <a:r>
              <a:rPr lang="zh-CN" altLang="en-US" sz="1400" b="1" dirty="0">
                <a:latin typeface="微软雅黑" pitchFamily="34" charset="-122"/>
                <a:ea typeface="微软雅黑" pitchFamily="34" charset="-122"/>
              </a:rPr>
              <a:t>方式中，</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用来发送数据帧和管理帧。</a:t>
            </a:r>
            <a:endParaRPr lang="en-US" altLang="zh-CN" sz="1400" b="1" dirty="0">
              <a:latin typeface="微软雅黑" pitchFamily="34" charset="-122"/>
              <a:ea typeface="微软雅黑" pitchFamily="34" charset="-122"/>
            </a:endParaRPr>
          </a:p>
          <a:p>
            <a:pPr>
              <a:lnSpc>
                <a:spcPts val="2000"/>
              </a:lnSpc>
            </a:pPr>
            <a:r>
              <a:rPr lang="en-US" altLang="zh-CN" sz="1400" b="1" dirty="0">
                <a:solidFill>
                  <a:srgbClr val="C00000"/>
                </a:solidFill>
                <a:latin typeface="微软雅黑" pitchFamily="34" charset="-122"/>
                <a:ea typeface="微软雅黑" pitchFamily="34" charset="-122"/>
              </a:rPr>
              <a:t>802.11 </a:t>
            </a:r>
            <a:r>
              <a:rPr lang="zh-CN" altLang="en-US" sz="1400" b="1" dirty="0">
                <a:solidFill>
                  <a:srgbClr val="C00000"/>
                </a:solidFill>
                <a:latin typeface="微软雅黑" pitchFamily="34" charset="-122"/>
                <a:ea typeface="微软雅黑" pitchFamily="34" charset="-122"/>
              </a:rPr>
              <a:t>标准规定：</a:t>
            </a:r>
            <a:r>
              <a:rPr lang="zh-CN" altLang="en-US" sz="1400" b="1" dirty="0">
                <a:latin typeface="微软雅黑" pitchFamily="34" charset="-122"/>
                <a:ea typeface="微软雅黑" pitchFamily="34" charset="-122"/>
              </a:rPr>
              <a:t>凡在空闲时间想发送数据的站点，必须等待时间 </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后才能发送。保证了确认帧 </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得以优先发送。</a:t>
            </a:r>
          </a:p>
        </p:txBody>
      </p:sp>
      <p:grpSp>
        <p:nvGrpSpPr>
          <p:cNvPr id="34" name="组合 33"/>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8126368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很重要</a:t>
            </a:r>
          </a:p>
        </p:txBody>
      </p:sp>
      <p:sp>
        <p:nvSpPr>
          <p:cNvPr id="68" name="矩形 67"/>
          <p:cNvSpPr/>
          <p:nvPr/>
        </p:nvSpPr>
        <p:spPr>
          <a:xfrm>
            <a:off x="1262743" y="1120172"/>
            <a:ext cx="6618514" cy="605294"/>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监听信道。若信道在时间间隔 </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一直都是空闲的，</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就可以在 </a:t>
            </a:r>
            <a:r>
              <a:rPr lang="en-US" altLang="zh-CN" sz="1400" b="1" dirty="0">
                <a:latin typeface="微软雅黑" pitchFamily="34" charset="-122"/>
                <a:ea typeface="微软雅黑" pitchFamily="34" charset="-122"/>
              </a:rPr>
              <a:t>t</a:t>
            </a:r>
            <a:r>
              <a:rPr lang="en-US" altLang="zh-CN" sz="1400" b="1" baseline="-25000" dirty="0">
                <a:latin typeface="微软雅黑" pitchFamily="34" charset="-122"/>
                <a:ea typeface="微软雅黑" pitchFamily="34" charset="-122"/>
              </a:rPr>
              <a:t>0</a:t>
            </a:r>
            <a:r>
              <a:rPr lang="en-US" altLang="zh-CN" sz="1400" b="1" dirty="0">
                <a:latin typeface="微软雅黑" pitchFamily="34" charset="-122"/>
                <a:ea typeface="微软雅黑" pitchFamily="34" charset="-122"/>
              </a:rPr>
              <a:t> </a:t>
            </a:r>
            <a:r>
              <a:rPr lang="zh-CN" altLang="en-US" sz="1400" b="1" dirty="0">
                <a:latin typeface="微软雅黑" pitchFamily="34" charset="-122"/>
                <a:ea typeface="微软雅黑" pitchFamily="34" charset="-122"/>
              </a:rPr>
              <a:t>时间发送数据帧 </a:t>
            </a:r>
            <a:r>
              <a:rPr lang="en-US" altLang="zh-CN" sz="1400" b="1" dirty="0">
                <a:latin typeface="微软雅黑" pitchFamily="34" charset="-122"/>
                <a:ea typeface="微软雅黑" pitchFamily="34" charset="-122"/>
              </a:rPr>
              <a:t>DATA</a:t>
            </a:r>
            <a:r>
              <a:rPr lang="zh-CN" altLang="en-US" sz="1400" b="1" dirty="0">
                <a:latin typeface="微软雅黑" pitchFamily="34" charset="-122"/>
                <a:ea typeface="微软雅黑" pitchFamily="34" charset="-122"/>
              </a:rPr>
              <a:t>。</a:t>
            </a: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grpSp>
        <p:nvGrpSpPr>
          <p:cNvPr id="5" name="组合 4"/>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2856866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2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很重要</a:t>
            </a:r>
          </a:p>
        </p:txBody>
      </p:sp>
      <p:sp>
        <p:nvSpPr>
          <p:cNvPr id="77" name="Text Box 24"/>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grpSp>
        <p:nvGrpSpPr>
          <p:cNvPr id="5" name="组合 4"/>
          <p:cNvGrpSpPr/>
          <p:nvPr/>
        </p:nvGrpSpPr>
        <p:grpSpPr>
          <a:xfrm>
            <a:off x="1716487" y="2253228"/>
            <a:ext cx="5509855" cy="1930729"/>
            <a:chOff x="1716487" y="2253228"/>
            <a:chExt cx="5509855" cy="1930729"/>
          </a:xfrm>
        </p:grpSpPr>
        <p:sp>
          <p:nvSpPr>
            <p:cNvPr id="74" name="Freeform 13"/>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8" name="Line 110"/>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64826"/>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5322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77570"/>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906958"/>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510278"/>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714449"/>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522730"/>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88780"/>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820454"/>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64" name="矩形 63"/>
          <p:cNvSpPr/>
          <p:nvPr/>
        </p:nvSpPr>
        <p:spPr>
          <a:xfrm>
            <a:off x="1132108" y="1120172"/>
            <a:ext cx="6984274" cy="1118255"/>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itchFamily="34" charset="-122"/>
                <a:ea typeface="微软雅黑" pitchFamily="34" charset="-122"/>
              </a:rPr>
              <a:t>B </a:t>
            </a:r>
            <a:r>
              <a:rPr lang="zh-CN" altLang="en-US" sz="1400" b="1" dirty="0">
                <a:latin typeface="微软雅黑" pitchFamily="34" charset="-122"/>
                <a:ea typeface="微软雅黑" pitchFamily="34" charset="-122"/>
              </a:rPr>
              <a:t>收到数据帧后，必须进行 </a:t>
            </a:r>
            <a:r>
              <a:rPr lang="en-US" altLang="zh-CN" sz="1400" b="1" dirty="0">
                <a:latin typeface="微软雅黑" pitchFamily="34" charset="-122"/>
                <a:ea typeface="微软雅黑" pitchFamily="34" charset="-122"/>
              </a:rPr>
              <a:t>CRC </a:t>
            </a:r>
            <a:r>
              <a:rPr lang="zh-CN" altLang="en-US" sz="1400" b="1" dirty="0">
                <a:latin typeface="微软雅黑" pitchFamily="34" charset="-122"/>
                <a:ea typeface="微软雅黑" pitchFamily="34" charset="-122"/>
              </a:rPr>
              <a:t>检验。若检验无差错，再从接收状态转为发送状态。经过时间间隔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后，向 </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发送确认帧 </a:t>
            </a:r>
            <a:r>
              <a:rPr lang="en-US" altLang="zh-CN" sz="1400" b="1" dirty="0">
                <a:latin typeface="微软雅黑" pitchFamily="34" charset="-122"/>
                <a:ea typeface="微软雅黑" pitchFamily="34" charset="-122"/>
              </a:rPr>
              <a:t>ACK</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a:p>
            <a:pPr>
              <a:lnSpc>
                <a:spcPts val="2000"/>
              </a:lnSpc>
            </a:pPr>
            <a:r>
              <a:rPr lang="zh-CN" altLang="en-US" sz="1400" b="1" dirty="0">
                <a:latin typeface="微软雅黑" pitchFamily="34" charset="-122"/>
                <a:ea typeface="微软雅黑" pitchFamily="34" charset="-122"/>
              </a:rPr>
              <a:t>从 </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发送数据帧 </a:t>
            </a:r>
            <a:r>
              <a:rPr lang="en-US" altLang="zh-CN" sz="1400" b="1" dirty="0">
                <a:latin typeface="微软雅黑" pitchFamily="34" charset="-122"/>
                <a:ea typeface="微软雅黑" pitchFamily="34" charset="-122"/>
              </a:rPr>
              <a:t>DATA </a:t>
            </a:r>
            <a:r>
              <a:rPr lang="zh-CN" altLang="en-US" sz="1400" b="1" dirty="0">
                <a:latin typeface="微软雅黑" pitchFamily="34" charset="-122"/>
                <a:ea typeface="微软雅黑" pitchFamily="34" charset="-122"/>
              </a:rPr>
              <a:t>开始，到收到确认 </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为止的这段时间 </a:t>
            </a:r>
            <a:r>
              <a:rPr lang="en-US" altLang="zh-CN" sz="1400" b="1" dirty="0">
                <a:latin typeface="微软雅黑" pitchFamily="34" charset="-122"/>
                <a:ea typeface="微软雅黑" pitchFamily="34" charset="-122"/>
              </a:rPr>
              <a:t>(DATA + SIFS + ACK) </a:t>
            </a:r>
            <a:r>
              <a:rPr lang="zh-CN" altLang="en-US" sz="1400" b="1" dirty="0">
                <a:latin typeface="微软雅黑" pitchFamily="34" charset="-122"/>
                <a:ea typeface="微软雅黑" pitchFamily="34" charset="-122"/>
              </a:rPr>
              <a:t>内，必须不允许任何其他站发送数据，这样才不会发生碰撞。</a:t>
            </a:r>
          </a:p>
        </p:txBody>
      </p:sp>
    </p:spTree>
    <p:extLst>
      <p:ext uri="{BB962C8B-B14F-4D97-AF65-F5344CB8AC3E}">
        <p14:creationId xmlns:p14="http://schemas.microsoft.com/office/powerpoint/2010/main" val="19135260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7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17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345"/>
            <a:ext cx="30957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避免发生碰撞的两种机制</a:t>
            </a:r>
            <a:endParaRPr lang="en-US" altLang="zh-CN" sz="2000" b="1" dirty="0">
              <a:latin typeface="微软雅黑" pitchFamily="34" charset="-122"/>
              <a:ea typeface="微软雅黑" pitchFamily="34" charset="-122"/>
            </a:endParaRPr>
          </a:p>
        </p:txBody>
      </p:sp>
      <p:graphicFrame>
        <p:nvGraphicFramePr>
          <p:cNvPr id="5" name="图示 4"/>
          <p:cNvGraphicFramePr/>
          <p:nvPr>
            <p:extLst>
              <p:ext uri="{D42A27DB-BD31-4B8C-83A1-F6EECF244321}">
                <p14:modId xmlns:p14="http://schemas.microsoft.com/office/powerpoint/2010/main" val="1622423533"/>
              </p:ext>
            </p:extLst>
          </p:nvPr>
        </p:nvGraphicFramePr>
        <p:xfrm>
          <a:off x="723650" y="959146"/>
          <a:ext cx="7653996" cy="3508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495741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grpSp>
        <p:nvGrpSpPr>
          <p:cNvPr id="103" name="组合 10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争用期</a:t>
              </a:r>
            </a:p>
          </p:txBody>
        </p: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62743" y="3987657"/>
            <a:ext cx="6872128" cy="656590"/>
          </a:xfrm>
          <a:prstGeom prst="rect">
            <a:avLst/>
          </a:prstGeom>
        </p:spPr>
        <p:txBody>
          <a:bodyPr wrap="square">
            <a:spAutoFit/>
          </a:bodyPr>
          <a:lstStyle/>
          <a:p>
            <a:pPr>
              <a:lnSpc>
                <a:spcPts val="2200"/>
              </a:lnSpc>
            </a:pPr>
            <a:r>
              <a:rPr lang="zh-CN" altLang="zh-CN" sz="1600" b="1" dirty="0">
                <a:latin typeface="微软雅黑" pitchFamily="34" charset="-122"/>
                <a:ea typeface="微软雅黑" pitchFamily="34" charset="-122"/>
              </a:rPr>
              <a:t>在站点</a:t>
            </a:r>
            <a:r>
              <a:rPr lang="en-US" altLang="zh-CN" sz="1600" b="1" dirty="0">
                <a:latin typeface="微软雅黑" pitchFamily="34" charset="-122"/>
                <a:ea typeface="微软雅黑" pitchFamily="34" charset="-122"/>
              </a:rPr>
              <a:t> A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B </a:t>
            </a:r>
            <a:r>
              <a:rPr lang="zh-CN" altLang="zh-CN" sz="1600" b="1" dirty="0">
                <a:latin typeface="微软雅黑" pitchFamily="34" charset="-122"/>
                <a:ea typeface="微软雅黑" pitchFamily="34" charset="-122"/>
              </a:rPr>
              <a:t>通信的过程中，站点</a:t>
            </a:r>
            <a:r>
              <a:rPr lang="en-US" altLang="zh-CN" sz="1600" b="1" dirty="0">
                <a:latin typeface="微软雅黑" pitchFamily="34" charset="-122"/>
                <a:ea typeface="微软雅黑" pitchFamily="34" charset="-122"/>
              </a:rPr>
              <a:t> C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D </a:t>
            </a:r>
            <a:r>
              <a:rPr lang="zh-CN" altLang="zh-CN" sz="1600" b="1" dirty="0">
                <a:latin typeface="微软雅黑" pitchFamily="34" charset="-122"/>
                <a:ea typeface="微软雅黑" pitchFamily="34" charset="-122"/>
              </a:rPr>
              <a:t>也要发送数据。但</a:t>
            </a:r>
            <a:r>
              <a:rPr lang="en-US" altLang="zh-CN" sz="1600" b="1" dirty="0">
                <a:latin typeface="微软雅黑" pitchFamily="34" charset="-122"/>
                <a:ea typeface="微软雅黑" pitchFamily="34" charset="-122"/>
              </a:rPr>
              <a:t> C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D </a:t>
            </a:r>
            <a:r>
              <a:rPr lang="zh-CN" altLang="zh-CN" sz="1600" b="1" dirty="0">
                <a:latin typeface="微软雅黑" pitchFamily="34" charset="-122"/>
                <a:ea typeface="微软雅黑" pitchFamily="34" charset="-122"/>
              </a:rPr>
              <a:t>检测到信道忙，因此必须</a:t>
            </a:r>
            <a:r>
              <a:rPr lang="zh-CN" altLang="zh-CN" sz="1600" b="1" dirty="0">
                <a:solidFill>
                  <a:srgbClr val="C00000"/>
                </a:solidFill>
                <a:latin typeface="微软雅黑" pitchFamily="34" charset="-122"/>
                <a:ea typeface="微软雅黑" pitchFamily="34" charset="-122"/>
              </a:rPr>
              <a:t>推迟接入</a:t>
            </a:r>
            <a:r>
              <a:rPr lang="en-US" altLang="zh-CN" sz="1600" b="1" dirty="0">
                <a:latin typeface="微软雅黑" pitchFamily="34" charset="-122"/>
                <a:ea typeface="微软雅黑" pitchFamily="34" charset="-122"/>
              </a:rPr>
              <a:t>(defer access)</a:t>
            </a:r>
            <a:r>
              <a:rPr lang="zh-CN" altLang="zh-CN" sz="1600" b="1" dirty="0">
                <a:latin typeface="微软雅黑" pitchFamily="34" charset="-122"/>
                <a:ea typeface="微软雅黑" pitchFamily="34" charset="-122"/>
              </a:rPr>
              <a:t>，以免发生碰撞。</a:t>
            </a:r>
            <a:endParaRPr lang="zh-CN" altLang="en-US" sz="1600" b="1" dirty="0">
              <a:latin typeface="微软雅黑" pitchFamily="34" charset="-122"/>
              <a:ea typeface="微软雅黑" pitchFamily="34" charset="-122"/>
            </a:endParaRPr>
          </a:p>
        </p:txBody>
      </p:sp>
      <p:grpSp>
        <p:nvGrpSpPr>
          <p:cNvPr id="147" name="组合 139"/>
          <p:cNvGrpSpPr>
            <a:grpSpLocks/>
          </p:cNvGrpSpPr>
          <p:nvPr/>
        </p:nvGrpSpPr>
        <p:grpSpPr bwMode="auto">
          <a:xfrm>
            <a:off x="2724215" y="3146369"/>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133322" y="2534751"/>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Tree>
    <p:extLst>
      <p:ext uri="{BB962C8B-B14F-4D97-AF65-F5344CB8AC3E}">
        <p14:creationId xmlns:p14="http://schemas.microsoft.com/office/powerpoint/2010/main" val="17697334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15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4" name="组合 3"/>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86177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在等待信道进入空闲状态后，都经过规定的时间间隔 </a:t>
            </a:r>
            <a:r>
              <a:rPr lang="en-US" altLang="zh-CN" sz="1600" b="1" dirty="0">
                <a:latin typeface="微软雅黑" pitchFamily="34" charset="-122"/>
                <a:ea typeface="微软雅黑" pitchFamily="34" charset="-122"/>
              </a:rPr>
              <a:t>DIFS </a:t>
            </a:r>
            <a:r>
              <a:rPr lang="zh-CN" altLang="en-US" sz="1600" b="1" dirty="0">
                <a:latin typeface="微软雅黑" pitchFamily="34" charset="-122"/>
                <a:ea typeface="微软雅黑" pitchFamily="34" charset="-122"/>
              </a:rPr>
              <a:t>再同时发送数据必然产生碰撞。因此，</a:t>
            </a:r>
            <a:r>
              <a:rPr lang="en-US" altLang="zh-CN" sz="1600" b="1" dirty="0">
                <a:latin typeface="微软雅黑" pitchFamily="34" charset="-122"/>
                <a:ea typeface="微软雅黑" pitchFamily="34" charset="-122"/>
              </a:rPr>
              <a:t>CSMA/CA </a:t>
            </a:r>
            <a:r>
              <a:rPr lang="zh-CN" altLang="en-US" sz="1600" b="1" dirty="0">
                <a:latin typeface="微软雅黑" pitchFamily="34" charset="-122"/>
                <a:ea typeface="微软雅黑" pitchFamily="34" charset="-122"/>
              </a:rPr>
              <a:t>规定：所有推迟接入的站都必须在</a:t>
            </a:r>
            <a:r>
              <a:rPr lang="zh-CN" altLang="en-US" sz="1600" b="1" dirty="0">
                <a:solidFill>
                  <a:srgbClr val="C00000"/>
                </a:solidFill>
                <a:latin typeface="微软雅黑" pitchFamily="34" charset="-122"/>
                <a:ea typeface="微软雅黑" pitchFamily="34" charset="-122"/>
              </a:rPr>
              <a:t>争用期</a:t>
            </a:r>
            <a:r>
              <a:rPr lang="zh-CN" altLang="en-US" sz="1600" b="1" dirty="0">
                <a:latin typeface="微软雅黑" pitchFamily="34" charset="-122"/>
                <a:ea typeface="微软雅黑" pitchFamily="34" charset="-122"/>
              </a:rPr>
              <a:t>执行统一的</a:t>
            </a:r>
            <a:r>
              <a:rPr lang="zh-CN" altLang="en-US" sz="1600" b="1" dirty="0">
                <a:solidFill>
                  <a:srgbClr val="C00000"/>
                </a:solidFill>
                <a:latin typeface="微软雅黑" pitchFamily="34" charset="-122"/>
                <a:ea typeface="微软雅黑" pitchFamily="34" charset="-122"/>
              </a:rPr>
              <a:t>退避算法</a:t>
            </a:r>
            <a:r>
              <a:rPr lang="zh-CN" altLang="en-US" sz="1600" b="1" dirty="0">
                <a:latin typeface="微软雅黑" pitchFamily="34" charset="-122"/>
                <a:ea typeface="微软雅黑" pitchFamily="34" charset="-122"/>
              </a:rPr>
              <a:t>开始</a:t>
            </a:r>
            <a:r>
              <a:rPr lang="zh-CN" altLang="en-US" sz="1600" b="1" dirty="0">
                <a:solidFill>
                  <a:srgbClr val="0000CC"/>
                </a:solidFill>
                <a:latin typeface="微软雅黑" pitchFamily="34" charset="-122"/>
                <a:ea typeface="微软雅黑" pitchFamily="34" charset="-122"/>
              </a:rPr>
              <a:t>公平地</a:t>
            </a:r>
            <a:r>
              <a:rPr lang="zh-CN" altLang="en-US" sz="1600" b="1" dirty="0">
                <a:solidFill>
                  <a:srgbClr val="C00000"/>
                </a:solidFill>
                <a:latin typeface="微软雅黑" pitchFamily="34" charset="-122"/>
                <a:ea typeface="微软雅黑" pitchFamily="34" charset="-122"/>
              </a:rPr>
              <a:t>争用信道。</a:t>
            </a:r>
          </a:p>
        </p:txBody>
      </p:sp>
    </p:spTree>
    <p:extLst>
      <p:ext uri="{BB962C8B-B14F-4D97-AF65-F5344CB8AC3E}">
        <p14:creationId xmlns:p14="http://schemas.microsoft.com/office/powerpoint/2010/main" val="28608815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8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89" grpId="0"/>
      <p:bldP spid="18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3" name="组合 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争用期也叫做</a:t>
            </a:r>
            <a:r>
              <a:rPr lang="zh-CN" altLang="en-US" sz="1600" b="1" dirty="0">
                <a:solidFill>
                  <a:srgbClr val="C00000"/>
                </a:solidFill>
                <a:latin typeface="微软雅黑" pitchFamily="34" charset="-122"/>
                <a:ea typeface="微软雅黑" pitchFamily="34" charset="-122"/>
              </a:rPr>
              <a:t>争用窗口 </a:t>
            </a:r>
            <a:r>
              <a:rPr lang="en-US" altLang="zh-CN" sz="1600" b="1" dirty="0">
                <a:solidFill>
                  <a:srgbClr val="C00000"/>
                </a:solidFill>
                <a:latin typeface="微软雅黑" pitchFamily="34" charset="-122"/>
                <a:ea typeface="微软雅黑" pitchFamily="34" charset="-122"/>
              </a:rPr>
              <a:t>CW</a:t>
            </a:r>
            <a:r>
              <a:rPr lang="en-US" altLang="zh-CN" sz="1600" b="1" dirty="0">
                <a:latin typeface="微软雅黑" pitchFamily="34" charset="-122"/>
                <a:ea typeface="微软雅黑" pitchFamily="34" charset="-122"/>
              </a:rPr>
              <a:t> (Contention Window)</a:t>
            </a:r>
            <a:r>
              <a:rPr lang="zh-CN" altLang="en-US" sz="1600" b="1" dirty="0">
                <a:latin typeface="微软雅黑" pitchFamily="34" charset="-122"/>
                <a:ea typeface="微软雅黑" pitchFamily="34" charset="-122"/>
              </a:rPr>
              <a:t>。争用窗口由许多时隙 </a:t>
            </a:r>
            <a:r>
              <a:rPr lang="en-US" altLang="zh-CN" sz="1600" b="1" dirty="0">
                <a:latin typeface="微软雅黑" pitchFamily="34" charset="-122"/>
                <a:ea typeface="微软雅黑" pitchFamily="34" charset="-122"/>
              </a:rPr>
              <a:t>(time slot) </a:t>
            </a:r>
            <a:r>
              <a:rPr lang="zh-CN" altLang="en-US" sz="1600" b="1" dirty="0">
                <a:latin typeface="微软雅黑" pitchFamily="34" charset="-122"/>
                <a:ea typeface="微软雅黑" pitchFamily="34" charset="-122"/>
              </a:rPr>
              <a:t>组成。例如，争用窗口 </a:t>
            </a:r>
            <a:r>
              <a:rPr lang="en-US" altLang="zh-CN" sz="1600" b="1" dirty="0">
                <a:latin typeface="微软雅黑" pitchFamily="34" charset="-122"/>
                <a:ea typeface="微软雅黑" pitchFamily="34" charset="-122"/>
              </a:rPr>
              <a:t>CW = 15 </a:t>
            </a:r>
            <a:r>
              <a:rPr lang="zh-CN" altLang="en-US" sz="1600" b="1" dirty="0">
                <a:latin typeface="微软雅黑" pitchFamily="34" charset="-122"/>
                <a:ea typeface="微软雅黑" pitchFamily="34" charset="-122"/>
              </a:rPr>
              <a:t>即窗口大小是 </a:t>
            </a:r>
            <a:r>
              <a:rPr lang="en-US" altLang="zh-CN" sz="1600" b="1" dirty="0">
                <a:latin typeface="微软雅黑" pitchFamily="34" charset="-122"/>
                <a:ea typeface="微软雅黑" pitchFamily="34" charset="-122"/>
              </a:rPr>
              <a:t>15 </a:t>
            </a:r>
            <a:r>
              <a:rPr lang="zh-CN" altLang="en-US" sz="1600" b="1" dirty="0">
                <a:latin typeface="微软雅黑" pitchFamily="34" charset="-122"/>
                <a:ea typeface="微软雅黑" pitchFamily="34" charset="-122"/>
              </a:rPr>
              <a:t>个时隙。</a:t>
            </a:r>
            <a:endParaRPr lang="zh-CN" altLang="en-US" sz="1600" b="1" dirty="0">
              <a:solidFill>
                <a:srgbClr val="C00000"/>
              </a:solidFill>
              <a:latin typeface="微软雅黑" pitchFamily="34" charset="-122"/>
              <a:ea typeface="微软雅黑" pitchFamily="34" charset="-122"/>
            </a:endParaRPr>
          </a:p>
        </p:txBody>
      </p: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Tree>
    <p:extLst>
      <p:ext uri="{BB962C8B-B14F-4D97-AF65-F5344CB8AC3E}">
        <p14:creationId xmlns:p14="http://schemas.microsoft.com/office/powerpoint/2010/main" val="39940642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9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时隙长度的确定</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方法：</a:t>
            </a:r>
            <a:r>
              <a:rPr lang="zh-CN" altLang="en-US" sz="2000" b="1" dirty="0">
                <a:latin typeface="微软雅黑" pitchFamily="34" charset="-122"/>
                <a:ea typeface="微软雅黑" pitchFamily="34" charset="-122"/>
              </a:rPr>
              <a:t>在下一个时隙开始时，每个站点都能检测出在前一个时隙开始时信道是否忙（这样就可采取适当对策）。</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时隙长短</a:t>
            </a:r>
            <a:r>
              <a:rPr lang="zh-CN" altLang="en-US" sz="2000" b="1" dirty="0">
                <a:solidFill>
                  <a:srgbClr val="0000CC"/>
                </a:solidFill>
                <a:latin typeface="微软雅黑" pitchFamily="34" charset="-122"/>
                <a:ea typeface="微软雅黑" pitchFamily="34" charset="-122"/>
              </a:rPr>
              <a:t>在不同 </a:t>
            </a:r>
            <a:r>
              <a:rPr lang="en-US" altLang="zh-CN" sz="2000" b="1" dirty="0">
                <a:solidFill>
                  <a:srgbClr val="0000CC"/>
                </a:solidFill>
                <a:latin typeface="微软雅黑" pitchFamily="34" charset="-122"/>
                <a:ea typeface="微软雅黑" pitchFamily="34" charset="-122"/>
              </a:rPr>
              <a:t>802.11 </a:t>
            </a:r>
            <a:r>
              <a:rPr lang="zh-CN" altLang="en-US" sz="2000" b="1" dirty="0">
                <a:solidFill>
                  <a:srgbClr val="0000CC"/>
                </a:solidFill>
                <a:latin typeface="微软雅黑" pitchFamily="34" charset="-122"/>
                <a:ea typeface="微软雅黑" pitchFamily="34" charset="-122"/>
              </a:rPr>
              <a:t>标准中可以有不同数值。</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802.11g </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一个时隙时间为 </a:t>
            </a:r>
            <a:r>
              <a:rPr lang="en-US" altLang="zh-CN" sz="2000" b="1" dirty="0">
                <a:latin typeface="微软雅黑" pitchFamily="34" charset="-122"/>
                <a:ea typeface="微软雅黑" pitchFamily="34" charset="-122"/>
              </a:rPr>
              <a:t>9us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SIFS = 10 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DIFS = SIFS + (2 * Slot time)</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 28us</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2249186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875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2631490"/>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站点在</a:t>
            </a:r>
            <a:r>
              <a:rPr lang="zh-CN" altLang="en-US" sz="2000" b="1" dirty="0">
                <a:solidFill>
                  <a:srgbClr val="C00000"/>
                </a:solidFill>
                <a:latin typeface="微软雅黑" pitchFamily="34" charset="-122"/>
                <a:ea typeface="微软雅黑" pitchFamily="34" charset="-122"/>
              </a:rPr>
              <a:t>进入争用期</a:t>
            </a:r>
            <a:r>
              <a:rPr lang="zh-CN" altLang="en-US" sz="2000" b="1" dirty="0">
                <a:latin typeface="微软雅黑" pitchFamily="34" charset="-122"/>
                <a:ea typeface="微软雅黑" pitchFamily="34" charset="-122"/>
              </a:rPr>
              <a:t>时，应在 </a:t>
            </a:r>
            <a:r>
              <a:rPr lang="en-US" altLang="zh-CN" sz="2000" b="1" dirty="0">
                <a:latin typeface="微软雅黑" pitchFamily="34" charset="-122"/>
                <a:ea typeface="微软雅黑" pitchFamily="34" charset="-122"/>
              </a:rPr>
              <a:t>0 ~ CW </a:t>
            </a:r>
            <a:r>
              <a:rPr lang="zh-CN" altLang="en-US" sz="2000" b="1" dirty="0">
                <a:latin typeface="微软雅黑" pitchFamily="34" charset="-122"/>
                <a:ea typeface="微软雅黑" pitchFamily="34" charset="-122"/>
              </a:rPr>
              <a:t>个时隙中</a:t>
            </a:r>
            <a:r>
              <a:rPr lang="zh-CN" altLang="en-US" sz="2000" b="1" dirty="0">
                <a:solidFill>
                  <a:srgbClr val="C00000"/>
                </a:solidFill>
                <a:latin typeface="微软雅黑" pitchFamily="34" charset="-122"/>
                <a:ea typeface="微软雅黑" pitchFamily="34" charset="-122"/>
              </a:rPr>
              <a:t>随机</a:t>
            </a:r>
            <a:r>
              <a:rPr lang="zh-CN" altLang="en-US" sz="2000" b="1" dirty="0">
                <a:latin typeface="微软雅黑" pitchFamily="34" charset="-122"/>
                <a:ea typeface="微软雅黑" pitchFamily="34" charset="-122"/>
              </a:rPr>
              <a:t>生成一个退避时隙数，并设置</a:t>
            </a:r>
            <a:r>
              <a:rPr lang="zh-CN" altLang="en-US" sz="2000" b="1" dirty="0">
                <a:solidFill>
                  <a:srgbClr val="C00000"/>
                </a:solidFill>
                <a:latin typeface="微软雅黑" pitchFamily="34" charset="-122"/>
                <a:ea typeface="微软雅黑" pitchFamily="34" charset="-122"/>
              </a:rPr>
              <a:t>退避计时器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backoff</a:t>
            </a:r>
            <a:r>
              <a:rPr lang="en-US" altLang="zh-CN" sz="2000" b="1" dirty="0">
                <a:latin typeface="微软雅黑" pitchFamily="34" charset="-122"/>
                <a:ea typeface="微软雅黑" pitchFamily="34" charset="-122"/>
              </a:rPr>
              <a:t> timer)</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当几个站同时争用信道时，计时器</a:t>
            </a:r>
            <a:r>
              <a:rPr lang="zh-CN" altLang="en-US" sz="2000" b="1" dirty="0">
                <a:solidFill>
                  <a:srgbClr val="C00000"/>
                </a:solidFill>
                <a:latin typeface="微软雅黑" pitchFamily="34" charset="-122"/>
                <a:ea typeface="微软雅黑" pitchFamily="34" charset="-122"/>
              </a:rPr>
              <a:t>最先降为零</a:t>
            </a:r>
            <a:r>
              <a:rPr lang="zh-CN" altLang="en-US" sz="2000" b="1" dirty="0">
                <a:latin typeface="微软雅黑" pitchFamily="34" charset="-122"/>
                <a:ea typeface="微软雅黑" pitchFamily="34" charset="-122"/>
              </a:rPr>
              <a:t>的站首先接入媒体，发送数据帧。这时信道转为忙，而其他正在退避的站则</a:t>
            </a:r>
            <a:r>
              <a:rPr lang="zh-CN" altLang="en-US" sz="2000" b="1" dirty="0">
                <a:solidFill>
                  <a:srgbClr val="C00000"/>
                </a:solidFill>
                <a:latin typeface="微软雅黑" pitchFamily="34" charset="-122"/>
                <a:ea typeface="微软雅黑" pitchFamily="34" charset="-122"/>
              </a:rPr>
              <a:t>冻结</a:t>
            </a:r>
            <a:r>
              <a:rPr lang="zh-CN" altLang="en-US" sz="2000" b="1" dirty="0">
                <a:latin typeface="微软雅黑" pitchFamily="34" charset="-122"/>
                <a:ea typeface="微软雅黑" pitchFamily="34" charset="-122"/>
              </a:rPr>
              <a:t>其计时器，保留计时器的数值不变，推迟到下次争用信道时</a:t>
            </a:r>
            <a:r>
              <a:rPr lang="zh-CN" altLang="en-US" sz="2000" b="1" dirty="0">
                <a:solidFill>
                  <a:srgbClr val="C00000"/>
                </a:solidFill>
                <a:latin typeface="微软雅黑" pitchFamily="34" charset="-122"/>
                <a:ea typeface="微软雅黑" pitchFamily="34" charset="-122"/>
              </a:rPr>
              <a:t>接着倒计时。</a:t>
            </a:r>
            <a:endParaRPr lang="en-US" altLang="zh-CN" sz="2000" b="1" dirty="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这样的规定对所有的站是</a:t>
            </a:r>
            <a:r>
              <a:rPr lang="zh-CN" altLang="en-US" sz="2000" b="1" dirty="0">
                <a:solidFill>
                  <a:srgbClr val="0000CC"/>
                </a:solidFill>
                <a:latin typeface="微软雅黑" pitchFamily="34" charset="-122"/>
                <a:ea typeface="微软雅黑" pitchFamily="34" charset="-122"/>
              </a:rPr>
              <a:t>公平的。</a:t>
            </a:r>
          </a:p>
        </p:txBody>
      </p:sp>
    </p:spTree>
    <p:extLst>
      <p:ext uri="{BB962C8B-B14F-4D97-AF65-F5344CB8AC3E}">
        <p14:creationId xmlns:p14="http://schemas.microsoft.com/office/powerpoint/2010/main" val="191525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50324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a:t>
            </a:r>
            <a:r>
              <a:rPr lang="zh-CN" altLang="en-US" sz="2000" b="1" dirty="0">
                <a:solidFill>
                  <a:srgbClr val="0000CC"/>
                </a:solidFill>
                <a:latin typeface="微软雅黑" pitchFamily="34" charset="-122"/>
                <a:ea typeface="微软雅黑" pitchFamily="34" charset="-122"/>
              </a:rPr>
              <a:t>推迟接入</a:t>
            </a:r>
            <a:r>
              <a:rPr lang="zh-CN" altLang="en-US" sz="2000" b="1" dirty="0">
                <a:latin typeface="微软雅黑" pitchFamily="34" charset="-122"/>
                <a:ea typeface="微软雅黑" pitchFamily="34" charset="-122"/>
              </a:rPr>
              <a:t>”和“</a:t>
            </a:r>
            <a:r>
              <a:rPr lang="zh-CN" altLang="en-US" sz="2000" b="1" dirty="0">
                <a:solidFill>
                  <a:srgbClr val="0000CC"/>
                </a:solidFill>
                <a:latin typeface="微软雅黑" pitchFamily="34" charset="-122"/>
                <a:ea typeface="微软雅黑" pitchFamily="34" charset="-122"/>
              </a:rPr>
              <a:t>退避 </a:t>
            </a:r>
            <a:r>
              <a:rPr lang="en-US" altLang="zh-CN" sz="2000" b="1" dirty="0">
                <a:solidFill>
                  <a:srgbClr val="0000CC"/>
                </a:solidFill>
                <a:latin typeface="微软雅黑" pitchFamily="34" charset="-122"/>
                <a:ea typeface="微软雅黑" pitchFamily="34" charset="-122"/>
              </a:rPr>
              <a:t>(</a:t>
            </a:r>
            <a:r>
              <a:rPr lang="en-US" altLang="zh-CN" sz="2000" b="1" dirty="0" err="1">
                <a:solidFill>
                  <a:srgbClr val="0000CC"/>
                </a:solidFill>
                <a:latin typeface="微软雅黑" pitchFamily="34" charset="-122"/>
                <a:ea typeface="微软雅黑" pitchFamily="34" charset="-122"/>
              </a:rPr>
              <a:t>backoff</a:t>
            </a:r>
            <a:r>
              <a:rPr lang="en-US" altLang="zh-CN" sz="2000" b="1" dirty="0">
                <a:solidFill>
                  <a:srgbClr val="0000CC"/>
                </a:solidFill>
                <a:latin typeface="微软雅黑" pitchFamily="34" charset="-122"/>
                <a:ea typeface="微软雅黑" pitchFamily="34" charset="-122"/>
              </a:rPr>
              <a: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的区别</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推迟接入：</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发生在信道处于忙的状态，为的是等待争用期的到来，以便执行退避算法来争用信道。</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这时退避计时器处于冻结状态。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退避：</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是争用期各站点执行的算法，退避计时器进行倒计时。</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这时信道是空闲的，并且总是出现在时间间隔 </a:t>
            </a:r>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的后面。</a:t>
            </a:r>
          </a:p>
        </p:txBody>
      </p:sp>
    </p:spTree>
    <p:extLst>
      <p:ext uri="{BB962C8B-B14F-4D97-AF65-F5344CB8AC3E}">
        <p14:creationId xmlns:p14="http://schemas.microsoft.com/office/powerpoint/2010/main" val="32378742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争用窗口</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96243" cy="3885807"/>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solidFill>
                  <a:srgbClr val="C00000"/>
                </a:solidFill>
                <a:latin typeface="微软雅黑" pitchFamily="34" charset="-122"/>
                <a:ea typeface="微软雅黑" pitchFamily="34" charset="-122"/>
              </a:rPr>
              <a:t>建议值： </a:t>
            </a:r>
            <a:r>
              <a:rPr lang="en-US" altLang="zh-CN" b="1" dirty="0">
                <a:solidFill>
                  <a:srgbClr val="0000CC"/>
                </a:solidFill>
                <a:latin typeface="微软雅黑" pitchFamily="34" charset="-122"/>
                <a:ea typeface="微软雅黑" pitchFamily="34" charset="-122"/>
              </a:rPr>
              <a:t>15 (</a:t>
            </a:r>
            <a:r>
              <a:rPr lang="zh-CN" altLang="en-US" b="1" dirty="0">
                <a:solidFill>
                  <a:srgbClr val="0000CC"/>
                </a:solidFill>
                <a:latin typeface="微软雅黑" pitchFamily="34" charset="-122"/>
                <a:ea typeface="微软雅黑" pitchFamily="34" charset="-122"/>
              </a:rPr>
              <a:t>最小</a:t>
            </a:r>
            <a:r>
              <a:rPr lang="en-US" altLang="zh-CN" b="1" dirty="0">
                <a:solidFill>
                  <a:srgbClr val="0000CC"/>
                </a:solidFill>
                <a:latin typeface="微软雅黑" pitchFamily="34" charset="-122"/>
                <a:ea typeface="微软雅黑" pitchFamily="34" charset="-122"/>
              </a:rPr>
              <a:t>) ≤ </a:t>
            </a:r>
            <a:r>
              <a:rPr lang="zh-CN" altLang="en-US" b="1" dirty="0">
                <a:solidFill>
                  <a:srgbClr val="0000CC"/>
                </a:solidFill>
                <a:latin typeface="微软雅黑" pitchFamily="34" charset="-122"/>
                <a:ea typeface="微软雅黑" pitchFamily="34" charset="-122"/>
              </a:rPr>
              <a:t>争用窗口 </a:t>
            </a:r>
            <a:r>
              <a:rPr lang="en-US" altLang="zh-CN" b="1" dirty="0">
                <a:solidFill>
                  <a:srgbClr val="0000CC"/>
                </a:solidFill>
                <a:latin typeface="微软雅黑" pitchFamily="34" charset="-122"/>
                <a:ea typeface="微软雅黑" pitchFamily="34" charset="-122"/>
              </a:rPr>
              <a:t>CW ≤ 1023 (</a:t>
            </a:r>
            <a:r>
              <a:rPr lang="zh-CN" altLang="en-US" b="1" dirty="0">
                <a:solidFill>
                  <a:srgbClr val="0000CC"/>
                </a:solidFill>
                <a:latin typeface="微软雅黑" pitchFamily="34" charset="-122"/>
                <a:ea typeface="微软雅黑" pitchFamily="34" charset="-122"/>
              </a:rPr>
              <a:t>最大</a:t>
            </a:r>
            <a:r>
              <a:rPr lang="en-US" altLang="zh-CN" b="1" dirty="0">
                <a:solidFill>
                  <a:srgbClr val="0000CC"/>
                </a:solidFill>
                <a:latin typeface="微软雅黑" pitchFamily="34" charset="-122"/>
                <a:ea typeface="微软雅黑" pitchFamily="34" charset="-122"/>
              </a:rPr>
              <a:t>)</a:t>
            </a:r>
            <a:r>
              <a:rPr lang="zh-CN" altLang="en-US" b="1" dirty="0">
                <a:solidFill>
                  <a:srgbClr val="0000CC"/>
                </a:solidFill>
                <a:latin typeface="微软雅黑" pitchFamily="34" charset="-122"/>
                <a:ea typeface="微软雅黑" pitchFamily="34" charset="-122"/>
              </a:rPr>
              <a:t>。</a:t>
            </a:r>
            <a:endParaRPr lang="en-US" altLang="zh-CN" b="1" dirty="0">
              <a:solidFill>
                <a:srgbClr val="0000CC"/>
              </a:solidFill>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en-US" altLang="zh-CN" b="1" dirty="0">
                <a:solidFill>
                  <a:srgbClr val="C00000"/>
                </a:solidFill>
                <a:latin typeface="微软雅黑" pitchFamily="34" charset="-122"/>
                <a:ea typeface="微软雅黑" pitchFamily="34" charset="-122"/>
              </a:rPr>
              <a:t>CSMA/CA</a:t>
            </a:r>
            <a:r>
              <a:rPr lang="zh-CN" altLang="en-US" b="1" dirty="0">
                <a:solidFill>
                  <a:srgbClr val="C00000"/>
                </a:solidFill>
                <a:latin typeface="微软雅黑" pitchFamily="34" charset="-122"/>
                <a:ea typeface="微软雅黑" pitchFamily="34" charset="-122"/>
              </a:rPr>
              <a:t>规定：</a:t>
            </a:r>
            <a:r>
              <a:rPr lang="zh-CN" altLang="en-US" b="1" dirty="0">
                <a:latin typeface="微软雅黑" pitchFamily="34" charset="-122"/>
                <a:ea typeface="微软雅黑" pitchFamily="34" charset="-122"/>
              </a:rPr>
              <a:t>如果未收到确认帧，则必须重传。但每重传一次，争用窗口的数值就近似加倍。</a:t>
            </a:r>
            <a:endParaRPr lang="en-US" altLang="zh-CN" b="1" dirty="0">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zh-CN" altLang="en-US" b="1" dirty="0">
                <a:solidFill>
                  <a:srgbClr val="0000CC"/>
                </a:solidFill>
                <a:latin typeface="微软雅黑" pitchFamily="34" charset="-122"/>
                <a:ea typeface="微软雅黑" pitchFamily="34" charset="-122"/>
              </a:rPr>
              <a:t>假定：</a:t>
            </a:r>
            <a:r>
              <a:rPr lang="zh-CN" altLang="en-US" b="1" dirty="0">
                <a:latin typeface="微软雅黑" pitchFamily="34" charset="-122"/>
                <a:ea typeface="微软雅黑" pitchFamily="34" charset="-122"/>
              </a:rPr>
              <a:t>选择初始争用窗口 </a:t>
            </a:r>
            <a:r>
              <a:rPr lang="en-US" altLang="zh-CN" b="1" dirty="0">
                <a:latin typeface="微软雅黑" pitchFamily="34" charset="-122"/>
                <a:ea typeface="微软雅黑" pitchFamily="34" charset="-122"/>
              </a:rPr>
              <a:t>CW = 2</a:t>
            </a:r>
            <a:r>
              <a:rPr lang="en-US" altLang="zh-CN" b="1" baseline="30000" dirty="0">
                <a:latin typeface="微软雅黑" pitchFamily="34" charset="-122"/>
                <a:ea typeface="微软雅黑" pitchFamily="34" charset="-122"/>
              </a:rPr>
              <a:t>4</a:t>
            </a:r>
            <a:r>
              <a:rPr lang="en-US" altLang="zh-CN" b="1" dirty="0">
                <a:latin typeface="微软雅黑" pitchFamily="34" charset="-122"/>
                <a:ea typeface="微软雅黑" pitchFamily="34" charset="-122"/>
              </a:rPr>
              <a:t> – 1= 15</a:t>
            </a:r>
            <a:r>
              <a:rPr lang="zh-CN" altLang="en-US" b="1" dirty="0">
                <a:latin typeface="微软雅黑" pitchFamily="34" charset="-122"/>
                <a:ea typeface="微软雅黑" pitchFamily="34" charset="-122"/>
              </a:rPr>
              <a:t>，第 </a:t>
            </a:r>
            <a:r>
              <a:rPr lang="en-US" altLang="zh-CN" b="1" i="1" dirty="0" err="1">
                <a:latin typeface="Times New Roman" pitchFamily="18" charset="0"/>
              </a:rPr>
              <a:t>i</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次退避就在 </a:t>
            </a:r>
            <a:r>
              <a:rPr lang="en-US" altLang="zh-CN" b="1" dirty="0">
                <a:latin typeface="微软雅黑" pitchFamily="34" charset="-122"/>
                <a:ea typeface="微软雅黑" pitchFamily="34" charset="-122"/>
              </a:rPr>
              <a:t>2</a:t>
            </a:r>
            <a:r>
              <a:rPr lang="en-US" altLang="zh-CN" b="1" baseline="30000" dirty="0">
                <a:latin typeface="微软雅黑" pitchFamily="34" charset="-122"/>
                <a:ea typeface="微软雅黑" pitchFamily="34" charset="-122"/>
              </a:rPr>
              <a:t>4+</a:t>
            </a:r>
            <a:r>
              <a:rPr lang="en-US" altLang="zh-CN" b="1" i="1" baseline="30000" dirty="0">
                <a:latin typeface="Times New Roman" pitchFamily="18" charset="0"/>
              </a:rPr>
              <a:t>i</a:t>
            </a:r>
            <a:r>
              <a:rPr lang="en-US" altLang="zh-CN" b="1" dirty="0">
                <a:latin typeface="微软雅黑" pitchFamily="34" charset="-122"/>
                <a:ea typeface="微软雅黑" pitchFamily="34" charset="-122"/>
              </a:rPr>
              <a:t> – 1 </a:t>
            </a:r>
            <a:r>
              <a:rPr lang="zh-CN" altLang="en-US" b="1" dirty="0">
                <a:latin typeface="微软雅黑" pitchFamily="34" charset="-122"/>
                <a:ea typeface="微软雅黑" pitchFamily="34" charset="-122"/>
              </a:rPr>
              <a:t>个时隙中</a:t>
            </a:r>
            <a:r>
              <a:rPr lang="zh-CN" altLang="en-US" b="1" dirty="0">
                <a:solidFill>
                  <a:srgbClr val="C00000"/>
                </a:solidFill>
                <a:latin typeface="微软雅黑" pitchFamily="34" charset="-122"/>
                <a:ea typeface="微软雅黑" pitchFamily="34" charset="-122"/>
              </a:rPr>
              <a:t>随机</a:t>
            </a:r>
            <a:r>
              <a:rPr lang="zh-CN" altLang="en-US" b="1" dirty="0">
                <a:latin typeface="微软雅黑" pitchFamily="34" charset="-122"/>
                <a:ea typeface="微软雅黑" pitchFamily="34" charset="-122"/>
              </a:rPr>
              <a:t>地选择一个，即：</a:t>
            </a:r>
            <a:endParaRPr lang="en-US" altLang="zh-CN" b="1" dirty="0">
              <a:latin typeface="微软雅黑" pitchFamily="34" charset="-122"/>
              <a:ea typeface="微软雅黑"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1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31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2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63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3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127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4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255 </a:t>
            </a:r>
            <a:r>
              <a:rPr lang="zh-CN" altLang="en-US" sz="1600" b="1" dirty="0">
                <a:latin typeface="微软雅黑" pitchFamily="34" charset="-122"/>
                <a:ea typeface="微软雅黑" pitchFamily="34" charset="-122"/>
              </a:rPr>
              <a:t>之间生成。</a:t>
            </a:r>
            <a:endParaRPr lang="en-US" altLang="zh-CN" sz="1600" b="1" dirty="0">
              <a:latin typeface="微软雅黑" pitchFamily="34" charset="-122"/>
              <a:ea typeface="微软雅黑"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5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511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solidFill>
                  <a:srgbClr val="C00000"/>
                </a:solidFill>
                <a:latin typeface="微软雅黑" pitchFamily="34" charset="-122"/>
                <a:ea typeface="微软雅黑" pitchFamily="34" charset="-122"/>
              </a:rPr>
              <a:t>第 </a:t>
            </a:r>
            <a:r>
              <a:rPr lang="en-US" altLang="zh-CN" sz="1600" b="1" dirty="0">
                <a:solidFill>
                  <a:srgbClr val="C00000"/>
                </a:solidFill>
                <a:latin typeface="微软雅黑" pitchFamily="34" charset="-122"/>
                <a:ea typeface="微软雅黑" pitchFamily="34" charset="-122"/>
              </a:rPr>
              <a:t>6 </a:t>
            </a:r>
            <a:r>
              <a:rPr lang="zh-CN" altLang="en-US" sz="1600" b="1" dirty="0">
                <a:solidFill>
                  <a:srgbClr val="C00000"/>
                </a:solidFill>
                <a:latin typeface="微软雅黑" pitchFamily="34" charset="-122"/>
                <a:ea typeface="微软雅黑" pitchFamily="34" charset="-122"/>
              </a:rPr>
              <a:t>次以及 </a:t>
            </a:r>
            <a:r>
              <a:rPr lang="en-US" altLang="zh-CN" sz="1600" b="1" dirty="0">
                <a:solidFill>
                  <a:srgbClr val="C00000"/>
                </a:solidFill>
                <a:latin typeface="微软雅黑" pitchFamily="34" charset="-122"/>
                <a:ea typeface="微软雅黑" pitchFamily="34" charset="-122"/>
              </a:rPr>
              <a:t>6 </a:t>
            </a:r>
            <a:r>
              <a:rPr lang="zh-CN" altLang="en-US" sz="1600" b="1" dirty="0">
                <a:solidFill>
                  <a:srgbClr val="C00000"/>
                </a:solidFill>
                <a:latin typeface="微软雅黑" pitchFamily="34" charset="-122"/>
                <a:ea typeface="微软雅黑" pitchFamily="34" charset="-122"/>
              </a:rPr>
              <a:t>次以上重传时，</a:t>
            </a:r>
            <a:r>
              <a:rPr lang="zh-CN" altLang="en-US" sz="1600" b="1" dirty="0">
                <a:latin typeface="微软雅黑" pitchFamily="34" charset="-122"/>
                <a:ea typeface="微软雅黑" pitchFamily="34" charset="-122"/>
              </a:rPr>
              <a:t>随机退避的时隙数应在 </a:t>
            </a:r>
            <a:r>
              <a:rPr lang="en-US" altLang="zh-CN" sz="1600" b="1" dirty="0">
                <a:latin typeface="微软雅黑" pitchFamily="34" charset="-122"/>
                <a:ea typeface="微软雅黑" pitchFamily="34" charset="-122"/>
              </a:rPr>
              <a:t>0 ~ 1023 </a:t>
            </a:r>
            <a:r>
              <a:rPr lang="zh-CN" altLang="en-US" sz="1600" b="1" dirty="0">
                <a:latin typeface="微软雅黑" pitchFamily="34" charset="-122"/>
                <a:ea typeface="微软雅黑" pitchFamily="34" charset="-122"/>
              </a:rPr>
              <a:t>之间生成，争用窗口 </a:t>
            </a:r>
            <a:r>
              <a:rPr lang="en-US" altLang="zh-CN" sz="1600" b="1" dirty="0">
                <a:latin typeface="微软雅黑" pitchFamily="34" charset="-122"/>
                <a:ea typeface="微软雅黑" pitchFamily="34" charset="-122"/>
              </a:rPr>
              <a:t>CW </a:t>
            </a:r>
            <a:r>
              <a:rPr lang="zh-CN" altLang="en-US" sz="1600" b="1" dirty="0">
                <a:solidFill>
                  <a:srgbClr val="C00000"/>
                </a:solidFill>
                <a:latin typeface="微软雅黑" pitchFamily="34" charset="-122"/>
                <a:ea typeface="微软雅黑" pitchFamily="34" charset="-122"/>
              </a:rPr>
              <a:t>不再增大</a:t>
            </a:r>
            <a:r>
              <a:rPr lang="zh-CN" altLang="en-US" sz="1600" b="1" dirty="0">
                <a:latin typeface="微软雅黑" pitchFamily="34" charset="-122"/>
                <a:ea typeface="微软雅黑" pitchFamily="34" charset="-122"/>
              </a:rPr>
              <a:t>了。</a:t>
            </a:r>
          </a:p>
        </p:txBody>
      </p:sp>
    </p:spTree>
    <p:extLst>
      <p:ext uri="{BB962C8B-B14F-4D97-AF65-F5344CB8AC3E}">
        <p14:creationId xmlns:p14="http://schemas.microsoft.com/office/powerpoint/2010/main" val="36448986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17853" y="2174050"/>
            <a:ext cx="8133857" cy="124417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2"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754"/>
            <a:ext cx="25699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退避算法的使用场景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7635"/>
            <a:ext cx="8133857" cy="1246495"/>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要发送数据时检测到信道忙。</a:t>
            </a:r>
          </a:p>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已发出的数据帧未收到确认，重传数据帧。</a:t>
            </a:r>
          </a:p>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接着发送后续的数据帧（为了防止一个站长期垄断发送权）。 </a:t>
            </a:r>
          </a:p>
        </p:txBody>
      </p:sp>
      <p:grpSp>
        <p:nvGrpSpPr>
          <p:cNvPr id="52" name="组合 51"/>
          <p:cNvGrpSpPr/>
          <p:nvPr/>
        </p:nvGrpSpPr>
        <p:grpSpPr>
          <a:xfrm>
            <a:off x="1100250" y="2226872"/>
            <a:ext cx="6969061" cy="1153444"/>
            <a:chOff x="677568" y="2108991"/>
            <a:chExt cx="7656591" cy="1543143"/>
          </a:xfrm>
        </p:grpSpPr>
        <p:sp>
          <p:nvSpPr>
            <p:cNvPr id="9" name="Freeform 13"/>
            <p:cNvSpPr>
              <a:spLocks/>
            </p:cNvSpPr>
            <p:nvPr/>
          </p:nvSpPr>
          <p:spPr bwMode="auto">
            <a:xfrm>
              <a:off x="1954090" y="2439840"/>
              <a:ext cx="1223963"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 name="Line 110"/>
            <p:cNvSpPr>
              <a:spLocks noChangeShapeType="1"/>
            </p:cNvSpPr>
            <p:nvPr/>
          </p:nvSpPr>
          <p:spPr bwMode="auto">
            <a:xfrm>
              <a:off x="15080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Text Box 24"/>
            <p:cNvSpPr txBox="1">
              <a:spLocks noChangeArrowheads="1"/>
            </p:cNvSpPr>
            <p:nvPr/>
          </p:nvSpPr>
          <p:spPr bwMode="auto">
            <a:xfrm>
              <a:off x="1455884" y="2108991"/>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 name="Text Box 9"/>
            <p:cNvSpPr txBox="1">
              <a:spLocks noChangeArrowheads="1"/>
            </p:cNvSpPr>
            <p:nvPr/>
          </p:nvSpPr>
          <p:spPr bwMode="auto">
            <a:xfrm>
              <a:off x="8050262" y="2447778"/>
              <a:ext cx="283897"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13" name="矩形 131"/>
            <p:cNvSpPr>
              <a:spLocks noChangeArrowheads="1"/>
            </p:cNvSpPr>
            <p:nvPr/>
          </p:nvSpPr>
          <p:spPr bwMode="auto">
            <a:xfrm>
              <a:off x="3617790" y="2520803"/>
              <a:ext cx="5746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14" name="直接连接符 133"/>
            <p:cNvCxnSpPr>
              <a:cxnSpLocks noChangeShapeType="1"/>
            </p:cNvCxnSpPr>
            <p:nvPr/>
          </p:nvCxnSpPr>
          <p:spPr bwMode="auto">
            <a:xfrm>
              <a:off x="3690815" y="252080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 name="直接连接符 134"/>
            <p:cNvCxnSpPr>
              <a:cxnSpLocks noChangeShapeType="1"/>
            </p:cNvCxnSpPr>
            <p:nvPr/>
          </p:nvCxnSpPr>
          <p:spPr bwMode="auto">
            <a:xfrm>
              <a:off x="3752728"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 name="直接连接符 135"/>
            <p:cNvCxnSpPr>
              <a:cxnSpLocks noChangeShapeType="1"/>
            </p:cNvCxnSpPr>
            <p:nvPr/>
          </p:nvCxnSpPr>
          <p:spPr bwMode="auto">
            <a:xfrm>
              <a:off x="387655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 name="直接连接符 136"/>
            <p:cNvCxnSpPr>
              <a:cxnSpLocks noChangeShapeType="1"/>
            </p:cNvCxnSpPr>
            <p:nvPr/>
          </p:nvCxnSpPr>
          <p:spPr bwMode="auto">
            <a:xfrm>
              <a:off x="3938465" y="252080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8" name="直接连接符 137"/>
            <p:cNvCxnSpPr>
              <a:cxnSpLocks noChangeShapeType="1"/>
            </p:cNvCxnSpPr>
            <p:nvPr/>
          </p:nvCxnSpPr>
          <p:spPr bwMode="auto">
            <a:xfrm>
              <a:off x="4000378"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9" name="直接连接符 138"/>
            <p:cNvCxnSpPr>
              <a:cxnSpLocks noChangeShapeType="1"/>
            </p:cNvCxnSpPr>
            <p:nvPr/>
          </p:nvCxnSpPr>
          <p:spPr bwMode="auto">
            <a:xfrm>
              <a:off x="4062290" y="253032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 name="直接连接符 139"/>
            <p:cNvCxnSpPr>
              <a:cxnSpLocks noChangeShapeType="1"/>
            </p:cNvCxnSpPr>
            <p:nvPr/>
          </p:nvCxnSpPr>
          <p:spPr bwMode="auto">
            <a:xfrm>
              <a:off x="4124203" y="2525565"/>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 name="直接连接符 141"/>
            <p:cNvCxnSpPr>
              <a:cxnSpLocks noChangeShapeType="1"/>
            </p:cNvCxnSpPr>
            <p:nvPr/>
          </p:nvCxnSpPr>
          <p:spPr bwMode="auto">
            <a:xfrm>
              <a:off x="3814640" y="251604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2" name="直接箭头连接符 53"/>
            <p:cNvCxnSpPr>
              <a:cxnSpLocks noChangeShapeType="1"/>
            </p:cNvCxnSpPr>
            <p:nvPr/>
          </p:nvCxnSpPr>
          <p:spPr bwMode="auto">
            <a:xfrm flipV="1">
              <a:off x="1508003" y="2460478"/>
              <a:ext cx="0" cy="285750"/>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 name="Text Box 24"/>
            <p:cNvSpPr txBox="1">
              <a:spLocks noChangeArrowheads="1"/>
            </p:cNvSpPr>
            <p:nvPr/>
          </p:nvSpPr>
          <p:spPr bwMode="auto">
            <a:xfrm>
              <a:off x="994551" y="2409678"/>
              <a:ext cx="350820"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24" name="Text Box 109"/>
            <p:cNvSpPr txBox="1">
              <a:spLocks noChangeArrowheads="1"/>
            </p:cNvSpPr>
            <p:nvPr/>
          </p:nvSpPr>
          <p:spPr bwMode="auto">
            <a:xfrm>
              <a:off x="2151755" y="2412203"/>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25" name="Line 110"/>
            <p:cNvSpPr>
              <a:spLocks noChangeShapeType="1"/>
            </p:cNvSpPr>
            <p:nvPr/>
          </p:nvSpPr>
          <p:spPr bwMode="auto">
            <a:xfrm>
              <a:off x="31844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3105297" y="211692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27" name="Text Box 24"/>
            <p:cNvSpPr txBox="1">
              <a:spLocks noChangeArrowheads="1"/>
            </p:cNvSpPr>
            <p:nvPr/>
          </p:nvSpPr>
          <p:spPr bwMode="auto">
            <a:xfrm>
              <a:off x="3634985" y="2224878"/>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28" name="Freeform 13"/>
            <p:cNvSpPr>
              <a:spLocks/>
            </p:cNvSpPr>
            <p:nvPr/>
          </p:nvSpPr>
          <p:spPr bwMode="auto">
            <a:xfrm>
              <a:off x="4194053" y="2449365"/>
              <a:ext cx="16986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Text Box 109"/>
            <p:cNvSpPr txBox="1">
              <a:spLocks noChangeArrowheads="1"/>
            </p:cNvSpPr>
            <p:nvPr/>
          </p:nvSpPr>
          <p:spPr bwMode="auto">
            <a:xfrm>
              <a:off x="4588567" y="2420140"/>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30" name="Line 106"/>
            <p:cNvSpPr>
              <a:spLocks noChangeShapeType="1"/>
            </p:cNvSpPr>
            <p:nvPr/>
          </p:nvSpPr>
          <p:spPr bwMode="auto">
            <a:xfrm flipH="1">
              <a:off x="3616203" y="2414440"/>
              <a:ext cx="0" cy="3317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10"/>
            <p:cNvSpPr>
              <a:spLocks noChangeShapeType="1"/>
            </p:cNvSpPr>
            <p:nvPr/>
          </p:nvSpPr>
          <p:spPr bwMode="auto">
            <a:xfrm>
              <a:off x="5900615" y="2458890"/>
              <a:ext cx="442913" cy="1588"/>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5818332" y="214708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cxnSp>
          <p:nvCxnSpPr>
            <p:cNvPr id="33" name="直接连接符 41"/>
            <p:cNvCxnSpPr>
              <a:cxnSpLocks noChangeShapeType="1"/>
            </p:cNvCxnSpPr>
            <p:nvPr/>
          </p:nvCxnSpPr>
          <p:spPr bwMode="auto">
            <a:xfrm>
              <a:off x="3616203" y="2771628"/>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34" name="Text Box 24"/>
            <p:cNvSpPr txBox="1">
              <a:spLocks noChangeArrowheads="1"/>
            </p:cNvSpPr>
            <p:nvPr/>
          </p:nvSpPr>
          <p:spPr bwMode="auto">
            <a:xfrm>
              <a:off x="3322515" y="2963715"/>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a:t>
              </a:r>
              <a:endParaRPr lang="en-US" altLang="zh-CN" sz="1400" b="1" dirty="0">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35" name="矩形 131"/>
            <p:cNvSpPr>
              <a:spLocks noChangeArrowheads="1"/>
            </p:cNvSpPr>
            <p:nvPr/>
          </p:nvSpPr>
          <p:spPr bwMode="auto">
            <a:xfrm>
              <a:off x="6343528" y="2522390"/>
              <a:ext cx="4476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36" name="直接连接符 133"/>
            <p:cNvCxnSpPr>
              <a:cxnSpLocks noChangeShapeType="1"/>
            </p:cNvCxnSpPr>
            <p:nvPr/>
          </p:nvCxnSpPr>
          <p:spPr bwMode="auto">
            <a:xfrm>
              <a:off x="641655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7" name="直接连接符 134"/>
            <p:cNvCxnSpPr>
              <a:cxnSpLocks noChangeShapeType="1"/>
            </p:cNvCxnSpPr>
            <p:nvPr/>
          </p:nvCxnSpPr>
          <p:spPr bwMode="auto">
            <a:xfrm>
              <a:off x="6478465"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8" name="直接连接符 135"/>
            <p:cNvCxnSpPr>
              <a:cxnSpLocks noChangeShapeType="1"/>
            </p:cNvCxnSpPr>
            <p:nvPr/>
          </p:nvCxnSpPr>
          <p:spPr bwMode="auto">
            <a:xfrm>
              <a:off x="6602290"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9" name="直接连接符 136"/>
            <p:cNvCxnSpPr>
              <a:cxnSpLocks noChangeShapeType="1"/>
            </p:cNvCxnSpPr>
            <p:nvPr/>
          </p:nvCxnSpPr>
          <p:spPr bwMode="auto">
            <a:xfrm>
              <a:off x="666420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0" name="直接连接符 137"/>
            <p:cNvCxnSpPr>
              <a:cxnSpLocks noChangeShapeType="1"/>
            </p:cNvCxnSpPr>
            <p:nvPr/>
          </p:nvCxnSpPr>
          <p:spPr bwMode="auto">
            <a:xfrm>
              <a:off x="6726115"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1" name="直接连接符 141"/>
            <p:cNvCxnSpPr>
              <a:cxnSpLocks noChangeShapeType="1"/>
            </p:cNvCxnSpPr>
            <p:nvPr/>
          </p:nvCxnSpPr>
          <p:spPr bwMode="auto">
            <a:xfrm>
              <a:off x="6540378" y="2517628"/>
              <a:ext cx="0" cy="2174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2" name="Text Box 24"/>
            <p:cNvSpPr txBox="1">
              <a:spLocks noChangeArrowheads="1"/>
            </p:cNvSpPr>
            <p:nvPr/>
          </p:nvSpPr>
          <p:spPr bwMode="auto">
            <a:xfrm>
              <a:off x="6360721" y="2226466"/>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sp>
          <p:nvSpPr>
            <p:cNvPr id="43" name="Line 106"/>
            <p:cNvSpPr>
              <a:spLocks noChangeShapeType="1"/>
            </p:cNvSpPr>
            <p:nvPr/>
          </p:nvSpPr>
          <p:spPr bwMode="auto">
            <a:xfrm flipH="1">
              <a:off x="6341940" y="2416028"/>
              <a:ext cx="0" cy="3317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44" name="直接连接符 41"/>
            <p:cNvCxnSpPr>
              <a:cxnSpLocks noChangeShapeType="1"/>
            </p:cNvCxnSpPr>
            <p:nvPr/>
          </p:nvCxnSpPr>
          <p:spPr bwMode="auto">
            <a:xfrm>
              <a:off x="6337178" y="2762103"/>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45" name="Text Box 24"/>
            <p:cNvSpPr txBox="1">
              <a:spLocks noChangeArrowheads="1"/>
            </p:cNvSpPr>
            <p:nvPr/>
          </p:nvSpPr>
          <p:spPr bwMode="auto">
            <a:xfrm>
              <a:off x="6037141" y="2979590"/>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争用</a:t>
              </a:r>
              <a:endParaRPr lang="en-US" altLang="zh-CN" sz="1400" b="1">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信道                        </a:t>
              </a:r>
              <a:endParaRPr lang="en-US" altLang="zh-CN" sz="1400" b="1">
                <a:solidFill>
                  <a:srgbClr val="C00000"/>
                </a:solidFill>
                <a:latin typeface="微软雅黑" panose="020B0503020204020204" pitchFamily="34" charset="-122"/>
                <a:ea typeface="微软雅黑" panose="020B0503020204020204" pitchFamily="34" charset="-122"/>
              </a:endParaRPr>
            </a:p>
          </p:txBody>
        </p:sp>
        <p:sp>
          <p:nvSpPr>
            <p:cNvPr id="46" name="Freeform 13"/>
            <p:cNvSpPr>
              <a:spLocks/>
            </p:cNvSpPr>
            <p:nvPr/>
          </p:nvSpPr>
          <p:spPr bwMode="auto">
            <a:xfrm>
              <a:off x="6799140" y="2433490"/>
              <a:ext cx="11525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Line 2"/>
            <p:cNvSpPr>
              <a:spLocks noChangeShapeType="1"/>
            </p:cNvSpPr>
            <p:nvPr/>
          </p:nvSpPr>
          <p:spPr bwMode="auto">
            <a:xfrm flipV="1">
              <a:off x="1292103" y="2746228"/>
              <a:ext cx="6856412" cy="15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Text Box 109"/>
            <p:cNvSpPr txBox="1">
              <a:spLocks noChangeArrowheads="1"/>
            </p:cNvSpPr>
            <p:nvPr/>
          </p:nvSpPr>
          <p:spPr bwMode="auto">
            <a:xfrm>
              <a:off x="6917431" y="2418552"/>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49" name="Text Box 24"/>
            <p:cNvSpPr txBox="1">
              <a:spLocks noChangeArrowheads="1"/>
            </p:cNvSpPr>
            <p:nvPr/>
          </p:nvSpPr>
          <p:spPr bwMode="auto">
            <a:xfrm>
              <a:off x="677568" y="2752578"/>
              <a:ext cx="982663" cy="6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50" name="直接连接符 41"/>
            <p:cNvCxnSpPr>
              <a:cxnSpLocks noChangeShapeType="1"/>
            </p:cNvCxnSpPr>
            <p:nvPr/>
          </p:nvCxnSpPr>
          <p:spPr bwMode="auto">
            <a:xfrm>
              <a:off x="1946153" y="2747815"/>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51" name="Text Box 24"/>
            <p:cNvSpPr txBox="1">
              <a:spLocks noChangeArrowheads="1"/>
            </p:cNvSpPr>
            <p:nvPr/>
          </p:nvSpPr>
          <p:spPr bwMode="auto">
            <a:xfrm>
              <a:off x="1504828" y="2966889"/>
              <a:ext cx="8636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grpSp>
      <p:sp>
        <p:nvSpPr>
          <p:cNvPr id="54" name="矩形 53"/>
          <p:cNvSpPr/>
          <p:nvPr/>
        </p:nvSpPr>
        <p:spPr>
          <a:xfrm>
            <a:off x="1540085" y="3561806"/>
            <a:ext cx="6479768" cy="759182"/>
          </a:xfrm>
          <a:prstGeom prst="rect">
            <a:avLst/>
          </a:prstGeom>
        </p:spPr>
        <p:txBody>
          <a:bodyPr wrap="square">
            <a:spAutoFit/>
          </a:bodyPr>
          <a:lstStyle/>
          <a:p>
            <a:pPr>
              <a:lnSpc>
                <a:spcPts val="2600"/>
              </a:lnSpc>
              <a:spcBef>
                <a:spcPts val="600"/>
              </a:spcBef>
            </a:pPr>
            <a:r>
              <a:rPr lang="zh-CN" altLang="en-US" b="1" dirty="0">
                <a:latin typeface="微软雅黑" pitchFamily="34" charset="-122"/>
                <a:ea typeface="微软雅黑" pitchFamily="34" charset="-122"/>
              </a:rPr>
              <a:t>当站点想发送数据，并检测信道</a:t>
            </a:r>
            <a:r>
              <a:rPr lang="zh-CN" altLang="en-US" b="1" dirty="0">
                <a:solidFill>
                  <a:srgbClr val="0000CC"/>
                </a:solidFill>
                <a:latin typeface="微软雅黑" pitchFamily="34" charset="-122"/>
                <a:ea typeface="微软雅黑" pitchFamily="34" charset="-122"/>
              </a:rPr>
              <a:t>连续空闲时间超过 </a:t>
            </a:r>
            <a:r>
              <a:rPr lang="en-US" altLang="zh-CN" b="1" dirty="0">
                <a:solidFill>
                  <a:srgbClr val="0000CC"/>
                </a:solidFill>
                <a:latin typeface="微软雅黑" pitchFamily="34" charset="-122"/>
                <a:ea typeface="微软雅黑" pitchFamily="34" charset="-122"/>
              </a:rPr>
              <a:t>DIFS </a:t>
            </a:r>
            <a:r>
              <a:rPr lang="zh-CN" altLang="en-US" b="1" dirty="0">
                <a:solidFill>
                  <a:srgbClr val="0000CC"/>
                </a:solidFill>
                <a:latin typeface="微软雅黑" pitchFamily="34" charset="-122"/>
                <a:ea typeface="微软雅黑" pitchFamily="34" charset="-122"/>
              </a:rPr>
              <a:t>时，</a:t>
            </a:r>
            <a:r>
              <a:rPr lang="zh-CN" altLang="en-US" b="1" dirty="0">
                <a:latin typeface="微软雅黑" pitchFamily="34" charset="-122"/>
                <a:ea typeface="微软雅黑" pitchFamily="34" charset="-122"/>
              </a:rPr>
              <a:t>即可立即发送数据，而</a:t>
            </a:r>
            <a:r>
              <a:rPr lang="zh-CN" altLang="en-US" b="1" dirty="0">
                <a:solidFill>
                  <a:srgbClr val="0000CC"/>
                </a:solidFill>
                <a:latin typeface="微软雅黑" pitchFamily="34" charset="-122"/>
                <a:ea typeface="微软雅黑" pitchFamily="34" charset="-122"/>
              </a:rPr>
              <a:t>不必经过争用期。</a:t>
            </a:r>
          </a:p>
        </p:txBody>
      </p:sp>
    </p:spTree>
    <p:extLst>
      <p:ext uri="{BB962C8B-B14F-4D97-AF65-F5344CB8AC3E}">
        <p14:creationId xmlns:p14="http://schemas.microsoft.com/office/powerpoint/2010/main" val="30107893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62966"/>
            <a:ext cx="8185110" cy="1477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sz="1900" b="1" dirty="0">
                <a:solidFill>
                  <a:srgbClr val="0000FF"/>
                </a:solidFill>
                <a:latin typeface="微软雅黑" pitchFamily="34" charset="-122"/>
                <a:ea typeface="微软雅黑" pitchFamily="34" charset="-122"/>
              </a:rPr>
              <a:t>假设：</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站正好在</a:t>
            </a:r>
            <a:r>
              <a:rPr lang="en-US" altLang="zh-CN" sz="1900" b="1" dirty="0">
                <a:latin typeface="微软雅黑" pitchFamily="34" charset="-122"/>
                <a:ea typeface="微软雅黑" pitchFamily="34" charset="-122"/>
              </a:rPr>
              <a:t> A </a:t>
            </a:r>
            <a:r>
              <a:rPr lang="zh-CN" altLang="en-US" sz="1900" b="1" dirty="0">
                <a:latin typeface="微软雅黑" pitchFamily="34" charset="-122"/>
                <a:ea typeface="微软雅黑" pitchFamily="34" charset="-122"/>
              </a:rPr>
              <a:t>占用信道时要发送数据。</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检测到信道忙，于是推迟到争用信道时与 </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一起争用信道。但正巧 </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和 </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又生成了同样大小的随机退避时隙数。结果就发生了碰撞，</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和 </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都必须再重传。</a:t>
            </a:r>
            <a:endParaRPr lang="en-US" altLang="zh-CN" sz="1900"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sz="1900" b="1" dirty="0">
                <a:latin typeface="微软雅黑" pitchFamily="34" charset="-122"/>
                <a:ea typeface="微软雅黑" pitchFamily="34" charset="-122"/>
              </a:rPr>
              <a:t>为进一步减少碰撞，还需要再采用一些措施：</a:t>
            </a:r>
            <a:r>
              <a:rPr lang="zh-CN" altLang="en-US" sz="1900" b="1" dirty="0">
                <a:solidFill>
                  <a:srgbClr val="C00000"/>
                </a:solidFill>
                <a:latin typeface="微软雅黑" pitchFamily="34" charset="-122"/>
                <a:ea typeface="微软雅黑" pitchFamily="34" charset="-122"/>
              </a:rPr>
              <a:t>信道预约。</a:t>
            </a: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45" name="圆角矩形 44"/>
          <p:cNvSpPr/>
          <p:nvPr/>
        </p:nvSpPr>
        <p:spPr>
          <a:xfrm>
            <a:off x="966650" y="2424522"/>
            <a:ext cx="7280367" cy="20516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grpSp>
        <p:nvGrpSpPr>
          <p:cNvPr id="3" name="组合 2"/>
          <p:cNvGrpSpPr/>
          <p:nvPr/>
        </p:nvGrpSpPr>
        <p:grpSpPr>
          <a:xfrm>
            <a:off x="1789364" y="3504488"/>
            <a:ext cx="5816186" cy="908165"/>
            <a:chOff x="1388769" y="3556742"/>
            <a:chExt cx="5816186" cy="908165"/>
          </a:xfrm>
        </p:grpSpPr>
        <p:sp>
          <p:nvSpPr>
            <p:cNvPr id="94" name="Text Box 9"/>
            <p:cNvSpPr txBox="1">
              <a:spLocks noChangeArrowheads="1"/>
            </p:cNvSpPr>
            <p:nvPr/>
          </p:nvSpPr>
          <p:spPr bwMode="auto">
            <a:xfrm>
              <a:off x="6946551" y="3723352"/>
              <a:ext cx="258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95" name="矩形 131"/>
            <p:cNvSpPr>
              <a:spLocks noChangeArrowheads="1"/>
            </p:cNvSpPr>
            <p:nvPr/>
          </p:nvSpPr>
          <p:spPr bwMode="auto">
            <a:xfrm>
              <a:off x="3776452" y="3777936"/>
              <a:ext cx="523072" cy="16612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96" name="直接连接符 133"/>
            <p:cNvCxnSpPr>
              <a:cxnSpLocks noChangeShapeType="1"/>
            </p:cNvCxnSpPr>
            <p:nvPr/>
          </p:nvCxnSpPr>
          <p:spPr bwMode="auto">
            <a:xfrm>
              <a:off x="3842920" y="377793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4"/>
            <p:cNvCxnSpPr>
              <a:cxnSpLocks noChangeShapeType="1"/>
            </p:cNvCxnSpPr>
            <p:nvPr/>
          </p:nvCxnSpPr>
          <p:spPr bwMode="auto">
            <a:xfrm>
              <a:off x="3899273"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5"/>
            <p:cNvCxnSpPr>
              <a:cxnSpLocks noChangeShapeType="1"/>
            </p:cNvCxnSpPr>
            <p:nvPr/>
          </p:nvCxnSpPr>
          <p:spPr bwMode="auto">
            <a:xfrm>
              <a:off x="4011979"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6"/>
            <p:cNvCxnSpPr>
              <a:cxnSpLocks noChangeShapeType="1"/>
            </p:cNvCxnSpPr>
            <p:nvPr/>
          </p:nvCxnSpPr>
          <p:spPr bwMode="auto">
            <a:xfrm>
              <a:off x="4068332" y="377793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7"/>
            <p:cNvCxnSpPr>
              <a:cxnSpLocks noChangeShapeType="1"/>
            </p:cNvCxnSpPr>
            <p:nvPr/>
          </p:nvCxnSpPr>
          <p:spPr bwMode="auto">
            <a:xfrm>
              <a:off x="4124685"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8"/>
            <p:cNvCxnSpPr>
              <a:cxnSpLocks noChangeShapeType="1"/>
            </p:cNvCxnSpPr>
            <p:nvPr/>
          </p:nvCxnSpPr>
          <p:spPr bwMode="auto">
            <a:xfrm>
              <a:off x="4181038" y="3785055"/>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39"/>
            <p:cNvCxnSpPr>
              <a:cxnSpLocks noChangeShapeType="1"/>
            </p:cNvCxnSpPr>
            <p:nvPr/>
          </p:nvCxnSpPr>
          <p:spPr bwMode="auto">
            <a:xfrm>
              <a:off x="4237392" y="3781495"/>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3957561" y="3792577"/>
              <a:ext cx="0" cy="16256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4" name="直接箭头连接符 53"/>
            <p:cNvCxnSpPr>
              <a:cxnSpLocks noChangeShapeType="1"/>
            </p:cNvCxnSpPr>
            <p:nvPr/>
          </p:nvCxnSpPr>
          <p:spPr bwMode="auto">
            <a:xfrm flipV="1">
              <a:off x="2561510" y="3732845"/>
              <a:ext cx="0" cy="213588"/>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05" name="Text Box 24"/>
            <p:cNvSpPr txBox="1">
              <a:spLocks noChangeArrowheads="1"/>
            </p:cNvSpPr>
            <p:nvPr/>
          </p:nvSpPr>
          <p:spPr bwMode="auto">
            <a:xfrm>
              <a:off x="1388769" y="3694874"/>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B</a:t>
              </a:r>
            </a:p>
          </p:txBody>
        </p:sp>
        <p:sp>
          <p:nvSpPr>
            <p:cNvPr id="109" name="Text Box 24"/>
            <p:cNvSpPr txBox="1">
              <a:spLocks noChangeArrowheads="1"/>
            </p:cNvSpPr>
            <p:nvPr/>
          </p:nvSpPr>
          <p:spPr bwMode="auto">
            <a:xfrm>
              <a:off x="3792103" y="3556742"/>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10" name="Freeform 13"/>
            <p:cNvSpPr>
              <a:spLocks/>
            </p:cNvSpPr>
            <p:nvPr/>
          </p:nvSpPr>
          <p:spPr bwMode="auto">
            <a:xfrm>
              <a:off x="4303622" y="3724538"/>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Text Box 109"/>
            <p:cNvSpPr txBox="1">
              <a:spLocks noChangeArrowheads="1"/>
            </p:cNvSpPr>
            <p:nvPr/>
          </p:nvSpPr>
          <p:spPr bwMode="auto">
            <a:xfrm>
              <a:off x="4354933" y="3702694"/>
              <a:ext cx="14157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p>
          </p:txBody>
        </p:sp>
        <p:sp>
          <p:nvSpPr>
            <p:cNvPr id="112" name="Line 106"/>
            <p:cNvSpPr>
              <a:spLocks noChangeShapeType="1"/>
            </p:cNvSpPr>
            <p:nvPr/>
          </p:nvSpPr>
          <p:spPr bwMode="auto">
            <a:xfrm flipH="1">
              <a:off x="3775008" y="3698433"/>
              <a:ext cx="0" cy="2480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115" name="直接连接符 41"/>
            <p:cNvCxnSpPr>
              <a:cxnSpLocks noChangeShapeType="1"/>
            </p:cNvCxnSpPr>
            <p:nvPr/>
          </p:nvCxnSpPr>
          <p:spPr bwMode="auto">
            <a:xfrm>
              <a:off x="3775008" y="3965418"/>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16" name="Text Box 24"/>
            <p:cNvSpPr txBox="1">
              <a:spLocks noChangeArrowheads="1"/>
            </p:cNvSpPr>
            <p:nvPr/>
          </p:nvSpPr>
          <p:spPr bwMode="auto">
            <a:xfrm>
              <a:off x="3310535" y="4117650"/>
              <a:ext cx="1038182"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29" name="Line 2"/>
            <p:cNvSpPr>
              <a:spLocks noChangeShapeType="1"/>
            </p:cNvSpPr>
            <p:nvPr/>
          </p:nvSpPr>
          <p:spPr bwMode="auto">
            <a:xfrm flipV="1">
              <a:off x="1659602" y="3947619"/>
              <a:ext cx="5342089"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Text Box 24"/>
            <p:cNvSpPr txBox="1">
              <a:spLocks noChangeArrowheads="1"/>
            </p:cNvSpPr>
            <p:nvPr/>
          </p:nvSpPr>
          <p:spPr bwMode="auto">
            <a:xfrm>
              <a:off x="1922278" y="3941687"/>
              <a:ext cx="894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1500845" y="2477345"/>
            <a:ext cx="6104705" cy="1143950"/>
            <a:chOff x="1100250" y="2477345"/>
            <a:chExt cx="6104705" cy="1143950"/>
          </a:xfrm>
        </p:grpSpPr>
        <p:sp>
          <p:nvSpPr>
            <p:cNvPr id="47" name="Freeform 13"/>
            <p:cNvSpPr>
              <a:spLocks/>
            </p:cNvSpPr>
            <p:nvPr/>
          </p:nvSpPr>
          <p:spPr bwMode="auto">
            <a:xfrm>
              <a:off x="2262146" y="2724643"/>
              <a:ext cx="111405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Line 110"/>
            <p:cNvSpPr>
              <a:spLocks noChangeShapeType="1"/>
            </p:cNvSpPr>
            <p:nvPr/>
          </p:nvSpPr>
          <p:spPr bwMode="auto">
            <a:xfrm>
              <a:off x="1856115" y="2723457"/>
              <a:ext cx="403140" cy="118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Text Box 24"/>
            <p:cNvSpPr txBox="1">
              <a:spLocks noChangeArrowheads="1"/>
            </p:cNvSpPr>
            <p:nvPr/>
          </p:nvSpPr>
          <p:spPr bwMode="auto">
            <a:xfrm>
              <a:off x="1808676" y="2477345"/>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50" name="Text Box 9"/>
            <p:cNvSpPr txBox="1">
              <a:spLocks noChangeArrowheads="1"/>
            </p:cNvSpPr>
            <p:nvPr/>
          </p:nvSpPr>
          <p:spPr bwMode="auto">
            <a:xfrm>
              <a:off x="6946551" y="2730576"/>
              <a:ext cx="258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51" name="矩形 131"/>
            <p:cNvSpPr>
              <a:spLocks noChangeArrowheads="1"/>
            </p:cNvSpPr>
            <p:nvPr/>
          </p:nvSpPr>
          <p:spPr bwMode="auto">
            <a:xfrm>
              <a:off x="3776452" y="2785160"/>
              <a:ext cx="523072" cy="16612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52" name="直接连接符 133"/>
            <p:cNvCxnSpPr>
              <a:cxnSpLocks noChangeShapeType="1"/>
            </p:cNvCxnSpPr>
            <p:nvPr/>
          </p:nvCxnSpPr>
          <p:spPr bwMode="auto">
            <a:xfrm>
              <a:off x="3842920" y="2785160"/>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3" name="直接连接符 134"/>
            <p:cNvCxnSpPr>
              <a:cxnSpLocks noChangeShapeType="1"/>
            </p:cNvCxnSpPr>
            <p:nvPr/>
          </p:nvCxnSpPr>
          <p:spPr bwMode="auto">
            <a:xfrm>
              <a:off x="3899273"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4" name="直接连接符 135"/>
            <p:cNvCxnSpPr>
              <a:cxnSpLocks noChangeShapeType="1"/>
            </p:cNvCxnSpPr>
            <p:nvPr/>
          </p:nvCxnSpPr>
          <p:spPr bwMode="auto">
            <a:xfrm>
              <a:off x="4011979"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5" name="直接连接符 136"/>
            <p:cNvCxnSpPr>
              <a:cxnSpLocks noChangeShapeType="1"/>
            </p:cNvCxnSpPr>
            <p:nvPr/>
          </p:nvCxnSpPr>
          <p:spPr bwMode="auto">
            <a:xfrm>
              <a:off x="4068332" y="2785160"/>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6" name="直接连接符 137"/>
            <p:cNvCxnSpPr>
              <a:cxnSpLocks noChangeShapeType="1"/>
            </p:cNvCxnSpPr>
            <p:nvPr/>
          </p:nvCxnSpPr>
          <p:spPr bwMode="auto">
            <a:xfrm>
              <a:off x="4124685"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7" name="直接连接符 138"/>
            <p:cNvCxnSpPr>
              <a:cxnSpLocks noChangeShapeType="1"/>
            </p:cNvCxnSpPr>
            <p:nvPr/>
          </p:nvCxnSpPr>
          <p:spPr bwMode="auto">
            <a:xfrm>
              <a:off x="4181038" y="2792279"/>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8" name="直接连接符 139"/>
            <p:cNvCxnSpPr>
              <a:cxnSpLocks noChangeShapeType="1"/>
            </p:cNvCxnSpPr>
            <p:nvPr/>
          </p:nvCxnSpPr>
          <p:spPr bwMode="auto">
            <a:xfrm>
              <a:off x="4237392" y="2788719"/>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9" name="直接连接符 141"/>
            <p:cNvCxnSpPr>
              <a:cxnSpLocks noChangeShapeType="1"/>
            </p:cNvCxnSpPr>
            <p:nvPr/>
          </p:nvCxnSpPr>
          <p:spPr bwMode="auto">
            <a:xfrm>
              <a:off x="3955626" y="2790309"/>
              <a:ext cx="0" cy="16256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箭头连接符 53"/>
            <p:cNvCxnSpPr>
              <a:cxnSpLocks noChangeShapeType="1"/>
            </p:cNvCxnSpPr>
            <p:nvPr/>
          </p:nvCxnSpPr>
          <p:spPr bwMode="auto">
            <a:xfrm flipV="1">
              <a:off x="1856115" y="2740069"/>
              <a:ext cx="0" cy="213588"/>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61" name="Text Box 24"/>
            <p:cNvSpPr txBox="1">
              <a:spLocks noChangeArrowheads="1"/>
            </p:cNvSpPr>
            <p:nvPr/>
          </p:nvSpPr>
          <p:spPr bwMode="auto">
            <a:xfrm>
              <a:off x="1388769" y="2702098"/>
              <a:ext cx="3193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62" name="Text Box 109"/>
            <p:cNvSpPr txBox="1">
              <a:spLocks noChangeArrowheads="1"/>
            </p:cNvSpPr>
            <p:nvPr/>
          </p:nvSpPr>
          <p:spPr bwMode="auto">
            <a:xfrm>
              <a:off x="2442061" y="2703985"/>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63" name="Line 110"/>
            <p:cNvSpPr>
              <a:spLocks noChangeShapeType="1"/>
            </p:cNvSpPr>
            <p:nvPr/>
          </p:nvSpPr>
          <p:spPr bwMode="auto">
            <a:xfrm>
              <a:off x="3381982" y="2723457"/>
              <a:ext cx="403140" cy="118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Text Box 24"/>
            <p:cNvSpPr txBox="1">
              <a:spLocks noChangeArrowheads="1"/>
            </p:cNvSpPr>
            <p:nvPr/>
          </p:nvSpPr>
          <p:spPr bwMode="auto">
            <a:xfrm>
              <a:off x="3309979" y="248327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5" name="Text Box 24"/>
            <p:cNvSpPr txBox="1">
              <a:spLocks noChangeArrowheads="1"/>
            </p:cNvSpPr>
            <p:nvPr/>
          </p:nvSpPr>
          <p:spPr bwMode="auto">
            <a:xfrm>
              <a:off x="3792103" y="2563966"/>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68" name="Line 106"/>
            <p:cNvSpPr>
              <a:spLocks noChangeShapeType="1"/>
            </p:cNvSpPr>
            <p:nvPr/>
          </p:nvSpPr>
          <p:spPr bwMode="auto">
            <a:xfrm flipH="1">
              <a:off x="3775008" y="2705657"/>
              <a:ext cx="0" cy="2480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71" name="直接连接符 41"/>
            <p:cNvCxnSpPr>
              <a:cxnSpLocks noChangeShapeType="1"/>
            </p:cNvCxnSpPr>
            <p:nvPr/>
          </p:nvCxnSpPr>
          <p:spPr bwMode="auto">
            <a:xfrm>
              <a:off x="3775008" y="2972642"/>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72" name="Text Box 24"/>
            <p:cNvSpPr txBox="1">
              <a:spLocks noChangeArrowheads="1"/>
            </p:cNvSpPr>
            <p:nvPr/>
          </p:nvSpPr>
          <p:spPr bwMode="auto">
            <a:xfrm>
              <a:off x="3313593" y="3124903"/>
              <a:ext cx="985931"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5" name="Line 2"/>
            <p:cNvSpPr>
              <a:spLocks noChangeShapeType="1"/>
            </p:cNvSpPr>
            <p:nvPr/>
          </p:nvSpPr>
          <p:spPr bwMode="auto">
            <a:xfrm flipV="1">
              <a:off x="1659602" y="2954843"/>
              <a:ext cx="5342089"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Text Box 24"/>
            <p:cNvSpPr txBox="1">
              <a:spLocks noChangeArrowheads="1"/>
            </p:cNvSpPr>
            <p:nvPr/>
          </p:nvSpPr>
          <p:spPr bwMode="auto">
            <a:xfrm>
              <a:off x="1100250" y="2958403"/>
              <a:ext cx="894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88" name="直接连接符 41"/>
            <p:cNvCxnSpPr>
              <a:cxnSpLocks noChangeShapeType="1"/>
            </p:cNvCxnSpPr>
            <p:nvPr/>
          </p:nvCxnSpPr>
          <p:spPr bwMode="auto">
            <a:xfrm>
              <a:off x="2254921" y="2954843"/>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89" name="Text Box 24"/>
            <p:cNvSpPr txBox="1">
              <a:spLocks noChangeArrowheads="1"/>
            </p:cNvSpPr>
            <p:nvPr/>
          </p:nvSpPr>
          <p:spPr bwMode="auto">
            <a:xfrm>
              <a:off x="1853225" y="3118593"/>
              <a:ext cx="786052"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134" name="Freeform 13"/>
            <p:cNvSpPr>
              <a:spLocks/>
            </p:cNvSpPr>
            <p:nvPr/>
          </p:nvSpPr>
          <p:spPr bwMode="auto">
            <a:xfrm>
              <a:off x="4303622" y="2731776"/>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accent6">
                <a:lumMod val="60000"/>
                <a:lumOff val="40000"/>
              </a:schemeClr>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Text Box 109"/>
            <p:cNvSpPr txBox="1">
              <a:spLocks noChangeArrowheads="1"/>
            </p:cNvSpPr>
            <p:nvPr/>
          </p:nvSpPr>
          <p:spPr bwMode="auto">
            <a:xfrm>
              <a:off x="4354934" y="2709932"/>
              <a:ext cx="14157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p>
          </p:txBody>
        </p:sp>
      </p:grpSp>
    </p:spTree>
    <p:extLst>
      <p:ext uri="{BB962C8B-B14F-4D97-AF65-F5344CB8AC3E}">
        <p14:creationId xmlns:p14="http://schemas.microsoft.com/office/powerpoint/2010/main" val="388454910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212475"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1071466" y="2942525"/>
            <a:ext cx="13402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p>
        </p:txBody>
      </p:sp>
      <p:sp>
        <p:nvSpPr>
          <p:cNvPr id="123" name="Text Box 94"/>
          <p:cNvSpPr txBox="1">
            <a:spLocks noChangeArrowheads="1"/>
          </p:cNvSpPr>
          <p:nvPr/>
        </p:nvSpPr>
        <p:spPr bwMode="auto">
          <a:xfrm>
            <a:off x="1734220" y="3206562"/>
            <a:ext cx="13404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10364" y="3425200"/>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DATA </a:t>
            </a:r>
            <a:r>
              <a:rPr lang="zh-CN" altLang="en-US" sz="1200" b="1">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矩形 8"/>
          <p:cNvSpPr/>
          <p:nvPr/>
        </p:nvSpPr>
        <p:spPr>
          <a:xfrm>
            <a:off x="1314994" y="4202648"/>
            <a:ext cx="6845503" cy="656590"/>
          </a:xfrm>
          <a:prstGeom prst="rect">
            <a:avLst/>
          </a:prstGeom>
        </p:spPr>
        <p:txBody>
          <a:bodyPr wrap="square">
            <a:spAutoFit/>
          </a:bodyPr>
          <a:lstStyle/>
          <a:p>
            <a:pPr>
              <a:lnSpc>
                <a:spcPts val="2200"/>
              </a:lnSpc>
            </a:pPr>
            <a:r>
              <a:rPr lang="zh-CN" altLang="en-US" sz="1600" b="1" dirty="0">
                <a:solidFill>
                  <a:srgbClr val="C00000"/>
                </a:solidFill>
                <a:latin typeface="微软雅黑" pitchFamily="34" charset="-122"/>
                <a:ea typeface="微软雅黑" pitchFamily="34" charset="-122"/>
              </a:rPr>
              <a:t>隐蔽站问题：</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站或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站向接入点 </a:t>
            </a:r>
            <a:r>
              <a:rPr lang="en-US" altLang="zh-CN" sz="1600" b="1" dirty="0">
                <a:latin typeface="微软雅黑" pitchFamily="34" charset="-122"/>
                <a:ea typeface="微软雅黑" pitchFamily="34" charset="-122"/>
              </a:rPr>
              <a:t>AP </a:t>
            </a:r>
            <a:r>
              <a:rPr lang="zh-CN" altLang="en-US" sz="1600" b="1" dirty="0">
                <a:latin typeface="微软雅黑" pitchFamily="34" charset="-122"/>
                <a:ea typeface="微软雅黑" pitchFamily="34" charset="-122"/>
              </a:rPr>
              <a:t>发送数据时， </a:t>
            </a:r>
            <a:r>
              <a:rPr lang="en-US" altLang="zh-CN" sz="1600" b="1" dirty="0">
                <a:latin typeface="微软雅黑" pitchFamily="34" charset="-122"/>
                <a:ea typeface="微软雅黑" pitchFamily="34" charset="-122"/>
              </a:rPr>
              <a:t>C </a:t>
            </a:r>
            <a:r>
              <a:rPr lang="zh-CN" altLang="en-US" sz="1600" b="1" dirty="0">
                <a:latin typeface="微软雅黑" pitchFamily="34" charset="-122"/>
                <a:ea typeface="微软雅黑" pitchFamily="34" charset="-122"/>
              </a:rPr>
              <a:t>站接收不到这些信号。</a:t>
            </a:r>
            <a:r>
              <a:rPr lang="en-US" altLang="zh-CN" sz="1600" b="1" dirty="0">
                <a:latin typeface="微软雅黑" pitchFamily="34" charset="-122"/>
                <a:ea typeface="微软雅黑" pitchFamily="34" charset="-122"/>
              </a:rPr>
              <a:t>C </a:t>
            </a:r>
            <a:r>
              <a:rPr lang="zh-CN" altLang="en-US" sz="1600" b="1" dirty="0">
                <a:latin typeface="微软雅黑" pitchFamily="34" charset="-122"/>
                <a:ea typeface="微软雅黑" pitchFamily="34" charset="-122"/>
              </a:rPr>
              <a:t>站向 </a:t>
            </a:r>
            <a:r>
              <a:rPr lang="en-US" altLang="zh-CN" sz="1600" b="1" dirty="0">
                <a:latin typeface="微软雅黑" pitchFamily="34" charset="-122"/>
                <a:ea typeface="微软雅黑" pitchFamily="34" charset="-122"/>
              </a:rPr>
              <a:t>AP </a:t>
            </a:r>
            <a:r>
              <a:rPr lang="zh-CN" altLang="en-US" sz="1600" b="1" dirty="0">
                <a:latin typeface="微软雅黑" pitchFamily="34" charset="-122"/>
                <a:ea typeface="微软雅黑" pitchFamily="34" charset="-122"/>
              </a:rPr>
              <a:t>发送的信号也传播不到远处的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站或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a:t>
            </a:r>
          </a:p>
        </p:txBody>
      </p:sp>
    </p:spTree>
    <p:extLst>
      <p:ext uri="{BB962C8B-B14F-4D97-AF65-F5344CB8AC3E}">
        <p14:creationId xmlns:p14="http://schemas.microsoft.com/office/powerpoint/2010/main" val="34587640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Tree>
    <p:extLst>
      <p:ext uri="{BB962C8B-B14F-4D97-AF65-F5344CB8AC3E}">
        <p14:creationId xmlns:p14="http://schemas.microsoft.com/office/powerpoint/2010/main" val="18474708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8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20"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2" name="矩形 1"/>
          <p:cNvSpPr/>
          <p:nvPr/>
        </p:nvSpPr>
        <p:spPr>
          <a:xfrm>
            <a:off x="1288869" y="4217595"/>
            <a:ext cx="6819346"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以上措施使得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站和接入点 </a:t>
            </a:r>
            <a:r>
              <a:rPr lang="en-US" altLang="zh-CN" sz="1600" b="1" dirty="0">
                <a:latin typeface="微软雅黑" pitchFamily="34" charset="-122"/>
                <a:ea typeface="微软雅黑" pitchFamily="34" charset="-122"/>
              </a:rPr>
              <a:t>AP</a:t>
            </a:r>
            <a:r>
              <a:rPr lang="zh-CN" altLang="en-US" sz="1600" b="1" dirty="0">
                <a:latin typeface="微软雅黑" pitchFamily="34" charset="-122"/>
                <a:ea typeface="微软雅黑" pitchFamily="34" charset="-122"/>
              </a:rPr>
              <a:t>（以及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站和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站）的通信过程中，发生碰撞的概率大大降低，特别是减少了隐蔽站的干扰问题。</a:t>
            </a:r>
          </a:p>
        </p:txBody>
      </p:sp>
    </p:spTree>
    <p:extLst>
      <p:ext uri="{BB962C8B-B14F-4D97-AF65-F5344CB8AC3E}">
        <p14:creationId xmlns:p14="http://schemas.microsoft.com/office/powerpoint/2010/main" val="36360131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9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195" grpId="0"/>
      <p:bldP spid="2"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85110"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帧会使整个网络的通信效率有所下降，多浪费信道的时间 </a:t>
            </a:r>
            <a:r>
              <a:rPr lang="en-US" altLang="zh-CN" sz="2000" b="1" dirty="0">
                <a:solidFill>
                  <a:srgbClr val="C00000"/>
                </a:solidFill>
                <a:latin typeface="微软雅黑" pitchFamily="34" charset="-122"/>
                <a:ea typeface="微软雅黑" pitchFamily="34" charset="-122"/>
              </a:rPr>
              <a:t>[RTS + SIFS + CTS + SIFS]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但与数据帧相比，开销不算大。这两种控制帧都很短，其长度分别为 </a:t>
            </a:r>
            <a:r>
              <a:rPr lang="en-US" altLang="zh-CN" sz="2000" b="1" dirty="0">
                <a:latin typeface="微软雅黑" pitchFamily="34" charset="-122"/>
                <a:ea typeface="微软雅黑" pitchFamily="34" charset="-122"/>
              </a:rPr>
              <a:t>20 </a:t>
            </a:r>
            <a:r>
              <a:rPr lang="zh-CN" altLang="en-US" sz="2000" b="1" dirty="0">
                <a:latin typeface="微软雅黑" pitchFamily="34" charset="-122"/>
                <a:ea typeface="微软雅黑" pitchFamily="34" charset="-122"/>
              </a:rPr>
              <a:t>字节和 </a:t>
            </a:r>
            <a:r>
              <a:rPr lang="en-US" altLang="zh-CN" sz="2000" b="1" dirty="0">
                <a:latin typeface="微软雅黑" pitchFamily="34" charset="-122"/>
                <a:ea typeface="微软雅黑" pitchFamily="34" charset="-122"/>
              </a:rPr>
              <a:t>14 </a:t>
            </a:r>
            <a:r>
              <a:rPr lang="zh-CN" altLang="en-US" sz="2000" b="1" dirty="0">
                <a:latin typeface="微软雅黑" pitchFamily="34" charset="-122"/>
                <a:ea typeface="微软雅黑" pitchFamily="34" charset="-122"/>
              </a:rPr>
              <a:t>字节。而数据帧最长可达 </a:t>
            </a:r>
            <a:r>
              <a:rPr lang="en-US" altLang="zh-CN" sz="2000" b="1" dirty="0">
                <a:latin typeface="微软雅黑" pitchFamily="34" charset="-122"/>
                <a:ea typeface="微软雅黑" pitchFamily="34" charset="-122"/>
              </a:rPr>
              <a:t>2346 </a:t>
            </a:r>
            <a:r>
              <a:rPr lang="zh-CN" altLang="en-US" sz="2000" b="1" dirty="0">
                <a:latin typeface="微软雅黑" pitchFamily="34" charset="-122"/>
                <a:ea typeface="微软雅黑" pitchFamily="34" charset="-122"/>
              </a:rPr>
              <a:t>字节。</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若不使用这种控制帧，一旦发生碰撞而导致数据帧重发，浪费的时间就更多。</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信道预约</a:t>
            </a:r>
          </a:p>
        </p:txBody>
      </p:sp>
    </p:spTree>
    <p:extLst>
      <p:ext uri="{BB962C8B-B14F-4D97-AF65-F5344CB8AC3E}">
        <p14:creationId xmlns:p14="http://schemas.microsoft.com/office/powerpoint/2010/main" val="1077899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15514"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即使使用了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对信道进行预约，但碰撞也有可能发生。</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例如：有的站可能在时间 </a:t>
            </a:r>
            <a:r>
              <a:rPr lang="en-US" altLang="zh-CN" sz="2000" b="1" dirty="0">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1</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2</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就发送了数据（这些站可能是没有收到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NAV</a:t>
            </a:r>
            <a:r>
              <a:rPr lang="zh-CN" altLang="en-US" sz="2000" b="1" dirty="0">
                <a:latin typeface="微软雅黑" pitchFamily="34" charset="-122"/>
                <a:ea typeface="微软雅黑" pitchFamily="34" charset="-122"/>
              </a:rPr>
              <a:t>），结果必定与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帧发生碰撞。</a:t>
            </a: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站若收不到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帧，就不能发送数据帧，而必须重传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solidFill>
                  <a:srgbClr val="0000CC"/>
                </a:solidFill>
                <a:latin typeface="微软雅黑" pitchFamily="34" charset="-122"/>
                <a:ea typeface="微软雅黑" pitchFamily="34" charset="-122"/>
              </a:rPr>
              <a:t>A </a:t>
            </a:r>
            <a:r>
              <a:rPr lang="zh-CN" altLang="en-US" sz="2000" b="1" dirty="0">
                <a:solidFill>
                  <a:srgbClr val="0000CC"/>
                </a:solidFill>
                <a:latin typeface="微软雅黑" pitchFamily="34" charset="-122"/>
                <a:ea typeface="微软雅黑" pitchFamily="34" charset="-122"/>
              </a:rPr>
              <a:t>站只有正确收到 </a:t>
            </a:r>
            <a:r>
              <a:rPr lang="en-US" altLang="zh-CN" sz="2000" b="1" dirty="0">
                <a:solidFill>
                  <a:srgbClr val="0000CC"/>
                </a:solidFill>
                <a:latin typeface="微软雅黑" pitchFamily="34" charset="-122"/>
                <a:ea typeface="微软雅黑" pitchFamily="34" charset="-122"/>
              </a:rPr>
              <a:t>CTS </a:t>
            </a:r>
            <a:r>
              <a:rPr lang="zh-CN" altLang="en-US" sz="2000" b="1" dirty="0">
                <a:solidFill>
                  <a:srgbClr val="0000CC"/>
                </a:solidFill>
                <a:latin typeface="微软雅黑" pitchFamily="34" charset="-122"/>
                <a:ea typeface="微软雅黑" pitchFamily="34" charset="-122"/>
              </a:rPr>
              <a:t>帧后才能发送数据帧。</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32624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C00000"/>
                </a:solidFill>
                <a:latin typeface="微软雅黑" pitchFamily="34" charset="-122"/>
                <a:ea typeface="微软雅黑" pitchFamily="34" charset="-122"/>
              </a:rPr>
              <a:t>信道预约不能完全避免碰撞</a:t>
            </a:r>
          </a:p>
        </p:txBody>
      </p:sp>
    </p:spTree>
    <p:extLst>
      <p:ext uri="{BB962C8B-B14F-4D97-AF65-F5344CB8AC3E}">
        <p14:creationId xmlns:p14="http://schemas.microsoft.com/office/powerpoint/2010/main" val="22399468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17853" y="928130"/>
            <a:ext cx="8133857"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信道预约</a:t>
            </a:r>
            <a:r>
              <a:rPr lang="zh-CN" altLang="en-US" sz="2000" b="1" dirty="0">
                <a:solidFill>
                  <a:srgbClr val="C00000"/>
                </a:solidFill>
                <a:latin typeface="微软雅黑" pitchFamily="34" charset="-122"/>
                <a:ea typeface="微软雅黑" pitchFamily="34" charset="-122"/>
              </a:rPr>
              <a:t>不是强制性</a:t>
            </a:r>
            <a:r>
              <a:rPr lang="zh-CN" altLang="en-US" sz="2000" b="1" dirty="0">
                <a:latin typeface="微软雅黑" pitchFamily="34" charset="-122"/>
                <a:ea typeface="微软雅黑" pitchFamily="34" charset="-122"/>
              </a:rPr>
              <a:t>规定。各站可以自己决定使用或不使用信道预约。</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只有当数据帧的长度</a:t>
            </a:r>
            <a:r>
              <a:rPr lang="zh-CN" altLang="en-US" sz="2000" b="1" dirty="0">
                <a:solidFill>
                  <a:srgbClr val="C00000"/>
                </a:solidFill>
                <a:latin typeface="微软雅黑" pitchFamily="34" charset="-122"/>
                <a:ea typeface="微软雅黑" pitchFamily="34" charset="-122"/>
              </a:rPr>
              <a:t>超过</a:t>
            </a:r>
            <a:r>
              <a:rPr lang="zh-CN" altLang="en-US" sz="2000" b="1" dirty="0">
                <a:latin typeface="微软雅黑" pitchFamily="34" charset="-122"/>
                <a:ea typeface="微软雅黑" pitchFamily="34" charset="-122"/>
              </a:rPr>
              <a:t>某一数值时，使用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帧才比较合适。</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因为无线信道的误码率比有线信道的高得多，所以，无线局域网的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帧长一般应当短些，以便在出错重传时减小开销。</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25555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信道预约不是强制的</a:t>
            </a:r>
          </a:p>
        </p:txBody>
      </p:sp>
    </p:spTree>
    <p:extLst>
      <p:ext uri="{BB962C8B-B14F-4D97-AF65-F5344CB8AC3E}">
        <p14:creationId xmlns:p14="http://schemas.microsoft.com/office/powerpoint/2010/main" val="7354606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4073072" y="1503075"/>
            <a:ext cx="1338828" cy="369332"/>
          </a:xfrm>
          <a:prstGeom prst="rect">
            <a:avLst/>
          </a:prstGeom>
        </p:spPr>
        <p:txBody>
          <a:bodyPr wrap="none">
            <a:spAutoFit/>
          </a:bodyPr>
          <a:lstStyle/>
          <a:p>
            <a:r>
              <a:rPr lang="zh-CN" altLang="en-US" b="1" dirty="0">
                <a:solidFill>
                  <a:srgbClr val="C00000"/>
                </a:solidFill>
                <a:latin typeface="微软雅黑" pitchFamily="34" charset="-122"/>
                <a:ea typeface="微软雅黑" pitchFamily="34" charset="-122"/>
              </a:rPr>
              <a:t>数据帧格式</a:t>
            </a:r>
          </a:p>
        </p:txBody>
      </p:sp>
      <p:sp>
        <p:nvSpPr>
          <p:cNvPr id="8" name="Freeform 4"/>
          <p:cNvSpPr>
            <a:spLocks/>
          </p:cNvSpPr>
          <p:nvPr/>
        </p:nvSpPr>
        <p:spPr bwMode="auto">
          <a:xfrm>
            <a:off x="897989" y="2931202"/>
            <a:ext cx="7012438" cy="462541"/>
          </a:xfrm>
          <a:custGeom>
            <a:avLst/>
            <a:gdLst>
              <a:gd name="T0" fmla="*/ 0 w 5080"/>
              <a:gd name="T1" fmla="*/ 363 h 363"/>
              <a:gd name="T2" fmla="*/ 181 w 5080"/>
              <a:gd name="T3" fmla="*/ 0 h 363"/>
              <a:gd name="T4" fmla="*/ 725 w 5080"/>
              <a:gd name="T5" fmla="*/ 0 h 363"/>
              <a:gd name="T6" fmla="*/ 5080 w 5080"/>
              <a:gd name="T7" fmla="*/ 363 h 363"/>
              <a:gd name="T8" fmla="*/ 0 w 5080"/>
              <a:gd name="T9" fmla="*/ 363 h 363"/>
            </a:gdLst>
            <a:ahLst/>
            <a:cxnLst>
              <a:cxn ang="0">
                <a:pos x="T0" y="T1"/>
              </a:cxn>
              <a:cxn ang="0">
                <a:pos x="T2" y="T3"/>
              </a:cxn>
              <a:cxn ang="0">
                <a:pos x="T4" y="T5"/>
              </a:cxn>
              <a:cxn ang="0">
                <a:pos x="T6" y="T7"/>
              </a:cxn>
              <a:cxn ang="0">
                <a:pos x="T8" y="T9"/>
              </a:cxn>
            </a:cxnLst>
            <a:rect l="0" t="0" r="r" b="b"/>
            <a:pathLst>
              <a:path w="5080" h="363">
                <a:moveTo>
                  <a:pt x="0" y="363"/>
                </a:moveTo>
                <a:lnTo>
                  <a:pt x="181" y="0"/>
                </a:lnTo>
                <a:lnTo>
                  <a:pt x="725" y="0"/>
                </a:lnTo>
                <a:lnTo>
                  <a:pt x="5080" y="363"/>
                </a:lnTo>
                <a:lnTo>
                  <a:pt x="0" y="363"/>
                </a:lnTo>
                <a:close/>
              </a:path>
            </a:pathLst>
          </a:custGeom>
          <a:gradFill rotWithShape="1">
            <a:gsLst>
              <a:gs pos="0">
                <a:srgbClr val="0066FF"/>
              </a:gs>
              <a:gs pos="100000">
                <a:srgbClr val="66FFFF"/>
              </a:gs>
            </a:gsLst>
            <a:lin ang="5400000" scaled="1"/>
          </a:gradFill>
          <a:ln>
            <a:noFill/>
          </a:ln>
          <a:effec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737862" y="2369391"/>
            <a:ext cx="74174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字节        </a:t>
            </a:r>
            <a:r>
              <a:rPr lang="en-US" altLang="zh-CN" sz="1200" b="1" dirty="0">
                <a:latin typeface="微软雅黑" panose="020B0503020204020204" pitchFamily="34" charset="-122"/>
                <a:ea typeface="微软雅黑" panose="020B0503020204020204" pitchFamily="34" charset="-122"/>
              </a:rPr>
              <a:t>2              2              6              6              6               2             6             0 ~ 2312             4</a:t>
            </a:r>
          </a:p>
        </p:txBody>
      </p:sp>
      <p:sp>
        <p:nvSpPr>
          <p:cNvPr id="10" name="Rectangle 6"/>
          <p:cNvSpPr>
            <a:spLocks noChangeArrowheads="1"/>
          </p:cNvSpPr>
          <p:nvPr/>
        </p:nvSpPr>
        <p:spPr bwMode="auto">
          <a:xfrm>
            <a:off x="1149222" y="2648444"/>
            <a:ext cx="745417" cy="275231"/>
          </a:xfrm>
          <a:prstGeom prst="rect">
            <a:avLst/>
          </a:prstGeom>
          <a:solidFill>
            <a:srgbClr val="0070C0"/>
          </a:solidFill>
          <a:ln w="9525">
            <a:solidFill>
              <a:schemeClr val="tx2"/>
            </a:solidFill>
            <a:miter lim="800000"/>
            <a:headEnd/>
            <a:tailEnd/>
          </a:ln>
          <a:effec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 name="Rectangle 8"/>
          <p:cNvSpPr>
            <a:spLocks noChangeArrowheads="1"/>
          </p:cNvSpPr>
          <p:nvPr/>
        </p:nvSpPr>
        <p:spPr bwMode="auto">
          <a:xfrm>
            <a:off x="1898780"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dirty="0">
                <a:latin typeface="微软雅黑" panose="020B0503020204020204" pitchFamily="34" charset="-122"/>
                <a:ea typeface="微软雅黑" panose="020B0503020204020204" pitchFamily="34" charset="-122"/>
              </a:rPr>
              <a:t>持续期</a:t>
            </a:r>
          </a:p>
        </p:txBody>
      </p:sp>
      <p:sp>
        <p:nvSpPr>
          <p:cNvPr id="13" name="Rectangle 9"/>
          <p:cNvSpPr>
            <a:spLocks noChangeArrowheads="1"/>
          </p:cNvSpPr>
          <p:nvPr/>
        </p:nvSpPr>
        <p:spPr bwMode="auto">
          <a:xfrm>
            <a:off x="2651098"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1</a:t>
            </a:r>
          </a:p>
        </p:txBody>
      </p:sp>
      <p:sp>
        <p:nvSpPr>
          <p:cNvPr id="14" name="Rectangle 10"/>
          <p:cNvSpPr>
            <a:spLocks noChangeArrowheads="1"/>
          </p:cNvSpPr>
          <p:nvPr/>
        </p:nvSpPr>
        <p:spPr bwMode="auto">
          <a:xfrm>
            <a:off x="3403418"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2</a:t>
            </a:r>
          </a:p>
        </p:txBody>
      </p:sp>
      <p:sp>
        <p:nvSpPr>
          <p:cNvPr id="15" name="Rectangle 11"/>
          <p:cNvSpPr>
            <a:spLocks noChangeArrowheads="1"/>
          </p:cNvSpPr>
          <p:nvPr/>
        </p:nvSpPr>
        <p:spPr bwMode="auto">
          <a:xfrm>
            <a:off x="4155735"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3</a:t>
            </a:r>
          </a:p>
        </p:txBody>
      </p:sp>
      <p:sp>
        <p:nvSpPr>
          <p:cNvPr id="16" name="Rectangle 12"/>
          <p:cNvSpPr>
            <a:spLocks noChangeArrowheads="1"/>
          </p:cNvSpPr>
          <p:nvPr/>
        </p:nvSpPr>
        <p:spPr bwMode="auto">
          <a:xfrm>
            <a:off x="4908055"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序号控制</a:t>
            </a:r>
          </a:p>
        </p:txBody>
      </p:sp>
      <p:sp>
        <p:nvSpPr>
          <p:cNvPr id="17" name="Rectangle 13"/>
          <p:cNvSpPr>
            <a:spLocks noChangeArrowheads="1"/>
          </p:cNvSpPr>
          <p:nvPr/>
        </p:nvSpPr>
        <p:spPr bwMode="auto">
          <a:xfrm>
            <a:off x="5660372"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4</a:t>
            </a:r>
          </a:p>
        </p:txBody>
      </p:sp>
      <p:sp>
        <p:nvSpPr>
          <p:cNvPr id="18" name="Rectangle 14"/>
          <p:cNvSpPr>
            <a:spLocks noChangeArrowheads="1"/>
          </p:cNvSpPr>
          <p:nvPr/>
        </p:nvSpPr>
        <p:spPr bwMode="auto">
          <a:xfrm>
            <a:off x="6412692" y="2640799"/>
            <a:ext cx="1184384" cy="289247"/>
          </a:xfrm>
          <a:prstGeom prst="rect">
            <a:avLst/>
          </a:prstGeom>
          <a:solidFill>
            <a:srgbClr val="66FFFF"/>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帧主体</a:t>
            </a:r>
          </a:p>
        </p:txBody>
      </p:sp>
      <p:sp>
        <p:nvSpPr>
          <p:cNvPr id="19" name="Rectangle 15"/>
          <p:cNvSpPr>
            <a:spLocks noChangeArrowheads="1"/>
          </p:cNvSpPr>
          <p:nvPr/>
        </p:nvSpPr>
        <p:spPr bwMode="auto">
          <a:xfrm>
            <a:off x="7595695" y="2640799"/>
            <a:ext cx="752319" cy="289247"/>
          </a:xfrm>
          <a:prstGeom prst="rect">
            <a:avLst/>
          </a:prstGeom>
          <a:solidFill>
            <a:schemeClr val="accent6">
              <a:lumMod val="40000"/>
              <a:lumOff val="60000"/>
            </a:schemeClr>
          </a:solidFill>
          <a:ln w="9525">
            <a:solidFill>
              <a:schemeClr val="tx2"/>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FCS</a:t>
            </a:r>
          </a:p>
        </p:txBody>
      </p:sp>
      <p:sp>
        <p:nvSpPr>
          <p:cNvPr id="20" name="Rectangle 16"/>
          <p:cNvSpPr>
            <a:spLocks noChangeArrowheads="1"/>
          </p:cNvSpPr>
          <p:nvPr/>
        </p:nvSpPr>
        <p:spPr bwMode="auto">
          <a:xfrm>
            <a:off x="896609" y="3392587"/>
            <a:ext cx="752318"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协议</a:t>
            </a:r>
          </a:p>
          <a:p>
            <a:pPr algn="ctr"/>
            <a:r>
              <a:rPr lang="zh-CN" altLang="en-US" sz="1200" b="1">
                <a:solidFill>
                  <a:schemeClr val="bg1"/>
                </a:solidFill>
                <a:latin typeface="微软雅黑" panose="020B0503020204020204" pitchFamily="34" charset="-122"/>
                <a:ea typeface="微软雅黑" panose="020B0503020204020204" pitchFamily="34" charset="-122"/>
              </a:rPr>
              <a:t>版本</a:t>
            </a:r>
          </a:p>
        </p:txBody>
      </p:sp>
      <p:sp>
        <p:nvSpPr>
          <p:cNvPr id="21" name="Rectangle 17"/>
          <p:cNvSpPr>
            <a:spLocks noChangeArrowheads="1"/>
          </p:cNvSpPr>
          <p:nvPr/>
        </p:nvSpPr>
        <p:spPr bwMode="auto">
          <a:xfrm>
            <a:off x="1648926" y="3392587"/>
            <a:ext cx="752319"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类型</a:t>
            </a:r>
          </a:p>
        </p:txBody>
      </p:sp>
      <p:sp>
        <p:nvSpPr>
          <p:cNvPr id="22" name="Rectangle 18"/>
          <p:cNvSpPr>
            <a:spLocks noChangeArrowheads="1"/>
          </p:cNvSpPr>
          <p:nvPr/>
        </p:nvSpPr>
        <p:spPr bwMode="auto">
          <a:xfrm>
            <a:off x="2401246" y="3392587"/>
            <a:ext cx="150187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子类型</a:t>
            </a:r>
          </a:p>
        </p:txBody>
      </p:sp>
      <p:sp>
        <p:nvSpPr>
          <p:cNvPr id="23" name="Rectangle 19"/>
          <p:cNvSpPr>
            <a:spLocks noChangeArrowheads="1"/>
          </p:cNvSpPr>
          <p:nvPr/>
        </p:nvSpPr>
        <p:spPr bwMode="auto">
          <a:xfrm>
            <a:off x="3900362"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去往</a:t>
            </a:r>
          </a:p>
          <a:p>
            <a:pPr algn="ctr"/>
            <a:r>
              <a:rPr lang="en-US" altLang="zh-CN" sz="1200" b="1">
                <a:solidFill>
                  <a:schemeClr val="bg1"/>
                </a:solidFill>
                <a:latin typeface="微软雅黑" panose="020B0503020204020204" pitchFamily="34" charset="-122"/>
                <a:ea typeface="微软雅黑" panose="020B0503020204020204" pitchFamily="34" charset="-122"/>
              </a:rPr>
              <a:t>AP</a:t>
            </a:r>
          </a:p>
        </p:txBody>
      </p:sp>
      <p:sp>
        <p:nvSpPr>
          <p:cNvPr id="24" name="Rectangle 20"/>
          <p:cNvSpPr>
            <a:spLocks noChangeArrowheads="1"/>
          </p:cNvSpPr>
          <p:nvPr/>
        </p:nvSpPr>
        <p:spPr bwMode="auto">
          <a:xfrm>
            <a:off x="4404207"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来自</a:t>
            </a:r>
          </a:p>
          <a:p>
            <a:pPr algn="ctr"/>
            <a:r>
              <a:rPr lang="en-US" altLang="zh-CN" sz="1200" b="1">
                <a:solidFill>
                  <a:schemeClr val="bg1"/>
                </a:solidFill>
                <a:latin typeface="微软雅黑" panose="020B0503020204020204" pitchFamily="34" charset="-122"/>
                <a:ea typeface="微软雅黑" panose="020B0503020204020204" pitchFamily="34" charset="-122"/>
              </a:rPr>
              <a:t>AP</a:t>
            </a:r>
          </a:p>
        </p:txBody>
      </p:sp>
      <p:sp>
        <p:nvSpPr>
          <p:cNvPr id="25" name="Rectangle 21"/>
          <p:cNvSpPr>
            <a:spLocks noChangeArrowheads="1"/>
          </p:cNvSpPr>
          <p:nvPr/>
        </p:nvSpPr>
        <p:spPr bwMode="auto">
          <a:xfrm>
            <a:off x="4908055"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分片</a:t>
            </a:r>
          </a:p>
        </p:txBody>
      </p:sp>
      <p:sp>
        <p:nvSpPr>
          <p:cNvPr id="26" name="Rectangle 22"/>
          <p:cNvSpPr>
            <a:spLocks noChangeArrowheads="1"/>
          </p:cNvSpPr>
          <p:nvPr/>
        </p:nvSpPr>
        <p:spPr bwMode="auto">
          <a:xfrm>
            <a:off x="5411900"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重试</a:t>
            </a:r>
          </a:p>
        </p:txBody>
      </p:sp>
      <p:sp>
        <p:nvSpPr>
          <p:cNvPr id="27" name="Rectangle 23"/>
          <p:cNvSpPr>
            <a:spLocks noChangeArrowheads="1"/>
          </p:cNvSpPr>
          <p:nvPr/>
        </p:nvSpPr>
        <p:spPr bwMode="auto">
          <a:xfrm>
            <a:off x="5915748"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功率</a:t>
            </a:r>
          </a:p>
          <a:p>
            <a:pPr algn="ctr"/>
            <a:r>
              <a:rPr lang="zh-CN" altLang="en-US" sz="1200" b="1">
                <a:solidFill>
                  <a:schemeClr val="bg1"/>
                </a:solidFill>
                <a:latin typeface="微软雅黑" panose="020B0503020204020204" pitchFamily="34" charset="-122"/>
                <a:ea typeface="微软雅黑" panose="020B0503020204020204" pitchFamily="34" charset="-122"/>
              </a:rPr>
              <a:t>管理</a:t>
            </a:r>
          </a:p>
        </p:txBody>
      </p:sp>
      <p:sp>
        <p:nvSpPr>
          <p:cNvPr id="28" name="Rectangle 24"/>
          <p:cNvSpPr>
            <a:spLocks noChangeArrowheads="1"/>
          </p:cNvSpPr>
          <p:nvPr/>
        </p:nvSpPr>
        <p:spPr bwMode="auto">
          <a:xfrm>
            <a:off x="6419593"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数据</a:t>
            </a:r>
          </a:p>
        </p:txBody>
      </p:sp>
      <p:sp>
        <p:nvSpPr>
          <p:cNvPr id="29" name="Rectangle 25"/>
          <p:cNvSpPr>
            <a:spLocks noChangeArrowheads="1"/>
          </p:cNvSpPr>
          <p:nvPr/>
        </p:nvSpPr>
        <p:spPr bwMode="auto">
          <a:xfrm>
            <a:off x="6923441"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WEP</a:t>
            </a:r>
          </a:p>
        </p:txBody>
      </p:sp>
      <p:sp>
        <p:nvSpPr>
          <p:cNvPr id="30" name="Rectangle 26"/>
          <p:cNvSpPr>
            <a:spLocks noChangeArrowheads="1"/>
          </p:cNvSpPr>
          <p:nvPr/>
        </p:nvSpPr>
        <p:spPr bwMode="auto">
          <a:xfrm>
            <a:off x="7427286"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顺序</a:t>
            </a:r>
          </a:p>
        </p:txBody>
      </p:sp>
      <p:sp>
        <p:nvSpPr>
          <p:cNvPr id="31" name="Text Box 27"/>
          <p:cNvSpPr txBox="1">
            <a:spLocks noChangeArrowheads="1"/>
          </p:cNvSpPr>
          <p:nvPr/>
        </p:nvSpPr>
        <p:spPr bwMode="auto">
          <a:xfrm>
            <a:off x="638473" y="3121178"/>
            <a:ext cx="723627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位        </a:t>
            </a:r>
            <a:r>
              <a:rPr lang="en-US" altLang="zh-CN" sz="1200" b="1" dirty="0">
                <a:latin typeface="微软雅黑" panose="020B0503020204020204" pitchFamily="34" charset="-122"/>
                <a:ea typeface="微软雅黑" panose="020B0503020204020204" pitchFamily="34" charset="-122"/>
              </a:rPr>
              <a:t>2              2                    4                     1         1         1         1         1         1         1         1</a:t>
            </a:r>
          </a:p>
        </p:txBody>
      </p:sp>
      <p:sp>
        <p:nvSpPr>
          <p:cNvPr id="32" name="AutoShape 28"/>
          <p:cNvSpPr>
            <a:spLocks/>
          </p:cNvSpPr>
          <p:nvPr/>
        </p:nvSpPr>
        <p:spPr bwMode="auto">
          <a:xfrm rot="16200000">
            <a:off x="3677639" y="-333700"/>
            <a:ext cx="203875" cy="5263469"/>
          </a:xfrm>
          <a:prstGeom prst="rightBrace">
            <a:avLst>
              <a:gd name="adj1" fmla="val 19859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Text Box 29"/>
          <p:cNvSpPr txBox="1">
            <a:spLocks noChangeArrowheads="1"/>
          </p:cNvSpPr>
          <p:nvPr/>
        </p:nvSpPr>
        <p:spPr bwMode="auto">
          <a:xfrm>
            <a:off x="3278474" y="1930690"/>
            <a:ext cx="10329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 </a:t>
            </a:r>
            <a:r>
              <a:rPr lang="zh-CN" altLang="en-US" sz="1400" b="1" dirty="0">
                <a:solidFill>
                  <a:srgbClr val="0000FF"/>
                </a:solidFill>
                <a:latin typeface="微软雅黑" panose="020B0503020204020204" pitchFamily="34" charset="-122"/>
                <a:ea typeface="微软雅黑" panose="020B0503020204020204" pitchFamily="34" charset="-122"/>
              </a:rPr>
              <a:t>首部</a:t>
            </a:r>
          </a:p>
        </p:txBody>
      </p:sp>
      <p:sp>
        <p:nvSpPr>
          <p:cNvPr id="34" name="Text Box 30"/>
          <p:cNvSpPr txBox="1">
            <a:spLocks noChangeArrowheads="1"/>
          </p:cNvSpPr>
          <p:nvPr/>
        </p:nvSpPr>
        <p:spPr bwMode="auto">
          <a:xfrm>
            <a:off x="7608397" y="1890823"/>
            <a:ext cx="62100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a:t>
            </a:r>
          </a:p>
          <a:p>
            <a:r>
              <a:rPr lang="zh-CN" altLang="en-US" sz="1400" b="1" dirty="0">
                <a:solidFill>
                  <a:srgbClr val="0000FF"/>
                </a:solidFill>
                <a:latin typeface="微软雅黑" panose="020B0503020204020204" pitchFamily="34" charset="-122"/>
                <a:ea typeface="微软雅黑" panose="020B0503020204020204" pitchFamily="34" charset="-122"/>
              </a:rPr>
              <a:t> 尾部</a:t>
            </a:r>
          </a:p>
        </p:txBody>
      </p:sp>
      <p:sp>
        <p:nvSpPr>
          <p:cNvPr id="11" name="Rectangle 7"/>
          <p:cNvSpPr>
            <a:spLocks noChangeArrowheads="1"/>
          </p:cNvSpPr>
          <p:nvPr/>
        </p:nvSpPr>
        <p:spPr bwMode="auto">
          <a:xfrm>
            <a:off x="1146460" y="2640799"/>
            <a:ext cx="752319" cy="289247"/>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帧控制</a:t>
            </a:r>
          </a:p>
        </p:txBody>
      </p:sp>
    </p:spTree>
    <p:extLst>
      <p:ext uri="{BB962C8B-B14F-4D97-AF65-F5344CB8AC3E}">
        <p14:creationId xmlns:p14="http://schemas.microsoft.com/office/powerpoint/2010/main" val="5939842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5" name="组合 34"/>
          <p:cNvGrpSpPr/>
          <p:nvPr/>
        </p:nvGrpSpPr>
        <p:grpSpPr>
          <a:xfrm>
            <a:off x="1504950" y="1528911"/>
            <a:ext cx="5720151" cy="1034350"/>
            <a:chOff x="1137742" y="2138278"/>
            <a:chExt cx="7482878" cy="1353094"/>
          </a:xfrm>
        </p:grpSpPr>
        <p:sp>
          <p:nvSpPr>
            <p:cNvPr id="36" name="矩形 35"/>
            <p:cNvSpPr/>
            <p:nvPr/>
          </p:nvSpPr>
          <p:spPr>
            <a:xfrm>
              <a:off x="2077199" y="2138278"/>
              <a:ext cx="6260008" cy="483145"/>
            </a:xfrm>
            <a:prstGeom prst="rect">
              <a:avLst/>
            </a:prstGeom>
            <a:noFill/>
            <a:ln>
              <a:noFill/>
            </a:ln>
          </p:spPr>
          <p:txBody>
            <a:bodyPr wrap="square">
              <a:spAutoFit/>
            </a:bodyPr>
            <a:lstStyle/>
            <a:p>
              <a:r>
                <a:rPr lang="en-US" altLang="zh-CN" b="1" dirty="0">
                  <a:solidFill>
                    <a:srgbClr val="C00000"/>
                  </a:solidFill>
                  <a:latin typeface="微软雅黑" panose="020B0503020204020204" pitchFamily="34" charset="-122"/>
                  <a:ea typeface="微软雅黑" panose="020B0503020204020204" pitchFamily="34" charset="-122"/>
                </a:rPr>
                <a:t>RTS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（帧控制字段中的子类型为 </a:t>
              </a:r>
              <a:r>
                <a:rPr lang="en-US" altLang="zh-CN" b="1" dirty="0">
                  <a:latin typeface="微软雅黑" panose="020B0503020204020204" pitchFamily="34" charset="-122"/>
                  <a:ea typeface="微软雅黑" panose="020B0503020204020204" pitchFamily="34" charset="-122"/>
                </a:rPr>
                <a:t>1011</a:t>
              </a:r>
              <a:r>
                <a:rPr lang="zh-CN" altLang="en-US" b="1" dirty="0">
                  <a:latin typeface="微软雅黑" panose="020B0503020204020204" pitchFamily="34" charset="-122"/>
                  <a:ea typeface="微软雅黑" panose="020B0503020204020204" pitchFamily="34" charset="-122"/>
                </a:rPr>
                <a:t>）</a:t>
              </a:r>
            </a:p>
          </p:txBody>
        </p:sp>
        <p:grpSp>
          <p:nvGrpSpPr>
            <p:cNvPr id="37" name="组合 36"/>
            <p:cNvGrpSpPr/>
            <p:nvPr/>
          </p:nvGrpSpPr>
          <p:grpSpPr>
            <a:xfrm>
              <a:off x="1137742" y="2602293"/>
              <a:ext cx="7482878" cy="889079"/>
              <a:chOff x="2095672" y="3238115"/>
              <a:chExt cx="4781378" cy="623255"/>
            </a:xfrm>
          </p:grpSpPr>
          <p:sp>
            <p:nvSpPr>
              <p:cNvPr id="38" name="Rectangle 56"/>
              <p:cNvSpPr>
                <a:spLocks noChangeArrowheads="1"/>
              </p:cNvSpPr>
              <p:nvPr/>
            </p:nvSpPr>
            <p:spPr bwMode="auto">
              <a:xfrm>
                <a:off x="2554288" y="3510533"/>
                <a:ext cx="857250" cy="342900"/>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39" name="Rectangle 17"/>
              <p:cNvSpPr>
                <a:spLocks noChangeArrowheads="1"/>
              </p:cNvSpPr>
              <p:nvPr/>
            </p:nvSpPr>
            <p:spPr bwMode="auto">
              <a:xfrm>
                <a:off x="2551113" y="3501008"/>
                <a:ext cx="865187" cy="360362"/>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0" name="Rectangle 18"/>
              <p:cNvSpPr>
                <a:spLocks noChangeArrowheads="1"/>
              </p:cNvSpPr>
              <p:nvPr/>
            </p:nvSpPr>
            <p:spPr bwMode="auto">
              <a:xfrm>
                <a:off x="3416300"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1" name="Rectangle 19"/>
              <p:cNvSpPr>
                <a:spLocks noChangeArrowheads="1"/>
              </p:cNvSpPr>
              <p:nvPr/>
            </p:nvSpPr>
            <p:spPr bwMode="auto">
              <a:xfrm>
                <a:off x="4281488"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42" name="Rectangle 20"/>
              <p:cNvSpPr>
                <a:spLocks noChangeArrowheads="1"/>
              </p:cNvSpPr>
              <p:nvPr/>
            </p:nvSpPr>
            <p:spPr bwMode="auto">
              <a:xfrm>
                <a:off x="5146675"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发送地址</a:t>
                </a:r>
                <a:endParaRPr lang="en-US" altLang="zh-CN" sz="1400" b="1">
                  <a:latin typeface="微软雅黑" panose="020B0503020204020204" pitchFamily="34" charset="-122"/>
                  <a:ea typeface="微软雅黑" panose="020B0503020204020204" pitchFamily="34" charset="-122"/>
                </a:endParaRPr>
              </a:p>
            </p:txBody>
          </p:sp>
          <p:sp>
            <p:nvSpPr>
              <p:cNvPr id="43" name="Rectangle 21"/>
              <p:cNvSpPr>
                <a:spLocks noChangeArrowheads="1"/>
              </p:cNvSpPr>
              <p:nvPr/>
            </p:nvSpPr>
            <p:spPr bwMode="auto">
              <a:xfrm>
                <a:off x="6011863"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44" name="Text Box 14"/>
              <p:cNvSpPr txBox="1">
                <a:spLocks noChangeArrowheads="1"/>
              </p:cNvSpPr>
              <p:nvPr/>
            </p:nvSpPr>
            <p:spPr bwMode="auto">
              <a:xfrm>
                <a:off x="2095672" y="3238115"/>
                <a:ext cx="4781378" cy="28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en-US" altLang="zh-CN" sz="1400" b="1" dirty="0">
                    <a:latin typeface="微软雅黑" panose="020B0503020204020204" pitchFamily="34" charset="-122"/>
                    <a:ea typeface="微软雅黑" panose="020B0503020204020204" pitchFamily="34" charset="-122"/>
                  </a:rPr>
                  <a:t>2                  2                 6                  6                 4</a:t>
                </a:r>
              </a:p>
            </p:txBody>
          </p:sp>
        </p:grpSp>
      </p:grpSp>
      <p:grpSp>
        <p:nvGrpSpPr>
          <p:cNvPr id="45" name="组合 44"/>
          <p:cNvGrpSpPr/>
          <p:nvPr/>
        </p:nvGrpSpPr>
        <p:grpSpPr>
          <a:xfrm>
            <a:off x="1236617" y="2862624"/>
            <a:ext cx="7123611" cy="1062407"/>
            <a:chOff x="836559" y="3802392"/>
            <a:chExt cx="9318833" cy="1228156"/>
          </a:xfrm>
        </p:grpSpPr>
        <p:sp>
          <p:nvSpPr>
            <p:cNvPr id="46" name="Rectangle 56"/>
            <p:cNvSpPr>
              <a:spLocks noChangeArrowheads="1"/>
            </p:cNvSpPr>
            <p:nvPr/>
          </p:nvSpPr>
          <p:spPr bwMode="auto">
            <a:xfrm>
              <a:off x="1905305" y="4587443"/>
              <a:ext cx="1328441" cy="43307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47" name="Rectangle 17"/>
            <p:cNvSpPr>
              <a:spLocks noChangeArrowheads="1"/>
            </p:cNvSpPr>
            <p:nvPr/>
          </p:nvSpPr>
          <p:spPr bwMode="auto">
            <a:xfrm>
              <a:off x="1900385" y="4575413"/>
              <a:ext cx="1340741" cy="455135"/>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8" name="Rectangle 18"/>
            <p:cNvSpPr>
              <a:spLocks noChangeArrowheads="1"/>
            </p:cNvSpPr>
            <p:nvPr/>
          </p:nvSpPr>
          <p:spPr bwMode="auto">
            <a:xfrm>
              <a:off x="3241126"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9" name="Rectangle 19"/>
            <p:cNvSpPr>
              <a:spLocks noChangeArrowheads="1"/>
            </p:cNvSpPr>
            <p:nvPr/>
          </p:nvSpPr>
          <p:spPr bwMode="auto">
            <a:xfrm>
              <a:off x="4581868" y="4575413"/>
              <a:ext cx="1340741"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50" name="Rectangle 21"/>
            <p:cNvSpPr>
              <a:spLocks noChangeArrowheads="1"/>
            </p:cNvSpPr>
            <p:nvPr/>
          </p:nvSpPr>
          <p:spPr bwMode="auto">
            <a:xfrm>
              <a:off x="5888168"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51" name="Text Box 14"/>
            <p:cNvSpPr txBox="1">
              <a:spLocks noChangeArrowheads="1"/>
            </p:cNvSpPr>
            <p:nvPr/>
          </p:nvSpPr>
          <p:spPr bwMode="auto">
            <a:xfrm>
              <a:off x="1187582" y="4256555"/>
              <a:ext cx="5666301" cy="355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en-US" altLang="zh-CN" sz="1400" b="1" dirty="0">
                  <a:latin typeface="微软雅黑" panose="020B0503020204020204" pitchFamily="34" charset="-122"/>
                  <a:ea typeface="微软雅黑" panose="020B0503020204020204" pitchFamily="34" charset="-122"/>
                </a:rPr>
                <a:t>2                  2                6                 4</a:t>
              </a:r>
            </a:p>
          </p:txBody>
        </p:sp>
        <p:sp>
          <p:nvSpPr>
            <p:cNvPr id="52" name="Text Box 58"/>
            <p:cNvSpPr txBox="1">
              <a:spLocks noChangeArrowheads="1"/>
            </p:cNvSpPr>
            <p:nvPr/>
          </p:nvSpPr>
          <p:spPr bwMode="auto">
            <a:xfrm>
              <a:off x="836559" y="3802392"/>
              <a:ext cx="9318833" cy="426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en-US" altLang="zh-CN" b="1" dirty="0">
                  <a:solidFill>
                    <a:srgbClr val="C00000"/>
                  </a:solidFill>
                  <a:latin typeface="微软雅黑" panose="020B0503020204020204" pitchFamily="34" charset="-122"/>
                  <a:ea typeface="微软雅黑" panose="020B0503020204020204" pitchFamily="34" charset="-122"/>
                </a:rPr>
                <a:t>CTS </a:t>
              </a:r>
              <a:r>
                <a:rPr lang="zh-CN" altLang="en-US" b="1" dirty="0">
                  <a:solidFill>
                    <a:srgbClr val="C00000"/>
                  </a:solidFill>
                  <a:latin typeface="微软雅黑" panose="020B0503020204020204" pitchFamily="34" charset="-122"/>
                  <a:ea typeface="微软雅黑" panose="020B0503020204020204" pitchFamily="34" charset="-122"/>
                </a:rPr>
                <a:t>和 </a:t>
              </a:r>
              <a:r>
                <a:rPr lang="en-US" altLang="zh-CN" b="1" dirty="0">
                  <a:solidFill>
                    <a:srgbClr val="C00000"/>
                  </a:solidFill>
                  <a:latin typeface="微软雅黑" panose="020B0503020204020204" pitchFamily="34" charset="-122"/>
                  <a:ea typeface="微软雅黑" panose="020B0503020204020204" pitchFamily="34" charset="-122"/>
                </a:rPr>
                <a:t>ACK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（帧控制字段中的子类型分别为 </a:t>
              </a:r>
              <a:r>
                <a:rPr lang="en-US" altLang="zh-CN" b="1" dirty="0">
                  <a:latin typeface="微软雅黑" panose="020B0503020204020204" pitchFamily="34" charset="-122"/>
                  <a:ea typeface="微软雅黑" panose="020B0503020204020204" pitchFamily="34" charset="-122"/>
                </a:rPr>
                <a:t>1100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1101</a:t>
              </a:r>
              <a:r>
                <a:rPr lang="zh-CN" altLang="en-US" b="1" dirty="0">
                  <a:latin typeface="微软雅黑" panose="020B0503020204020204" pitchFamily="34" charset="-122"/>
                  <a:ea typeface="微软雅黑" panose="020B0503020204020204" pitchFamily="34" charset="-122"/>
                </a:rPr>
                <a:t>）</a:t>
              </a:r>
            </a:p>
          </p:txBody>
        </p:sp>
      </p:grpSp>
    </p:spTree>
    <p:extLst>
      <p:ext uri="{BB962C8B-B14F-4D97-AF65-F5344CB8AC3E}">
        <p14:creationId xmlns:p14="http://schemas.microsoft.com/office/powerpoint/2010/main" val="3247403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18435"/>
            <a:ext cx="810471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MAC </a:t>
            </a:r>
            <a:r>
              <a:rPr lang="zh-CN" altLang="en-US" sz="2000" b="1" dirty="0">
                <a:solidFill>
                  <a:srgbClr val="0000FF"/>
                </a:solidFill>
                <a:latin typeface="微软雅黑" pitchFamily="34" charset="-122"/>
                <a:ea typeface="微软雅黑" pitchFamily="34" charset="-122"/>
              </a:rPr>
              <a:t>首部</a:t>
            </a:r>
            <a:r>
              <a:rPr lang="zh-CN" altLang="en-US" sz="2000" b="1" dirty="0">
                <a:latin typeface="微软雅黑" pitchFamily="34" charset="-122"/>
                <a:ea typeface="微软雅黑" pitchFamily="34" charset="-122"/>
              </a:rPr>
              <a:t>：共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字节。复杂。</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帧主体</a:t>
            </a:r>
            <a:r>
              <a:rPr lang="zh-CN" altLang="en-US" sz="2000" b="1" dirty="0">
                <a:latin typeface="微软雅黑" pitchFamily="34" charset="-122"/>
                <a:ea typeface="微软雅黑" pitchFamily="34" charset="-122"/>
              </a:rPr>
              <a:t>：数据部分，不超过 </a:t>
            </a:r>
            <a:r>
              <a:rPr lang="en-US" altLang="zh-CN" sz="2000" b="1" dirty="0">
                <a:latin typeface="微软雅黑" pitchFamily="34" charset="-122"/>
                <a:ea typeface="微软雅黑" pitchFamily="34" charset="-122"/>
              </a:rPr>
              <a:t>2312 </a:t>
            </a:r>
            <a:r>
              <a:rPr lang="zh-CN" altLang="en-US" sz="2000" b="1" dirty="0">
                <a:latin typeface="微软雅黑" pitchFamily="34" charset="-122"/>
                <a:ea typeface="微软雅黑" pitchFamily="34" charset="-122"/>
              </a:rPr>
              <a:t>字节。</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帧的长度通常都小于 </a:t>
            </a:r>
            <a:r>
              <a:rPr lang="en-US" altLang="zh-CN" sz="2000" b="1" dirty="0">
                <a:latin typeface="微软雅黑" pitchFamily="34" charset="-122"/>
                <a:ea typeface="微软雅黑" pitchFamily="34" charset="-122"/>
              </a:rPr>
              <a:t>1500 </a:t>
            </a:r>
            <a:r>
              <a:rPr lang="zh-CN" altLang="en-US" sz="2000" b="1" dirty="0">
                <a:latin typeface="微软雅黑" pitchFamily="34" charset="-122"/>
                <a:ea typeface="微软雅黑" pitchFamily="34" charset="-122"/>
              </a:rPr>
              <a:t>字节。</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帧检验序列 </a:t>
            </a:r>
            <a:r>
              <a:rPr lang="en-US" altLang="zh-CN" sz="2000" b="1" dirty="0">
                <a:solidFill>
                  <a:srgbClr val="0000FF"/>
                </a:solidFill>
                <a:latin typeface="微软雅黑" pitchFamily="34" charset="-122"/>
                <a:ea typeface="微软雅黑" pitchFamily="34" charset="-122"/>
              </a:rPr>
              <a:t>FCS</a:t>
            </a:r>
            <a:r>
              <a:rPr lang="zh-CN" altLang="en-US" sz="2000" b="1" dirty="0">
                <a:solidFill>
                  <a:srgbClr val="0000FF"/>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尾部，共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字节 。</a:t>
            </a:r>
          </a:p>
        </p:txBody>
      </p:sp>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7754"/>
            <a:ext cx="32576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数据帧的三大部分 </a:t>
            </a:r>
          </a:p>
        </p:txBody>
      </p:sp>
    </p:spTree>
    <p:extLst>
      <p:ext uri="{BB962C8B-B14F-4D97-AF65-F5344CB8AC3E}">
        <p14:creationId xmlns:p14="http://schemas.microsoft.com/office/powerpoint/2010/main" val="18084264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70028"/>
            <a:ext cx="8270547" cy="477054"/>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数据帧有</a:t>
            </a:r>
            <a:r>
              <a:rPr lang="zh-CN" altLang="en-US" sz="2000" b="1" dirty="0">
                <a:solidFill>
                  <a:srgbClr val="C00000"/>
                </a:solidFill>
                <a:latin typeface="微软雅黑" pitchFamily="34" charset="-122"/>
                <a:ea typeface="微软雅黑" pitchFamily="34" charset="-122"/>
              </a:rPr>
              <a:t>四个</a:t>
            </a:r>
            <a:r>
              <a:rPr lang="zh-CN" altLang="en-US" sz="2000" b="1" dirty="0">
                <a:latin typeface="微软雅黑" pitchFamily="34" charset="-122"/>
                <a:ea typeface="微软雅黑" pitchFamily="34" charset="-122"/>
              </a:rPr>
              <a:t>地址字段。</a:t>
            </a:r>
          </a:p>
        </p:txBody>
      </p:sp>
      <p:graphicFrame>
        <p:nvGraphicFramePr>
          <p:cNvPr id="7" name="Group 179"/>
          <p:cNvGraphicFramePr>
            <a:graphicFrameLocks/>
          </p:cNvGraphicFramePr>
          <p:nvPr>
            <p:extLst>
              <p:ext uri="{D42A27DB-BD31-4B8C-83A1-F6EECF244321}">
                <p14:modId xmlns:p14="http://schemas.microsoft.com/office/powerpoint/2010/main" val="1929953448"/>
              </p:ext>
            </p:extLst>
          </p:nvPr>
        </p:nvGraphicFramePr>
        <p:xfrm>
          <a:off x="515825" y="1495697"/>
          <a:ext cx="8121600" cy="1080000"/>
        </p:xfrm>
        <a:graphic>
          <a:graphicData uri="http://schemas.openxmlformats.org/drawingml/2006/table">
            <a:tbl>
              <a:tblPr/>
              <a:tblGrid>
                <a:gridCol w="1353600">
                  <a:extLst>
                    <a:ext uri="{9D8B030D-6E8A-4147-A177-3AD203B41FA5}">
                      <a16:colId xmlns:a16="http://schemas.microsoft.com/office/drawing/2014/main" val="20000"/>
                    </a:ext>
                  </a:extLst>
                </a:gridCol>
                <a:gridCol w="1353600">
                  <a:extLst>
                    <a:ext uri="{9D8B030D-6E8A-4147-A177-3AD203B41FA5}">
                      <a16:colId xmlns:a16="http://schemas.microsoft.com/office/drawing/2014/main" val="20001"/>
                    </a:ext>
                  </a:extLst>
                </a:gridCol>
                <a:gridCol w="1353600">
                  <a:extLst>
                    <a:ext uri="{9D8B030D-6E8A-4147-A177-3AD203B41FA5}">
                      <a16:colId xmlns:a16="http://schemas.microsoft.com/office/drawing/2014/main" val="20002"/>
                    </a:ext>
                  </a:extLst>
                </a:gridCol>
                <a:gridCol w="13536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1353600">
                  <a:extLst>
                    <a:ext uri="{9D8B030D-6E8A-4147-A177-3AD203B41FA5}">
                      <a16:colId xmlns:a16="http://schemas.microsoft.com/office/drawing/2014/main" val="20005"/>
                    </a:ext>
                  </a:extLst>
                </a:gridCol>
              </a:tblGrid>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去往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AP</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来自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AP</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1</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2</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3</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4</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extLst>
                  <a:ext uri="{0D108BD9-81ED-4DB2-BD59-A6C34878D82A}">
                    <a16:rowId xmlns:a16="http://schemas.microsoft.com/office/drawing/2014/main" val="10000"/>
                  </a:ext>
                </a:extLst>
              </a:tr>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接收地址</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发送地址</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a:t>
                      </a:r>
                      <a:endParaRPr kumimoji="0"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781618" y="582887"/>
            <a:ext cx="35670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关于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数据帧的地址</a:t>
            </a:r>
          </a:p>
        </p:txBody>
      </p:sp>
      <p:sp>
        <p:nvSpPr>
          <p:cNvPr id="5" name="矩形 4"/>
          <p:cNvSpPr/>
          <p:nvPr/>
        </p:nvSpPr>
        <p:spPr>
          <a:xfrm>
            <a:off x="514874" y="2575697"/>
            <a:ext cx="8276503" cy="1528624"/>
          </a:xfrm>
          <a:prstGeom prst="rect">
            <a:avLst/>
          </a:prstGeom>
        </p:spPr>
        <p:txBody>
          <a:bodyPr wrap="square">
            <a:spAutoFit/>
          </a:bodyPr>
          <a:lstStyle/>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1 </a:t>
            </a:r>
            <a:r>
              <a:rPr lang="zh-CN" altLang="zh-CN" b="1" dirty="0">
                <a:latin typeface="微软雅黑" pitchFamily="34" charset="-122"/>
                <a:ea typeface="微软雅黑" pitchFamily="34" charset="-122"/>
              </a:rPr>
              <a:t>永远是接收地址（即直接接收数据帧的节点地址）。</a:t>
            </a:r>
          </a:p>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2 </a:t>
            </a:r>
            <a:r>
              <a:rPr lang="zh-CN" altLang="zh-CN" b="1" dirty="0">
                <a:latin typeface="微软雅黑" pitchFamily="34" charset="-122"/>
                <a:ea typeface="微软雅黑" pitchFamily="34" charset="-122"/>
              </a:rPr>
              <a:t>永远是发送地址（即实际发送数据帧的节点地址）。</a:t>
            </a:r>
          </a:p>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3 </a:t>
            </a:r>
            <a:r>
              <a:rPr lang="zh-CN" altLang="zh-CN" b="1" dirty="0">
                <a:latin typeface="微软雅黑" pitchFamily="34" charset="-122"/>
                <a:ea typeface="微软雅黑" pitchFamily="34" charset="-122"/>
              </a:rPr>
              <a:t>和地址</a:t>
            </a:r>
            <a:r>
              <a:rPr lang="en-US" altLang="zh-CN" b="1" dirty="0">
                <a:latin typeface="微软雅黑" pitchFamily="34" charset="-122"/>
                <a:ea typeface="微软雅黑" pitchFamily="34" charset="-122"/>
              </a:rPr>
              <a:t> 4 </a:t>
            </a:r>
            <a:r>
              <a:rPr lang="zh-CN" altLang="zh-CN" b="1" dirty="0">
                <a:solidFill>
                  <a:srgbClr val="C00000"/>
                </a:solidFill>
                <a:latin typeface="微软雅黑" pitchFamily="34" charset="-122"/>
                <a:ea typeface="微软雅黑" pitchFamily="34" charset="-122"/>
              </a:rPr>
              <a:t>取决于</a:t>
            </a:r>
            <a:r>
              <a:rPr lang="zh-CN" altLang="zh-CN" b="1" dirty="0">
                <a:latin typeface="微软雅黑" pitchFamily="34" charset="-122"/>
                <a:ea typeface="微软雅黑" pitchFamily="34" charset="-122"/>
              </a:rPr>
              <a:t>数据帧中的“来自</a:t>
            </a:r>
            <a:r>
              <a:rPr lang="en-US" altLang="zh-CN" b="1" dirty="0">
                <a:latin typeface="微软雅黑" pitchFamily="34" charset="-122"/>
                <a:ea typeface="微软雅黑" pitchFamily="34" charset="-122"/>
              </a:rPr>
              <a:t>AP</a:t>
            </a:r>
            <a:r>
              <a:rPr lang="zh-CN" altLang="zh-CN" b="1" dirty="0">
                <a:latin typeface="微软雅黑" pitchFamily="34" charset="-122"/>
                <a:ea typeface="微软雅黑" pitchFamily="34" charset="-122"/>
              </a:rPr>
              <a:t>”和“去往</a:t>
            </a:r>
            <a:r>
              <a:rPr lang="en-US" altLang="zh-CN" b="1" dirty="0">
                <a:latin typeface="微软雅黑" pitchFamily="34" charset="-122"/>
                <a:ea typeface="微软雅黑" pitchFamily="34" charset="-122"/>
              </a:rPr>
              <a:t>AP</a:t>
            </a:r>
            <a:r>
              <a:rPr lang="zh-CN" altLang="zh-CN" b="1" dirty="0">
                <a:latin typeface="微软雅黑" pitchFamily="34" charset="-122"/>
                <a:ea typeface="微软雅黑" pitchFamily="34" charset="-122"/>
              </a:rPr>
              <a:t>”这两个字段的数值。</a:t>
            </a:r>
          </a:p>
          <a:p>
            <a:pPr>
              <a:lnSpc>
                <a:spcPts val="2800"/>
              </a:lnSpc>
            </a:pPr>
            <a:r>
              <a:rPr lang="zh-CN" altLang="en-US" b="1" dirty="0">
                <a:solidFill>
                  <a:srgbClr val="C00000"/>
                </a:solidFill>
                <a:latin typeface="微软雅黑" pitchFamily="34" charset="-122"/>
                <a:ea typeface="微软雅黑" pitchFamily="34" charset="-122"/>
              </a:rPr>
              <a:t>注意：</a:t>
            </a:r>
            <a:r>
              <a:rPr lang="zh-CN" altLang="zh-CN" b="1" dirty="0">
                <a:latin typeface="微软雅黑" pitchFamily="34" charset="-122"/>
                <a:ea typeface="微软雅黑" pitchFamily="34" charset="-122"/>
              </a:rPr>
              <a:t>上述地址都是</a:t>
            </a:r>
            <a:r>
              <a:rPr lang="en-US" altLang="zh-CN" b="1" dirty="0">
                <a:latin typeface="微软雅黑" pitchFamily="34" charset="-122"/>
                <a:ea typeface="微软雅黑" pitchFamily="34" charset="-122"/>
              </a:rPr>
              <a:t> MAC </a:t>
            </a:r>
            <a:r>
              <a:rPr lang="zh-CN" altLang="zh-CN" b="1" dirty="0">
                <a:latin typeface="微软雅黑" pitchFamily="34" charset="-122"/>
                <a:ea typeface="微软雅黑" pitchFamily="34" charset="-122"/>
              </a:rPr>
              <a:t>地址，即硬件地址，而</a:t>
            </a:r>
            <a:r>
              <a:rPr lang="en-US" altLang="zh-CN" b="1" dirty="0">
                <a:latin typeface="微软雅黑" pitchFamily="34" charset="-122"/>
                <a:ea typeface="微软雅黑" pitchFamily="34" charset="-122"/>
              </a:rPr>
              <a:t> </a:t>
            </a:r>
            <a:r>
              <a:rPr lang="en-US" altLang="zh-CN" b="1" dirty="0">
                <a:solidFill>
                  <a:srgbClr val="0000CC"/>
                </a:solidFill>
                <a:latin typeface="微软雅黑" pitchFamily="34" charset="-122"/>
                <a:ea typeface="微软雅黑" pitchFamily="34" charset="-122"/>
              </a:rPr>
              <a:t>AP </a:t>
            </a:r>
            <a:r>
              <a:rPr lang="zh-CN" altLang="zh-CN" b="1" dirty="0">
                <a:solidFill>
                  <a:srgbClr val="0000CC"/>
                </a:solidFill>
                <a:latin typeface="微软雅黑" pitchFamily="34" charset="-122"/>
                <a:ea typeface="微软雅黑" pitchFamily="34" charset="-122"/>
              </a:rPr>
              <a:t>的</a:t>
            </a:r>
            <a:r>
              <a:rPr lang="en-US" altLang="zh-CN" b="1" dirty="0">
                <a:solidFill>
                  <a:srgbClr val="0000CC"/>
                </a:solidFill>
                <a:latin typeface="微软雅黑" pitchFamily="34" charset="-122"/>
                <a:ea typeface="微软雅黑" pitchFamily="34" charset="-122"/>
              </a:rPr>
              <a:t> MAC </a:t>
            </a:r>
            <a:r>
              <a:rPr lang="zh-CN" altLang="zh-CN" b="1" dirty="0">
                <a:solidFill>
                  <a:srgbClr val="0000CC"/>
                </a:solidFill>
                <a:latin typeface="微软雅黑" pitchFamily="34" charset="-122"/>
                <a:ea typeface="微软雅黑" pitchFamily="34" charset="-122"/>
              </a:rPr>
              <a:t>地址是</a:t>
            </a:r>
            <a:r>
              <a:rPr lang="en-US" altLang="zh-CN" b="1" dirty="0">
                <a:solidFill>
                  <a:srgbClr val="0000CC"/>
                </a:solidFill>
                <a:latin typeface="微软雅黑" pitchFamily="34" charset="-122"/>
                <a:ea typeface="微软雅黑" pitchFamily="34" charset="-122"/>
              </a:rPr>
              <a:t> BSSID</a:t>
            </a:r>
            <a:r>
              <a:rPr lang="zh-CN" altLang="zh-CN" b="1" dirty="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Tree>
    <p:extLst>
      <p:ext uri="{BB962C8B-B14F-4D97-AF65-F5344CB8AC3E}">
        <p14:creationId xmlns:p14="http://schemas.microsoft.com/office/powerpoint/2010/main" val="31661458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3"/>
            <a:ext cx="8128800" cy="23409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9" y="1017564"/>
            <a:ext cx="5784860"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发送数据帧，数据帧必须经过 </a:t>
            </a:r>
            <a:r>
              <a:rPr lang="en-US" altLang="zh-CN" sz="1600" b="1" dirty="0">
                <a:solidFill>
                  <a:srgbClr val="0000CC"/>
                </a:solidFill>
                <a:latin typeface="微软雅黑" pitchFamily="34" charset="-122"/>
                <a:ea typeface="微软雅黑" pitchFamily="34" charset="-122"/>
              </a:rPr>
              <a:t>AP</a:t>
            </a:r>
            <a:r>
              <a:rPr lang="en-US" altLang="zh-CN" sz="1600" b="1" baseline="-25000" dirty="0">
                <a:solidFill>
                  <a:srgbClr val="0000CC"/>
                </a:solidFill>
                <a:latin typeface="微软雅黑" pitchFamily="34" charset="-122"/>
                <a:ea typeface="微软雅黑" pitchFamily="34" charset="-122"/>
              </a:rPr>
              <a:t>1</a:t>
            </a:r>
            <a:r>
              <a:rPr lang="en-US" altLang="zh-CN" sz="1600" b="1" dirty="0">
                <a:solidFill>
                  <a:srgbClr val="0000CC"/>
                </a:solidFill>
                <a:latin typeface="微软雅黑" pitchFamily="34" charset="-122"/>
                <a:ea typeface="微软雅黑" pitchFamily="34" charset="-122"/>
              </a:rPr>
              <a:t> </a:t>
            </a:r>
            <a:r>
              <a:rPr lang="zh-CN" altLang="en-US" sz="1600" b="1" dirty="0">
                <a:solidFill>
                  <a:srgbClr val="0000CC"/>
                </a:solidFill>
                <a:latin typeface="微软雅黑" pitchFamily="34" charset="-122"/>
                <a:ea typeface="微软雅黑" pitchFamily="34" charset="-122"/>
              </a:rPr>
              <a:t>转发。</a:t>
            </a:r>
          </a:p>
        </p:txBody>
      </p:sp>
      <p:sp>
        <p:nvSpPr>
          <p:cNvPr id="61" name="Oval 132"/>
          <p:cNvSpPr>
            <a:spLocks noChangeArrowheads="1"/>
          </p:cNvSpPr>
          <p:nvPr/>
        </p:nvSpPr>
        <p:spPr bwMode="auto">
          <a:xfrm>
            <a:off x="1108890" y="1904583"/>
            <a:ext cx="1777953" cy="1040299"/>
          </a:xfrm>
          <a:prstGeom prst="ellipse">
            <a:avLst/>
          </a:prstGeom>
          <a:solidFill>
            <a:schemeClr val="bg1"/>
          </a:solidFill>
          <a:ln w="6350">
            <a:solidFill>
              <a:schemeClr val="tx1"/>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 name="Line 76"/>
          <p:cNvSpPr>
            <a:spLocks noChangeShapeType="1"/>
          </p:cNvSpPr>
          <p:nvPr/>
        </p:nvSpPr>
        <p:spPr bwMode="auto">
          <a:xfrm>
            <a:off x="3574268" y="2152377"/>
            <a:ext cx="56864" cy="3962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77"/>
          <p:cNvSpPr>
            <a:spLocks noChangeArrowheads="1"/>
          </p:cNvSpPr>
          <p:nvPr/>
        </p:nvSpPr>
        <p:spPr bwMode="auto">
          <a:xfrm>
            <a:off x="4376684" y="1379819"/>
            <a:ext cx="3668372" cy="1744812"/>
          </a:xfrm>
          <a:prstGeom prst="ellipse">
            <a:avLst/>
          </a:prstGeom>
          <a:solidFill>
            <a:schemeClr val="bg1"/>
          </a:solidFill>
          <a:ln w="6350">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7" name="Picture 78"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633" y="1800326"/>
            <a:ext cx="596442" cy="429001"/>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79"/>
          <p:cNvSpPr txBox="1">
            <a:spLocks noChangeArrowheads="1"/>
          </p:cNvSpPr>
          <p:nvPr/>
        </p:nvSpPr>
        <p:spPr bwMode="auto">
          <a:xfrm>
            <a:off x="5015028" y="1725340"/>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47" name="Text Box 118"/>
          <p:cNvSpPr txBox="1">
            <a:spLocks noChangeArrowheads="1"/>
          </p:cNvSpPr>
          <p:nvPr/>
        </p:nvSpPr>
        <p:spPr bwMode="auto">
          <a:xfrm>
            <a:off x="6268365" y="1508330"/>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8" name="Text Box 119"/>
          <p:cNvSpPr txBox="1">
            <a:spLocks noChangeArrowheads="1"/>
          </p:cNvSpPr>
          <p:nvPr/>
        </p:nvSpPr>
        <p:spPr bwMode="auto">
          <a:xfrm>
            <a:off x="7610361" y="184428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A</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9" name="Text Box 120"/>
          <p:cNvSpPr txBox="1">
            <a:spLocks noChangeArrowheads="1"/>
          </p:cNvSpPr>
          <p:nvPr/>
        </p:nvSpPr>
        <p:spPr bwMode="auto">
          <a:xfrm>
            <a:off x="7058211" y="2574273"/>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B</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50" name="Line 121"/>
          <p:cNvSpPr>
            <a:spLocks noChangeShapeType="1"/>
          </p:cNvSpPr>
          <p:nvPr/>
        </p:nvSpPr>
        <p:spPr bwMode="auto">
          <a:xfrm flipH="1">
            <a:off x="5294092" y="1961346"/>
            <a:ext cx="2087978" cy="17465"/>
          </a:xfrm>
          <a:prstGeom prst="line">
            <a:avLst/>
          </a:prstGeom>
          <a:noFill/>
          <a:ln w="28575">
            <a:solidFill>
              <a:srgbClr val="0066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Rectangle 122"/>
          <p:cNvSpPr>
            <a:spLocks noChangeArrowheads="1"/>
          </p:cNvSpPr>
          <p:nvPr/>
        </p:nvSpPr>
        <p:spPr bwMode="auto">
          <a:xfrm>
            <a:off x="6039645" y="1805247"/>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1</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0</a:t>
            </a:r>
          </a:p>
        </p:txBody>
      </p:sp>
      <p:sp>
        <p:nvSpPr>
          <p:cNvPr id="52" name="Line 123"/>
          <p:cNvSpPr>
            <a:spLocks noChangeShapeType="1"/>
          </p:cNvSpPr>
          <p:nvPr/>
        </p:nvSpPr>
        <p:spPr bwMode="auto">
          <a:xfrm flipV="1">
            <a:off x="3689259" y="2054132"/>
            <a:ext cx="1088001" cy="49123"/>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 name="Line 124"/>
          <p:cNvSpPr>
            <a:spLocks noChangeShapeType="1"/>
          </p:cNvSpPr>
          <p:nvPr/>
        </p:nvSpPr>
        <p:spPr bwMode="auto">
          <a:xfrm>
            <a:off x="5122236" y="2152377"/>
            <a:ext cx="1719826" cy="544711"/>
          </a:xfrm>
          <a:prstGeom prst="line">
            <a:avLst/>
          </a:prstGeom>
          <a:noFill/>
          <a:ln w="28575">
            <a:solidFill>
              <a:srgbClr val="0066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4" name="Rectangle 125"/>
          <p:cNvSpPr>
            <a:spLocks noChangeArrowheads="1"/>
          </p:cNvSpPr>
          <p:nvPr/>
        </p:nvSpPr>
        <p:spPr bwMode="auto">
          <a:xfrm rot="1192993">
            <a:off x="5580940" y="2251713"/>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0</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1</a:t>
            </a:r>
          </a:p>
        </p:txBody>
      </p:sp>
      <p:sp>
        <p:nvSpPr>
          <p:cNvPr id="55" name="Line 126"/>
          <p:cNvSpPr>
            <a:spLocks noChangeShapeType="1"/>
          </p:cNvSpPr>
          <p:nvPr/>
        </p:nvSpPr>
        <p:spPr bwMode="auto">
          <a:xfrm flipV="1">
            <a:off x="2543131" y="2103255"/>
            <a:ext cx="916144" cy="198672"/>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56" name="Picture 127"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9435" y="2054132"/>
            <a:ext cx="596442" cy="429001"/>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1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45547" y="2003918"/>
            <a:ext cx="477659" cy="187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0" name="Text Box 131"/>
          <p:cNvSpPr txBox="1">
            <a:spLocks noChangeArrowheads="1"/>
          </p:cNvSpPr>
          <p:nvPr/>
        </p:nvSpPr>
        <p:spPr bwMode="auto">
          <a:xfrm>
            <a:off x="3402411" y="1805246"/>
            <a:ext cx="292350"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R</a:t>
            </a:r>
            <a:endParaRPr kumimoji="1" lang="en-US" altLang="zh-CN" sz="1100" b="1" baseline="-25000">
              <a:latin typeface="微软雅黑" panose="020B0503020204020204" pitchFamily="34" charset="-122"/>
              <a:ea typeface="微软雅黑" panose="020B0503020204020204" pitchFamily="34" charset="-122"/>
            </a:endParaRPr>
          </a:p>
        </p:txBody>
      </p:sp>
      <p:sp>
        <p:nvSpPr>
          <p:cNvPr id="62" name="Text Box 133"/>
          <p:cNvSpPr txBox="1">
            <a:spLocks noChangeArrowheads="1"/>
          </p:cNvSpPr>
          <p:nvPr/>
        </p:nvSpPr>
        <p:spPr bwMode="auto">
          <a:xfrm>
            <a:off x="1338874" y="2053042"/>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2</a:t>
            </a:r>
          </a:p>
        </p:txBody>
      </p:sp>
      <p:sp>
        <p:nvSpPr>
          <p:cNvPr id="63" name="Text Box 134"/>
          <p:cNvSpPr txBox="1">
            <a:spLocks noChangeArrowheads="1"/>
          </p:cNvSpPr>
          <p:nvPr/>
        </p:nvSpPr>
        <p:spPr bwMode="auto">
          <a:xfrm>
            <a:off x="2256282" y="1985408"/>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75" name="Text Box 146"/>
          <p:cNvSpPr txBox="1">
            <a:spLocks noChangeArrowheads="1"/>
          </p:cNvSpPr>
          <p:nvPr/>
        </p:nvSpPr>
        <p:spPr bwMode="auto">
          <a:xfrm>
            <a:off x="1625721" y="2519139"/>
            <a:ext cx="289032"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anose="020B0503020204020204" pitchFamily="34" charset="-122"/>
                <a:ea typeface="微软雅黑" panose="020B0503020204020204" pitchFamily="34" charset="-122"/>
              </a:rPr>
              <a:t>C</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76" name="Text Box 147"/>
          <p:cNvSpPr txBox="1">
            <a:spLocks noChangeArrowheads="1"/>
          </p:cNvSpPr>
          <p:nvPr/>
        </p:nvSpPr>
        <p:spPr bwMode="auto">
          <a:xfrm>
            <a:off x="3575531" y="2151285"/>
            <a:ext cx="280735" cy="292472"/>
          </a:xfrm>
          <a:prstGeom prst="rect">
            <a:avLst/>
          </a:prstGeom>
          <a:noFill/>
          <a:ln w="28575">
            <a:noFill/>
            <a:miter lim="800000"/>
            <a:headEnd/>
            <a:tailEnd/>
          </a:ln>
          <a:effec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0</a:t>
            </a:r>
            <a:endParaRPr kumimoji="1" lang="en-US" altLang="zh-CN" sz="1100" b="1" baseline="-25000">
              <a:latin typeface="微软雅黑" panose="020B0503020204020204" pitchFamily="34" charset="-122"/>
              <a:ea typeface="微软雅黑" panose="020B0503020204020204" pitchFamily="34" charset="-122"/>
            </a:endParaRPr>
          </a:p>
        </p:txBody>
      </p:sp>
      <p:sp>
        <p:nvSpPr>
          <p:cNvPr id="77" name="Text Box 148"/>
          <p:cNvSpPr txBox="1">
            <a:spLocks noChangeArrowheads="1"/>
          </p:cNvSpPr>
          <p:nvPr/>
        </p:nvSpPr>
        <p:spPr bwMode="auto">
          <a:xfrm>
            <a:off x="3746125" y="1854368"/>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1</a:t>
            </a:r>
            <a:endParaRPr kumimoji="1" lang="en-US" altLang="zh-CN" sz="1100" b="1" baseline="-25000">
              <a:latin typeface="微软雅黑" panose="020B0503020204020204" pitchFamily="34" charset="-122"/>
              <a:ea typeface="微软雅黑" panose="020B0503020204020204" pitchFamily="34" charset="-122"/>
            </a:endParaRPr>
          </a:p>
        </p:txBody>
      </p:sp>
      <p:sp>
        <p:nvSpPr>
          <p:cNvPr id="78" name="Text Box 149"/>
          <p:cNvSpPr txBox="1">
            <a:spLocks noChangeArrowheads="1"/>
          </p:cNvSpPr>
          <p:nvPr/>
        </p:nvSpPr>
        <p:spPr bwMode="auto">
          <a:xfrm>
            <a:off x="3115563" y="1919864"/>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2</a:t>
            </a:r>
            <a:endParaRPr kumimoji="1" lang="en-US" altLang="zh-CN" sz="1100" b="1" baseline="-25000">
              <a:latin typeface="微软雅黑" panose="020B0503020204020204" pitchFamily="34" charset="-122"/>
              <a:ea typeface="微软雅黑" panose="020B0503020204020204" pitchFamily="34" charset="-122"/>
            </a:endParaRPr>
          </a:p>
        </p:txBody>
      </p:sp>
      <p:grpSp>
        <p:nvGrpSpPr>
          <p:cNvPr id="90" name="Group 107"/>
          <p:cNvGrpSpPr>
            <a:grpSpLocks/>
          </p:cNvGrpSpPr>
          <p:nvPr/>
        </p:nvGrpSpPr>
        <p:grpSpPr bwMode="auto">
          <a:xfrm>
            <a:off x="2910251" y="2377303"/>
            <a:ext cx="1420171" cy="791649"/>
            <a:chOff x="2248" y="820"/>
            <a:chExt cx="2248" cy="883"/>
          </a:xfrm>
        </p:grpSpPr>
        <p:grpSp>
          <p:nvGrpSpPr>
            <p:cNvPr id="91" name="Group 108"/>
            <p:cNvGrpSpPr>
              <a:grpSpLocks/>
            </p:cNvGrpSpPr>
            <p:nvPr/>
          </p:nvGrpSpPr>
          <p:grpSpPr bwMode="auto">
            <a:xfrm>
              <a:off x="3567" y="902"/>
              <a:ext cx="929" cy="759"/>
              <a:chOff x="3567" y="902"/>
              <a:chExt cx="929" cy="759"/>
            </a:xfrm>
          </p:grpSpPr>
          <p:grpSp>
            <p:nvGrpSpPr>
              <p:cNvPr id="121" name="Group 109"/>
              <p:cNvGrpSpPr>
                <a:grpSpLocks/>
              </p:cNvGrpSpPr>
              <p:nvPr/>
            </p:nvGrpSpPr>
            <p:grpSpPr bwMode="auto">
              <a:xfrm>
                <a:off x="3926" y="902"/>
                <a:ext cx="570" cy="611"/>
                <a:chOff x="3926" y="902"/>
                <a:chExt cx="570" cy="611"/>
              </a:xfrm>
            </p:grpSpPr>
            <p:grpSp>
              <p:nvGrpSpPr>
                <p:cNvPr id="126" name="Group 110"/>
                <p:cNvGrpSpPr>
                  <a:grpSpLocks/>
                </p:cNvGrpSpPr>
                <p:nvPr/>
              </p:nvGrpSpPr>
              <p:grpSpPr bwMode="auto">
                <a:xfrm>
                  <a:off x="4071" y="982"/>
                  <a:ext cx="425" cy="448"/>
                  <a:chOff x="4071" y="982"/>
                  <a:chExt cx="425" cy="448"/>
                </a:xfrm>
              </p:grpSpPr>
              <p:grpSp>
                <p:nvGrpSpPr>
                  <p:cNvPr id="136" name="Group 111"/>
                  <p:cNvGrpSpPr>
                    <a:grpSpLocks/>
                  </p:cNvGrpSpPr>
                  <p:nvPr/>
                </p:nvGrpSpPr>
                <p:grpSpPr bwMode="auto">
                  <a:xfrm>
                    <a:off x="4071" y="982"/>
                    <a:ext cx="425" cy="448"/>
                    <a:chOff x="4071" y="982"/>
                    <a:chExt cx="425" cy="448"/>
                  </a:xfrm>
                </p:grpSpPr>
                <p:grpSp>
                  <p:nvGrpSpPr>
                    <p:cNvPr id="138" name="Group 112"/>
                    <p:cNvGrpSpPr>
                      <a:grpSpLocks/>
                    </p:cNvGrpSpPr>
                    <p:nvPr/>
                  </p:nvGrpSpPr>
                  <p:grpSpPr bwMode="auto">
                    <a:xfrm>
                      <a:off x="4182" y="1010"/>
                      <a:ext cx="314" cy="366"/>
                      <a:chOff x="4182" y="1010"/>
                      <a:chExt cx="314" cy="366"/>
                    </a:xfrm>
                  </p:grpSpPr>
                  <p:grpSp>
                    <p:nvGrpSpPr>
                      <p:cNvPr id="142" name="Group 113"/>
                      <p:cNvGrpSpPr>
                        <a:grpSpLocks/>
                      </p:cNvGrpSpPr>
                      <p:nvPr/>
                    </p:nvGrpSpPr>
                    <p:grpSpPr bwMode="auto">
                      <a:xfrm>
                        <a:off x="4220" y="1010"/>
                        <a:ext cx="276" cy="366"/>
                        <a:chOff x="4220" y="1010"/>
                        <a:chExt cx="276" cy="366"/>
                      </a:xfrm>
                    </p:grpSpPr>
                    <p:sp>
                      <p:nvSpPr>
                        <p:cNvPr id="146" name="Oval 114"/>
                        <p:cNvSpPr>
                          <a:spLocks noChangeArrowheads="1"/>
                        </p:cNvSpPr>
                        <p:nvPr/>
                      </p:nvSpPr>
                      <p:spPr bwMode="auto">
                        <a:xfrm>
                          <a:off x="4365" y="1228"/>
                          <a:ext cx="131" cy="9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7" name="Oval 115"/>
                        <p:cNvSpPr>
                          <a:spLocks noChangeArrowheads="1"/>
                        </p:cNvSpPr>
                        <p:nvPr/>
                      </p:nvSpPr>
                      <p:spPr bwMode="auto">
                        <a:xfrm>
                          <a:off x="4254" y="1254"/>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8" name="Oval 116"/>
                        <p:cNvSpPr>
                          <a:spLocks noChangeArrowheads="1"/>
                        </p:cNvSpPr>
                        <p:nvPr/>
                      </p:nvSpPr>
                      <p:spPr bwMode="auto">
                        <a:xfrm>
                          <a:off x="4329" y="1091"/>
                          <a:ext cx="131" cy="9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9" name="Oval 117"/>
                        <p:cNvSpPr>
                          <a:spLocks noChangeArrowheads="1"/>
                        </p:cNvSpPr>
                        <p:nvPr/>
                      </p:nvSpPr>
                      <p:spPr bwMode="auto">
                        <a:xfrm>
                          <a:off x="4220" y="1010"/>
                          <a:ext cx="166"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50" name="Freeform 118"/>
                        <p:cNvSpPr>
                          <a:spLocks/>
                        </p:cNvSpPr>
                        <p:nvPr/>
                      </p:nvSpPr>
                      <p:spPr bwMode="auto">
                        <a:xfrm>
                          <a:off x="4332" y="1092"/>
                          <a:ext cx="113" cy="208"/>
                        </a:xfrm>
                        <a:custGeom>
                          <a:avLst/>
                          <a:gdLst>
                            <a:gd name="T0" fmla="*/ 112 w 113"/>
                            <a:gd name="T1" fmla="*/ 205 h 208"/>
                            <a:gd name="T2" fmla="*/ 63 w 113"/>
                            <a:gd name="T3" fmla="*/ 207 h 208"/>
                            <a:gd name="T4" fmla="*/ 0 w 113"/>
                            <a:gd name="T5" fmla="*/ 0 h 208"/>
                            <a:gd name="T6" fmla="*/ 70 w 113"/>
                            <a:gd name="T7" fmla="*/ 15 h 208"/>
                            <a:gd name="T8" fmla="*/ 71 w 113"/>
                            <a:gd name="T9" fmla="*/ 117 h 208"/>
                            <a:gd name="T10" fmla="*/ 112 w 113"/>
                            <a:gd name="T11" fmla="*/ 205 h 208"/>
                          </a:gdLst>
                          <a:ahLst/>
                          <a:cxnLst>
                            <a:cxn ang="0">
                              <a:pos x="T0" y="T1"/>
                            </a:cxn>
                            <a:cxn ang="0">
                              <a:pos x="T2" y="T3"/>
                            </a:cxn>
                            <a:cxn ang="0">
                              <a:pos x="T4" y="T5"/>
                            </a:cxn>
                            <a:cxn ang="0">
                              <a:pos x="T6" y="T7"/>
                            </a:cxn>
                            <a:cxn ang="0">
                              <a:pos x="T8" y="T9"/>
                            </a:cxn>
                            <a:cxn ang="0">
                              <a:pos x="T10" y="T11"/>
                            </a:cxn>
                          </a:cxnLst>
                          <a:rect l="0" t="0" r="r" b="b"/>
                          <a:pathLst>
                            <a:path w="113" h="208">
                              <a:moveTo>
                                <a:pt x="112" y="205"/>
                              </a:moveTo>
                              <a:lnTo>
                                <a:pt x="63" y="207"/>
                              </a:lnTo>
                              <a:lnTo>
                                <a:pt x="0" y="0"/>
                              </a:lnTo>
                              <a:lnTo>
                                <a:pt x="70" y="15"/>
                              </a:lnTo>
                              <a:lnTo>
                                <a:pt x="71" y="117"/>
                              </a:lnTo>
                              <a:lnTo>
                                <a:pt x="112" y="205"/>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43" name="Oval 119"/>
                      <p:cNvSpPr>
                        <a:spLocks noChangeArrowheads="1"/>
                      </p:cNvSpPr>
                      <p:nvPr/>
                    </p:nvSpPr>
                    <p:spPr bwMode="auto">
                      <a:xfrm>
                        <a:off x="4182" y="1119"/>
                        <a:ext cx="240"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4" name="Oval 120"/>
                      <p:cNvSpPr>
                        <a:spLocks noChangeArrowheads="1"/>
                      </p:cNvSpPr>
                      <p:nvPr/>
                    </p:nvSpPr>
                    <p:spPr bwMode="auto">
                      <a:xfrm>
                        <a:off x="4182" y="1228"/>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5" name="Freeform 121"/>
                      <p:cNvSpPr>
                        <a:spLocks/>
                      </p:cNvSpPr>
                      <p:nvPr/>
                    </p:nvSpPr>
                    <p:spPr bwMode="auto">
                      <a:xfrm>
                        <a:off x="4235" y="1068"/>
                        <a:ext cx="121" cy="224"/>
                      </a:xfrm>
                      <a:custGeom>
                        <a:avLst/>
                        <a:gdLst>
                          <a:gd name="T0" fmla="*/ 110 w 121"/>
                          <a:gd name="T1" fmla="*/ 38 h 224"/>
                          <a:gd name="T2" fmla="*/ 97 w 121"/>
                          <a:gd name="T3" fmla="*/ 85 h 224"/>
                          <a:gd name="T4" fmla="*/ 120 w 121"/>
                          <a:gd name="T5" fmla="*/ 192 h 224"/>
                          <a:gd name="T6" fmla="*/ 72 w 121"/>
                          <a:gd name="T7" fmla="*/ 223 h 224"/>
                          <a:gd name="T8" fmla="*/ 0 w 121"/>
                          <a:gd name="T9" fmla="*/ 95 h 224"/>
                          <a:gd name="T10" fmla="*/ 57 w 121"/>
                          <a:gd name="T11" fmla="*/ 0 h 224"/>
                          <a:gd name="T12" fmla="*/ 110 w 121"/>
                          <a:gd name="T13" fmla="*/ 38 h 224"/>
                        </a:gdLst>
                        <a:ahLst/>
                        <a:cxnLst>
                          <a:cxn ang="0">
                            <a:pos x="T0" y="T1"/>
                          </a:cxn>
                          <a:cxn ang="0">
                            <a:pos x="T2" y="T3"/>
                          </a:cxn>
                          <a:cxn ang="0">
                            <a:pos x="T4" y="T5"/>
                          </a:cxn>
                          <a:cxn ang="0">
                            <a:pos x="T6" y="T7"/>
                          </a:cxn>
                          <a:cxn ang="0">
                            <a:pos x="T8" y="T9"/>
                          </a:cxn>
                          <a:cxn ang="0">
                            <a:pos x="T10" y="T11"/>
                          </a:cxn>
                          <a:cxn ang="0">
                            <a:pos x="T12" y="T13"/>
                          </a:cxn>
                        </a:cxnLst>
                        <a:rect l="0" t="0" r="r" b="b"/>
                        <a:pathLst>
                          <a:path w="121" h="224">
                            <a:moveTo>
                              <a:pt x="110" y="38"/>
                            </a:moveTo>
                            <a:lnTo>
                              <a:pt x="97" y="85"/>
                            </a:lnTo>
                            <a:lnTo>
                              <a:pt x="120" y="192"/>
                            </a:lnTo>
                            <a:lnTo>
                              <a:pt x="72" y="223"/>
                            </a:lnTo>
                            <a:lnTo>
                              <a:pt x="0" y="95"/>
                            </a:lnTo>
                            <a:lnTo>
                              <a:pt x="57" y="0"/>
                            </a:lnTo>
                            <a:lnTo>
                              <a:pt x="110" y="3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9" name="Oval 122"/>
                    <p:cNvSpPr>
                      <a:spLocks noChangeArrowheads="1"/>
                    </p:cNvSpPr>
                    <p:nvPr/>
                  </p:nvSpPr>
                  <p:spPr bwMode="auto">
                    <a:xfrm>
                      <a:off x="4182" y="1336"/>
                      <a:ext cx="129"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0" name="Oval 123"/>
                    <p:cNvSpPr>
                      <a:spLocks noChangeArrowheads="1"/>
                    </p:cNvSpPr>
                    <p:nvPr/>
                  </p:nvSpPr>
                  <p:spPr bwMode="auto">
                    <a:xfrm>
                      <a:off x="4071" y="982"/>
                      <a:ext cx="168" cy="12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1" name="Freeform 124"/>
                    <p:cNvSpPr>
                      <a:spLocks/>
                    </p:cNvSpPr>
                    <p:nvPr/>
                  </p:nvSpPr>
                  <p:spPr bwMode="auto">
                    <a:xfrm>
                      <a:off x="4224" y="1313"/>
                      <a:ext cx="85" cy="39"/>
                    </a:xfrm>
                    <a:custGeom>
                      <a:avLst/>
                      <a:gdLst>
                        <a:gd name="T0" fmla="*/ 84 w 85"/>
                        <a:gd name="T1" fmla="*/ 24 h 39"/>
                        <a:gd name="T2" fmla="*/ 58 w 85"/>
                        <a:gd name="T3" fmla="*/ 38 h 39"/>
                        <a:gd name="T4" fmla="*/ 0 w 85"/>
                        <a:gd name="T5" fmla="*/ 18 h 39"/>
                        <a:gd name="T6" fmla="*/ 58 w 85"/>
                        <a:gd name="T7" fmla="*/ 0 h 39"/>
                        <a:gd name="T8" fmla="*/ 84 w 85"/>
                        <a:gd name="T9" fmla="*/ 24 h 39"/>
                      </a:gdLst>
                      <a:ahLst/>
                      <a:cxnLst>
                        <a:cxn ang="0">
                          <a:pos x="T0" y="T1"/>
                        </a:cxn>
                        <a:cxn ang="0">
                          <a:pos x="T2" y="T3"/>
                        </a:cxn>
                        <a:cxn ang="0">
                          <a:pos x="T4" y="T5"/>
                        </a:cxn>
                        <a:cxn ang="0">
                          <a:pos x="T6" y="T7"/>
                        </a:cxn>
                        <a:cxn ang="0">
                          <a:pos x="T8" y="T9"/>
                        </a:cxn>
                      </a:cxnLst>
                      <a:rect l="0" t="0" r="r" b="b"/>
                      <a:pathLst>
                        <a:path w="85" h="39">
                          <a:moveTo>
                            <a:pt x="84" y="24"/>
                          </a:moveTo>
                          <a:lnTo>
                            <a:pt x="58" y="38"/>
                          </a:lnTo>
                          <a:lnTo>
                            <a:pt x="0" y="18"/>
                          </a:lnTo>
                          <a:lnTo>
                            <a:pt x="58" y="0"/>
                          </a:lnTo>
                          <a:lnTo>
                            <a:pt x="84" y="2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7" name="Freeform 125"/>
                  <p:cNvSpPr>
                    <a:spLocks/>
                  </p:cNvSpPr>
                  <p:nvPr/>
                </p:nvSpPr>
                <p:spPr bwMode="auto">
                  <a:xfrm>
                    <a:off x="4209" y="1042"/>
                    <a:ext cx="47" cy="68"/>
                  </a:xfrm>
                  <a:custGeom>
                    <a:avLst/>
                    <a:gdLst>
                      <a:gd name="T0" fmla="*/ 23 w 47"/>
                      <a:gd name="T1" fmla="*/ 0 h 68"/>
                      <a:gd name="T2" fmla="*/ 46 w 47"/>
                      <a:gd name="T3" fmla="*/ 1 h 68"/>
                      <a:gd name="T4" fmla="*/ 38 w 47"/>
                      <a:gd name="T5" fmla="*/ 67 h 68"/>
                      <a:gd name="T6" fmla="*/ 0 w 47"/>
                      <a:gd name="T7" fmla="*/ 54 h 68"/>
                      <a:gd name="T8" fmla="*/ 23 w 47"/>
                      <a:gd name="T9" fmla="*/ 0 h 68"/>
                    </a:gdLst>
                    <a:ahLst/>
                    <a:cxnLst>
                      <a:cxn ang="0">
                        <a:pos x="T0" y="T1"/>
                      </a:cxn>
                      <a:cxn ang="0">
                        <a:pos x="T2" y="T3"/>
                      </a:cxn>
                      <a:cxn ang="0">
                        <a:pos x="T4" y="T5"/>
                      </a:cxn>
                      <a:cxn ang="0">
                        <a:pos x="T6" y="T7"/>
                      </a:cxn>
                      <a:cxn ang="0">
                        <a:pos x="T8" y="T9"/>
                      </a:cxn>
                    </a:cxnLst>
                    <a:rect l="0" t="0" r="r" b="b"/>
                    <a:pathLst>
                      <a:path w="47" h="68">
                        <a:moveTo>
                          <a:pt x="23" y="0"/>
                        </a:moveTo>
                        <a:lnTo>
                          <a:pt x="46" y="1"/>
                        </a:lnTo>
                        <a:lnTo>
                          <a:pt x="38" y="67"/>
                        </a:lnTo>
                        <a:lnTo>
                          <a:pt x="0" y="54"/>
                        </a:lnTo>
                        <a:lnTo>
                          <a:pt x="23"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27" name="Group 126"/>
                <p:cNvGrpSpPr>
                  <a:grpSpLocks/>
                </p:cNvGrpSpPr>
                <p:nvPr/>
              </p:nvGrpSpPr>
              <p:grpSpPr bwMode="auto">
                <a:xfrm>
                  <a:off x="3926" y="902"/>
                  <a:ext cx="385" cy="556"/>
                  <a:chOff x="3926" y="902"/>
                  <a:chExt cx="385" cy="556"/>
                </a:xfrm>
              </p:grpSpPr>
              <p:sp>
                <p:nvSpPr>
                  <p:cNvPr id="130" name="Oval 127"/>
                  <p:cNvSpPr>
                    <a:spLocks noChangeArrowheads="1"/>
                  </p:cNvSpPr>
                  <p:nvPr/>
                </p:nvSpPr>
                <p:spPr bwMode="auto">
                  <a:xfrm>
                    <a:off x="3961" y="1228"/>
                    <a:ext cx="314"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1" name="Oval 128"/>
                  <p:cNvSpPr>
                    <a:spLocks noChangeArrowheads="1"/>
                  </p:cNvSpPr>
                  <p:nvPr/>
                </p:nvSpPr>
                <p:spPr bwMode="auto">
                  <a:xfrm>
                    <a:off x="3997" y="1065"/>
                    <a:ext cx="314" cy="23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2" name="Oval 129"/>
                  <p:cNvSpPr>
                    <a:spLocks noChangeArrowheads="1"/>
                  </p:cNvSpPr>
                  <p:nvPr/>
                </p:nvSpPr>
                <p:spPr bwMode="auto">
                  <a:xfrm>
                    <a:off x="3926" y="902"/>
                    <a:ext cx="241"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3" name="Oval 130"/>
                  <p:cNvSpPr>
                    <a:spLocks noChangeArrowheads="1"/>
                  </p:cNvSpPr>
                  <p:nvPr/>
                </p:nvSpPr>
                <p:spPr bwMode="auto">
                  <a:xfrm>
                    <a:off x="4071" y="1010"/>
                    <a:ext cx="131"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4" name="Freeform 131"/>
                  <p:cNvSpPr>
                    <a:spLocks/>
                  </p:cNvSpPr>
                  <p:nvPr/>
                </p:nvSpPr>
                <p:spPr bwMode="auto">
                  <a:xfrm>
                    <a:off x="4000" y="990"/>
                    <a:ext cx="208" cy="202"/>
                  </a:xfrm>
                  <a:custGeom>
                    <a:avLst/>
                    <a:gdLst>
                      <a:gd name="T0" fmla="*/ 146 w 208"/>
                      <a:gd name="T1" fmla="*/ 8 h 202"/>
                      <a:gd name="T2" fmla="*/ 145 w 208"/>
                      <a:gd name="T3" fmla="*/ 32 h 202"/>
                      <a:gd name="T4" fmla="*/ 194 w 208"/>
                      <a:gd name="T5" fmla="*/ 77 h 202"/>
                      <a:gd name="T6" fmla="*/ 207 w 208"/>
                      <a:gd name="T7" fmla="*/ 82 h 202"/>
                      <a:gd name="T8" fmla="*/ 133 w 208"/>
                      <a:gd name="T9" fmla="*/ 201 h 202"/>
                      <a:gd name="T10" fmla="*/ 0 w 208"/>
                      <a:gd name="T11" fmla="*/ 0 h 202"/>
                      <a:gd name="T12" fmla="*/ 146 w 208"/>
                      <a:gd name="T13" fmla="*/ 8 h 202"/>
                    </a:gdLst>
                    <a:ahLst/>
                    <a:cxnLst>
                      <a:cxn ang="0">
                        <a:pos x="T0" y="T1"/>
                      </a:cxn>
                      <a:cxn ang="0">
                        <a:pos x="T2" y="T3"/>
                      </a:cxn>
                      <a:cxn ang="0">
                        <a:pos x="T4" y="T5"/>
                      </a:cxn>
                      <a:cxn ang="0">
                        <a:pos x="T6" y="T7"/>
                      </a:cxn>
                      <a:cxn ang="0">
                        <a:pos x="T8" y="T9"/>
                      </a:cxn>
                      <a:cxn ang="0">
                        <a:pos x="T10" y="T11"/>
                      </a:cxn>
                      <a:cxn ang="0">
                        <a:pos x="T12" y="T13"/>
                      </a:cxn>
                    </a:cxnLst>
                    <a:rect l="0" t="0" r="r" b="b"/>
                    <a:pathLst>
                      <a:path w="208" h="202">
                        <a:moveTo>
                          <a:pt x="146" y="8"/>
                        </a:moveTo>
                        <a:lnTo>
                          <a:pt x="145" y="32"/>
                        </a:lnTo>
                        <a:lnTo>
                          <a:pt x="194" y="77"/>
                        </a:lnTo>
                        <a:lnTo>
                          <a:pt x="207" y="82"/>
                        </a:lnTo>
                        <a:lnTo>
                          <a:pt x="133" y="201"/>
                        </a:lnTo>
                        <a:lnTo>
                          <a:pt x="0" y="0"/>
                        </a:lnTo>
                        <a:lnTo>
                          <a:pt x="146"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35" name="Freeform 132"/>
                  <p:cNvSpPr>
                    <a:spLocks/>
                  </p:cNvSpPr>
                  <p:nvPr/>
                </p:nvSpPr>
                <p:spPr bwMode="auto">
                  <a:xfrm>
                    <a:off x="4103" y="1271"/>
                    <a:ext cx="133" cy="54"/>
                  </a:xfrm>
                  <a:custGeom>
                    <a:avLst/>
                    <a:gdLst>
                      <a:gd name="T0" fmla="*/ 117 w 133"/>
                      <a:gd name="T1" fmla="*/ 8 h 54"/>
                      <a:gd name="T2" fmla="*/ 132 w 133"/>
                      <a:gd name="T3" fmla="*/ 25 h 54"/>
                      <a:gd name="T4" fmla="*/ 0 w 133"/>
                      <a:gd name="T5" fmla="*/ 53 h 54"/>
                      <a:gd name="T6" fmla="*/ 4 w 133"/>
                      <a:gd name="T7" fmla="*/ 0 h 54"/>
                      <a:gd name="T8" fmla="*/ 117 w 133"/>
                      <a:gd name="T9" fmla="*/ 8 h 54"/>
                    </a:gdLst>
                    <a:ahLst/>
                    <a:cxnLst>
                      <a:cxn ang="0">
                        <a:pos x="T0" y="T1"/>
                      </a:cxn>
                      <a:cxn ang="0">
                        <a:pos x="T2" y="T3"/>
                      </a:cxn>
                      <a:cxn ang="0">
                        <a:pos x="T4" y="T5"/>
                      </a:cxn>
                      <a:cxn ang="0">
                        <a:pos x="T6" y="T7"/>
                      </a:cxn>
                      <a:cxn ang="0">
                        <a:pos x="T8" y="T9"/>
                      </a:cxn>
                    </a:cxnLst>
                    <a:rect l="0" t="0" r="r" b="b"/>
                    <a:pathLst>
                      <a:path w="133" h="54">
                        <a:moveTo>
                          <a:pt x="117" y="8"/>
                        </a:moveTo>
                        <a:lnTo>
                          <a:pt x="132" y="25"/>
                        </a:lnTo>
                        <a:lnTo>
                          <a:pt x="0" y="53"/>
                        </a:lnTo>
                        <a:lnTo>
                          <a:pt x="4" y="0"/>
                        </a:lnTo>
                        <a:lnTo>
                          <a:pt x="117"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8" name="Oval 133"/>
                <p:cNvSpPr>
                  <a:spLocks noChangeArrowheads="1"/>
                </p:cNvSpPr>
                <p:nvPr/>
              </p:nvSpPr>
              <p:spPr bwMode="auto">
                <a:xfrm>
                  <a:off x="3926" y="1391"/>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9" name="Freeform 134"/>
                <p:cNvSpPr>
                  <a:spLocks/>
                </p:cNvSpPr>
                <p:nvPr/>
              </p:nvSpPr>
              <p:spPr bwMode="auto">
                <a:xfrm>
                  <a:off x="4041" y="1378"/>
                  <a:ext cx="87" cy="65"/>
                </a:xfrm>
                <a:custGeom>
                  <a:avLst/>
                  <a:gdLst>
                    <a:gd name="T0" fmla="*/ 34 w 87"/>
                    <a:gd name="T1" fmla="*/ 64 h 65"/>
                    <a:gd name="T2" fmla="*/ 86 w 87"/>
                    <a:gd name="T3" fmla="*/ 41 h 65"/>
                    <a:gd name="T4" fmla="*/ 27 w 87"/>
                    <a:gd name="T5" fmla="*/ 0 h 65"/>
                    <a:gd name="T6" fmla="*/ 0 w 87"/>
                    <a:gd name="T7" fmla="*/ 23 h 65"/>
                    <a:gd name="T8" fmla="*/ 34 w 87"/>
                    <a:gd name="T9" fmla="*/ 64 h 65"/>
                  </a:gdLst>
                  <a:ahLst/>
                  <a:cxnLst>
                    <a:cxn ang="0">
                      <a:pos x="T0" y="T1"/>
                    </a:cxn>
                    <a:cxn ang="0">
                      <a:pos x="T2" y="T3"/>
                    </a:cxn>
                    <a:cxn ang="0">
                      <a:pos x="T4" y="T5"/>
                    </a:cxn>
                    <a:cxn ang="0">
                      <a:pos x="T6" y="T7"/>
                    </a:cxn>
                    <a:cxn ang="0">
                      <a:pos x="T8" y="T9"/>
                    </a:cxn>
                  </a:cxnLst>
                  <a:rect l="0" t="0" r="r" b="b"/>
                  <a:pathLst>
                    <a:path w="87" h="65">
                      <a:moveTo>
                        <a:pt x="34" y="64"/>
                      </a:moveTo>
                      <a:lnTo>
                        <a:pt x="86" y="41"/>
                      </a:lnTo>
                      <a:lnTo>
                        <a:pt x="27" y="0"/>
                      </a:lnTo>
                      <a:lnTo>
                        <a:pt x="0" y="23"/>
                      </a:lnTo>
                      <a:lnTo>
                        <a:pt x="34" y="6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2" name="Oval 135"/>
              <p:cNvSpPr>
                <a:spLocks noChangeArrowheads="1"/>
              </p:cNvSpPr>
              <p:nvPr/>
            </p:nvSpPr>
            <p:spPr bwMode="auto">
              <a:xfrm>
                <a:off x="3567" y="1513"/>
                <a:ext cx="204" cy="14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3" name="Oval 136"/>
              <p:cNvSpPr>
                <a:spLocks noChangeArrowheads="1"/>
              </p:cNvSpPr>
              <p:nvPr/>
            </p:nvSpPr>
            <p:spPr bwMode="auto">
              <a:xfrm>
                <a:off x="3742" y="1513"/>
                <a:ext cx="168" cy="12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4" name="Oval 137"/>
              <p:cNvSpPr>
                <a:spLocks noChangeArrowheads="1"/>
              </p:cNvSpPr>
              <p:nvPr/>
            </p:nvSpPr>
            <p:spPr bwMode="auto">
              <a:xfrm>
                <a:off x="3843" y="1469"/>
                <a:ext cx="166" cy="12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5" name="Freeform 138"/>
              <p:cNvSpPr>
                <a:spLocks/>
              </p:cNvSpPr>
              <p:nvPr/>
            </p:nvSpPr>
            <p:spPr bwMode="auto">
              <a:xfrm>
                <a:off x="3696" y="1448"/>
                <a:ext cx="345" cy="171"/>
              </a:xfrm>
              <a:custGeom>
                <a:avLst/>
                <a:gdLst>
                  <a:gd name="T0" fmla="*/ 321 w 345"/>
                  <a:gd name="T1" fmla="*/ 49 h 171"/>
                  <a:gd name="T2" fmla="*/ 288 w 345"/>
                  <a:gd name="T3" fmla="*/ 60 h 171"/>
                  <a:gd name="T4" fmla="*/ 195 w 345"/>
                  <a:gd name="T5" fmla="*/ 129 h 171"/>
                  <a:gd name="T6" fmla="*/ 174 w 345"/>
                  <a:gd name="T7" fmla="*/ 158 h 171"/>
                  <a:gd name="T8" fmla="*/ 73 w 345"/>
                  <a:gd name="T9" fmla="*/ 158 h 171"/>
                  <a:gd name="T10" fmla="*/ 52 w 345"/>
                  <a:gd name="T11" fmla="*/ 170 h 171"/>
                  <a:gd name="T12" fmla="*/ 0 w 345"/>
                  <a:gd name="T13" fmla="*/ 119 h 171"/>
                  <a:gd name="T14" fmla="*/ 233 w 345"/>
                  <a:gd name="T15" fmla="*/ 0 h 171"/>
                  <a:gd name="T16" fmla="*/ 344 w 345"/>
                  <a:gd name="T17" fmla="*/ 27 h 171"/>
                  <a:gd name="T18" fmla="*/ 321 w 345"/>
                  <a:gd name="T19" fmla="*/ 4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5" h="171">
                    <a:moveTo>
                      <a:pt x="321" y="49"/>
                    </a:moveTo>
                    <a:lnTo>
                      <a:pt x="288" y="60"/>
                    </a:lnTo>
                    <a:lnTo>
                      <a:pt x="195" y="129"/>
                    </a:lnTo>
                    <a:lnTo>
                      <a:pt x="174" y="158"/>
                    </a:lnTo>
                    <a:lnTo>
                      <a:pt x="73" y="158"/>
                    </a:lnTo>
                    <a:lnTo>
                      <a:pt x="52" y="170"/>
                    </a:lnTo>
                    <a:lnTo>
                      <a:pt x="0" y="119"/>
                    </a:lnTo>
                    <a:lnTo>
                      <a:pt x="233" y="0"/>
                    </a:lnTo>
                    <a:lnTo>
                      <a:pt x="344" y="27"/>
                    </a:lnTo>
                    <a:lnTo>
                      <a:pt x="321" y="4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2" name="Group 139"/>
            <p:cNvGrpSpPr>
              <a:grpSpLocks/>
            </p:cNvGrpSpPr>
            <p:nvPr/>
          </p:nvGrpSpPr>
          <p:grpSpPr bwMode="auto">
            <a:xfrm>
              <a:off x="2248" y="907"/>
              <a:ext cx="556" cy="525"/>
              <a:chOff x="2248" y="907"/>
              <a:chExt cx="556" cy="525"/>
            </a:xfrm>
          </p:grpSpPr>
          <p:grpSp>
            <p:nvGrpSpPr>
              <p:cNvPr id="106" name="Group 140"/>
              <p:cNvGrpSpPr>
                <a:grpSpLocks/>
              </p:cNvGrpSpPr>
              <p:nvPr/>
            </p:nvGrpSpPr>
            <p:grpSpPr bwMode="auto">
              <a:xfrm>
                <a:off x="2248" y="982"/>
                <a:ext cx="299" cy="314"/>
                <a:chOff x="2248" y="982"/>
                <a:chExt cx="299" cy="314"/>
              </a:xfrm>
            </p:grpSpPr>
            <p:sp>
              <p:nvSpPr>
                <p:cNvPr id="117" name="Oval 141"/>
                <p:cNvSpPr>
                  <a:spLocks noChangeArrowheads="1"/>
                </p:cNvSpPr>
                <p:nvPr/>
              </p:nvSpPr>
              <p:spPr bwMode="auto">
                <a:xfrm>
                  <a:off x="2248" y="1091"/>
                  <a:ext cx="129" cy="9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8" name="Oval 142"/>
                <p:cNvSpPr>
                  <a:spLocks noChangeArrowheads="1"/>
                </p:cNvSpPr>
                <p:nvPr/>
              </p:nvSpPr>
              <p:spPr bwMode="auto">
                <a:xfrm>
                  <a:off x="2270" y="1174"/>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9" name="Oval 143"/>
                <p:cNvSpPr>
                  <a:spLocks noChangeArrowheads="1"/>
                </p:cNvSpPr>
                <p:nvPr/>
              </p:nvSpPr>
              <p:spPr bwMode="auto">
                <a:xfrm>
                  <a:off x="2307" y="982"/>
                  <a:ext cx="240"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0" name="Freeform 144"/>
                <p:cNvSpPr>
                  <a:spLocks/>
                </p:cNvSpPr>
                <p:nvPr/>
              </p:nvSpPr>
              <p:spPr bwMode="auto">
                <a:xfrm>
                  <a:off x="2291" y="1104"/>
                  <a:ext cx="84" cy="95"/>
                </a:xfrm>
                <a:custGeom>
                  <a:avLst/>
                  <a:gdLst>
                    <a:gd name="T0" fmla="*/ 47 w 84"/>
                    <a:gd name="T1" fmla="*/ 0 h 95"/>
                    <a:gd name="T2" fmla="*/ 0 w 84"/>
                    <a:gd name="T3" fmla="*/ 18 h 95"/>
                    <a:gd name="T4" fmla="*/ 1 w 84"/>
                    <a:gd name="T5" fmla="*/ 76 h 95"/>
                    <a:gd name="T6" fmla="*/ 16 w 84"/>
                    <a:gd name="T7" fmla="*/ 94 h 95"/>
                    <a:gd name="T8" fmla="*/ 83 w 84"/>
                    <a:gd name="T9" fmla="*/ 76 h 95"/>
                    <a:gd name="T10" fmla="*/ 47 w 84"/>
                    <a:gd name="T11" fmla="*/ 0 h 95"/>
                  </a:gdLst>
                  <a:ahLst/>
                  <a:cxnLst>
                    <a:cxn ang="0">
                      <a:pos x="T0" y="T1"/>
                    </a:cxn>
                    <a:cxn ang="0">
                      <a:pos x="T2" y="T3"/>
                    </a:cxn>
                    <a:cxn ang="0">
                      <a:pos x="T4" y="T5"/>
                    </a:cxn>
                    <a:cxn ang="0">
                      <a:pos x="T6" y="T7"/>
                    </a:cxn>
                    <a:cxn ang="0">
                      <a:pos x="T8" y="T9"/>
                    </a:cxn>
                    <a:cxn ang="0">
                      <a:pos x="T10" y="T11"/>
                    </a:cxn>
                  </a:cxnLst>
                  <a:rect l="0" t="0" r="r" b="b"/>
                  <a:pathLst>
                    <a:path w="84" h="95">
                      <a:moveTo>
                        <a:pt x="47" y="0"/>
                      </a:moveTo>
                      <a:lnTo>
                        <a:pt x="0" y="18"/>
                      </a:lnTo>
                      <a:lnTo>
                        <a:pt x="1" y="76"/>
                      </a:lnTo>
                      <a:lnTo>
                        <a:pt x="16" y="94"/>
                      </a:lnTo>
                      <a:lnTo>
                        <a:pt x="83" y="76"/>
                      </a:lnTo>
                      <a:lnTo>
                        <a:pt x="47"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07" name="Group 145"/>
              <p:cNvGrpSpPr>
                <a:grpSpLocks/>
              </p:cNvGrpSpPr>
              <p:nvPr/>
            </p:nvGrpSpPr>
            <p:grpSpPr bwMode="auto">
              <a:xfrm>
                <a:off x="2344" y="907"/>
                <a:ext cx="460" cy="525"/>
                <a:chOff x="2344" y="907"/>
                <a:chExt cx="460" cy="525"/>
              </a:xfrm>
            </p:grpSpPr>
            <p:sp>
              <p:nvSpPr>
                <p:cNvPr id="109" name="Oval 146"/>
                <p:cNvSpPr>
                  <a:spLocks noChangeArrowheads="1"/>
                </p:cNvSpPr>
                <p:nvPr/>
              </p:nvSpPr>
              <p:spPr bwMode="auto">
                <a:xfrm>
                  <a:off x="2491" y="929"/>
                  <a:ext cx="313"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0" name="Oval 147"/>
                <p:cNvSpPr>
                  <a:spLocks noChangeArrowheads="1"/>
                </p:cNvSpPr>
                <p:nvPr/>
              </p:nvSpPr>
              <p:spPr bwMode="auto">
                <a:xfrm>
                  <a:off x="2344" y="1091"/>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1" name="Oval 148"/>
                <p:cNvSpPr>
                  <a:spLocks noChangeArrowheads="1"/>
                </p:cNvSpPr>
                <p:nvPr/>
              </p:nvSpPr>
              <p:spPr bwMode="auto">
                <a:xfrm>
                  <a:off x="2380" y="1174"/>
                  <a:ext cx="242" cy="17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2" name="Oval 149"/>
                <p:cNvSpPr>
                  <a:spLocks noChangeArrowheads="1"/>
                </p:cNvSpPr>
                <p:nvPr/>
              </p:nvSpPr>
              <p:spPr bwMode="auto">
                <a:xfrm>
                  <a:off x="2454" y="1254"/>
                  <a:ext cx="240" cy="17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3" name="Oval 150"/>
                <p:cNvSpPr>
                  <a:spLocks noChangeArrowheads="1"/>
                </p:cNvSpPr>
                <p:nvPr/>
              </p:nvSpPr>
              <p:spPr bwMode="auto">
                <a:xfrm>
                  <a:off x="2471" y="1042"/>
                  <a:ext cx="214" cy="15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4" name="Oval 151"/>
                <p:cNvSpPr>
                  <a:spLocks noChangeArrowheads="1"/>
                </p:cNvSpPr>
                <p:nvPr/>
              </p:nvSpPr>
              <p:spPr bwMode="auto">
                <a:xfrm>
                  <a:off x="2656" y="907"/>
                  <a:ext cx="129"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5" name="Freeform 152"/>
                <p:cNvSpPr>
                  <a:spLocks/>
                </p:cNvSpPr>
                <p:nvPr/>
              </p:nvSpPr>
              <p:spPr bwMode="auto">
                <a:xfrm>
                  <a:off x="2541" y="1010"/>
                  <a:ext cx="151" cy="76"/>
                </a:xfrm>
                <a:custGeom>
                  <a:avLst/>
                  <a:gdLst>
                    <a:gd name="T0" fmla="*/ 0 w 151"/>
                    <a:gd name="T1" fmla="*/ 20 h 76"/>
                    <a:gd name="T2" fmla="*/ 19 w 151"/>
                    <a:gd name="T3" fmla="*/ 56 h 76"/>
                    <a:gd name="T4" fmla="*/ 150 w 151"/>
                    <a:gd name="T5" fmla="*/ 75 h 76"/>
                    <a:gd name="T6" fmla="*/ 150 w 151"/>
                    <a:gd name="T7" fmla="*/ 28 h 76"/>
                    <a:gd name="T8" fmla="*/ 9 w 151"/>
                    <a:gd name="T9" fmla="*/ 0 h 76"/>
                    <a:gd name="T10" fmla="*/ 0 w 151"/>
                    <a:gd name="T11" fmla="*/ 20 h 76"/>
                  </a:gdLst>
                  <a:ahLst/>
                  <a:cxnLst>
                    <a:cxn ang="0">
                      <a:pos x="T0" y="T1"/>
                    </a:cxn>
                    <a:cxn ang="0">
                      <a:pos x="T2" y="T3"/>
                    </a:cxn>
                    <a:cxn ang="0">
                      <a:pos x="T4" y="T5"/>
                    </a:cxn>
                    <a:cxn ang="0">
                      <a:pos x="T6" y="T7"/>
                    </a:cxn>
                    <a:cxn ang="0">
                      <a:pos x="T8" y="T9"/>
                    </a:cxn>
                    <a:cxn ang="0">
                      <a:pos x="T10" y="T11"/>
                    </a:cxn>
                  </a:cxnLst>
                  <a:rect l="0" t="0" r="r" b="b"/>
                  <a:pathLst>
                    <a:path w="151" h="76">
                      <a:moveTo>
                        <a:pt x="0" y="20"/>
                      </a:moveTo>
                      <a:lnTo>
                        <a:pt x="19" y="56"/>
                      </a:lnTo>
                      <a:lnTo>
                        <a:pt x="150" y="75"/>
                      </a:lnTo>
                      <a:lnTo>
                        <a:pt x="150" y="28"/>
                      </a:lnTo>
                      <a:lnTo>
                        <a:pt x="9" y="0"/>
                      </a:lnTo>
                      <a:lnTo>
                        <a:pt x="0" y="2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16" name="Freeform 153"/>
                <p:cNvSpPr>
                  <a:spLocks/>
                </p:cNvSpPr>
                <p:nvPr/>
              </p:nvSpPr>
              <p:spPr bwMode="auto">
                <a:xfrm>
                  <a:off x="2394" y="1149"/>
                  <a:ext cx="172" cy="159"/>
                </a:xfrm>
                <a:custGeom>
                  <a:avLst/>
                  <a:gdLst>
                    <a:gd name="T0" fmla="*/ 106 w 172"/>
                    <a:gd name="T1" fmla="*/ 0 h 159"/>
                    <a:gd name="T2" fmla="*/ 0 w 172"/>
                    <a:gd name="T3" fmla="*/ 40 h 159"/>
                    <a:gd name="T4" fmla="*/ 44 w 172"/>
                    <a:gd name="T5" fmla="*/ 71 h 159"/>
                    <a:gd name="T6" fmla="*/ 50 w 172"/>
                    <a:gd name="T7" fmla="*/ 148 h 159"/>
                    <a:gd name="T8" fmla="*/ 75 w 172"/>
                    <a:gd name="T9" fmla="*/ 158 h 159"/>
                    <a:gd name="T10" fmla="*/ 164 w 172"/>
                    <a:gd name="T11" fmla="*/ 108 h 159"/>
                    <a:gd name="T12" fmla="*/ 171 w 172"/>
                    <a:gd name="T13" fmla="*/ 16 h 159"/>
                    <a:gd name="T14" fmla="*/ 106 w 172"/>
                    <a:gd name="T15" fmla="*/ 0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159">
                      <a:moveTo>
                        <a:pt x="106" y="0"/>
                      </a:moveTo>
                      <a:lnTo>
                        <a:pt x="0" y="40"/>
                      </a:lnTo>
                      <a:lnTo>
                        <a:pt x="44" y="71"/>
                      </a:lnTo>
                      <a:lnTo>
                        <a:pt x="50" y="148"/>
                      </a:lnTo>
                      <a:lnTo>
                        <a:pt x="75" y="158"/>
                      </a:lnTo>
                      <a:lnTo>
                        <a:pt x="164" y="108"/>
                      </a:lnTo>
                      <a:lnTo>
                        <a:pt x="171" y="16"/>
                      </a:lnTo>
                      <a:lnTo>
                        <a:pt x="106"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08" name="Freeform 154"/>
              <p:cNvSpPr>
                <a:spLocks/>
              </p:cNvSpPr>
              <p:nvPr/>
            </p:nvSpPr>
            <p:spPr bwMode="auto">
              <a:xfrm>
                <a:off x="2650" y="963"/>
                <a:ext cx="88" cy="75"/>
              </a:xfrm>
              <a:custGeom>
                <a:avLst/>
                <a:gdLst>
                  <a:gd name="T0" fmla="*/ 0 w 88"/>
                  <a:gd name="T1" fmla="*/ 39 h 75"/>
                  <a:gd name="T2" fmla="*/ 37 w 88"/>
                  <a:gd name="T3" fmla="*/ 0 h 75"/>
                  <a:gd name="T4" fmla="*/ 87 w 88"/>
                  <a:gd name="T5" fmla="*/ 39 h 75"/>
                  <a:gd name="T6" fmla="*/ 45 w 88"/>
                  <a:gd name="T7" fmla="*/ 74 h 75"/>
                  <a:gd name="T8" fmla="*/ 0 w 88"/>
                  <a:gd name="T9" fmla="*/ 39 h 75"/>
                </a:gdLst>
                <a:ahLst/>
                <a:cxnLst>
                  <a:cxn ang="0">
                    <a:pos x="T0" y="T1"/>
                  </a:cxn>
                  <a:cxn ang="0">
                    <a:pos x="T2" y="T3"/>
                  </a:cxn>
                  <a:cxn ang="0">
                    <a:pos x="T4" y="T5"/>
                  </a:cxn>
                  <a:cxn ang="0">
                    <a:pos x="T6" y="T7"/>
                  </a:cxn>
                  <a:cxn ang="0">
                    <a:pos x="T8" y="T9"/>
                  </a:cxn>
                </a:cxnLst>
                <a:rect l="0" t="0" r="r" b="b"/>
                <a:pathLst>
                  <a:path w="88" h="75">
                    <a:moveTo>
                      <a:pt x="0" y="39"/>
                    </a:moveTo>
                    <a:lnTo>
                      <a:pt x="37" y="0"/>
                    </a:lnTo>
                    <a:lnTo>
                      <a:pt x="87" y="39"/>
                    </a:lnTo>
                    <a:lnTo>
                      <a:pt x="45" y="74"/>
                    </a:lnTo>
                    <a:lnTo>
                      <a:pt x="0" y="3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3" name="Group 155"/>
            <p:cNvGrpSpPr>
              <a:grpSpLocks/>
            </p:cNvGrpSpPr>
            <p:nvPr/>
          </p:nvGrpSpPr>
          <p:grpSpPr bwMode="auto">
            <a:xfrm>
              <a:off x="2529" y="820"/>
              <a:ext cx="1638" cy="883"/>
              <a:chOff x="2529" y="820"/>
              <a:chExt cx="1638" cy="883"/>
            </a:xfrm>
          </p:grpSpPr>
          <p:sp>
            <p:nvSpPr>
              <p:cNvPr id="94" name="Oval 156"/>
              <p:cNvSpPr>
                <a:spLocks noChangeArrowheads="1"/>
              </p:cNvSpPr>
              <p:nvPr/>
            </p:nvSpPr>
            <p:spPr bwMode="auto">
              <a:xfrm>
                <a:off x="3042" y="848"/>
                <a:ext cx="388" cy="28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5" name="Oval 157"/>
              <p:cNvSpPr>
                <a:spLocks noChangeArrowheads="1"/>
              </p:cNvSpPr>
              <p:nvPr/>
            </p:nvSpPr>
            <p:spPr bwMode="auto">
              <a:xfrm>
                <a:off x="3374" y="820"/>
                <a:ext cx="313"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6" name="Oval 158"/>
              <p:cNvSpPr>
                <a:spLocks noChangeArrowheads="1"/>
              </p:cNvSpPr>
              <p:nvPr/>
            </p:nvSpPr>
            <p:spPr bwMode="auto">
              <a:xfrm>
                <a:off x="3668" y="1065"/>
                <a:ext cx="499" cy="36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7" name="Oval 159"/>
              <p:cNvSpPr>
                <a:spLocks noChangeArrowheads="1"/>
              </p:cNvSpPr>
              <p:nvPr/>
            </p:nvSpPr>
            <p:spPr bwMode="auto">
              <a:xfrm>
                <a:off x="2712" y="1228"/>
                <a:ext cx="570" cy="42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8" name="Oval 160"/>
              <p:cNvSpPr>
                <a:spLocks noChangeArrowheads="1"/>
              </p:cNvSpPr>
              <p:nvPr/>
            </p:nvSpPr>
            <p:spPr bwMode="auto">
              <a:xfrm>
                <a:off x="3521" y="1282"/>
                <a:ext cx="422" cy="31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9" name="Oval 161"/>
              <p:cNvSpPr>
                <a:spLocks noChangeArrowheads="1"/>
              </p:cNvSpPr>
              <p:nvPr/>
            </p:nvSpPr>
            <p:spPr bwMode="auto">
              <a:xfrm>
                <a:off x="2564" y="1310"/>
                <a:ext cx="315" cy="229"/>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0" name="Oval 162"/>
              <p:cNvSpPr>
                <a:spLocks noChangeArrowheads="1"/>
              </p:cNvSpPr>
              <p:nvPr/>
            </p:nvSpPr>
            <p:spPr bwMode="auto">
              <a:xfrm>
                <a:off x="2529" y="1119"/>
                <a:ext cx="312"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1" name="Oval 163"/>
              <p:cNvSpPr>
                <a:spLocks noChangeArrowheads="1"/>
              </p:cNvSpPr>
              <p:nvPr/>
            </p:nvSpPr>
            <p:spPr bwMode="auto">
              <a:xfrm>
                <a:off x="2675" y="902"/>
                <a:ext cx="498" cy="36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2" name="Oval 164"/>
              <p:cNvSpPr>
                <a:spLocks noChangeArrowheads="1"/>
              </p:cNvSpPr>
              <p:nvPr/>
            </p:nvSpPr>
            <p:spPr bwMode="auto">
              <a:xfrm>
                <a:off x="3115" y="1336"/>
                <a:ext cx="500" cy="36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3" name="Oval 165"/>
              <p:cNvSpPr>
                <a:spLocks noChangeArrowheads="1"/>
              </p:cNvSpPr>
              <p:nvPr/>
            </p:nvSpPr>
            <p:spPr bwMode="auto">
              <a:xfrm>
                <a:off x="3742" y="929"/>
                <a:ext cx="386" cy="28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4" name="Oval 166"/>
              <p:cNvSpPr>
                <a:spLocks noChangeArrowheads="1"/>
              </p:cNvSpPr>
              <p:nvPr/>
            </p:nvSpPr>
            <p:spPr bwMode="auto">
              <a:xfrm>
                <a:off x="3631" y="820"/>
                <a:ext cx="351" cy="25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5" name="Freeform 167"/>
              <p:cNvSpPr>
                <a:spLocks/>
              </p:cNvSpPr>
              <p:nvPr/>
            </p:nvSpPr>
            <p:spPr bwMode="auto">
              <a:xfrm>
                <a:off x="2661" y="889"/>
                <a:ext cx="1415" cy="700"/>
              </a:xfrm>
              <a:custGeom>
                <a:avLst/>
                <a:gdLst>
                  <a:gd name="T0" fmla="*/ 436 w 1415"/>
                  <a:gd name="T1" fmla="*/ 70 h 700"/>
                  <a:gd name="T2" fmla="*/ 494 w 1415"/>
                  <a:gd name="T3" fmla="*/ 20 h 700"/>
                  <a:gd name="T4" fmla="*/ 759 w 1415"/>
                  <a:gd name="T5" fmla="*/ 24 h 700"/>
                  <a:gd name="T6" fmla="*/ 947 w 1415"/>
                  <a:gd name="T7" fmla="*/ 0 h 700"/>
                  <a:gd name="T8" fmla="*/ 1180 w 1415"/>
                  <a:gd name="T9" fmla="*/ 83 h 700"/>
                  <a:gd name="T10" fmla="*/ 1300 w 1415"/>
                  <a:gd name="T11" fmla="*/ 60 h 700"/>
                  <a:gd name="T12" fmla="*/ 1362 w 1415"/>
                  <a:gd name="T13" fmla="*/ 70 h 700"/>
                  <a:gd name="T14" fmla="*/ 1376 w 1415"/>
                  <a:gd name="T15" fmla="*/ 278 h 700"/>
                  <a:gd name="T16" fmla="*/ 1414 w 1415"/>
                  <a:gd name="T17" fmla="*/ 311 h 700"/>
                  <a:gd name="T18" fmla="*/ 1304 w 1415"/>
                  <a:gd name="T19" fmla="*/ 472 h 700"/>
                  <a:gd name="T20" fmla="*/ 1185 w 1415"/>
                  <a:gd name="T21" fmla="*/ 363 h 700"/>
                  <a:gd name="T22" fmla="*/ 1153 w 1415"/>
                  <a:gd name="T23" fmla="*/ 418 h 700"/>
                  <a:gd name="T24" fmla="*/ 986 w 1415"/>
                  <a:gd name="T25" fmla="*/ 640 h 700"/>
                  <a:gd name="T26" fmla="*/ 427 w 1415"/>
                  <a:gd name="T27" fmla="*/ 699 h 700"/>
                  <a:gd name="T28" fmla="*/ 135 w 1415"/>
                  <a:gd name="T29" fmla="*/ 655 h 700"/>
                  <a:gd name="T30" fmla="*/ 45 w 1415"/>
                  <a:gd name="T31" fmla="*/ 519 h 700"/>
                  <a:gd name="T32" fmla="*/ 45 w 1415"/>
                  <a:gd name="T33" fmla="*/ 379 h 700"/>
                  <a:gd name="T34" fmla="*/ 0 w 1415"/>
                  <a:gd name="T35" fmla="*/ 261 h 700"/>
                  <a:gd name="T36" fmla="*/ 436 w 1415"/>
                  <a:gd name="T37" fmla="*/ 7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5" h="700">
                    <a:moveTo>
                      <a:pt x="436" y="70"/>
                    </a:moveTo>
                    <a:lnTo>
                      <a:pt x="494" y="20"/>
                    </a:lnTo>
                    <a:lnTo>
                      <a:pt x="759" y="24"/>
                    </a:lnTo>
                    <a:lnTo>
                      <a:pt x="947" y="0"/>
                    </a:lnTo>
                    <a:lnTo>
                      <a:pt x="1180" y="83"/>
                    </a:lnTo>
                    <a:lnTo>
                      <a:pt x="1300" y="60"/>
                    </a:lnTo>
                    <a:lnTo>
                      <a:pt x="1362" y="70"/>
                    </a:lnTo>
                    <a:lnTo>
                      <a:pt x="1376" y="278"/>
                    </a:lnTo>
                    <a:lnTo>
                      <a:pt x="1414" y="311"/>
                    </a:lnTo>
                    <a:lnTo>
                      <a:pt x="1304" y="472"/>
                    </a:lnTo>
                    <a:lnTo>
                      <a:pt x="1185" y="363"/>
                    </a:lnTo>
                    <a:lnTo>
                      <a:pt x="1153" y="418"/>
                    </a:lnTo>
                    <a:lnTo>
                      <a:pt x="986" y="640"/>
                    </a:lnTo>
                    <a:lnTo>
                      <a:pt x="427" y="699"/>
                    </a:lnTo>
                    <a:lnTo>
                      <a:pt x="135" y="655"/>
                    </a:lnTo>
                    <a:lnTo>
                      <a:pt x="45" y="519"/>
                    </a:lnTo>
                    <a:lnTo>
                      <a:pt x="45" y="379"/>
                    </a:lnTo>
                    <a:lnTo>
                      <a:pt x="0" y="261"/>
                    </a:lnTo>
                    <a:lnTo>
                      <a:pt x="436" y="7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sp>
        <p:nvSpPr>
          <p:cNvPr id="58" name="Text Box 129"/>
          <p:cNvSpPr txBox="1">
            <a:spLocks noChangeArrowheads="1"/>
          </p:cNvSpPr>
          <p:nvPr/>
        </p:nvSpPr>
        <p:spPr bwMode="auto">
          <a:xfrm>
            <a:off x="3271632" y="2598843"/>
            <a:ext cx="748626" cy="344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互联网</a:t>
            </a: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22365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最常用的两种情况</a:t>
            </a:r>
          </a:p>
        </p:txBody>
      </p:sp>
      <p:graphicFrame>
        <p:nvGraphicFramePr>
          <p:cNvPr id="185" name="Group 179"/>
          <p:cNvGraphicFramePr>
            <a:graphicFrameLocks/>
          </p:cNvGraphicFramePr>
          <p:nvPr>
            <p:extLst>
              <p:ext uri="{D42A27DB-BD31-4B8C-83A1-F6EECF244321}">
                <p14:modId xmlns:p14="http://schemas.microsoft.com/office/powerpoint/2010/main" val="265504092"/>
              </p:ext>
            </p:extLst>
          </p:nvPr>
        </p:nvGraphicFramePr>
        <p:xfrm>
          <a:off x="766356" y="3395001"/>
          <a:ext cx="7593872" cy="941868"/>
        </p:xfrm>
        <a:graphic>
          <a:graphicData uri="http://schemas.openxmlformats.org/drawingml/2006/table">
            <a:tbl>
              <a:tblPr/>
              <a:tblGrid>
                <a:gridCol w="1306700">
                  <a:extLst>
                    <a:ext uri="{9D8B030D-6E8A-4147-A177-3AD203B41FA5}">
                      <a16:colId xmlns:a16="http://schemas.microsoft.com/office/drawing/2014/main" val="20000"/>
                    </a:ext>
                  </a:extLst>
                </a:gridCol>
                <a:gridCol w="1010335">
                  <a:extLst>
                    <a:ext uri="{9D8B030D-6E8A-4147-A177-3AD203B41FA5}">
                      <a16:colId xmlns:a16="http://schemas.microsoft.com/office/drawing/2014/main" val="20001"/>
                    </a:ext>
                  </a:extLst>
                </a:gridCol>
                <a:gridCol w="1010335">
                  <a:extLst>
                    <a:ext uri="{9D8B030D-6E8A-4147-A177-3AD203B41FA5}">
                      <a16:colId xmlns:a16="http://schemas.microsoft.com/office/drawing/2014/main" val="20002"/>
                    </a:ext>
                  </a:extLst>
                </a:gridCol>
                <a:gridCol w="1085389">
                  <a:extLst>
                    <a:ext uri="{9D8B030D-6E8A-4147-A177-3AD203B41FA5}">
                      <a16:colId xmlns:a16="http://schemas.microsoft.com/office/drawing/2014/main" val="20003"/>
                    </a:ext>
                  </a:extLst>
                </a:gridCol>
                <a:gridCol w="1085389">
                  <a:extLst>
                    <a:ext uri="{9D8B030D-6E8A-4147-A177-3AD203B41FA5}">
                      <a16:colId xmlns:a16="http://schemas.microsoft.com/office/drawing/2014/main" val="20004"/>
                    </a:ext>
                  </a:extLst>
                </a:gridCol>
                <a:gridCol w="1085389">
                  <a:extLst>
                    <a:ext uri="{9D8B030D-6E8A-4147-A177-3AD203B41FA5}">
                      <a16:colId xmlns:a16="http://schemas.microsoft.com/office/drawing/2014/main" val="20005"/>
                    </a:ext>
                  </a:extLst>
                </a:gridCol>
                <a:gridCol w="1010335">
                  <a:extLst>
                    <a:ext uri="{9D8B030D-6E8A-4147-A177-3AD203B41FA5}">
                      <a16:colId xmlns:a16="http://schemas.microsoft.com/office/drawing/2014/main" val="20006"/>
                    </a:ext>
                  </a:extLst>
                </a:gridCol>
              </a:tblGrid>
              <a:tr h="313956">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来自</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a16="http://schemas.microsoft.com/office/drawing/2014/main" val="10000"/>
                  </a:ext>
                </a:extLst>
              </a:tr>
              <a:tr h="313956">
                <a:tc>
                  <a:txBody>
                    <a:bodyPr/>
                    <a:lstStyle/>
                    <a:p>
                      <a:pPr algn="ctr">
                        <a:lnSpc>
                          <a:spcPct val="100000"/>
                        </a:lnSpc>
                        <a:spcAft>
                          <a:spcPts val="0"/>
                        </a:spcAft>
                        <a:tabLst>
                          <a:tab pos="1752600" algn="l"/>
                        </a:tabLst>
                      </a:pPr>
                      <a:r>
                        <a:rPr lang="en-US" altLang="zh-CN" sz="1400" b="1" baseline="0" dirty="0">
                          <a:solidFill>
                            <a:schemeClr val="tx1"/>
                          </a:solidFill>
                          <a:effectLst/>
                          <a:latin typeface="微软雅黑" panose="020B0503020204020204" pitchFamily="34" charset="-122"/>
                          <a:ea typeface="微软雅黑" panose="020B0503020204020204" pitchFamily="34" charset="-122"/>
                        </a:rPr>
                        <a:t>A</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a:solidFill>
                            <a:schemeClr val="tx1"/>
                          </a:solidFill>
                          <a:effectLst/>
                          <a:latin typeface="微软雅黑" panose="020B0503020204020204" pitchFamily="34" charset="-122"/>
                          <a:ea typeface="微软雅黑" panose="020B0503020204020204" pitchFamily="34" charset="-122"/>
                        </a:rPr>
                        <a:t> AP</a:t>
                      </a:r>
                      <a:r>
                        <a:rPr lang="en-US" sz="1400" b="1" baseline="-25000"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13956">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a16="http://schemas.microsoft.com/office/drawing/2014/main" val="10002"/>
                  </a:ext>
                </a:extLst>
              </a:tr>
            </a:tbl>
          </a:graphicData>
        </a:graphic>
      </p:graphicFrame>
      <p:grpSp>
        <p:nvGrpSpPr>
          <p:cNvPr id="186" name="组合 185"/>
          <p:cNvGrpSpPr/>
          <p:nvPr/>
        </p:nvGrpSpPr>
        <p:grpSpPr>
          <a:xfrm>
            <a:off x="7282255" y="1735918"/>
            <a:ext cx="597186" cy="423778"/>
            <a:chOff x="4406004" y="4260453"/>
            <a:chExt cx="542790" cy="429804"/>
          </a:xfrm>
        </p:grpSpPr>
        <p:grpSp>
          <p:nvGrpSpPr>
            <p:cNvPr id="187" name="Group 460"/>
            <p:cNvGrpSpPr>
              <a:grpSpLocks/>
            </p:cNvGrpSpPr>
            <p:nvPr/>
          </p:nvGrpSpPr>
          <p:grpSpPr bwMode="auto">
            <a:xfrm>
              <a:off x="4527888" y="4322623"/>
              <a:ext cx="420906" cy="367634"/>
              <a:chOff x="645"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97" name="组合 196"/>
          <p:cNvGrpSpPr/>
          <p:nvPr/>
        </p:nvGrpSpPr>
        <p:grpSpPr>
          <a:xfrm>
            <a:off x="6716713" y="2458056"/>
            <a:ext cx="597186" cy="423778"/>
            <a:chOff x="4406004" y="4260453"/>
            <a:chExt cx="542790" cy="429804"/>
          </a:xfrm>
        </p:grpSpPr>
        <p:grpSp>
          <p:nvGrpSpPr>
            <p:cNvPr id="198" name="Group 460"/>
            <p:cNvGrpSpPr>
              <a:grpSpLocks/>
            </p:cNvGrpSpPr>
            <p:nvPr/>
          </p:nvGrpSpPr>
          <p:grpSpPr bwMode="auto">
            <a:xfrm>
              <a:off x="4527888" y="4322623"/>
              <a:ext cx="420906" cy="367634"/>
              <a:chOff x="645" y="1570"/>
              <a:chExt cx="318" cy="318"/>
            </a:xfrm>
          </p:grpSpPr>
          <p:sp>
            <p:nvSpPr>
              <p:cNvPr id="20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7"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9" name="Group 463"/>
            <p:cNvGrpSpPr>
              <a:grpSpLocks/>
            </p:cNvGrpSpPr>
            <p:nvPr/>
          </p:nvGrpSpPr>
          <p:grpSpPr bwMode="auto">
            <a:xfrm>
              <a:off x="4406004" y="4260453"/>
              <a:ext cx="405022" cy="119404"/>
              <a:chOff x="748" y="2251"/>
              <a:chExt cx="306" cy="90"/>
            </a:xfrm>
            <a:solidFill>
              <a:srgbClr val="0066FF"/>
            </a:solidFill>
          </p:grpSpPr>
          <p:sp>
            <p:nvSpPr>
              <p:cNvPr id="20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8" name="组合 207"/>
          <p:cNvGrpSpPr/>
          <p:nvPr/>
        </p:nvGrpSpPr>
        <p:grpSpPr>
          <a:xfrm>
            <a:off x="1273812" y="2391039"/>
            <a:ext cx="597186" cy="423778"/>
            <a:chOff x="4406004" y="4260453"/>
            <a:chExt cx="542790" cy="429804"/>
          </a:xfrm>
        </p:grpSpPr>
        <p:grpSp>
          <p:nvGrpSpPr>
            <p:cNvPr id="209" name="Group 460"/>
            <p:cNvGrpSpPr>
              <a:grpSpLocks/>
            </p:cNvGrpSpPr>
            <p:nvPr/>
          </p:nvGrpSpPr>
          <p:grpSpPr bwMode="auto">
            <a:xfrm>
              <a:off x="4527888" y="4322623"/>
              <a:ext cx="420906" cy="367634"/>
              <a:chOff x="645" y="1570"/>
              <a:chExt cx="318" cy="318"/>
            </a:xfrm>
          </p:grpSpPr>
          <p:sp>
            <p:nvSpPr>
              <p:cNvPr id="2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8"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0" name="Group 463"/>
            <p:cNvGrpSpPr>
              <a:grpSpLocks/>
            </p:cNvGrpSpPr>
            <p:nvPr/>
          </p:nvGrpSpPr>
          <p:grpSpPr bwMode="auto">
            <a:xfrm>
              <a:off x="4406004" y="4260453"/>
              <a:ext cx="405022" cy="119404"/>
              <a:chOff x="748" y="2251"/>
              <a:chExt cx="306" cy="90"/>
            </a:xfrm>
            <a:solidFill>
              <a:srgbClr val="0066FF"/>
            </a:solidFill>
          </p:grpSpPr>
          <p:sp>
            <p:nvSpPr>
              <p:cNvPr id="2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19" name="组合 218"/>
          <p:cNvGrpSpPr/>
          <p:nvPr/>
        </p:nvGrpSpPr>
        <p:grpSpPr>
          <a:xfrm>
            <a:off x="5123274" y="2542763"/>
            <a:ext cx="597186" cy="423778"/>
            <a:chOff x="4406004" y="4260453"/>
            <a:chExt cx="542790" cy="429804"/>
          </a:xfrm>
        </p:grpSpPr>
        <p:grpSp>
          <p:nvGrpSpPr>
            <p:cNvPr id="220" name="Group 460"/>
            <p:cNvGrpSpPr>
              <a:grpSpLocks/>
            </p:cNvGrpSpPr>
            <p:nvPr/>
          </p:nvGrpSpPr>
          <p:grpSpPr bwMode="auto">
            <a:xfrm>
              <a:off x="4527888" y="4322623"/>
              <a:ext cx="420906" cy="367634"/>
              <a:chOff x="645" y="1570"/>
              <a:chExt cx="318" cy="318"/>
            </a:xfrm>
          </p:grpSpPr>
          <p:sp>
            <p:nvSpPr>
              <p:cNvPr id="2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29" name="Picture 462"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1" name="Group 463"/>
            <p:cNvGrpSpPr>
              <a:grpSpLocks/>
            </p:cNvGrpSpPr>
            <p:nvPr/>
          </p:nvGrpSpPr>
          <p:grpSpPr bwMode="auto">
            <a:xfrm>
              <a:off x="4406004" y="4260453"/>
              <a:ext cx="405022" cy="119404"/>
              <a:chOff x="748" y="2251"/>
              <a:chExt cx="306" cy="90"/>
            </a:xfrm>
            <a:solidFill>
              <a:srgbClr val="0066FF"/>
            </a:solidFill>
          </p:grpSpPr>
          <p:sp>
            <p:nvSpPr>
              <p:cNvPr id="2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2587982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2"/>
            <a:ext cx="8128800" cy="309386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8" y="1017564"/>
            <a:ext cx="6030051"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发送数据帧，必须经过路由器 </a:t>
            </a:r>
            <a:r>
              <a:rPr lang="en-US" altLang="zh-CN" sz="1600" b="1" dirty="0">
                <a:solidFill>
                  <a:srgbClr val="0000CC"/>
                </a:solidFill>
                <a:latin typeface="微软雅黑" pitchFamily="34" charset="-122"/>
                <a:ea typeface="微软雅黑" pitchFamily="34" charset="-122"/>
              </a:rPr>
              <a:t>R </a:t>
            </a:r>
            <a:r>
              <a:rPr lang="zh-CN" altLang="en-US" sz="1600" b="1" dirty="0">
                <a:solidFill>
                  <a:srgbClr val="0000CC"/>
                </a:solidFill>
                <a:latin typeface="微软雅黑" pitchFamily="34" charset="-122"/>
                <a:ea typeface="微软雅黑" pitchFamily="34" charset="-122"/>
              </a:rPr>
              <a:t>和 </a:t>
            </a:r>
            <a:r>
              <a:rPr lang="en-US" altLang="zh-CN" sz="1600" b="1" dirty="0">
                <a:solidFill>
                  <a:srgbClr val="0000CC"/>
                </a:solidFill>
                <a:latin typeface="微软雅黑" pitchFamily="34" charset="-122"/>
                <a:ea typeface="微软雅黑" pitchFamily="34" charset="-122"/>
              </a:rPr>
              <a:t>AP</a:t>
            </a:r>
            <a:r>
              <a:rPr lang="en-US" altLang="zh-CN" sz="1600" b="1" baseline="-25000" dirty="0">
                <a:solidFill>
                  <a:srgbClr val="0000CC"/>
                </a:solidFill>
                <a:latin typeface="微软雅黑" pitchFamily="34" charset="-122"/>
                <a:ea typeface="微软雅黑" pitchFamily="34" charset="-122"/>
              </a:rPr>
              <a:t>2</a:t>
            </a:r>
            <a:r>
              <a:rPr lang="en-US" altLang="zh-CN" sz="1600" b="1" dirty="0">
                <a:solidFill>
                  <a:srgbClr val="0000CC"/>
                </a:solidFill>
                <a:latin typeface="微软雅黑" pitchFamily="34" charset="-122"/>
                <a:ea typeface="微软雅黑" pitchFamily="34" charset="-122"/>
              </a:rPr>
              <a:t>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转发。</a:t>
            </a: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
        <p:nvSpPr>
          <p:cNvPr id="181" name="Oval 4"/>
          <p:cNvSpPr>
            <a:spLocks noChangeArrowheads="1"/>
          </p:cNvSpPr>
          <p:nvPr/>
        </p:nvSpPr>
        <p:spPr bwMode="auto">
          <a:xfrm>
            <a:off x="4935961" y="1608993"/>
            <a:ext cx="3460693"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Line 55"/>
          <p:cNvSpPr>
            <a:spLocks noChangeShapeType="1"/>
          </p:cNvSpPr>
          <p:nvPr/>
        </p:nvSpPr>
        <p:spPr bwMode="auto">
          <a:xfrm>
            <a:off x="4568939" y="2341287"/>
            <a:ext cx="1345306" cy="88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60"/>
          <p:cNvSpPr>
            <a:spLocks noChangeShapeType="1"/>
          </p:cNvSpPr>
          <p:nvPr/>
        </p:nvSpPr>
        <p:spPr bwMode="auto">
          <a:xfrm>
            <a:off x="4512884" y="2415256"/>
            <a:ext cx="60058" cy="53701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aphicFrame>
        <p:nvGraphicFramePr>
          <p:cNvPr id="216" name="Object 63"/>
          <p:cNvGraphicFramePr>
            <a:graphicFrameLocks noChangeAspect="1"/>
          </p:cNvGraphicFramePr>
          <p:nvPr>
            <p:extLst>
              <p:ext uri="{D42A27DB-BD31-4B8C-83A1-F6EECF244321}">
                <p14:modId xmlns:p14="http://schemas.microsoft.com/office/powerpoint/2010/main" val="1928103003"/>
              </p:ext>
            </p:extLst>
          </p:nvPr>
        </p:nvGraphicFramePr>
        <p:xfrm>
          <a:off x="3725453" y="2683024"/>
          <a:ext cx="1513469" cy="939407"/>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4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25453" y="2683024"/>
                        <a:ext cx="1513469" cy="93940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17" name="Text Box 64"/>
          <p:cNvSpPr txBox="1">
            <a:spLocks noChangeArrowheads="1"/>
          </p:cNvSpPr>
          <p:nvPr/>
        </p:nvSpPr>
        <p:spPr bwMode="auto">
          <a:xfrm>
            <a:off x="4141857" y="2978398"/>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p>
        </p:txBody>
      </p:sp>
      <p:sp>
        <p:nvSpPr>
          <p:cNvPr id="218" name="Text Box 66"/>
          <p:cNvSpPr txBox="1">
            <a:spLocks noChangeArrowheads="1"/>
          </p:cNvSpPr>
          <p:nvPr/>
        </p:nvSpPr>
        <p:spPr bwMode="auto">
          <a:xfrm>
            <a:off x="4364740" y="1967003"/>
            <a:ext cx="297534"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R</a:t>
            </a:r>
            <a:endParaRPr kumimoji="1" lang="en-US" altLang="zh-CN" sz="1200" b="1" baseline="-25000">
              <a:latin typeface="微软雅黑" panose="020B0503020204020204" pitchFamily="34" charset="-122"/>
              <a:ea typeface="微软雅黑" panose="020B0503020204020204" pitchFamily="34" charset="-122"/>
            </a:endParaRPr>
          </a:p>
        </p:txBody>
      </p:sp>
      <p:sp>
        <p:nvSpPr>
          <p:cNvPr id="219" name="Oval 67"/>
          <p:cNvSpPr>
            <a:spLocks noChangeArrowheads="1"/>
          </p:cNvSpPr>
          <p:nvPr/>
        </p:nvSpPr>
        <p:spPr bwMode="auto">
          <a:xfrm>
            <a:off x="738554" y="1608993"/>
            <a:ext cx="3289860"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4" name="Text Box 82"/>
          <p:cNvSpPr txBox="1">
            <a:spLocks noChangeArrowheads="1"/>
          </p:cNvSpPr>
          <p:nvPr/>
        </p:nvSpPr>
        <p:spPr bwMode="auto">
          <a:xfrm>
            <a:off x="4512884" y="241525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0</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5" name="Text Box 83"/>
          <p:cNvSpPr txBox="1">
            <a:spLocks noChangeArrowheads="1"/>
          </p:cNvSpPr>
          <p:nvPr/>
        </p:nvSpPr>
        <p:spPr bwMode="auto">
          <a:xfrm>
            <a:off x="4694394" y="2079436"/>
            <a:ext cx="28447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1</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6" name="Text Box 84"/>
          <p:cNvSpPr txBox="1">
            <a:spLocks noChangeArrowheads="1"/>
          </p:cNvSpPr>
          <p:nvPr/>
        </p:nvSpPr>
        <p:spPr bwMode="auto">
          <a:xfrm>
            <a:off x="4091141" y="207943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2</a:t>
            </a:r>
            <a:endParaRPr kumimoji="1" lang="en-US" altLang="zh-CN" sz="1200" b="1" baseline="-25000">
              <a:latin typeface="微软雅黑" panose="020B0503020204020204" pitchFamily="34" charset="-122"/>
              <a:ea typeface="微软雅黑" panose="020B0503020204020204" pitchFamily="34" charset="-122"/>
            </a:endParaRPr>
          </a:p>
        </p:txBody>
      </p:sp>
      <p:sp>
        <p:nvSpPr>
          <p:cNvPr id="240" name="Line 61"/>
          <p:cNvSpPr>
            <a:spLocks noChangeShapeType="1"/>
          </p:cNvSpPr>
          <p:nvPr/>
        </p:nvSpPr>
        <p:spPr bwMode="auto">
          <a:xfrm flipV="1">
            <a:off x="3184928" y="2350163"/>
            <a:ext cx="1142442" cy="44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7" name="Picture 5" descr="D-Link%20DI-713P%20Wireless%20Broadband%20route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02232" y="2002508"/>
            <a:ext cx="629945" cy="58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 Box 6"/>
          <p:cNvSpPr txBox="1">
            <a:spLocks noChangeArrowheads="1"/>
          </p:cNvSpPr>
          <p:nvPr/>
        </p:nvSpPr>
        <p:spPr bwMode="auto">
          <a:xfrm>
            <a:off x="5941382" y="1822405"/>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211" name="Text Box 48"/>
          <p:cNvSpPr txBox="1">
            <a:spLocks noChangeArrowheads="1"/>
          </p:cNvSpPr>
          <p:nvPr/>
        </p:nvSpPr>
        <p:spPr bwMode="auto">
          <a:xfrm>
            <a:off x="6570882" y="2884219"/>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solidFill>
                  <a:srgbClr val="0000CC"/>
                </a:solidFill>
                <a:latin typeface="微软雅黑" panose="020B0503020204020204" pitchFamily="34" charset="-122"/>
                <a:ea typeface="微软雅黑" panose="020B0503020204020204" pitchFamily="34" charset="-122"/>
              </a:rPr>
              <a:t>BSS</a:t>
            </a:r>
            <a:r>
              <a:rPr kumimoji="1" lang="en-US" altLang="zh-CN" sz="1200" b="1" baseline="-25000">
                <a:solidFill>
                  <a:srgbClr val="0000CC"/>
                </a:solidFill>
                <a:latin typeface="微软雅黑" panose="020B0503020204020204" pitchFamily="34" charset="-122"/>
                <a:ea typeface="微软雅黑" panose="020B0503020204020204" pitchFamily="34" charset="-122"/>
              </a:rPr>
              <a:t>1</a:t>
            </a:r>
          </a:p>
        </p:txBody>
      </p:sp>
      <p:sp>
        <p:nvSpPr>
          <p:cNvPr id="212" name="Text Box 49"/>
          <p:cNvSpPr txBox="1">
            <a:spLocks noChangeArrowheads="1"/>
          </p:cNvSpPr>
          <p:nvPr/>
        </p:nvSpPr>
        <p:spPr bwMode="auto">
          <a:xfrm>
            <a:off x="7780055" y="1978838"/>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A</a:t>
            </a:r>
          </a:p>
        </p:txBody>
      </p:sp>
      <p:sp>
        <p:nvSpPr>
          <p:cNvPr id="213" name="Line 52"/>
          <p:cNvSpPr>
            <a:spLocks noChangeShapeType="1"/>
          </p:cNvSpPr>
          <p:nvPr/>
        </p:nvSpPr>
        <p:spPr bwMode="auto">
          <a:xfrm flipH="1">
            <a:off x="6267921" y="2097189"/>
            <a:ext cx="1195827" cy="22191"/>
          </a:xfrm>
          <a:prstGeom prst="line">
            <a:avLst/>
          </a:prstGeom>
          <a:noFill/>
          <a:ln w="9525">
            <a:solidFill>
              <a:schemeClr val="tx1"/>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7" name="矩形 236"/>
          <p:cNvSpPr/>
          <p:nvPr/>
        </p:nvSpPr>
        <p:spPr>
          <a:xfrm>
            <a:off x="6568213" y="1779123"/>
            <a:ext cx="796773" cy="25593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38" name="直接连接符 237"/>
          <p:cNvCxnSpPr/>
          <p:nvPr/>
        </p:nvCxnSpPr>
        <p:spPr>
          <a:xfrm flipH="1">
            <a:off x="6389372" y="1915225"/>
            <a:ext cx="181510"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39" name="Text Box 48"/>
          <p:cNvSpPr txBox="1">
            <a:spLocks noChangeArrowheads="1"/>
          </p:cNvSpPr>
          <p:nvPr/>
        </p:nvSpPr>
        <p:spPr bwMode="auto">
          <a:xfrm>
            <a:off x="6516911" y="1802909"/>
            <a:ext cx="918074"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nvGrpSpPr>
          <p:cNvPr id="249" name="组合 92"/>
          <p:cNvGrpSpPr>
            <a:grpSpLocks/>
          </p:cNvGrpSpPr>
          <p:nvPr/>
        </p:nvGrpSpPr>
        <p:grpSpPr bwMode="auto">
          <a:xfrm>
            <a:off x="4985341" y="2039492"/>
            <a:ext cx="938772" cy="278708"/>
            <a:chOff x="3275856" y="908720"/>
            <a:chExt cx="1116183" cy="299898"/>
          </a:xfrm>
        </p:grpSpPr>
        <p:sp>
          <p:nvSpPr>
            <p:cNvPr id="250" name="矩形 249"/>
            <p:cNvSpPr/>
            <p:nvPr/>
          </p:nvSpPr>
          <p:spPr>
            <a:xfrm>
              <a:off x="3491667" y="908720"/>
              <a:ext cx="842616" cy="273799"/>
            </a:xfrm>
            <a:prstGeom prst="rect">
              <a:avLst/>
            </a:prstGeom>
            <a:solidFill>
              <a:srgbClr val="66C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51" name="直接连接符 250"/>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52" name="Text Box 48"/>
            <p:cNvSpPr txBox="1">
              <a:spLocks noChangeArrowheads="1"/>
            </p:cNvSpPr>
            <p:nvPr/>
          </p:nvSpPr>
          <p:spPr bwMode="auto">
            <a:xfrm>
              <a:off x="3415022" y="928116"/>
              <a:ext cx="977017" cy="280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4" name="Text Box 48"/>
          <p:cNvSpPr txBox="1">
            <a:spLocks noChangeArrowheads="1"/>
          </p:cNvSpPr>
          <p:nvPr/>
        </p:nvSpPr>
        <p:spPr bwMode="auto">
          <a:xfrm>
            <a:off x="6596239"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1</a:t>
            </a:r>
          </a:p>
        </p:txBody>
      </p:sp>
      <p:sp>
        <p:nvSpPr>
          <p:cNvPr id="256" name="Text Box 48"/>
          <p:cNvSpPr txBox="1">
            <a:spLocks noChangeArrowheads="1"/>
          </p:cNvSpPr>
          <p:nvPr/>
        </p:nvSpPr>
        <p:spPr bwMode="auto">
          <a:xfrm>
            <a:off x="7671939" y="2491990"/>
            <a:ext cx="411321"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A</a:t>
            </a:r>
          </a:p>
        </p:txBody>
      </p:sp>
      <p:sp>
        <p:nvSpPr>
          <p:cNvPr id="258" name="Text Box 64"/>
          <p:cNvSpPr txBox="1">
            <a:spLocks noChangeArrowheads="1"/>
          </p:cNvSpPr>
          <p:nvPr/>
        </p:nvSpPr>
        <p:spPr bwMode="auto">
          <a:xfrm>
            <a:off x="7307598" y="2280632"/>
            <a:ext cx="101024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A</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0" name="Text Box 64"/>
          <p:cNvSpPr txBox="1">
            <a:spLocks noChangeArrowheads="1"/>
          </p:cNvSpPr>
          <p:nvPr/>
        </p:nvSpPr>
        <p:spPr bwMode="auto">
          <a:xfrm>
            <a:off x="5667337" y="2527020"/>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1</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14" name="Line 58"/>
          <p:cNvSpPr>
            <a:spLocks noChangeShapeType="1"/>
          </p:cNvSpPr>
          <p:nvPr/>
        </p:nvSpPr>
        <p:spPr bwMode="auto">
          <a:xfrm flipH="1" flipV="1">
            <a:off x="1457918" y="2274714"/>
            <a:ext cx="1178478" cy="5918"/>
          </a:xfrm>
          <a:prstGeom prst="line">
            <a:avLst/>
          </a:prstGeom>
          <a:noFill/>
          <a:ln w="9525">
            <a:solidFill>
              <a:schemeClr val="tx1"/>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215" name="Picture 62" descr="D-Link%20DI-713P%20Wireless%20Broadband%20route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5003" y="2012864"/>
            <a:ext cx="629945" cy="58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Text Box 68"/>
          <p:cNvSpPr txBox="1">
            <a:spLocks noChangeArrowheads="1"/>
          </p:cNvSpPr>
          <p:nvPr/>
        </p:nvSpPr>
        <p:spPr bwMode="auto">
          <a:xfrm>
            <a:off x="2151925" y="2817648"/>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BSS</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221" name="Text Box 69"/>
          <p:cNvSpPr txBox="1">
            <a:spLocks noChangeArrowheads="1"/>
          </p:cNvSpPr>
          <p:nvPr/>
        </p:nvSpPr>
        <p:spPr bwMode="auto">
          <a:xfrm>
            <a:off x="2835324" y="1882846"/>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233" name="Text Box 81"/>
          <p:cNvSpPr txBox="1">
            <a:spLocks noChangeArrowheads="1"/>
          </p:cNvSpPr>
          <p:nvPr/>
        </p:nvSpPr>
        <p:spPr bwMode="auto">
          <a:xfrm>
            <a:off x="973449" y="2146009"/>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solidFill>
                  <a:srgbClr val="C00000"/>
                </a:solidFill>
                <a:latin typeface="微软雅黑" panose="020B0503020204020204" pitchFamily="34" charset="-122"/>
                <a:ea typeface="微软雅黑" panose="020B0503020204020204" pitchFamily="34" charset="-122"/>
              </a:rPr>
              <a:t>B</a:t>
            </a:r>
          </a:p>
        </p:txBody>
      </p:sp>
      <p:grpSp>
        <p:nvGrpSpPr>
          <p:cNvPr id="241" name="组合 85"/>
          <p:cNvGrpSpPr>
            <a:grpSpLocks/>
          </p:cNvGrpSpPr>
          <p:nvPr/>
        </p:nvGrpSpPr>
        <p:grpSpPr bwMode="auto">
          <a:xfrm>
            <a:off x="1519311" y="1965532"/>
            <a:ext cx="1056628" cy="278497"/>
            <a:chOff x="835806" y="1721719"/>
            <a:chExt cx="1255443" cy="300219"/>
          </a:xfrm>
        </p:grpSpPr>
        <p:sp>
          <p:nvSpPr>
            <p:cNvPr id="242" name="矩形 241"/>
            <p:cNvSpPr/>
            <p:nvPr/>
          </p:nvSpPr>
          <p:spPr>
            <a:xfrm>
              <a:off x="1051468" y="1721719"/>
              <a:ext cx="957877" cy="27430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3" name="直接连接符 242"/>
            <p:cNvCxnSpPr/>
            <p:nvPr/>
          </p:nvCxnSpPr>
          <p:spPr>
            <a:xfrm flipH="1">
              <a:off x="835806" y="1860465"/>
              <a:ext cx="215662"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4" name="Text Box 48"/>
            <p:cNvSpPr txBox="1">
              <a:spLocks noChangeArrowheads="1"/>
            </p:cNvSpPr>
            <p:nvPr/>
          </p:nvSpPr>
          <p:spPr bwMode="auto">
            <a:xfrm>
              <a:off x="1000146" y="1753194"/>
              <a:ext cx="1091103" cy="2687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grpSp>
        <p:nvGrpSpPr>
          <p:cNvPr id="245" name="组合 91"/>
          <p:cNvGrpSpPr>
            <a:grpSpLocks/>
          </p:cNvGrpSpPr>
          <p:nvPr/>
        </p:nvGrpSpPr>
        <p:grpSpPr bwMode="auto">
          <a:xfrm>
            <a:off x="3240981" y="2012867"/>
            <a:ext cx="989248" cy="266830"/>
            <a:chOff x="3275856" y="908720"/>
            <a:chExt cx="1176196" cy="287116"/>
          </a:xfrm>
        </p:grpSpPr>
        <p:sp>
          <p:nvSpPr>
            <p:cNvPr id="246" name="矩形 245"/>
            <p:cNvSpPr/>
            <p:nvPr/>
          </p:nvSpPr>
          <p:spPr>
            <a:xfrm>
              <a:off x="3491665" y="908720"/>
              <a:ext cx="877525" cy="273799"/>
            </a:xfrm>
            <a:prstGeom prst="rect">
              <a:avLst/>
            </a:prstGeom>
            <a:solidFill>
              <a:srgbClr val="66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7" name="直接连接符 246"/>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8" name="Text Box 48"/>
            <p:cNvSpPr txBox="1">
              <a:spLocks noChangeArrowheads="1"/>
            </p:cNvSpPr>
            <p:nvPr/>
          </p:nvSpPr>
          <p:spPr bwMode="auto">
            <a:xfrm>
              <a:off x="3436573" y="927583"/>
              <a:ext cx="1015479" cy="268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5" name="Text Box 68"/>
          <p:cNvSpPr txBox="1">
            <a:spLocks noChangeArrowheads="1"/>
          </p:cNvSpPr>
          <p:nvPr/>
        </p:nvSpPr>
        <p:spPr bwMode="auto">
          <a:xfrm>
            <a:off x="2229334"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2</a:t>
            </a:r>
          </a:p>
        </p:txBody>
      </p:sp>
      <p:sp>
        <p:nvSpPr>
          <p:cNvPr id="257" name="Text Box 48"/>
          <p:cNvSpPr txBox="1">
            <a:spLocks noChangeArrowheads="1"/>
          </p:cNvSpPr>
          <p:nvPr/>
        </p:nvSpPr>
        <p:spPr bwMode="auto">
          <a:xfrm>
            <a:off x="1100081" y="2615830"/>
            <a:ext cx="415109"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B</a:t>
            </a:r>
          </a:p>
        </p:txBody>
      </p:sp>
      <p:sp>
        <p:nvSpPr>
          <p:cNvPr id="259" name="Text Box 64"/>
          <p:cNvSpPr txBox="1">
            <a:spLocks noChangeArrowheads="1"/>
          </p:cNvSpPr>
          <p:nvPr/>
        </p:nvSpPr>
        <p:spPr bwMode="auto">
          <a:xfrm>
            <a:off x="743892" y="2416566"/>
            <a:ext cx="1003708"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B</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1" name="Text Box 64"/>
          <p:cNvSpPr txBox="1">
            <a:spLocks noChangeArrowheads="1"/>
          </p:cNvSpPr>
          <p:nvPr/>
        </p:nvSpPr>
        <p:spPr bwMode="auto">
          <a:xfrm>
            <a:off x="2349451" y="2547731"/>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2</a:t>
            </a:r>
            <a:endParaRPr kumimoji="1" lang="zh-CN" altLang="en-US" sz="1200" b="1" baseline="-25000" dirty="0">
              <a:latin typeface="微软雅黑" panose="020B0503020204020204" pitchFamily="34" charset="-122"/>
              <a:ea typeface="微软雅黑" panose="020B0503020204020204" pitchFamily="34" charset="-122"/>
            </a:endParaRPr>
          </a:p>
        </p:txBody>
      </p:sp>
      <p:pic>
        <p:nvPicPr>
          <p:cNvPr id="253" name="Picture 65"/>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71316" y="2227374"/>
            <a:ext cx="504490" cy="254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73" name="组合 272"/>
          <p:cNvGrpSpPr/>
          <p:nvPr/>
        </p:nvGrpSpPr>
        <p:grpSpPr>
          <a:xfrm>
            <a:off x="1048551" y="2011384"/>
            <a:ext cx="597186" cy="423778"/>
            <a:chOff x="4406004" y="4260453"/>
            <a:chExt cx="542790" cy="429804"/>
          </a:xfrm>
        </p:grpSpPr>
        <p:grpSp>
          <p:nvGrpSpPr>
            <p:cNvPr id="274" name="Group 460"/>
            <p:cNvGrpSpPr>
              <a:grpSpLocks/>
            </p:cNvGrpSpPr>
            <p:nvPr/>
          </p:nvGrpSpPr>
          <p:grpSpPr bwMode="auto">
            <a:xfrm>
              <a:off x="4527888" y="4322623"/>
              <a:ext cx="420906" cy="367634"/>
              <a:chOff x="645" y="1570"/>
              <a:chExt cx="318" cy="318"/>
            </a:xfrm>
          </p:grpSpPr>
          <p:sp>
            <p:nvSpPr>
              <p:cNvPr id="2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83"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5" name="Group 463"/>
            <p:cNvGrpSpPr>
              <a:grpSpLocks/>
            </p:cNvGrpSpPr>
            <p:nvPr/>
          </p:nvGrpSpPr>
          <p:grpSpPr bwMode="auto">
            <a:xfrm>
              <a:off x="4406004" y="4260453"/>
              <a:ext cx="405022" cy="119404"/>
              <a:chOff x="748" y="2251"/>
              <a:chExt cx="306" cy="90"/>
            </a:xfrm>
            <a:solidFill>
              <a:srgbClr val="0066FF"/>
            </a:solidFill>
          </p:grpSpPr>
          <p:sp>
            <p:nvSpPr>
              <p:cNvPr id="2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84" name="组合 283"/>
          <p:cNvGrpSpPr/>
          <p:nvPr/>
        </p:nvGrpSpPr>
        <p:grpSpPr>
          <a:xfrm>
            <a:off x="7403911" y="1844457"/>
            <a:ext cx="597186" cy="423778"/>
            <a:chOff x="4406004" y="4260453"/>
            <a:chExt cx="542790" cy="429804"/>
          </a:xfrm>
        </p:grpSpPr>
        <p:grpSp>
          <p:nvGrpSpPr>
            <p:cNvPr id="285" name="Group 460"/>
            <p:cNvGrpSpPr>
              <a:grpSpLocks/>
            </p:cNvGrpSpPr>
            <p:nvPr/>
          </p:nvGrpSpPr>
          <p:grpSpPr bwMode="auto">
            <a:xfrm>
              <a:off x="4527888" y="4322623"/>
              <a:ext cx="420906" cy="367634"/>
              <a:chOff x="645" y="1570"/>
              <a:chExt cx="318" cy="318"/>
            </a:xfrm>
          </p:grpSpPr>
          <p:sp>
            <p:nvSpPr>
              <p:cNvPr id="2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94"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6" name="Group 463"/>
            <p:cNvGrpSpPr>
              <a:grpSpLocks/>
            </p:cNvGrpSpPr>
            <p:nvPr/>
          </p:nvGrpSpPr>
          <p:grpSpPr bwMode="auto">
            <a:xfrm>
              <a:off x="4406004" y="4260453"/>
              <a:ext cx="405022" cy="119404"/>
              <a:chOff x="748" y="2251"/>
              <a:chExt cx="306" cy="90"/>
            </a:xfrm>
            <a:solidFill>
              <a:srgbClr val="0066FF"/>
            </a:solidFill>
          </p:grpSpPr>
          <p:sp>
            <p:nvSpPr>
              <p:cNvPr id="2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95" name="组合 294"/>
          <p:cNvGrpSpPr/>
          <p:nvPr/>
        </p:nvGrpSpPr>
        <p:grpSpPr>
          <a:xfrm>
            <a:off x="7128627" y="2674230"/>
            <a:ext cx="597186" cy="423778"/>
            <a:chOff x="4406004" y="4260453"/>
            <a:chExt cx="542790" cy="429804"/>
          </a:xfrm>
        </p:grpSpPr>
        <p:grpSp>
          <p:nvGrpSpPr>
            <p:cNvPr id="296" name="Group 460"/>
            <p:cNvGrpSpPr>
              <a:grpSpLocks/>
            </p:cNvGrpSpPr>
            <p:nvPr/>
          </p:nvGrpSpPr>
          <p:grpSpPr bwMode="auto">
            <a:xfrm>
              <a:off x="4527888" y="4322623"/>
              <a:ext cx="420906" cy="367634"/>
              <a:chOff x="645" y="1570"/>
              <a:chExt cx="318" cy="318"/>
            </a:xfrm>
          </p:grpSpPr>
          <p:sp>
            <p:nvSpPr>
              <p:cNvPr id="30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05"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7" name="Group 463"/>
            <p:cNvGrpSpPr>
              <a:grpSpLocks/>
            </p:cNvGrpSpPr>
            <p:nvPr/>
          </p:nvGrpSpPr>
          <p:grpSpPr bwMode="auto">
            <a:xfrm>
              <a:off x="4406004" y="4260453"/>
              <a:ext cx="405022" cy="119404"/>
              <a:chOff x="748" y="2251"/>
              <a:chExt cx="306" cy="90"/>
            </a:xfrm>
            <a:solidFill>
              <a:srgbClr val="0066FF"/>
            </a:solidFill>
          </p:grpSpPr>
          <p:sp>
            <p:nvSpPr>
              <p:cNvPr id="29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06" name="组合 305"/>
          <p:cNvGrpSpPr/>
          <p:nvPr/>
        </p:nvGrpSpPr>
        <p:grpSpPr>
          <a:xfrm>
            <a:off x="1508813" y="2707121"/>
            <a:ext cx="597186" cy="423778"/>
            <a:chOff x="4406004" y="4260453"/>
            <a:chExt cx="542790" cy="429804"/>
          </a:xfrm>
        </p:grpSpPr>
        <p:grpSp>
          <p:nvGrpSpPr>
            <p:cNvPr id="307" name="Group 460"/>
            <p:cNvGrpSpPr>
              <a:grpSpLocks/>
            </p:cNvGrpSpPr>
            <p:nvPr/>
          </p:nvGrpSpPr>
          <p:grpSpPr bwMode="auto">
            <a:xfrm>
              <a:off x="4527888" y="4322623"/>
              <a:ext cx="420906" cy="367634"/>
              <a:chOff x="645" y="1570"/>
              <a:chExt cx="318" cy="318"/>
            </a:xfrm>
          </p:grpSpPr>
          <p:sp>
            <p:nvSpPr>
              <p:cNvPr id="31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1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 name="Group 463"/>
            <p:cNvGrpSpPr>
              <a:grpSpLocks/>
            </p:cNvGrpSpPr>
            <p:nvPr/>
          </p:nvGrpSpPr>
          <p:grpSpPr bwMode="auto">
            <a:xfrm>
              <a:off x="4406004" y="4260453"/>
              <a:ext cx="405022" cy="119404"/>
              <a:chOff x="748" y="2251"/>
              <a:chExt cx="306" cy="90"/>
            </a:xfrm>
            <a:solidFill>
              <a:srgbClr val="0066FF"/>
            </a:solidFill>
          </p:grpSpPr>
          <p:sp>
            <p:nvSpPr>
              <p:cNvPr id="30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4149528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0" name="Group 179"/>
          <p:cNvGraphicFramePr>
            <a:graphicFrameLocks/>
          </p:cNvGraphicFramePr>
          <p:nvPr>
            <p:extLst>
              <p:ext uri="{D42A27DB-BD31-4B8C-83A1-F6EECF244321}">
                <p14:modId xmlns:p14="http://schemas.microsoft.com/office/powerpoint/2010/main" val="3218184775"/>
              </p:ext>
            </p:extLst>
          </p:nvPr>
        </p:nvGraphicFramePr>
        <p:xfrm>
          <a:off x="522175" y="1017692"/>
          <a:ext cx="8117487" cy="2599445"/>
        </p:xfrm>
        <a:graphic>
          <a:graphicData uri="http://schemas.openxmlformats.org/drawingml/2006/table">
            <a:tbl>
              <a:tblPr/>
              <a:tblGrid>
                <a:gridCol w="1396800">
                  <a:extLst>
                    <a:ext uri="{9D8B030D-6E8A-4147-A177-3AD203B41FA5}">
                      <a16:colId xmlns:a16="http://schemas.microsoft.com/office/drawing/2014/main" val="20000"/>
                    </a:ext>
                  </a:extLst>
                </a:gridCol>
                <a:gridCol w="1080000">
                  <a:extLst>
                    <a:ext uri="{9D8B030D-6E8A-4147-A177-3AD203B41FA5}">
                      <a16:colId xmlns:a16="http://schemas.microsoft.com/office/drawing/2014/main" val="20001"/>
                    </a:ext>
                  </a:extLst>
                </a:gridCol>
                <a:gridCol w="1080000">
                  <a:extLst>
                    <a:ext uri="{9D8B030D-6E8A-4147-A177-3AD203B41FA5}">
                      <a16:colId xmlns:a16="http://schemas.microsoft.com/office/drawing/2014/main" val="20002"/>
                    </a:ext>
                  </a:extLst>
                </a:gridCol>
                <a:gridCol w="1160229">
                  <a:extLst>
                    <a:ext uri="{9D8B030D-6E8A-4147-A177-3AD203B41FA5}">
                      <a16:colId xmlns:a16="http://schemas.microsoft.com/office/drawing/2014/main" val="20003"/>
                    </a:ext>
                  </a:extLst>
                </a:gridCol>
                <a:gridCol w="1160229">
                  <a:extLst>
                    <a:ext uri="{9D8B030D-6E8A-4147-A177-3AD203B41FA5}">
                      <a16:colId xmlns:a16="http://schemas.microsoft.com/office/drawing/2014/main" val="20004"/>
                    </a:ext>
                  </a:extLst>
                </a:gridCol>
                <a:gridCol w="1160229">
                  <a:extLst>
                    <a:ext uri="{9D8B030D-6E8A-4147-A177-3AD203B41FA5}">
                      <a16:colId xmlns:a16="http://schemas.microsoft.com/office/drawing/2014/main" val="20005"/>
                    </a:ext>
                  </a:extLst>
                </a:gridCol>
                <a:gridCol w="1080000">
                  <a:extLst>
                    <a:ext uri="{9D8B030D-6E8A-4147-A177-3AD203B41FA5}">
                      <a16:colId xmlns:a16="http://schemas.microsoft.com/office/drawing/2014/main" val="20006"/>
                    </a:ext>
                  </a:extLst>
                </a:gridCol>
              </a:tblGrid>
              <a:tr h="519889">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来自</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a16="http://schemas.microsoft.com/office/drawing/2014/main" val="10000"/>
                  </a:ext>
                </a:extLst>
              </a:tr>
              <a:tr h="519889">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a:solidFill>
                            <a:schemeClr val="tx1"/>
                          </a:solidFill>
                          <a:effectLst/>
                          <a:latin typeface="微软雅黑" panose="020B0503020204020204" pitchFamily="34" charset="-122"/>
                          <a:ea typeface="微软雅黑" panose="020B0503020204020204" pitchFamily="34" charset="-122"/>
                        </a:rPr>
                        <a:t> AP</a:t>
                      </a:r>
                      <a:r>
                        <a:rPr lang="en-US" sz="1400" b="1" baseline="-25000"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r>
                        <a:rPr lang="zh-CN" altLang="en-US" sz="1400" b="1" dirty="0">
                          <a:solidFill>
                            <a:schemeClr val="tx1"/>
                          </a:solidFill>
                          <a:effectLst/>
                          <a:latin typeface="微软雅黑" panose="020B0503020204020204" pitchFamily="34" charset="-122"/>
                          <a:ea typeface="微软雅黑" panose="020B0503020204020204" pitchFamily="34" charset="-122"/>
                        </a:rPr>
                        <a:t>的 </a:t>
                      </a:r>
                      <a:r>
                        <a:rPr lang="en-US" altLang="zh-CN" sz="1400" b="1" dirty="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A</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R </a:t>
                      </a:r>
                      <a:r>
                        <a:rPr lang="zh-CN" sz="1400" b="1" dirty="0">
                          <a:solidFill>
                            <a:schemeClr val="tx1"/>
                          </a:solidFill>
                          <a:effectLst/>
                          <a:latin typeface="微软雅黑" panose="020B0503020204020204" pitchFamily="34" charset="-122"/>
                          <a:ea typeface="微软雅黑" panose="020B0503020204020204" pitchFamily="34" charset="-122"/>
                        </a:rPr>
                        <a:t>接口</a:t>
                      </a:r>
                      <a:r>
                        <a:rPr lang="en-US" altLang="zh-CN" sz="1400" b="1" dirty="0">
                          <a:solidFill>
                            <a:schemeClr val="tx1"/>
                          </a:solidFill>
                          <a:effectLst/>
                          <a:latin typeface="微软雅黑" panose="020B0503020204020204" pitchFamily="34" charset="-122"/>
                          <a:ea typeface="微软雅黑" panose="020B0503020204020204" pitchFamily="34" charset="-122"/>
                        </a:rPr>
                        <a:t> 1 </a:t>
                      </a:r>
                      <a:r>
                        <a:rPr lang="zh-CN" sz="1400" b="1" dirty="0">
                          <a:solidFill>
                            <a:schemeClr val="tx1"/>
                          </a:solidFill>
                          <a:effectLst/>
                          <a:latin typeface="微软雅黑" panose="020B0503020204020204" pitchFamily="34" charset="-122"/>
                          <a:ea typeface="微软雅黑" panose="020B0503020204020204" pitchFamily="34" charset="-122"/>
                        </a:rPr>
                        <a:t>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a16="http://schemas.microsoft.com/office/drawing/2014/main" val="10003"/>
                  </a:ext>
                </a:extLst>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1</a:t>
                      </a:r>
                      <a:r>
                        <a:rPr lang="en-US" altLang="zh-CN"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R </a:t>
                      </a: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zh-CN" altLang="en-US" sz="1400" b="1" dirty="0">
                          <a:solidFill>
                            <a:schemeClr val="tx1"/>
                          </a:solidFill>
                          <a:effectLst/>
                          <a:latin typeface="微软雅黑" panose="020B0503020204020204" pitchFamily="34" charset="-122"/>
                          <a:ea typeface="微软雅黑" panose="020B0503020204020204" pitchFamily="34" charset="-122"/>
                          <a:sym typeface="Wingdings" pitchFamily="2" charset="2"/>
                        </a:rPr>
                        <a:t>以太网帧</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endParaRPr lang="zh-CN" alt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目的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源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A</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extLst>
                  <a:ext uri="{0D108BD9-81ED-4DB2-BD59-A6C34878D82A}">
                    <a16:rowId xmlns:a16="http://schemas.microsoft.com/office/drawing/2014/main" val="434931828"/>
                  </a:ext>
                </a:extLst>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R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 </a:t>
                      </a:r>
                      <a:r>
                        <a:rPr lang="en-US" altLang="zh-CN" sz="1400" b="1" dirty="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2</a:t>
                      </a:r>
                      <a:r>
                        <a:rPr lang="en-US" altLang="zh-CN" sz="1400" b="1" dirty="0">
                          <a:solidFill>
                            <a:schemeClr val="tx1"/>
                          </a:solidFill>
                          <a:effectLst/>
                          <a:latin typeface="微软雅黑" panose="020B0503020204020204" pitchFamily="34" charset="-122"/>
                          <a:ea typeface="微软雅黑" panose="020B0503020204020204" pitchFamily="34" charset="-122"/>
                        </a:rPr>
                        <a:t> </a:t>
                      </a: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a:t>
                      </a:r>
                      <a:r>
                        <a:rPr lang="zh-CN" altLang="en-US" sz="1400" b="1" dirty="0">
                          <a:solidFill>
                            <a:schemeClr val="tx1"/>
                          </a:solidFill>
                          <a:effectLst/>
                          <a:latin typeface="微软雅黑" panose="020B0503020204020204" pitchFamily="34" charset="-122"/>
                          <a:ea typeface="微软雅黑" panose="020B0503020204020204" pitchFamily="34" charset="-122"/>
                        </a:rPr>
                        <a:t>以太网帧</a:t>
                      </a:r>
                      <a:r>
                        <a:rPr lang="en-US" alt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目的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B</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源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extLst>
                  <a:ext uri="{0D108BD9-81ED-4DB2-BD59-A6C34878D82A}">
                    <a16:rowId xmlns:a16="http://schemas.microsoft.com/office/drawing/2014/main" val="3281990738"/>
                  </a:ext>
                </a:extLst>
              </a:tr>
              <a:tr h="519889">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2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a:t>
                      </a:r>
                      <a:r>
                        <a:rPr lang="en-US" altLang="zh-CN" sz="1400" b="1" dirty="0">
                          <a:solidFill>
                            <a:schemeClr val="tx1"/>
                          </a:solidFill>
                          <a:effectLst/>
                          <a:latin typeface="微软雅黑" panose="020B0503020204020204" pitchFamily="34" charset="-122"/>
                          <a:ea typeface="微软雅黑" panose="020B0503020204020204" pitchFamily="34" charset="-122"/>
                        </a:rPr>
                        <a:t>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的地址 </a:t>
                      </a:r>
                      <a:r>
                        <a:rPr lang="en-US" altLang="zh-CN" sz="1400" b="1" dirty="0">
                          <a:solidFill>
                            <a:schemeClr val="tx1"/>
                          </a:solidFill>
                          <a:effectLst/>
                          <a:latin typeface="微软雅黑" panose="020B0503020204020204" pitchFamily="34" charset="-122"/>
                          <a:ea typeface="微软雅黑" panose="020B0503020204020204" pitchFamily="34" charset="-122"/>
                        </a:rPr>
                        <a:t>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B</a:t>
                      </a:r>
                      <a:r>
                        <a:rPr lang="en-US" altLang="zh-CN" sz="1400" b="1" dirty="0">
                          <a:solidFill>
                            <a:schemeClr val="tx1"/>
                          </a:solidFill>
                          <a:effectLst/>
                          <a:latin typeface="微软雅黑" panose="020B0503020204020204" pitchFamily="34" charset="-122"/>
                          <a:ea typeface="微软雅黑" panose="020B0503020204020204" pitchFamily="34" charset="-122"/>
                        </a:rPr>
                        <a:t> </a:t>
                      </a:r>
                      <a:r>
                        <a:rPr lang="zh-CN" altLang="en-US"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2</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en-US" altLang="zh-CN" sz="1400" b="1" dirty="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R </a:t>
                      </a:r>
                      <a:r>
                        <a:rPr lang="zh-CN" altLang="zh-CN" sz="1400" b="1" dirty="0">
                          <a:solidFill>
                            <a:schemeClr val="tx1"/>
                          </a:solidFill>
                          <a:effectLst/>
                          <a:latin typeface="微软雅黑" panose="020B0503020204020204" pitchFamily="34" charset="-122"/>
                          <a:ea typeface="微软雅黑" panose="020B0503020204020204" pitchFamily="34" charset="-122"/>
                        </a:rPr>
                        <a:t>接口</a:t>
                      </a:r>
                      <a:r>
                        <a:rPr lang="en-US" altLang="zh-CN" sz="1400" b="1" dirty="0">
                          <a:solidFill>
                            <a:schemeClr val="tx1"/>
                          </a:solidFill>
                          <a:effectLst/>
                          <a:latin typeface="微软雅黑" panose="020B0503020204020204" pitchFamily="34" charset="-122"/>
                          <a:ea typeface="微软雅黑" panose="020B0503020204020204" pitchFamily="34" charset="-122"/>
                        </a:rPr>
                        <a:t> 2 </a:t>
                      </a:r>
                      <a:r>
                        <a:rPr lang="zh-CN" altLang="en-US" sz="1400" b="1" dirty="0">
                          <a:solidFill>
                            <a:schemeClr val="tx1"/>
                          </a:solidFill>
                          <a:effectLst/>
                          <a:latin typeface="微软雅黑" panose="020B0503020204020204" pitchFamily="34" charset="-122"/>
                          <a:ea typeface="微软雅黑" panose="020B0503020204020204" pitchFamily="34" charset="-122"/>
                        </a:rPr>
                        <a:t>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a16="http://schemas.microsoft.com/office/drawing/2014/main" val="10004"/>
                  </a:ext>
                </a:extLst>
              </a:tr>
            </a:tbl>
          </a:graphicData>
        </a:graphic>
      </p:graphicFrame>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Tree>
    <p:extLst>
      <p:ext uri="{BB962C8B-B14F-4D97-AF65-F5344CB8AC3E}">
        <p14:creationId xmlns:p14="http://schemas.microsoft.com/office/powerpoint/2010/main" val="5825711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11897" y="966146"/>
            <a:ext cx="8129015" cy="317009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序号控制</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16 </a:t>
            </a:r>
            <a:r>
              <a:rPr lang="zh-CN" altLang="en-US" b="1" dirty="0">
                <a:latin typeface="微软雅黑" pitchFamily="34" charset="-122"/>
                <a:ea typeface="微软雅黑" pitchFamily="34" charset="-122"/>
              </a:rPr>
              <a:t>位，其中序号子字段占 </a:t>
            </a:r>
            <a:r>
              <a:rPr lang="en-US" altLang="zh-CN" b="1" dirty="0">
                <a:latin typeface="微软雅黑" pitchFamily="34" charset="-122"/>
                <a:ea typeface="微软雅黑" pitchFamily="34" charset="-122"/>
              </a:rPr>
              <a:t>12 </a:t>
            </a:r>
            <a:r>
              <a:rPr lang="zh-CN" altLang="en-US" b="1" dirty="0">
                <a:latin typeface="微软雅黑" pitchFamily="34" charset="-122"/>
                <a:ea typeface="微软雅黑" pitchFamily="34" charset="-122"/>
              </a:rPr>
              <a:t>位，分片子字段占 </a:t>
            </a:r>
            <a:r>
              <a:rPr lang="en-US" altLang="zh-CN" b="1" dirty="0">
                <a:latin typeface="微软雅黑" pitchFamily="34" charset="-122"/>
                <a:ea typeface="微软雅黑" pitchFamily="34" charset="-122"/>
              </a:rPr>
              <a:t>4 </a:t>
            </a:r>
            <a:r>
              <a:rPr lang="zh-CN" altLang="en-US" b="1" dirty="0">
                <a:latin typeface="微软雅黑" pitchFamily="34" charset="-122"/>
                <a:ea typeface="微软雅黑" pitchFamily="34" charset="-122"/>
              </a:rPr>
              <a:t>位。</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持续期</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16 </a:t>
            </a:r>
            <a:r>
              <a:rPr lang="zh-CN" altLang="en-US" b="1" dirty="0">
                <a:latin typeface="微软雅黑" pitchFamily="34" charset="-122"/>
                <a:ea typeface="微软雅黑" pitchFamily="34" charset="-122"/>
              </a:rPr>
              <a:t>位。</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帧控制</a:t>
            </a:r>
            <a:r>
              <a:rPr lang="zh-CN" altLang="en-US" b="1" dirty="0">
                <a:latin typeface="微软雅黑" pitchFamily="34" charset="-122"/>
                <a:ea typeface="微软雅黑" pitchFamily="34" charset="-122"/>
              </a:rPr>
              <a:t>：共分为 </a:t>
            </a:r>
            <a:r>
              <a:rPr lang="en-US" altLang="zh-CN" b="1" dirty="0">
                <a:latin typeface="微软雅黑" pitchFamily="34" charset="-122"/>
                <a:ea typeface="微软雅黑" pitchFamily="34" charset="-122"/>
              </a:rPr>
              <a:t>11 </a:t>
            </a:r>
            <a:r>
              <a:rPr lang="zh-CN" altLang="en-US" b="1" dirty="0">
                <a:latin typeface="微软雅黑" pitchFamily="34" charset="-122"/>
                <a:ea typeface="微软雅黑" pitchFamily="34" charset="-122"/>
              </a:rPr>
              <a:t>个子字段：</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协议版本</a:t>
            </a:r>
            <a:r>
              <a:rPr lang="zh-CN" altLang="en-US" b="1" dirty="0">
                <a:latin typeface="微软雅黑" pitchFamily="34" charset="-122"/>
                <a:ea typeface="微软雅黑" pitchFamily="34" charset="-122"/>
              </a:rPr>
              <a:t>：现在是 </a:t>
            </a:r>
            <a:r>
              <a:rPr lang="en-US" altLang="zh-CN" b="1" dirty="0">
                <a:latin typeface="微软雅黑" pitchFamily="34" charset="-122"/>
                <a:ea typeface="微软雅黑" pitchFamily="34" charset="-122"/>
              </a:rPr>
              <a:t>0</a:t>
            </a:r>
            <a:r>
              <a:rPr lang="zh-CN" altLang="en-US" b="1" dirty="0">
                <a:latin typeface="微软雅黑" pitchFamily="34" charset="-122"/>
                <a:ea typeface="微软雅黑" pitchFamily="34" charset="-122"/>
              </a:rPr>
              <a:t>。</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类型</a:t>
            </a:r>
            <a:r>
              <a:rPr lang="zh-CN" altLang="en-US" b="1" dirty="0">
                <a:latin typeface="微软雅黑" pitchFamily="34" charset="-122"/>
                <a:ea typeface="微软雅黑" pitchFamily="34" charset="-122"/>
              </a:rPr>
              <a:t>和</a:t>
            </a:r>
            <a:r>
              <a:rPr lang="zh-CN" altLang="en-US" b="1" dirty="0">
                <a:solidFill>
                  <a:srgbClr val="800000"/>
                </a:solidFill>
                <a:latin typeface="微软雅黑" pitchFamily="34" charset="-122"/>
                <a:ea typeface="微软雅黑" pitchFamily="34" charset="-122"/>
              </a:rPr>
              <a:t>子类型</a:t>
            </a:r>
            <a:r>
              <a:rPr lang="zh-CN" altLang="en-US" b="1" dirty="0">
                <a:latin typeface="微软雅黑" pitchFamily="34" charset="-122"/>
                <a:ea typeface="微软雅黑" pitchFamily="34" charset="-122"/>
              </a:rPr>
              <a:t>：用来区分帧的功能。</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更多分片</a:t>
            </a:r>
            <a:r>
              <a:rPr lang="zh-CN" altLang="en-US" b="1" dirty="0">
                <a:latin typeface="微软雅黑" pitchFamily="34" charset="-122"/>
                <a:ea typeface="微软雅黑" pitchFamily="34" charset="-122"/>
              </a:rPr>
              <a:t>：置为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时表明这个帧属于一个帧的多个分片之一。</a:t>
            </a:r>
            <a:endParaRPr lang="en-US" altLang="zh-CN" b="1" dirty="0">
              <a:latin typeface="微软雅黑" pitchFamily="34" charset="-122"/>
              <a:ea typeface="微软雅黑"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功率管理</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位，用来指示移动站的功率管理模式。</a:t>
            </a:r>
          </a:p>
          <a:p>
            <a:pPr marL="714375" indent="-361950" eaLnBrk="0" hangingPunct="0">
              <a:lnSpc>
                <a:spcPts val="3000"/>
              </a:lnSpc>
              <a:buClr>
                <a:srgbClr val="9900CC"/>
              </a:buClr>
              <a:buFont typeface="+mj-lt"/>
              <a:buAutoNum type="arabicPeriod"/>
            </a:pPr>
            <a:r>
              <a:rPr lang="en-US" altLang="zh-CN" b="1" dirty="0">
                <a:solidFill>
                  <a:srgbClr val="800000"/>
                </a:solidFill>
                <a:latin typeface="微软雅黑" pitchFamily="34" charset="-122"/>
                <a:ea typeface="微软雅黑" pitchFamily="34" charset="-122"/>
              </a:rPr>
              <a:t>WEP</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位。若 </a:t>
            </a:r>
            <a:r>
              <a:rPr lang="en-US" altLang="zh-CN" b="1" dirty="0">
                <a:latin typeface="微软雅黑" pitchFamily="34" charset="-122"/>
                <a:ea typeface="微软雅黑" pitchFamily="34" charset="-122"/>
              </a:rPr>
              <a:t>WEP = 1</a:t>
            </a:r>
            <a:r>
              <a:rPr lang="zh-CN" altLang="en-US" b="1" dirty="0">
                <a:latin typeface="微软雅黑" pitchFamily="34" charset="-122"/>
                <a:ea typeface="微软雅黑" pitchFamily="34" charset="-122"/>
              </a:rPr>
              <a:t>，表明对帧主体字段采用了加密算法。</a:t>
            </a:r>
            <a:endParaRPr lang="en-US" altLang="zh-CN" b="1" dirty="0">
              <a:latin typeface="微软雅黑" pitchFamily="34" charset="-122"/>
              <a:ea typeface="微软雅黑" pitchFamily="34" charset="-122"/>
            </a:endParaRPr>
          </a:p>
        </p:txBody>
      </p:sp>
      <p:sp>
        <p:nvSpPr>
          <p:cNvPr id="7"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009772" y="582887"/>
            <a:ext cx="5110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序号控制字段、持续期字段和帧控制字段</a:t>
            </a:r>
          </a:p>
        </p:txBody>
      </p:sp>
    </p:spTree>
    <p:extLst>
      <p:ext uri="{BB962C8B-B14F-4D97-AF65-F5344CB8AC3E}">
        <p14:creationId xmlns:p14="http://schemas.microsoft.com/office/powerpoint/2010/main" val="33396394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70462"/>
            <a:ext cx="2056973" cy="400110"/>
          </a:xfrm>
          <a:prstGeom prst="rect">
            <a:avLst/>
          </a:prstGeom>
        </p:spPr>
        <p:txBody>
          <a:bodyPr wrap="none">
            <a:spAutoFit/>
          </a:bodyPr>
          <a:lstStyle/>
          <a:p>
            <a:r>
              <a:rPr lang="zh-CN" altLang="en-US" sz="2000" b="1" dirty="0">
                <a:latin typeface="微软雅黑" pitchFamily="34" charset="-122"/>
                <a:ea typeface="微软雅黑" pitchFamily="34" charset="-122"/>
              </a:rPr>
              <a:t>分片的发送举例 </a:t>
            </a:r>
          </a:p>
        </p:txBody>
      </p:sp>
      <p:sp>
        <p:nvSpPr>
          <p:cNvPr id="4" name="圆角矩形 3"/>
          <p:cNvSpPr/>
          <p:nvPr/>
        </p:nvSpPr>
        <p:spPr>
          <a:xfrm>
            <a:off x="517852" y="977955"/>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矩形 4"/>
          <p:cNvSpPr/>
          <p:nvPr/>
        </p:nvSpPr>
        <p:spPr>
          <a:xfrm>
            <a:off x="1184878" y="1085859"/>
            <a:ext cx="6949484" cy="307777"/>
          </a:xfrm>
          <a:prstGeom prst="rect">
            <a:avLst/>
          </a:prstGeom>
          <a:noFill/>
          <a:ln>
            <a:noFill/>
          </a:ln>
        </p:spPr>
        <p:txBody>
          <a:bodyPr wrap="square">
            <a:spAutoFit/>
          </a:bodyPr>
          <a:lstStyle/>
          <a:p>
            <a:r>
              <a:rPr lang="zh-CN" altLang="en-US" sz="1400" b="1" dirty="0">
                <a:latin typeface="微软雅黑" pitchFamily="34" charset="-122"/>
                <a:ea typeface="微软雅黑" pitchFamily="34" charset="-122"/>
              </a:rPr>
              <a:t>为了提高传输效率，在信道质量较差时，需要把一个较长的帧划分为许多较短的分片。</a:t>
            </a:r>
          </a:p>
        </p:txBody>
      </p:sp>
      <p:sp>
        <p:nvSpPr>
          <p:cNvPr id="6" name="Text Box 6"/>
          <p:cNvSpPr txBox="1">
            <a:spLocks noChangeArrowheads="1"/>
          </p:cNvSpPr>
          <p:nvPr/>
        </p:nvSpPr>
        <p:spPr bwMode="auto">
          <a:xfrm>
            <a:off x="7865350" y="2184702"/>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7" name="Text Box 8"/>
          <p:cNvSpPr txBox="1">
            <a:spLocks noChangeArrowheads="1"/>
          </p:cNvSpPr>
          <p:nvPr/>
        </p:nvSpPr>
        <p:spPr bwMode="auto">
          <a:xfrm>
            <a:off x="7865350" y="3564414"/>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8" name="Text Box 11"/>
          <p:cNvSpPr txBox="1">
            <a:spLocks noChangeArrowheads="1"/>
          </p:cNvSpPr>
          <p:nvPr/>
        </p:nvSpPr>
        <p:spPr bwMode="auto">
          <a:xfrm>
            <a:off x="7865350" y="2884909"/>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9" name="Text Box 9"/>
          <p:cNvSpPr txBox="1">
            <a:spLocks noChangeArrowheads="1"/>
          </p:cNvSpPr>
          <p:nvPr/>
        </p:nvSpPr>
        <p:spPr bwMode="auto">
          <a:xfrm>
            <a:off x="860710" y="210676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源站</a:t>
            </a:r>
          </a:p>
        </p:txBody>
      </p:sp>
      <p:sp>
        <p:nvSpPr>
          <p:cNvPr id="10" name="Text Box 12"/>
          <p:cNvSpPr txBox="1">
            <a:spLocks noChangeArrowheads="1"/>
          </p:cNvSpPr>
          <p:nvPr/>
        </p:nvSpPr>
        <p:spPr bwMode="auto">
          <a:xfrm>
            <a:off x="868196" y="2769223"/>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目的站</a:t>
            </a:r>
          </a:p>
        </p:txBody>
      </p:sp>
      <p:sp>
        <p:nvSpPr>
          <p:cNvPr id="11" name="Text Box 13"/>
          <p:cNvSpPr txBox="1">
            <a:spLocks noChangeArrowheads="1"/>
          </p:cNvSpPr>
          <p:nvPr/>
        </p:nvSpPr>
        <p:spPr bwMode="auto">
          <a:xfrm>
            <a:off x="818567" y="3397583"/>
            <a:ext cx="6928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latin typeface="微软雅黑" panose="020B0503020204020204" pitchFamily="34" charset="-122"/>
                <a:ea typeface="微软雅黑" panose="020B0503020204020204" pitchFamily="34" charset="-122"/>
              </a:rPr>
              <a:t> </a:t>
            </a:r>
            <a:r>
              <a:rPr kumimoji="1" lang="zh-CN" altLang="en-US" sz="1200" b="1">
                <a:latin typeface="微软雅黑" panose="020B0503020204020204" pitchFamily="34" charset="-122"/>
                <a:ea typeface="微软雅黑" panose="020B0503020204020204" pitchFamily="34" charset="-122"/>
              </a:rPr>
              <a:t>其他站</a:t>
            </a:r>
          </a:p>
        </p:txBody>
      </p:sp>
      <p:sp>
        <p:nvSpPr>
          <p:cNvPr id="12" name="Rectangle 14"/>
          <p:cNvSpPr>
            <a:spLocks noChangeArrowheads="1"/>
          </p:cNvSpPr>
          <p:nvPr/>
        </p:nvSpPr>
        <p:spPr bwMode="auto">
          <a:xfrm>
            <a:off x="1856254" y="2131122"/>
            <a:ext cx="478880"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RTS</a:t>
            </a:r>
          </a:p>
        </p:txBody>
      </p:sp>
      <p:sp>
        <p:nvSpPr>
          <p:cNvPr id="13" name="Rectangle 15"/>
          <p:cNvSpPr>
            <a:spLocks noChangeArrowheads="1"/>
          </p:cNvSpPr>
          <p:nvPr/>
        </p:nvSpPr>
        <p:spPr bwMode="auto">
          <a:xfrm>
            <a:off x="2496081" y="2811845"/>
            <a:ext cx="480200" cy="304438"/>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CTS</a:t>
            </a:r>
          </a:p>
        </p:txBody>
      </p:sp>
      <p:sp>
        <p:nvSpPr>
          <p:cNvPr id="14" name="Rectangle 16"/>
          <p:cNvSpPr>
            <a:spLocks noChangeArrowheads="1"/>
          </p:cNvSpPr>
          <p:nvPr/>
        </p:nvSpPr>
        <p:spPr bwMode="auto">
          <a:xfrm>
            <a:off x="3137227" y="2131122"/>
            <a:ext cx="720300" cy="304438"/>
          </a:xfrm>
          <a:prstGeom prst="rect">
            <a:avLst/>
          </a:prstGeom>
          <a:solidFill>
            <a:srgbClr val="99FFCC"/>
          </a:solidFill>
          <a:ln w="9525">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a:t>
            </a:r>
            <a:r>
              <a:rPr lang="zh-CN" altLang="en-US" sz="700" b="1">
                <a:latin typeface="微软雅黑" panose="020B0503020204020204" pitchFamily="34" charset="-122"/>
                <a:ea typeface="微软雅黑" panose="020B0503020204020204" pitchFamily="34" charset="-122"/>
              </a:rPr>
              <a:t> </a:t>
            </a:r>
            <a:r>
              <a:rPr lang="en-US" altLang="zh-CN" sz="1200" b="1">
                <a:latin typeface="微软雅黑" panose="020B0503020204020204" pitchFamily="34" charset="-122"/>
                <a:ea typeface="微软雅黑" panose="020B0503020204020204" pitchFamily="34" charset="-122"/>
              </a:rPr>
              <a:t>0</a:t>
            </a:r>
          </a:p>
        </p:txBody>
      </p:sp>
      <p:sp>
        <p:nvSpPr>
          <p:cNvPr id="15" name="Line 17"/>
          <p:cNvSpPr>
            <a:spLocks noChangeShapeType="1"/>
          </p:cNvSpPr>
          <p:nvPr/>
        </p:nvSpPr>
        <p:spPr bwMode="auto">
          <a:xfrm>
            <a:off x="2335134" y="1904619"/>
            <a:ext cx="0" cy="1590384"/>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18"/>
          <p:cNvSpPr>
            <a:spLocks noChangeShapeType="1"/>
          </p:cNvSpPr>
          <p:nvPr/>
        </p:nvSpPr>
        <p:spPr bwMode="auto">
          <a:xfrm>
            <a:off x="2496081" y="1904619"/>
            <a:ext cx="0" cy="121166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19"/>
          <p:cNvSpPr>
            <a:spLocks noChangeShapeType="1"/>
          </p:cNvSpPr>
          <p:nvPr/>
        </p:nvSpPr>
        <p:spPr bwMode="auto">
          <a:xfrm>
            <a:off x="2976281" y="2811844"/>
            <a:ext cx="0" cy="68315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20"/>
          <p:cNvSpPr>
            <a:spLocks noChangeShapeType="1"/>
          </p:cNvSpPr>
          <p:nvPr/>
        </p:nvSpPr>
        <p:spPr bwMode="auto">
          <a:xfrm>
            <a:off x="3137226" y="2131122"/>
            <a:ext cx="0" cy="985161"/>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Rectangle 21"/>
          <p:cNvSpPr>
            <a:spLocks noChangeArrowheads="1"/>
          </p:cNvSpPr>
          <p:nvPr/>
        </p:nvSpPr>
        <p:spPr bwMode="auto">
          <a:xfrm>
            <a:off x="4018473" y="2811845"/>
            <a:ext cx="476242"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0</a:t>
            </a:r>
          </a:p>
        </p:txBody>
      </p:sp>
      <p:sp>
        <p:nvSpPr>
          <p:cNvPr id="20" name="Line 22"/>
          <p:cNvSpPr>
            <a:spLocks noChangeShapeType="1"/>
          </p:cNvSpPr>
          <p:nvPr/>
        </p:nvSpPr>
        <p:spPr bwMode="auto">
          <a:xfrm>
            <a:off x="3857527" y="2358841"/>
            <a:ext cx="0" cy="757442"/>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3"/>
          <p:cNvSpPr>
            <a:spLocks noChangeShapeType="1"/>
          </p:cNvSpPr>
          <p:nvPr/>
        </p:nvSpPr>
        <p:spPr bwMode="auto">
          <a:xfrm>
            <a:off x="4018473"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Rectangle 24"/>
          <p:cNvSpPr>
            <a:spLocks noChangeArrowheads="1"/>
          </p:cNvSpPr>
          <p:nvPr/>
        </p:nvSpPr>
        <p:spPr bwMode="auto">
          <a:xfrm>
            <a:off x="4659620" y="2131122"/>
            <a:ext cx="720300" cy="304438"/>
          </a:xfrm>
          <a:prstGeom prst="rect">
            <a:avLst/>
          </a:prstGeom>
          <a:solidFill>
            <a:srgbClr val="99FFCC"/>
          </a:solidFill>
          <a:ln w="9525" algn="ctr">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1</a:t>
            </a:r>
          </a:p>
        </p:txBody>
      </p:sp>
      <p:sp>
        <p:nvSpPr>
          <p:cNvPr id="23" name="Rectangle 25"/>
          <p:cNvSpPr>
            <a:spLocks noChangeArrowheads="1"/>
          </p:cNvSpPr>
          <p:nvPr/>
        </p:nvSpPr>
        <p:spPr bwMode="auto">
          <a:xfrm>
            <a:off x="5540865" y="2811845"/>
            <a:ext cx="487289"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1</a:t>
            </a:r>
          </a:p>
        </p:txBody>
      </p:sp>
      <p:sp>
        <p:nvSpPr>
          <p:cNvPr id="24" name="Line 27"/>
          <p:cNvSpPr>
            <a:spLocks noChangeShapeType="1"/>
          </p:cNvSpPr>
          <p:nvPr/>
        </p:nvSpPr>
        <p:spPr bwMode="auto">
          <a:xfrm flipH="1">
            <a:off x="4484161" y="2435559"/>
            <a:ext cx="15831" cy="105700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8"/>
          <p:cNvSpPr>
            <a:spLocks noChangeShapeType="1"/>
          </p:cNvSpPr>
          <p:nvPr/>
        </p:nvSpPr>
        <p:spPr bwMode="auto">
          <a:xfrm>
            <a:off x="4660938"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9"/>
          <p:cNvSpPr>
            <a:spLocks noChangeShapeType="1"/>
          </p:cNvSpPr>
          <p:nvPr/>
        </p:nvSpPr>
        <p:spPr bwMode="auto">
          <a:xfrm>
            <a:off x="5381239"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30"/>
          <p:cNvSpPr>
            <a:spLocks noChangeShapeType="1"/>
          </p:cNvSpPr>
          <p:nvPr/>
        </p:nvSpPr>
        <p:spPr bwMode="auto">
          <a:xfrm>
            <a:off x="5542184"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31"/>
          <p:cNvSpPr>
            <a:spLocks noChangeShapeType="1"/>
          </p:cNvSpPr>
          <p:nvPr/>
        </p:nvSpPr>
        <p:spPr bwMode="auto">
          <a:xfrm>
            <a:off x="6028154" y="2435560"/>
            <a:ext cx="6595" cy="112154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32"/>
          <p:cNvSpPr>
            <a:spLocks noChangeShapeType="1"/>
          </p:cNvSpPr>
          <p:nvPr/>
        </p:nvSpPr>
        <p:spPr bwMode="auto">
          <a:xfrm>
            <a:off x="6183331"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33"/>
          <p:cNvSpPr>
            <a:spLocks noChangeShapeType="1"/>
          </p:cNvSpPr>
          <p:nvPr/>
        </p:nvSpPr>
        <p:spPr bwMode="auto">
          <a:xfrm>
            <a:off x="6903631"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4"/>
          <p:cNvSpPr>
            <a:spLocks noChangeShapeType="1"/>
          </p:cNvSpPr>
          <p:nvPr/>
        </p:nvSpPr>
        <p:spPr bwMode="auto">
          <a:xfrm>
            <a:off x="7064577"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Rectangle 35"/>
          <p:cNvSpPr>
            <a:spLocks noChangeArrowheads="1"/>
          </p:cNvSpPr>
          <p:nvPr/>
        </p:nvSpPr>
        <p:spPr bwMode="auto">
          <a:xfrm>
            <a:off x="6183332" y="2131122"/>
            <a:ext cx="720300" cy="304438"/>
          </a:xfrm>
          <a:prstGeom prst="rect">
            <a:avLst/>
          </a:prstGeom>
          <a:solidFill>
            <a:srgbClr val="99FFCC"/>
          </a:solidFill>
          <a:ln w="9525" algn="ctr">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2</a:t>
            </a:r>
          </a:p>
        </p:txBody>
      </p:sp>
      <p:sp>
        <p:nvSpPr>
          <p:cNvPr id="33" name="Rectangle 36"/>
          <p:cNvSpPr>
            <a:spLocks noChangeArrowheads="1"/>
          </p:cNvSpPr>
          <p:nvPr/>
        </p:nvSpPr>
        <p:spPr bwMode="auto">
          <a:xfrm>
            <a:off x="7064577" y="2811845"/>
            <a:ext cx="534288"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2</a:t>
            </a:r>
          </a:p>
        </p:txBody>
      </p:sp>
      <p:sp>
        <p:nvSpPr>
          <p:cNvPr id="34" name="Line 37"/>
          <p:cNvSpPr>
            <a:spLocks noChangeShapeType="1"/>
          </p:cNvSpPr>
          <p:nvPr/>
        </p:nvSpPr>
        <p:spPr bwMode="auto">
          <a:xfrm>
            <a:off x="2017200" y="1980120"/>
            <a:ext cx="317934"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Line 38"/>
          <p:cNvSpPr>
            <a:spLocks noChangeShapeType="1"/>
          </p:cNvSpPr>
          <p:nvPr/>
        </p:nvSpPr>
        <p:spPr bwMode="auto">
          <a:xfrm flipH="1">
            <a:off x="2498720" y="1980120"/>
            <a:ext cx="319254"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Text Box 39"/>
          <p:cNvSpPr txBox="1">
            <a:spLocks noChangeArrowheads="1"/>
          </p:cNvSpPr>
          <p:nvPr/>
        </p:nvSpPr>
        <p:spPr bwMode="auto">
          <a:xfrm>
            <a:off x="2231184" y="1516059"/>
            <a:ext cx="5592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anose="020B0503020204020204" pitchFamily="34" charset="-122"/>
                <a:ea typeface="微软雅黑" panose="020B0503020204020204" pitchFamily="34" charset="-122"/>
              </a:rPr>
              <a:t>SIFS</a:t>
            </a:r>
          </a:p>
        </p:txBody>
      </p:sp>
      <p:sp>
        <p:nvSpPr>
          <p:cNvPr id="37" name="Line 40"/>
          <p:cNvSpPr>
            <a:spLocks noChangeShapeType="1"/>
          </p:cNvSpPr>
          <p:nvPr/>
        </p:nvSpPr>
        <p:spPr bwMode="auto">
          <a:xfrm flipH="1">
            <a:off x="2416927" y="1752401"/>
            <a:ext cx="79154" cy="22772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 name="Rectangle 41"/>
          <p:cNvSpPr>
            <a:spLocks noChangeArrowheads="1"/>
          </p:cNvSpPr>
          <p:nvPr/>
        </p:nvSpPr>
        <p:spPr bwMode="auto">
          <a:xfrm>
            <a:off x="2335134" y="3496278"/>
            <a:ext cx="2149027"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(RTS)</a:t>
            </a:r>
          </a:p>
        </p:txBody>
      </p:sp>
      <p:sp>
        <p:nvSpPr>
          <p:cNvPr id="39" name="Rectangle 42"/>
          <p:cNvSpPr>
            <a:spLocks noChangeArrowheads="1"/>
          </p:cNvSpPr>
          <p:nvPr/>
        </p:nvSpPr>
        <p:spPr bwMode="auto">
          <a:xfrm>
            <a:off x="2976281" y="3789700"/>
            <a:ext cx="1523712"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NAV (CTS)</a:t>
            </a:r>
          </a:p>
        </p:txBody>
      </p:sp>
      <p:sp>
        <p:nvSpPr>
          <p:cNvPr id="40" name="AutoShape 43"/>
          <p:cNvSpPr>
            <a:spLocks/>
          </p:cNvSpPr>
          <p:nvPr/>
        </p:nvSpPr>
        <p:spPr bwMode="auto">
          <a:xfrm rot="16200000">
            <a:off x="5186905" y="-165761"/>
            <a:ext cx="227720" cy="4327077"/>
          </a:xfrm>
          <a:prstGeom prst="rightBrace">
            <a:avLst>
              <a:gd name="adj1" fmla="val 146167"/>
              <a:gd name="adj2" fmla="val 50000"/>
            </a:avLst>
          </a:prstGeom>
          <a:noFill/>
          <a:ln w="12700">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Text Box 44"/>
          <p:cNvSpPr txBox="1">
            <a:spLocks noChangeArrowheads="1"/>
          </p:cNvSpPr>
          <p:nvPr/>
        </p:nvSpPr>
        <p:spPr bwMode="auto">
          <a:xfrm>
            <a:off x="4234210" y="1592743"/>
            <a:ext cx="223651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0000CC"/>
                </a:solidFill>
                <a:latin typeface="微软雅黑" panose="020B0503020204020204" pitchFamily="34" charset="-122"/>
                <a:ea typeface="微软雅黑" panose="020B0503020204020204" pitchFamily="34" charset="-122"/>
              </a:rPr>
              <a:t>长的帧划分为许多分片</a:t>
            </a:r>
          </a:p>
        </p:txBody>
      </p:sp>
      <p:sp>
        <p:nvSpPr>
          <p:cNvPr id="42" name="Rectangle 48"/>
          <p:cNvSpPr>
            <a:spLocks noChangeArrowheads="1"/>
          </p:cNvSpPr>
          <p:nvPr/>
        </p:nvSpPr>
        <p:spPr bwMode="auto">
          <a:xfrm>
            <a:off x="4484161" y="3496278"/>
            <a:ext cx="1555373" cy="309436"/>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a:t>
            </a:r>
            <a:r>
              <a:rPr lang="zh-CN" altLang="en-US" sz="1200" b="1" dirty="0">
                <a:solidFill>
                  <a:schemeClr val="bg1"/>
                </a:solidFill>
                <a:latin typeface="微软雅黑" panose="020B0503020204020204" pitchFamily="34" charset="-122"/>
                <a:ea typeface="微软雅黑" panose="020B0503020204020204" pitchFamily="34" charset="-122"/>
              </a:rPr>
              <a:t>分片</a:t>
            </a:r>
            <a:r>
              <a:rPr lang="en-US" altLang="zh-CN" sz="1200" b="1" dirty="0">
                <a:solidFill>
                  <a:schemeClr val="bg1"/>
                </a:solidFill>
                <a:latin typeface="微软雅黑" panose="020B0503020204020204" pitchFamily="34" charset="-122"/>
                <a:ea typeface="微软雅黑" panose="020B0503020204020204" pitchFamily="34" charset="-122"/>
              </a:rPr>
              <a:t>0)</a:t>
            </a:r>
          </a:p>
        </p:txBody>
      </p:sp>
      <p:sp>
        <p:nvSpPr>
          <p:cNvPr id="43" name="Rectangle 49"/>
          <p:cNvSpPr>
            <a:spLocks noChangeArrowheads="1"/>
          </p:cNvSpPr>
          <p:nvPr/>
        </p:nvSpPr>
        <p:spPr bwMode="auto">
          <a:xfrm>
            <a:off x="4484162" y="3789700"/>
            <a:ext cx="1554054"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(ACK0)</a:t>
            </a:r>
          </a:p>
        </p:txBody>
      </p:sp>
      <p:sp>
        <p:nvSpPr>
          <p:cNvPr id="44" name="Rectangle 50"/>
          <p:cNvSpPr>
            <a:spLocks noChangeArrowheads="1"/>
          </p:cNvSpPr>
          <p:nvPr/>
        </p:nvSpPr>
        <p:spPr bwMode="auto">
          <a:xfrm>
            <a:off x="6034257" y="3789700"/>
            <a:ext cx="1558012"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(ACK1)</a:t>
            </a:r>
          </a:p>
        </p:txBody>
      </p:sp>
      <p:sp>
        <p:nvSpPr>
          <p:cNvPr id="45" name="Line 51"/>
          <p:cNvSpPr>
            <a:spLocks noChangeShapeType="1"/>
          </p:cNvSpPr>
          <p:nvPr/>
        </p:nvSpPr>
        <p:spPr bwMode="auto">
          <a:xfrm>
            <a:off x="7596226" y="2425817"/>
            <a:ext cx="0" cy="1066751"/>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Rectangle 52"/>
          <p:cNvSpPr>
            <a:spLocks noChangeArrowheads="1"/>
          </p:cNvSpPr>
          <p:nvPr/>
        </p:nvSpPr>
        <p:spPr bwMode="auto">
          <a:xfrm>
            <a:off x="6034258" y="3496278"/>
            <a:ext cx="1561970"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NAV (</a:t>
            </a:r>
            <a:r>
              <a:rPr lang="zh-CN" altLang="en-US" sz="1200" b="1">
                <a:solidFill>
                  <a:schemeClr val="bg1"/>
                </a:solidFill>
                <a:latin typeface="微软雅黑" panose="020B0503020204020204" pitchFamily="34" charset="-122"/>
                <a:ea typeface="微软雅黑" panose="020B0503020204020204" pitchFamily="34" charset="-122"/>
              </a:rPr>
              <a:t>分片</a:t>
            </a:r>
            <a:r>
              <a:rPr lang="en-US" altLang="zh-CN" sz="1200" b="1">
                <a:solidFill>
                  <a:schemeClr val="bg1"/>
                </a:solidFill>
                <a:latin typeface="微软雅黑" panose="020B0503020204020204" pitchFamily="34" charset="-122"/>
                <a:ea typeface="微软雅黑" panose="020B0503020204020204" pitchFamily="34" charset="-122"/>
              </a:rPr>
              <a:t>1)</a:t>
            </a:r>
          </a:p>
        </p:txBody>
      </p:sp>
      <p:sp>
        <p:nvSpPr>
          <p:cNvPr id="47" name="Line 7"/>
          <p:cNvSpPr>
            <a:spLocks noChangeShapeType="1"/>
          </p:cNvSpPr>
          <p:nvPr/>
        </p:nvSpPr>
        <p:spPr bwMode="auto">
          <a:xfrm>
            <a:off x="945985" y="3797005"/>
            <a:ext cx="7129123"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10"/>
          <p:cNvSpPr>
            <a:spLocks noChangeShapeType="1"/>
          </p:cNvSpPr>
          <p:nvPr/>
        </p:nvSpPr>
        <p:spPr bwMode="auto">
          <a:xfrm>
            <a:off x="944665" y="3116282"/>
            <a:ext cx="7126485"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5"/>
          <p:cNvSpPr>
            <a:spLocks noChangeShapeType="1"/>
          </p:cNvSpPr>
          <p:nvPr/>
        </p:nvSpPr>
        <p:spPr bwMode="auto">
          <a:xfrm>
            <a:off x="945985" y="2435559"/>
            <a:ext cx="7129123"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260911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5145" y="1012964"/>
            <a:ext cx="8272930" cy="3054682"/>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无线个人区域网 </a:t>
            </a:r>
            <a:r>
              <a:rPr lang="en-US" altLang="zh-CN" sz="2000" b="1" dirty="0">
                <a:solidFill>
                  <a:srgbClr val="C00000"/>
                </a:solidFill>
                <a:latin typeface="微软雅黑" pitchFamily="34" charset="-122"/>
                <a:ea typeface="微软雅黑" pitchFamily="34" charset="-122"/>
              </a:rPr>
              <a:t>WPAN </a:t>
            </a:r>
            <a:r>
              <a:rPr lang="en-US" altLang="zh-CN" sz="2000" b="1" dirty="0">
                <a:latin typeface="微软雅黑" pitchFamily="34" charset="-122"/>
                <a:ea typeface="微软雅黑" pitchFamily="34" charset="-122"/>
              </a:rPr>
              <a:t>(Wireless Personal Area Network) </a:t>
            </a:r>
            <a:r>
              <a:rPr lang="zh-CN" altLang="en-US" sz="2000" b="1" dirty="0">
                <a:latin typeface="微软雅黑" pitchFamily="34" charset="-122"/>
                <a:ea typeface="微软雅黑" pitchFamily="34" charset="-122"/>
              </a:rPr>
              <a:t>：在个人工作地方把属于个人使用的电子设备用无线技术连接起来</a:t>
            </a:r>
            <a:r>
              <a:rPr lang="zh-CN" altLang="en-US" sz="2000" b="1" dirty="0">
                <a:solidFill>
                  <a:srgbClr val="C00000"/>
                </a:solidFill>
                <a:latin typeface="微软雅黑" pitchFamily="34" charset="-122"/>
                <a:ea typeface="微软雅黑" pitchFamily="34" charset="-122"/>
              </a:rPr>
              <a:t>自组网络</a:t>
            </a:r>
            <a:r>
              <a:rPr lang="zh-CN" altLang="en-US" sz="2000" b="1" dirty="0">
                <a:latin typeface="微软雅黑" pitchFamily="34" charset="-122"/>
                <a:ea typeface="微软雅黑" pitchFamily="34" charset="-122"/>
              </a:rPr>
              <a:t>，不需要使用接入点 </a:t>
            </a:r>
            <a:r>
              <a:rPr lang="en-US" altLang="zh-CN" sz="2000" b="1" dirty="0">
                <a:latin typeface="微软雅黑" pitchFamily="34" charset="-122"/>
                <a:ea typeface="微软雅黑" pitchFamily="34" charset="-122"/>
              </a:rPr>
              <a:t>AP</a:t>
            </a:r>
            <a:r>
              <a:rPr lang="zh-CN" altLang="en-US" sz="2000" b="1" dirty="0">
                <a:latin typeface="微软雅黑" pitchFamily="34" charset="-122"/>
                <a:ea typeface="微软雅黑" pitchFamily="34" charset="-122"/>
              </a:rPr>
              <a:t>。</a:t>
            </a:r>
          </a:p>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整个网络的范围大约在 </a:t>
            </a:r>
            <a:r>
              <a:rPr lang="en-US" altLang="zh-CN" sz="2000" b="1" dirty="0">
                <a:latin typeface="微软雅黑" pitchFamily="34" charset="-122"/>
                <a:ea typeface="微软雅黑" pitchFamily="34" charset="-122"/>
              </a:rPr>
              <a:t>10 m </a:t>
            </a:r>
            <a:r>
              <a:rPr lang="zh-CN" altLang="en-US" sz="2000" b="1" dirty="0">
                <a:latin typeface="微软雅黑" pitchFamily="34" charset="-122"/>
                <a:ea typeface="微软雅黑" pitchFamily="34" charset="-122"/>
              </a:rPr>
              <a:t>左右。</a:t>
            </a:r>
          </a:p>
          <a:p>
            <a:pPr marL="357188" indent="-357188"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WPAN </a:t>
            </a:r>
            <a:r>
              <a:rPr lang="zh-CN" altLang="en-US" sz="2000" b="1" dirty="0">
                <a:latin typeface="微软雅黑" pitchFamily="34" charset="-122"/>
                <a:ea typeface="微软雅黑" pitchFamily="34" charset="-122"/>
              </a:rPr>
              <a:t>可以是一个人使用，也可以是若干人共同使用。</a:t>
            </a:r>
          </a:p>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与</a:t>
            </a:r>
            <a:r>
              <a:rPr lang="zh-CN" altLang="en-US" sz="2000" b="1" dirty="0">
                <a:solidFill>
                  <a:srgbClr val="C00000"/>
                </a:solidFill>
                <a:latin typeface="微软雅黑" pitchFamily="34" charset="-122"/>
                <a:ea typeface="微软雅黑" pitchFamily="34" charset="-122"/>
              </a:rPr>
              <a:t>个人区域网 </a:t>
            </a:r>
            <a:r>
              <a:rPr lang="en-US" altLang="zh-CN" sz="2000" b="1" dirty="0">
                <a:solidFill>
                  <a:srgbClr val="C00000"/>
                </a:solidFill>
                <a:latin typeface="微软雅黑" pitchFamily="34" charset="-122"/>
                <a:ea typeface="微软雅黑" pitchFamily="34" charset="-122"/>
              </a:rPr>
              <a:t>PAN </a:t>
            </a:r>
            <a:r>
              <a:rPr lang="en-US" altLang="zh-CN" sz="2000" b="1" dirty="0">
                <a:latin typeface="微软雅黑" pitchFamily="34" charset="-122"/>
                <a:ea typeface="微软雅黑" pitchFamily="34" charset="-122"/>
              </a:rPr>
              <a:t>(Personal Area Network) </a:t>
            </a:r>
            <a:r>
              <a:rPr lang="zh-CN" altLang="en-US" sz="2000" b="1" dirty="0">
                <a:latin typeface="微软雅黑" pitchFamily="34" charset="-122"/>
                <a:ea typeface="微软雅黑" pitchFamily="34" charset="-122"/>
              </a:rPr>
              <a:t>并不完全等同，因为 </a:t>
            </a:r>
            <a:r>
              <a:rPr lang="en-US" altLang="zh-CN" sz="2000" b="1" dirty="0">
                <a:latin typeface="微软雅黑" pitchFamily="34" charset="-122"/>
                <a:ea typeface="微软雅黑" pitchFamily="34" charset="-122"/>
              </a:rPr>
              <a:t>PAN </a:t>
            </a:r>
            <a:r>
              <a:rPr lang="zh-CN" altLang="en-US" sz="2000" b="1" dirty="0">
                <a:latin typeface="微软雅黑" pitchFamily="34" charset="-122"/>
                <a:ea typeface="微软雅黑" pitchFamily="34" charset="-122"/>
              </a:rPr>
              <a:t>不一定都是使用无线连接的。 </a:t>
            </a:r>
          </a:p>
        </p:txBody>
      </p:sp>
      <p:sp>
        <p:nvSpPr>
          <p:cNvPr id="5" name="AutoShape 5"/>
          <p:cNvSpPr>
            <a:spLocks noChangeArrowheads="1"/>
          </p:cNvSpPr>
          <p:nvPr/>
        </p:nvSpPr>
        <p:spPr bwMode="auto">
          <a:xfrm>
            <a:off x="545144" y="620132"/>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575017" y="577861"/>
            <a:ext cx="399397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9.2</a:t>
            </a:r>
            <a:r>
              <a:rPr lang="en-US" altLang="zh-CN" sz="2400" b="1" dirty="0">
                <a:solidFill>
                  <a:schemeClr val="bg1"/>
                </a:solidFill>
                <a:latin typeface="微软雅黑" pitchFamily="34" charset="-122"/>
                <a:ea typeface="微软雅黑" pitchFamily="34" charset="-122"/>
              </a:rPr>
              <a:t>  </a:t>
            </a:r>
            <a:r>
              <a:rPr lang="zh-CN" altLang="en-US" sz="2400" b="1" dirty="0">
                <a:solidFill>
                  <a:schemeClr val="bg1"/>
                </a:solidFill>
                <a:latin typeface="微软雅黑" pitchFamily="34" charset="-122"/>
                <a:ea typeface="微软雅黑" pitchFamily="34" charset="-122"/>
              </a:rPr>
              <a:t>无线个人区域网</a:t>
            </a:r>
            <a:r>
              <a:rPr lang="en-US" altLang="zh-CN" sz="2400" b="1" dirty="0">
                <a:solidFill>
                  <a:schemeClr val="bg1"/>
                </a:solidFill>
                <a:latin typeface="微软雅黑" pitchFamily="34" charset="-122"/>
                <a:ea typeface="微软雅黑" pitchFamily="34" charset="-122"/>
              </a:rPr>
              <a:t>WPAN</a:t>
            </a:r>
            <a:endParaRPr lang="zh-CN" altLang="en-US" sz="24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2527931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7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682969" y="592475"/>
            <a:ext cx="37868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WPAN </a:t>
            </a:r>
            <a:r>
              <a:rPr lang="zh-CN" altLang="en-US" sz="2400" b="1" dirty="0">
                <a:solidFill>
                  <a:schemeClr val="bg1"/>
                </a:solidFill>
                <a:latin typeface="微软雅黑" pitchFamily="34" charset="-122"/>
                <a:ea typeface="微软雅黑" pitchFamily="34" charset="-122"/>
              </a:rPr>
              <a:t>和 </a:t>
            </a:r>
            <a:r>
              <a:rPr lang="en-US" altLang="zh-CN" sz="2400" b="1" dirty="0">
                <a:solidFill>
                  <a:schemeClr val="bg1"/>
                </a:solidFill>
                <a:latin typeface="微软雅黑" pitchFamily="34" charset="-122"/>
                <a:ea typeface="微软雅黑" pitchFamily="34" charset="-122"/>
              </a:rPr>
              <a:t>WLAN </a:t>
            </a:r>
            <a:r>
              <a:rPr lang="zh-CN" altLang="en-US" sz="2400" b="1" dirty="0">
                <a:solidFill>
                  <a:schemeClr val="bg1"/>
                </a:solidFill>
                <a:latin typeface="微软雅黑" pitchFamily="34" charset="-122"/>
                <a:ea typeface="微软雅黑" pitchFamily="34" charset="-122"/>
              </a:rPr>
              <a:t>不一样 </a:t>
            </a:r>
          </a:p>
        </p:txBody>
      </p:sp>
      <p:sp>
        <p:nvSpPr>
          <p:cNvPr id="4" name="Rectangle 46"/>
          <p:cNvSpPr>
            <a:spLocks noChangeArrowheads="1"/>
          </p:cNvSpPr>
          <p:nvPr/>
        </p:nvSpPr>
        <p:spPr bwMode="auto">
          <a:xfrm>
            <a:off x="511896" y="1040945"/>
            <a:ext cx="8277262"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WPAN</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是以个人为中心使用的无线个人区域网；</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实际上是一个低功率、小范围、低速率和低价格的电缆替代技术。</a:t>
            </a:r>
          </a:p>
          <a:p>
            <a:pPr marL="342900" indent="-342900" eaLnBrk="0" hangingPunct="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WLAN</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是同时为许多用户服务的无线局域网；</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是一个大功率、中等范围、高速率的局域网。 </a:t>
            </a:r>
          </a:p>
        </p:txBody>
      </p:sp>
    </p:spTree>
    <p:extLst>
      <p:ext uri="{BB962C8B-B14F-4D97-AF65-F5344CB8AC3E}">
        <p14:creationId xmlns:p14="http://schemas.microsoft.com/office/powerpoint/2010/main" val="16480236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130"/>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3627779" y="589666"/>
            <a:ext cx="18972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WPAN </a:t>
            </a:r>
            <a:r>
              <a:rPr lang="zh-CN" altLang="en-US" sz="2400" b="1" dirty="0">
                <a:solidFill>
                  <a:schemeClr val="bg1"/>
                </a:solidFill>
                <a:latin typeface="微软雅黑" pitchFamily="34" charset="-122"/>
                <a:ea typeface="微软雅黑" pitchFamily="34" charset="-122"/>
              </a:rPr>
              <a:t>标准</a:t>
            </a:r>
          </a:p>
        </p:txBody>
      </p:sp>
      <p:sp>
        <p:nvSpPr>
          <p:cNvPr id="4" name="Rectangle 46"/>
          <p:cNvSpPr>
            <a:spLocks noChangeArrowheads="1"/>
          </p:cNvSpPr>
          <p:nvPr/>
        </p:nvSpPr>
        <p:spPr bwMode="auto">
          <a:xfrm>
            <a:off x="511896" y="1046844"/>
            <a:ext cx="7996484"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 </a:t>
            </a:r>
            <a:r>
              <a:rPr lang="en-US" altLang="zh-CN" sz="2000" b="1" dirty="0">
                <a:latin typeface="微软雅黑" pitchFamily="34" charset="-122"/>
                <a:ea typeface="微软雅黑" pitchFamily="34" charset="-122"/>
              </a:rPr>
              <a:t>IEEE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802.15 </a:t>
            </a:r>
            <a:r>
              <a:rPr lang="zh-CN" altLang="en-US" sz="2000" b="1" dirty="0">
                <a:latin typeface="微软雅黑" pitchFamily="34" charset="-122"/>
                <a:ea typeface="微软雅黑" pitchFamily="34" charset="-122"/>
              </a:rPr>
              <a:t>工作组制定，包括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层和物理层的标准。</a:t>
            </a: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WPAN </a:t>
            </a:r>
            <a:r>
              <a:rPr lang="zh-CN" altLang="en-US" sz="2000" b="1" dirty="0">
                <a:latin typeface="微软雅黑" pitchFamily="34" charset="-122"/>
                <a:ea typeface="微软雅黑" pitchFamily="34" charset="-122"/>
              </a:rPr>
              <a:t>都工作在 </a:t>
            </a:r>
            <a:r>
              <a:rPr lang="en-US" altLang="zh-CN" sz="2000" b="1" dirty="0">
                <a:latin typeface="微软雅黑" pitchFamily="34" charset="-122"/>
                <a:ea typeface="微软雅黑" pitchFamily="34" charset="-122"/>
              </a:rPr>
              <a:t>2.4 GHz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ISM </a:t>
            </a:r>
            <a:r>
              <a:rPr lang="zh-CN" altLang="en-US" sz="2000" b="1" dirty="0">
                <a:latin typeface="微软雅黑" pitchFamily="34" charset="-122"/>
                <a:ea typeface="微软雅黑" pitchFamily="34" charset="-122"/>
              </a:rPr>
              <a:t>频段。</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欧洲的 </a:t>
            </a:r>
            <a:r>
              <a:rPr lang="en-US" altLang="zh-CN" sz="2000" b="1" dirty="0">
                <a:latin typeface="微软雅黑" pitchFamily="34" charset="-122"/>
                <a:ea typeface="微软雅黑" pitchFamily="34" charset="-122"/>
              </a:rPr>
              <a:t>ETSI </a:t>
            </a:r>
            <a:r>
              <a:rPr lang="zh-CN" altLang="en-US" sz="2000" b="1" dirty="0">
                <a:latin typeface="微软雅黑" pitchFamily="34" charset="-122"/>
                <a:ea typeface="微软雅黑" pitchFamily="34" charset="-122"/>
              </a:rPr>
              <a:t>标准则把无线个人区域网取名为 </a:t>
            </a:r>
            <a:r>
              <a:rPr lang="en-US" altLang="zh-CN" sz="2000" b="1" dirty="0" err="1">
                <a:latin typeface="微软雅黑" pitchFamily="34" charset="-122"/>
                <a:ea typeface="微软雅黑" pitchFamily="34" charset="-122"/>
              </a:rPr>
              <a:t>HiperPAN</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40936909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2631"/>
            <a:ext cx="8104716" cy="36543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最早使用的 </a:t>
            </a:r>
            <a:r>
              <a:rPr lang="en-US" altLang="zh-CN" sz="2000" b="1" dirty="0">
                <a:latin typeface="微软雅黑" pitchFamily="34" charset="-122"/>
                <a:ea typeface="微软雅黑" pitchFamily="34" charset="-122"/>
              </a:rPr>
              <a:t>WPAN</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1994 </a:t>
            </a:r>
            <a:r>
              <a:rPr lang="zh-CN" altLang="en-US" sz="2000" b="1" dirty="0">
                <a:latin typeface="微软雅黑" pitchFamily="34" charset="-122"/>
                <a:ea typeface="微软雅黑" pitchFamily="34" charset="-122"/>
              </a:rPr>
              <a:t>年，由爱立信公司推出，其标准是 </a:t>
            </a:r>
            <a:r>
              <a:rPr lang="en-US" altLang="zh-CN" sz="2000" b="1" dirty="0">
                <a:latin typeface="微软雅黑" pitchFamily="34" charset="-122"/>
                <a:ea typeface="微软雅黑" pitchFamily="34" charset="-122"/>
              </a:rPr>
              <a:t>IEEE 802.15.1 </a:t>
            </a:r>
            <a:r>
              <a:rPr lang="zh-CN" altLang="en-US" sz="2000" b="1" dirty="0">
                <a:latin typeface="微软雅黑" pitchFamily="34" charset="-122"/>
                <a:ea typeface="微软雅黑" pitchFamily="34" charset="-122"/>
              </a:rPr>
              <a:t>。</a:t>
            </a: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第 </a:t>
            </a:r>
            <a:r>
              <a:rPr lang="en-US" altLang="zh-CN" sz="2000" b="1" dirty="0">
                <a:solidFill>
                  <a:srgbClr val="0000CC"/>
                </a:solidFill>
                <a:latin typeface="微软雅黑" pitchFamily="34" charset="-122"/>
                <a:ea typeface="微软雅黑" pitchFamily="34" charset="-122"/>
              </a:rPr>
              <a:t>1 </a:t>
            </a:r>
            <a:r>
              <a:rPr lang="zh-CN" altLang="en-US" sz="2000" b="1" dirty="0">
                <a:solidFill>
                  <a:srgbClr val="0000CC"/>
                </a:solidFill>
                <a:latin typeface="微软雅黑" pitchFamily="34" charset="-122"/>
                <a:ea typeface="微软雅黑" pitchFamily="34" charset="-122"/>
              </a:rPr>
              <a:t>代蓝牙：</a:t>
            </a:r>
            <a:r>
              <a:rPr lang="zh-CN" altLang="en-US" sz="2000" b="1" dirty="0">
                <a:latin typeface="微软雅黑" pitchFamily="34" charset="-122"/>
                <a:ea typeface="微软雅黑" pitchFamily="34" charset="-122"/>
              </a:rPr>
              <a:t>数据率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720 </a:t>
            </a:r>
            <a:r>
              <a:rPr lang="en-US" altLang="zh-CN" sz="2000" b="1" dirty="0" err="1">
                <a:latin typeface="微软雅黑" pitchFamily="34" charset="-122"/>
                <a:ea typeface="微软雅黑" pitchFamily="34" charset="-122"/>
              </a:rPr>
              <a:t>kbit</a:t>
            </a:r>
            <a:r>
              <a:rPr lang="en-US" altLang="zh-CN" sz="2000" b="1" dirty="0">
                <a:latin typeface="微软雅黑" pitchFamily="34" charset="-122"/>
                <a:ea typeface="微软雅黑" pitchFamily="34" charset="-122"/>
              </a:rPr>
              <a:t>/s</a:t>
            </a:r>
            <a:r>
              <a:rPr lang="zh-CN" altLang="en-US" sz="2000" b="1" dirty="0">
                <a:latin typeface="微软雅黑" pitchFamily="34" charset="-122"/>
                <a:ea typeface="微软雅黑" pitchFamily="34" charset="-122"/>
              </a:rPr>
              <a:t>，通信范围 </a:t>
            </a:r>
            <a:r>
              <a:rPr lang="en-US" altLang="zh-CN" sz="2000" b="1" dirty="0">
                <a:latin typeface="微软雅黑" pitchFamily="34" charset="-122"/>
                <a:ea typeface="微软雅黑" pitchFamily="34" charset="-122"/>
              </a:rPr>
              <a:t>= 10 </a:t>
            </a:r>
            <a:r>
              <a:rPr lang="zh-CN" altLang="en-US" sz="2000" b="1" dirty="0">
                <a:latin typeface="微软雅黑" pitchFamily="34" charset="-122"/>
                <a:ea typeface="微软雅黑" pitchFamily="34" charset="-122"/>
              </a:rPr>
              <a:t>米左右。</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蓝牙 </a:t>
            </a:r>
            <a:r>
              <a:rPr lang="en-US" altLang="zh-CN" sz="2000" b="1" dirty="0">
                <a:solidFill>
                  <a:srgbClr val="0000CC"/>
                </a:solidFill>
                <a:latin typeface="微软雅黑" pitchFamily="34" charset="-122"/>
                <a:ea typeface="微软雅黑" pitchFamily="34" charset="-122"/>
              </a:rPr>
              <a:t>4.0</a:t>
            </a:r>
            <a:r>
              <a:rPr lang="zh-CN" altLang="en-US" sz="2000" b="1" dirty="0">
                <a:solidFill>
                  <a:srgbClr val="0000CC"/>
                </a:solidFill>
                <a:latin typeface="微软雅黑" pitchFamily="34" charset="-122"/>
                <a:ea typeface="微软雅黑" pitchFamily="34" charset="-122"/>
              </a:rPr>
              <a:t>：</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低耗能蓝牙 </a:t>
            </a:r>
            <a:r>
              <a:rPr lang="en-US" altLang="zh-CN" b="1" dirty="0">
                <a:solidFill>
                  <a:srgbClr val="C00000"/>
                </a:solidFill>
                <a:latin typeface="微软雅黑" pitchFamily="34" charset="-122"/>
                <a:ea typeface="微软雅黑" pitchFamily="34" charset="-122"/>
              </a:rPr>
              <a:t>BLE </a:t>
            </a:r>
            <a:r>
              <a:rPr lang="en-US" altLang="zh-CN" b="1" dirty="0">
                <a:latin typeface="微软雅黑" pitchFamily="34" charset="-122"/>
                <a:ea typeface="微软雅黑" pitchFamily="34" charset="-122"/>
              </a:rPr>
              <a:t>(Bluetooth Low Energy)</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适用于数据量很小的节点，电池可以连续工作 </a:t>
            </a:r>
            <a:r>
              <a:rPr lang="en-US" altLang="zh-CN" b="1" dirty="0">
                <a:latin typeface="微软雅黑" pitchFamily="34" charset="-122"/>
                <a:ea typeface="微软雅黑" pitchFamily="34" charset="-122"/>
              </a:rPr>
              <a:t>4 ~ 5 </a:t>
            </a:r>
            <a:r>
              <a:rPr lang="zh-CN" altLang="en-US" b="1" dirty="0">
                <a:latin typeface="微软雅黑" pitchFamily="34" charset="-122"/>
                <a:ea typeface="微软雅黑" pitchFamily="34" charset="-122"/>
              </a:rPr>
              <a:t>年；</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距离增大到 </a:t>
            </a:r>
            <a:r>
              <a:rPr lang="en-US" altLang="zh-CN" b="1" dirty="0">
                <a:latin typeface="微软雅黑" pitchFamily="34" charset="-122"/>
                <a:ea typeface="微软雅黑" pitchFamily="34" charset="-122"/>
              </a:rPr>
              <a:t>30 m</a:t>
            </a:r>
            <a:r>
              <a:rPr lang="zh-CN" altLang="en-US" b="1" dirty="0">
                <a:latin typeface="微软雅黑" pitchFamily="34" charset="-122"/>
                <a:ea typeface="微软雅黑" pitchFamily="34" charset="-122"/>
              </a:rPr>
              <a:t>，数据率可达 </a:t>
            </a:r>
            <a:r>
              <a:rPr lang="en-US" altLang="zh-CN" b="1" dirty="0">
                <a:latin typeface="微软雅黑" pitchFamily="34" charset="-122"/>
                <a:ea typeface="微软雅黑" pitchFamily="34" charset="-122"/>
              </a:rPr>
              <a:t>1 Mbit/s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传统蓝牙</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(classic Bluetooth)</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数据率提高到 </a:t>
            </a:r>
            <a:r>
              <a:rPr lang="en-US" altLang="zh-CN" b="1" dirty="0">
                <a:latin typeface="微软雅黑" pitchFamily="34" charset="-122"/>
                <a:ea typeface="微软雅黑" pitchFamily="34" charset="-122"/>
              </a:rPr>
              <a:t>3 Mbit/s</a:t>
            </a:r>
            <a:r>
              <a:rPr lang="zh-CN" altLang="en-US" b="1" dirty="0">
                <a:latin typeface="微软雅黑" pitchFamily="34" charset="-122"/>
                <a:ea typeface="微软雅黑" pitchFamily="34" charset="-122"/>
              </a:rPr>
              <a:t>，传输距离可达 </a:t>
            </a:r>
            <a:r>
              <a:rPr lang="en-US" altLang="zh-CN" b="1" dirty="0">
                <a:latin typeface="微软雅黑" pitchFamily="34" charset="-122"/>
                <a:ea typeface="微软雅黑" pitchFamily="34" charset="-122"/>
              </a:rPr>
              <a:t>100 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蓝牙 </a:t>
            </a:r>
            <a:r>
              <a:rPr lang="en-US" altLang="zh-CN" sz="2000" b="1" dirty="0">
                <a:solidFill>
                  <a:srgbClr val="0000CC"/>
                </a:solidFill>
                <a:latin typeface="微软雅黑" pitchFamily="34" charset="-122"/>
                <a:ea typeface="微软雅黑" pitchFamily="34" charset="-122"/>
              </a:rPr>
              <a:t>5.0</a:t>
            </a:r>
            <a:r>
              <a:rPr lang="zh-CN" altLang="en-US" sz="2000" b="1" dirty="0">
                <a:solidFill>
                  <a:srgbClr val="0000CC"/>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数据率上限达 </a:t>
            </a:r>
            <a:r>
              <a:rPr lang="en-US" altLang="zh-CN" sz="2000" b="1" dirty="0">
                <a:latin typeface="微软雅黑" pitchFamily="34" charset="-122"/>
                <a:ea typeface="微软雅黑" pitchFamily="34" charset="-122"/>
              </a:rPr>
              <a:t>24 Mbit/s</a:t>
            </a:r>
            <a:r>
              <a:rPr lang="zh-CN" altLang="en-US" sz="2000" b="1" dirty="0">
                <a:latin typeface="微软雅黑" pitchFamily="34" charset="-122"/>
                <a:ea typeface="微软雅黑" pitchFamily="34" charset="-122"/>
              </a:rPr>
              <a:t>，传输距离最高可达 </a:t>
            </a:r>
            <a:r>
              <a:rPr lang="en-US" altLang="zh-CN" sz="2000" b="1" dirty="0">
                <a:latin typeface="微软雅黑" pitchFamily="34" charset="-122"/>
                <a:ea typeface="微软雅黑" pitchFamily="34" charset="-122"/>
              </a:rPr>
              <a:t>300 m</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11897" y="61834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028256" y="585134"/>
            <a:ext cx="30737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蓝牙系统 </a:t>
            </a:r>
            <a:r>
              <a:rPr lang="en-US" altLang="zh-CN" sz="2000" b="1" dirty="0">
                <a:solidFill>
                  <a:schemeClr val="bg1"/>
                </a:solidFill>
                <a:latin typeface="微软雅黑" pitchFamily="34" charset="-122"/>
                <a:ea typeface="微软雅黑" pitchFamily="34" charset="-122"/>
              </a:rPr>
              <a:t>(Bluetooth)</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4237389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30377"/>
            <a:ext cx="81047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蓝牙使用 </a:t>
            </a:r>
            <a:r>
              <a:rPr lang="en-US" altLang="zh-CN" sz="2000" b="1" dirty="0">
                <a:solidFill>
                  <a:srgbClr val="C00000"/>
                </a:solidFill>
                <a:latin typeface="微软雅黑" pitchFamily="34" charset="-122"/>
                <a:ea typeface="微软雅黑" pitchFamily="34" charset="-122"/>
              </a:rPr>
              <a:t>TDM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方式和扩频跳频 </a:t>
            </a:r>
            <a:r>
              <a:rPr lang="en-US" altLang="zh-CN" sz="2000" b="1" dirty="0">
                <a:solidFill>
                  <a:srgbClr val="C00000"/>
                </a:solidFill>
                <a:latin typeface="微软雅黑" pitchFamily="34" charset="-122"/>
                <a:ea typeface="微软雅黑" pitchFamily="34" charset="-122"/>
              </a:rPr>
              <a:t>FHSS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技术组成不用接入点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皮可网</a:t>
            </a:r>
            <a:r>
              <a:rPr lang="zh-CN" altLang="en-US" sz="2000" b="1" dirty="0">
                <a:solidFill>
                  <a:srgbClr val="0000FF"/>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每一个皮可网有一个</a:t>
            </a:r>
            <a:r>
              <a:rPr lang="zh-CN" altLang="en-US" sz="2000" b="1" dirty="0">
                <a:solidFill>
                  <a:srgbClr val="0000CC"/>
                </a:solidFill>
                <a:latin typeface="微软雅黑" pitchFamily="34" charset="-122"/>
                <a:ea typeface="微软雅黑" pitchFamily="34" charset="-122"/>
              </a:rPr>
              <a:t>主设备</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(Master) </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最多 </a:t>
            </a:r>
            <a:r>
              <a:rPr lang="en-US" altLang="zh-CN" sz="2000" b="1" dirty="0">
                <a:solidFill>
                  <a:srgbClr val="C00000"/>
                </a:solidFill>
                <a:latin typeface="微软雅黑" pitchFamily="34" charset="-122"/>
                <a:ea typeface="微软雅黑" pitchFamily="34" charset="-122"/>
              </a:rPr>
              <a:t>7 </a:t>
            </a:r>
            <a:r>
              <a:rPr lang="zh-CN" altLang="en-US" sz="2000" b="1" dirty="0">
                <a:solidFill>
                  <a:srgbClr val="C00000"/>
                </a:solidFill>
                <a:latin typeface="微软雅黑" pitchFamily="34" charset="-122"/>
                <a:ea typeface="微软雅黑" pitchFamily="34" charset="-122"/>
              </a:rPr>
              <a:t>个</a:t>
            </a:r>
            <a:r>
              <a:rPr lang="zh-CN" altLang="en-US" sz="2000" b="1" dirty="0">
                <a:latin typeface="微软雅黑" pitchFamily="34" charset="-122"/>
                <a:ea typeface="微软雅黑" pitchFamily="34" charset="-122"/>
              </a:rPr>
              <a:t>工作的</a:t>
            </a:r>
            <a:r>
              <a:rPr lang="zh-CN" altLang="en-US" sz="2000" b="1" dirty="0">
                <a:solidFill>
                  <a:srgbClr val="0000CC"/>
                </a:solidFill>
                <a:latin typeface="微软雅黑" pitchFamily="34" charset="-122"/>
                <a:ea typeface="微软雅黑" pitchFamily="34" charset="-122"/>
              </a:rPr>
              <a:t>从设备 </a:t>
            </a:r>
            <a:r>
              <a:rPr lang="en-US" altLang="zh-CN" sz="2000" b="1" dirty="0">
                <a:latin typeface="微软雅黑" pitchFamily="34" charset="-122"/>
                <a:ea typeface="微软雅黑" pitchFamily="34" charset="-122"/>
              </a:rPr>
              <a:t>(Slave)</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通过共享主设备或从设备，可以把多个皮可网链接起来，形成一个范围更大的</a:t>
            </a:r>
            <a:r>
              <a:rPr lang="zh-CN" altLang="en-US" sz="2000" b="1" dirty="0">
                <a:solidFill>
                  <a:srgbClr val="C00000"/>
                </a:solidFill>
                <a:latin typeface="微软雅黑" pitchFamily="34" charset="-122"/>
                <a:ea typeface="微软雅黑" pitchFamily="34" charset="-122"/>
              </a:rPr>
              <a:t>扩散网</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scatternet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17853" y="614359"/>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a:spLocks noChangeArrowheads="1"/>
          </p:cNvSpPr>
          <p:nvPr/>
        </p:nvSpPr>
        <p:spPr bwMode="auto">
          <a:xfrm>
            <a:off x="635844" y="564531"/>
            <a:ext cx="21996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皮可网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p>
        </p:txBody>
      </p:sp>
    </p:spTree>
    <p:extLst>
      <p:ext uri="{BB962C8B-B14F-4D97-AF65-F5344CB8AC3E}">
        <p14:creationId xmlns:p14="http://schemas.microsoft.com/office/powerpoint/2010/main" val="40703115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95373"/>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637984" y="570462"/>
            <a:ext cx="3595856" cy="400110"/>
          </a:xfrm>
          <a:prstGeom prst="rect">
            <a:avLst/>
          </a:prstGeom>
        </p:spPr>
        <p:txBody>
          <a:bodyPr wrap="none">
            <a:spAutoFit/>
          </a:bodyPr>
          <a:lstStyle/>
          <a:p>
            <a:r>
              <a:rPr lang="zh-CN" altLang="en-US" sz="2000" b="1" dirty="0">
                <a:latin typeface="微软雅黑" pitchFamily="34" charset="-122"/>
                <a:ea typeface="微软雅黑" pitchFamily="34" charset="-122"/>
              </a:rPr>
              <a:t>蓝牙系统中的皮可网和扩散网 </a:t>
            </a:r>
          </a:p>
        </p:txBody>
      </p:sp>
      <p:sp>
        <p:nvSpPr>
          <p:cNvPr id="5" name="Oval 4"/>
          <p:cNvSpPr>
            <a:spLocks noChangeArrowheads="1"/>
          </p:cNvSpPr>
          <p:nvPr/>
        </p:nvSpPr>
        <p:spPr bwMode="auto">
          <a:xfrm>
            <a:off x="2478877" y="1545516"/>
            <a:ext cx="2344192" cy="2087292"/>
          </a:xfrm>
          <a:prstGeom prst="ellipse">
            <a:avLst/>
          </a:prstGeom>
          <a:solidFill>
            <a:srgbClr val="99FF66"/>
          </a:solidFill>
          <a:ln w="9525">
            <a:solidFill>
              <a:schemeClr val="tx1"/>
            </a:solid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5"/>
          <p:cNvSpPr>
            <a:spLocks noChangeArrowheads="1"/>
          </p:cNvSpPr>
          <p:nvPr/>
        </p:nvSpPr>
        <p:spPr bwMode="auto">
          <a:xfrm>
            <a:off x="4354230" y="1545516"/>
            <a:ext cx="2344192" cy="2087292"/>
          </a:xfrm>
          <a:prstGeom prst="ellipse">
            <a:avLst/>
          </a:prstGeom>
          <a:solidFill>
            <a:srgbClr val="0066FF">
              <a:alpha val="39000"/>
            </a:srgbClr>
          </a:solidFill>
          <a:ln w="9525">
            <a:solidFill>
              <a:schemeClr val="tx1"/>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3510824" y="1712591"/>
            <a:ext cx="375824"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8" name="Oval 7"/>
          <p:cNvSpPr>
            <a:spLocks noChangeArrowheads="1"/>
          </p:cNvSpPr>
          <p:nvPr/>
        </p:nvSpPr>
        <p:spPr bwMode="auto">
          <a:xfrm>
            <a:off x="6136570" y="2380896"/>
            <a:ext cx="375825"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9" name="Oval 8"/>
          <p:cNvSpPr>
            <a:spLocks noChangeArrowheads="1"/>
          </p:cNvSpPr>
          <p:nvPr/>
        </p:nvSpPr>
        <p:spPr bwMode="auto">
          <a:xfrm>
            <a:off x="2667418" y="2631510"/>
            <a:ext cx="375825"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0" name="Oval 9"/>
          <p:cNvSpPr>
            <a:spLocks noChangeArrowheads="1"/>
          </p:cNvSpPr>
          <p:nvPr/>
        </p:nvSpPr>
        <p:spPr bwMode="auto">
          <a:xfrm>
            <a:off x="2854702" y="1963205"/>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S</a:t>
            </a:r>
          </a:p>
        </p:txBody>
      </p:sp>
      <p:sp>
        <p:nvSpPr>
          <p:cNvPr id="11" name="Oval 10"/>
          <p:cNvSpPr>
            <a:spLocks noChangeArrowheads="1"/>
          </p:cNvSpPr>
          <p:nvPr/>
        </p:nvSpPr>
        <p:spPr bwMode="auto">
          <a:xfrm>
            <a:off x="5104623" y="2964503"/>
            <a:ext cx="375824" cy="335312"/>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12" name="Oval 11"/>
          <p:cNvSpPr>
            <a:spLocks noChangeArrowheads="1"/>
          </p:cNvSpPr>
          <p:nvPr/>
        </p:nvSpPr>
        <p:spPr bwMode="auto">
          <a:xfrm>
            <a:off x="4396966" y="2351890"/>
            <a:ext cx="377082" cy="33531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3" name="Oval 12"/>
          <p:cNvSpPr>
            <a:spLocks noChangeArrowheads="1"/>
          </p:cNvSpPr>
          <p:nvPr/>
        </p:nvSpPr>
        <p:spPr bwMode="auto">
          <a:xfrm>
            <a:off x="3884135" y="2964503"/>
            <a:ext cx="377082" cy="33531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4" name="Oval 13"/>
          <p:cNvSpPr>
            <a:spLocks noChangeArrowheads="1"/>
          </p:cNvSpPr>
          <p:nvPr/>
        </p:nvSpPr>
        <p:spPr bwMode="auto">
          <a:xfrm>
            <a:off x="3226756" y="3132738"/>
            <a:ext cx="377082" cy="33415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5" name="Oval 14"/>
          <p:cNvSpPr>
            <a:spLocks noChangeArrowheads="1"/>
          </p:cNvSpPr>
          <p:nvPr/>
        </p:nvSpPr>
        <p:spPr bwMode="auto">
          <a:xfrm>
            <a:off x="5759488" y="3049200"/>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6" name="Oval 15"/>
          <p:cNvSpPr>
            <a:spLocks noChangeArrowheads="1"/>
          </p:cNvSpPr>
          <p:nvPr/>
        </p:nvSpPr>
        <p:spPr bwMode="auto">
          <a:xfrm>
            <a:off x="5480448" y="1963205"/>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7" name="Oval 16"/>
          <p:cNvSpPr>
            <a:spLocks noChangeArrowheads="1"/>
          </p:cNvSpPr>
          <p:nvPr/>
        </p:nvSpPr>
        <p:spPr bwMode="auto">
          <a:xfrm>
            <a:off x="3884135" y="2129122"/>
            <a:ext cx="377082" cy="335312"/>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dirty="0">
                <a:solidFill>
                  <a:schemeClr val="bg1"/>
                </a:solidFill>
                <a:latin typeface="微软雅黑" panose="020B0503020204020204" pitchFamily="34" charset="-122"/>
                <a:ea typeface="微软雅黑" panose="020B0503020204020204" pitchFamily="34" charset="-122"/>
              </a:rPr>
              <a:t>P</a:t>
            </a:r>
          </a:p>
        </p:txBody>
      </p:sp>
      <p:sp>
        <p:nvSpPr>
          <p:cNvPr id="18" name="Text Box 17"/>
          <p:cNvSpPr txBox="1">
            <a:spLocks noChangeArrowheads="1"/>
          </p:cNvSpPr>
          <p:nvPr/>
        </p:nvSpPr>
        <p:spPr bwMode="auto">
          <a:xfrm>
            <a:off x="4916082" y="2342606"/>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2</a:t>
            </a:r>
          </a:p>
        </p:txBody>
      </p:sp>
      <p:sp>
        <p:nvSpPr>
          <p:cNvPr id="19" name="Text Box 18"/>
          <p:cNvSpPr txBox="1">
            <a:spLocks noChangeArrowheads="1"/>
          </p:cNvSpPr>
          <p:nvPr/>
        </p:nvSpPr>
        <p:spPr bwMode="auto">
          <a:xfrm>
            <a:off x="4146342" y="101756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扩散网</a:t>
            </a:r>
          </a:p>
        </p:txBody>
      </p:sp>
      <p:sp>
        <p:nvSpPr>
          <p:cNvPr id="20" name="AutoShape 19"/>
          <p:cNvSpPr>
            <a:spLocks/>
          </p:cNvSpPr>
          <p:nvPr/>
        </p:nvSpPr>
        <p:spPr bwMode="auto">
          <a:xfrm rot="16200000">
            <a:off x="4423798" y="47292"/>
            <a:ext cx="251774" cy="2814287"/>
          </a:xfrm>
          <a:prstGeom prst="rightBrace">
            <a:avLst>
              <a:gd name="adj1" fmla="val 85983"/>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3040729" y="2399459"/>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1</a:t>
            </a:r>
          </a:p>
        </p:txBody>
      </p:sp>
      <p:sp>
        <p:nvSpPr>
          <p:cNvPr id="22" name="Oval 22"/>
          <p:cNvSpPr>
            <a:spLocks noChangeArrowheads="1"/>
          </p:cNvSpPr>
          <p:nvPr/>
        </p:nvSpPr>
        <p:spPr bwMode="auto">
          <a:xfrm>
            <a:off x="1504226" y="3816859"/>
            <a:ext cx="375824"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23" name="Text Box 23"/>
          <p:cNvSpPr txBox="1">
            <a:spLocks noChangeArrowheads="1"/>
          </p:cNvSpPr>
          <p:nvPr/>
        </p:nvSpPr>
        <p:spPr bwMode="auto">
          <a:xfrm>
            <a:off x="1831030" y="3816858"/>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主设备</a:t>
            </a:r>
          </a:p>
        </p:txBody>
      </p:sp>
      <p:sp>
        <p:nvSpPr>
          <p:cNvPr id="24" name="Oval 24"/>
          <p:cNvSpPr>
            <a:spLocks noChangeArrowheads="1"/>
          </p:cNvSpPr>
          <p:nvPr/>
        </p:nvSpPr>
        <p:spPr bwMode="auto">
          <a:xfrm>
            <a:off x="3556806" y="3816859"/>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25" name="Text Box 25"/>
          <p:cNvSpPr txBox="1">
            <a:spLocks noChangeArrowheads="1"/>
          </p:cNvSpPr>
          <p:nvPr/>
        </p:nvSpPr>
        <p:spPr bwMode="auto">
          <a:xfrm>
            <a:off x="3898694" y="3818019"/>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从设备</a:t>
            </a:r>
          </a:p>
        </p:txBody>
      </p:sp>
      <p:sp>
        <p:nvSpPr>
          <p:cNvPr id="26" name="Oval 26"/>
          <p:cNvSpPr>
            <a:spLocks noChangeArrowheads="1"/>
          </p:cNvSpPr>
          <p:nvPr/>
        </p:nvSpPr>
        <p:spPr bwMode="auto">
          <a:xfrm>
            <a:off x="5599334" y="3816859"/>
            <a:ext cx="375824" cy="335313"/>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27" name="Text Box 27"/>
          <p:cNvSpPr txBox="1">
            <a:spLocks noChangeArrowheads="1"/>
          </p:cNvSpPr>
          <p:nvPr/>
        </p:nvSpPr>
        <p:spPr bwMode="auto">
          <a:xfrm>
            <a:off x="5951276" y="3816859"/>
            <a:ext cx="16530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搁置的设备</a:t>
            </a:r>
          </a:p>
        </p:txBody>
      </p:sp>
    </p:spTree>
    <p:extLst>
      <p:ext uri="{BB962C8B-B14F-4D97-AF65-F5344CB8AC3E}">
        <p14:creationId xmlns:p14="http://schemas.microsoft.com/office/powerpoint/2010/main" val="32817786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6856"/>
            <a:ext cx="8104716"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主要用于工业监控组网、办公自动化与控制等领域</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速率是 </a:t>
            </a:r>
            <a:r>
              <a:rPr lang="en-US" altLang="zh-CN" sz="2000" b="1" dirty="0">
                <a:latin typeface="微软雅黑" pitchFamily="34" charset="-122"/>
                <a:ea typeface="微软雅黑" pitchFamily="34" charset="-122"/>
              </a:rPr>
              <a:t>2 ~ 250 </a:t>
            </a:r>
            <a:r>
              <a:rPr lang="en-US" altLang="zh-CN" sz="2000" b="1" dirty="0" err="1">
                <a:latin typeface="微软雅黑" pitchFamily="34" charset="-122"/>
                <a:ea typeface="微软雅黑" pitchFamily="34" charset="-122"/>
              </a:rPr>
              <a:t>kbit</a:t>
            </a:r>
            <a:r>
              <a:rPr lang="en-US" altLang="zh-CN" sz="2000" b="1" dirty="0">
                <a:latin typeface="微软雅黑" pitchFamily="34" charset="-122"/>
                <a:ea typeface="微软雅黑" pitchFamily="34" charset="-122"/>
              </a:rPr>
              <a:t>/s</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标准是 </a:t>
            </a:r>
            <a:r>
              <a:rPr lang="en-US" altLang="zh-CN" sz="2000" b="1" dirty="0">
                <a:latin typeface="微软雅黑" pitchFamily="34" charset="-122"/>
                <a:ea typeface="微软雅黑" pitchFamily="34" charset="-122"/>
              </a:rPr>
              <a:t>IEEE 802.15.4</a:t>
            </a:r>
            <a:r>
              <a:rPr lang="zh-CN" altLang="en-US" sz="2000" b="1" dirty="0">
                <a:latin typeface="微软雅黑" pitchFamily="34" charset="-122"/>
                <a:ea typeface="微软雅黑" pitchFamily="34" charset="-122"/>
              </a:rPr>
              <a:t>。新修订的标准是 </a:t>
            </a:r>
            <a:r>
              <a:rPr lang="en-US" altLang="zh-CN" sz="2000" b="1" dirty="0">
                <a:latin typeface="微软雅黑" pitchFamily="34" charset="-122"/>
                <a:ea typeface="微软雅黑" pitchFamily="34" charset="-122"/>
              </a:rPr>
              <a:t>IEEE 802.15.4-2006</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低速 </a:t>
            </a:r>
            <a:r>
              <a:rPr lang="en-US" altLang="zh-CN" sz="2000" b="1" dirty="0">
                <a:solidFill>
                  <a:srgbClr val="0000FF"/>
                </a:solidFill>
                <a:latin typeface="微软雅黑" pitchFamily="34" charset="-122"/>
                <a:ea typeface="微软雅黑" pitchFamily="34" charset="-122"/>
              </a:rPr>
              <a:t>WPAN </a:t>
            </a:r>
            <a:r>
              <a:rPr lang="zh-CN" altLang="en-US" sz="2000" b="1" dirty="0">
                <a:solidFill>
                  <a:srgbClr val="0000FF"/>
                </a:solidFill>
                <a:latin typeface="微软雅黑" pitchFamily="34" charset="-122"/>
                <a:ea typeface="微软雅黑" pitchFamily="34" charset="-122"/>
              </a:rPr>
              <a:t>中最重要的就是 </a:t>
            </a:r>
            <a:r>
              <a:rPr lang="en-US" altLang="zh-CN" sz="2000" b="1" dirty="0">
                <a:solidFill>
                  <a:srgbClr val="C00000"/>
                </a:solidFill>
                <a:latin typeface="微软雅黑" pitchFamily="34" charset="-122"/>
                <a:ea typeface="微软雅黑" pitchFamily="34" charset="-122"/>
              </a:rPr>
              <a:t>ZigBee</a:t>
            </a:r>
            <a:r>
              <a:rPr lang="zh-CN" altLang="en-US" sz="2000" b="1" dirty="0">
                <a:solidFill>
                  <a:srgbClr val="C00000"/>
                </a:solidFill>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技术主要用于各种电子设备（固定的、便携的或移动的）之间的无线通信。</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257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5935" y="589359"/>
            <a:ext cx="19983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低速 </a:t>
            </a:r>
            <a:r>
              <a:rPr lang="en-US" altLang="zh-CN" sz="2000" b="1" dirty="0">
                <a:solidFill>
                  <a:schemeClr val="bg1"/>
                </a:solidFill>
                <a:latin typeface="微软雅黑" pitchFamily="34" charset="-122"/>
                <a:ea typeface="微软雅黑" pitchFamily="34" charset="-122"/>
              </a:rPr>
              <a:t>WPAN </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9862334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659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a:spLocks noChangeArrowheads="1"/>
          </p:cNvSpPr>
          <p:nvPr/>
        </p:nvSpPr>
        <p:spPr bwMode="auto">
          <a:xfrm>
            <a:off x="635844" y="566763"/>
            <a:ext cx="19159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5353"/>
            <a:ext cx="8133857" cy="355481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通信距离短 </a:t>
            </a:r>
            <a:r>
              <a:rPr lang="en-US" altLang="zh-CN" sz="2000" b="1" dirty="0">
                <a:latin typeface="微软雅黑" pitchFamily="34" charset="-122"/>
                <a:ea typeface="微软雅黑" pitchFamily="34" charset="-122"/>
              </a:rPr>
              <a:t>(10 ~ 80 m)</a:t>
            </a:r>
            <a:r>
              <a:rPr lang="zh-CN" altLang="en-US" sz="2000" b="1" dirty="0">
                <a:latin typeface="微软雅黑" pitchFamily="34" charset="-122"/>
                <a:ea typeface="微软雅黑" pitchFamily="34" charset="-122"/>
              </a:rPr>
              <a:t>，传输数据</a:t>
            </a:r>
            <a:r>
              <a:rPr lang="zh-CN" altLang="en-US" sz="2000" b="1" dirty="0">
                <a:solidFill>
                  <a:srgbClr val="0000FF"/>
                </a:solidFill>
                <a:latin typeface="微软雅黑" pitchFamily="34" charset="-122"/>
                <a:ea typeface="微软雅黑" pitchFamily="34" charset="-122"/>
              </a:rPr>
              <a:t>速率低</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成本低廉</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功耗非常低</a:t>
            </a: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对于某些工作时间和总时间之比小于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的情况，电池的寿命甚至可以超过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年。</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网络容量大</a:t>
            </a: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 </a:t>
            </a:r>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的网络最多包括有 </a:t>
            </a:r>
            <a:r>
              <a:rPr lang="en-US" altLang="zh-CN" sz="2000" b="1" dirty="0">
                <a:latin typeface="微软雅黑" pitchFamily="34" charset="-122"/>
                <a:ea typeface="微软雅黑" pitchFamily="34" charset="-122"/>
              </a:rPr>
              <a:t>255 </a:t>
            </a:r>
            <a:r>
              <a:rPr lang="zh-CN" altLang="en-US" sz="2000" b="1" dirty="0">
                <a:latin typeface="微软雅黑" pitchFamily="34" charset="-122"/>
                <a:ea typeface="微软雅黑" pitchFamily="34" charset="-122"/>
              </a:rPr>
              <a:t>个结点，其中一个是主设备，其余则是从设备。</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若是通过网络协调器，</a:t>
            </a:r>
            <a:r>
              <a:rPr lang="zh-CN" altLang="en-US" sz="2000" b="1" dirty="0">
                <a:solidFill>
                  <a:srgbClr val="C00000"/>
                </a:solidFill>
                <a:latin typeface="微软雅黑" pitchFamily="34" charset="-122"/>
                <a:ea typeface="微软雅黑" pitchFamily="34" charset="-122"/>
              </a:rPr>
              <a:t>整个网络</a:t>
            </a:r>
            <a:r>
              <a:rPr lang="zh-CN" altLang="en-US" sz="2000" b="1" dirty="0">
                <a:latin typeface="微软雅黑" pitchFamily="34" charset="-122"/>
                <a:ea typeface="微软雅黑" pitchFamily="34" charset="-122"/>
              </a:rPr>
              <a:t>最多可以支持超过 </a:t>
            </a:r>
            <a:r>
              <a:rPr lang="en-US" altLang="zh-CN" sz="2000" b="1" dirty="0">
                <a:latin typeface="微软雅黑" pitchFamily="34" charset="-122"/>
                <a:ea typeface="微软雅黑" pitchFamily="34" charset="-122"/>
              </a:rPr>
              <a:t>64000 </a:t>
            </a:r>
            <a:r>
              <a:rPr lang="zh-CN" altLang="en-US" sz="2000" b="1" dirty="0">
                <a:latin typeface="微软雅黑" pitchFamily="34" charset="-122"/>
                <a:ea typeface="微软雅黑" pitchFamily="34" charset="-122"/>
              </a:rPr>
              <a:t>个结点。 </a:t>
            </a:r>
          </a:p>
        </p:txBody>
      </p:sp>
    </p:spTree>
    <p:extLst>
      <p:ext uri="{BB962C8B-B14F-4D97-AF65-F5344CB8AC3E}">
        <p14:creationId xmlns:p14="http://schemas.microsoft.com/office/powerpoint/2010/main" val="2118373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70550"/>
            <a:ext cx="8133857" cy="25759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4" name="矩形 3"/>
          <p:cNvSpPr/>
          <p:nvPr/>
        </p:nvSpPr>
        <p:spPr>
          <a:xfrm>
            <a:off x="637984" y="570462"/>
            <a:ext cx="2762295" cy="400110"/>
          </a:xfrm>
          <a:prstGeom prst="rect">
            <a:avLst/>
          </a:prstGeom>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标准与协议栈 </a:t>
            </a:r>
          </a:p>
        </p:txBody>
      </p:sp>
      <p:grpSp>
        <p:nvGrpSpPr>
          <p:cNvPr id="23" name="组合 22"/>
          <p:cNvGrpSpPr/>
          <p:nvPr/>
        </p:nvGrpSpPr>
        <p:grpSpPr>
          <a:xfrm>
            <a:off x="1184188" y="1255712"/>
            <a:ext cx="6190833" cy="1974598"/>
            <a:chOff x="1184188" y="1324079"/>
            <a:chExt cx="6664777" cy="2736851"/>
          </a:xfrm>
        </p:grpSpPr>
        <p:sp>
          <p:nvSpPr>
            <p:cNvPr id="5" name="Rectangle 5"/>
            <p:cNvSpPr>
              <a:spLocks noChangeArrowheads="1"/>
            </p:cNvSpPr>
            <p:nvPr/>
          </p:nvSpPr>
          <p:spPr bwMode="auto">
            <a:xfrm>
              <a:off x="2549394" y="3457679"/>
              <a:ext cx="2694913" cy="601662"/>
            </a:xfrm>
            <a:prstGeom prst="rect">
              <a:avLst/>
            </a:prstGeom>
            <a:solidFill>
              <a:srgbClr val="00FFFF"/>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6" name="Text Box 6"/>
            <p:cNvSpPr txBox="1">
              <a:spLocks noChangeArrowheads="1"/>
            </p:cNvSpPr>
            <p:nvPr/>
          </p:nvSpPr>
          <p:spPr bwMode="auto">
            <a:xfrm>
              <a:off x="3424321" y="355786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物理层</a:t>
              </a:r>
            </a:p>
          </p:txBody>
        </p:sp>
        <p:sp>
          <p:nvSpPr>
            <p:cNvPr id="7" name="Rectangle 7"/>
            <p:cNvSpPr>
              <a:spLocks noChangeArrowheads="1"/>
            </p:cNvSpPr>
            <p:nvPr/>
          </p:nvSpPr>
          <p:spPr bwMode="auto">
            <a:xfrm>
              <a:off x="2549394" y="2738542"/>
              <a:ext cx="2694913" cy="601663"/>
            </a:xfrm>
            <a:prstGeom prst="rect">
              <a:avLst/>
            </a:prstGeom>
            <a:solidFill>
              <a:srgbClr val="00FFFF"/>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8" name="Text Box 8"/>
            <p:cNvSpPr txBox="1">
              <a:spLocks noChangeArrowheads="1"/>
            </p:cNvSpPr>
            <p:nvPr/>
          </p:nvSpPr>
          <p:spPr bwMode="auto">
            <a:xfrm>
              <a:off x="3371743" y="2837138"/>
              <a:ext cx="95077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600" b="1">
                  <a:latin typeface="微软雅黑" panose="020B0503020204020204" pitchFamily="34" charset="-122"/>
                  <a:ea typeface="微软雅黑" panose="020B0503020204020204" pitchFamily="34" charset="-122"/>
                </a:rPr>
                <a:t>MAC </a:t>
              </a:r>
              <a:r>
                <a:rPr lang="zh-CN" altLang="en-US" sz="1600" b="1">
                  <a:latin typeface="微软雅黑" panose="020B0503020204020204" pitchFamily="34" charset="-122"/>
                  <a:ea typeface="微软雅黑" panose="020B0503020204020204" pitchFamily="34" charset="-122"/>
                </a:rPr>
                <a:t>层</a:t>
              </a:r>
            </a:p>
          </p:txBody>
        </p:sp>
        <p:sp>
          <p:nvSpPr>
            <p:cNvPr id="9" name="Rectangle 9"/>
            <p:cNvSpPr>
              <a:spLocks noChangeArrowheads="1"/>
            </p:cNvSpPr>
            <p:nvPr/>
          </p:nvSpPr>
          <p:spPr bwMode="auto">
            <a:xfrm>
              <a:off x="2549394" y="2055917"/>
              <a:ext cx="2694913" cy="601663"/>
            </a:xfrm>
            <a:prstGeom prst="rect">
              <a:avLst/>
            </a:prstGeom>
            <a:solidFill>
              <a:srgbClr val="99FF99"/>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0" name="Rectangle 10"/>
            <p:cNvSpPr>
              <a:spLocks noChangeArrowheads="1"/>
            </p:cNvSpPr>
            <p:nvPr/>
          </p:nvSpPr>
          <p:spPr bwMode="auto">
            <a:xfrm>
              <a:off x="2549394" y="1352654"/>
              <a:ext cx="2694913" cy="601662"/>
            </a:xfrm>
            <a:prstGeom prst="rect">
              <a:avLst/>
            </a:prstGeom>
            <a:solidFill>
              <a:srgbClr val="99FF99"/>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1" name="Text Box 11"/>
            <p:cNvSpPr txBox="1">
              <a:spLocks noChangeArrowheads="1"/>
            </p:cNvSpPr>
            <p:nvPr/>
          </p:nvSpPr>
          <p:spPr bwMode="auto">
            <a:xfrm>
              <a:off x="3424321" y="2156101"/>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网络层</a:t>
              </a:r>
            </a:p>
          </p:txBody>
        </p:sp>
        <p:sp>
          <p:nvSpPr>
            <p:cNvPr id="12" name="Text Box 12"/>
            <p:cNvSpPr txBox="1">
              <a:spLocks noChangeArrowheads="1"/>
            </p:cNvSpPr>
            <p:nvPr/>
          </p:nvSpPr>
          <p:spPr bwMode="auto">
            <a:xfrm>
              <a:off x="3424321" y="1452838"/>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latin typeface="微软雅黑" panose="020B0503020204020204" pitchFamily="34" charset="-122"/>
                  <a:ea typeface="微软雅黑" panose="020B0503020204020204" pitchFamily="34" charset="-122"/>
                </a:rPr>
                <a:t>应用层</a:t>
              </a:r>
            </a:p>
          </p:txBody>
        </p:sp>
        <p:sp>
          <p:nvSpPr>
            <p:cNvPr id="13" name="Line 13"/>
            <p:cNvSpPr>
              <a:spLocks noChangeShapeType="1"/>
            </p:cNvSpPr>
            <p:nvPr/>
          </p:nvSpPr>
          <p:spPr bwMode="auto">
            <a:xfrm>
              <a:off x="5340615" y="4060929"/>
              <a:ext cx="2493698"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4" name="Line 14"/>
            <p:cNvSpPr>
              <a:spLocks noChangeShapeType="1"/>
            </p:cNvSpPr>
            <p:nvPr/>
          </p:nvSpPr>
          <p:spPr bwMode="auto">
            <a:xfrm>
              <a:off x="5321698" y="2694091"/>
              <a:ext cx="2491978" cy="0"/>
            </a:xfrm>
            <a:prstGeom prst="line">
              <a:avLst/>
            </a:prstGeom>
            <a:noFill/>
            <a:ln w="190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5" name="Line 15"/>
            <p:cNvSpPr>
              <a:spLocks noChangeShapeType="1"/>
            </p:cNvSpPr>
            <p:nvPr/>
          </p:nvSpPr>
          <p:spPr bwMode="auto">
            <a:xfrm>
              <a:off x="5340615" y="1324079"/>
              <a:ext cx="2493698"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 name="Line 16"/>
            <p:cNvSpPr>
              <a:spLocks noChangeShapeType="1"/>
            </p:cNvSpPr>
            <p:nvPr/>
          </p:nvSpPr>
          <p:spPr bwMode="auto">
            <a:xfrm>
              <a:off x="5857940" y="2657579"/>
              <a:ext cx="0" cy="1403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 name="Text Box 17"/>
            <p:cNvSpPr txBox="1">
              <a:spLocks noChangeArrowheads="1"/>
            </p:cNvSpPr>
            <p:nvPr/>
          </p:nvSpPr>
          <p:spPr bwMode="auto">
            <a:xfrm>
              <a:off x="5833670" y="3270525"/>
              <a:ext cx="2015295" cy="338554"/>
            </a:xfrm>
            <a:prstGeom prst="rect">
              <a:avLst/>
            </a:prstGeom>
            <a:noFill/>
            <a:ln>
              <a:noFill/>
            </a:ln>
            <a:effectLst/>
          </p:spPr>
          <p:txBody>
            <a:bodyPr wrap="none">
              <a:spAutoFit/>
            </a:bodyPr>
            <a:lstStyle>
              <a:defPPr>
                <a:defRPr lang="zh-CN"/>
              </a:defPPr>
              <a:lvl1pPr>
                <a:defRPr sz="1200" b="1">
                  <a:latin typeface="微软雅黑" panose="020B0503020204020204" pitchFamily="34" charset="-122"/>
                  <a:ea typeface="微软雅黑" panose="020B0503020204020204" pitchFamily="34" charset="-122"/>
                </a:defRPr>
              </a:lvl1pPr>
            </a:lstStyle>
            <a:p>
              <a:pPr algn="ctr"/>
              <a:r>
                <a:rPr lang="en-US" altLang="zh-CN" sz="1600" dirty="0"/>
                <a:t>IEEE 802.15.4 </a:t>
              </a:r>
              <a:r>
                <a:rPr lang="zh-CN" altLang="en-US" sz="1600" dirty="0"/>
                <a:t>定义</a:t>
              </a:r>
            </a:p>
          </p:txBody>
        </p:sp>
        <p:sp>
          <p:nvSpPr>
            <p:cNvPr id="18" name="Line 18"/>
            <p:cNvSpPr>
              <a:spLocks noChangeShapeType="1"/>
            </p:cNvSpPr>
            <p:nvPr/>
          </p:nvSpPr>
          <p:spPr bwMode="auto">
            <a:xfrm flipH="1">
              <a:off x="5857941" y="1333605"/>
              <a:ext cx="3440" cy="1323975"/>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Text Box 19"/>
            <p:cNvSpPr txBox="1">
              <a:spLocks noChangeArrowheads="1"/>
            </p:cNvSpPr>
            <p:nvPr/>
          </p:nvSpPr>
          <p:spPr bwMode="auto">
            <a:xfrm>
              <a:off x="5833670" y="1829075"/>
              <a:ext cx="1778051" cy="338554"/>
            </a:xfrm>
            <a:prstGeom prst="rect">
              <a:avLst/>
            </a:prstGeom>
            <a:noFill/>
            <a:ln>
              <a:noFill/>
            </a:ln>
            <a:effectLst/>
          </p:spPr>
          <p:txBody>
            <a:bodyPr wrap="none">
              <a:spAutoFit/>
            </a:bodyPr>
            <a:lstStyle>
              <a:defPPr>
                <a:defRPr lang="zh-CN"/>
              </a:defPPr>
              <a:lvl1pPr>
                <a:defRPr sz="2000" b="1">
                  <a:latin typeface="微软雅黑" panose="020B0503020204020204" pitchFamily="34" charset="-122"/>
                  <a:ea typeface="微软雅黑" panose="020B0503020204020204" pitchFamily="34" charset="-122"/>
                </a:defRPr>
              </a:lvl1pPr>
            </a:lstStyle>
            <a:p>
              <a:pPr algn="ctr"/>
              <a:r>
                <a:rPr lang="en-US" altLang="zh-CN" sz="1600" dirty="0" err="1"/>
                <a:t>ZigBee</a:t>
              </a:r>
              <a:r>
                <a:rPr lang="en-US" altLang="zh-CN" sz="1600" dirty="0"/>
                <a:t> </a:t>
              </a:r>
              <a:r>
                <a:rPr lang="zh-CN" altLang="en-US" sz="1600" dirty="0"/>
                <a:t>联盟定义</a:t>
              </a:r>
            </a:p>
          </p:txBody>
        </p:sp>
        <p:sp>
          <p:nvSpPr>
            <p:cNvPr id="20" name="AutoShape 20"/>
            <p:cNvSpPr>
              <a:spLocks/>
            </p:cNvSpPr>
            <p:nvPr/>
          </p:nvSpPr>
          <p:spPr bwMode="auto">
            <a:xfrm>
              <a:off x="2253589" y="1352655"/>
              <a:ext cx="197776" cy="2708275"/>
            </a:xfrm>
            <a:prstGeom prst="leftBrace">
              <a:avLst>
                <a:gd name="adj1" fmla="val 123624"/>
                <a:gd name="adj2" fmla="val 50000"/>
              </a:avLst>
            </a:prstGeom>
            <a:noFill/>
            <a:ln w="19050">
              <a:solidFill>
                <a:srgbClr val="0000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1184188" y="2397400"/>
              <a:ext cx="896399" cy="53553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lang="en-US" altLang="zh-CN" sz="1600" b="1" dirty="0">
                  <a:latin typeface="微软雅黑" panose="020B0503020204020204" pitchFamily="34" charset="-122"/>
                  <a:ea typeface="微软雅黑" panose="020B0503020204020204" pitchFamily="34" charset="-122"/>
                </a:rPr>
                <a:t>ZigBee</a:t>
              </a:r>
            </a:p>
            <a:p>
              <a:pPr algn="ctr">
                <a:lnSpc>
                  <a:spcPct val="90000"/>
                </a:lnSpc>
              </a:pPr>
              <a:r>
                <a:rPr lang="zh-CN" altLang="en-US" sz="1600" b="1" dirty="0">
                  <a:latin typeface="微软雅黑" panose="020B0503020204020204" pitchFamily="34" charset="-122"/>
                  <a:ea typeface="微软雅黑" panose="020B0503020204020204" pitchFamily="34" charset="-122"/>
                </a:rPr>
                <a:t>协议栈</a:t>
              </a:r>
            </a:p>
          </p:txBody>
        </p:sp>
      </p:grpSp>
      <p:sp>
        <p:nvSpPr>
          <p:cNvPr id="24" name="矩形 23"/>
          <p:cNvSpPr/>
          <p:nvPr/>
        </p:nvSpPr>
        <p:spPr>
          <a:xfrm>
            <a:off x="899236" y="3553375"/>
            <a:ext cx="7544008" cy="1015663"/>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在 </a:t>
            </a: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标准基础上发展而来。所有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产品也是 </a:t>
            </a:r>
            <a:r>
              <a:rPr lang="en-US" altLang="zh-CN" sz="1600" b="1" dirty="0">
                <a:latin typeface="微软雅黑" pitchFamily="34" charset="-122"/>
                <a:ea typeface="微软雅黑" pitchFamily="34" charset="-122"/>
              </a:rPr>
              <a:t>802.15.4 </a:t>
            </a:r>
            <a:r>
              <a:rPr lang="zh-CN" altLang="en-US" sz="1600" b="1" dirty="0">
                <a:latin typeface="微软雅黑" pitchFamily="34" charset="-122"/>
                <a:ea typeface="微软雅黑" pitchFamily="34" charset="-122"/>
              </a:rPr>
              <a:t>产品。</a:t>
            </a:r>
          </a:p>
          <a:p>
            <a:pPr eaLnBrk="0" hangingPunct="0">
              <a:lnSpc>
                <a:spcPts val="2400"/>
              </a:lnSpc>
              <a:buClr>
                <a:srgbClr val="0070C0"/>
              </a:buClr>
            </a:pP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只是定义了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协议栈的</a:t>
            </a:r>
            <a:r>
              <a:rPr lang="zh-CN" altLang="en-US" sz="1600" b="1" dirty="0">
                <a:solidFill>
                  <a:srgbClr val="C00000"/>
                </a:solidFill>
                <a:latin typeface="微软雅黑" pitchFamily="34" charset="-122"/>
                <a:ea typeface="微软雅黑" pitchFamily="34" charset="-122"/>
              </a:rPr>
              <a:t>最低的两层</a:t>
            </a:r>
            <a:r>
              <a:rPr lang="zh-CN" altLang="en-US" sz="1600" b="1" dirty="0">
                <a:latin typeface="微软雅黑" pitchFamily="34" charset="-122"/>
                <a:ea typeface="微软雅黑" pitchFamily="34" charset="-122"/>
              </a:rPr>
              <a:t>（物理层和 </a:t>
            </a:r>
            <a:r>
              <a:rPr lang="en-US" altLang="zh-CN" sz="1600" b="1" dirty="0">
                <a:latin typeface="微软雅黑" pitchFamily="34" charset="-122"/>
                <a:ea typeface="微软雅黑" pitchFamily="34" charset="-122"/>
              </a:rPr>
              <a:t>MAC </a:t>
            </a:r>
            <a:r>
              <a:rPr lang="zh-CN" altLang="en-US" sz="1600" b="1" dirty="0">
                <a:latin typeface="微软雅黑" pitchFamily="34" charset="-122"/>
                <a:ea typeface="微软雅黑" pitchFamily="34" charset="-122"/>
              </a:rPr>
              <a:t>层），而上面的两层（网络层和应用层）则是由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联盟定义的。</a:t>
            </a:r>
          </a:p>
        </p:txBody>
      </p:sp>
    </p:spTree>
    <p:extLst>
      <p:ext uri="{BB962C8B-B14F-4D97-AF65-F5344CB8AC3E}">
        <p14:creationId xmlns:p14="http://schemas.microsoft.com/office/powerpoint/2010/main" val="9681077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31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484"/>
            <a:ext cx="27622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标准与协议栈 </a:t>
            </a:r>
          </a:p>
        </p:txBody>
      </p:sp>
      <p:sp>
        <p:nvSpPr>
          <p:cNvPr id="4" name="Rectangle 46"/>
          <p:cNvSpPr>
            <a:spLocks noChangeArrowheads="1"/>
          </p:cNvSpPr>
          <p:nvPr/>
        </p:nvSpPr>
        <p:spPr bwMode="auto">
          <a:xfrm>
            <a:off x="517853" y="934074"/>
            <a:ext cx="8270547" cy="515526"/>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IEEE 802.15.4 </a:t>
            </a:r>
            <a:r>
              <a:rPr lang="zh-CN" altLang="en-US" sz="2000" b="1" dirty="0">
                <a:solidFill>
                  <a:srgbClr val="C00000"/>
                </a:solidFill>
                <a:latin typeface="微软雅黑" pitchFamily="34" charset="-122"/>
                <a:ea typeface="微软雅黑" pitchFamily="34" charset="-122"/>
              </a:rPr>
              <a:t>物理层</a:t>
            </a:r>
            <a:r>
              <a:rPr lang="zh-CN" altLang="en-US" sz="2000" b="1" dirty="0">
                <a:latin typeface="微软雅黑" pitchFamily="34" charset="-122"/>
                <a:ea typeface="微软雅黑" pitchFamily="34" charset="-122"/>
              </a:rPr>
              <a:t>使用的三个频段</a:t>
            </a:r>
          </a:p>
        </p:txBody>
      </p:sp>
      <p:sp>
        <p:nvSpPr>
          <p:cNvPr id="6" name="Rectangle 46"/>
          <p:cNvSpPr>
            <a:spLocks noChangeArrowheads="1"/>
          </p:cNvSpPr>
          <p:nvPr/>
        </p:nvSpPr>
        <p:spPr bwMode="auto">
          <a:xfrm>
            <a:off x="517853" y="3060935"/>
            <a:ext cx="8380820" cy="93871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 </a:t>
            </a:r>
            <a:r>
              <a:rPr lang="en-US" altLang="zh-CN" sz="2000" b="1" dirty="0">
                <a:solidFill>
                  <a:srgbClr val="C00000"/>
                </a:solidFill>
                <a:latin typeface="微软雅黑" pitchFamily="34" charset="-122"/>
                <a:ea typeface="微软雅黑" pitchFamily="34" charset="-122"/>
              </a:rPr>
              <a:t>MAC </a:t>
            </a:r>
            <a:r>
              <a:rPr lang="zh-CN" altLang="en-US" sz="2000" b="1" dirty="0">
                <a:solidFill>
                  <a:srgbClr val="C00000"/>
                </a:solidFill>
                <a:latin typeface="微软雅黑" pitchFamily="34" charset="-122"/>
                <a:ea typeface="微软雅黑" pitchFamily="34" charset="-122"/>
              </a:rPr>
              <a:t>层</a:t>
            </a:r>
            <a:r>
              <a:rPr lang="zh-CN" altLang="en-US" sz="2000" b="1" dirty="0">
                <a:latin typeface="微软雅黑" pitchFamily="34" charset="-122"/>
                <a:ea typeface="微软雅黑" pitchFamily="34" charset="-122"/>
              </a:rPr>
              <a:t>主要沿用 </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无线局域网标准的 </a:t>
            </a:r>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在</a:t>
            </a:r>
            <a:r>
              <a:rPr lang="zh-CN" altLang="en-US" sz="2000" b="1" dirty="0">
                <a:solidFill>
                  <a:srgbClr val="C00000"/>
                </a:solidFill>
                <a:latin typeface="微软雅黑" pitchFamily="34" charset="-122"/>
                <a:ea typeface="微软雅黑" pitchFamily="34" charset="-122"/>
              </a:rPr>
              <a:t>网络层</a:t>
            </a:r>
            <a:r>
              <a:rPr lang="zh-CN" altLang="en-US"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ZigBee</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可采用</a:t>
            </a:r>
            <a:r>
              <a:rPr lang="zh-CN" altLang="en-US" sz="2000" b="1" dirty="0">
                <a:solidFill>
                  <a:srgbClr val="0000FF"/>
                </a:solidFill>
                <a:latin typeface="微软雅黑" pitchFamily="34" charset="-122"/>
                <a:ea typeface="微软雅黑" pitchFamily="34" charset="-122"/>
              </a:rPr>
              <a:t>星形</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网状</a:t>
            </a:r>
            <a:r>
              <a:rPr lang="zh-CN" altLang="en-US" sz="2000" b="1" dirty="0">
                <a:latin typeface="微软雅黑" pitchFamily="34" charset="-122"/>
                <a:ea typeface="微软雅黑" pitchFamily="34" charset="-122"/>
              </a:rPr>
              <a:t>拓扑，或两者的组合。</a:t>
            </a:r>
          </a:p>
        </p:txBody>
      </p:sp>
      <p:graphicFrame>
        <p:nvGraphicFramePr>
          <p:cNvPr id="7" name="Group 179"/>
          <p:cNvGraphicFramePr>
            <a:graphicFrameLocks/>
          </p:cNvGraphicFramePr>
          <p:nvPr>
            <p:extLst>
              <p:ext uri="{D42A27DB-BD31-4B8C-83A1-F6EECF244321}">
                <p14:modId xmlns:p14="http://schemas.microsoft.com/office/powerpoint/2010/main" val="2618856287"/>
              </p:ext>
            </p:extLst>
          </p:nvPr>
        </p:nvGraphicFramePr>
        <p:xfrm>
          <a:off x="534781" y="1486104"/>
          <a:ext cx="8100000" cy="1502616"/>
        </p:xfrm>
        <a:graphic>
          <a:graphicData uri="http://schemas.openxmlformats.org/drawingml/2006/table">
            <a:tbl>
              <a:tblPr/>
              <a:tblGrid>
                <a:gridCol w="2700000">
                  <a:extLst>
                    <a:ext uri="{9D8B030D-6E8A-4147-A177-3AD203B41FA5}">
                      <a16:colId xmlns:a16="http://schemas.microsoft.com/office/drawing/2014/main" val="20000"/>
                    </a:ext>
                  </a:extLst>
                </a:gridCol>
                <a:gridCol w="2700000">
                  <a:extLst>
                    <a:ext uri="{9D8B030D-6E8A-4147-A177-3AD203B41FA5}">
                      <a16:colId xmlns:a16="http://schemas.microsoft.com/office/drawing/2014/main" val="20001"/>
                    </a:ext>
                  </a:extLst>
                </a:gridCol>
                <a:gridCol w="2700000">
                  <a:extLst>
                    <a:ext uri="{9D8B030D-6E8A-4147-A177-3AD203B41FA5}">
                      <a16:colId xmlns:a16="http://schemas.microsoft.com/office/drawing/2014/main" val="20002"/>
                    </a:ext>
                  </a:extLst>
                </a:gridCol>
              </a:tblGrid>
              <a:tr h="375654">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频段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数据率</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信道数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extLst>
                  <a:ext uri="{0D108BD9-81ED-4DB2-BD59-A6C34878D82A}">
                    <a16:rowId xmlns:a16="http://schemas.microsoft.com/office/drawing/2014/main" val="10000"/>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2.4 GHz</a:t>
                      </a:r>
                      <a:r>
                        <a:rPr lang="zh-CN" sz="1600" b="1" dirty="0">
                          <a:solidFill>
                            <a:schemeClr val="tx1"/>
                          </a:solidFill>
                          <a:effectLst/>
                          <a:latin typeface="微软雅黑" panose="020B0503020204020204" pitchFamily="34" charset="-122"/>
                          <a:ea typeface="微软雅黑" panose="020B0503020204020204" pitchFamily="34" charset="-122"/>
                        </a:rPr>
                        <a:t>（全球）</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250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16</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915 MHz</a:t>
                      </a:r>
                      <a:r>
                        <a:rPr lang="zh-CN" sz="1600" b="1" dirty="0">
                          <a:solidFill>
                            <a:schemeClr val="tx1"/>
                          </a:solidFill>
                          <a:effectLst/>
                          <a:latin typeface="微软雅黑" panose="020B0503020204020204" pitchFamily="34" charset="-122"/>
                          <a:ea typeface="微软雅黑" panose="020B0503020204020204" pitchFamily="34" charset="-122"/>
                        </a:rPr>
                        <a:t>（美国）</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40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10</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a16="http://schemas.microsoft.com/office/drawing/2014/main" val="10002"/>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868 MHz</a:t>
                      </a:r>
                      <a:r>
                        <a:rPr lang="zh-CN" sz="1600" b="1" dirty="0">
                          <a:solidFill>
                            <a:schemeClr val="tx1"/>
                          </a:solidFill>
                          <a:effectLst/>
                          <a:latin typeface="微软雅黑" panose="020B0503020204020204" pitchFamily="34" charset="-122"/>
                          <a:ea typeface="微软雅黑" panose="020B0503020204020204" pitchFamily="34" charset="-122"/>
                        </a:rPr>
                        <a:t>（欧洲）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5243008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2027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a:spLocks noChangeArrowheads="1"/>
          </p:cNvSpPr>
          <p:nvPr/>
        </p:nvSpPr>
        <p:spPr bwMode="auto">
          <a:xfrm>
            <a:off x="635844" y="570444"/>
            <a:ext cx="24288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的组网方式</a:t>
            </a:r>
            <a:endParaRPr lang="en-US" altLang="zh-CN" sz="2000" b="1" dirty="0">
              <a:latin typeface="微软雅黑" pitchFamily="34" charset="-122"/>
              <a:ea typeface="微软雅黑" pitchFamily="34" charset="-122"/>
            </a:endParaRPr>
          </a:p>
        </p:txBody>
      </p:sp>
      <p:sp>
        <p:nvSpPr>
          <p:cNvPr id="6" name="Rectangle 46"/>
          <p:cNvSpPr>
            <a:spLocks noChangeArrowheads="1"/>
          </p:cNvSpPr>
          <p:nvPr/>
        </p:nvSpPr>
        <p:spPr bwMode="auto">
          <a:xfrm>
            <a:off x="517853" y="939034"/>
            <a:ext cx="8264197" cy="373159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一个 </a:t>
            </a:r>
            <a:r>
              <a:rPr lang="en-US" altLang="zh-CN" b="1" dirty="0" err="1">
                <a:latin typeface="微软雅黑" pitchFamily="34" charset="-122"/>
                <a:ea typeface="微软雅黑" pitchFamily="34" charset="-122"/>
              </a:rPr>
              <a:t>ZigBee</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网络最多可以有 </a:t>
            </a:r>
            <a:r>
              <a:rPr lang="en-US" altLang="zh-CN" b="1" dirty="0">
                <a:latin typeface="微软雅黑" pitchFamily="34" charset="-122"/>
                <a:ea typeface="微软雅黑" pitchFamily="34" charset="-122"/>
              </a:rPr>
              <a:t>255 </a:t>
            </a:r>
            <a:r>
              <a:rPr lang="zh-CN" altLang="en-US" b="1" dirty="0">
                <a:latin typeface="微软雅黑" pitchFamily="34" charset="-122"/>
                <a:ea typeface="微软雅黑" pitchFamily="34" charset="-122"/>
              </a:rPr>
              <a:t>个节点。</a:t>
            </a:r>
          </a:p>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节点按功能的强弱可划分为</a:t>
            </a:r>
            <a:r>
              <a:rPr lang="zh-CN" altLang="en-US" b="1" dirty="0">
                <a:solidFill>
                  <a:srgbClr val="C00000"/>
                </a:solidFill>
                <a:latin typeface="微软雅黑" pitchFamily="34" charset="-122"/>
                <a:ea typeface="微软雅黑" pitchFamily="34" charset="-122"/>
              </a:rPr>
              <a:t>两大类：</a:t>
            </a:r>
          </a:p>
          <a:p>
            <a:pPr marL="714375" indent="-374650" eaLnBrk="0" hangingPunct="0">
              <a:lnSpc>
                <a:spcPts val="26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全功能设备 </a:t>
            </a:r>
            <a:r>
              <a:rPr lang="en-US" altLang="zh-CN" b="1" dirty="0">
                <a:latin typeface="微软雅黑" pitchFamily="34" charset="-122"/>
                <a:ea typeface="微软雅黑" pitchFamily="34" charset="-122"/>
              </a:rPr>
              <a:t>FFD (Full-Function Device)</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充当</a:t>
            </a:r>
            <a:r>
              <a:rPr lang="zh-CN" altLang="en-US" b="1" dirty="0">
                <a:solidFill>
                  <a:srgbClr val="C00000"/>
                </a:solidFill>
                <a:latin typeface="微软雅黑" pitchFamily="34" charset="-122"/>
                <a:ea typeface="微软雅黑" pitchFamily="34" charset="-122"/>
              </a:rPr>
              <a:t>协调器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(coordinator)</a:t>
            </a:r>
            <a:r>
              <a:rPr lang="zh-CN" altLang="en-US" b="1" dirty="0">
                <a:latin typeface="微软雅黑" pitchFamily="34" charset="-122"/>
                <a:ea typeface="微软雅黑" pitchFamily="34" charset="-122"/>
              </a:rPr>
              <a:t>，负责维护整个 </a:t>
            </a:r>
            <a:r>
              <a:rPr lang="en-US" altLang="zh-CN" b="1" dirty="0">
                <a:latin typeface="微软雅黑" pitchFamily="34" charset="-122"/>
                <a:ea typeface="微软雅黑" pitchFamily="34" charset="-122"/>
              </a:rPr>
              <a:t>ZigBee </a:t>
            </a:r>
            <a:r>
              <a:rPr lang="zh-CN" altLang="en-US" b="1" dirty="0">
                <a:latin typeface="微软雅黑" pitchFamily="34" charset="-122"/>
                <a:ea typeface="微软雅黑" pitchFamily="34" charset="-122"/>
              </a:rPr>
              <a:t>网络的节点信息，同时还可以与其他 </a:t>
            </a:r>
            <a:r>
              <a:rPr lang="en-US" altLang="zh-CN" b="1" dirty="0">
                <a:latin typeface="微软雅黑" pitchFamily="34" charset="-122"/>
                <a:ea typeface="微软雅黑" pitchFamily="34" charset="-122"/>
              </a:rPr>
              <a:t>ZigBee </a:t>
            </a:r>
            <a:r>
              <a:rPr lang="zh-CN" altLang="en-US" b="1" dirty="0">
                <a:latin typeface="微软雅黑" pitchFamily="34" charset="-122"/>
                <a:ea typeface="微软雅黑" pitchFamily="34" charset="-122"/>
              </a:rPr>
              <a:t>网络的协调器交换数据。</a:t>
            </a:r>
            <a:endParaRPr lang="en-US" altLang="zh-CN" b="1" dirty="0">
              <a:latin typeface="微软雅黑" pitchFamily="34" charset="-122"/>
              <a:ea typeface="微软雅黑" pitchFamily="34" charset="-122"/>
            </a:endParaRP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通过各网络协调器的相互通信，可以得到覆盖更大范围、超过</a:t>
            </a:r>
            <a:r>
              <a:rPr lang="en-US" altLang="zh-CN" b="1" dirty="0">
                <a:latin typeface="微软雅黑" pitchFamily="34" charset="-122"/>
                <a:ea typeface="微软雅黑" pitchFamily="34" charset="-122"/>
              </a:rPr>
              <a:t>65000 </a:t>
            </a:r>
            <a:r>
              <a:rPr lang="zh-CN" altLang="en-US" b="1" dirty="0">
                <a:latin typeface="微软雅黑" pitchFamily="34" charset="-122"/>
                <a:ea typeface="微软雅黑" pitchFamily="34" charset="-122"/>
              </a:rPr>
              <a:t>个节点的 </a:t>
            </a:r>
            <a:r>
              <a:rPr lang="en-US" altLang="zh-CN" b="1" dirty="0">
                <a:latin typeface="微软雅黑" pitchFamily="34" charset="-122"/>
                <a:ea typeface="微软雅黑" pitchFamily="34" charset="-122"/>
              </a:rPr>
              <a:t>ZigBee</a:t>
            </a:r>
            <a:r>
              <a:rPr lang="zh-CN" altLang="en-US" b="1" dirty="0">
                <a:latin typeface="微软雅黑" pitchFamily="34" charset="-122"/>
                <a:ea typeface="微软雅黑" pitchFamily="34" charset="-122"/>
              </a:rPr>
              <a:t>网络。</a:t>
            </a:r>
            <a:endParaRPr lang="zh-CN" altLang="en-US" b="1" dirty="0">
              <a:solidFill>
                <a:srgbClr val="C00000"/>
              </a:solidFill>
              <a:latin typeface="微软雅黑" pitchFamily="34" charset="-122"/>
              <a:ea typeface="微软雅黑" pitchFamily="34" charset="-122"/>
            </a:endParaRPr>
          </a:p>
          <a:p>
            <a:pPr marL="714375" indent="-374650" eaLnBrk="0" hangingPunct="0">
              <a:lnSpc>
                <a:spcPts val="2600"/>
              </a:lnSpc>
              <a:buClr>
                <a:srgbClr val="7030A0"/>
              </a:buClr>
              <a:buFont typeface="+mj-lt"/>
              <a:buAutoNum type="arabicPeriod" startAt="2"/>
            </a:pPr>
            <a:r>
              <a:rPr lang="zh-CN" altLang="en-US" b="1" dirty="0">
                <a:solidFill>
                  <a:srgbClr val="0000FF"/>
                </a:solidFill>
                <a:latin typeface="微软雅黑" pitchFamily="34" charset="-122"/>
                <a:ea typeface="微软雅黑" pitchFamily="34" charset="-122"/>
              </a:rPr>
              <a:t>精简功能设备 </a:t>
            </a:r>
            <a:r>
              <a:rPr lang="en-US" altLang="zh-CN" b="1" dirty="0">
                <a:latin typeface="微软雅黑" pitchFamily="34" charset="-122"/>
                <a:ea typeface="微软雅黑" pitchFamily="34" charset="-122"/>
              </a:rPr>
              <a:t>RFD (Reduced-Function Device) </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是 </a:t>
            </a:r>
            <a:r>
              <a:rPr lang="en-US" altLang="zh-CN" b="1" dirty="0" err="1">
                <a:latin typeface="微软雅黑" pitchFamily="34" charset="-122"/>
                <a:ea typeface="微软雅黑" pitchFamily="34" charset="-122"/>
              </a:rPr>
              <a:t>ZigBee</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网络中数量最多的</a:t>
            </a:r>
            <a:r>
              <a:rPr lang="zh-CN" altLang="en-US" b="1" dirty="0">
                <a:solidFill>
                  <a:srgbClr val="C00000"/>
                </a:solidFill>
                <a:latin typeface="微软雅黑" pitchFamily="34" charset="-122"/>
                <a:ea typeface="微软雅黑" pitchFamily="34" charset="-122"/>
              </a:rPr>
              <a:t>端设备。</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电路简单，存储容量较小，因而成本较低。</a:t>
            </a:r>
          </a:p>
          <a:p>
            <a:pPr marL="1260000" indent="-457200" eaLnBrk="0" hangingPunct="0">
              <a:lnSpc>
                <a:spcPts val="2600"/>
              </a:lnSpc>
              <a:buClr>
                <a:srgbClr val="000099"/>
              </a:buClr>
              <a:buFont typeface="+mj-ea"/>
              <a:buAutoNum type="circleNumDbPlain"/>
            </a:pPr>
            <a:r>
              <a:rPr lang="en-US" altLang="zh-CN" b="1" dirty="0">
                <a:latin typeface="微软雅黑" pitchFamily="34" charset="-122"/>
                <a:ea typeface="微软雅黑" pitchFamily="34" charset="-122"/>
              </a:rPr>
              <a:t>RFD </a:t>
            </a:r>
            <a:r>
              <a:rPr lang="zh-CN" altLang="en-US" b="1" dirty="0">
                <a:latin typeface="微软雅黑" pitchFamily="34" charset="-122"/>
                <a:ea typeface="微软雅黑" pitchFamily="34" charset="-122"/>
              </a:rPr>
              <a:t>结点</a:t>
            </a:r>
            <a:r>
              <a:rPr lang="zh-CN" altLang="en-US" b="1" dirty="0">
                <a:solidFill>
                  <a:srgbClr val="C00000"/>
                </a:solidFill>
                <a:latin typeface="微软雅黑" pitchFamily="34" charset="-122"/>
                <a:ea typeface="微软雅黑" pitchFamily="34" charset="-122"/>
              </a:rPr>
              <a:t>只能</a:t>
            </a:r>
            <a:r>
              <a:rPr lang="zh-CN" altLang="en-US" b="1" dirty="0">
                <a:latin typeface="微软雅黑" pitchFamily="34" charset="-122"/>
                <a:ea typeface="微软雅黑" pitchFamily="34" charset="-122"/>
              </a:rPr>
              <a:t>与处在该星形网中心的 </a:t>
            </a:r>
            <a:r>
              <a:rPr lang="en-US" altLang="zh-CN" b="1" dirty="0">
                <a:latin typeface="微软雅黑" pitchFamily="34" charset="-122"/>
                <a:ea typeface="微软雅黑" pitchFamily="34" charset="-122"/>
              </a:rPr>
              <a:t>FFD </a:t>
            </a:r>
            <a:r>
              <a:rPr lang="zh-CN" altLang="en-US" b="1" dirty="0">
                <a:latin typeface="微软雅黑" pitchFamily="34" charset="-122"/>
                <a:ea typeface="微软雅黑" pitchFamily="34" charset="-122"/>
              </a:rPr>
              <a:t>结点交换数据。</a:t>
            </a:r>
          </a:p>
        </p:txBody>
      </p:sp>
    </p:spTree>
    <p:extLst>
      <p:ext uri="{BB962C8B-B14F-4D97-AF65-F5344CB8AC3E}">
        <p14:creationId xmlns:p14="http://schemas.microsoft.com/office/powerpoint/2010/main" val="39928350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圆角矩形 3"/>
          <p:cNvSpPr/>
          <p:nvPr/>
        </p:nvSpPr>
        <p:spPr>
          <a:xfrm>
            <a:off x="517852" y="98632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5" name="矩形 4"/>
          <p:cNvSpPr/>
          <p:nvPr/>
        </p:nvSpPr>
        <p:spPr>
          <a:xfrm>
            <a:off x="637984" y="570462"/>
            <a:ext cx="2428870" cy="400110"/>
          </a:xfrm>
          <a:prstGeom prst="rect">
            <a:avLst/>
          </a:prstGeom>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的组网方式</a:t>
            </a:r>
          </a:p>
        </p:txBody>
      </p:sp>
      <p:sp>
        <p:nvSpPr>
          <p:cNvPr id="2" name="矩形 1"/>
          <p:cNvSpPr/>
          <p:nvPr/>
        </p:nvSpPr>
        <p:spPr>
          <a:xfrm>
            <a:off x="1614154" y="1045038"/>
            <a:ext cx="5941251" cy="656590"/>
          </a:xfrm>
          <a:prstGeom prst="rect">
            <a:avLst/>
          </a:prstGeom>
          <a:solidFill>
            <a:srgbClr val="FFFFCC"/>
          </a:solidFill>
          <a:ln>
            <a:noFill/>
          </a:ln>
        </p:spPr>
        <p:txBody>
          <a:bodyPr wrap="square">
            <a:spAutoFit/>
          </a:bodyPr>
          <a:lstStyle/>
          <a:p>
            <a:pPr algn="ctr">
              <a:lnSpc>
                <a:spcPts val="2200"/>
              </a:lnSpc>
            </a:pPr>
            <a:r>
              <a:rPr lang="zh-CN" altLang="en-US" sz="1600" b="1" dirty="0">
                <a:latin typeface="微软雅黑" pitchFamily="34" charset="-122"/>
                <a:ea typeface="微软雅黑" pitchFamily="34" charset="-122"/>
              </a:rPr>
              <a:t>有一个全功能设备 </a:t>
            </a:r>
            <a:r>
              <a:rPr lang="en-US" altLang="zh-CN" sz="1600" b="1" dirty="0">
                <a:latin typeface="微软雅黑" pitchFamily="34" charset="-122"/>
                <a:ea typeface="微软雅黑" pitchFamily="34" charset="-122"/>
              </a:rPr>
              <a:t>FFD </a:t>
            </a:r>
            <a:r>
              <a:rPr lang="zh-CN" altLang="en-US" sz="1600" b="1" dirty="0">
                <a:latin typeface="微软雅黑" pitchFamily="34" charset="-122"/>
                <a:ea typeface="微软雅黑" pitchFamily="34" charset="-122"/>
              </a:rPr>
              <a:t>充当网络的</a:t>
            </a:r>
            <a:r>
              <a:rPr lang="zh-CN" altLang="en-US" sz="1600" b="1" dirty="0">
                <a:solidFill>
                  <a:srgbClr val="0000FF"/>
                </a:solidFill>
                <a:latin typeface="微软雅黑" pitchFamily="34" charset="-122"/>
                <a:ea typeface="微软雅黑" pitchFamily="34" charset="-122"/>
              </a:rPr>
              <a:t>协调器</a:t>
            </a:r>
            <a:r>
              <a:rPr lang="zh-CN" altLang="en-US" sz="1600" b="1" dirty="0">
                <a:latin typeface="微软雅黑" pitchFamily="34" charset="-122"/>
                <a:ea typeface="微软雅黑" pitchFamily="34" charset="-122"/>
              </a:rPr>
              <a:t>。</a:t>
            </a:r>
          </a:p>
          <a:p>
            <a:pPr algn="ctr">
              <a:lnSpc>
                <a:spcPts val="2200"/>
              </a:lnSpc>
            </a:pP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网络中</a:t>
            </a:r>
            <a:r>
              <a:rPr lang="zh-CN" altLang="en-US" sz="1600" b="1" dirty="0">
                <a:solidFill>
                  <a:srgbClr val="0000FF"/>
                </a:solidFill>
                <a:latin typeface="微软雅黑" pitchFamily="34" charset="-122"/>
                <a:ea typeface="微软雅黑" pitchFamily="34" charset="-122"/>
              </a:rPr>
              <a:t>数量最多</a:t>
            </a:r>
            <a:r>
              <a:rPr lang="zh-CN" altLang="en-US" sz="1600" b="1" dirty="0">
                <a:latin typeface="微软雅黑" pitchFamily="34" charset="-122"/>
                <a:ea typeface="微软雅黑" pitchFamily="34" charset="-122"/>
              </a:rPr>
              <a:t>的端设备是精简功能设备 </a:t>
            </a:r>
            <a:r>
              <a:rPr lang="en-US" altLang="zh-CN" sz="1600" b="1" dirty="0">
                <a:latin typeface="微软雅黑" pitchFamily="34" charset="-122"/>
                <a:ea typeface="微软雅黑" pitchFamily="34" charset="-122"/>
              </a:rPr>
              <a:t>RFD </a:t>
            </a:r>
            <a:r>
              <a:rPr lang="zh-CN" altLang="en-US" sz="1600" b="1" dirty="0">
                <a:latin typeface="微软雅黑" pitchFamily="34" charset="-122"/>
                <a:ea typeface="微软雅黑" pitchFamily="34" charset="-122"/>
              </a:rPr>
              <a:t>结点。 </a:t>
            </a:r>
          </a:p>
        </p:txBody>
      </p:sp>
      <p:sp>
        <p:nvSpPr>
          <p:cNvPr id="6" name="Oval 5"/>
          <p:cNvSpPr>
            <a:spLocks noChangeArrowheads="1"/>
          </p:cNvSpPr>
          <p:nvPr/>
        </p:nvSpPr>
        <p:spPr bwMode="auto">
          <a:xfrm>
            <a:off x="2741840" y="1996395"/>
            <a:ext cx="145060" cy="136010"/>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7151876" y="3970119"/>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 name="Oval 7"/>
          <p:cNvSpPr>
            <a:spLocks noChangeArrowheads="1"/>
          </p:cNvSpPr>
          <p:nvPr/>
        </p:nvSpPr>
        <p:spPr bwMode="auto">
          <a:xfrm>
            <a:off x="5790508" y="3820354"/>
            <a:ext cx="145060"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Oval 8"/>
          <p:cNvSpPr>
            <a:spLocks noChangeArrowheads="1"/>
          </p:cNvSpPr>
          <p:nvPr/>
        </p:nvSpPr>
        <p:spPr bwMode="auto">
          <a:xfrm>
            <a:off x="7362544" y="3172056"/>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Oval 9"/>
          <p:cNvSpPr>
            <a:spLocks noChangeArrowheads="1"/>
          </p:cNvSpPr>
          <p:nvPr/>
        </p:nvSpPr>
        <p:spPr bwMode="auto">
          <a:xfrm>
            <a:off x="6430005" y="2879932"/>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 name="Oval 10"/>
          <p:cNvSpPr>
            <a:spLocks noChangeArrowheads="1"/>
          </p:cNvSpPr>
          <p:nvPr/>
        </p:nvSpPr>
        <p:spPr bwMode="auto">
          <a:xfrm>
            <a:off x="1787966" y="2125001"/>
            <a:ext cx="146201" cy="137064"/>
          </a:xfrm>
          <a:prstGeom prst="ellipse">
            <a:avLst/>
          </a:prstGeom>
          <a:solidFill>
            <a:srgbClr val="0000FF"/>
          </a:solidFill>
          <a:ln w="9525">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 name="Oval 11"/>
          <p:cNvSpPr>
            <a:spLocks noChangeArrowheads="1"/>
          </p:cNvSpPr>
          <p:nvPr/>
        </p:nvSpPr>
        <p:spPr bwMode="auto">
          <a:xfrm>
            <a:off x="1655607" y="2812454"/>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Oval 12"/>
          <p:cNvSpPr>
            <a:spLocks noChangeArrowheads="1"/>
          </p:cNvSpPr>
          <p:nvPr/>
        </p:nvSpPr>
        <p:spPr bwMode="auto">
          <a:xfrm>
            <a:off x="2307803" y="3357548"/>
            <a:ext cx="145060"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Oval 13"/>
          <p:cNvSpPr>
            <a:spLocks noChangeArrowheads="1"/>
          </p:cNvSpPr>
          <p:nvPr/>
        </p:nvSpPr>
        <p:spPr bwMode="auto">
          <a:xfrm>
            <a:off x="3525254" y="2732277"/>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Oval 14"/>
          <p:cNvSpPr>
            <a:spLocks noChangeArrowheads="1"/>
          </p:cNvSpPr>
          <p:nvPr/>
        </p:nvSpPr>
        <p:spPr bwMode="auto">
          <a:xfrm>
            <a:off x="2451721" y="2541489"/>
            <a:ext cx="651054"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6" name="Oval 15"/>
          <p:cNvSpPr>
            <a:spLocks noChangeArrowheads="1"/>
          </p:cNvSpPr>
          <p:nvPr/>
        </p:nvSpPr>
        <p:spPr bwMode="auto">
          <a:xfrm>
            <a:off x="3608770" y="3902641"/>
            <a:ext cx="651054"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7" name="Oval 16"/>
          <p:cNvSpPr>
            <a:spLocks noChangeArrowheads="1"/>
          </p:cNvSpPr>
          <p:nvPr/>
        </p:nvSpPr>
        <p:spPr bwMode="auto">
          <a:xfrm>
            <a:off x="5346056" y="2404425"/>
            <a:ext cx="649912"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8" name="Oval 17"/>
          <p:cNvSpPr>
            <a:spLocks noChangeArrowheads="1"/>
          </p:cNvSpPr>
          <p:nvPr/>
        </p:nvSpPr>
        <p:spPr bwMode="auto">
          <a:xfrm>
            <a:off x="4042806" y="1859332"/>
            <a:ext cx="651054" cy="273074"/>
          </a:xfrm>
          <a:prstGeom prst="ellipse">
            <a:avLst/>
          </a:prstGeom>
          <a:solidFill>
            <a:srgbClr val="99FF99"/>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FFD</a:t>
            </a:r>
          </a:p>
        </p:txBody>
      </p:sp>
      <p:sp>
        <p:nvSpPr>
          <p:cNvPr id="19" name="Oval 18"/>
          <p:cNvSpPr>
            <a:spLocks noChangeArrowheads="1"/>
          </p:cNvSpPr>
          <p:nvPr/>
        </p:nvSpPr>
        <p:spPr bwMode="auto">
          <a:xfrm>
            <a:off x="6212987" y="3425025"/>
            <a:ext cx="649912" cy="27307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20" name="Line 19"/>
          <p:cNvSpPr>
            <a:spLocks noChangeShapeType="1"/>
          </p:cNvSpPr>
          <p:nvPr/>
        </p:nvSpPr>
        <p:spPr bwMode="auto">
          <a:xfrm flipH="1">
            <a:off x="3906884" y="2131351"/>
            <a:ext cx="426041" cy="1084915"/>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0"/>
          <p:cNvSpPr>
            <a:spLocks noChangeShapeType="1"/>
          </p:cNvSpPr>
          <p:nvPr/>
        </p:nvSpPr>
        <p:spPr bwMode="auto">
          <a:xfrm>
            <a:off x="2918880" y="2821943"/>
            <a:ext cx="761848" cy="43333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1"/>
          <p:cNvSpPr>
            <a:spLocks noChangeShapeType="1"/>
          </p:cNvSpPr>
          <p:nvPr/>
        </p:nvSpPr>
        <p:spPr bwMode="auto">
          <a:xfrm>
            <a:off x="4621901" y="2063874"/>
            <a:ext cx="794972" cy="408030"/>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Line 22"/>
          <p:cNvSpPr>
            <a:spLocks noChangeShapeType="1"/>
          </p:cNvSpPr>
          <p:nvPr/>
        </p:nvSpPr>
        <p:spPr bwMode="auto">
          <a:xfrm flipH="1">
            <a:off x="4098774" y="2623727"/>
            <a:ext cx="1300967" cy="666342"/>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Line 23"/>
          <p:cNvSpPr>
            <a:spLocks noChangeShapeType="1"/>
          </p:cNvSpPr>
          <p:nvPr/>
        </p:nvSpPr>
        <p:spPr bwMode="auto">
          <a:xfrm>
            <a:off x="3893178" y="3523079"/>
            <a:ext cx="9137" cy="37007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flipH="1" flipV="1">
            <a:off x="4211852" y="3375471"/>
            <a:ext cx="566532" cy="10121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1927450" y="2236785"/>
            <a:ext cx="575669" cy="3595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3125619" y="2710183"/>
            <a:ext cx="378069" cy="706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flipH="1">
            <a:off x="2774964" y="2139786"/>
            <a:ext cx="29697" cy="3985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28"/>
          <p:cNvSpPr>
            <a:spLocks noChangeShapeType="1"/>
          </p:cNvSpPr>
          <p:nvPr/>
        </p:nvSpPr>
        <p:spPr bwMode="auto">
          <a:xfrm flipV="1">
            <a:off x="1800667" y="2744976"/>
            <a:ext cx="651054" cy="134955"/>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29"/>
          <p:cNvSpPr>
            <a:spLocks noChangeShapeType="1"/>
          </p:cNvSpPr>
          <p:nvPr/>
        </p:nvSpPr>
        <p:spPr bwMode="auto">
          <a:xfrm flipH="1">
            <a:off x="6849193" y="3272145"/>
            <a:ext cx="515133" cy="22352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0"/>
          <p:cNvSpPr>
            <a:spLocks noChangeShapeType="1"/>
          </p:cNvSpPr>
          <p:nvPr/>
        </p:nvSpPr>
        <p:spPr bwMode="auto">
          <a:xfrm>
            <a:off x="6499679" y="3016996"/>
            <a:ext cx="28555" cy="41541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flipH="1">
            <a:off x="2422023" y="2807183"/>
            <a:ext cx="229583" cy="5419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a:off x="6716697" y="3680175"/>
            <a:ext cx="451169" cy="3110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4" name="Line 33"/>
          <p:cNvSpPr>
            <a:spLocks noChangeShapeType="1"/>
          </p:cNvSpPr>
          <p:nvPr/>
        </p:nvSpPr>
        <p:spPr bwMode="auto">
          <a:xfrm flipH="1">
            <a:off x="5928579" y="3677012"/>
            <a:ext cx="373500" cy="182401"/>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34"/>
          <p:cNvSpPr txBox="1">
            <a:spLocks noChangeArrowheads="1"/>
          </p:cNvSpPr>
          <p:nvPr/>
        </p:nvSpPr>
        <p:spPr bwMode="auto">
          <a:xfrm>
            <a:off x="2902890" y="1737027"/>
            <a:ext cx="603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latin typeface="微软雅黑" panose="020B0503020204020204" pitchFamily="34" charset="-122"/>
                <a:ea typeface="微软雅黑" panose="020B0503020204020204" pitchFamily="34" charset="-122"/>
              </a:rPr>
              <a:t>RFD</a:t>
            </a:r>
          </a:p>
        </p:txBody>
      </p:sp>
      <p:sp>
        <p:nvSpPr>
          <p:cNvPr id="36" name="Text Box 35"/>
          <p:cNvSpPr txBox="1">
            <a:spLocks noChangeArrowheads="1"/>
          </p:cNvSpPr>
          <p:nvPr/>
        </p:nvSpPr>
        <p:spPr bwMode="auto">
          <a:xfrm>
            <a:off x="2197010" y="1712779"/>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端设备</a:t>
            </a:r>
          </a:p>
        </p:txBody>
      </p:sp>
      <p:sp>
        <p:nvSpPr>
          <p:cNvPr id="37" name="Text Box 36"/>
          <p:cNvSpPr txBox="1">
            <a:spLocks noChangeArrowheads="1"/>
          </p:cNvSpPr>
          <p:nvPr/>
        </p:nvSpPr>
        <p:spPr bwMode="auto">
          <a:xfrm>
            <a:off x="2838927" y="229477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路由器</a:t>
            </a:r>
          </a:p>
        </p:txBody>
      </p:sp>
      <p:sp>
        <p:nvSpPr>
          <p:cNvPr id="38" name="Oval 37"/>
          <p:cNvSpPr>
            <a:spLocks noChangeArrowheads="1"/>
          </p:cNvSpPr>
          <p:nvPr/>
        </p:nvSpPr>
        <p:spPr bwMode="auto">
          <a:xfrm>
            <a:off x="4766961" y="3356493"/>
            <a:ext cx="649912"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39" name="Line 38"/>
          <p:cNvSpPr>
            <a:spLocks noChangeShapeType="1"/>
          </p:cNvSpPr>
          <p:nvPr/>
        </p:nvSpPr>
        <p:spPr bwMode="auto">
          <a:xfrm flipH="1" flipV="1">
            <a:off x="5414589" y="3516752"/>
            <a:ext cx="815531" cy="1370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39"/>
          <p:cNvSpPr>
            <a:spLocks noChangeShapeType="1"/>
          </p:cNvSpPr>
          <p:nvPr/>
        </p:nvSpPr>
        <p:spPr bwMode="auto">
          <a:xfrm flipH="1">
            <a:off x="4247260" y="3623241"/>
            <a:ext cx="770986" cy="360584"/>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40"/>
          <p:cNvSpPr>
            <a:spLocks noChangeArrowheads="1"/>
          </p:cNvSpPr>
          <p:nvPr/>
        </p:nvSpPr>
        <p:spPr bwMode="auto">
          <a:xfrm>
            <a:off x="3537954" y="3221538"/>
            <a:ext cx="649912" cy="273074"/>
          </a:xfrm>
          <a:prstGeom prst="ellipse">
            <a:avLst/>
          </a:prstGeom>
          <a:solidFill>
            <a:srgbClr val="FFFF00"/>
          </a:solidFill>
          <a:ln w="190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42" name="Text Box 41"/>
          <p:cNvSpPr txBox="1">
            <a:spLocks noChangeArrowheads="1"/>
          </p:cNvSpPr>
          <p:nvPr/>
        </p:nvSpPr>
        <p:spPr bwMode="auto">
          <a:xfrm>
            <a:off x="2747551" y="3201506"/>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协调器</a:t>
            </a:r>
          </a:p>
        </p:txBody>
      </p:sp>
    </p:spTree>
    <p:extLst>
      <p:ext uri="{BB962C8B-B14F-4D97-AF65-F5344CB8AC3E}">
        <p14:creationId xmlns:p14="http://schemas.microsoft.com/office/powerpoint/2010/main" val="2195575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74411"/>
            <a:ext cx="8372854" cy="34009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用于在</a:t>
            </a:r>
            <a:r>
              <a:rPr lang="zh-CN" altLang="en-US" b="1" dirty="0">
                <a:solidFill>
                  <a:srgbClr val="C00000"/>
                </a:solidFill>
                <a:latin typeface="微软雅黑" pitchFamily="34" charset="-122"/>
                <a:ea typeface="微软雅黑" pitchFamily="34" charset="-122"/>
              </a:rPr>
              <a:t>便携式多媒体装置</a:t>
            </a:r>
            <a:r>
              <a:rPr lang="zh-CN" altLang="en-US" b="1" dirty="0">
                <a:latin typeface="微软雅黑" pitchFamily="34" charset="-122"/>
                <a:ea typeface="微软雅黑" pitchFamily="34" charset="-122"/>
              </a:rPr>
              <a:t>之间传送数据，支持</a:t>
            </a:r>
            <a:r>
              <a:rPr lang="en-US" altLang="zh-CN" b="1" dirty="0">
                <a:latin typeface="微软雅黑" pitchFamily="34" charset="-122"/>
                <a:ea typeface="微软雅黑" pitchFamily="34" charset="-122"/>
              </a:rPr>
              <a:t>11 ~ 55 Mbit/s </a:t>
            </a:r>
            <a:r>
              <a:rPr lang="zh-CN" altLang="en-US" b="1" dirty="0">
                <a:latin typeface="微软雅黑" pitchFamily="34" charset="-122"/>
                <a:ea typeface="微软雅黑" pitchFamily="34" charset="-122"/>
              </a:rPr>
              <a:t>的数据率，标准是 </a:t>
            </a:r>
            <a:r>
              <a:rPr lang="en-US" altLang="zh-CN" b="1" dirty="0">
                <a:latin typeface="微软雅黑" pitchFamily="34" charset="-122"/>
                <a:ea typeface="微软雅黑" pitchFamily="34" charset="-122"/>
              </a:rPr>
              <a:t>802.15.3</a:t>
            </a:r>
            <a:r>
              <a:rPr lang="zh-CN" altLang="en-US" b="1" dirty="0">
                <a:latin typeface="微软雅黑" pitchFamily="34" charset="-122"/>
                <a:ea typeface="微软雅黑" pitchFamily="34" charset="-122"/>
              </a:rPr>
              <a:t>。</a:t>
            </a:r>
          </a:p>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IEEE 802.15.3a </a:t>
            </a:r>
            <a:r>
              <a:rPr lang="zh-CN" altLang="en-US" b="1" dirty="0">
                <a:latin typeface="微软雅黑" pitchFamily="34" charset="-122"/>
                <a:ea typeface="微软雅黑" pitchFamily="34" charset="-122"/>
              </a:rPr>
              <a:t>工作组还提出了更高数据率的物理层标准的</a:t>
            </a:r>
            <a:r>
              <a:rPr lang="zh-CN" altLang="en-US" b="1" dirty="0">
                <a:solidFill>
                  <a:srgbClr val="C00000"/>
                </a:solidFill>
                <a:latin typeface="微软雅黑" pitchFamily="34" charset="-122"/>
                <a:ea typeface="微软雅黑" pitchFamily="34" charset="-122"/>
              </a:rPr>
              <a:t>超高速</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WPAN</a:t>
            </a: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超宽带 </a:t>
            </a:r>
            <a:r>
              <a:rPr lang="en-US" altLang="zh-CN" b="1" dirty="0">
                <a:solidFill>
                  <a:srgbClr val="C00000"/>
                </a:solidFill>
                <a:latin typeface="微软雅黑" pitchFamily="34" charset="-122"/>
                <a:ea typeface="微软雅黑" pitchFamily="34" charset="-122"/>
              </a:rPr>
              <a:t>UWB </a:t>
            </a:r>
            <a:r>
              <a:rPr lang="zh-CN" altLang="en-US" b="1" dirty="0">
                <a:latin typeface="微软雅黑" pitchFamily="34" charset="-122"/>
                <a:ea typeface="微软雅黑" pitchFamily="34" charset="-122"/>
              </a:rPr>
              <a:t>技术：</a:t>
            </a: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工作在 </a:t>
            </a:r>
            <a:r>
              <a:rPr lang="en-US" altLang="zh-CN" b="1" dirty="0">
                <a:latin typeface="微软雅黑" pitchFamily="34" charset="-122"/>
                <a:ea typeface="微软雅黑" pitchFamily="34" charset="-122"/>
              </a:rPr>
              <a:t>3.1 ~ 10.6 GHz </a:t>
            </a:r>
            <a:r>
              <a:rPr lang="zh-CN" altLang="en-US" b="1" dirty="0">
                <a:latin typeface="微软雅黑" pitchFamily="34" charset="-122"/>
                <a:ea typeface="微软雅黑" pitchFamily="34" charset="-122"/>
              </a:rPr>
              <a:t>微波频段，有非常高的信道带宽。</a:t>
            </a:r>
            <a:endParaRPr lang="en-US" altLang="zh-CN"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信号的带宽应超过信号中心频率的 </a:t>
            </a:r>
            <a:r>
              <a:rPr lang="en-US" altLang="zh-CN" b="1" dirty="0">
                <a:latin typeface="微软雅黑" pitchFamily="34" charset="-122"/>
                <a:ea typeface="微软雅黑" pitchFamily="34" charset="-122"/>
              </a:rPr>
              <a:t>25% </a:t>
            </a:r>
            <a:r>
              <a:rPr lang="zh-CN" altLang="en-US" b="1" dirty="0">
                <a:latin typeface="微软雅黑" pitchFamily="34" charset="-122"/>
                <a:ea typeface="微软雅黑" pitchFamily="34" charset="-122"/>
              </a:rPr>
              <a:t>以上，或信号的绝对带宽超过 </a:t>
            </a:r>
            <a:r>
              <a:rPr lang="en-US" altLang="zh-CN" b="1" dirty="0">
                <a:latin typeface="微软雅黑" pitchFamily="34" charset="-122"/>
                <a:ea typeface="微软雅黑" pitchFamily="34" charset="-122"/>
              </a:rPr>
              <a:t>500 MHz</a:t>
            </a:r>
            <a:r>
              <a:rPr lang="zh-CN" altLang="en-US" b="1" dirty="0">
                <a:latin typeface="微软雅黑" pitchFamily="34" charset="-122"/>
                <a:ea typeface="微软雅黑" pitchFamily="34" charset="-122"/>
              </a:rPr>
              <a:t>。</a:t>
            </a:r>
          </a:p>
          <a:p>
            <a:pPr marL="717550" lvl="1" indent="-342900" eaLnBrk="0" hangingPunct="0">
              <a:lnSpc>
                <a:spcPts val="30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使用了瞬间高速脉冲，可支持 </a:t>
            </a:r>
            <a:r>
              <a:rPr lang="en-US" altLang="zh-CN" b="1" dirty="0">
                <a:latin typeface="微软雅黑" pitchFamily="34" charset="-122"/>
                <a:ea typeface="微软雅黑" pitchFamily="34" charset="-122"/>
              </a:rPr>
              <a:t>100 ~ 400 Mbit/s </a:t>
            </a:r>
            <a:r>
              <a:rPr lang="zh-CN" altLang="en-US" b="1" dirty="0">
                <a:latin typeface="微软雅黑" pitchFamily="34" charset="-122"/>
                <a:ea typeface="微软雅黑" pitchFamily="34" charset="-122"/>
              </a:rPr>
              <a:t>的数据率，可用于小范围内高速传送图像或 </a:t>
            </a:r>
            <a:r>
              <a:rPr lang="en-US" altLang="zh-CN" b="1" dirty="0">
                <a:latin typeface="微软雅黑" pitchFamily="34" charset="-122"/>
                <a:ea typeface="微软雅黑" pitchFamily="34" charset="-122"/>
              </a:rPr>
              <a:t>DVD </a:t>
            </a:r>
            <a:r>
              <a:rPr lang="zh-CN" altLang="en-US" b="1" dirty="0">
                <a:latin typeface="微软雅黑" pitchFamily="34" charset="-122"/>
                <a:ea typeface="微软雅黑" pitchFamily="34" charset="-122"/>
              </a:rPr>
              <a:t>质量的多媒体视频文件。 </a:t>
            </a:r>
          </a:p>
        </p:txBody>
      </p:sp>
      <p:sp>
        <p:nvSpPr>
          <p:cNvPr id="3"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604407" y="585623"/>
            <a:ext cx="19214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高速 </a:t>
            </a:r>
            <a:r>
              <a:rPr lang="en-US" altLang="zh-CN" sz="2000" b="1" dirty="0">
                <a:solidFill>
                  <a:schemeClr val="bg1"/>
                </a:solidFill>
                <a:latin typeface="微软雅黑" pitchFamily="34" charset="-122"/>
                <a:ea typeface="微软雅黑" pitchFamily="34" charset="-122"/>
              </a:rPr>
              <a:t>WPAN</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08243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6" name="Rectangle 29"/>
          <p:cNvSpPr>
            <a:spLocks noChangeArrowheads="1"/>
          </p:cNvSpPr>
          <p:nvPr/>
        </p:nvSpPr>
        <p:spPr bwMode="auto">
          <a:xfrm>
            <a:off x="716986" y="134126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9.3</a:t>
            </a:r>
          </a:p>
          <a:p>
            <a:pPr eaLnBrk="0" hangingPunct="0"/>
            <a:r>
              <a:rPr lang="zh-CN" altLang="en-US" sz="2000" b="1" dirty="0">
                <a:solidFill>
                  <a:schemeClr val="bg1"/>
                </a:solidFill>
                <a:latin typeface="微软雅黑" pitchFamily="34" charset="-122"/>
                <a:ea typeface="微软雅黑" pitchFamily="34" charset="-122"/>
              </a:rPr>
              <a:t>蜂窝移动通信网</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9.3.1  	                 </a:t>
            </a:r>
            <a:r>
              <a:rPr lang="zh-CN" altLang="en-US" sz="2000" b="1" dirty="0">
                <a:solidFill>
                  <a:schemeClr val="bg1"/>
                </a:solidFill>
                <a:latin typeface="微软雅黑" pitchFamily="34" charset="-122"/>
                <a:ea typeface="微软雅黑" pitchFamily="34" charset="-122"/>
              </a:rPr>
              <a:t>蜂窝无线通信技术的发展简介</a:t>
            </a:r>
          </a:p>
          <a:p>
            <a:pPr eaLnBrk="0" hangingPunct="0">
              <a:lnSpc>
                <a:spcPct val="200000"/>
              </a:lnSpc>
            </a:pPr>
            <a:r>
              <a:rPr lang="en-US" altLang="zh-CN" sz="2000" b="1" dirty="0">
                <a:solidFill>
                  <a:schemeClr val="bg1"/>
                </a:solidFill>
                <a:latin typeface="微软雅黑" pitchFamily="34" charset="-122"/>
                <a:ea typeface="微软雅黑" pitchFamily="34" charset="-122"/>
              </a:rPr>
              <a:t>9.3.2  		               LTE </a:t>
            </a:r>
            <a:r>
              <a:rPr lang="zh-CN" altLang="en-US" sz="2000" b="1" dirty="0">
                <a:solidFill>
                  <a:schemeClr val="bg1"/>
                </a:solidFill>
                <a:latin typeface="微软雅黑" pitchFamily="34" charset="-122"/>
                <a:ea typeface="微软雅黑" pitchFamily="34" charset="-122"/>
              </a:rPr>
              <a:t>网络与互联网的连</a:t>
            </a:r>
          </a:p>
        </p:txBody>
      </p:sp>
    </p:spTree>
    <p:extLst>
      <p:ext uri="{BB962C8B-B14F-4D97-AF65-F5344CB8AC3E}">
        <p14:creationId xmlns:p14="http://schemas.microsoft.com/office/powerpoint/2010/main" val="27898595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9.3.</a:t>
            </a:r>
            <a:r>
              <a:rPr lang="zh-CN" altLang="en-US" sz="2400" b="1" dirty="0">
                <a:solidFill>
                  <a:schemeClr val="bg1"/>
                </a:solidFill>
                <a:latin typeface="微软雅黑" pitchFamily="34" charset="-122"/>
                <a:ea typeface="微软雅黑" pitchFamily="34" charset="-122"/>
              </a:rPr>
              <a:t> </a:t>
            </a:r>
            <a:r>
              <a:rPr lang="en-US" altLang="zh-CN" sz="2400" b="1" dirty="0">
                <a:solidFill>
                  <a:schemeClr val="bg1"/>
                </a:solidFill>
                <a:latin typeface="微软雅黑" pitchFamily="34" charset="-122"/>
                <a:ea typeface="微软雅黑" pitchFamily="34" charset="-122"/>
              </a:rPr>
              <a:t>1  </a:t>
            </a:r>
            <a:r>
              <a:rPr lang="zh-CN" altLang="en-US" sz="2400" b="1" dirty="0">
                <a:solidFill>
                  <a:schemeClr val="bg1"/>
                </a:solidFill>
                <a:latin typeface="微软雅黑" pitchFamily="34" charset="-122"/>
                <a:ea typeface="微软雅黑" pitchFamily="34" charset="-122"/>
              </a:rPr>
              <a:t>蜂窝无线通信技术的发展简介 </a:t>
            </a:r>
          </a:p>
        </p:txBody>
      </p:sp>
      <p:sp>
        <p:nvSpPr>
          <p:cNvPr id="4" name="Rectangle 46"/>
          <p:cNvSpPr>
            <a:spLocks noChangeArrowheads="1"/>
          </p:cNvSpPr>
          <p:nvPr/>
        </p:nvSpPr>
        <p:spPr bwMode="auto">
          <a:xfrm>
            <a:off x="511896" y="1131085"/>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移动通信的种类很多，如蜂窝移动通信、卫星移动通信、集群移动通信、无绳电话通信等。</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蜂窝移动网络的发展非常迅速，其信号的</a:t>
            </a:r>
            <a:r>
              <a:rPr lang="zh-CN" altLang="en-US" sz="2000" b="1" dirty="0">
                <a:solidFill>
                  <a:srgbClr val="C00000"/>
                </a:solidFill>
                <a:latin typeface="微软雅黑" pitchFamily="34" charset="-122"/>
                <a:ea typeface="微软雅黑" pitchFamily="34" charset="-122"/>
              </a:rPr>
              <a:t>覆盖面</a:t>
            </a:r>
            <a:r>
              <a:rPr lang="zh-CN" altLang="en-US" sz="2000" b="1" dirty="0">
                <a:latin typeface="微软雅黑" pitchFamily="34" charset="-122"/>
                <a:ea typeface="微软雅黑" pitchFamily="34" charset="-122"/>
              </a:rPr>
              <a:t>已远远超过 </a:t>
            </a:r>
            <a:r>
              <a:rPr lang="en-US" altLang="zh-CN" sz="2000" b="1" dirty="0">
                <a:latin typeface="微软雅黑" pitchFamily="34" charset="-122"/>
                <a:ea typeface="微软雅黑" pitchFamily="34" charset="-122"/>
              </a:rPr>
              <a:t>Wi-Fi </a:t>
            </a:r>
            <a:r>
              <a:rPr lang="zh-CN" altLang="en-US" sz="2000" b="1" dirty="0">
                <a:latin typeface="微软雅黑" pitchFamily="34" charset="-122"/>
                <a:ea typeface="微软雅黑" pitchFamily="34" charset="-122"/>
              </a:rPr>
              <a:t>无线局域网的覆盖面。</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随着技术的发展，使用蜂窝无线通信进行电话通信的</a:t>
            </a:r>
            <a:r>
              <a:rPr lang="zh-CN" altLang="en-US" sz="2000" b="1" dirty="0">
                <a:solidFill>
                  <a:srgbClr val="C00000"/>
                </a:solidFill>
                <a:latin typeface="微软雅黑" pitchFamily="34" charset="-122"/>
                <a:ea typeface="微软雅黑" pitchFamily="34" charset="-122"/>
              </a:rPr>
              <a:t>手机</a:t>
            </a:r>
            <a:r>
              <a:rPr lang="zh-CN" altLang="en-US" sz="2000" b="1" dirty="0">
                <a:latin typeface="微软雅黑" pitchFamily="34" charset="-122"/>
                <a:ea typeface="微软雅黑" pitchFamily="34" charset="-122"/>
              </a:rPr>
              <a:t>已经发展成为接入到互联网最主要的用户设备。</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在移动的环境下，蜂窝无线通信网已经成为不可或缺的</a:t>
            </a:r>
            <a:r>
              <a:rPr lang="zh-CN" altLang="en-US" sz="2000" b="1" dirty="0">
                <a:solidFill>
                  <a:srgbClr val="C00000"/>
                </a:solidFill>
                <a:latin typeface="微软雅黑" pitchFamily="34" charset="-122"/>
                <a:ea typeface="微软雅黑" pitchFamily="34" charset="-122"/>
              </a:rPr>
              <a:t>接入网。</a:t>
            </a:r>
          </a:p>
        </p:txBody>
      </p:sp>
    </p:spTree>
    <p:extLst>
      <p:ext uri="{BB962C8B-B14F-4D97-AF65-F5344CB8AC3E}">
        <p14:creationId xmlns:p14="http://schemas.microsoft.com/office/powerpoint/2010/main" val="4657275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第一代 </a:t>
            </a:r>
            <a:r>
              <a:rPr lang="en-US" altLang="zh-CN" sz="2000" b="1" dirty="0">
                <a:latin typeface="微软雅黑" pitchFamily="34" charset="-122"/>
                <a:ea typeface="微软雅黑" pitchFamily="34" charset="-122"/>
              </a:rPr>
              <a:t>(1G) </a:t>
            </a:r>
            <a:r>
              <a:rPr lang="zh-CN" altLang="en-US" sz="2000" b="1" dirty="0">
                <a:latin typeface="微软雅黑" pitchFamily="34" charset="-122"/>
                <a:ea typeface="微软雅黑" pitchFamily="34" charset="-122"/>
              </a:rPr>
              <a:t>蜂窝移动通信系统</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1978 </a:t>
            </a:r>
            <a:r>
              <a:rPr lang="zh-CN" altLang="en-US" sz="2000" b="1" dirty="0">
                <a:latin typeface="微软雅黑" pitchFamily="34" charset="-122"/>
                <a:ea typeface="微软雅黑" pitchFamily="34" charset="-122"/>
              </a:rPr>
              <a:t>年底问世。</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模拟技术</a:t>
            </a:r>
            <a:r>
              <a:rPr lang="zh-CN" altLang="en-US" sz="2000" b="1" dirty="0">
                <a:latin typeface="微软雅黑" pitchFamily="34" charset="-122"/>
                <a:ea typeface="微软雅黑" pitchFamily="34" charset="-122"/>
              </a:rPr>
              <a:t>和传统的</a:t>
            </a:r>
            <a:r>
              <a:rPr lang="zh-CN" altLang="en-US" sz="2000" b="1" dirty="0">
                <a:solidFill>
                  <a:srgbClr val="C00000"/>
                </a:solidFill>
                <a:latin typeface="微软雅黑" pitchFamily="34" charset="-122"/>
                <a:ea typeface="微软雅黑" pitchFamily="34" charset="-122"/>
              </a:rPr>
              <a:t>电路交换</a:t>
            </a:r>
            <a:r>
              <a:rPr lang="zh-CN" altLang="en-US" sz="2000" b="1" dirty="0">
                <a:latin typeface="微软雅黑" pitchFamily="34" charset="-122"/>
                <a:ea typeface="微软雅黑" pitchFamily="34" charset="-122"/>
              </a:rPr>
              <a:t>及</a:t>
            </a:r>
            <a:r>
              <a:rPr lang="zh-CN" altLang="en-US" sz="2000" b="1" dirty="0">
                <a:solidFill>
                  <a:srgbClr val="C00000"/>
                </a:solidFill>
                <a:latin typeface="微软雅黑" pitchFamily="34" charset="-122"/>
                <a:ea typeface="微软雅黑" pitchFamily="34" charset="-122"/>
              </a:rPr>
              <a:t>频分多址 </a:t>
            </a:r>
            <a:r>
              <a:rPr lang="en-US" altLang="zh-CN" sz="2000" b="1" dirty="0">
                <a:solidFill>
                  <a:srgbClr val="C00000"/>
                </a:solidFill>
                <a:latin typeface="微软雅黑" pitchFamily="34" charset="-122"/>
                <a:ea typeface="微软雅黑" pitchFamily="34" charset="-122"/>
              </a:rPr>
              <a:t>FDMA </a:t>
            </a:r>
            <a:r>
              <a:rPr lang="zh-CN" altLang="en-US" sz="2000" b="1" dirty="0">
                <a:latin typeface="微软雅黑" pitchFamily="34" charset="-122"/>
                <a:ea typeface="微软雅黑" pitchFamily="34" charset="-122"/>
              </a:rPr>
              <a:t>提供电话服务。</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移动通信系统的手机相当笨重（俗称大哥大）。</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35693" y="585623"/>
            <a:ext cx="30588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蜂窝移动通信系统问世</a:t>
            </a:r>
          </a:p>
        </p:txBody>
      </p:sp>
    </p:spTree>
    <p:extLst>
      <p:ext uri="{BB962C8B-B14F-4D97-AF65-F5344CB8AC3E}">
        <p14:creationId xmlns:p14="http://schemas.microsoft.com/office/powerpoint/2010/main" val="40615381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第二代</a:t>
            </a:r>
            <a:r>
              <a:rPr lang="zh-CN" altLang="en-US" sz="2000" b="1" dirty="0">
                <a:solidFill>
                  <a:srgbClr val="0000CC"/>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(2G) </a:t>
            </a:r>
            <a:r>
              <a:rPr lang="zh-CN" altLang="en-US" sz="2000" b="1" dirty="0">
                <a:latin typeface="微软雅黑" pitchFamily="34" charset="-122"/>
                <a:ea typeface="微软雅黑" pitchFamily="34" charset="-122"/>
              </a:rPr>
              <a:t>蜂窝移动通信系统</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1990 </a:t>
            </a:r>
            <a:r>
              <a:rPr lang="zh-CN" altLang="en-US" sz="2000" b="1" dirty="0">
                <a:latin typeface="微软雅黑" pitchFamily="34" charset="-122"/>
                <a:ea typeface="微软雅黑" pitchFamily="34" charset="-122"/>
              </a:rPr>
              <a:t>年后开始。</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基于数字技术。</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代表：</a:t>
            </a:r>
            <a:r>
              <a:rPr lang="zh-CN" altLang="en-US" sz="2000" b="1" dirty="0">
                <a:latin typeface="微软雅黑" pitchFamily="34" charset="-122"/>
                <a:ea typeface="微软雅黑" pitchFamily="34" charset="-122"/>
              </a:rPr>
              <a:t>欧洲提出的 </a:t>
            </a:r>
            <a:r>
              <a:rPr lang="en-US" altLang="zh-CN" sz="2000" b="1" dirty="0">
                <a:solidFill>
                  <a:srgbClr val="C00000"/>
                </a:solidFill>
                <a:latin typeface="微软雅黑" pitchFamily="34" charset="-122"/>
                <a:ea typeface="微软雅黑" pitchFamily="34" charset="-122"/>
              </a:rPr>
              <a:t>GSM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系统等。</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0"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2G </a:t>
            </a:r>
            <a:r>
              <a:rPr lang="zh-CN" altLang="en-US" sz="2000" b="1" dirty="0">
                <a:solidFill>
                  <a:schemeClr val="bg1"/>
                </a:solidFill>
                <a:latin typeface="微软雅黑" pitchFamily="34" charset="-122"/>
                <a:ea typeface="微软雅黑" pitchFamily="34" charset="-122"/>
              </a:rPr>
              <a:t>蜂窝移动通信系统</a:t>
            </a:r>
          </a:p>
        </p:txBody>
      </p:sp>
    </p:spTree>
    <p:extLst>
      <p:ext uri="{BB962C8B-B14F-4D97-AF65-F5344CB8AC3E}">
        <p14:creationId xmlns:p14="http://schemas.microsoft.com/office/powerpoint/2010/main" val="38443377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a:grpSpLocks/>
            </p:cNvGrpSpPr>
            <p:nvPr/>
          </p:nvGrpSpPr>
          <p:grpSpPr bwMode="auto">
            <a:xfrm>
              <a:off x="3526293" y="1361727"/>
              <a:ext cx="379451" cy="444929"/>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2821365" y="1661006"/>
              <a:ext cx="379452" cy="444929"/>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3526506" y="1952697"/>
              <a:ext cx="379452" cy="444929"/>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4184684" y="1653420"/>
              <a:ext cx="379451" cy="444929"/>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2850741" y="2244389"/>
              <a:ext cx="379451" cy="444929"/>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3526293" y="2610211"/>
              <a:ext cx="379451" cy="444929"/>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4184472" y="2244389"/>
              <a:ext cx="379452" cy="444929"/>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a:grpSpLocks/>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908691735"/>
              </p:ext>
            </p:extLst>
          </p:nvPr>
        </p:nvGraphicFramePr>
        <p:xfrm>
          <a:off x="2013643" y="2687449"/>
          <a:ext cx="620840" cy="262684"/>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6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13643" y="2687449"/>
                        <a:ext cx="620840" cy="2626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p>
        </p:txBody>
      </p:sp>
      <p:grpSp>
        <p:nvGrpSpPr>
          <p:cNvPr id="334" name="组合 333"/>
          <p:cNvGrpSpPr/>
          <p:nvPr/>
        </p:nvGrpSpPr>
        <p:grpSpPr>
          <a:xfrm>
            <a:off x="5585674" y="2755622"/>
            <a:ext cx="2771944" cy="495738"/>
            <a:chOff x="6360915" y="2896300"/>
            <a:chExt cx="2771944" cy="495738"/>
          </a:xfrm>
        </p:grpSpPr>
        <p:grpSp>
          <p:nvGrpSpPr>
            <p:cNvPr id="252" name="Group 499"/>
            <p:cNvGrpSpPr>
              <a:grpSpLocks/>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7317143" y="2956602"/>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292780922"/>
                </p:ext>
              </p:extLst>
            </p:nvPr>
          </p:nvGraphicFramePr>
          <p:xfrm>
            <a:off x="8120584" y="3156268"/>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6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20584" y="3156268"/>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 name="矩形 2"/>
          <p:cNvSpPr/>
          <p:nvPr/>
        </p:nvSpPr>
        <p:spPr>
          <a:xfrm>
            <a:off x="1025781" y="3366551"/>
            <a:ext cx="7426010"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小区</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rPr>
              <a:t>cell)</a:t>
            </a:r>
            <a:r>
              <a:rPr lang="zh-CN" altLang="en-US" sz="1600" b="1" kern="500" dirty="0">
                <a:solidFill>
                  <a:srgbClr val="C00000"/>
                </a:solidFill>
                <a:latin typeface="微软雅黑" panose="020B0503020204020204" pitchFamily="34" charset="-122"/>
                <a:ea typeface="微软雅黑" panose="020B0503020204020204" pitchFamily="34" charset="-122"/>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整个网络服务区划分成许多小区</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即</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蜂窝</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每个小区设置一个，覆盖小区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负责与本小区各个移动站的联络和控制。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移动站的发送或接收都必须经过基站完成，因此基站又称为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收发基站。</a:t>
            </a:r>
            <a:endParaRPr lang="zh-CN" altLang="en-US" sz="1600" b="1" dirty="0">
              <a:solidFill>
                <a:srgbClr val="0000CC"/>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934896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35" presetClass="emph" presetSubtype="0" repeatCount="3000" fill="hold" nodeType="withEffect">
                                  <p:stCondLst>
                                    <p:cond delay="0"/>
                                  </p:stCondLst>
                                  <p:childTnLst>
                                    <p:anim calcmode="discrete" valueType="str">
                                      <p:cBhvr>
                                        <p:cTn id="1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a:grpSpLocks/>
            </p:cNvGrpSpPr>
            <p:nvPr/>
          </p:nvGrpSpPr>
          <p:grpSpPr bwMode="auto">
            <a:xfrm>
              <a:off x="3526293" y="1361727"/>
              <a:ext cx="379451" cy="444929"/>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2821365" y="1661006"/>
              <a:ext cx="379452" cy="444929"/>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3526506" y="1952697"/>
              <a:ext cx="379452" cy="444929"/>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4184684" y="1653420"/>
              <a:ext cx="379451" cy="444929"/>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2850741" y="2244389"/>
              <a:ext cx="379451" cy="444929"/>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3526293" y="2610211"/>
              <a:ext cx="379451" cy="444929"/>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4184472" y="2244389"/>
              <a:ext cx="379452" cy="444929"/>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a:grpSpLocks/>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908691735"/>
              </p:ext>
            </p:extLst>
          </p:nvPr>
        </p:nvGraphicFramePr>
        <p:xfrm>
          <a:off x="2013643" y="2687449"/>
          <a:ext cx="620840" cy="262684"/>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84"/>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13643" y="2687449"/>
                        <a:ext cx="620840" cy="2626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p>
        </p:txBody>
      </p:sp>
      <p:grpSp>
        <p:nvGrpSpPr>
          <p:cNvPr id="334" name="组合 333"/>
          <p:cNvGrpSpPr/>
          <p:nvPr/>
        </p:nvGrpSpPr>
        <p:grpSpPr>
          <a:xfrm>
            <a:off x="5585674" y="2755622"/>
            <a:ext cx="2771944" cy="495738"/>
            <a:chOff x="6360915" y="2896300"/>
            <a:chExt cx="2771944" cy="495738"/>
          </a:xfrm>
        </p:grpSpPr>
        <p:grpSp>
          <p:nvGrpSpPr>
            <p:cNvPr id="252" name="Group 499"/>
            <p:cNvGrpSpPr>
              <a:grpSpLocks/>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7317143" y="2956602"/>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292780922"/>
                </p:ext>
              </p:extLst>
            </p:nvPr>
          </p:nvGraphicFramePr>
          <p:xfrm>
            <a:off x="8120584" y="3156268"/>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8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20584" y="3156268"/>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1" name="组合 340"/>
          <p:cNvGrpSpPr/>
          <p:nvPr/>
        </p:nvGrpSpPr>
        <p:grpSpPr>
          <a:xfrm>
            <a:off x="1419353" y="1023383"/>
            <a:ext cx="991108" cy="818913"/>
            <a:chOff x="1419353" y="1023383"/>
            <a:chExt cx="991108" cy="818913"/>
          </a:xfrm>
        </p:grpSpPr>
        <p:cxnSp>
          <p:nvCxnSpPr>
            <p:cNvPr id="335" name="直接连接符 334"/>
            <p:cNvCxnSpPr/>
            <p:nvPr/>
          </p:nvCxnSpPr>
          <p:spPr>
            <a:xfrm>
              <a:off x="2408063" y="1327568"/>
              <a:ext cx="2398" cy="514728"/>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6" name="Text Box 541"/>
            <p:cNvSpPr txBox="1">
              <a:spLocks noChangeArrowheads="1"/>
            </p:cNvSpPr>
            <p:nvPr/>
          </p:nvSpPr>
          <p:spPr bwMode="auto">
            <a:xfrm>
              <a:off x="1419353" y="1023383"/>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7" name="直接箭头连接符 336"/>
            <p:cNvCxnSpPr/>
            <p:nvPr/>
          </p:nvCxnSpPr>
          <p:spPr>
            <a:xfrm>
              <a:off x="2105737" y="1255712"/>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350" name="组合 349"/>
          <p:cNvGrpSpPr/>
          <p:nvPr/>
        </p:nvGrpSpPr>
        <p:grpSpPr>
          <a:xfrm>
            <a:off x="2550740" y="1529535"/>
            <a:ext cx="1395817" cy="1431390"/>
            <a:chOff x="1461734" y="1591717"/>
            <a:chExt cx="1395817" cy="1431390"/>
          </a:xfrm>
        </p:grpSpPr>
        <p:sp>
          <p:nvSpPr>
            <p:cNvPr id="351" name="Text Box 509"/>
            <p:cNvSpPr txBox="1">
              <a:spLocks noChangeArrowheads="1"/>
            </p:cNvSpPr>
            <p:nvPr/>
          </p:nvSpPr>
          <p:spPr bwMode="auto">
            <a:xfrm>
              <a:off x="2141376" y="212229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2" name="Text Box 509"/>
            <p:cNvSpPr txBox="1">
              <a:spLocks noChangeArrowheads="1"/>
            </p:cNvSpPr>
            <p:nvPr/>
          </p:nvSpPr>
          <p:spPr bwMode="auto">
            <a:xfrm>
              <a:off x="1479393" y="2413074"/>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3" name="Text Box 509"/>
            <p:cNvSpPr txBox="1">
              <a:spLocks noChangeArrowheads="1"/>
            </p:cNvSpPr>
            <p:nvPr/>
          </p:nvSpPr>
          <p:spPr bwMode="auto">
            <a:xfrm>
              <a:off x="2453208" y="1823180"/>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4" name="Text Box 509"/>
            <p:cNvSpPr txBox="1">
              <a:spLocks noChangeArrowheads="1"/>
            </p:cNvSpPr>
            <p:nvPr/>
          </p:nvSpPr>
          <p:spPr bwMode="auto">
            <a:xfrm>
              <a:off x="1461734" y="1866294"/>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5" name="Text Box 509"/>
            <p:cNvSpPr txBox="1">
              <a:spLocks noChangeArrowheads="1"/>
            </p:cNvSpPr>
            <p:nvPr/>
          </p:nvSpPr>
          <p:spPr bwMode="auto">
            <a:xfrm>
              <a:off x="2454877" y="2386919"/>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6" name="Text Box 509"/>
            <p:cNvSpPr txBox="1">
              <a:spLocks noChangeArrowheads="1"/>
            </p:cNvSpPr>
            <p:nvPr/>
          </p:nvSpPr>
          <p:spPr bwMode="auto">
            <a:xfrm>
              <a:off x="2148261" y="1591717"/>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7" name="Text Box 509"/>
            <p:cNvSpPr txBox="1">
              <a:spLocks noChangeArrowheads="1"/>
            </p:cNvSpPr>
            <p:nvPr/>
          </p:nvSpPr>
          <p:spPr bwMode="auto">
            <a:xfrm>
              <a:off x="2132245" y="274610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grpSp>
      <p:sp>
        <p:nvSpPr>
          <p:cNvPr id="358" name="矩形 357"/>
          <p:cNvSpPr/>
          <p:nvPr/>
        </p:nvSpPr>
        <p:spPr>
          <a:xfrm>
            <a:off x="1025781" y="3366551"/>
            <a:ext cx="7426010"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频率复用：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相邻小区采用不同的频率，解决了同频干扰，</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频率可以重复使用。</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提供基本的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话音</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通信服务。</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空中接口：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移动用户到基站之间的空口（即</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无线空中接口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），采用的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多址方式</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FDMA/TDMA</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的混合系统。</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4825851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58">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350"/>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58">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58">
                                            <p:txEl>
                                              <p:pRg st="2" end="2"/>
                                            </p:txEl>
                                          </p:spTgt>
                                        </p:tgtEl>
                                        <p:attrNameLst>
                                          <p:attrName>style.visibility</p:attrName>
                                        </p:attrNameLst>
                                      </p:cBhvr>
                                      <p:to>
                                        <p:strVal val="visible"/>
                                      </p:to>
                                    </p:set>
                                  </p:childTnLst>
                                </p:cTn>
                              </p:par>
                              <p:par>
                                <p:cTn id="17" presetID="35" presetClass="emph" presetSubtype="0" repeatCount="3000" fill="hold" nodeType="withEffect">
                                  <p:stCondLst>
                                    <p:cond delay="0"/>
                                  </p:stCondLst>
                                  <p:childTnLst>
                                    <p:anim calcmode="discrete" valueType="str">
                                      <p:cBhvr>
                                        <p:cTn id="18" dur="1000" fill="hold"/>
                                        <p:tgtEl>
                                          <p:spTgt spid="3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5"/>
            <a:ext cx="8133857" cy="182409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26212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FDMA/TDMA</a:t>
            </a:r>
            <a:endParaRPr lang="zh-CN" altLang="en-US" sz="2000" b="1" dirty="0">
              <a:latin typeface="微软雅黑" pitchFamily="34" charset="-122"/>
              <a:ea typeface="微软雅黑" pitchFamily="34" charset="-122"/>
            </a:endParaRPr>
          </a:p>
        </p:txBody>
      </p:sp>
      <p:sp>
        <p:nvSpPr>
          <p:cNvPr id="3" name="矩形 2"/>
          <p:cNvSpPr/>
          <p:nvPr/>
        </p:nvSpPr>
        <p:spPr>
          <a:xfrm>
            <a:off x="517852" y="2795438"/>
            <a:ext cx="8133857" cy="1426031"/>
          </a:xfrm>
          <a:prstGeom prst="rect">
            <a:avLst/>
          </a:prstGeom>
        </p:spPr>
        <p:txBody>
          <a:bodyPr wrap="square">
            <a:spAutoFit/>
          </a:bodyPr>
          <a:lstStyle/>
          <a:p>
            <a:pPr>
              <a:lnSpc>
                <a:spcPts val="2600"/>
              </a:lnSpc>
            </a:pP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把可用</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频带</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（上行和下行各占用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25 MHz</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）划分为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125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个带宽为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200 kHz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子频带，</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再把每个子频带进行</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时分复用</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，每个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帧划分为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8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个</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时隙。</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每个通话的用户占用一个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帧中的一个特定时隙。</a:t>
            </a:r>
            <a:endPar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600"/>
              </a:lnSpc>
            </a:pPr>
            <a:r>
              <a:rPr lang="zh-CN" altLang="en-US"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上行：</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从移动站到基站。</a:t>
            </a:r>
            <a:r>
              <a:rPr lang="zh-CN" altLang="en-US"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下行：</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从基站到移动站。</a:t>
            </a:r>
            <a:endPar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84" name="组合 383"/>
          <p:cNvGrpSpPr/>
          <p:nvPr/>
        </p:nvGrpSpPr>
        <p:grpSpPr>
          <a:xfrm>
            <a:off x="2486893" y="1212463"/>
            <a:ext cx="3391737" cy="1454195"/>
            <a:chOff x="1930294" y="1773817"/>
            <a:chExt cx="3015168" cy="1249569"/>
          </a:xfrm>
        </p:grpSpPr>
        <p:grpSp>
          <p:nvGrpSpPr>
            <p:cNvPr id="2" name="组合 1"/>
            <p:cNvGrpSpPr/>
            <p:nvPr/>
          </p:nvGrpSpPr>
          <p:grpSpPr>
            <a:xfrm>
              <a:off x="3124884" y="1773817"/>
              <a:ext cx="1477416" cy="475085"/>
              <a:chOff x="2228072" y="2626435"/>
              <a:chExt cx="1477416" cy="475085"/>
            </a:xfrm>
          </p:grpSpPr>
          <p:sp>
            <p:nvSpPr>
              <p:cNvPr id="354" name="Rectangle 19"/>
              <p:cNvSpPr>
                <a:spLocks noChangeArrowheads="1"/>
              </p:cNvSpPr>
              <p:nvPr/>
            </p:nvSpPr>
            <p:spPr bwMode="auto">
              <a:xfrm>
                <a:off x="2228072" y="2626435"/>
                <a:ext cx="376238" cy="374238"/>
              </a:xfrm>
              <a:prstGeom prst="rect">
                <a:avLst/>
              </a:prstGeom>
              <a:solidFill>
                <a:schemeClr val="bg1">
                  <a:lumMod val="75000"/>
                </a:schemeClr>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bg1">
                    <a:lumMod val="75000"/>
                  </a:schemeClr>
                </a:extrusionClr>
              </a:sp3d>
            </p:spPr>
            <p:txBody>
              <a:bodyPr wrap="none" anchor="ctr">
                <a:flatTx/>
              </a:bodyPr>
              <a:lstStyle/>
              <a:p>
                <a:pPr>
                  <a:defRPr/>
                </a:pPr>
                <a:endParaRPr lang="zh-CN" altLang="en-US">
                  <a:ea typeface="宋体" pitchFamily="2" charset="-122"/>
                </a:endParaRPr>
              </a:p>
            </p:txBody>
          </p:sp>
          <p:sp>
            <p:nvSpPr>
              <p:cNvPr id="342" name="Rectangle 5"/>
              <p:cNvSpPr>
                <a:spLocks noChangeArrowheads="1"/>
              </p:cNvSpPr>
              <p:nvPr/>
            </p:nvSpPr>
            <p:spPr bwMode="auto">
              <a:xfrm>
                <a:off x="2586877" y="2661603"/>
                <a:ext cx="403225" cy="374238"/>
              </a:xfrm>
              <a:prstGeom prst="rect">
                <a:avLst/>
              </a:prstGeom>
              <a:solidFill>
                <a:srgbClr val="777777"/>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777777"/>
                </a:extrusionClr>
              </a:sp3d>
            </p:spPr>
            <p:txBody>
              <a:bodyPr wrap="none" anchor="ctr">
                <a:flatTx/>
              </a:bodyPr>
              <a:lstStyle/>
              <a:p>
                <a:pPr>
                  <a:defRPr/>
                </a:pPr>
                <a:endParaRPr lang="zh-CN" altLang="en-US">
                  <a:ea typeface="宋体" pitchFamily="2" charset="-122"/>
                </a:endParaRPr>
              </a:p>
            </p:txBody>
          </p:sp>
          <p:sp>
            <p:nvSpPr>
              <p:cNvPr id="358" name="Rectangle 19"/>
              <p:cNvSpPr>
                <a:spLocks noChangeArrowheads="1"/>
              </p:cNvSpPr>
              <p:nvPr/>
            </p:nvSpPr>
            <p:spPr bwMode="auto">
              <a:xfrm>
                <a:off x="2955979" y="2695534"/>
                <a:ext cx="376238" cy="374238"/>
              </a:xfrm>
              <a:prstGeom prst="rect">
                <a:avLst/>
              </a:prstGeom>
              <a:solidFill>
                <a:schemeClr val="tx1">
                  <a:lumMod val="75000"/>
                  <a:lumOff val="25000"/>
                </a:schemeClr>
              </a:solidFill>
              <a:ln w="9525">
                <a:miter lim="800000"/>
                <a:headEnd/>
                <a:tailEnd/>
              </a:ln>
              <a:effectLst/>
              <a:scene3d>
                <a:camera prst="obliqueTopRight">
                  <a:rot lat="0" lon="1200000" rev="0"/>
                </a:camera>
                <a:lightRig rig="threePt" dir="b"/>
              </a:scene3d>
              <a:sp3d extrusionH="430200" contourW="12700" prstMaterial="legacyMatte">
                <a:bevelT w="0" h="0" prst="angle"/>
                <a:bevelB w="13500" h="13500" prst="angle"/>
                <a:extrusionClr>
                  <a:schemeClr val="tx1">
                    <a:lumMod val="75000"/>
                    <a:lumOff val="25000"/>
                  </a:schemeClr>
                </a:extrusionClr>
                <a:contourClr>
                  <a:schemeClr val="tx1">
                    <a:lumMod val="75000"/>
                    <a:lumOff val="25000"/>
                  </a:schemeClr>
                </a:contourClr>
              </a:sp3d>
            </p:spPr>
            <p:txBody>
              <a:bodyPr wrap="none" anchor="ctr">
                <a:flatTx/>
              </a:bodyPr>
              <a:lstStyle/>
              <a:p>
                <a:pPr>
                  <a:defRPr/>
                </a:pPr>
                <a:endParaRPr lang="zh-CN" altLang="en-US">
                  <a:ea typeface="宋体" pitchFamily="2" charset="-122"/>
                </a:endParaRPr>
              </a:p>
            </p:txBody>
          </p:sp>
          <p:sp>
            <p:nvSpPr>
              <p:cNvPr id="357" name="Rectangle 5"/>
              <p:cNvSpPr>
                <a:spLocks noChangeArrowheads="1"/>
              </p:cNvSpPr>
              <p:nvPr/>
            </p:nvSpPr>
            <p:spPr bwMode="auto">
              <a:xfrm>
                <a:off x="3302263" y="2727282"/>
                <a:ext cx="403225" cy="374238"/>
              </a:xfrm>
              <a:prstGeom prst="rect">
                <a:avLst/>
              </a:prstGeom>
              <a:solidFill>
                <a:schemeClr val="bg1">
                  <a:lumMod val="85000"/>
                </a:schemeClr>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bg1">
                    <a:lumMod val="95000"/>
                  </a:schemeClr>
                </a:extrusionClr>
              </a:sp3d>
            </p:spPr>
            <p:txBody>
              <a:bodyPr wrap="none" anchor="ctr">
                <a:flatTx/>
              </a:bodyPr>
              <a:lstStyle/>
              <a:p>
                <a:pPr>
                  <a:defRPr/>
                </a:pPr>
                <a:endParaRPr lang="zh-CN" altLang="en-US">
                  <a:ea typeface="宋体" pitchFamily="2" charset="-122"/>
                </a:endParaRPr>
              </a:p>
            </p:txBody>
          </p:sp>
        </p:grpSp>
        <p:grpSp>
          <p:nvGrpSpPr>
            <p:cNvPr id="360" name="组合 359"/>
            <p:cNvGrpSpPr/>
            <p:nvPr/>
          </p:nvGrpSpPr>
          <p:grpSpPr>
            <a:xfrm>
              <a:off x="2799311" y="1919861"/>
              <a:ext cx="1459832" cy="475085"/>
              <a:chOff x="2228072" y="2626435"/>
              <a:chExt cx="1459832" cy="475085"/>
            </a:xfrm>
          </p:grpSpPr>
          <p:sp>
            <p:nvSpPr>
              <p:cNvPr id="361" name="Rectangle 19"/>
              <p:cNvSpPr>
                <a:spLocks noChangeArrowheads="1"/>
              </p:cNvSpPr>
              <p:nvPr/>
            </p:nvSpPr>
            <p:spPr bwMode="auto">
              <a:xfrm>
                <a:off x="2228072" y="2626435"/>
                <a:ext cx="376238" cy="374238"/>
              </a:xfrm>
              <a:prstGeom prst="rect">
                <a:avLst/>
              </a:prstGeom>
              <a:solidFill>
                <a:srgbClr val="66CCFF"/>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66CCFF"/>
                </a:extrusionClr>
              </a:sp3d>
            </p:spPr>
            <p:txBody>
              <a:bodyPr wrap="none" anchor="ctr">
                <a:flatTx/>
              </a:bodyPr>
              <a:lstStyle/>
              <a:p>
                <a:pPr>
                  <a:defRPr/>
                </a:pPr>
                <a:endParaRPr lang="zh-CN" altLang="en-US">
                  <a:ea typeface="宋体" pitchFamily="2" charset="-122"/>
                </a:endParaRPr>
              </a:p>
            </p:txBody>
          </p:sp>
          <p:sp>
            <p:nvSpPr>
              <p:cNvPr id="362" name="Rectangle 5"/>
              <p:cNvSpPr>
                <a:spLocks noChangeArrowheads="1"/>
              </p:cNvSpPr>
              <p:nvPr/>
            </p:nvSpPr>
            <p:spPr bwMode="auto">
              <a:xfrm>
                <a:off x="2569293" y="2661603"/>
                <a:ext cx="403225" cy="374238"/>
              </a:xfrm>
              <a:prstGeom prst="rect">
                <a:avLst/>
              </a:prstGeom>
              <a:solidFill>
                <a:srgbClr val="33CCFF"/>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33CCFF"/>
                </a:extrusionClr>
              </a:sp3d>
            </p:spPr>
            <p:txBody>
              <a:bodyPr wrap="none" anchor="ctr">
                <a:flatTx/>
              </a:bodyPr>
              <a:lstStyle/>
              <a:p>
                <a:pPr>
                  <a:defRPr/>
                </a:pPr>
                <a:endParaRPr lang="zh-CN" altLang="en-US">
                  <a:ea typeface="宋体" pitchFamily="2" charset="-122"/>
                </a:endParaRPr>
              </a:p>
            </p:txBody>
          </p:sp>
          <p:sp>
            <p:nvSpPr>
              <p:cNvPr id="363" name="Rectangle 19"/>
              <p:cNvSpPr>
                <a:spLocks noChangeArrowheads="1"/>
              </p:cNvSpPr>
              <p:nvPr/>
            </p:nvSpPr>
            <p:spPr bwMode="auto">
              <a:xfrm>
                <a:off x="2939371" y="2695534"/>
                <a:ext cx="376238" cy="374238"/>
              </a:xfrm>
              <a:prstGeom prst="rect">
                <a:avLst/>
              </a:prstGeom>
              <a:solidFill>
                <a:srgbClr val="3399FF"/>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3399FF"/>
                </a:extrusionClr>
              </a:sp3d>
            </p:spPr>
            <p:txBody>
              <a:bodyPr wrap="none" anchor="ctr">
                <a:flatTx/>
              </a:bodyPr>
              <a:lstStyle/>
              <a:p>
                <a:pPr>
                  <a:defRPr/>
                </a:pPr>
                <a:endParaRPr lang="zh-CN" altLang="en-US">
                  <a:ea typeface="宋体" pitchFamily="2" charset="-122"/>
                </a:endParaRPr>
              </a:p>
            </p:txBody>
          </p:sp>
          <p:sp>
            <p:nvSpPr>
              <p:cNvPr id="364" name="Rectangle 5"/>
              <p:cNvSpPr>
                <a:spLocks noChangeArrowheads="1"/>
              </p:cNvSpPr>
              <p:nvPr/>
            </p:nvSpPr>
            <p:spPr bwMode="auto">
              <a:xfrm>
                <a:off x="3284679" y="2727282"/>
                <a:ext cx="403225" cy="374238"/>
              </a:xfrm>
              <a:prstGeom prst="rect">
                <a:avLst/>
              </a:prstGeom>
              <a:solidFill>
                <a:schemeClr val="tx2">
                  <a:lumMod val="60000"/>
                  <a:lumOff val="40000"/>
                </a:schemeClr>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tx2">
                    <a:lumMod val="60000"/>
                    <a:lumOff val="40000"/>
                  </a:schemeClr>
                </a:extrusionClr>
              </a:sp3d>
            </p:spPr>
            <p:txBody>
              <a:bodyPr wrap="none" anchor="ctr">
                <a:flatTx/>
              </a:bodyPr>
              <a:lstStyle/>
              <a:p>
                <a:pPr>
                  <a:defRPr/>
                </a:pPr>
                <a:endParaRPr lang="zh-CN" altLang="en-US">
                  <a:ea typeface="宋体" pitchFamily="2" charset="-122"/>
                </a:endParaRPr>
              </a:p>
            </p:txBody>
          </p:sp>
        </p:grpSp>
        <p:grpSp>
          <p:nvGrpSpPr>
            <p:cNvPr id="365" name="组合 364"/>
            <p:cNvGrpSpPr/>
            <p:nvPr/>
          </p:nvGrpSpPr>
          <p:grpSpPr>
            <a:xfrm>
              <a:off x="2354175" y="2066760"/>
              <a:ext cx="1560786" cy="475085"/>
              <a:chOff x="2219280" y="2626435"/>
              <a:chExt cx="1457562" cy="475085"/>
            </a:xfrm>
          </p:grpSpPr>
          <p:sp>
            <p:nvSpPr>
              <p:cNvPr id="366" name="Rectangle 19"/>
              <p:cNvSpPr>
                <a:spLocks noChangeArrowheads="1"/>
              </p:cNvSpPr>
              <p:nvPr/>
            </p:nvSpPr>
            <p:spPr bwMode="auto">
              <a:xfrm>
                <a:off x="2219280" y="2626435"/>
                <a:ext cx="376238" cy="374238"/>
              </a:xfrm>
              <a:prstGeom prst="rect">
                <a:avLst/>
              </a:prstGeom>
              <a:solidFill>
                <a:srgbClr val="CC99FF"/>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CC99FF"/>
                </a:extrusionClr>
              </a:sp3d>
            </p:spPr>
            <p:txBody>
              <a:bodyPr wrap="none" anchor="ctr">
                <a:flatTx/>
              </a:bodyPr>
              <a:lstStyle/>
              <a:p>
                <a:pPr>
                  <a:defRPr/>
                </a:pPr>
                <a:endParaRPr lang="zh-CN" altLang="en-US">
                  <a:ea typeface="宋体" pitchFamily="2" charset="-122"/>
                </a:endParaRPr>
              </a:p>
            </p:txBody>
          </p:sp>
          <p:sp>
            <p:nvSpPr>
              <p:cNvPr id="367" name="Rectangle 5"/>
              <p:cNvSpPr>
                <a:spLocks noChangeArrowheads="1"/>
              </p:cNvSpPr>
              <p:nvPr/>
            </p:nvSpPr>
            <p:spPr bwMode="auto">
              <a:xfrm>
                <a:off x="2559919" y="2661603"/>
                <a:ext cx="403225" cy="374238"/>
              </a:xfrm>
              <a:prstGeom prst="rect">
                <a:avLst/>
              </a:prstGeom>
              <a:solidFill>
                <a:srgbClr val="FF99FF"/>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FF99FF"/>
                </a:extrusionClr>
              </a:sp3d>
            </p:spPr>
            <p:txBody>
              <a:bodyPr wrap="none" anchor="ctr">
                <a:flatTx/>
              </a:bodyPr>
              <a:lstStyle/>
              <a:p>
                <a:pPr>
                  <a:defRPr/>
                </a:pPr>
                <a:endParaRPr lang="zh-CN" altLang="en-US">
                  <a:ea typeface="宋体" pitchFamily="2" charset="-122"/>
                </a:endParaRPr>
              </a:p>
            </p:txBody>
          </p:sp>
          <p:sp>
            <p:nvSpPr>
              <p:cNvPr id="368" name="Rectangle 19"/>
              <p:cNvSpPr>
                <a:spLocks noChangeArrowheads="1"/>
              </p:cNvSpPr>
              <p:nvPr/>
            </p:nvSpPr>
            <p:spPr bwMode="auto">
              <a:xfrm>
                <a:off x="2928957" y="2695534"/>
                <a:ext cx="376238" cy="374238"/>
              </a:xfrm>
              <a:prstGeom prst="rect">
                <a:avLst/>
              </a:prstGeom>
              <a:solidFill>
                <a:srgbClr val="FF99CC"/>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FF99CC"/>
                </a:extrusionClr>
              </a:sp3d>
            </p:spPr>
            <p:txBody>
              <a:bodyPr wrap="none" anchor="ctr">
                <a:flatTx/>
              </a:bodyPr>
              <a:lstStyle/>
              <a:p>
                <a:pPr>
                  <a:defRPr/>
                </a:pPr>
                <a:endParaRPr lang="zh-CN" altLang="en-US">
                  <a:ea typeface="宋体" pitchFamily="2" charset="-122"/>
                </a:endParaRPr>
              </a:p>
            </p:txBody>
          </p:sp>
          <p:sp>
            <p:nvSpPr>
              <p:cNvPr id="369" name="Rectangle 5"/>
              <p:cNvSpPr>
                <a:spLocks noChangeArrowheads="1"/>
              </p:cNvSpPr>
              <p:nvPr/>
            </p:nvSpPr>
            <p:spPr bwMode="auto">
              <a:xfrm>
                <a:off x="3273617" y="2727282"/>
                <a:ext cx="403225" cy="374238"/>
              </a:xfrm>
              <a:prstGeom prst="rect">
                <a:avLst/>
              </a:prstGeom>
              <a:solidFill>
                <a:srgbClr val="FF66CC"/>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FF66CC"/>
                </a:extrusionClr>
              </a:sp3d>
            </p:spPr>
            <p:txBody>
              <a:bodyPr wrap="none" anchor="ctr">
                <a:flatTx/>
              </a:bodyPr>
              <a:lstStyle/>
              <a:p>
                <a:pPr>
                  <a:defRPr/>
                </a:pPr>
                <a:endParaRPr lang="zh-CN" altLang="en-US">
                  <a:ea typeface="宋体" pitchFamily="2" charset="-122"/>
                </a:endParaRPr>
              </a:p>
            </p:txBody>
          </p:sp>
        </p:grpSp>
        <p:grpSp>
          <p:nvGrpSpPr>
            <p:cNvPr id="370" name="组合 369"/>
            <p:cNvGrpSpPr/>
            <p:nvPr/>
          </p:nvGrpSpPr>
          <p:grpSpPr>
            <a:xfrm>
              <a:off x="2000638" y="2231381"/>
              <a:ext cx="1559811" cy="476322"/>
              <a:chOff x="2219280" y="2626435"/>
              <a:chExt cx="1456651" cy="476322"/>
            </a:xfrm>
          </p:grpSpPr>
          <p:sp>
            <p:nvSpPr>
              <p:cNvPr id="371" name="Rectangle 19"/>
              <p:cNvSpPr>
                <a:spLocks noChangeArrowheads="1"/>
              </p:cNvSpPr>
              <p:nvPr/>
            </p:nvSpPr>
            <p:spPr bwMode="auto">
              <a:xfrm>
                <a:off x="2219280" y="2626435"/>
                <a:ext cx="376238" cy="374238"/>
              </a:xfrm>
              <a:prstGeom prst="rect">
                <a:avLst/>
              </a:prstGeom>
              <a:solidFill>
                <a:srgbClr val="00CC66"/>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00CC66"/>
                </a:extrusionClr>
              </a:sp3d>
            </p:spPr>
            <p:txBody>
              <a:bodyPr wrap="none" anchor="ctr">
                <a:flatTx/>
              </a:bodyPr>
              <a:lstStyle/>
              <a:p>
                <a:pPr>
                  <a:defRPr/>
                </a:pPr>
                <a:endParaRPr lang="zh-CN" altLang="en-US">
                  <a:ea typeface="宋体" pitchFamily="2" charset="-122"/>
                </a:endParaRPr>
              </a:p>
            </p:txBody>
          </p:sp>
          <p:sp>
            <p:nvSpPr>
              <p:cNvPr id="372" name="Rectangle 5"/>
              <p:cNvSpPr>
                <a:spLocks noChangeArrowheads="1"/>
              </p:cNvSpPr>
              <p:nvPr/>
            </p:nvSpPr>
            <p:spPr bwMode="auto">
              <a:xfrm>
                <a:off x="2559920" y="2661603"/>
                <a:ext cx="403225" cy="374238"/>
              </a:xfrm>
              <a:prstGeom prst="rect">
                <a:avLst/>
              </a:prstGeom>
              <a:solidFill>
                <a:srgbClr val="00CC99"/>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00CC99"/>
                </a:extrusionClr>
              </a:sp3d>
            </p:spPr>
            <p:txBody>
              <a:bodyPr wrap="none" anchor="ctr">
                <a:flatTx/>
              </a:bodyPr>
              <a:lstStyle/>
              <a:p>
                <a:pPr>
                  <a:defRPr/>
                </a:pPr>
                <a:endParaRPr lang="zh-CN" altLang="en-US">
                  <a:ea typeface="宋体" pitchFamily="2" charset="-122"/>
                </a:endParaRPr>
              </a:p>
            </p:txBody>
          </p:sp>
          <p:sp>
            <p:nvSpPr>
              <p:cNvPr id="373" name="Rectangle 19"/>
              <p:cNvSpPr>
                <a:spLocks noChangeArrowheads="1"/>
              </p:cNvSpPr>
              <p:nvPr/>
            </p:nvSpPr>
            <p:spPr bwMode="auto">
              <a:xfrm>
                <a:off x="2928957" y="2695534"/>
                <a:ext cx="376238" cy="374238"/>
              </a:xfrm>
              <a:prstGeom prst="rect">
                <a:avLst/>
              </a:prstGeom>
              <a:solidFill>
                <a:srgbClr val="669900"/>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669900"/>
                </a:extrusionClr>
              </a:sp3d>
            </p:spPr>
            <p:txBody>
              <a:bodyPr wrap="none" anchor="ctr">
                <a:flatTx/>
              </a:bodyPr>
              <a:lstStyle/>
              <a:p>
                <a:pPr>
                  <a:defRPr/>
                </a:pPr>
                <a:endParaRPr lang="zh-CN" altLang="en-US">
                  <a:ea typeface="宋体" pitchFamily="2" charset="-122"/>
                </a:endParaRPr>
              </a:p>
            </p:txBody>
          </p:sp>
          <p:sp>
            <p:nvSpPr>
              <p:cNvPr id="374" name="Rectangle 5"/>
              <p:cNvSpPr>
                <a:spLocks noChangeArrowheads="1"/>
              </p:cNvSpPr>
              <p:nvPr/>
            </p:nvSpPr>
            <p:spPr bwMode="auto">
              <a:xfrm>
                <a:off x="3272706" y="2728519"/>
                <a:ext cx="403225" cy="374238"/>
              </a:xfrm>
              <a:prstGeom prst="rect">
                <a:avLst/>
              </a:prstGeom>
              <a:solidFill>
                <a:srgbClr val="339933"/>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339933"/>
                </a:extrusionClr>
              </a:sp3d>
            </p:spPr>
            <p:txBody>
              <a:bodyPr wrap="none" anchor="ctr">
                <a:flatTx/>
              </a:bodyPr>
              <a:lstStyle/>
              <a:p>
                <a:pPr>
                  <a:defRPr/>
                </a:pPr>
                <a:endParaRPr lang="zh-CN" altLang="en-US">
                  <a:ea typeface="宋体" pitchFamily="2" charset="-122"/>
                </a:endParaRPr>
              </a:p>
            </p:txBody>
          </p:sp>
        </p:grpSp>
        <p:cxnSp>
          <p:nvCxnSpPr>
            <p:cNvPr id="6" name="直接箭头连接符 5"/>
            <p:cNvCxnSpPr/>
            <p:nvPr/>
          </p:nvCxnSpPr>
          <p:spPr>
            <a:xfrm flipV="1">
              <a:off x="3714542" y="2231381"/>
              <a:ext cx="1194882" cy="491499"/>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377" name="直接箭头连接符 376"/>
            <p:cNvCxnSpPr/>
            <p:nvPr/>
          </p:nvCxnSpPr>
          <p:spPr>
            <a:xfrm>
              <a:off x="1930294" y="2644786"/>
              <a:ext cx="1483050" cy="131132"/>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382" name="矩形 381"/>
            <p:cNvSpPr/>
            <p:nvPr/>
          </p:nvSpPr>
          <p:spPr>
            <a:xfrm rot="20075650">
              <a:off x="4119595" y="2351932"/>
              <a:ext cx="825867" cy="338554"/>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a:t>
              </a:r>
              <a:endParaRPr lang="zh-CN" altLang="en-US" sz="1600" dirty="0"/>
            </a:p>
          </p:txBody>
        </p:sp>
        <p:sp>
          <p:nvSpPr>
            <p:cNvPr id="383" name="矩形 382"/>
            <p:cNvSpPr/>
            <p:nvPr/>
          </p:nvSpPr>
          <p:spPr>
            <a:xfrm rot="213981">
              <a:off x="2217353" y="2684832"/>
              <a:ext cx="840295" cy="338554"/>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TDMA</a:t>
              </a:r>
              <a:endParaRPr lang="zh-CN" altLang="en-US" sz="1600" dirty="0"/>
            </a:p>
          </p:txBody>
        </p:sp>
      </p:grpSp>
    </p:spTree>
    <p:extLst>
      <p:ext uri="{BB962C8B-B14F-4D97-AF65-F5344CB8AC3E}">
        <p14:creationId xmlns:p14="http://schemas.microsoft.com/office/powerpoint/2010/main" val="1146935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242587"/>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1608418"/>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1850964"/>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485135"/>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093511"/>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397699"/>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093511"/>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773597159"/>
              </p:ext>
            </p:extLst>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78"/>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5363365" y="2821000"/>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714990432"/>
              </p:ext>
            </p:extLst>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79"/>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 name="组合 5"/>
          <p:cNvGrpSpPr/>
          <p:nvPr/>
        </p:nvGrpSpPr>
        <p:grpSpPr>
          <a:xfrm>
            <a:off x="921506" y="1085804"/>
            <a:ext cx="902811" cy="765185"/>
            <a:chOff x="921506" y="1085804"/>
            <a:chExt cx="902811" cy="765185"/>
          </a:xfrm>
        </p:grpSpPr>
        <p:cxnSp>
          <p:nvCxnSpPr>
            <p:cNvPr id="328" name="直接连接符 32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2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0" name="直接箭头连接符 329"/>
            <p:cNvCxnSpPr>
              <a:stCxn id="32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23439"/>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网络子系统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（常称为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包括几十个基站和一个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基站控制器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BSC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(Base Station Controller)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BSC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为本基站子系统中的几十个基站服务：分配无线信道，确定所在小区，漫游时进行信道切换。</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Tree>
    <p:extLst>
      <p:ext uri="{BB962C8B-B14F-4D97-AF65-F5344CB8AC3E}">
        <p14:creationId xmlns:p14="http://schemas.microsoft.com/office/powerpoint/2010/main" val="397202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242587"/>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1608418"/>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1850964"/>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485135"/>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093511"/>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397699"/>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093511"/>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773597159"/>
              </p:ext>
            </p:extLst>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7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5363365" y="2821000"/>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714990432"/>
              </p:ext>
            </p:extLst>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77"/>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7473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包括移动交换中心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MSC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(Mobile Switching Center)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和网关移动交换中心</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GMSC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(Gateway Mobile Switching Center)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负责用户的授权和账单，用户呼叫连接的建立和释放，不同基站子系统之间漫游时的信道切换。</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GMSC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将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连接到公用电话网或其他移动通信网。</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grpSp>
        <p:nvGrpSpPr>
          <p:cNvPr id="341" name="组合 340"/>
          <p:cNvGrpSpPr/>
          <p:nvPr/>
        </p:nvGrpSpPr>
        <p:grpSpPr>
          <a:xfrm>
            <a:off x="921506" y="1085804"/>
            <a:ext cx="902811" cy="765185"/>
            <a:chOff x="921506" y="1085804"/>
            <a:chExt cx="902811" cy="765185"/>
          </a:xfrm>
        </p:grpSpPr>
        <p:cxnSp>
          <p:nvCxnSpPr>
            <p:cNvPr id="342" name="直接连接符 341"/>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43"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44" name="直接箭头连接符 343"/>
            <p:cNvCxnSpPr>
              <a:stCxn id="343"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249173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341958" cy="29270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sz="1700" b="1" dirty="0">
                <a:latin typeface="微软雅黑" pitchFamily="34" charset="-122"/>
                <a:ea typeface="微软雅黑" pitchFamily="34" charset="-122"/>
              </a:rPr>
              <a:t>为了满足移动数据通信需求，引入了：</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itchFamily="34" charset="-122"/>
                <a:ea typeface="微软雅黑" pitchFamily="34" charset="-122"/>
              </a:rPr>
              <a:t>通用分组无线服务 </a:t>
            </a:r>
            <a:r>
              <a:rPr lang="en-US" altLang="zh-CN" sz="1700" b="1" dirty="0">
                <a:solidFill>
                  <a:srgbClr val="C00000"/>
                </a:solidFill>
                <a:latin typeface="微软雅黑" pitchFamily="34" charset="-122"/>
                <a:ea typeface="微软雅黑" pitchFamily="34" charset="-122"/>
              </a:rPr>
              <a:t>GPRS </a:t>
            </a:r>
            <a:r>
              <a:rPr lang="en-US" altLang="zh-CN" sz="1700" b="1" dirty="0">
                <a:latin typeface="微软雅黑" pitchFamily="34" charset="-122"/>
                <a:ea typeface="微软雅黑" pitchFamily="34" charset="-122"/>
              </a:rPr>
              <a:t>(General Packet Radio Service)</a:t>
            </a:r>
            <a:r>
              <a:rPr lang="zh-CN" altLang="en-US" sz="1700" b="1" dirty="0">
                <a:latin typeface="微软雅黑" pitchFamily="34" charset="-122"/>
                <a:ea typeface="微软雅黑" pitchFamily="34" charset="-122"/>
              </a:rPr>
              <a:t>（俗称 </a:t>
            </a:r>
            <a:r>
              <a:rPr lang="en-US" altLang="zh-CN" sz="1700" b="1" dirty="0">
                <a:solidFill>
                  <a:srgbClr val="0000CC"/>
                </a:solidFill>
                <a:latin typeface="微软雅黑" pitchFamily="34" charset="-122"/>
                <a:ea typeface="微软雅黑" pitchFamily="34" charset="-122"/>
              </a:rPr>
              <a:t>2.5G</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itchFamily="34" charset="-122"/>
                <a:ea typeface="微软雅黑" pitchFamily="34" charset="-122"/>
              </a:rPr>
              <a:t>增强型数据速率 </a:t>
            </a:r>
            <a:r>
              <a:rPr lang="en-US" altLang="zh-CN" sz="1700" b="1" dirty="0">
                <a:solidFill>
                  <a:srgbClr val="C00000"/>
                </a:solidFill>
                <a:latin typeface="微软雅黑" pitchFamily="34" charset="-122"/>
                <a:ea typeface="微软雅黑" pitchFamily="34" charset="-122"/>
              </a:rPr>
              <a:t>GSM </a:t>
            </a:r>
            <a:r>
              <a:rPr lang="zh-CN" altLang="en-US" sz="1700" b="1" dirty="0">
                <a:solidFill>
                  <a:srgbClr val="C00000"/>
                </a:solidFill>
                <a:latin typeface="微软雅黑" pitchFamily="34" charset="-122"/>
                <a:ea typeface="微软雅黑" pitchFamily="34" charset="-122"/>
              </a:rPr>
              <a:t>演进 </a:t>
            </a:r>
            <a:r>
              <a:rPr lang="en-US" altLang="zh-CN" sz="1700" b="1" dirty="0">
                <a:solidFill>
                  <a:srgbClr val="C00000"/>
                </a:solidFill>
                <a:latin typeface="微软雅黑" pitchFamily="34" charset="-122"/>
                <a:ea typeface="微软雅黑" pitchFamily="34" charset="-122"/>
              </a:rPr>
              <a:t>EDGE</a:t>
            </a:r>
            <a:r>
              <a:rPr lang="en-US" altLang="zh-CN" sz="1700" b="1" dirty="0">
                <a:latin typeface="微软雅黑" pitchFamily="34" charset="-122"/>
                <a:ea typeface="微软雅黑" pitchFamily="34" charset="-122"/>
              </a:rPr>
              <a:t> (Enhanced Data rate for GSM Evolution)</a:t>
            </a:r>
            <a:r>
              <a:rPr lang="zh-CN" altLang="en-US" sz="1700" b="1" dirty="0">
                <a:latin typeface="微软雅黑" pitchFamily="34" charset="-122"/>
                <a:ea typeface="微软雅黑" pitchFamily="34" charset="-122"/>
              </a:rPr>
              <a:t> 系统（俗称 </a:t>
            </a:r>
            <a:r>
              <a:rPr lang="en-US" altLang="zh-CN" sz="1700" b="1" dirty="0">
                <a:solidFill>
                  <a:srgbClr val="0000CC"/>
                </a:solidFill>
                <a:latin typeface="微软雅黑" pitchFamily="34" charset="-122"/>
                <a:ea typeface="微软雅黑" pitchFamily="34" charset="-122"/>
              </a:rPr>
              <a:t>2.75G</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sz="1700" b="1" dirty="0">
                <a:solidFill>
                  <a:srgbClr val="C00000"/>
                </a:solidFill>
                <a:latin typeface="微软雅黑" pitchFamily="34" charset="-122"/>
                <a:ea typeface="微软雅黑" pitchFamily="34" charset="-122"/>
              </a:rPr>
              <a:t>空口调制方式：</a:t>
            </a:r>
            <a:r>
              <a:rPr lang="zh-CN" altLang="en-US" sz="1700" b="1" dirty="0">
                <a:latin typeface="微软雅黑" pitchFamily="34" charset="-122"/>
                <a:ea typeface="微软雅黑" pitchFamily="34" charset="-122"/>
              </a:rPr>
              <a:t>由高斯最小频移键控 </a:t>
            </a:r>
            <a:r>
              <a:rPr lang="en-US" altLang="zh-CN" sz="1700" b="1" dirty="0">
                <a:latin typeface="微软雅黑" pitchFamily="34" charset="-122"/>
                <a:ea typeface="微软雅黑" pitchFamily="34" charset="-122"/>
              </a:rPr>
              <a:t>GMSK (Gaussian Minimum Shift Keying) </a:t>
            </a:r>
            <a:r>
              <a:rPr lang="zh-CN" altLang="en-US" sz="1700" b="1" dirty="0">
                <a:latin typeface="微软雅黑" pitchFamily="34" charset="-122"/>
                <a:ea typeface="微软雅黑" pitchFamily="34" charset="-122"/>
              </a:rPr>
              <a:t>提高到 </a:t>
            </a:r>
            <a:r>
              <a:rPr lang="en-US" altLang="zh-CN" sz="1700" b="1" dirty="0">
                <a:latin typeface="微软雅黑" pitchFamily="34" charset="-122"/>
                <a:ea typeface="微软雅黑" pitchFamily="34" charset="-122"/>
              </a:rPr>
              <a:t>8PSK</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342900" indent="-342900" eaLnBrk="0" hangingPunct="0">
              <a:lnSpc>
                <a:spcPts val="2700"/>
              </a:lnSpc>
              <a:buClr>
                <a:srgbClr val="0070C0"/>
              </a:buClr>
              <a:buSzPct val="85000"/>
              <a:buFont typeface="Wingdings" pitchFamily="2" charset="2"/>
              <a:buChar char="l"/>
            </a:pPr>
            <a:r>
              <a:rPr lang="zh-CN" altLang="en-US" sz="1700" b="1" dirty="0">
                <a:solidFill>
                  <a:srgbClr val="C00000"/>
                </a:solidFill>
                <a:latin typeface="微软雅黑" pitchFamily="34" charset="-122"/>
                <a:ea typeface="微软雅黑" pitchFamily="34" charset="-122"/>
              </a:rPr>
              <a:t>网元：</a:t>
            </a:r>
            <a:r>
              <a:rPr lang="zh-CN" altLang="en-US" sz="1700" b="1" dirty="0">
                <a:latin typeface="微软雅黑" pitchFamily="34" charset="-122"/>
                <a:ea typeface="微软雅黑" pitchFamily="34" charset="-122"/>
              </a:rPr>
              <a:t>引入了分组控制单元 </a:t>
            </a:r>
            <a:r>
              <a:rPr lang="en-US" altLang="zh-CN" sz="1700" b="1" dirty="0">
                <a:latin typeface="微软雅黑" pitchFamily="34" charset="-122"/>
                <a:ea typeface="微软雅黑" pitchFamily="34" charset="-122"/>
              </a:rPr>
              <a:t>PCU (Packet Control Unit)</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en-US" altLang="zh-CN" sz="1700" b="1" dirty="0">
                <a:latin typeface="微软雅黑" pitchFamily="34" charset="-122"/>
                <a:ea typeface="微软雅黑" pitchFamily="34" charset="-122"/>
              </a:rPr>
              <a:t>PCU </a:t>
            </a:r>
            <a:r>
              <a:rPr lang="zh-CN" altLang="en-US" sz="1700" b="1" dirty="0">
                <a:latin typeface="微软雅黑" pitchFamily="34" charset="-122"/>
                <a:ea typeface="微软雅黑" pitchFamily="34" charset="-122"/>
              </a:rPr>
              <a:t>通常和 </a:t>
            </a:r>
            <a:r>
              <a:rPr lang="en-US" altLang="zh-CN" sz="1700" b="1" dirty="0">
                <a:latin typeface="微软雅黑" pitchFamily="34" charset="-122"/>
                <a:ea typeface="微软雅黑" pitchFamily="34" charset="-122"/>
              </a:rPr>
              <a:t>BSC </a:t>
            </a:r>
            <a:r>
              <a:rPr lang="zh-CN" altLang="en-US" sz="1700" b="1" dirty="0">
                <a:latin typeface="微软雅黑" pitchFamily="34" charset="-122"/>
                <a:ea typeface="微软雅黑" pitchFamily="34" charset="-122"/>
              </a:rPr>
              <a:t>集成在一起，负责处理有关数据通信的业务。</a:t>
            </a:r>
            <a:endParaRPr lang="en-US" altLang="zh-CN" sz="17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50973" y="585623"/>
            <a:ext cx="38282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数据通信被引入移动通信系统</a:t>
            </a:r>
          </a:p>
        </p:txBody>
      </p:sp>
      <p:sp>
        <p:nvSpPr>
          <p:cNvPr id="2" name="矩形 1"/>
          <p:cNvSpPr/>
          <p:nvPr/>
        </p:nvSpPr>
        <p:spPr>
          <a:xfrm>
            <a:off x="1336431" y="3754814"/>
            <a:ext cx="6418384" cy="938719"/>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rPr>
              <a:t>PCU </a:t>
            </a:r>
            <a:r>
              <a:rPr lang="zh-CN" altLang="en-US" sz="1600" b="1" dirty="0">
                <a:latin typeface="微软雅黑" panose="020B0503020204020204" pitchFamily="34" charset="-122"/>
                <a:ea typeface="微软雅黑" panose="020B0503020204020204" pitchFamily="34" charset="-122"/>
              </a:rPr>
              <a:t>根据用户数据业务的突发性质，动态地分配空口资源给用户，提高了空口资源的利用率，提供的最大速率为 </a:t>
            </a:r>
            <a:r>
              <a:rPr lang="en-US" altLang="zh-CN" sz="1600" b="1" dirty="0">
                <a:latin typeface="微软雅黑" panose="020B0503020204020204" pitchFamily="34" charset="-122"/>
                <a:ea typeface="微软雅黑" panose="020B0503020204020204" pitchFamily="34" charset="-122"/>
              </a:rPr>
              <a:t>171.2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GPRS</a:t>
            </a:r>
            <a:r>
              <a:rPr lang="zh-CN" altLang="en-US" sz="1600" b="1" dirty="0">
                <a:latin typeface="微软雅黑" panose="020B0503020204020204" pitchFamily="34" charset="-122"/>
                <a:ea typeface="微软雅黑" panose="020B0503020204020204" pitchFamily="34" charset="-122"/>
              </a:rPr>
              <a:t>）和 </a:t>
            </a:r>
            <a:r>
              <a:rPr lang="en-US" altLang="zh-CN" sz="1600" b="1" dirty="0">
                <a:latin typeface="微软雅黑" panose="020B0503020204020204" pitchFamily="34" charset="-122"/>
                <a:ea typeface="微软雅黑" panose="020B0503020204020204" pitchFamily="34" charset="-122"/>
              </a:rPr>
              <a:t>384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EDGE</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26950431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11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111"/>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0" name="Picture 1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695679" cy="605294"/>
          </a:xfrm>
          <a:prstGeom prst="rect">
            <a:avLst/>
          </a:prstGeom>
        </p:spPr>
        <p:txBody>
          <a:bodyPr wrap="square">
            <a:spAutoFit/>
          </a:bodyPr>
          <a:lstStyle/>
          <a:p>
            <a:pPr>
              <a:lnSpc>
                <a:spcPts val="20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电路交换域</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 </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电路交换域：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负责话音通信。</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负责数据通信。</a:t>
            </a:r>
          </a:p>
        </p:txBody>
      </p:sp>
      <p:grpSp>
        <p:nvGrpSpPr>
          <p:cNvPr id="367" name="组合 366"/>
          <p:cNvGrpSpPr/>
          <p:nvPr/>
        </p:nvGrpSpPr>
        <p:grpSpPr>
          <a:xfrm>
            <a:off x="878718" y="1616623"/>
            <a:ext cx="902811" cy="765185"/>
            <a:chOff x="921506" y="1085804"/>
            <a:chExt cx="902811" cy="765185"/>
          </a:xfrm>
        </p:grpSpPr>
        <p:cxnSp>
          <p:nvCxnSpPr>
            <p:cNvPr id="368" name="直接连接符 36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70" name="直接箭头连接符 369"/>
            <p:cNvCxnSpPr>
              <a:stCxn id="36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67393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9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93"/>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name="Visio" r:id="rId10" imgW="1687068" imgH="964692" progId="">
                  <p:embed/>
                </p:oleObj>
              </mc:Choice>
              <mc:Fallback>
                <p:oleObj name="Visio" r:id="rId10" imgW="1687068" imgH="964692" progId="">
                  <p:embed/>
                  <p:pic>
                    <p:nvPicPr>
                      <p:cNvPr id="0" name="Picture 9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服务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(Serving GPRS Support Node) +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网关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(Gateway GPRS Support Node)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7060609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9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9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0" name="Picture 9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SGSN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在基站控制器和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之间转发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数据报；与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交互，完成用户授权、通信切换，移动节点位置信息维护等功能。</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078324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9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93"/>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0" name="Picture 9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GGSN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网络接入控制，把多个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连接起来后接入互联网。又称为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。分组过滤，保证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网络的安全。</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681614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333051" y="585623"/>
            <a:ext cx="24641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3G </a:t>
            </a:r>
            <a:r>
              <a:rPr lang="zh-CN" altLang="en-US" sz="2000" b="1" dirty="0">
                <a:solidFill>
                  <a:schemeClr val="bg1"/>
                </a:solidFill>
                <a:latin typeface="微软雅黑" pitchFamily="34" charset="-122"/>
                <a:ea typeface="微软雅黑" pitchFamily="34" charset="-122"/>
              </a:rPr>
              <a:t>蜂窝移动通信</a:t>
            </a:r>
          </a:p>
        </p:txBody>
      </p:sp>
      <p:sp>
        <p:nvSpPr>
          <p:cNvPr id="7" name="Rectangle 46"/>
          <p:cNvSpPr>
            <a:spLocks noChangeArrowheads="1"/>
          </p:cNvSpPr>
          <p:nvPr/>
        </p:nvSpPr>
        <p:spPr bwMode="auto">
          <a:xfrm>
            <a:off x="511895" y="977262"/>
            <a:ext cx="8222801"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solidFill>
                  <a:srgbClr val="0000FF"/>
                </a:solidFill>
                <a:latin typeface="微软雅黑" pitchFamily="34" charset="-122"/>
                <a:ea typeface="微软雅黑" pitchFamily="34" charset="-122"/>
              </a:rPr>
              <a:t>第三代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蜂窝移动通信系统</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1996 </a:t>
            </a:r>
            <a:r>
              <a:rPr lang="zh-CN" altLang="en-US" b="1" dirty="0">
                <a:latin typeface="微软雅黑" pitchFamily="34" charset="-122"/>
                <a:ea typeface="微软雅黑" pitchFamily="34" charset="-122"/>
              </a:rPr>
              <a:t>年正式标准名称：</a:t>
            </a:r>
            <a:r>
              <a:rPr lang="en-US" altLang="zh-CN" b="1" dirty="0">
                <a:solidFill>
                  <a:srgbClr val="C00000"/>
                </a:solidFill>
                <a:latin typeface="微软雅黑" pitchFamily="34" charset="-122"/>
                <a:ea typeface="微软雅黑" pitchFamily="34" charset="-122"/>
              </a:rPr>
              <a:t>IMT-2000</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工作在 </a:t>
            </a:r>
            <a:r>
              <a:rPr lang="en-US" altLang="zh-CN" b="1" dirty="0">
                <a:latin typeface="微软雅黑" pitchFamily="34" charset="-122"/>
                <a:ea typeface="微软雅黑" pitchFamily="34" charset="-122"/>
              </a:rPr>
              <a:t>2000 MHz </a:t>
            </a:r>
            <a:r>
              <a:rPr lang="zh-CN" altLang="en-US" b="1" dirty="0">
                <a:latin typeface="微软雅黑" pitchFamily="34" charset="-122"/>
                <a:ea typeface="微软雅黑" pitchFamily="34" charset="-122"/>
              </a:rPr>
              <a:t>频段，数据率可达 </a:t>
            </a:r>
            <a:r>
              <a:rPr lang="en-US" altLang="zh-CN" b="1" dirty="0">
                <a:latin typeface="微软雅黑" pitchFamily="34" charset="-122"/>
                <a:ea typeface="微软雅黑" pitchFamily="34" charset="-122"/>
              </a:rPr>
              <a:t>2000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（固定站）和 </a:t>
            </a:r>
            <a:r>
              <a:rPr lang="en-US" altLang="zh-CN" b="1" dirty="0">
                <a:latin typeface="微软雅黑" pitchFamily="34" charset="-122"/>
                <a:ea typeface="微软雅黑" pitchFamily="34" charset="-122"/>
              </a:rPr>
              <a:t>384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（移动站）。</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包括</a:t>
            </a:r>
            <a:r>
              <a:rPr lang="zh-CN" altLang="en-US" b="1" dirty="0">
                <a:solidFill>
                  <a:srgbClr val="0000CC"/>
                </a:solidFill>
                <a:latin typeface="微软雅黑" pitchFamily="34" charset="-122"/>
                <a:ea typeface="微软雅黑" pitchFamily="34" charset="-122"/>
              </a:rPr>
              <a:t>中国通信标准化协会 </a:t>
            </a:r>
            <a:r>
              <a:rPr lang="en-US" altLang="zh-CN" b="1" dirty="0">
                <a:solidFill>
                  <a:srgbClr val="0000CC"/>
                </a:solidFill>
                <a:latin typeface="微软雅黑" pitchFamily="34" charset="-122"/>
                <a:ea typeface="微软雅黑" pitchFamily="34" charset="-122"/>
              </a:rPr>
              <a:t>CCSA </a:t>
            </a:r>
            <a:r>
              <a:rPr lang="en-US" altLang="zh-CN" b="1" dirty="0">
                <a:latin typeface="微软雅黑" pitchFamily="34" charset="-122"/>
                <a:ea typeface="微软雅黑" pitchFamily="34" charset="-122"/>
              </a:rPr>
              <a:t>(China Communications Standards Association)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7 </a:t>
            </a:r>
            <a:r>
              <a:rPr lang="zh-CN" altLang="en-US" b="1" dirty="0">
                <a:latin typeface="微软雅黑" pitchFamily="34" charset="-122"/>
                <a:ea typeface="微软雅黑" pitchFamily="34" charset="-122"/>
              </a:rPr>
              <a:t>个组织成立了</a:t>
            </a:r>
            <a:r>
              <a:rPr lang="zh-CN" altLang="en-US" b="1" dirty="0">
                <a:solidFill>
                  <a:srgbClr val="0000CC"/>
                </a:solidFill>
                <a:latin typeface="微软雅黑" pitchFamily="34" charset="-122"/>
                <a:ea typeface="微软雅黑" pitchFamily="34" charset="-122"/>
              </a:rPr>
              <a:t>第三代移动通信合作伙伴计划 </a:t>
            </a:r>
            <a:r>
              <a:rPr lang="en-US" altLang="zh-CN" b="1" dirty="0">
                <a:solidFill>
                  <a:srgbClr val="0000CC"/>
                </a:solidFill>
                <a:latin typeface="微软雅黑" pitchFamily="34" charset="-122"/>
                <a:ea typeface="微软雅黑" pitchFamily="34" charset="-122"/>
              </a:rPr>
              <a:t>3GPP</a:t>
            </a:r>
            <a:r>
              <a:rPr lang="en-US" altLang="zh-CN" b="1" dirty="0">
                <a:latin typeface="微软雅黑" pitchFamily="34" charset="-122"/>
                <a:ea typeface="微软雅黑" pitchFamily="34" charset="-122"/>
              </a:rPr>
              <a:t> (3rd Generation Partnership Project )</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a:t>
            </a:r>
            <a:r>
              <a:rPr lang="zh-CN" altLang="en-US" b="1" dirty="0">
                <a:solidFill>
                  <a:srgbClr val="C00000"/>
                </a:solidFill>
                <a:latin typeface="微软雅黑" pitchFamily="34" charset="-122"/>
                <a:ea typeface="微软雅黑" pitchFamily="34" charset="-122"/>
              </a:rPr>
              <a:t>制订的 </a:t>
            </a:r>
            <a:r>
              <a:rPr lang="en-US" altLang="zh-CN" b="1" dirty="0">
                <a:solidFill>
                  <a:srgbClr val="C00000"/>
                </a:solidFill>
                <a:latin typeface="微软雅黑" pitchFamily="34" charset="-122"/>
                <a:ea typeface="微软雅黑" pitchFamily="34" charset="-122"/>
              </a:rPr>
              <a:t>3G </a:t>
            </a:r>
            <a:r>
              <a:rPr lang="zh-CN" altLang="en-US" b="1" dirty="0">
                <a:solidFill>
                  <a:srgbClr val="C00000"/>
                </a:solidFill>
                <a:latin typeface="微软雅黑" pitchFamily="34" charset="-122"/>
                <a:ea typeface="微软雅黑" pitchFamily="34" charset="-122"/>
              </a:rPr>
              <a:t>标准：</a:t>
            </a:r>
            <a:r>
              <a:rPr lang="zh-CN" altLang="en-US" b="1" dirty="0">
                <a:latin typeface="微软雅黑" pitchFamily="34" charset="-122"/>
                <a:ea typeface="微软雅黑" pitchFamily="34" charset="-122"/>
              </a:rPr>
              <a:t>通用移动通信系统 </a:t>
            </a:r>
            <a:r>
              <a:rPr lang="en-US" altLang="zh-CN" b="1" dirty="0">
                <a:latin typeface="微软雅黑" pitchFamily="34" charset="-122"/>
                <a:ea typeface="微软雅黑" pitchFamily="34" charset="-122"/>
              </a:rPr>
              <a:t>UMTS (Universal Mobile Telecommunications System)</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R99</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下行和上行的数据率都要超过 </a:t>
            </a:r>
            <a:r>
              <a:rPr lang="en-US" altLang="zh-CN" b="1" dirty="0">
                <a:latin typeface="微软雅黑" pitchFamily="34" charset="-122"/>
                <a:ea typeface="微软雅黑" pitchFamily="34" charset="-122"/>
              </a:rPr>
              <a:t>384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685494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10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引入了无线接入网概念：</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通用移动通信系统陆地无线接入网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UTRAN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UMTS Terrestrial Radio Access Network)</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 ，由多个无线网络系统组成。</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8" imgW="8839200" imgH="3481388" progId="">
                  <p:embed/>
                </p:oleObj>
              </mc:Choice>
              <mc:Fallback>
                <p:oleObj name="Microsoft ClipArt Gallery" r:id="rId8" imgW="8839200" imgH="3481388" progId="">
                  <p:embed/>
                  <p:pic>
                    <p:nvPicPr>
                      <p:cNvPr id="0" name="Picture 10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10" imgW="8839200" imgH="3481388" progId="">
                  <p:embed/>
                </p:oleObj>
              </mc:Choice>
              <mc:Fallback>
                <p:oleObj name="Microsoft ClipArt Gallery" r:id="rId10" imgW="8839200" imgH="3481388" progId="">
                  <p:embed/>
                  <p:pic>
                    <p:nvPicPr>
                      <p:cNvPr id="0" name="Picture 103"/>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94" name="组合 393"/>
          <p:cNvGrpSpPr/>
          <p:nvPr/>
        </p:nvGrpSpPr>
        <p:grpSpPr>
          <a:xfrm>
            <a:off x="1590809" y="2108503"/>
            <a:ext cx="1360280" cy="1404486"/>
            <a:chOff x="1573391" y="2099794"/>
            <a:chExt cx="1360280" cy="1404486"/>
          </a:xfrm>
        </p:grpSpPr>
        <p:sp>
          <p:nvSpPr>
            <p:cNvPr id="395" name="矩形 394"/>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6" name="矩形 395"/>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7" name="矩形 396"/>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8" name="矩形 397"/>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9" name="矩形 398"/>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400" name="矩形 399"/>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4811223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9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无线网络控制器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RNC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(Radio Network Controller)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连接到的蜂窝话音网络；通过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连接到分组交换的互联网。</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8" imgW="8839200" imgH="3481388" progId="">
                  <p:embed/>
                </p:oleObj>
              </mc:Choice>
              <mc:Fallback>
                <p:oleObj name="Microsoft ClipArt Gallery" r:id="rId8" imgW="8839200" imgH="3481388" progId="">
                  <p:embed/>
                  <p:pic>
                    <p:nvPicPr>
                      <p:cNvPr id="0" name="Picture 9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10" imgW="8839200" imgH="3481388" progId="">
                  <p:embed/>
                </p:oleObj>
              </mc:Choice>
              <mc:Fallback>
                <p:oleObj name="Microsoft ClipArt Gallery" r:id="rId10" imgW="8839200" imgH="3481388" progId="">
                  <p:embed/>
                  <p:pic>
                    <p:nvPicPr>
                      <p:cNvPr id="0" name="Picture 9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sp>
        <p:nvSpPr>
          <p:cNvPr id="376" name="矩形 375"/>
          <p:cNvSpPr/>
          <p:nvPr/>
        </p:nvSpPr>
        <p:spPr>
          <a:xfrm>
            <a:off x="2488545" y="2945450"/>
            <a:ext cx="401072" cy="261610"/>
          </a:xfrm>
          <a:prstGeom prst="rect">
            <a:avLst/>
          </a:prstGeom>
        </p:spPr>
        <p:txBody>
          <a:bodyPr wrap="none">
            <a:spAutoFit/>
          </a:bodyPr>
          <a:lstStyle/>
          <a:p>
            <a:r>
              <a:rPr lang="en-US" altLang="zh-CN" sz="1050" b="1" kern="500" dirty="0">
                <a:latin typeface="微软雅黑" panose="020B0503020204020204" pitchFamily="34" charset="-122"/>
                <a:ea typeface="微软雅黑" panose="020B0503020204020204" pitchFamily="34" charset="-122"/>
              </a:rPr>
              <a:t>NB</a:t>
            </a:r>
            <a:endParaRPr lang="zh-CN" altLang="en-US" sz="1050" b="1" dirty="0">
              <a:latin typeface="微软雅黑" panose="020B0503020204020204" pitchFamily="34" charset="-122"/>
              <a:ea typeface="微软雅黑" panose="020B0503020204020204" pitchFamily="34" charset="-122"/>
            </a:endParaRPr>
          </a:p>
        </p:txBody>
      </p:sp>
      <p:grpSp>
        <p:nvGrpSpPr>
          <p:cNvPr id="3" name="组合 2"/>
          <p:cNvGrpSpPr/>
          <p:nvPr/>
        </p:nvGrpSpPr>
        <p:grpSpPr>
          <a:xfrm>
            <a:off x="1590809" y="2108503"/>
            <a:ext cx="1360280" cy="1404486"/>
            <a:chOff x="1573391" y="2099794"/>
            <a:chExt cx="1360280" cy="1404486"/>
          </a:xfrm>
        </p:grpSpPr>
        <p:sp>
          <p:nvSpPr>
            <p:cNvPr id="2" name="矩形 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2" name="矩形 371"/>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7798482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10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设备同时支持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2G/3G</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功能。从互联网无法看到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以内的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节点的移动性，</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UMTS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外部都把这些隐藏了。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8" imgW="8839200" imgH="3481388" progId="">
                  <p:embed/>
                </p:oleObj>
              </mc:Choice>
              <mc:Fallback>
                <p:oleObj name="Microsoft ClipArt Gallery" r:id="rId8" imgW="8839200" imgH="3481388" progId="">
                  <p:embed/>
                  <p:pic>
                    <p:nvPicPr>
                      <p:cNvPr id="0" name="Picture 10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10" imgW="8839200" imgH="3481388" progId="">
                  <p:embed/>
                </p:oleObj>
              </mc:Choice>
              <mc:Fallback>
                <p:oleObj name="Microsoft ClipArt Gallery" r:id="rId10" imgW="8839200" imgH="3481388" progId="">
                  <p:embed/>
                  <p:pic>
                    <p:nvPicPr>
                      <p:cNvPr id="0" name="Picture 10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71" name="组合 370"/>
          <p:cNvGrpSpPr/>
          <p:nvPr/>
        </p:nvGrpSpPr>
        <p:grpSpPr>
          <a:xfrm>
            <a:off x="1590809" y="2108503"/>
            <a:ext cx="1360280" cy="1404486"/>
            <a:chOff x="1573391" y="2099794"/>
            <a:chExt cx="1360280" cy="1404486"/>
          </a:xfrm>
        </p:grpSpPr>
        <p:sp>
          <p:nvSpPr>
            <p:cNvPr id="372" name="矩形 37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6" name="矩形 375"/>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8339312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65934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2G GSM </a:t>
            </a:r>
            <a:r>
              <a:rPr lang="zh-CN" altLang="en-US" sz="2000" b="1" dirty="0">
                <a:latin typeface="微软雅黑" pitchFamily="34" charset="-122"/>
                <a:ea typeface="微软雅黑" pitchFamily="34" charset="-122"/>
              </a:rPr>
              <a:t>的主要区别：集中在 </a:t>
            </a:r>
            <a:r>
              <a:rPr lang="en-US" altLang="zh-CN" sz="2000" b="1" dirty="0">
                <a:latin typeface="微软雅黑" pitchFamily="34" charset="-122"/>
                <a:ea typeface="微软雅黑" pitchFamily="34" charset="-122"/>
              </a:rPr>
              <a:t>UTRAN </a:t>
            </a:r>
            <a:r>
              <a:rPr lang="zh-CN" altLang="en-US" sz="2000" b="1" dirty="0">
                <a:latin typeface="微软雅黑" pitchFamily="34" charset="-122"/>
                <a:ea typeface="微软雅黑" pitchFamily="34" charset="-122"/>
              </a:rPr>
              <a:t>侧</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222801"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空口：</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直接序列宽带码分多址 </a:t>
            </a:r>
            <a:r>
              <a:rPr lang="en-US" altLang="zh-CN" b="1" dirty="0">
                <a:solidFill>
                  <a:srgbClr val="C00000"/>
                </a:solidFill>
                <a:latin typeface="微软雅黑" pitchFamily="34" charset="-122"/>
                <a:ea typeface="微软雅黑" pitchFamily="34" charset="-122"/>
              </a:rPr>
              <a:t>DS-WCDMA </a:t>
            </a:r>
            <a:r>
              <a:rPr lang="en-US" altLang="zh-CN" b="1" dirty="0">
                <a:latin typeface="微软雅黑" pitchFamily="34" charset="-122"/>
                <a:ea typeface="微软雅黑" pitchFamily="34" charset="-122"/>
              </a:rPr>
              <a:t>(Direct Sequence Wideband CDMA)</a:t>
            </a:r>
            <a:r>
              <a:rPr lang="zh-CN" altLang="en-US" b="1" dirty="0">
                <a:latin typeface="微软雅黑" pitchFamily="34" charset="-122"/>
                <a:ea typeface="微软雅黑" pitchFamily="34" charset="-122"/>
              </a:rPr>
              <a:t>，或</a:t>
            </a:r>
            <a:r>
              <a:rPr lang="zh-CN" altLang="en-US" b="1" dirty="0">
                <a:solidFill>
                  <a:srgbClr val="C00000"/>
                </a:solidFill>
                <a:latin typeface="微软雅黑" pitchFamily="34" charset="-122"/>
                <a:ea typeface="微软雅黑" pitchFamily="34" charset="-122"/>
              </a:rPr>
              <a:t>时分同步码分多址 </a:t>
            </a:r>
            <a:r>
              <a:rPr lang="en-US" altLang="zh-CN" b="1" dirty="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Code Division Multiple Access)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每个移动用户使用的带宽比 </a:t>
            </a:r>
            <a:r>
              <a:rPr lang="en-US" altLang="zh-CN" b="1" dirty="0">
                <a:latin typeface="微软雅黑" pitchFamily="34" charset="-122"/>
                <a:ea typeface="微软雅黑" pitchFamily="34" charset="-122"/>
              </a:rPr>
              <a:t>GSM </a:t>
            </a:r>
            <a:r>
              <a:rPr lang="zh-CN" altLang="en-US" b="1" dirty="0">
                <a:latin typeface="微软雅黑" pitchFamily="34" charset="-122"/>
                <a:ea typeface="微软雅黑" pitchFamily="34" charset="-122"/>
              </a:rPr>
              <a:t>增大很多，能以更高的数据率享用多种移动宽带多媒体业务。</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3G UMTS</a:t>
            </a:r>
            <a:r>
              <a:rPr lang="zh-CN" altLang="en-US" sz="2000" b="1" dirty="0">
                <a:latin typeface="微软雅黑" pitchFamily="34" charset="-122"/>
                <a:ea typeface="微软雅黑" pitchFamily="34" charset="-122"/>
              </a:rPr>
              <a:t>也不断提高数据率。例如：</a:t>
            </a:r>
            <a:endParaRPr lang="en-US" altLang="zh-CN" sz="20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WCDMA </a:t>
            </a:r>
            <a:r>
              <a:rPr lang="zh-CN" altLang="en-US" b="1" dirty="0">
                <a:latin typeface="微软雅黑" pitchFamily="34" charset="-122"/>
                <a:ea typeface="微软雅黑" pitchFamily="34" charset="-122"/>
              </a:rPr>
              <a:t>引入</a:t>
            </a:r>
            <a:r>
              <a:rPr lang="zh-CN" altLang="en-US" b="1" dirty="0">
                <a:solidFill>
                  <a:srgbClr val="C00000"/>
                </a:solidFill>
                <a:latin typeface="微软雅黑" pitchFamily="34" charset="-122"/>
                <a:ea typeface="微软雅黑" pitchFamily="34" charset="-122"/>
              </a:rPr>
              <a:t>高速分组接入增强型版本 </a:t>
            </a:r>
            <a:r>
              <a:rPr lang="en-US" altLang="zh-CN" b="1" dirty="0">
                <a:solidFill>
                  <a:srgbClr val="C00000"/>
                </a:solidFill>
                <a:latin typeface="微软雅黑" pitchFamily="34" charset="-122"/>
                <a:ea typeface="微软雅黑" pitchFamily="34" charset="-122"/>
              </a:rPr>
              <a:t>HSPA+ </a:t>
            </a:r>
            <a:r>
              <a:rPr lang="en-US" altLang="zh-CN" b="1" dirty="0">
                <a:latin typeface="微软雅黑" pitchFamily="34" charset="-122"/>
                <a:ea typeface="微软雅黑" pitchFamily="34" charset="-122"/>
              </a:rPr>
              <a:t>(High Speed Packet Access+) </a:t>
            </a:r>
            <a:r>
              <a:rPr lang="zh-CN" altLang="en-US" b="1" dirty="0">
                <a:latin typeface="微软雅黑" pitchFamily="34" charset="-122"/>
                <a:ea typeface="微软雅黑" pitchFamily="34" charset="-122"/>
              </a:rPr>
              <a:t>，下行数据率可达到 </a:t>
            </a:r>
            <a:r>
              <a:rPr lang="en-US" altLang="zh-CN" b="1" dirty="0">
                <a:latin typeface="微软雅黑" pitchFamily="34" charset="-122"/>
                <a:ea typeface="微软雅黑" pitchFamily="34" charset="-122"/>
              </a:rPr>
              <a:t>21 Mbit/s</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5 MHz</a:t>
            </a:r>
            <a:r>
              <a:rPr lang="zh-CN" altLang="en-US" b="1" dirty="0">
                <a:latin typeface="微软雅黑" pitchFamily="34" charset="-122"/>
                <a:ea typeface="微软雅黑" pitchFamily="34" charset="-122"/>
              </a:rPr>
              <a:t>带宽），大大 超过了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最初设定的指标。</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8220543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76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我国使用三种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国际标准</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60584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组织中由欧洲提出的</a:t>
            </a:r>
            <a:r>
              <a:rPr lang="zh-CN" altLang="en-US" b="1" dirty="0">
                <a:solidFill>
                  <a:srgbClr val="C00000"/>
                </a:solidFill>
                <a:latin typeface="微软雅黑" pitchFamily="34" charset="-122"/>
                <a:ea typeface="微软雅黑" pitchFamily="34" charset="-122"/>
              </a:rPr>
              <a:t>宽带码分多址 </a:t>
            </a:r>
            <a:r>
              <a:rPr lang="en-US" altLang="zh-CN" b="1" dirty="0">
                <a:solidFill>
                  <a:srgbClr val="C00000"/>
                </a:solidFill>
                <a:latin typeface="微软雅黑" pitchFamily="34" charset="-122"/>
                <a:ea typeface="微软雅黑" pitchFamily="34" charset="-122"/>
              </a:rPr>
              <a:t>WCDMA </a:t>
            </a:r>
            <a:r>
              <a:rPr lang="en-US" altLang="zh-CN" b="1" dirty="0">
                <a:latin typeface="微软雅黑" pitchFamily="34" charset="-122"/>
                <a:ea typeface="微软雅黑" pitchFamily="34" charset="-122"/>
              </a:rPr>
              <a:t>(Wideband CDMA)</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UMTS</a:t>
            </a:r>
            <a:r>
              <a:rPr lang="zh-CN" altLang="en-US" b="1" dirty="0">
                <a:latin typeface="微软雅黑" pitchFamily="34" charset="-122"/>
                <a:ea typeface="微软雅黑" pitchFamily="34" charset="-122"/>
              </a:rPr>
              <a:t>的标准，中国联通使用）；</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组织中由美国提出的 </a:t>
            </a:r>
            <a:r>
              <a:rPr lang="en-US" altLang="zh-CN" b="1" dirty="0">
                <a:solidFill>
                  <a:srgbClr val="C00000"/>
                </a:solidFill>
                <a:latin typeface="微软雅黑" pitchFamily="34" charset="-122"/>
                <a:ea typeface="微软雅黑" pitchFamily="34" charset="-122"/>
              </a:rPr>
              <a:t>CDMA2000</a:t>
            </a:r>
            <a:r>
              <a:rPr lang="zh-CN" altLang="en-US" b="1" dirty="0">
                <a:latin typeface="微软雅黑" pitchFamily="34" charset="-122"/>
                <a:ea typeface="微软雅黑" pitchFamily="34" charset="-122"/>
              </a:rPr>
              <a:t>（中国电信使用）；</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组织中主要由中国提出的</a:t>
            </a:r>
            <a:r>
              <a:rPr lang="zh-CN" altLang="en-US" b="1" dirty="0">
                <a:solidFill>
                  <a:srgbClr val="C00000"/>
                </a:solidFill>
                <a:latin typeface="微软雅黑" pitchFamily="34" charset="-122"/>
                <a:ea typeface="微软雅黑" pitchFamily="34" charset="-122"/>
              </a:rPr>
              <a:t>时分同步码分多址 </a:t>
            </a:r>
            <a:r>
              <a:rPr lang="en-US" altLang="zh-CN" b="1" dirty="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CDMA)</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UMTS</a:t>
            </a:r>
            <a:r>
              <a:rPr lang="zh-CN" altLang="en-US" b="1" dirty="0">
                <a:latin typeface="微软雅黑" pitchFamily="34" charset="-122"/>
                <a:ea typeface="微软雅黑" pitchFamily="34" charset="-122"/>
              </a:rPr>
              <a:t>标准，中国移动使用）。</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TD-SCDMA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WCDMA </a:t>
            </a:r>
            <a:r>
              <a:rPr lang="zh-CN" altLang="en-US" b="1" dirty="0">
                <a:latin typeface="微软雅黑" pitchFamily="34" charset="-122"/>
                <a:ea typeface="微软雅黑" pitchFamily="34" charset="-122"/>
              </a:rPr>
              <a:t>仅在接入网空口部分有差异。</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CDMA2000 </a:t>
            </a:r>
            <a:r>
              <a:rPr lang="zh-CN" altLang="en-US" b="1" dirty="0">
                <a:latin typeface="微软雅黑" pitchFamily="34" charset="-122"/>
                <a:ea typeface="微软雅黑" pitchFamily="34" charset="-122"/>
              </a:rPr>
              <a:t>的核心网和接入网与 </a:t>
            </a:r>
            <a:r>
              <a:rPr lang="en-US" altLang="zh-CN" b="1" dirty="0">
                <a:latin typeface="微软雅黑" pitchFamily="34" charset="-122"/>
                <a:ea typeface="微软雅黑" pitchFamily="34" charset="-122"/>
              </a:rPr>
              <a:t>TD-SCDMA/WCDMA </a:t>
            </a:r>
            <a:r>
              <a:rPr lang="zh-CN" altLang="en-US" b="1" dirty="0">
                <a:latin typeface="微软雅黑" pitchFamily="34" charset="-122"/>
                <a:ea typeface="微软雅黑" pitchFamily="34" charset="-122"/>
              </a:rPr>
              <a:t>都不同。</a:t>
            </a:r>
          </a:p>
        </p:txBody>
      </p:sp>
      <p:grpSp>
        <p:nvGrpSpPr>
          <p:cNvPr id="5" name="组合 4"/>
          <p:cNvGrpSpPr/>
          <p:nvPr/>
        </p:nvGrpSpPr>
        <p:grpSpPr>
          <a:xfrm>
            <a:off x="1342828" y="3487305"/>
            <a:ext cx="6616808" cy="1149475"/>
            <a:chOff x="502922" y="2655525"/>
            <a:chExt cx="7958219" cy="1261156"/>
          </a:xfrm>
        </p:grpSpPr>
        <p:sp>
          <p:nvSpPr>
            <p:cNvPr id="6" name="对角圆角矩形 5"/>
            <p:cNvSpPr/>
            <p:nvPr/>
          </p:nvSpPr>
          <p:spPr>
            <a:xfrm>
              <a:off x="502922" y="2655525"/>
              <a:ext cx="7958219" cy="126115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829484" y="2718745"/>
              <a:ext cx="7505966" cy="1114343"/>
            </a:xfrm>
            <a:prstGeom prst="rect">
              <a:avLst/>
            </a:prstGeom>
          </p:spPr>
          <p:txBody>
            <a:bodyPr wrap="square">
              <a:spAutoFit/>
            </a:bodyPr>
            <a:lstStyle/>
            <a:p>
              <a:pPr>
                <a:lnSpc>
                  <a:spcPts val="2400"/>
                </a:lnSpc>
              </a:pPr>
              <a:r>
                <a:rPr lang="en-US" altLang="zh-CN" b="1" dirty="0">
                  <a:solidFill>
                    <a:schemeClr val="bg1"/>
                  </a:solidFill>
                  <a:latin typeface="微软雅黑" pitchFamily="34" charset="-122"/>
                  <a:ea typeface="微软雅黑" pitchFamily="34" charset="-122"/>
                </a:rPr>
                <a:t>3G </a:t>
              </a:r>
              <a:r>
                <a:rPr lang="zh-CN" altLang="en-US" b="1" dirty="0">
                  <a:solidFill>
                    <a:schemeClr val="bg1"/>
                  </a:solidFill>
                  <a:latin typeface="微软雅黑" pitchFamily="34" charset="-122"/>
                  <a:ea typeface="微软雅黑" pitchFamily="34" charset="-122"/>
                </a:rPr>
                <a:t>蜂窝移动通信是以传输多媒体数据业务为主的通信系统，而且必须兼容 </a:t>
              </a:r>
              <a:r>
                <a:rPr lang="en-US" altLang="zh-CN" b="1" dirty="0">
                  <a:solidFill>
                    <a:schemeClr val="bg1"/>
                  </a:solidFill>
                  <a:latin typeface="微软雅黑" pitchFamily="34" charset="-122"/>
                  <a:ea typeface="微软雅黑" pitchFamily="34" charset="-122"/>
                </a:rPr>
                <a:t>2G </a:t>
              </a:r>
              <a:r>
                <a:rPr lang="zh-CN" altLang="en-US" b="1" dirty="0">
                  <a:solidFill>
                    <a:schemeClr val="bg1"/>
                  </a:solidFill>
                  <a:latin typeface="微软雅黑" pitchFamily="34" charset="-122"/>
                  <a:ea typeface="微软雅黑" pitchFamily="34" charset="-122"/>
                </a:rPr>
                <a:t>的功能（即能够通电话和发送短信），这就是所谓的</a:t>
              </a:r>
              <a:r>
                <a:rPr lang="zh-CN" altLang="en-US" b="1" dirty="0">
                  <a:solidFill>
                    <a:srgbClr val="FFFF00"/>
                  </a:solidFill>
                  <a:latin typeface="微软雅黑" pitchFamily="34" charset="-122"/>
                  <a:ea typeface="微软雅黑" pitchFamily="34" charset="-122"/>
                </a:rPr>
                <a:t>向后兼容。</a:t>
              </a:r>
            </a:p>
          </p:txBody>
        </p:sp>
      </p:grpSp>
    </p:spTree>
    <p:extLst>
      <p:ext uri="{BB962C8B-B14F-4D97-AF65-F5344CB8AC3E}">
        <p14:creationId xmlns:p14="http://schemas.microsoft.com/office/powerpoint/2010/main" val="9391815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1"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5. </a:t>
            </a:r>
            <a:r>
              <a:rPr lang="en-US" altLang="zh-CN" sz="2000" b="1" dirty="0">
                <a:highlight>
                  <a:srgbClr val="FFFF00"/>
                </a:highlight>
                <a:latin typeface="微软雅黑" pitchFamily="34" charset="-122"/>
                <a:ea typeface="微软雅黑" pitchFamily="34" charset="-122"/>
              </a:rPr>
              <a:t>4G </a:t>
            </a:r>
            <a:r>
              <a:rPr lang="zh-CN" altLang="en-US" sz="2000" b="1" dirty="0">
                <a:highlight>
                  <a:srgbClr val="FFFF00"/>
                </a:highlight>
                <a:latin typeface="微软雅黑" pitchFamily="34" charset="-122"/>
                <a:ea typeface="微软雅黑" pitchFamily="34" charset="-122"/>
              </a:rPr>
              <a:t>蜂窝移动通信系统</a:t>
            </a:r>
          </a:p>
        </p:txBody>
      </p:sp>
      <p:sp>
        <p:nvSpPr>
          <p:cNvPr id="7" name="Rectangle 46"/>
          <p:cNvSpPr>
            <a:spLocks noChangeArrowheads="1"/>
          </p:cNvSpPr>
          <p:nvPr/>
        </p:nvSpPr>
        <p:spPr bwMode="auto">
          <a:xfrm>
            <a:off x="511895" y="977262"/>
            <a:ext cx="7874459" cy="32891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solidFill>
                  <a:srgbClr val="0000FF"/>
                </a:solidFill>
                <a:latin typeface="微软雅黑" pitchFamily="34" charset="-122"/>
                <a:ea typeface="微软雅黑" pitchFamily="34" charset="-122"/>
              </a:rPr>
              <a:t>第四代</a:t>
            </a:r>
            <a:r>
              <a:rPr lang="zh-CN" altLang="en-US" b="1" dirty="0">
                <a:solidFill>
                  <a:srgbClr val="0000CC"/>
                </a:solidFill>
                <a:latin typeface="微软雅黑" pitchFamily="34" charset="-122"/>
                <a:ea typeface="微软雅黑" pitchFamily="34" charset="-122"/>
              </a:rPr>
              <a:t> </a:t>
            </a:r>
            <a:r>
              <a:rPr lang="en-US" altLang="zh-CN" b="1" dirty="0">
                <a:latin typeface="微软雅黑" pitchFamily="34" charset="-122"/>
                <a:ea typeface="微软雅黑" pitchFamily="34" charset="-122"/>
              </a:rPr>
              <a:t>(4G) </a:t>
            </a:r>
            <a:r>
              <a:rPr lang="zh-CN" altLang="en-US" b="1" dirty="0">
                <a:latin typeface="微软雅黑" pitchFamily="34" charset="-122"/>
                <a:ea typeface="微软雅黑" pitchFamily="34" charset="-122"/>
              </a:rPr>
              <a:t>蜂窝移动通信系统</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2008 </a:t>
            </a:r>
            <a:r>
              <a:rPr lang="zh-CN" altLang="en-US" b="1" dirty="0">
                <a:latin typeface="微软雅黑" pitchFamily="34" charset="-122"/>
                <a:ea typeface="微软雅黑" pitchFamily="34" charset="-122"/>
              </a:rPr>
              <a:t>年，名称定为高级国际移动通信 </a:t>
            </a:r>
            <a:r>
              <a:rPr lang="en-US" altLang="zh-CN" b="1" dirty="0">
                <a:solidFill>
                  <a:srgbClr val="C00000"/>
                </a:solidFill>
                <a:latin typeface="微软雅黑" pitchFamily="34" charset="-122"/>
                <a:ea typeface="微软雅黑" pitchFamily="34" charset="-122"/>
              </a:rPr>
              <a:t>IMT-Advanced</a:t>
            </a:r>
            <a:r>
              <a:rPr lang="en-US" altLang="zh-CN" b="1" dirty="0">
                <a:latin typeface="微软雅黑" pitchFamily="34" charset="-122"/>
                <a:ea typeface="微软雅黑" pitchFamily="34" charset="-122"/>
              </a:rPr>
              <a:t> (International Mobile Telecommunications-Advanced)</a:t>
            </a:r>
            <a:r>
              <a:rPr lang="zh-CN" altLang="en-US" b="1" dirty="0">
                <a:latin typeface="微软雅黑" pitchFamily="34" charset="-122"/>
                <a:ea typeface="微软雅黑" pitchFamily="34" charset="-122"/>
              </a:rPr>
              <a:t> 。</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IMT-Advanced </a:t>
            </a:r>
            <a:r>
              <a:rPr lang="zh-CN" altLang="en-US" b="1" dirty="0">
                <a:latin typeface="微软雅黑" pitchFamily="34" charset="-122"/>
                <a:ea typeface="微软雅黑" pitchFamily="34" charset="-122"/>
              </a:rPr>
              <a:t>的一个最重要的特点：</a:t>
            </a:r>
            <a:r>
              <a:rPr lang="zh-CN" altLang="en-US" b="1" dirty="0">
                <a:solidFill>
                  <a:srgbClr val="0000CC"/>
                </a:solidFill>
                <a:highlight>
                  <a:srgbClr val="FFFF00"/>
                </a:highlight>
                <a:latin typeface="微软雅黑" pitchFamily="34" charset="-122"/>
                <a:ea typeface="微软雅黑" pitchFamily="34" charset="-122"/>
              </a:rPr>
              <a:t>取消了电路交换，</a:t>
            </a:r>
            <a:r>
              <a:rPr lang="zh-CN" altLang="en-US" b="1" dirty="0">
                <a:highlight>
                  <a:srgbClr val="FFFF00"/>
                </a:highlight>
                <a:latin typeface="微软雅黑" pitchFamily="34" charset="-122"/>
                <a:ea typeface="微软雅黑" pitchFamily="34" charset="-122"/>
              </a:rPr>
              <a:t>无论传送数据还是话音，全部使用分组交换技术，或称为</a:t>
            </a:r>
            <a:r>
              <a:rPr lang="zh-CN" altLang="en-US" b="1" dirty="0">
                <a:solidFill>
                  <a:srgbClr val="C00000"/>
                </a:solidFill>
                <a:highlight>
                  <a:srgbClr val="FFFF00"/>
                </a:highlight>
                <a:latin typeface="微软雅黑" pitchFamily="34" charset="-122"/>
                <a:ea typeface="微软雅黑" pitchFamily="34" charset="-122"/>
              </a:rPr>
              <a:t>全网 </a:t>
            </a:r>
            <a:r>
              <a:rPr lang="en-US" altLang="zh-CN" b="1" dirty="0">
                <a:solidFill>
                  <a:srgbClr val="C00000"/>
                </a:solidFill>
                <a:highlight>
                  <a:srgbClr val="FFFF00"/>
                </a:highlight>
                <a:latin typeface="微软雅黑" pitchFamily="34" charset="-122"/>
                <a:ea typeface="微软雅黑" pitchFamily="34" charset="-122"/>
              </a:rPr>
              <a:t>IP </a:t>
            </a:r>
            <a:r>
              <a:rPr lang="zh-CN" altLang="en-US" b="1" dirty="0">
                <a:solidFill>
                  <a:srgbClr val="C00000"/>
                </a:solidFill>
                <a:highlight>
                  <a:srgbClr val="FFFF00"/>
                </a:highlight>
                <a:latin typeface="微软雅黑" pitchFamily="34" charset="-122"/>
                <a:ea typeface="微软雅黑" pitchFamily="34" charset="-122"/>
              </a:rPr>
              <a:t>化</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IMT-Advanced </a:t>
            </a:r>
            <a:r>
              <a:rPr lang="zh-CN" altLang="en-US" b="1" dirty="0">
                <a:latin typeface="微软雅黑" pitchFamily="34" charset="-122"/>
                <a:ea typeface="微软雅黑" pitchFamily="34" charset="-122"/>
              </a:rPr>
              <a:t>目标峰值数据率：固定的和低速移动通信时应达到 </a:t>
            </a:r>
            <a:r>
              <a:rPr lang="en-US" altLang="zh-CN" b="1" dirty="0">
                <a:latin typeface="微软雅黑" pitchFamily="34" charset="-122"/>
                <a:ea typeface="微软雅黑" pitchFamily="34" charset="-122"/>
              </a:rPr>
              <a:t>1 </a:t>
            </a:r>
            <a:r>
              <a:rPr lang="en-US" altLang="zh-CN" b="1" dirty="0" err="1">
                <a:latin typeface="微软雅黑" pitchFamily="34" charset="-122"/>
                <a:ea typeface="微软雅黑" pitchFamily="34" charset="-122"/>
              </a:rPr>
              <a:t>Gbit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，在高速移动通信时（如在火车。汽车上）应达到 </a:t>
            </a:r>
            <a:r>
              <a:rPr lang="en-US" altLang="zh-CN" b="1" dirty="0">
                <a:latin typeface="微软雅黑" pitchFamily="34" charset="-122"/>
                <a:ea typeface="微软雅黑" pitchFamily="34" charset="-122"/>
              </a:rPr>
              <a:t>100 Mbit/s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5G-</a:t>
            </a:r>
            <a:r>
              <a:rPr lang="zh-CN" altLang="en-US" b="1" dirty="0">
                <a:latin typeface="微软雅黑" pitchFamily="34" charset="-122"/>
                <a:ea typeface="微软雅黑" pitchFamily="34" charset="-122"/>
              </a:rPr>
              <a:t>容量更大、延迟更低、为工业物联网提供快速响应基础</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72856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902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长期演进 </a:t>
            </a:r>
            <a:r>
              <a:rPr lang="en-US" altLang="zh-CN" sz="2000" b="1" dirty="0">
                <a:latin typeface="微软雅黑" pitchFamily="34" charset="-122"/>
                <a:ea typeface="微软雅黑" pitchFamily="34" charset="-122"/>
              </a:rPr>
              <a:t>LTE (Long-Term Evolution)</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标准比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的标准高出很多。在当时的技术条件下，很难实现。</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LTE </a:t>
            </a:r>
            <a:r>
              <a:rPr lang="zh-CN" altLang="en-US" sz="2000" b="1" dirty="0">
                <a:solidFill>
                  <a:srgbClr val="C00000"/>
                </a:solidFill>
                <a:latin typeface="微软雅黑" pitchFamily="34" charset="-122"/>
                <a:ea typeface="微软雅黑" pitchFamily="34" charset="-122"/>
              </a:rPr>
              <a:t>标准：</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3GPP R8 </a:t>
            </a:r>
            <a:r>
              <a:rPr lang="zh-CN" altLang="en-US" sz="2000" b="1" dirty="0">
                <a:latin typeface="微软雅黑" pitchFamily="34" charset="-122"/>
                <a:ea typeface="微软雅黑" pitchFamily="34" charset="-122"/>
              </a:rPr>
              <a:t>版本。</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显示为</a:t>
            </a:r>
            <a:r>
              <a:rPr lang="en-US" altLang="zh-CN" sz="2000" b="1" dirty="0">
                <a:latin typeface="微软雅黑" pitchFamily="34" charset="-122"/>
                <a:ea typeface="微软雅黑" pitchFamily="34" charset="-122"/>
              </a:rPr>
              <a:t>“4G”</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但不是真正的 </a:t>
            </a:r>
            <a:r>
              <a:rPr lang="en-US" altLang="zh-CN" sz="2000" b="1" dirty="0">
                <a:solidFill>
                  <a:srgbClr val="C00000"/>
                </a:solidFill>
                <a:latin typeface="微软雅黑" pitchFamily="34" charset="-122"/>
                <a:ea typeface="微软雅黑" pitchFamily="34" charset="-122"/>
              </a:rPr>
              <a:t>4G</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俗称为 </a:t>
            </a:r>
            <a:r>
              <a:rPr lang="en-US" altLang="zh-CN" sz="2000" b="1" dirty="0">
                <a:solidFill>
                  <a:srgbClr val="0000CC"/>
                </a:solidFill>
                <a:latin typeface="微软雅黑" pitchFamily="34" charset="-122"/>
                <a:ea typeface="微软雅黑" pitchFamily="34" charset="-122"/>
              </a:rPr>
              <a:t>3.9G</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或 </a:t>
            </a:r>
            <a:r>
              <a:rPr lang="en-US" altLang="zh-CN" sz="2000" b="1" dirty="0">
                <a:solidFill>
                  <a:srgbClr val="0000CC"/>
                </a:solidFill>
                <a:latin typeface="微软雅黑" pitchFamily="34" charset="-122"/>
                <a:ea typeface="微软雅黑" pitchFamily="34" charset="-122"/>
              </a:rPr>
              <a:t>3.95G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信道带宽为 </a:t>
            </a:r>
            <a:r>
              <a:rPr lang="en-US" altLang="zh-CN" sz="2000" b="1" dirty="0">
                <a:latin typeface="微软雅黑" pitchFamily="34" charset="-122"/>
                <a:ea typeface="微软雅黑" pitchFamily="34" charset="-122"/>
              </a:rPr>
              <a:t>20 MHz</a:t>
            </a:r>
            <a:r>
              <a:rPr lang="zh-CN" altLang="en-US" sz="2000" b="1" dirty="0">
                <a:latin typeface="微软雅黑" pitchFamily="34" charset="-122"/>
                <a:ea typeface="微软雅黑" pitchFamily="34" charset="-122"/>
              </a:rPr>
              <a:t>时，其下行和上行数据率应分别达到 </a:t>
            </a:r>
            <a:r>
              <a:rPr lang="en-US" altLang="zh-CN" sz="2000" b="1" dirty="0">
                <a:latin typeface="微软雅黑" pitchFamily="34" charset="-122"/>
                <a:ea typeface="微软雅黑" pitchFamily="34" charset="-122"/>
              </a:rPr>
              <a:t>100 Mbit/s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50 Mbit/s</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18335774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highlight>
                  <a:srgbClr val="FFFF00"/>
                </a:highlight>
                <a:latin typeface="微软雅黑" pitchFamily="34" charset="-122"/>
                <a:ea typeface="微软雅黑" pitchFamily="34" charset="-122"/>
              </a:rPr>
              <a:t>LTE </a:t>
            </a:r>
            <a:r>
              <a:rPr lang="zh-CN" altLang="en-US" sz="2000" b="1" dirty="0">
                <a:highlight>
                  <a:srgbClr val="FFFF00"/>
                </a:highlight>
                <a:latin typeface="微软雅黑" pitchFamily="34" charset="-122"/>
                <a:ea typeface="微软雅黑" pitchFamily="34" charset="-122"/>
              </a:rPr>
              <a:t>体系结构</a:t>
            </a:r>
            <a:endParaRPr lang="zh-CN" altLang="en-US" sz="2000" b="1" dirty="0">
              <a:solidFill>
                <a:srgbClr val="0000CC"/>
              </a:solidFill>
              <a:highlight>
                <a:srgbClr val="FFFF00"/>
              </a:highlight>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6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3" name="组合 2"/>
          <p:cNvGrpSpPr/>
          <p:nvPr/>
        </p:nvGrpSpPr>
        <p:grpSpPr>
          <a:xfrm>
            <a:off x="6782593" y="1090679"/>
            <a:ext cx="1491514" cy="732822"/>
            <a:chOff x="6691097" y="1239483"/>
            <a:chExt cx="1491514" cy="732822"/>
          </a:xfrm>
        </p:grpSpPr>
        <p:sp>
          <p:nvSpPr>
            <p:cNvPr id="123"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25"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26" name="直接连接符 125"/>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28"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29" name="直接连接符 128"/>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6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8" name="Text Box 546"/>
          <p:cNvSpPr txBox="1">
            <a:spLocks noChangeArrowheads="1"/>
          </p:cNvSpPr>
          <p:nvPr/>
        </p:nvSpPr>
        <p:spPr bwMode="auto">
          <a:xfrm>
            <a:off x="6025963" y="2116575"/>
            <a:ext cx="492443" cy="52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2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p>
        </p:txBody>
      </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844732" y="3450722"/>
            <a:ext cx="7754556"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由三大部分组成</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用户设备</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、演进的无线接入网</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(Evolved-UTRAN) </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和演进的分组核心网</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(Evolved Packet Core)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网络中不再保留电路交换。</a:t>
            </a:r>
            <a:r>
              <a:rPr lang="zh-CN" altLang="en-US" sz="1600" b="1" kern="500" dirty="0">
                <a:solidFill>
                  <a:srgbClr val="0000FF"/>
                </a:solidFill>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采用</a:t>
            </a:r>
            <a:r>
              <a:rPr lang="zh-CN" altLang="en-US" sz="1600" b="1" kern="500" dirty="0">
                <a:solidFill>
                  <a:srgbClr val="C00000"/>
                </a:solidFill>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solidFill>
                  <a:srgbClr val="C00000"/>
                </a:solidFill>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FF"/>
                </a:solidFill>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网络是 </a:t>
            </a:r>
            <a:r>
              <a:rPr lang="en-US" altLang="zh-CN" sz="1600" b="1" kern="500" dirty="0">
                <a:solidFill>
                  <a:srgbClr val="0000FF"/>
                </a:solidFill>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solidFill>
                  <a:srgbClr val="0000FF"/>
                </a:solidFill>
                <a:highlight>
                  <a:srgbClr val="FFFF00"/>
                </a:highlight>
                <a:latin typeface="微软雅黑" panose="020B0503020204020204" pitchFamily="34" charset="-122"/>
                <a:ea typeface="微软雅黑" panose="020B0503020204020204" pitchFamily="34" charset="-122"/>
                <a:cs typeface="Times New Roman" panose="02020603050405020304" pitchFamily="18" charset="0"/>
              </a:rPr>
              <a:t>网络结构中的一个重大变革</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37644732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6"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5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提高数据率的一些方法</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6" y="933717"/>
            <a:ext cx="807475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无线接入网的下行信道（</a:t>
            </a:r>
            <a:r>
              <a:rPr lang="en-US" altLang="zh-CN" b="1" dirty="0" err="1">
                <a:latin typeface="微软雅黑" pitchFamily="34" charset="-122"/>
                <a:ea typeface="微软雅黑" pitchFamily="34" charset="-122"/>
              </a:rPr>
              <a:t>eNB→UE</a:t>
            </a:r>
            <a:r>
              <a:rPr lang="zh-CN" altLang="en-US" b="1" dirty="0">
                <a:latin typeface="微软雅黑" pitchFamily="34" charset="-122"/>
                <a:ea typeface="微软雅黑" pitchFamily="34" charset="-122"/>
              </a:rPr>
              <a:t>）与上行信道（</a:t>
            </a:r>
            <a:r>
              <a:rPr lang="en-US" altLang="zh-CN" b="1" dirty="0" err="1">
                <a:latin typeface="微软雅黑" pitchFamily="34" charset="-122"/>
                <a:ea typeface="微软雅黑" pitchFamily="34" charset="-122"/>
              </a:rPr>
              <a:t>UE→eNB</a:t>
            </a:r>
            <a:r>
              <a:rPr lang="zh-CN" altLang="en-US" b="1" dirty="0">
                <a:latin typeface="微软雅黑" pitchFamily="34" charset="-122"/>
                <a:ea typeface="微软雅黑" pitchFamily="34" charset="-122"/>
              </a:rPr>
              <a:t>）采用了</a:t>
            </a:r>
            <a:r>
              <a:rPr lang="zh-CN" altLang="en-US" b="1" dirty="0">
                <a:solidFill>
                  <a:srgbClr val="0000CC"/>
                </a:solidFill>
                <a:latin typeface="微软雅黑" pitchFamily="34" charset="-122"/>
                <a:ea typeface="微软雅黑" pitchFamily="34" charset="-122"/>
              </a:rPr>
              <a:t>不同</a:t>
            </a:r>
            <a:r>
              <a:rPr lang="zh-CN" altLang="en-US" b="1" dirty="0">
                <a:latin typeface="微软雅黑" pitchFamily="34" charset="-122"/>
                <a:ea typeface="微软雅黑" pitchFamily="34" charset="-122"/>
              </a:rPr>
              <a:t>的复用方式。</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下行信道</a:t>
            </a:r>
            <a:r>
              <a:rPr lang="zh-CN" altLang="en-US" b="1" dirty="0">
                <a:latin typeface="微软雅黑" pitchFamily="34" charset="-122"/>
                <a:ea typeface="微软雅黑" pitchFamily="34" charset="-122"/>
              </a:rPr>
              <a:t>采用正交频分多址 </a:t>
            </a:r>
            <a:r>
              <a:rPr lang="en-US" altLang="zh-CN" b="1" dirty="0">
                <a:solidFill>
                  <a:srgbClr val="C00000"/>
                </a:solidFill>
                <a:latin typeface="微软雅黑" pitchFamily="34" charset="-122"/>
                <a:ea typeface="微软雅黑" pitchFamily="34" charset="-122"/>
              </a:rPr>
              <a:t>OFDMA</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技术采用了多个子载波</a:t>
            </a:r>
            <a:r>
              <a:rPr lang="zh-CN" altLang="en-US" sz="1600" b="1" dirty="0">
                <a:solidFill>
                  <a:srgbClr val="C00000"/>
                </a:solidFill>
                <a:latin typeface="微软雅黑" pitchFamily="34" charset="-122"/>
                <a:ea typeface="微软雅黑" pitchFamily="34" charset="-122"/>
              </a:rPr>
              <a:t>并行传输</a:t>
            </a:r>
            <a:r>
              <a:rPr lang="zh-CN" altLang="en-US" sz="1600" b="1" dirty="0">
                <a:latin typeface="微软雅黑" pitchFamily="34" charset="-122"/>
                <a:ea typeface="微软雅黑" pitchFamily="34" charset="-122"/>
              </a:rPr>
              <a:t>的方法，利用各子载波之间的</a:t>
            </a:r>
            <a:r>
              <a:rPr lang="zh-CN" altLang="en-US" sz="1600" b="1" dirty="0">
                <a:solidFill>
                  <a:srgbClr val="C00000"/>
                </a:solidFill>
                <a:latin typeface="微软雅黑" pitchFamily="34" charset="-122"/>
                <a:ea typeface="微软雅黑" pitchFamily="34" charset="-122"/>
              </a:rPr>
              <a:t>正交性</a:t>
            </a:r>
            <a:r>
              <a:rPr lang="zh-CN" altLang="en-US" sz="1600" b="1" dirty="0">
                <a:latin typeface="微软雅黑" pitchFamily="34" charset="-122"/>
                <a:ea typeface="微软雅黑" pitchFamily="34" charset="-122"/>
              </a:rPr>
              <a:t>，子信道的频谱可以相互</a:t>
            </a:r>
            <a:r>
              <a:rPr lang="zh-CN" altLang="en-US" sz="1600" b="1" dirty="0">
                <a:solidFill>
                  <a:srgbClr val="C00000"/>
                </a:solidFill>
                <a:latin typeface="微软雅黑" pitchFamily="34" charset="-122"/>
                <a:ea typeface="微软雅黑" pitchFamily="34" charset="-122"/>
              </a:rPr>
              <a:t>重叠</a:t>
            </a:r>
            <a:r>
              <a:rPr lang="zh-CN" altLang="en-US" sz="1600" b="1" dirty="0">
                <a:latin typeface="微软雅黑" pitchFamily="34" charset="-122"/>
                <a:ea typeface="微软雅黑" pitchFamily="34" charset="-122"/>
              </a:rPr>
              <a:t>，但在解调时并</a:t>
            </a:r>
            <a:r>
              <a:rPr lang="zh-CN" altLang="en-US" sz="1600" b="1" dirty="0">
                <a:solidFill>
                  <a:srgbClr val="C00000"/>
                </a:solidFill>
                <a:latin typeface="微软雅黑" pitchFamily="34" charset="-122"/>
                <a:ea typeface="微软雅黑" pitchFamily="34" charset="-122"/>
              </a:rPr>
              <a:t>不产生</a:t>
            </a:r>
            <a:r>
              <a:rPr lang="zh-CN" altLang="en-US" sz="1600" b="1" dirty="0">
                <a:solidFill>
                  <a:srgbClr val="0000CC"/>
                </a:solidFill>
                <a:latin typeface="微软雅黑" pitchFamily="34" charset="-122"/>
                <a:ea typeface="微软雅黑" pitchFamily="34" charset="-122"/>
              </a:rPr>
              <a:t>子载波间干扰。</a:t>
            </a:r>
            <a:r>
              <a:rPr lang="zh-CN" altLang="en-US" sz="1600" b="1" dirty="0">
                <a:latin typeface="微软雅黑" pitchFamily="34" charset="-122"/>
                <a:ea typeface="微软雅黑" pitchFamily="34" charset="-122"/>
              </a:rPr>
              <a:t>大大提高了频谱利用率。</a:t>
            </a:r>
            <a:endParaRPr lang="en-US" altLang="zh-CN" sz="16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使每个子信道的数据率降低，有效地</a:t>
            </a:r>
            <a:r>
              <a:rPr lang="zh-CN" altLang="en-US" sz="1600" b="1" dirty="0">
                <a:solidFill>
                  <a:srgbClr val="C00000"/>
                </a:solidFill>
                <a:latin typeface="微软雅黑" pitchFamily="34" charset="-122"/>
                <a:ea typeface="微软雅黑" pitchFamily="34" charset="-122"/>
              </a:rPr>
              <a:t>减少</a:t>
            </a:r>
            <a:r>
              <a:rPr lang="zh-CN" altLang="en-US" sz="1600" b="1" dirty="0">
                <a:latin typeface="微软雅黑" pitchFamily="34" charset="-122"/>
                <a:ea typeface="微软雅黑" pitchFamily="34" charset="-122"/>
              </a:rPr>
              <a:t>了由</a:t>
            </a:r>
            <a:r>
              <a:rPr lang="zh-CN" altLang="en-US" sz="1600" b="1" dirty="0">
                <a:solidFill>
                  <a:srgbClr val="C00000"/>
                </a:solidFill>
                <a:latin typeface="微软雅黑" pitchFamily="34" charset="-122"/>
                <a:ea typeface="微软雅黑" pitchFamily="34" charset="-122"/>
              </a:rPr>
              <a:t>多径效应</a:t>
            </a:r>
            <a:r>
              <a:rPr lang="zh-CN" altLang="en-US" sz="1600" b="1" dirty="0">
                <a:latin typeface="微软雅黑" pitchFamily="34" charset="-122"/>
                <a:ea typeface="微软雅黑" pitchFamily="34" charset="-122"/>
              </a:rPr>
              <a:t>带来的</a:t>
            </a:r>
            <a:r>
              <a:rPr lang="zh-CN" altLang="en-US" sz="1600" b="1" dirty="0">
                <a:solidFill>
                  <a:srgbClr val="0000CC"/>
                </a:solidFill>
                <a:latin typeface="微软雅黑" pitchFamily="34" charset="-122"/>
                <a:ea typeface="微软雅黑" pitchFamily="34" charset="-122"/>
              </a:rPr>
              <a:t>符号间干扰，</a:t>
            </a:r>
            <a:r>
              <a:rPr lang="zh-CN" altLang="en-US" sz="1600" b="1" dirty="0">
                <a:latin typeface="微软雅黑" pitchFamily="34" charset="-122"/>
                <a:ea typeface="微软雅黑" pitchFamily="34" charset="-122"/>
              </a:rPr>
              <a:t>降低了误比特率。</a:t>
            </a:r>
            <a:endParaRPr lang="en-US" altLang="zh-CN" sz="16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采用了高阶调制 </a:t>
            </a:r>
            <a:r>
              <a:rPr lang="en-US" altLang="zh-CN" b="1" dirty="0">
                <a:solidFill>
                  <a:srgbClr val="0000CC"/>
                </a:solidFill>
                <a:latin typeface="微软雅黑" pitchFamily="34" charset="-122"/>
                <a:ea typeface="微软雅黑" pitchFamily="34" charset="-122"/>
              </a:rPr>
              <a:t>64 QAM</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码元携带 </a:t>
            </a:r>
            <a:r>
              <a:rPr lang="en-US" altLang="zh-CN" b="1" dirty="0">
                <a:latin typeface="微软雅黑" pitchFamily="34" charset="-122"/>
                <a:ea typeface="微软雅黑" pitchFamily="34" charset="-122"/>
              </a:rPr>
              <a:t>6 bit </a:t>
            </a:r>
            <a:r>
              <a:rPr lang="zh-CN" altLang="en-US" b="1" dirty="0">
                <a:latin typeface="微软雅黑" pitchFamily="34" charset="-122"/>
                <a:ea typeface="微软雅黑" pitchFamily="34" charset="-122"/>
              </a:rPr>
              <a:t>的信息量。</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采用了多天线的多入多出 </a:t>
            </a:r>
            <a:r>
              <a:rPr lang="en-US" altLang="zh-CN" b="1" dirty="0">
                <a:solidFill>
                  <a:srgbClr val="0000CC"/>
                </a:solidFill>
                <a:latin typeface="微软雅黑" pitchFamily="34" charset="-122"/>
                <a:ea typeface="微软雅黑" pitchFamily="34" charset="-122"/>
              </a:rPr>
              <a:t>MIMO</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技术。</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7435266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取消了无线网络控制器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RNC</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，并把基站称为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演进的节点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兼有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中的基站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NB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和无线网络控制器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RNC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的功能，是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中功能最复杂的设备。</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网络，分为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496195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3">
                                            <p:txEl>
                                              <p:pRg st="1" end="1"/>
                                            </p:txEl>
                                          </p:spTgt>
                                        </p:tgtEl>
                                        <p:attrNameLst>
                                          <p:attrName>style.visibility</p:attrName>
                                        </p:attrNameLst>
                                      </p:cBhvr>
                                      <p:to>
                                        <p:strVal val="visible"/>
                                      </p:to>
                                    </p:set>
                                  </p:childTnLst>
                                </p:cTn>
                              </p:par>
                              <p:par>
                                <p:cTn id="13" presetID="35" presetClass="emph" presetSubtype="0" repeatCount="3000" fill="hold" nodeType="withEffect">
                                  <p:stCondLst>
                                    <p:cond delay="0"/>
                                  </p:stCondLst>
                                  <p:childTnLst>
                                    <p:anim calcmode="discrete" valueType="str">
                                      <p:cBhvr>
                                        <p:cTn id="14"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三个主要构件。</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天线。</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对发往空口的信号或从空口接收的信号进行</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调制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解调</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数字模块：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作为空口与核心网的</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，对经过此模块的所有信号进行处理。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749095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HSS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，处理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的登记、切换、呼叫、寻呼等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信令消息。</a:t>
            </a: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数据层面：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在用户设备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与核心网之间传送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数据报。</a:t>
            </a: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639962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3">
                                            <p:txEl>
                                              <p:pRg st="1" end="1"/>
                                            </p:txEl>
                                          </p:spTgt>
                                        </p:tgtEl>
                                        <p:attrNameLst>
                                          <p:attrName>style.visibility</p:attrName>
                                        </p:attrNameLst>
                                      </p:cBhvr>
                                      <p:to>
                                        <p:strVal val="visible"/>
                                      </p:to>
                                    </p:set>
                                  </p:childTnLst>
                                </p:cTn>
                              </p:par>
                              <p:par>
                                <p:cTn id="9" presetID="35" presetClass="emph" presetSubtype="0" repeatCount="3000" fill="hold" nodeType="withEffect">
                                  <p:stCondLst>
                                    <p:cond delay="0"/>
                                  </p:stCondLst>
                                  <p:childTnLst>
                                    <p:anim calcmode="discrete" valueType="str">
                                      <p:cBhvr>
                                        <p:cTn id="10"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8"/>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1223262" y="3458093"/>
            <a:ext cx="7050845" cy="137473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分组数据网络网关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P-GW (Packet Data Network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：是核心网通向互联网的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边界路由器，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与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或非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的外部数据网的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也是核心网对外的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(Anchor point)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。负责给所有用户设备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分配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地址</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和确保服务质量 </a:t>
            </a:r>
            <a:r>
              <a:rPr lang="en-US" altLang="zh-CN" sz="1600" b="1" kern="500" dirty="0" err="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QoS</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的实施。</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的数据报在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封装到用户层面的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GTP-U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中，从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经</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到达</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P-GW</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3904981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4"/>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服务网关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S-GW (Serving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是无线接入网与核心网之间的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负责用户层面的数据分组的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转发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路由选择，</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起到路由器的作用。还负责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以及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隧道管理。</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是数据层面中移动性的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可以在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同一个或不同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物理节点实现。</a:t>
            </a: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3919798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3">
                                            <p:txEl>
                                              <p:pRg st="1" end="1"/>
                                            </p:txEl>
                                          </p:spTgt>
                                        </p:tgtEl>
                                        <p:attrNameLst>
                                          <p:attrName>style.visibility</p:attrName>
                                        </p:attrNameLst>
                                      </p:cBhvr>
                                      <p:to>
                                        <p:strVal val="visible"/>
                                      </p:to>
                                    </p:set>
                                  </p:childTnLst>
                                </p:cTn>
                              </p:par>
                              <p:par>
                                <p:cTn id="11" presetID="35" presetClass="emph" presetSubtype="0" repeatCount="3000" fill="hold" grpId="0" nodeType="withEffect">
                                  <p:stCondLst>
                                    <p:cond delay="0"/>
                                  </p:stCondLst>
                                  <p:childTnLst>
                                    <p:anim calcmode="discrete" valueType="str">
                                      <p:cBhvr>
                                        <p:cTn id="12"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HSS</a:t>
            </a:r>
            <a:endParaRPr kumimoji="1" lang="zh-CN" altLang="en-US" sz="1200" b="1" dirty="0">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707886"/>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归属用户服务器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HSS (Home Subscriber Server)</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中心数据库，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存储网络运营商所保存的用户基本数据。</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862951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53" grpId="0" uiExpand="1" build="p"/>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MME</a:t>
            </a:r>
            <a:endParaRPr kumimoji="1" lang="zh-CN" altLang="en-US" sz="1200" b="1" dirty="0">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移动性管理实体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MME (Mobility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Manegement</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Entity)</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信令实体，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负责基站与核心网之间、以及用户与核心网之间的所有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大的核心网需要有多个</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来处理大量的信令交换。</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必须从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HSS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获得用户的有关信息。</a:t>
            </a: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610523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53" grpId="0" uiExpand="1" build="p"/>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4256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必须向后兼容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2G</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38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4G/3G/2G</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表示如果 </a:t>
            </a: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手机所在地还没有被 </a:t>
            </a: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网络覆盖，那么该手机还可使用原来 </a:t>
            </a:r>
            <a:r>
              <a:rPr lang="en-US" altLang="zh-CN" sz="2000" b="1" dirty="0">
                <a:latin typeface="微软雅黑" pitchFamily="34" charset="-122"/>
                <a:ea typeface="微软雅黑" pitchFamily="34" charset="-122"/>
              </a:rPr>
              <a:t>3G/2G </a:t>
            </a:r>
            <a:r>
              <a:rPr lang="zh-CN" altLang="en-US" sz="2000" b="1" dirty="0">
                <a:latin typeface="微软雅黑" pitchFamily="34" charset="-122"/>
                <a:ea typeface="微软雅黑" pitchFamily="34" charset="-122"/>
              </a:rPr>
              <a:t>网络的功能。</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最初采用</a:t>
            </a:r>
            <a:r>
              <a:rPr lang="zh-CN" altLang="en-US" sz="2000" b="1" dirty="0">
                <a:solidFill>
                  <a:srgbClr val="C00000"/>
                </a:solidFill>
                <a:latin typeface="微软雅黑" pitchFamily="34" charset="-122"/>
                <a:ea typeface="微软雅黑" pitchFamily="34" charset="-122"/>
              </a:rPr>
              <a:t>电路交换回落 </a:t>
            </a:r>
            <a:r>
              <a:rPr lang="en-US" altLang="zh-CN" sz="2000" b="1" dirty="0">
                <a:solidFill>
                  <a:srgbClr val="C00000"/>
                </a:solidFill>
                <a:latin typeface="微软雅黑" pitchFamily="34" charset="-122"/>
                <a:ea typeface="微软雅黑" pitchFamily="34" charset="-122"/>
              </a:rPr>
              <a:t>CSFB </a:t>
            </a:r>
            <a:r>
              <a:rPr lang="en-US" altLang="zh-CN" sz="2000" b="1" dirty="0">
                <a:latin typeface="微软雅黑" pitchFamily="34" charset="-122"/>
                <a:ea typeface="微软雅黑" pitchFamily="34" charset="-122"/>
              </a:rPr>
              <a:t>(Circuit Switched Fallback)</a:t>
            </a:r>
            <a:r>
              <a:rPr lang="zh-CN" altLang="en-US" sz="2000" b="1" dirty="0">
                <a:latin typeface="微软雅黑" pitchFamily="34" charset="-122"/>
                <a:ea typeface="微软雅黑" pitchFamily="34" charset="-122"/>
              </a:rPr>
              <a:t>，表示再退回到 </a:t>
            </a:r>
            <a:r>
              <a:rPr lang="en-US" altLang="zh-CN" sz="2000" b="1" dirty="0">
                <a:latin typeface="微软雅黑" pitchFamily="34" charset="-122"/>
                <a:ea typeface="微软雅黑" pitchFamily="34" charset="-122"/>
              </a:rPr>
              <a:t>3G/2G </a:t>
            </a:r>
            <a:r>
              <a:rPr lang="zh-CN" altLang="en-US" sz="2000" b="1" dirty="0">
                <a:latin typeface="微软雅黑" pitchFamily="34" charset="-122"/>
                <a:ea typeface="微软雅黑" pitchFamily="34" charset="-122"/>
              </a:rPr>
              <a:t>的电路交换的网络来处理电话通信业务。</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2012 </a:t>
            </a:r>
            <a:r>
              <a:rPr lang="zh-CN" altLang="en-US" sz="2000" b="1" dirty="0">
                <a:latin typeface="微软雅黑" pitchFamily="34" charset="-122"/>
                <a:ea typeface="微软雅黑" pitchFamily="34" charset="-122"/>
              </a:rPr>
              <a:t>年，基于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的 </a:t>
            </a:r>
            <a:r>
              <a:rPr lang="en-US" altLang="zh-CN" sz="2000" b="1" dirty="0" err="1">
                <a:solidFill>
                  <a:srgbClr val="C00000"/>
                </a:solidFill>
                <a:latin typeface="微软雅黑" pitchFamily="34" charset="-122"/>
                <a:ea typeface="微软雅黑" pitchFamily="34" charset="-122"/>
              </a:rPr>
              <a:t>VoLTE</a:t>
            </a:r>
            <a:r>
              <a:rPr lang="en-US" altLang="zh-CN" sz="2000" b="1" dirty="0">
                <a:latin typeface="微软雅黑" pitchFamily="34" charset="-122"/>
                <a:ea typeface="微软雅黑" pitchFamily="34" charset="-122"/>
              </a:rPr>
              <a:t> (Voice over LTE) </a:t>
            </a:r>
            <a:r>
              <a:rPr lang="zh-CN" altLang="en-US" sz="2000" b="1" dirty="0">
                <a:latin typeface="微软雅黑" pitchFamily="34" charset="-122"/>
                <a:ea typeface="微软雅黑" pitchFamily="34" charset="-122"/>
              </a:rPr>
              <a:t>问世。</a:t>
            </a:r>
            <a:endParaRPr lang="en-US" altLang="zh-CN" sz="20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能够提供高质量的电话通信；</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但要靠与 </a:t>
            </a:r>
            <a:r>
              <a:rPr lang="en-US" altLang="zh-CN" b="1" dirty="0">
                <a:latin typeface="微软雅黑" pitchFamily="34" charset="-122"/>
                <a:ea typeface="微软雅黑" pitchFamily="34" charset="-122"/>
              </a:rPr>
              <a:t>P-GW </a:t>
            </a:r>
            <a:r>
              <a:rPr lang="zh-CN" altLang="en-US" b="1" dirty="0">
                <a:latin typeface="微软雅黑" pitchFamily="34" charset="-122"/>
                <a:ea typeface="微软雅黑" pitchFamily="34" charset="-122"/>
              </a:rPr>
              <a:t>相连的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多媒体子系统 </a:t>
            </a:r>
            <a:r>
              <a:rPr lang="en-US" altLang="zh-CN" b="1" dirty="0">
                <a:latin typeface="微软雅黑" pitchFamily="34" charset="-122"/>
                <a:ea typeface="微软雅黑" pitchFamily="34" charset="-122"/>
              </a:rPr>
              <a:t>IMS (IP </a:t>
            </a:r>
            <a:r>
              <a:rPr lang="en-US" altLang="zh-CN" b="1" dirty="0" err="1">
                <a:latin typeface="微软雅黑" pitchFamily="34" charset="-122"/>
                <a:ea typeface="微软雅黑" pitchFamily="34" charset="-122"/>
              </a:rPr>
              <a:t>Multimeda</a:t>
            </a:r>
            <a:r>
              <a:rPr lang="en-US" altLang="zh-CN" b="1" dirty="0">
                <a:latin typeface="微软雅黑" pitchFamily="34" charset="-122"/>
                <a:ea typeface="微软雅黑" pitchFamily="34" charset="-122"/>
              </a:rPr>
              <a:t> Subsystem)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IMS </a:t>
            </a:r>
            <a:r>
              <a:rPr lang="zh-CN" altLang="en-US" b="1" dirty="0">
                <a:solidFill>
                  <a:srgbClr val="C00000"/>
                </a:solidFill>
                <a:latin typeface="微软雅黑" pitchFamily="34" charset="-122"/>
                <a:ea typeface="微软雅黑" pitchFamily="34" charset="-122"/>
              </a:rPr>
              <a:t>不属于 </a:t>
            </a:r>
            <a:r>
              <a:rPr lang="en-US" altLang="zh-CN" b="1" dirty="0">
                <a:solidFill>
                  <a:srgbClr val="C00000"/>
                </a:solidFill>
                <a:latin typeface="微软雅黑" pitchFamily="34" charset="-122"/>
                <a:ea typeface="微软雅黑" pitchFamily="34" charset="-122"/>
              </a:rPr>
              <a:t>LTE</a:t>
            </a:r>
            <a:r>
              <a:rPr lang="zh-CN" altLang="en-US" b="1" dirty="0">
                <a:solidFill>
                  <a:srgbClr val="C00000"/>
                </a:solidFill>
                <a:latin typeface="微软雅黑" pitchFamily="34" charset="-122"/>
                <a:ea typeface="微软雅黑" pitchFamily="34" charset="-122"/>
              </a:rPr>
              <a:t>，而是属于 </a:t>
            </a:r>
            <a:r>
              <a:rPr lang="en-US" altLang="zh-CN" b="1" dirty="0">
                <a:solidFill>
                  <a:srgbClr val="C00000"/>
                </a:solidFill>
                <a:latin typeface="微软雅黑" pitchFamily="34" charset="-122"/>
                <a:ea typeface="微软雅黑" pitchFamily="34" charset="-122"/>
              </a:rPr>
              <a:t>IP </a:t>
            </a:r>
            <a:r>
              <a:rPr lang="zh-CN" altLang="en-US" b="1" dirty="0">
                <a:solidFill>
                  <a:srgbClr val="C00000"/>
                </a:solidFill>
                <a:latin typeface="微软雅黑" pitchFamily="34" charset="-122"/>
                <a:ea typeface="微软雅黑" pitchFamily="34" charset="-122"/>
              </a:rPr>
              <a:t>服务的范围</a:t>
            </a:r>
            <a:r>
              <a:rPr lang="zh-CN" altLang="en-US" b="1" dirty="0">
                <a:latin typeface="微软雅黑" pitchFamily="34" charset="-122"/>
                <a:ea typeface="微软雅黑" pitchFamily="34" charset="-122"/>
              </a:rPr>
              <a:t>，是 </a:t>
            </a:r>
            <a:r>
              <a:rPr lang="en-US" altLang="zh-CN" b="1" dirty="0">
                <a:latin typeface="微软雅黑" pitchFamily="34" charset="-122"/>
                <a:ea typeface="微软雅黑" pitchFamily="34" charset="-122"/>
              </a:rPr>
              <a:t>LTE </a:t>
            </a:r>
            <a:r>
              <a:rPr lang="zh-CN" altLang="en-US" b="1" dirty="0">
                <a:latin typeface="微软雅黑" pitchFamily="34" charset="-122"/>
                <a:ea typeface="微软雅黑" pitchFamily="34" charset="-122"/>
              </a:rPr>
              <a:t>之外的另一个分组交换的网络系统。</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7179932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9.3.2  LTE </a:t>
            </a:r>
            <a:r>
              <a:rPr lang="zh-CN" altLang="en-US" sz="2400" b="1" dirty="0">
                <a:solidFill>
                  <a:schemeClr val="bg1"/>
                </a:solidFill>
                <a:latin typeface="微软雅黑" pitchFamily="34" charset="-122"/>
                <a:ea typeface="微软雅黑" pitchFamily="34" charset="-122"/>
              </a:rPr>
              <a:t>网络与互联网的连接</a:t>
            </a:r>
          </a:p>
        </p:txBody>
      </p:sp>
      <p:sp>
        <p:nvSpPr>
          <p:cNvPr id="4" name="Rectangle 46"/>
          <p:cNvSpPr>
            <a:spLocks noChangeArrowheads="1"/>
          </p:cNvSpPr>
          <p:nvPr/>
        </p:nvSpPr>
        <p:spPr bwMode="auto">
          <a:xfrm>
            <a:off x="511896" y="1131085"/>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当用户设备 </a:t>
            </a:r>
            <a:r>
              <a:rPr lang="en-US" altLang="zh-CN" sz="2000" b="1" dirty="0">
                <a:latin typeface="微软雅黑" pitchFamily="34" charset="-122"/>
                <a:ea typeface="微软雅黑" pitchFamily="34" charset="-122"/>
              </a:rPr>
              <a:t>UE</a:t>
            </a:r>
            <a:r>
              <a:rPr lang="zh-CN" altLang="en-US" sz="2000" b="1" dirty="0">
                <a:latin typeface="微软雅黑" pitchFamily="34" charset="-122"/>
                <a:ea typeface="微软雅黑" pitchFamily="34" charset="-122"/>
              </a:rPr>
              <a:t>（如手机）开机后，就</a:t>
            </a:r>
            <a:r>
              <a:rPr lang="zh-CN" altLang="en-US" sz="2000" b="1" dirty="0">
                <a:solidFill>
                  <a:srgbClr val="C00000"/>
                </a:solidFill>
                <a:latin typeface="微软雅黑" pitchFamily="34" charset="-122"/>
                <a:ea typeface="微软雅黑" pitchFamily="34" charset="-122"/>
              </a:rPr>
              <a:t>登记</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网络，以便使用网络资源传送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数据业务。</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网络内的数据路径由</a:t>
            </a:r>
            <a:r>
              <a:rPr lang="zh-CN" altLang="en-US" sz="2000" b="1" dirty="0">
                <a:solidFill>
                  <a:srgbClr val="C00000"/>
                </a:solidFill>
                <a:latin typeface="微软雅黑" pitchFamily="34" charset="-122"/>
                <a:ea typeface="微软雅黑" pitchFamily="34" charset="-122"/>
              </a:rPr>
              <a:t>两大部分组成：</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空口无线链路（</a:t>
            </a:r>
            <a:r>
              <a:rPr lang="en-US" altLang="zh-CN" sz="2000" b="1" dirty="0" err="1">
                <a:latin typeface="微软雅黑" pitchFamily="34" charset="-122"/>
                <a:ea typeface="微软雅黑" pitchFamily="34" charset="-122"/>
              </a:rPr>
              <a:t>UE→eNB</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核心网中的隧道（</a:t>
            </a:r>
            <a:r>
              <a:rPr lang="en-US" altLang="zh-CN" sz="2000" b="1" dirty="0" err="1">
                <a:latin typeface="微软雅黑" pitchFamily="34" charset="-122"/>
                <a:ea typeface="微软雅黑" pitchFamily="34" charset="-122"/>
              </a:rPr>
              <a:t>eNB→S-GW→P-GW</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7359335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GTP-U</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 (GPRS Tunneling Protocol)</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，用户层面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(User plane)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分组数据汇聚协议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PDCP (Packet Data Convergence Protocol)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分组在无线链路更加有效的传输，包括对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首部进行压缩</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解压缩。</a:t>
            </a:r>
          </a:p>
        </p:txBody>
      </p:sp>
    </p:spTree>
    <p:extLst>
      <p:ext uri="{BB962C8B-B14F-4D97-AF65-F5344CB8AC3E}">
        <p14:creationId xmlns:p14="http://schemas.microsoft.com/office/powerpoint/2010/main" val="10257427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86177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无线链路控制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RLC (Radio Link Control)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可提供三种不同可靠性等级的运行方式。还具有分组重新排序、重复数据检测、以及使用差错检测协议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ARQ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进行数据重传的功能。</a:t>
            </a:r>
          </a:p>
        </p:txBody>
      </p:sp>
    </p:spTree>
    <p:extLst>
      <p:ext uri="{BB962C8B-B14F-4D97-AF65-F5344CB8AC3E}">
        <p14:creationId xmlns:p14="http://schemas.microsoft.com/office/powerpoint/2010/main" val="12789733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媒体接入控制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完成复用和分用的功能。在无线信道质量较差的环境下，采用</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混合自动重传请求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HARQ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(Hybrid ARQ)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协议，可以有效地减少重传次数。此外，还按照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调度程序的安排，把无线资源</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动态分配</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，从而保证了服务质量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QoS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8038709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885902" y="3595892"/>
            <a:ext cx="7662407" cy="1118255"/>
          </a:xfrm>
          <a:prstGeom prst="rect">
            <a:avLst/>
          </a:prstGeom>
        </p:spPr>
        <p:txBody>
          <a:bodyPr wrap="square">
            <a:spAutoFit/>
          </a:bodyPr>
          <a:lstStyle/>
          <a:p>
            <a:pPr>
              <a:lnSpc>
                <a:spcPts val="2000"/>
              </a:lnSpc>
            </a:pPr>
            <a:r>
              <a:rPr lang="zh-CN" altLang="en-US"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物理层 </a:t>
            </a:r>
            <a:r>
              <a:rPr lang="en-US" altLang="zh-CN"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PHY</a:t>
            </a:r>
            <a:r>
              <a:rPr lang="zh-CN" altLang="en-US"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发送时对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子层传来的数据进行编码和调制，把比特插入到每一帧中适当的时隙中发送出去。接收时进行解调和解码，把收到的比特上传给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子层。采用一种</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自适应调制编码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AMC</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(Adaptive Modulation and Coding)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技术。基站 </a:t>
            </a:r>
            <a:r>
              <a:rPr lang="en-US" altLang="zh-CN" sz="14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根据用户终端反馈的信道状况，</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调整物理层采用的调制方式（</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QPSK</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16 QAM</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64 QAM</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）和编码速率。</a:t>
            </a:r>
          </a:p>
        </p:txBody>
      </p:sp>
    </p:spTree>
    <p:extLst>
      <p:ext uri="{BB962C8B-B14F-4D97-AF65-F5344CB8AC3E}">
        <p14:creationId xmlns:p14="http://schemas.microsoft.com/office/powerpoint/2010/main" val="13521787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释放</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和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之间的</a:t>
            </a:r>
            <a:r>
              <a:rPr lang="zh-CN" altLang="en-US" sz="2000" b="1" dirty="0">
                <a:solidFill>
                  <a:srgbClr val="0000CC"/>
                </a:solidFill>
                <a:latin typeface="微软雅黑" pitchFamily="34" charset="-122"/>
                <a:ea typeface="微软雅黑" pitchFamily="34" charset="-122"/>
              </a:rPr>
              <a:t>空口链路；</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空口进入</a:t>
            </a:r>
            <a:r>
              <a:rPr lang="zh-CN" altLang="en-US" sz="2000" b="1" dirty="0">
                <a:solidFill>
                  <a:srgbClr val="0000CC"/>
                </a:solidFill>
                <a:latin typeface="微软雅黑" pitchFamily="34" charset="-122"/>
                <a:ea typeface="微软雅黑" pitchFamily="34" charset="-122"/>
              </a:rPr>
              <a:t>空闲状态。</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保持：</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只要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移动时不超过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的覆盖范围，</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分配给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地址就不改变。</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2"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登记后，若在一段时间没有数据业务</a:t>
            </a:r>
          </a:p>
        </p:txBody>
      </p:sp>
    </p:spTree>
    <p:extLst>
      <p:ext uri="{BB962C8B-B14F-4D97-AF65-F5344CB8AC3E}">
        <p14:creationId xmlns:p14="http://schemas.microsoft.com/office/powerpoint/2010/main" val="3190248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向所在小区的基站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发送连接请求。</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收到连接请求后，就要</a:t>
            </a:r>
            <a:r>
              <a:rPr lang="zh-CN" altLang="en-US" sz="2000" b="1" dirty="0">
                <a:solidFill>
                  <a:srgbClr val="C00000"/>
                </a:solidFill>
                <a:latin typeface="微软雅黑" pitchFamily="34" charset="-122"/>
                <a:ea typeface="微软雅黑" pitchFamily="34" charset="-122"/>
              </a:rPr>
              <a:t>建立</a:t>
            </a:r>
            <a:r>
              <a:rPr lang="zh-CN" altLang="en-US" sz="2000" b="1" dirty="0">
                <a:solidFill>
                  <a:srgbClr val="0000CC"/>
                </a:solidFill>
                <a:latin typeface="微软雅黑" pitchFamily="34" charset="-122"/>
                <a:ea typeface="微软雅黑" pitchFamily="34" charset="-122"/>
              </a:rPr>
              <a:t>空口链路</a:t>
            </a:r>
            <a:r>
              <a:rPr lang="zh-CN" altLang="en-US" sz="2000" b="1" dirty="0">
                <a:latin typeface="微软雅黑" pitchFamily="34" charset="-122"/>
                <a:ea typeface="微软雅黑" pitchFamily="34" charset="-122"/>
              </a:rPr>
              <a:t>和 </a:t>
            </a:r>
            <a:r>
              <a:rPr lang="en-US" altLang="zh-CN" sz="2000" b="1" dirty="0" err="1">
                <a:solidFill>
                  <a:srgbClr val="0000CC"/>
                </a:solidFill>
                <a:latin typeface="微软雅黑" pitchFamily="34" charset="-122"/>
                <a:ea typeface="微软雅黑" pitchFamily="34" charset="-122"/>
              </a:rPr>
              <a:t>eNB</a:t>
            </a:r>
            <a:r>
              <a:rPr lang="en-US" altLang="zh-CN" sz="2000" b="1" dirty="0">
                <a:solidFill>
                  <a:srgbClr val="0000CC"/>
                </a:solidFill>
                <a:latin typeface="微软雅黑" pitchFamily="34" charset="-122"/>
                <a:ea typeface="微软雅黑" pitchFamily="34" charset="-122"/>
              </a:rPr>
              <a:t> → S-GW </a:t>
            </a:r>
            <a:r>
              <a:rPr lang="zh-CN" altLang="en-US" sz="2000" b="1" dirty="0">
                <a:latin typeface="微软雅黑" pitchFamily="34" charset="-122"/>
                <a:ea typeface="微软雅黑" pitchFamily="34" charset="-122"/>
              </a:rPr>
              <a:t>之间的</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然后，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发送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分组，从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层先传送到下面的第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层（现在</a:t>
            </a:r>
            <a:r>
              <a:rPr lang="en-US" altLang="zh-CN" sz="2000" b="1" dirty="0">
                <a:latin typeface="微软雅黑" pitchFamily="34" charset="-122"/>
                <a:ea typeface="微软雅黑" pitchFamily="34" charset="-122"/>
              </a:rPr>
              <a:t>L2</a:t>
            </a:r>
            <a:r>
              <a:rPr lang="zh-CN" altLang="en-US" sz="2000" b="1" dirty="0">
                <a:latin typeface="微软雅黑" pitchFamily="34" charset="-122"/>
                <a:ea typeface="微软雅黑" pitchFamily="34" charset="-122"/>
              </a:rPr>
              <a:t>具有三个子层）。</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
        <p:nvSpPr>
          <p:cNvPr id="3" name="矩形 2"/>
          <p:cNvSpPr/>
          <p:nvPr/>
        </p:nvSpPr>
        <p:spPr>
          <a:xfrm>
            <a:off x="1245327" y="2221905"/>
            <a:ext cx="6444342" cy="477054"/>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lnSpc>
                <a:spcPts val="3000"/>
              </a:lnSpc>
            </a:pPr>
            <a:r>
              <a:rPr lang="zh-CN" altLang="en-US" b="1" dirty="0">
                <a:latin typeface="微软雅黑" pitchFamily="34" charset="-122"/>
                <a:ea typeface="微软雅黑" pitchFamily="34" charset="-122"/>
              </a:rPr>
              <a:t>注意：</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之间原有的 </a:t>
            </a:r>
            <a:r>
              <a:rPr lang="en-US" altLang="zh-CN" b="1" dirty="0">
                <a:latin typeface="微软雅黑" pitchFamily="34" charset="-122"/>
                <a:ea typeface="微软雅黑" pitchFamily="34" charset="-122"/>
              </a:rPr>
              <a:t>GTP-U </a:t>
            </a:r>
            <a:r>
              <a:rPr lang="zh-CN" altLang="en-US" b="1" dirty="0">
                <a:latin typeface="微软雅黑" pitchFamily="34" charset="-122"/>
                <a:ea typeface="微软雅黑" pitchFamily="34" charset="-122"/>
              </a:rPr>
              <a:t>隧道仍存在着。</a:t>
            </a:r>
            <a:endParaRPr lang="zh-CN" altLang="en-US" dirty="0"/>
          </a:p>
        </p:txBody>
      </p:sp>
    </p:spTree>
    <p:extLst>
      <p:ext uri="{BB962C8B-B14F-4D97-AF65-F5344CB8AC3E}">
        <p14:creationId xmlns:p14="http://schemas.microsoft.com/office/powerpoint/2010/main" val="2862845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圆角矩形 105"/>
          <p:cNvSpPr/>
          <p:nvPr/>
        </p:nvSpPr>
        <p:spPr>
          <a:xfrm>
            <a:off x="519655" y="1020455"/>
            <a:ext cx="8133857" cy="33512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1" y="585623"/>
            <a:ext cx="52421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grpSp>
        <p:nvGrpSpPr>
          <p:cNvPr id="2" name="组合 1"/>
          <p:cNvGrpSpPr/>
          <p:nvPr/>
        </p:nvGrpSpPr>
        <p:grpSpPr>
          <a:xfrm>
            <a:off x="614202" y="1097314"/>
            <a:ext cx="7876655" cy="3036176"/>
            <a:chOff x="-200866" y="3341738"/>
            <a:chExt cx="9336929" cy="3538412"/>
          </a:xfrm>
        </p:grpSpPr>
        <p:sp>
          <p:nvSpPr>
            <p:cNvPr id="7" name="矩形 6"/>
            <p:cNvSpPr/>
            <p:nvPr/>
          </p:nvSpPr>
          <p:spPr>
            <a:xfrm>
              <a:off x="3030538" y="3697050"/>
              <a:ext cx="3789362" cy="459264"/>
            </a:xfrm>
            <a:prstGeom prst="rect">
              <a:avLst/>
            </a:prstGeom>
            <a:solidFill>
              <a:srgbClr val="99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8" name="直接连接符 7"/>
            <p:cNvCxnSpPr>
              <a:stCxn id="59" idx="3"/>
              <a:endCxn id="80" idx="2"/>
            </p:cNvCxnSpPr>
            <p:nvPr/>
          </p:nvCxnSpPr>
          <p:spPr>
            <a:xfrm flipV="1">
              <a:off x="1116013" y="3910013"/>
              <a:ext cx="7172325" cy="222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bwMode="auto">
            <a:xfrm flipH="1">
              <a:off x="1619250" y="4935538"/>
              <a:ext cx="2859088"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10" name="直接连接符 9"/>
            <p:cNvCxnSpPr/>
            <p:nvPr/>
          </p:nvCxnSpPr>
          <p:spPr bwMode="auto">
            <a:xfrm>
              <a:off x="4483100" y="5116513"/>
              <a:ext cx="428625"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11" name="Text Box 48"/>
            <p:cNvSpPr txBox="1">
              <a:spLocks noChangeArrowheads="1"/>
            </p:cNvSpPr>
            <p:nvPr/>
          </p:nvSpPr>
          <p:spPr bwMode="auto">
            <a:xfrm>
              <a:off x="3563940" y="4997112"/>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12" name="Text Box 68"/>
            <p:cNvSpPr txBox="1">
              <a:spLocks noChangeArrowheads="1"/>
            </p:cNvSpPr>
            <p:nvPr/>
          </p:nvSpPr>
          <p:spPr bwMode="auto">
            <a:xfrm>
              <a:off x="3538538" y="4641850"/>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13" name="Text Box 48"/>
            <p:cNvSpPr txBox="1">
              <a:spLocks noChangeArrowheads="1"/>
            </p:cNvSpPr>
            <p:nvPr/>
          </p:nvSpPr>
          <p:spPr bwMode="auto">
            <a:xfrm>
              <a:off x="2716992" y="4997112"/>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UE</a:t>
              </a:r>
            </a:p>
          </p:txBody>
        </p:sp>
        <p:cxnSp>
          <p:nvCxnSpPr>
            <p:cNvPr id="14" name="直接连接符 13"/>
            <p:cNvCxnSpPr/>
            <p:nvPr/>
          </p:nvCxnSpPr>
          <p:spPr>
            <a:xfrm>
              <a:off x="3617913"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2771775"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 Box 68"/>
            <p:cNvSpPr txBox="1">
              <a:spLocks noChangeArrowheads="1"/>
            </p:cNvSpPr>
            <p:nvPr/>
          </p:nvSpPr>
          <p:spPr bwMode="auto">
            <a:xfrm>
              <a:off x="2790826" y="4641850"/>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源地址</a:t>
              </a:r>
              <a:endParaRPr kumimoji="1" lang="en-US" altLang="zh-CN" sz="1200" b="1" dirty="0">
                <a:latin typeface="微软雅黑" panose="020B0503020204020204" pitchFamily="34" charset="-122"/>
                <a:ea typeface="微软雅黑" panose="020B0503020204020204" pitchFamily="34" charset="-122"/>
              </a:endParaRPr>
            </a:p>
          </p:txBody>
        </p:sp>
        <p:sp>
          <p:nvSpPr>
            <p:cNvPr id="17" name="Text Box 68"/>
            <p:cNvSpPr txBox="1">
              <a:spLocks noChangeArrowheads="1"/>
            </p:cNvSpPr>
            <p:nvPr/>
          </p:nvSpPr>
          <p:spPr bwMode="auto">
            <a:xfrm>
              <a:off x="170998" y="4826052"/>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UE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BD</a:t>
              </a:r>
            </a:p>
            <a:p>
              <a:pPr algn="ctr" eaLnBrk="1" hangingPunct="1"/>
              <a:r>
                <a:rPr kumimoji="1" lang="en-US" altLang="zh-CN" sz="1200" b="1" dirty="0">
                  <a:latin typeface="微软雅黑" panose="020B0503020204020204" pitchFamily="34" charset="-122"/>
                  <a:ea typeface="微软雅黑" panose="020B0503020204020204" pitchFamily="34" charset="-122"/>
                </a:rPr>
                <a:t>UE </a:t>
              </a:r>
              <a:r>
                <a:rPr kumimoji="1" lang="zh-CN" altLang="en-US" sz="1200" b="1" dirty="0">
                  <a:latin typeface="微软雅黑" panose="020B0503020204020204" pitchFamily="34" charset="-122"/>
                  <a:ea typeface="微软雅黑" panose="020B0503020204020204" pitchFamily="34" charset="-122"/>
                </a:rPr>
                <a:t>发送的分组</a:t>
              </a:r>
              <a:r>
                <a:rPr kumimoji="1" lang="en-US" altLang="zh-CN" sz="1200" b="1" dirty="0">
                  <a:latin typeface="微软雅黑" panose="020B0503020204020204" pitchFamily="34" charset="-122"/>
                  <a:ea typeface="微软雅黑" panose="020B0503020204020204" pitchFamily="34" charset="-122"/>
                </a:rPr>
                <a:t> </a:t>
              </a:r>
            </a:p>
          </p:txBody>
        </p:sp>
        <p:sp>
          <p:nvSpPr>
            <p:cNvPr id="18" name="矩形 17"/>
            <p:cNvSpPr/>
            <p:nvPr/>
          </p:nvSpPr>
          <p:spPr bwMode="auto">
            <a:xfrm flipH="1">
              <a:off x="1619250" y="5656263"/>
              <a:ext cx="2860675"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19" name="Text Box 48"/>
            <p:cNvSpPr txBox="1">
              <a:spLocks noChangeArrowheads="1"/>
            </p:cNvSpPr>
            <p:nvPr/>
          </p:nvSpPr>
          <p:spPr bwMode="auto">
            <a:xfrm>
              <a:off x="2718581" y="5717837"/>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20" name="直接连接符 19"/>
            <p:cNvCxnSpPr/>
            <p:nvPr/>
          </p:nvCxnSpPr>
          <p:spPr>
            <a:xfrm>
              <a:off x="3619500"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2773363"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8"/>
            <p:cNvSpPr txBox="1">
              <a:spLocks noChangeArrowheads="1"/>
            </p:cNvSpPr>
            <p:nvPr/>
          </p:nvSpPr>
          <p:spPr bwMode="auto">
            <a:xfrm>
              <a:off x="3563940" y="5717837"/>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D</a:t>
              </a:r>
              <a:r>
                <a:rPr kumimoji="1" lang="en-US" altLang="zh-CN" sz="1200" b="1" dirty="0">
                  <a:latin typeface="微软雅黑" panose="020B0503020204020204" pitchFamily="34" charset="-122"/>
                  <a:ea typeface="微软雅黑" panose="020B0503020204020204" pitchFamily="34" charset="-122"/>
                </a:rPr>
                <a:t> = BD</a:t>
              </a:r>
            </a:p>
          </p:txBody>
        </p:sp>
        <p:sp>
          <p:nvSpPr>
            <p:cNvPr id="23" name="矩形 22"/>
            <p:cNvSpPr/>
            <p:nvPr/>
          </p:nvSpPr>
          <p:spPr bwMode="auto">
            <a:xfrm flipH="1">
              <a:off x="4479925" y="5656263"/>
              <a:ext cx="4040188" cy="360362"/>
            </a:xfrm>
            <a:prstGeom prst="rect">
              <a:avLst/>
            </a:prstGeom>
            <a:solidFill>
              <a:srgbClr val="FFFF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24" name="Text Box 48"/>
            <p:cNvSpPr txBox="1">
              <a:spLocks noChangeArrowheads="1"/>
            </p:cNvSpPr>
            <p:nvPr/>
          </p:nvSpPr>
          <p:spPr bwMode="auto">
            <a:xfrm>
              <a:off x="4454525" y="5717837"/>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25" name="Text Box 48"/>
            <p:cNvSpPr txBox="1">
              <a:spLocks noChangeArrowheads="1"/>
            </p:cNvSpPr>
            <p:nvPr/>
          </p:nvSpPr>
          <p:spPr bwMode="auto">
            <a:xfrm>
              <a:off x="5418139" y="571500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UDP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68"/>
            <p:cNvSpPr txBox="1">
              <a:spLocks noChangeArrowheads="1"/>
            </p:cNvSpPr>
            <p:nvPr/>
          </p:nvSpPr>
          <p:spPr bwMode="auto">
            <a:xfrm>
              <a:off x="170998" y="5549951"/>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solidFill>
                    <a:srgbClr val="0000CC"/>
                  </a:solidFill>
                  <a:latin typeface="微软雅黑" panose="020B0503020204020204" pitchFamily="34" charset="-122"/>
                  <a:ea typeface="微软雅黑" panose="020B0503020204020204" pitchFamily="34" charset="-122"/>
                </a:rPr>
                <a:t>eNB</a:t>
              </a:r>
              <a:r>
                <a:rPr kumimoji="1" lang="en-US" altLang="zh-CN" sz="1200" b="1" dirty="0">
                  <a:solidFill>
                    <a:srgbClr val="0000CC"/>
                  </a:solidFill>
                  <a:latin typeface="微软雅黑" panose="020B0503020204020204" pitchFamily="34" charset="-122"/>
                  <a:ea typeface="微软雅黑" panose="020B0503020204020204" pitchFamily="34" charset="-122"/>
                </a:rPr>
                <a:t>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S-GW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27" name="Text Box 48"/>
            <p:cNvSpPr txBox="1">
              <a:spLocks noChangeArrowheads="1"/>
            </p:cNvSpPr>
            <p:nvPr/>
          </p:nvSpPr>
          <p:spPr bwMode="auto">
            <a:xfrm>
              <a:off x="6372224" y="5713411"/>
              <a:ext cx="1207739"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a:t>
              </a:r>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28" name="Text Box 48"/>
            <p:cNvSpPr txBox="1">
              <a:spLocks noChangeArrowheads="1"/>
            </p:cNvSpPr>
            <p:nvPr/>
          </p:nvSpPr>
          <p:spPr bwMode="auto">
            <a:xfrm>
              <a:off x="7369967" y="571182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D</a:t>
              </a:r>
              <a:r>
                <a:rPr kumimoji="1" lang="en-US" altLang="zh-CN" sz="1100" b="1" dirty="0">
                  <a:latin typeface="微软雅黑" panose="020B0503020204020204" pitchFamily="34" charset="-122"/>
                  <a:ea typeface="微软雅黑" panose="020B0503020204020204" pitchFamily="34" charset="-122"/>
                </a:rPr>
                <a:t> = S-GW</a:t>
              </a:r>
            </a:p>
          </p:txBody>
        </p:sp>
        <p:sp>
          <p:nvSpPr>
            <p:cNvPr id="29" name="Text Box 68"/>
            <p:cNvSpPr txBox="1">
              <a:spLocks noChangeArrowheads="1"/>
            </p:cNvSpPr>
            <p:nvPr/>
          </p:nvSpPr>
          <p:spPr bwMode="auto">
            <a:xfrm>
              <a:off x="7454900" y="5353389"/>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30" name="Text Box 68"/>
            <p:cNvSpPr txBox="1">
              <a:spLocks noChangeArrowheads="1"/>
            </p:cNvSpPr>
            <p:nvPr/>
          </p:nvSpPr>
          <p:spPr bwMode="auto">
            <a:xfrm>
              <a:off x="6516687" y="5373689"/>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31" name="直接连接符 30"/>
            <p:cNvCxnSpPr/>
            <p:nvPr/>
          </p:nvCxnSpPr>
          <p:spPr>
            <a:xfrm>
              <a:off x="7380288" y="5661025"/>
              <a:ext cx="0" cy="3667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6376988" y="5649913"/>
              <a:ext cx="0" cy="366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457825" y="56594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bwMode="auto">
            <a:xfrm>
              <a:off x="8516938" y="5818188"/>
              <a:ext cx="430212"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35" name="矩形 34"/>
            <p:cNvSpPr/>
            <p:nvPr/>
          </p:nvSpPr>
          <p:spPr bwMode="auto">
            <a:xfrm flipH="1">
              <a:off x="1619250" y="6448425"/>
              <a:ext cx="2855913" cy="358775"/>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36" name="Text Box 48"/>
            <p:cNvSpPr txBox="1">
              <a:spLocks noChangeArrowheads="1"/>
            </p:cNvSpPr>
            <p:nvPr/>
          </p:nvSpPr>
          <p:spPr bwMode="auto">
            <a:xfrm>
              <a:off x="2713818" y="6509998"/>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37" name="直接连接符 36"/>
            <p:cNvCxnSpPr/>
            <p:nvPr/>
          </p:nvCxnSpPr>
          <p:spPr>
            <a:xfrm>
              <a:off x="3614738"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2768600"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 Box 48"/>
            <p:cNvSpPr txBox="1">
              <a:spLocks noChangeArrowheads="1"/>
            </p:cNvSpPr>
            <p:nvPr/>
          </p:nvSpPr>
          <p:spPr bwMode="auto">
            <a:xfrm>
              <a:off x="3559173" y="6509999"/>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40" name="矩形 39"/>
            <p:cNvSpPr/>
            <p:nvPr/>
          </p:nvSpPr>
          <p:spPr bwMode="auto">
            <a:xfrm flipH="1">
              <a:off x="4475163" y="6448425"/>
              <a:ext cx="4051300" cy="358775"/>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41" name="Text Box 48"/>
            <p:cNvSpPr txBox="1">
              <a:spLocks noChangeArrowheads="1"/>
            </p:cNvSpPr>
            <p:nvPr/>
          </p:nvSpPr>
          <p:spPr bwMode="auto">
            <a:xfrm>
              <a:off x="4449763" y="6509999"/>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GTP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42" name="Text Box 48"/>
            <p:cNvSpPr txBox="1">
              <a:spLocks noChangeArrowheads="1"/>
            </p:cNvSpPr>
            <p:nvPr/>
          </p:nvSpPr>
          <p:spPr bwMode="auto">
            <a:xfrm>
              <a:off x="5413373" y="650875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UDP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43" name="Text Box 68"/>
            <p:cNvSpPr txBox="1">
              <a:spLocks noChangeArrowheads="1"/>
            </p:cNvSpPr>
            <p:nvPr/>
          </p:nvSpPr>
          <p:spPr bwMode="auto">
            <a:xfrm>
              <a:off x="96890" y="6342118"/>
              <a:ext cx="1569936"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S-GW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P-GW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44" name="Text Box 48"/>
            <p:cNvSpPr txBox="1">
              <a:spLocks noChangeArrowheads="1"/>
            </p:cNvSpPr>
            <p:nvPr/>
          </p:nvSpPr>
          <p:spPr bwMode="auto">
            <a:xfrm>
              <a:off x="6308724" y="6505576"/>
              <a:ext cx="1360483"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S</a:t>
              </a:r>
              <a:r>
                <a:rPr kumimoji="1" lang="en-US" altLang="zh-CN" sz="1100" b="1" dirty="0">
                  <a:latin typeface="微软雅黑" panose="020B0503020204020204" pitchFamily="34" charset="-122"/>
                  <a:ea typeface="微软雅黑" panose="020B0503020204020204" pitchFamily="34" charset="-122"/>
                </a:rPr>
                <a:t> = S-GW</a:t>
              </a:r>
            </a:p>
          </p:txBody>
        </p:sp>
        <p:sp>
          <p:nvSpPr>
            <p:cNvPr id="45" name="Text Box 48"/>
            <p:cNvSpPr txBox="1">
              <a:spLocks noChangeArrowheads="1"/>
            </p:cNvSpPr>
            <p:nvPr/>
          </p:nvSpPr>
          <p:spPr bwMode="auto">
            <a:xfrm>
              <a:off x="7369967" y="650557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a:latin typeface="微软雅黑" panose="020B0503020204020204" pitchFamily="34" charset="-122"/>
                  <a:ea typeface="微软雅黑" panose="020B0503020204020204" pitchFamily="34" charset="-122"/>
                </a:rPr>
                <a:t>IP</a:t>
              </a:r>
              <a:r>
                <a:rPr kumimoji="1" lang="en-US" altLang="zh-CN" sz="1100" b="1" baseline="-25000">
                  <a:latin typeface="微软雅黑" panose="020B0503020204020204" pitchFamily="34" charset="-122"/>
                  <a:ea typeface="微软雅黑" panose="020B0503020204020204" pitchFamily="34" charset="-122"/>
                </a:rPr>
                <a:t>D</a:t>
              </a:r>
              <a:r>
                <a:rPr kumimoji="1" lang="en-US" altLang="zh-CN" sz="1100" b="1">
                  <a:latin typeface="微软雅黑" panose="020B0503020204020204" pitchFamily="34" charset="-122"/>
                  <a:ea typeface="微软雅黑" panose="020B0503020204020204" pitchFamily="34" charset="-122"/>
                </a:rPr>
                <a:t> = P-GW</a:t>
              </a:r>
            </a:p>
          </p:txBody>
        </p:sp>
        <p:sp>
          <p:nvSpPr>
            <p:cNvPr id="46" name="Text Box 68"/>
            <p:cNvSpPr txBox="1">
              <a:spLocks noChangeArrowheads="1"/>
            </p:cNvSpPr>
            <p:nvPr/>
          </p:nvSpPr>
          <p:spPr bwMode="auto">
            <a:xfrm>
              <a:off x="7454901" y="6145550"/>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47" name="Text Box 68"/>
            <p:cNvSpPr txBox="1">
              <a:spLocks noChangeArrowheads="1"/>
            </p:cNvSpPr>
            <p:nvPr/>
          </p:nvSpPr>
          <p:spPr bwMode="auto">
            <a:xfrm>
              <a:off x="6511925" y="6165850"/>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48" name="直接连接符 47"/>
            <p:cNvCxnSpPr/>
            <p:nvPr/>
          </p:nvCxnSpPr>
          <p:spPr>
            <a:xfrm>
              <a:off x="7421563"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a:off x="6370638" y="644207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a:off x="5451475" y="6451600"/>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bwMode="auto">
            <a:xfrm>
              <a:off x="8524875" y="6616700"/>
              <a:ext cx="430213"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64"/>
            <p:cNvSpPr txBox="1">
              <a:spLocks noChangeArrowheads="1"/>
            </p:cNvSpPr>
            <p:nvPr/>
          </p:nvSpPr>
          <p:spPr bwMode="auto">
            <a:xfrm flipH="1">
              <a:off x="-200866" y="47974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3" name="Text Box 562"/>
            <p:cNvSpPr txBox="1">
              <a:spLocks noChangeArrowheads="1"/>
            </p:cNvSpPr>
            <p:nvPr/>
          </p:nvSpPr>
          <p:spPr bwMode="auto">
            <a:xfrm flipH="1">
              <a:off x="-200866" y="55213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4" name="Text Box 563"/>
            <p:cNvSpPr txBox="1">
              <a:spLocks noChangeArrowheads="1"/>
            </p:cNvSpPr>
            <p:nvPr/>
          </p:nvSpPr>
          <p:spPr bwMode="auto">
            <a:xfrm flipH="1">
              <a:off x="-200866" y="6316661"/>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grpSp>
          <p:nvGrpSpPr>
            <p:cNvPr id="55" name="组合 160"/>
            <p:cNvGrpSpPr>
              <a:grpSpLocks/>
            </p:cNvGrpSpPr>
            <p:nvPr/>
          </p:nvGrpSpPr>
          <p:grpSpPr bwMode="auto">
            <a:xfrm>
              <a:off x="4782617" y="3644900"/>
              <a:ext cx="743353" cy="576263"/>
              <a:chOff x="4782747" y="3501008"/>
              <a:chExt cx="742688" cy="576064"/>
            </a:xfrm>
          </p:grpSpPr>
          <p:sp>
            <p:nvSpPr>
              <p:cNvPr id="56" name="矩形 55"/>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57" name="Text Box 544"/>
              <p:cNvSpPr txBox="1">
                <a:spLocks noChangeArrowheads="1"/>
              </p:cNvSpPr>
              <p:nvPr/>
            </p:nvSpPr>
            <p:spPr bwMode="auto">
              <a:xfrm>
                <a:off x="4782747" y="3643512"/>
                <a:ext cx="74268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grpSp>
        <p:grpSp>
          <p:nvGrpSpPr>
            <p:cNvPr id="58" name="组合 161"/>
            <p:cNvGrpSpPr>
              <a:grpSpLocks/>
            </p:cNvGrpSpPr>
            <p:nvPr/>
          </p:nvGrpSpPr>
          <p:grpSpPr bwMode="auto">
            <a:xfrm>
              <a:off x="395288" y="3644900"/>
              <a:ext cx="720725" cy="576263"/>
              <a:chOff x="4788024" y="3501008"/>
              <a:chExt cx="720080" cy="576064"/>
            </a:xfrm>
          </p:grpSpPr>
          <p:sp>
            <p:nvSpPr>
              <p:cNvPr id="59" name="矩形 58"/>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0" name="Text Box 544"/>
              <p:cNvSpPr txBox="1">
                <a:spLocks noChangeArrowheads="1"/>
              </p:cNvSpPr>
              <p:nvPr/>
            </p:nvSpPr>
            <p:spPr bwMode="auto">
              <a:xfrm>
                <a:off x="4921338" y="3643512"/>
                <a:ext cx="46550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grpSp>
        <p:grpSp>
          <p:nvGrpSpPr>
            <p:cNvPr id="61" name="组合 168"/>
            <p:cNvGrpSpPr>
              <a:grpSpLocks/>
            </p:cNvGrpSpPr>
            <p:nvPr/>
          </p:nvGrpSpPr>
          <p:grpSpPr bwMode="auto">
            <a:xfrm>
              <a:off x="6793995" y="3644900"/>
              <a:ext cx="752855" cy="576263"/>
              <a:chOff x="4778001" y="3501008"/>
              <a:chExt cx="752181" cy="576064"/>
            </a:xfrm>
          </p:grpSpPr>
          <p:sp>
            <p:nvSpPr>
              <p:cNvPr id="62" name="矩形 61"/>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3" name="Text Box 544"/>
              <p:cNvSpPr txBox="1">
                <a:spLocks noChangeArrowheads="1"/>
              </p:cNvSpPr>
              <p:nvPr/>
            </p:nvSpPr>
            <p:spPr bwMode="auto">
              <a:xfrm>
                <a:off x="4778001" y="3643512"/>
                <a:ext cx="752181"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grpSp>
        <p:grpSp>
          <p:nvGrpSpPr>
            <p:cNvPr id="64" name="组合 183"/>
            <p:cNvGrpSpPr>
              <a:grpSpLocks/>
            </p:cNvGrpSpPr>
            <p:nvPr/>
          </p:nvGrpSpPr>
          <p:grpSpPr bwMode="auto">
            <a:xfrm>
              <a:off x="2339975" y="3644900"/>
              <a:ext cx="719138" cy="576263"/>
              <a:chOff x="4788024" y="3501008"/>
              <a:chExt cx="720080" cy="576064"/>
            </a:xfrm>
          </p:grpSpPr>
          <p:sp>
            <p:nvSpPr>
              <p:cNvPr id="65" name="矩形 64"/>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6" name="Text Box 544"/>
              <p:cNvSpPr txBox="1">
                <a:spLocks noChangeArrowheads="1"/>
              </p:cNvSpPr>
              <p:nvPr/>
            </p:nvSpPr>
            <p:spPr bwMode="auto">
              <a:xfrm>
                <a:off x="4851375" y="3643512"/>
                <a:ext cx="605432"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zh-CN" altLang="en-US" sz="1200" b="1">
                  <a:latin typeface="微软雅黑" panose="020B0503020204020204" pitchFamily="34" charset="-122"/>
                  <a:ea typeface="微软雅黑" panose="020B0503020204020204" pitchFamily="34" charset="-122"/>
                </a:endParaRPr>
              </a:p>
            </p:txBody>
          </p:sp>
        </p:grpSp>
        <p:grpSp>
          <p:nvGrpSpPr>
            <p:cNvPr id="67" name="Group 206"/>
            <p:cNvGrpSpPr>
              <a:grpSpLocks/>
            </p:cNvGrpSpPr>
            <p:nvPr/>
          </p:nvGrpSpPr>
          <p:grpSpPr bwMode="auto">
            <a:xfrm>
              <a:off x="8288338" y="3621088"/>
              <a:ext cx="847725" cy="561975"/>
              <a:chOff x="912" y="768"/>
              <a:chExt cx="2400" cy="1584"/>
            </a:xfrm>
          </p:grpSpPr>
          <p:sp>
            <p:nvSpPr>
              <p:cNvPr id="68" name="Oval 20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0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0" name="Oval 20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1" name="Oval 21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1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1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1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7" name="Group 216"/>
              <p:cNvGrpSpPr>
                <a:grpSpLocks/>
              </p:cNvGrpSpPr>
              <p:nvPr/>
            </p:nvGrpSpPr>
            <p:grpSpPr bwMode="auto">
              <a:xfrm>
                <a:off x="912" y="768"/>
                <a:ext cx="2386" cy="1553"/>
                <a:chOff x="912" y="768"/>
                <a:chExt cx="2386" cy="1553"/>
              </a:xfrm>
            </p:grpSpPr>
            <p:sp>
              <p:nvSpPr>
                <p:cNvPr id="78" name="Oval 21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1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0" name="Oval 21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1" name="Oval 22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2" name="Oval 22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3" name="Oval 22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4" name="Oval 22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5" name="Oval 22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2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7" name="Text Box 426"/>
            <p:cNvSpPr txBox="1">
              <a:spLocks noChangeArrowheads="1"/>
            </p:cNvSpPr>
            <p:nvPr/>
          </p:nvSpPr>
          <p:spPr bwMode="auto">
            <a:xfrm>
              <a:off x="8316913" y="3738563"/>
              <a:ext cx="766156" cy="322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88" name="Text Box 68"/>
            <p:cNvSpPr txBox="1">
              <a:spLocks noChangeArrowheads="1"/>
            </p:cNvSpPr>
            <p:nvPr/>
          </p:nvSpPr>
          <p:spPr bwMode="auto">
            <a:xfrm>
              <a:off x="5518180" y="341952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89" name="Text Box 68"/>
            <p:cNvSpPr txBox="1">
              <a:spLocks noChangeArrowheads="1"/>
            </p:cNvSpPr>
            <p:nvPr/>
          </p:nvSpPr>
          <p:spPr bwMode="auto">
            <a:xfrm>
              <a:off x="3193329" y="341601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90" name="Text Box 564"/>
            <p:cNvSpPr txBox="1">
              <a:spLocks noChangeArrowheads="1"/>
            </p:cNvSpPr>
            <p:nvPr/>
          </p:nvSpPr>
          <p:spPr bwMode="auto">
            <a:xfrm flipH="1">
              <a:off x="5894386" y="36033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1" name="Text Box 564"/>
            <p:cNvSpPr txBox="1">
              <a:spLocks noChangeArrowheads="1"/>
            </p:cNvSpPr>
            <p:nvPr/>
          </p:nvSpPr>
          <p:spPr bwMode="auto">
            <a:xfrm flipH="1">
              <a:off x="3659188" y="3600166"/>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2" name="Text Box 564"/>
            <p:cNvSpPr txBox="1">
              <a:spLocks noChangeArrowheads="1"/>
            </p:cNvSpPr>
            <p:nvPr/>
          </p:nvSpPr>
          <p:spPr bwMode="auto">
            <a:xfrm flipH="1">
              <a:off x="7742239" y="355888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3" name="Text Box 564"/>
            <p:cNvSpPr txBox="1">
              <a:spLocks noChangeArrowheads="1"/>
            </p:cNvSpPr>
            <p:nvPr/>
          </p:nvSpPr>
          <p:spPr bwMode="auto">
            <a:xfrm flipH="1">
              <a:off x="1485900" y="35779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4" name="Text Box 562"/>
            <p:cNvSpPr txBox="1">
              <a:spLocks noChangeArrowheads="1"/>
            </p:cNvSpPr>
            <p:nvPr/>
          </p:nvSpPr>
          <p:spPr bwMode="auto">
            <a:xfrm flipH="1">
              <a:off x="403703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5" name="Text Box 563"/>
            <p:cNvSpPr txBox="1">
              <a:spLocks noChangeArrowheads="1"/>
            </p:cNvSpPr>
            <p:nvPr/>
          </p:nvSpPr>
          <p:spPr bwMode="auto">
            <a:xfrm flipH="1">
              <a:off x="634208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cxnSp>
          <p:nvCxnSpPr>
            <p:cNvPr id="96" name="直接连接符 95"/>
            <p:cNvCxnSpPr/>
            <p:nvPr/>
          </p:nvCxnSpPr>
          <p:spPr>
            <a:xfrm>
              <a:off x="1619250" y="4495800"/>
              <a:ext cx="2881313"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7" name="Text Box 68"/>
            <p:cNvSpPr txBox="1">
              <a:spLocks noChangeArrowheads="1"/>
            </p:cNvSpPr>
            <p:nvPr/>
          </p:nvSpPr>
          <p:spPr bwMode="auto">
            <a:xfrm>
              <a:off x="2111377" y="4351338"/>
              <a:ext cx="1723849" cy="290537"/>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UE </a:t>
              </a:r>
              <a:r>
                <a:rPr kumimoji="1" lang="zh-CN" altLang="en-US" sz="1200" b="1" dirty="0">
                  <a:latin typeface="微软雅黑" panose="020B0503020204020204" pitchFamily="34" charset="-122"/>
                  <a:ea typeface="微软雅黑" panose="020B0503020204020204" pitchFamily="34" charset="-122"/>
                </a:rPr>
                <a:t>发送的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分组</a:t>
              </a:r>
              <a:endParaRPr kumimoji="1" lang="en-US" altLang="zh-CN" sz="1200" b="1" dirty="0">
                <a:latin typeface="微软雅黑" panose="020B0503020204020204" pitchFamily="34" charset="-122"/>
                <a:ea typeface="微软雅黑" panose="020B0503020204020204" pitchFamily="34" charset="-122"/>
              </a:endParaRPr>
            </a:p>
          </p:txBody>
        </p:sp>
        <p:cxnSp>
          <p:nvCxnSpPr>
            <p:cNvPr id="98" name="直接连接符 97"/>
            <p:cNvCxnSpPr/>
            <p:nvPr/>
          </p:nvCxnSpPr>
          <p:spPr>
            <a:xfrm flipH="1">
              <a:off x="1619250" y="4457310"/>
              <a:ext cx="3174"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flipH="1">
              <a:off x="4476750" y="4445287"/>
              <a:ext cx="1588"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00" name="下箭头 99"/>
            <p:cNvSpPr/>
            <p:nvPr/>
          </p:nvSpPr>
          <p:spPr>
            <a:xfrm>
              <a:off x="2961476" y="5478774"/>
              <a:ext cx="183361" cy="221054"/>
            </a:xfrm>
            <a:prstGeom prst="downArrow">
              <a:avLst>
                <a:gd name="adj1" fmla="val 50000"/>
                <a:gd name="adj2" fmla="val 55825"/>
              </a:avLst>
            </a:prstGeom>
            <a:solidFill>
              <a:srgbClr val="0000CC"/>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01" name="左大括号 100"/>
            <p:cNvSpPr/>
            <p:nvPr/>
          </p:nvSpPr>
          <p:spPr>
            <a:xfrm rot="16200000">
              <a:off x="2972594" y="3969544"/>
              <a:ext cx="144463" cy="2867025"/>
            </a:xfrm>
            <a:prstGeom prst="leftBrace">
              <a:avLst>
                <a:gd name="adj1" fmla="val 5137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102" name="直接连接符 101"/>
            <p:cNvCxnSpPr/>
            <p:nvPr/>
          </p:nvCxnSpPr>
          <p:spPr bwMode="auto">
            <a:xfrm>
              <a:off x="4954588" y="5579042"/>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bwMode="auto">
            <a:xfrm>
              <a:off x="4953000" y="6366441"/>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sp>
          <p:nvSpPr>
            <p:cNvPr id="104" name="Text Box 48"/>
            <p:cNvSpPr txBox="1">
              <a:spLocks noChangeArrowheads="1"/>
            </p:cNvSpPr>
            <p:nvPr/>
          </p:nvSpPr>
          <p:spPr bwMode="auto">
            <a:xfrm>
              <a:off x="4621214" y="5354639"/>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105" name="Text Box 48"/>
            <p:cNvSpPr txBox="1">
              <a:spLocks noChangeArrowheads="1"/>
            </p:cNvSpPr>
            <p:nvPr/>
          </p:nvSpPr>
          <p:spPr bwMode="auto">
            <a:xfrm>
              <a:off x="4621214" y="6145213"/>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CC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CC00CC"/>
                  </a:solidFill>
                  <a:latin typeface="微软雅黑" panose="020B0503020204020204" pitchFamily="34" charset="-122"/>
                  <a:ea typeface="微软雅黑" panose="020B0503020204020204" pitchFamily="34" charset="-122"/>
                </a:rPr>
                <a:t>2</a:t>
              </a:r>
            </a:p>
          </p:txBody>
        </p:sp>
      </p:grpSp>
    </p:spTree>
    <p:extLst>
      <p:ext uri="{BB962C8B-B14F-4D97-AF65-F5344CB8AC3E}">
        <p14:creationId xmlns:p14="http://schemas.microsoft.com/office/powerpoint/2010/main" val="13704521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en-US" altLang="zh-CN" b="1" dirty="0">
                <a:solidFill>
                  <a:srgbClr val="C00000"/>
                </a:solidFill>
                <a:latin typeface="微软雅黑" pitchFamily="34" charset="-122"/>
                <a:ea typeface="微软雅黑" pitchFamily="34" charset="-122"/>
              </a:rPr>
              <a:t>UE </a:t>
            </a:r>
            <a:r>
              <a:rPr lang="zh-CN" altLang="en-US" b="1" dirty="0">
                <a:solidFill>
                  <a:srgbClr val="C00000"/>
                </a:solidFill>
                <a:latin typeface="微软雅黑" pitchFamily="34" charset="-122"/>
                <a:ea typeface="微软雅黑" pitchFamily="34" charset="-122"/>
              </a:rPr>
              <a:t>发送的 </a:t>
            </a:r>
            <a:r>
              <a:rPr lang="en-US" altLang="zh-CN" b="1" dirty="0">
                <a:solidFill>
                  <a:srgbClr val="C00000"/>
                </a:solidFill>
                <a:latin typeface="微软雅黑" pitchFamily="34" charset="-122"/>
                <a:ea typeface="微软雅黑" pitchFamily="34" charset="-122"/>
              </a:rPr>
              <a:t>IP</a:t>
            </a:r>
            <a:r>
              <a:rPr lang="zh-CN" altLang="en-US" b="1" dirty="0">
                <a:solidFill>
                  <a:srgbClr val="C00000"/>
                </a:solidFill>
                <a:latin typeface="微软雅黑" pitchFamily="34" charset="-122"/>
                <a:ea typeface="微软雅黑" pitchFamily="34" charset="-122"/>
              </a:rPr>
              <a:t>分组：</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BD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BD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www.baidu.com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UE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 S-GW </a:t>
            </a:r>
            <a:r>
              <a:rPr lang="zh-CN" altLang="en-US" b="1" dirty="0">
                <a:solidFill>
                  <a:srgbClr val="C00000"/>
                </a:solidFill>
                <a:latin typeface="微软雅黑" pitchFamily="34" charset="-122"/>
                <a:ea typeface="微软雅黑" pitchFamily="34" charset="-122"/>
                <a:sym typeface="Wingdings 2" panose="05020102010507070707" pitchFamily="18" charset="2"/>
              </a:rPr>
              <a:t>隧道中传输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基站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PDCP </a:t>
            </a:r>
            <a:r>
              <a:rPr lang="zh-CN" altLang="en-US" b="1" dirty="0">
                <a:latin typeface="微软雅黑" pitchFamily="34" charset="-122"/>
                <a:ea typeface="微软雅黑" pitchFamily="34" charset="-122"/>
              </a:rPr>
              <a:t>把收到的数据解封后，用协议 </a:t>
            </a:r>
            <a:r>
              <a:rPr lang="en-US" altLang="zh-CN" b="1" dirty="0">
                <a:solidFill>
                  <a:srgbClr val="0000CC"/>
                </a:solidFill>
                <a:latin typeface="微软雅黑" pitchFamily="34" charset="-122"/>
                <a:ea typeface="微软雅黑" pitchFamily="34" charset="-122"/>
              </a:rPr>
              <a:t>GTP-U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并把一个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latin typeface="微软雅黑" pitchFamily="34" charset="-122"/>
                <a:ea typeface="微软雅黑" pitchFamily="34" charset="-122"/>
              </a:rPr>
              <a:t>TEID (Tunnel Endpoint Identifier)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 S-GW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a:t>
            </a:r>
            <a:r>
              <a:rPr lang="en-US" altLang="zh-CN" b="1" dirty="0" err="1">
                <a:latin typeface="微软雅黑" pitchFamily="34" charset="-122"/>
                <a:ea typeface="微软雅黑" pitchFamily="34" charset="-122"/>
              </a:rPr>
              <a:t>eNB</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6785723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a:solidFill>
                  <a:srgbClr val="C00000"/>
                </a:solidFill>
                <a:latin typeface="微软雅黑" pitchFamily="34" charset="-122"/>
                <a:ea typeface="微软雅黑" pitchFamily="34" charset="-122"/>
                <a:sym typeface="Wingdings 2" panose="05020102010507070707" pitchFamily="18" charset="2"/>
              </a:rPr>
              <a:t>S-GW → P-GW</a:t>
            </a:r>
            <a:r>
              <a:rPr lang="zh-CN" altLang="en-US" b="1" dirty="0">
                <a:solidFill>
                  <a:srgbClr val="C00000"/>
                </a:solidFill>
                <a:latin typeface="微软雅黑" pitchFamily="34" charset="-122"/>
                <a:ea typeface="微软雅黑" pitchFamily="34" charset="-122"/>
                <a:sym typeface="Wingdings 2" panose="05020102010507070707" pitchFamily="18" charset="2"/>
              </a:rPr>
              <a:t> 隧道中传输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S-GW </a:t>
            </a:r>
            <a:r>
              <a:rPr lang="zh-CN" altLang="en-US" b="1" dirty="0">
                <a:latin typeface="微软雅黑" pitchFamily="34" charset="-122"/>
                <a:ea typeface="微软雅黑" pitchFamily="34" charset="-122"/>
              </a:rPr>
              <a:t>收到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分组后，用同样的方法解封，并再次用协议 </a:t>
            </a:r>
            <a:r>
              <a:rPr lang="en-US" altLang="zh-CN" b="1" dirty="0">
                <a:solidFill>
                  <a:srgbClr val="0000CC"/>
                </a:solidFill>
                <a:latin typeface="微软雅黑" pitchFamily="34" charset="-122"/>
                <a:ea typeface="微软雅黑" pitchFamily="34" charset="-122"/>
              </a:rPr>
              <a:t>GTP-U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把一个该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P-GW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最后，</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把从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隧道收到的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分组解封，得到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发送的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分组，转发到互联网的百度网站。</a:t>
            </a:r>
            <a:endParaRPr lang="en-US" altLang="zh-CN"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3174564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漫游时，所关联的基站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会经常改变。</a:t>
            </a:r>
            <a:r>
              <a:rPr lang="zh-CN" altLang="en-US" b="1" dirty="0">
                <a:latin typeface="微软雅黑" pitchFamily="34" charset="-122"/>
                <a:ea typeface="微软雅黑" pitchFamily="34" charset="-122"/>
                <a:sym typeface="Wingdings 2" panose="05020102010507070707" pitchFamily="18" charset="2"/>
              </a:rPr>
              <a:t>使得 </a:t>
            </a:r>
            <a:r>
              <a:rPr lang="en-US" altLang="zh-CN" b="1" dirty="0">
                <a:latin typeface="微软雅黑" pitchFamily="34" charset="-122"/>
                <a:ea typeface="微软雅黑" pitchFamily="34" charset="-122"/>
                <a:sym typeface="Wingdings 2" panose="05020102010507070707" pitchFamily="18" charset="2"/>
              </a:rPr>
              <a:t>P-GW/GGSN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a:latin typeface="微软雅黑" pitchFamily="34" charset="-122"/>
                <a:ea typeface="微软雅黑" pitchFamily="34" charset="-122"/>
                <a:sym typeface="Wingdings 2" panose="05020102010507070707" pitchFamily="18" charset="2"/>
              </a:rPr>
              <a:t>S-GW/SGSN</a:t>
            </a:r>
            <a:r>
              <a:rPr lang="zh-CN" altLang="en-US" b="1" dirty="0">
                <a:latin typeface="微软雅黑" pitchFamily="34" charset="-122"/>
                <a:ea typeface="微软雅黑" pitchFamily="34" charset="-122"/>
                <a:sym typeface="Wingdings 2" panose="05020102010507070707" pitchFamily="18" charset="2"/>
              </a:rPr>
              <a:t> 无法根据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地址，用传统的路由选择协议，把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分组转发到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但所有的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的地理位置都是</a:t>
            </a:r>
            <a:r>
              <a:rPr lang="zh-CN" altLang="en-US" b="1" dirty="0">
                <a:solidFill>
                  <a:srgbClr val="C00000"/>
                </a:solidFill>
                <a:latin typeface="微软雅黑" pitchFamily="34" charset="-122"/>
                <a:ea typeface="微软雅黑" pitchFamily="34" charset="-122"/>
                <a:sym typeface="Wingdings 2" panose="05020102010507070707" pitchFamily="18" charset="2"/>
              </a:rPr>
              <a:t>固定不变</a:t>
            </a:r>
            <a:r>
              <a:rPr lang="zh-CN" altLang="en-US" b="1" dirty="0">
                <a:latin typeface="微软雅黑" pitchFamily="34" charset="-122"/>
                <a:ea typeface="微软雅黑" pitchFamily="34" charset="-122"/>
                <a:sym typeface="Wingdings 2" panose="05020102010507070707" pitchFamily="18" charset="2"/>
              </a:rPr>
              <a:t>的，因而可以让</a:t>
            </a:r>
            <a:r>
              <a:rPr lang="zh-CN" altLang="en-US" b="1" dirty="0">
                <a:solidFill>
                  <a:srgbClr val="C00000"/>
                </a:solidFill>
                <a:latin typeface="微软雅黑" pitchFamily="34" charset="-122"/>
                <a:ea typeface="微软雅黑" pitchFamily="34" charset="-122"/>
                <a:sym typeface="Wingdings 2" panose="05020102010507070707" pitchFamily="18" charset="2"/>
              </a:rPr>
              <a:t>核心网 </a:t>
            </a:r>
            <a:r>
              <a:rPr lang="en-US" altLang="zh-CN" b="1" dirty="0">
                <a:solidFill>
                  <a:srgbClr val="C00000"/>
                </a:solidFill>
                <a:latin typeface="微软雅黑" pitchFamily="34" charset="-122"/>
                <a:ea typeface="微软雅黑" pitchFamily="34" charset="-122"/>
                <a:sym typeface="Wingdings 2" panose="05020102010507070707" pitchFamily="18" charset="2"/>
              </a:rPr>
              <a:t>EPC </a:t>
            </a:r>
            <a:r>
              <a:rPr lang="zh-CN" altLang="en-US" b="1" dirty="0">
                <a:solidFill>
                  <a:srgbClr val="C00000"/>
                </a:solidFill>
                <a:latin typeface="微软雅黑" pitchFamily="34" charset="-122"/>
                <a:ea typeface="微软雅黑" pitchFamily="34" charset="-122"/>
                <a:sym typeface="Wingdings 2" panose="05020102010507070707" pitchFamily="18" charset="2"/>
              </a:rPr>
              <a:t>只负责</a:t>
            </a:r>
            <a:r>
              <a:rPr lang="zh-CN" altLang="en-US" b="1" dirty="0">
                <a:latin typeface="微软雅黑" pitchFamily="34" charset="-122"/>
                <a:ea typeface="微软雅黑" pitchFamily="34" charset="-122"/>
                <a:sym typeface="Wingdings 2" panose="05020102010507070707" pitchFamily="18" charset="2"/>
              </a:rPr>
              <a:t>核心网</a:t>
            </a:r>
            <a:r>
              <a:rPr lang="zh-CN" altLang="en-US" b="1" dirty="0">
                <a:solidFill>
                  <a:srgbClr val="C00000"/>
                </a:solidFill>
                <a:latin typeface="微软雅黑" pitchFamily="34" charset="-122"/>
                <a:ea typeface="微软雅黑" pitchFamily="34" charset="-122"/>
                <a:sym typeface="Wingdings 2" panose="05020102010507070707" pitchFamily="18" charset="2"/>
              </a:rPr>
              <a:t>内部的路由选择。</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solidFill>
                  <a:srgbClr val="0000CC"/>
                </a:solidFill>
                <a:latin typeface="微软雅黑" pitchFamily="34" charset="-122"/>
                <a:ea typeface="微软雅黑" pitchFamily="34" charset="-122"/>
                <a:sym typeface="Wingdings 2" panose="05020102010507070707" pitchFamily="18" charset="2"/>
              </a:rPr>
              <a:t>采用 </a:t>
            </a:r>
            <a:r>
              <a:rPr lang="en-US" altLang="zh-CN" b="1" dirty="0">
                <a:solidFill>
                  <a:srgbClr val="0000CC"/>
                </a:solidFill>
                <a:latin typeface="微软雅黑" pitchFamily="34" charset="-122"/>
                <a:ea typeface="微软雅黑" pitchFamily="34" charset="-122"/>
                <a:sym typeface="Wingdings 2" panose="05020102010507070707" pitchFamily="18" charset="2"/>
              </a:rPr>
              <a:t>GTP </a:t>
            </a:r>
            <a:r>
              <a:rPr lang="zh-CN" altLang="en-US" b="1" dirty="0">
                <a:solidFill>
                  <a:srgbClr val="0000CC"/>
                </a:solidFill>
                <a:latin typeface="微软雅黑" pitchFamily="34" charset="-122"/>
                <a:ea typeface="微软雅黑" pitchFamily="34" charset="-122"/>
                <a:sym typeface="Wingdings 2" panose="05020102010507070707" pitchFamily="18" charset="2"/>
              </a:rPr>
              <a:t>隧道方式，</a:t>
            </a:r>
            <a:r>
              <a:rPr lang="zh-CN" altLang="en-US" b="1" dirty="0">
                <a:latin typeface="微软雅黑" pitchFamily="34" charset="-122"/>
                <a:ea typeface="微软雅黑" pitchFamily="34" charset="-122"/>
                <a:sym typeface="Wingdings 2" panose="05020102010507070707" pitchFamily="18" charset="2"/>
              </a:rPr>
              <a:t>核心网将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发送到互联网的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a:t>
            </a:r>
            <a:r>
              <a:rPr lang="zh-CN" altLang="en-US" b="1" dirty="0">
                <a:solidFill>
                  <a:srgbClr val="C00000"/>
                </a:solidFill>
                <a:latin typeface="微软雅黑" pitchFamily="34" charset="-122"/>
                <a:ea typeface="微软雅黑" pitchFamily="34" charset="-122"/>
                <a:sym typeface="Wingdings 2" panose="05020102010507070707" pitchFamily="18" charset="2"/>
              </a:rPr>
              <a:t>封装</a:t>
            </a:r>
            <a:r>
              <a:rPr lang="zh-CN" altLang="en-US" b="1" dirty="0">
                <a:latin typeface="微软雅黑" pitchFamily="34" charset="-122"/>
                <a:ea typeface="微软雅黑" pitchFamily="34" charset="-122"/>
                <a:sym typeface="Wingdings 2" panose="05020102010507070707" pitchFamily="18" charset="2"/>
              </a:rPr>
              <a:t>为新的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分组，在隧道中传送到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。以后再由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转发给互联网中的其他路由器。同理，从互联网发送给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分组，一律先转发到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，由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负责确定从哪个隧道转发到 </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，最后再从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转发到目的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238835" y="585623"/>
            <a:ext cx="26525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为何使用 </a:t>
            </a:r>
            <a:r>
              <a:rPr lang="en-US" altLang="zh-CN" sz="2000" b="1" dirty="0">
                <a:solidFill>
                  <a:schemeClr val="bg1"/>
                </a:solidFill>
                <a:latin typeface="微软雅黑" pitchFamily="34" charset="-122"/>
                <a:ea typeface="微软雅黑" pitchFamily="34" charset="-122"/>
              </a:rPr>
              <a:t>GTP </a:t>
            </a:r>
            <a:r>
              <a:rPr lang="zh-CN" altLang="en-US" sz="2000" b="1" dirty="0">
                <a:solidFill>
                  <a:schemeClr val="bg1"/>
                </a:solidFill>
                <a:latin typeface="微软雅黑" pitchFamily="34" charset="-122"/>
                <a:ea typeface="微软雅黑" pitchFamily="34" charset="-122"/>
              </a:rPr>
              <a:t>隧道？</a:t>
            </a:r>
          </a:p>
        </p:txBody>
      </p:sp>
    </p:spTree>
    <p:extLst>
      <p:ext uri="{BB962C8B-B14F-4D97-AF65-F5344CB8AC3E}">
        <p14:creationId xmlns:p14="http://schemas.microsoft.com/office/powerpoint/2010/main" val="28538066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4265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百度服务器并不知道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的空口状态，而只知道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的 </a:t>
            </a:r>
            <a:r>
              <a:rPr lang="en-US" altLang="zh-CN" sz="2000" b="1" dirty="0">
                <a:latin typeface="微软雅黑" pitchFamily="34" charset="-122"/>
                <a:ea typeface="微软雅黑" pitchFamily="34" charset="-122"/>
                <a:sym typeface="Wingdings 2" panose="05020102010507070707" pitchFamily="18" charset="2"/>
              </a:rPr>
              <a:t>IP </a:t>
            </a:r>
            <a:r>
              <a:rPr lang="zh-CN" altLang="en-US" sz="2000" b="1" dirty="0">
                <a:latin typeface="微软雅黑" pitchFamily="34" charset="-122"/>
                <a:ea typeface="微软雅黑" pitchFamily="34" charset="-122"/>
                <a:sym typeface="Wingdings 2" panose="05020102010507070707" pitchFamily="18" charset="2"/>
              </a:rPr>
              <a:t>地址。</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正常 </a:t>
            </a:r>
            <a:r>
              <a:rPr lang="en-US" altLang="zh-CN" sz="2000" b="1" dirty="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分组转发</a:t>
            </a:r>
            <a:endParaRPr lang="en-US" altLang="zh-CN" sz="2000"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百度服务器以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地址为目的地址，构成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分组发送出去。</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互联网中的路由器根据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分组的目的地址，能够找到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所驻留的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在隧道中转发给 </a:t>
            </a:r>
            <a:r>
              <a:rPr lang="en-US" altLang="zh-CN" sz="2000" b="1" dirty="0">
                <a:solidFill>
                  <a:srgbClr val="C00000"/>
                </a:solidFill>
                <a:latin typeface="微软雅黑" pitchFamily="34" charset="-122"/>
                <a:ea typeface="微软雅黑" pitchFamily="34" charset="-122"/>
                <a:sym typeface="Wingdings 2" panose="05020102010507070707" pitchFamily="18" charset="2"/>
              </a:rPr>
              <a:t>S-GW</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通过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地址就能通过对应的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隧道，把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分组封装为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分组，在隧道中转发给 </a:t>
            </a:r>
            <a:r>
              <a:rPr lang="en-US" altLang="zh-CN" b="1" dirty="0">
                <a:latin typeface="微软雅黑" pitchFamily="34" charset="-122"/>
                <a:ea typeface="微软雅黑" pitchFamily="34" charset="-122"/>
                <a:sym typeface="Wingdings 2" panose="05020102010507070707" pitchFamily="18" charset="2"/>
              </a:rPr>
              <a:t>S-GW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例：百度服务器向 </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发送数据</a:t>
            </a:r>
          </a:p>
        </p:txBody>
      </p:sp>
    </p:spTree>
    <p:extLst>
      <p:ext uri="{BB962C8B-B14F-4D97-AF65-F5344CB8AC3E}">
        <p14:creationId xmlns:p14="http://schemas.microsoft.com/office/powerpoint/2010/main" val="39573506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通过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转发。</a:t>
            </a:r>
            <a:r>
              <a:rPr lang="zh-CN" altLang="en-US" sz="2000" b="1" dirty="0">
                <a:solidFill>
                  <a:srgbClr val="0000CC"/>
                </a:solidFill>
                <a:latin typeface="微软雅黑" pitchFamily="34" charset="-122"/>
                <a:ea typeface="微软雅黑" pitchFamily="34" charset="-122"/>
                <a:sym typeface="Wingdings 2" panose="05020102010507070707" pitchFamily="18" charset="2"/>
              </a:rPr>
              <a:t>有两种情况：</a:t>
            </a:r>
          </a:p>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GTP-U</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隧道存在。</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分组通过隧道发送给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分组解封，在空口链路上采用 </a:t>
            </a:r>
            <a:r>
              <a:rPr lang="en-US" altLang="zh-CN" b="1" dirty="0">
                <a:latin typeface="微软雅黑" pitchFamily="34" charset="-122"/>
                <a:ea typeface="微软雅黑" pitchFamily="34" charset="-122"/>
                <a:sym typeface="Wingdings 2" panose="05020102010507070707" pitchFamily="18" charset="2"/>
              </a:rPr>
              <a:t>PDCP/RLC/MAC/PHY </a:t>
            </a:r>
            <a:r>
              <a:rPr lang="zh-CN" altLang="en-US" b="1" dirty="0">
                <a:latin typeface="微软雅黑" pitchFamily="34" charset="-122"/>
                <a:ea typeface="微软雅黑" pitchFamily="34" charset="-122"/>
                <a:sym typeface="Wingdings 2" panose="05020102010507070707" pitchFamily="18" charset="2"/>
              </a:rPr>
              <a:t>层封装，把数据发送给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GTP-U </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隧道不存在。</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此时，</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处于空口空闲状态。</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因为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中的所有基站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都不知道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在什么地方，</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只好先把收到的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a:t>
            </a:r>
            <a:r>
              <a:rPr lang="zh-CN" altLang="en-US" b="1" dirty="0">
                <a:solidFill>
                  <a:srgbClr val="0000CC"/>
                </a:solidFill>
                <a:latin typeface="微软雅黑" pitchFamily="34" charset="-122"/>
                <a:ea typeface="微软雅黑" pitchFamily="34" charset="-122"/>
                <a:sym typeface="Wingdings 2" panose="05020102010507070707" pitchFamily="18" charset="2"/>
              </a:rPr>
              <a:t>暂时缓存，</a:t>
            </a:r>
            <a:r>
              <a:rPr lang="zh-CN" altLang="en-US" b="1" dirty="0">
                <a:latin typeface="微软雅黑" pitchFamily="34" charset="-122"/>
                <a:ea typeface="微软雅黑" pitchFamily="34" charset="-122"/>
                <a:sym typeface="Wingdings 2" panose="05020102010507070707" pitchFamily="18" charset="2"/>
              </a:rPr>
              <a:t>并触发移动性管理实体 </a:t>
            </a:r>
            <a:r>
              <a:rPr lang="en-US" altLang="zh-CN" b="1" dirty="0">
                <a:solidFill>
                  <a:srgbClr val="C00000"/>
                </a:solidFill>
                <a:latin typeface="微软雅黑" pitchFamily="34" charset="-122"/>
                <a:ea typeface="微软雅黑" pitchFamily="34" charset="-122"/>
                <a:sym typeface="Wingdings 2" panose="05020102010507070707" pitchFamily="18" charset="2"/>
              </a:rPr>
              <a:t>MME</a:t>
            </a:r>
            <a:r>
              <a:rPr lang="en-US" altLang="zh-CN" b="1" dirty="0">
                <a:latin typeface="微软雅黑" pitchFamily="34" charset="-122"/>
                <a:ea typeface="微软雅黑" pitchFamily="34" charset="-122"/>
                <a:sym typeface="Wingdings 2" panose="05020102010507070707" pitchFamily="18" charset="2"/>
              </a:rPr>
              <a:t> </a:t>
            </a:r>
            <a:r>
              <a:rPr lang="zh-CN" altLang="en-US" b="1" dirty="0">
                <a:solidFill>
                  <a:srgbClr val="0000CC"/>
                </a:solidFill>
                <a:latin typeface="微软雅黑" pitchFamily="34" charset="-122"/>
                <a:ea typeface="微软雅黑" pitchFamily="34" charset="-122"/>
                <a:sym typeface="Wingdings 2" panose="05020102010507070707" pitchFamily="18" charset="2"/>
              </a:rPr>
              <a:t>寻呼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（有时称为唤醒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例：百度服务器向 </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发送数据</a:t>
            </a:r>
          </a:p>
        </p:txBody>
      </p:sp>
    </p:spTree>
    <p:extLst>
      <p:ext uri="{BB962C8B-B14F-4D97-AF65-F5344CB8AC3E}">
        <p14:creationId xmlns:p14="http://schemas.microsoft.com/office/powerpoint/2010/main" val="22892630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23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 </a:t>
            </a:r>
            <a:r>
              <a:rPr lang="en-US" altLang="zh-CN" sz="2000" b="1" dirty="0">
                <a:latin typeface="微软雅黑" pitchFamily="34" charset="-122"/>
                <a:ea typeface="微软雅黑" pitchFamily="34" charset="-122"/>
                <a:sym typeface="Wingdings 2" panose="05020102010507070707" pitchFamily="18" charset="2"/>
              </a:rPr>
              <a:t>(Tracking Area)</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整个覆盖范围划分为很多跟踪区 </a:t>
            </a:r>
            <a:r>
              <a:rPr lang="en-US" altLang="zh-CN" b="1" dirty="0">
                <a:latin typeface="微软雅黑" pitchFamily="34" charset="-122"/>
                <a:ea typeface="微软雅黑" pitchFamily="34" charset="-122"/>
                <a:sym typeface="Wingdings 2" panose="05020102010507070707" pitchFamily="18" charset="2"/>
              </a:rPr>
              <a:t>TA</a:t>
            </a:r>
            <a:r>
              <a:rPr lang="zh-CN" altLang="en-US" b="1" dirty="0">
                <a:latin typeface="微软雅黑" pitchFamily="34" charset="-122"/>
                <a:ea typeface="微软雅黑" pitchFamily="34" charset="-122"/>
                <a:sym typeface="Wingdings 2" panose="05020102010507070707" pitchFamily="18" charset="2"/>
              </a:rPr>
              <a:t>，由唯一的跟踪区标识 </a:t>
            </a:r>
            <a:r>
              <a:rPr lang="en-US" altLang="zh-CN" b="1" dirty="0">
                <a:latin typeface="微软雅黑" pitchFamily="34" charset="-122"/>
                <a:ea typeface="微软雅黑" pitchFamily="34" charset="-122"/>
                <a:sym typeface="Wingdings 2" panose="05020102010507070707" pitchFamily="18" charset="2"/>
              </a:rPr>
              <a:t>TAI (Tracking Area Identity) </a:t>
            </a:r>
            <a:r>
              <a:rPr lang="zh-CN" altLang="en-US" b="1" dirty="0">
                <a:latin typeface="微软雅黑" pitchFamily="34" charset="-122"/>
                <a:ea typeface="微软雅黑" pitchFamily="34" charset="-122"/>
                <a:sym typeface="Wingdings 2" panose="05020102010507070707" pitchFamily="18" charset="2"/>
              </a:rPr>
              <a:t>标识。</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是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系统中</a:t>
            </a:r>
            <a:r>
              <a:rPr lang="zh-CN" altLang="en-US" b="1" dirty="0">
                <a:solidFill>
                  <a:srgbClr val="C00000"/>
                </a:solidFill>
                <a:latin typeface="微软雅黑" pitchFamily="34" charset="-122"/>
                <a:ea typeface="微软雅黑" pitchFamily="34" charset="-122"/>
                <a:sym typeface="Wingdings 2" panose="05020102010507070707" pitchFamily="18" charset="2"/>
              </a:rPr>
              <a:t>位置更新</a:t>
            </a:r>
            <a:r>
              <a:rPr lang="zh-CN" altLang="en-US" b="1" dirty="0">
                <a:latin typeface="微软雅黑" pitchFamily="34" charset="-122"/>
                <a:ea typeface="微软雅黑" pitchFamily="34" charset="-122"/>
                <a:sym typeface="Wingdings 2" panose="05020102010507070707" pitchFamily="18" charset="2"/>
              </a:rPr>
              <a:t>和</a:t>
            </a:r>
            <a:r>
              <a:rPr lang="zh-CN" altLang="en-US" b="1" dirty="0">
                <a:solidFill>
                  <a:srgbClr val="C00000"/>
                </a:solidFill>
                <a:latin typeface="微软雅黑" pitchFamily="34" charset="-122"/>
                <a:ea typeface="微软雅黑" pitchFamily="34" charset="-122"/>
                <a:sym typeface="Wingdings 2" panose="05020102010507070707" pitchFamily="18" charset="2"/>
              </a:rPr>
              <a:t>寻呼</a:t>
            </a:r>
            <a:r>
              <a:rPr lang="zh-CN" altLang="en-US" b="1" dirty="0">
                <a:latin typeface="微软雅黑" pitchFamily="34" charset="-122"/>
                <a:ea typeface="微软雅黑" pitchFamily="34" charset="-122"/>
                <a:sym typeface="Wingdings 2" panose="05020102010507070707" pitchFamily="18" charset="2"/>
              </a:rPr>
              <a:t>的基本单位。</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一个跟踪区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可以覆盖多个小区。</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处于待机状态的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必须收听邻近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的广播，以便知道自己位于哪个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中。</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a:t>
            </a:r>
            <a:r>
              <a:rPr lang="zh-CN" altLang="en-US" b="1" dirty="0">
                <a:solidFill>
                  <a:srgbClr val="C00000"/>
                </a:solidFill>
                <a:latin typeface="微软雅黑" pitchFamily="34" charset="-122"/>
                <a:ea typeface="微软雅黑" pitchFamily="34" charset="-122"/>
                <a:sym typeface="Wingdings 2" panose="05020102010507070707" pitchFamily="18" charset="2"/>
              </a:rPr>
              <a:t>周期性</a:t>
            </a:r>
            <a:r>
              <a:rPr lang="zh-CN" altLang="en-US" b="1" dirty="0">
                <a:latin typeface="微软雅黑" pitchFamily="34" charset="-122"/>
                <a:ea typeface="微软雅黑" pitchFamily="34" charset="-122"/>
                <a:sym typeface="Wingdings 2" panose="05020102010507070707" pitchFamily="18" charset="2"/>
              </a:rPr>
              <a:t>向核心网的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报告自己的 </a:t>
            </a:r>
            <a:r>
              <a:rPr lang="en-US" altLang="zh-CN" b="1" dirty="0">
                <a:latin typeface="微软雅黑" pitchFamily="34" charset="-122"/>
                <a:ea typeface="微软雅黑" pitchFamily="34" charset="-122"/>
                <a:sym typeface="Wingdings 2" panose="05020102010507070707" pitchFamily="18" charset="2"/>
              </a:rPr>
              <a:t>TAI</a:t>
            </a:r>
            <a:r>
              <a:rPr lang="zh-CN" altLang="en-US" b="1" dirty="0">
                <a:latin typeface="微软雅黑" pitchFamily="34" charset="-122"/>
                <a:ea typeface="微软雅黑" pitchFamily="34" charset="-122"/>
                <a:sym typeface="Wingdings 2" panose="05020102010507070707" pitchFamily="18" charset="2"/>
              </a:rPr>
              <a:t>，以便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能够寻呼到自己。</a:t>
            </a:r>
            <a:endParaRPr lang="en-US" altLang="zh-CN"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8244483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2467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跟踪区列表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TAL </a:t>
            </a:r>
            <a:r>
              <a:rPr lang="en-US" altLang="zh-CN" sz="2000" b="1" dirty="0">
                <a:latin typeface="微软雅黑" pitchFamily="34" charset="-122"/>
                <a:ea typeface="微软雅黑" pitchFamily="34" charset="-122"/>
                <a:sym typeface="Wingdings 2" panose="05020102010507070707" pitchFamily="18" charset="2"/>
              </a:rPr>
              <a:t>(Tracking Area List)</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为了避免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区域间频繁切换时造成核心网信令负荷过重，</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把一组（</a:t>
            </a:r>
            <a:r>
              <a:rPr lang="en-US" altLang="zh-CN" b="1" dirty="0">
                <a:latin typeface="微软雅黑" pitchFamily="34" charset="-122"/>
                <a:ea typeface="微软雅黑" pitchFamily="34" charset="-122"/>
                <a:sym typeface="Wingdings 2" panose="05020102010507070707" pitchFamily="18" charset="2"/>
              </a:rPr>
              <a:t>1 ~ 16 </a:t>
            </a:r>
            <a:r>
              <a:rPr lang="zh-CN" altLang="en-US" b="1" dirty="0">
                <a:latin typeface="微软雅黑" pitchFamily="34" charset="-122"/>
                <a:ea typeface="微软雅黑" pitchFamily="34" charset="-122"/>
                <a:sym typeface="Wingdings 2" panose="05020102010507070707" pitchFamily="18" charset="2"/>
              </a:rPr>
              <a:t>个）</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写入一个</a:t>
            </a:r>
            <a:r>
              <a:rPr lang="zh-CN" altLang="en-US" b="1" dirty="0">
                <a:solidFill>
                  <a:srgbClr val="C00000"/>
                </a:solidFill>
                <a:latin typeface="微软雅黑" pitchFamily="34" charset="-122"/>
                <a:ea typeface="微软雅黑" pitchFamily="34" charset="-122"/>
                <a:sym typeface="Wingdings 2" panose="05020102010507070707" pitchFamily="18" charset="2"/>
              </a:rPr>
              <a:t>跟踪区列表 </a:t>
            </a:r>
            <a:r>
              <a:rPr lang="en-US" altLang="zh-CN" b="1" dirty="0">
                <a:solidFill>
                  <a:srgbClr val="C00000"/>
                </a:solidFill>
                <a:latin typeface="微软雅黑" pitchFamily="34" charset="-122"/>
                <a:ea typeface="微软雅黑" pitchFamily="34" charset="-122"/>
                <a:sym typeface="Wingdings 2" panose="05020102010507070707" pitchFamily="18" charset="2"/>
              </a:rPr>
              <a:t>TAL</a:t>
            </a:r>
            <a:r>
              <a:rPr lang="zh-CN" altLang="en-US" b="1" dirty="0">
                <a:solidFill>
                  <a:srgbClr val="C00000"/>
                </a:solidFill>
                <a:latin typeface="微软雅黑" pitchFamily="34" charset="-122"/>
                <a:ea typeface="微软雅黑" pitchFamily="34" charset="-122"/>
                <a:sym typeface="Wingdings 2" panose="05020102010507070707" pitchFamily="18" charset="2"/>
              </a:rPr>
              <a:t>。</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当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TAL </a:t>
            </a:r>
            <a:r>
              <a:rPr lang="zh-CN" altLang="en-US" b="1" dirty="0">
                <a:latin typeface="微软雅黑" pitchFamily="34" charset="-122"/>
                <a:ea typeface="微软雅黑" pitchFamily="34" charset="-122"/>
                <a:sym typeface="Wingdings 2" panose="05020102010507070707" pitchFamily="18" charset="2"/>
              </a:rPr>
              <a:t>范围内跨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漫游时，</a:t>
            </a:r>
            <a:r>
              <a:rPr lang="zh-CN" altLang="en-US" b="1" dirty="0">
                <a:solidFill>
                  <a:srgbClr val="C00000"/>
                </a:solidFill>
                <a:latin typeface="微软雅黑" pitchFamily="34" charset="-122"/>
                <a:ea typeface="微软雅黑" pitchFamily="34" charset="-122"/>
                <a:sym typeface="Wingdings 2" panose="05020102010507070707" pitchFamily="18" charset="2"/>
              </a:rPr>
              <a:t>不必</a:t>
            </a:r>
            <a:r>
              <a:rPr lang="zh-CN" altLang="en-US" b="1" dirty="0">
                <a:latin typeface="微软雅黑" pitchFamily="34" charset="-122"/>
                <a:ea typeface="微软雅黑" pitchFamily="34" charset="-122"/>
                <a:sym typeface="Wingdings 2" panose="05020102010507070707" pitchFamily="18" charset="2"/>
              </a:rPr>
              <a:t>向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发送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更新报文。</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如果这时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需要寻呼</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，只需在一个 </a:t>
            </a:r>
            <a:r>
              <a:rPr lang="en-US" altLang="zh-CN" b="1" dirty="0">
                <a:solidFill>
                  <a:srgbClr val="C00000"/>
                </a:solidFill>
                <a:latin typeface="微软雅黑" pitchFamily="34" charset="-122"/>
                <a:ea typeface="微软雅黑" pitchFamily="34" charset="-122"/>
                <a:sym typeface="Wingdings 2" panose="05020102010507070707" pitchFamily="18" charset="2"/>
              </a:rPr>
              <a:t>TAL </a:t>
            </a:r>
            <a:r>
              <a:rPr lang="zh-CN" altLang="en-US" b="1" dirty="0">
                <a:solidFill>
                  <a:srgbClr val="C00000"/>
                </a:solidFill>
                <a:latin typeface="微软雅黑" pitchFamily="34" charset="-122"/>
                <a:ea typeface="微软雅黑" pitchFamily="34" charset="-122"/>
                <a:sym typeface="Wingdings 2" panose="05020102010507070707" pitchFamily="18" charset="2"/>
              </a:rPr>
              <a:t>的小范围</a:t>
            </a:r>
            <a:r>
              <a:rPr lang="zh-CN" altLang="en-US" b="1" dirty="0">
                <a:latin typeface="微软雅黑" pitchFamily="34" charset="-122"/>
                <a:ea typeface="微软雅黑" pitchFamily="34" charset="-122"/>
                <a:sym typeface="Wingdings 2" panose="05020102010507070707" pitchFamily="18" charset="2"/>
              </a:rPr>
              <a:t>内进行寻呼。</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4433827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在位置</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，属于跟踪区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6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把这个位置信息报告给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，然后</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发送一个跟踪区列表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4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21174556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0"/>
            <a:ext cx="406509" cy="35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漫游到位置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时，其跟踪区列表没变，因此不向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发送</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p>
        </p:txBody>
      </p:sp>
    </p:spTree>
    <p:extLst>
      <p:ext uri="{BB962C8B-B14F-4D97-AF65-F5344CB8AC3E}">
        <p14:creationId xmlns:p14="http://schemas.microsoft.com/office/powerpoint/2010/main" val="26002053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2"/>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35" presetClass="emph" presetSubtype="0" repeatCount="3000" fill="hold" grpId="0" nodeType="afterEffect">
                                  <p:stCondLst>
                                    <p:cond delay="0"/>
                                  </p:stCondLst>
                                  <p:childTnLst>
                                    <p:anim calcmode="discrete" valueType="str">
                                      <p:cBhvr>
                                        <p:cTn id="9" dur="1000" fill="hold"/>
                                        <p:tgtEl>
                                          <p:spTgt spid="2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 grpId="0"/>
      <p:bldP spid="242"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868048" y="3781807"/>
            <a:ext cx="7785464" cy="938719"/>
          </a:xfrm>
          <a:prstGeom prst="rect">
            <a:avLst/>
          </a:prstGeom>
        </p:spPr>
        <p:txBody>
          <a:bodyPr wrap="square">
            <a:spAutoFit/>
          </a:bodyPr>
          <a:lstStyle/>
          <a:p>
            <a:pPr>
              <a:lnSpc>
                <a:spcPts val="2200"/>
              </a:lnSpc>
            </a:pP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漫游到位置 </a:t>
            </a:r>
            <a:r>
              <a:rPr lang="zh-CN" altLang="en-US" sz="15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时，发现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不在自己的跟踪区列表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中，因此向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把更新的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发送给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。只要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内漫游（即在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3</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范围中），就可以不向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更新报文，减小了对核心网的信令压力。</a:t>
            </a:r>
          </a:p>
        </p:txBody>
      </p:sp>
    </p:spTree>
    <p:extLst>
      <p:ext uri="{BB962C8B-B14F-4D97-AF65-F5344CB8AC3E}">
        <p14:creationId xmlns:p14="http://schemas.microsoft.com/office/powerpoint/2010/main" val="7123127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MME </a:t>
            </a:r>
            <a:r>
              <a:rPr lang="zh-CN" altLang="en-US" sz="2000" b="1" dirty="0">
                <a:latin typeface="微软雅黑" pitchFamily="34" charset="-122"/>
                <a:ea typeface="微软雅黑" pitchFamily="34" charset="-122"/>
                <a:sym typeface="Wingdings 2" panose="05020102010507070707" pitchFamily="18" charset="2"/>
              </a:rPr>
              <a:t>对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进行寻呼时，不必在整个 </a:t>
            </a:r>
            <a:r>
              <a:rPr lang="en-US" altLang="zh-CN" sz="2000" b="1" dirty="0">
                <a:latin typeface="微软雅黑" pitchFamily="34" charset="-122"/>
                <a:ea typeface="微软雅黑" pitchFamily="34" charset="-122"/>
                <a:sym typeface="Wingdings 2" panose="05020102010507070707" pitchFamily="18" charset="2"/>
              </a:rPr>
              <a:t>LTE </a:t>
            </a:r>
            <a:r>
              <a:rPr lang="zh-CN" altLang="en-US" sz="2000" b="1" dirty="0">
                <a:latin typeface="微软雅黑" pitchFamily="34" charset="-122"/>
                <a:ea typeface="微软雅黑" pitchFamily="34" charset="-122"/>
                <a:sym typeface="Wingdings 2" panose="05020102010507070707" pitchFamily="18" charset="2"/>
              </a:rPr>
              <a:t>网络范围内广播，而只需向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所在的跟踪区列表 </a:t>
            </a:r>
            <a:r>
              <a:rPr lang="en-US" altLang="zh-CN" sz="2000" b="1" dirty="0">
                <a:latin typeface="微软雅黑" pitchFamily="34" charset="-122"/>
                <a:ea typeface="微软雅黑" pitchFamily="34" charset="-122"/>
                <a:sym typeface="Wingdings 2" panose="05020102010507070707" pitchFamily="18" charset="2"/>
              </a:rPr>
              <a:t>TAL </a:t>
            </a:r>
            <a:r>
              <a:rPr lang="zh-CN" altLang="en-US" sz="2000" b="1" dirty="0">
                <a:latin typeface="微软雅黑" pitchFamily="34" charset="-122"/>
                <a:ea typeface="微软雅黑" pitchFamily="34" charset="-122"/>
                <a:sym typeface="Wingdings 2" panose="05020102010507070707" pitchFamily="18" charset="2"/>
              </a:rPr>
              <a:t>内数量不太多的基站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发送寻呼报文。</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当某个基站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寻呼到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后，</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就在小区响应寻呼，触发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与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 </a:t>
            </a:r>
            <a:r>
              <a:rPr lang="zh-CN" altLang="en-US" sz="2000" b="1" dirty="0">
                <a:latin typeface="微软雅黑" pitchFamily="34" charset="-122"/>
                <a:ea typeface="微软雅黑" pitchFamily="34" charset="-122"/>
                <a:sym typeface="Wingdings 2" panose="05020102010507070707" pitchFamily="18" charset="2"/>
              </a:rPr>
              <a:t>隧道。</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之后，</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把刚才缓存的 </a:t>
            </a:r>
            <a:r>
              <a:rPr lang="en-US" altLang="zh-CN" sz="2000" b="1" dirty="0">
                <a:latin typeface="微软雅黑" pitchFamily="34" charset="-122"/>
                <a:ea typeface="微软雅黑" pitchFamily="34" charset="-122"/>
                <a:sym typeface="Wingdings 2" panose="05020102010507070707" pitchFamily="18" charset="2"/>
              </a:rPr>
              <a:t>IP </a:t>
            </a:r>
            <a:r>
              <a:rPr lang="zh-CN" altLang="en-US" sz="2000" b="1" dirty="0">
                <a:latin typeface="微软雅黑" pitchFamily="34" charset="-122"/>
                <a:ea typeface="微软雅黑" pitchFamily="34" charset="-122"/>
                <a:sym typeface="Wingdings 2" panose="05020102010507070707" pitchFamily="18" charset="2"/>
              </a:rPr>
              <a:t>分组</a:t>
            </a:r>
            <a:r>
              <a:rPr lang="zh-CN" altLang="en-US" sz="2000" b="1" dirty="0">
                <a:solidFill>
                  <a:srgbClr val="C00000"/>
                </a:solidFill>
                <a:latin typeface="微软雅黑" pitchFamily="34" charset="-122"/>
                <a:ea typeface="微软雅黑" pitchFamily="34" charset="-122"/>
                <a:sym typeface="Wingdings 2" panose="05020102010507070707" pitchFamily="18" charset="2"/>
              </a:rPr>
              <a:t>转发</a:t>
            </a:r>
            <a:r>
              <a:rPr lang="zh-CN" altLang="en-US" sz="2000" b="1" dirty="0">
                <a:latin typeface="微软雅黑" pitchFamily="34" charset="-122"/>
                <a:ea typeface="微软雅黑" pitchFamily="34" charset="-122"/>
                <a:sym typeface="Wingdings 2" panose="05020102010507070707" pitchFamily="18" charset="2"/>
              </a:rPr>
              <a:t>给 </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r>
              <a:rPr lang="zh-CN" altLang="en-US" sz="2000" b="1" dirty="0">
                <a:solidFill>
                  <a:srgbClr val="C00000"/>
                </a:solidFill>
                <a:latin typeface="微软雅黑" pitchFamily="34" charset="-122"/>
                <a:ea typeface="微软雅黑" pitchFamily="34" charset="-122"/>
                <a:sym typeface="Wingdings 2" panose="05020102010507070707" pitchFamily="18" charset="2"/>
              </a:rPr>
              <a:t>再转发</a:t>
            </a:r>
            <a:r>
              <a:rPr lang="zh-CN" altLang="en-US" sz="2000" b="1" dirty="0">
                <a:latin typeface="微软雅黑" pitchFamily="34" charset="-122"/>
                <a:ea typeface="微软雅黑" pitchFamily="34" charset="-122"/>
                <a:sym typeface="Wingdings 2" panose="05020102010507070707" pitchFamily="18" charset="2"/>
              </a:rPr>
              <a:t>给 </a:t>
            </a:r>
            <a:r>
              <a:rPr lang="en-US" altLang="zh-CN" sz="2000" b="1" dirty="0">
                <a:latin typeface="微软雅黑" pitchFamily="34" charset="-122"/>
                <a:ea typeface="微软雅黑" pitchFamily="34" charset="-122"/>
                <a:sym typeface="Wingdings 2" panose="05020102010507070707" pitchFamily="18" charset="2"/>
              </a:rPr>
              <a:t>UE</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由于分组交换流量的突发性，同时为了节省无线空口资源，</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经常会处于空闲状态，因此可能会发生频繁的寻呼。</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203089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在漫游中不断测量小区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导频信号强度，</a:t>
            </a:r>
            <a:r>
              <a:rPr lang="zh-CN" altLang="en-US" sz="2000" b="1" dirty="0">
                <a:latin typeface="微软雅黑" pitchFamily="34" charset="-122"/>
                <a:ea typeface="微软雅黑" pitchFamily="34" charset="-122"/>
                <a:sym typeface="Wingdings 2" panose="05020102010507070707" pitchFamily="18" charset="2"/>
              </a:rPr>
              <a:t>并将测量结果上报给基站 </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若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发现有更合适的小区，会触发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进行</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，并在新小区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空口链路，</a:t>
            </a:r>
            <a:r>
              <a:rPr lang="zh-CN" altLang="en-US" sz="2000" b="1" dirty="0">
                <a:solidFill>
                  <a:srgbClr val="C00000"/>
                </a:solidFill>
                <a:latin typeface="微软雅黑" pitchFamily="34" charset="-122"/>
                <a:ea typeface="微软雅黑" pitchFamily="34" charset="-122"/>
                <a:sym typeface="Wingdings 2" panose="05020102010507070707" pitchFamily="18" charset="2"/>
              </a:rPr>
              <a:t>释放</a:t>
            </a:r>
            <a:r>
              <a:rPr lang="zh-CN" altLang="en-US" sz="2000" b="1" dirty="0">
                <a:latin typeface="微软雅黑" pitchFamily="34" charset="-122"/>
                <a:ea typeface="微软雅黑" pitchFamily="34" charset="-122"/>
                <a:sym typeface="Wingdings 2" panose="05020102010507070707" pitchFamily="18" charset="2"/>
              </a:rPr>
              <a:t>旧小区的空口链路，同时也把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和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a:t>
            </a:r>
            <a:r>
              <a:rPr lang="zh-CN" altLang="en-US" sz="2000" b="1" dirty="0">
                <a:latin typeface="微软雅黑" pitchFamily="34" charset="-122"/>
                <a:ea typeface="微软雅黑" pitchFamily="34" charset="-122"/>
                <a:sym typeface="Wingdings 2" panose="05020102010507070707" pitchFamily="18" charset="2"/>
              </a:rPr>
              <a:t>隧道从旧小区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到新小区。</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覆盖范围很大，通常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和 </a:t>
            </a:r>
            <a:r>
              <a:rPr lang="en-US" altLang="zh-CN" sz="2000" b="1" dirty="0">
                <a:latin typeface="微软雅黑" pitchFamily="34" charset="-122"/>
                <a:ea typeface="微软雅黑" pitchFamily="34" charset="-122"/>
                <a:sym typeface="Wingdings 2" panose="05020102010507070707" pitchFamily="18" charset="2"/>
              </a:rPr>
              <a:t>P-GW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 </a:t>
            </a:r>
            <a:r>
              <a:rPr lang="zh-CN" altLang="en-US" sz="2000" b="1" dirty="0">
                <a:latin typeface="微软雅黑" pitchFamily="34" charset="-122"/>
                <a:ea typeface="微软雅黑" pitchFamily="34" charset="-122"/>
                <a:sym typeface="Wingdings 2" panose="05020102010507070707" pitchFamily="18" charset="2"/>
              </a:rPr>
              <a:t>隧道并不会重新建立。</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在切换过程中，数据通信不会中断。</a:t>
            </a:r>
            <a:endParaRPr lang="en-US" altLang="zh-CN" sz="2000" b="1" dirty="0">
              <a:solidFill>
                <a:srgbClr val="0000CC"/>
              </a:solidFill>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5"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在空口链路已建立的情况下进行漫游</a:t>
            </a:r>
          </a:p>
        </p:txBody>
      </p:sp>
    </p:spTree>
    <p:extLst>
      <p:ext uri="{BB962C8B-B14F-4D97-AF65-F5344CB8AC3E}">
        <p14:creationId xmlns:p14="http://schemas.microsoft.com/office/powerpoint/2010/main" val="24306461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041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不难看出，从一个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发送到百度服务器的</a:t>
            </a:r>
            <a:r>
              <a:rPr lang="zh-CN" altLang="en-US" sz="2000" b="1" dirty="0">
                <a:solidFill>
                  <a:srgbClr val="C00000"/>
                </a:solidFill>
                <a:latin typeface="微软雅黑" pitchFamily="34" charset="-122"/>
                <a:ea typeface="微软雅黑" pitchFamily="34" charset="-122"/>
                <a:sym typeface="Wingdings 2" panose="05020102010507070707" pitchFamily="18" charset="2"/>
              </a:rPr>
              <a:t>往返 </a:t>
            </a:r>
            <a:r>
              <a:rPr lang="en-US" altLang="zh-CN" sz="2000" b="1" dirty="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分组</a:t>
            </a:r>
            <a:r>
              <a:rPr lang="zh-CN" altLang="en-US" sz="2000" b="1" dirty="0">
                <a:latin typeface="微软雅黑" pitchFamily="34" charset="-122"/>
                <a:ea typeface="微软雅黑" pitchFamily="34" charset="-122"/>
                <a:sym typeface="Wingdings 2" panose="05020102010507070707" pitchFamily="18" charset="2"/>
              </a:rPr>
              <a:t>共通过 </a:t>
            </a:r>
            <a:r>
              <a:rPr lang="en-US" altLang="zh-CN" sz="2000" b="1" dirty="0">
                <a:solidFill>
                  <a:srgbClr val="C00000"/>
                </a:solidFill>
                <a:latin typeface="微软雅黑" pitchFamily="34" charset="-122"/>
                <a:ea typeface="微软雅黑" pitchFamily="34" charset="-122"/>
                <a:sym typeface="Wingdings 2" panose="05020102010507070707" pitchFamily="18" charset="2"/>
              </a:rPr>
              <a:t>4 </a:t>
            </a:r>
            <a:r>
              <a:rPr lang="zh-CN" altLang="en-US" sz="2000" b="1" dirty="0">
                <a:solidFill>
                  <a:srgbClr val="C00000"/>
                </a:solidFill>
                <a:latin typeface="微软雅黑" pitchFamily="34" charset="-122"/>
                <a:ea typeface="微软雅黑" pitchFamily="34" charset="-122"/>
                <a:sym typeface="Wingdings 2" panose="05020102010507070707" pitchFamily="18" charset="2"/>
              </a:rPr>
              <a:t>段隧道，</a:t>
            </a:r>
            <a:r>
              <a:rPr lang="zh-CN" altLang="en-US" sz="2000" b="1" dirty="0">
                <a:latin typeface="微软雅黑" pitchFamily="34" charset="-122"/>
                <a:ea typeface="微软雅黑" pitchFamily="34" charset="-122"/>
                <a:sym typeface="Wingdings 2" panose="05020102010507070707" pitchFamily="18" charset="2"/>
              </a:rPr>
              <a:t>一共要在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首部中使用 </a:t>
            </a:r>
            <a:r>
              <a:rPr lang="en-US" altLang="zh-CN" sz="2000" b="1" dirty="0">
                <a:solidFill>
                  <a:srgbClr val="C00000"/>
                </a:solidFill>
                <a:latin typeface="微软雅黑" pitchFamily="34" charset="-122"/>
                <a:ea typeface="微软雅黑" pitchFamily="34" charset="-122"/>
                <a:sym typeface="Wingdings 2" panose="05020102010507070707" pitchFamily="18" charset="2"/>
              </a:rPr>
              <a:t>4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个</a:t>
            </a:r>
            <a:r>
              <a:rPr lang="zh-CN" altLang="en-US" sz="2000" b="1" dirty="0">
                <a:latin typeface="微软雅黑" pitchFamily="34" charset="-122"/>
                <a:ea typeface="微软雅黑" pitchFamily="34" charset="-122"/>
                <a:sym typeface="Wingdings 2" panose="05020102010507070707" pitchFamily="18" charset="2"/>
              </a:rPr>
              <a:t>不同的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隧道端点标识符 </a:t>
            </a:r>
            <a:r>
              <a:rPr lang="en-US" altLang="zh-CN" sz="2000" b="1" dirty="0">
                <a:latin typeface="微软雅黑" pitchFamily="34" charset="-122"/>
                <a:ea typeface="微软雅黑" pitchFamily="34" charset="-122"/>
                <a:sym typeface="Wingdings 2" panose="05020102010507070707" pitchFamily="18" charset="2"/>
              </a:rPr>
              <a:t>TEID</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sym typeface="Wingdings 2" panose="05020102010507070707" pitchFamily="18" charset="2"/>
              </a:rPr>
              <a:t>两个上行隧道。</a:t>
            </a:r>
            <a:endParaRPr lang="en-US" altLang="zh-CN" sz="2000"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sym typeface="Wingdings 2" panose="05020102010507070707" pitchFamily="18" charset="2"/>
              </a:rPr>
              <a:t>两个下行隧道。</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364319" y="585623"/>
            <a:ext cx="240161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与互联网的通信</a:t>
            </a:r>
          </a:p>
        </p:txBody>
      </p:sp>
    </p:spTree>
    <p:extLst>
      <p:ext uri="{BB962C8B-B14F-4D97-AF65-F5344CB8AC3E}">
        <p14:creationId xmlns:p14="http://schemas.microsoft.com/office/powerpoint/2010/main" val="19190775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IEEE 802.16 </a:t>
            </a:r>
            <a:r>
              <a:rPr lang="zh-CN" altLang="en-US" sz="2000" b="1" dirty="0">
                <a:solidFill>
                  <a:srgbClr val="C00000"/>
                </a:solidFill>
                <a:latin typeface="微软雅黑" pitchFamily="34" charset="-122"/>
                <a:ea typeface="微软雅黑" pitchFamily="34" charset="-122"/>
                <a:sym typeface="Wingdings 2" panose="05020102010507070707" pitchFamily="18" charset="2"/>
              </a:rPr>
              <a:t>标准：</a:t>
            </a:r>
            <a:r>
              <a:rPr lang="zh-CN" altLang="en-US" sz="2000" b="1" dirty="0">
                <a:latin typeface="微软雅黑" pitchFamily="34" charset="-122"/>
                <a:ea typeface="微软雅黑" pitchFamily="34" charset="-122"/>
                <a:sym typeface="Wingdings 2" panose="05020102010507070707" pitchFamily="18" charset="2"/>
              </a:rPr>
              <a:t>全球微波接入的互操作性 </a:t>
            </a:r>
            <a:r>
              <a:rPr lang="en-US" altLang="zh-CN" sz="2000" b="1" dirty="0">
                <a:latin typeface="微软雅黑" pitchFamily="34" charset="-122"/>
                <a:ea typeface="微软雅黑" pitchFamily="34" charset="-122"/>
                <a:sym typeface="Wingdings 2" panose="05020102010507070707" pitchFamily="18" charset="2"/>
              </a:rPr>
              <a:t>WiMAX (Worldwide Interoperability for Microwave Access) </a:t>
            </a:r>
            <a:r>
              <a:rPr lang="zh-CN" altLang="en-US" sz="2000" b="1" dirty="0">
                <a:latin typeface="微软雅黑" pitchFamily="34" charset="-122"/>
                <a:ea typeface="微软雅黑" pitchFamily="34" charset="-122"/>
                <a:sym typeface="Wingdings 2" panose="05020102010507070707" pitchFamily="18" charset="2"/>
              </a:rPr>
              <a:t>标准，</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2011 </a:t>
            </a:r>
            <a:r>
              <a:rPr lang="zh-CN" altLang="en-US" sz="2000" b="1" dirty="0">
                <a:latin typeface="微软雅黑" pitchFamily="34" charset="-122"/>
                <a:ea typeface="微软雅黑" pitchFamily="34" charset="-122"/>
                <a:sym typeface="Wingdings 2" panose="05020102010507070707" pitchFamily="18" charset="2"/>
              </a:rPr>
              <a:t>年，</a:t>
            </a:r>
            <a:r>
              <a:rPr lang="en-US" altLang="zh-CN" sz="2000" b="1" dirty="0">
                <a:solidFill>
                  <a:srgbClr val="C00000"/>
                </a:solidFill>
                <a:latin typeface="微软雅黑" pitchFamily="34" charset="-122"/>
                <a:ea typeface="微软雅黑" pitchFamily="34" charset="-122"/>
                <a:sym typeface="Wingdings 2" panose="05020102010507070707" pitchFamily="18" charset="2"/>
              </a:rPr>
              <a:t>3GPP R10</a:t>
            </a:r>
            <a:r>
              <a:rPr lang="zh-CN" altLang="en-US" sz="2000" b="1" dirty="0">
                <a:solidFill>
                  <a:srgbClr val="C00000"/>
                </a:solidFill>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LTE-Advanced</a:t>
            </a:r>
            <a:r>
              <a:rPr lang="zh-CN" altLang="en-US" sz="2000" b="1" dirty="0">
                <a:latin typeface="微软雅黑" pitchFamily="34" charset="-122"/>
                <a:ea typeface="微软雅黑" pitchFamily="34" charset="-122"/>
                <a:sym typeface="Wingdings 2" panose="05020102010507070707" pitchFamily="18" charset="2"/>
              </a:rPr>
              <a:t>，简称为</a:t>
            </a:r>
            <a:r>
              <a:rPr lang="en-US" altLang="zh-CN" sz="2000" b="1" dirty="0">
                <a:latin typeface="微软雅黑" pitchFamily="34" charset="-122"/>
                <a:ea typeface="微软雅黑" pitchFamily="34" charset="-122"/>
                <a:sym typeface="Wingdings 2" panose="05020102010507070707" pitchFamily="18" charset="2"/>
              </a:rPr>
              <a:t>LTE-A</a:t>
            </a:r>
            <a:r>
              <a:rPr lang="zh-CN" altLang="en-US" sz="2000" b="1" dirty="0">
                <a:latin typeface="微软雅黑" pitchFamily="34" charset="-122"/>
                <a:ea typeface="微软雅黑" pitchFamily="34" charset="-122"/>
                <a:sym typeface="Wingdings 2" panose="05020102010507070707" pitchFamily="18" charset="2"/>
              </a:rPr>
              <a:t>，达到了</a:t>
            </a:r>
            <a:r>
              <a:rPr lang="en-US" altLang="zh-CN" sz="2000" b="1" dirty="0">
                <a:latin typeface="微软雅黑" pitchFamily="34" charset="-122"/>
                <a:ea typeface="微软雅黑" pitchFamily="34" charset="-122"/>
                <a:sym typeface="Wingdings 2" panose="05020102010507070707" pitchFamily="18" charset="2"/>
              </a:rPr>
              <a:t>ITU-R </a:t>
            </a:r>
            <a:r>
              <a:rPr lang="zh-CN" altLang="en-US" sz="2000" b="1" dirty="0">
                <a:latin typeface="微软雅黑" pitchFamily="34" charset="-122"/>
                <a:ea typeface="微软雅黑" pitchFamily="34" charset="-122"/>
                <a:sym typeface="Wingdings 2" panose="05020102010507070707" pitchFamily="18" charset="2"/>
              </a:rPr>
              <a:t>制订的 </a:t>
            </a:r>
            <a:r>
              <a:rPr lang="en-US" altLang="zh-CN" sz="2000" b="1" dirty="0">
                <a:latin typeface="微软雅黑" pitchFamily="34" charset="-122"/>
                <a:ea typeface="微软雅黑" pitchFamily="34" charset="-122"/>
                <a:sym typeface="Wingdings 2" panose="05020102010507070707" pitchFamily="18" charset="2"/>
              </a:rPr>
              <a:t>4G </a:t>
            </a:r>
            <a:r>
              <a:rPr lang="zh-CN" altLang="en-US" sz="2000" b="1" dirty="0">
                <a:latin typeface="微软雅黑" pitchFamily="34" charset="-122"/>
                <a:ea typeface="微软雅黑" pitchFamily="34" charset="-122"/>
                <a:sym typeface="Wingdings 2" panose="05020102010507070707" pitchFamily="18" charset="2"/>
              </a:rPr>
              <a:t>标准。</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2015 </a:t>
            </a:r>
            <a:r>
              <a:rPr lang="zh-CN" altLang="en-US" sz="2000" b="1" dirty="0">
                <a:latin typeface="微软雅黑" pitchFamily="34" charset="-122"/>
                <a:ea typeface="微软雅黑" pitchFamily="34" charset="-122"/>
                <a:sym typeface="Wingdings 2" panose="05020102010507070707" pitchFamily="18" charset="2"/>
              </a:rPr>
              <a:t>年，</a:t>
            </a:r>
            <a:r>
              <a:rPr lang="en-US" altLang="zh-CN" sz="2000" b="1" dirty="0">
                <a:solidFill>
                  <a:srgbClr val="C00000"/>
                </a:solidFill>
                <a:latin typeface="微软雅黑" pitchFamily="34" charset="-122"/>
                <a:ea typeface="微软雅黑" pitchFamily="34" charset="-122"/>
                <a:sym typeface="Wingdings 2" panose="05020102010507070707" pitchFamily="18" charset="2"/>
              </a:rPr>
              <a:t>3GPP R13</a:t>
            </a:r>
            <a:r>
              <a:rPr lang="zh-CN" altLang="en-US" sz="2000" b="1" dirty="0">
                <a:solidFill>
                  <a:srgbClr val="C00000"/>
                </a:solidFill>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LTE-A Pro</a:t>
            </a:r>
            <a:r>
              <a:rPr lang="zh-CN" altLang="en-US" sz="2000" b="1" dirty="0">
                <a:latin typeface="微软雅黑" pitchFamily="34" charset="-122"/>
                <a:ea typeface="微软雅黑" pitchFamily="34" charset="-122"/>
                <a:sym typeface="Wingdings 2" panose="05020102010507070707" pitchFamily="18" charset="2"/>
              </a:rPr>
              <a:t>，吞吐量超过了 </a:t>
            </a:r>
            <a:r>
              <a:rPr lang="en-US" altLang="zh-CN" sz="2000" b="1" dirty="0">
                <a:latin typeface="微软雅黑" pitchFamily="34" charset="-122"/>
                <a:ea typeface="微软雅黑" pitchFamily="34" charset="-122"/>
                <a:sym typeface="Wingdings 2" panose="05020102010507070707" pitchFamily="18" charset="2"/>
              </a:rPr>
              <a:t>3 </a:t>
            </a:r>
            <a:r>
              <a:rPr lang="en-US" altLang="zh-CN" sz="2000" b="1" dirty="0" err="1">
                <a:latin typeface="微软雅黑" pitchFamily="34" charset="-122"/>
                <a:ea typeface="微软雅黑" pitchFamily="34" charset="-122"/>
                <a:sym typeface="Wingdings 2" panose="05020102010507070707" pitchFamily="18" charset="2"/>
              </a:rPr>
              <a:t>Gbit</a:t>
            </a:r>
            <a:r>
              <a:rPr lang="en-US" altLang="zh-CN" sz="2000" b="1" dirty="0">
                <a:latin typeface="微软雅黑" pitchFamily="34" charset="-122"/>
                <a:ea typeface="微软雅黑" pitchFamily="34" charset="-122"/>
                <a:sym typeface="Wingdings 2" panose="05020102010507070707" pitchFamily="18" charset="2"/>
              </a:rPr>
              <a:t>/s</a:t>
            </a:r>
            <a:r>
              <a:rPr lang="zh-CN" altLang="en-US" sz="2000" b="1" dirty="0">
                <a:latin typeface="微软雅黑" pitchFamily="34" charset="-122"/>
                <a:ea typeface="微软雅黑" pitchFamily="34" charset="-122"/>
                <a:sym typeface="Wingdings 2" panose="05020102010507070707" pitchFamily="18" charset="2"/>
              </a:rPr>
              <a:t>，俗称</a:t>
            </a:r>
            <a:r>
              <a:rPr lang="en-US" altLang="zh-CN" sz="2000" b="1" dirty="0">
                <a:solidFill>
                  <a:srgbClr val="C00000"/>
                </a:solidFill>
                <a:latin typeface="微软雅黑" pitchFamily="34" charset="-122"/>
                <a:ea typeface="微软雅黑" pitchFamily="34" charset="-122"/>
                <a:sym typeface="Wingdings 2" panose="05020102010507070707" pitchFamily="18" charset="2"/>
              </a:rPr>
              <a:t>4.5G</a:t>
            </a:r>
            <a:r>
              <a:rPr lang="zh-CN" altLang="en-US" sz="2000" b="1" dirty="0">
                <a:latin typeface="微软雅黑" pitchFamily="34" charset="-122"/>
                <a:ea typeface="微软雅黑" pitchFamily="34" charset="-122"/>
                <a:sym typeface="Wingdings 2" panose="05020102010507070707" pitchFamily="18" charset="2"/>
              </a:rPr>
              <a:t>，表示已经超过 </a:t>
            </a:r>
            <a:r>
              <a:rPr lang="en-US" altLang="zh-CN" sz="2000" b="1" dirty="0">
                <a:latin typeface="微软雅黑" pitchFamily="34" charset="-122"/>
                <a:ea typeface="微软雅黑" pitchFamily="34" charset="-122"/>
                <a:sym typeface="Wingdings 2" panose="05020102010507070707" pitchFamily="18" charset="2"/>
              </a:rPr>
              <a:t>4G </a:t>
            </a:r>
            <a:r>
              <a:rPr lang="zh-CN" altLang="en-US" sz="2000" b="1" dirty="0">
                <a:latin typeface="微软雅黑" pitchFamily="34" charset="-122"/>
                <a:ea typeface="微软雅黑" pitchFamily="34" charset="-122"/>
                <a:sym typeface="Wingdings 2" panose="05020102010507070707" pitchFamily="18" charset="2"/>
              </a:rPr>
              <a:t>的水平了。</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从 </a:t>
            </a:r>
            <a:r>
              <a:rPr lang="en-US" altLang="zh-CN" sz="2000" b="1" dirty="0">
                <a:latin typeface="微软雅黑" pitchFamily="34" charset="-122"/>
                <a:ea typeface="微软雅黑" pitchFamily="34" charset="-122"/>
                <a:sym typeface="Wingdings 2" panose="05020102010507070707" pitchFamily="18" charset="2"/>
              </a:rPr>
              <a:t>2017 </a:t>
            </a:r>
            <a:r>
              <a:rPr lang="zh-CN" altLang="en-US" sz="2000" b="1" dirty="0">
                <a:latin typeface="微软雅黑" pitchFamily="34" charset="-122"/>
                <a:ea typeface="微软雅黑" pitchFamily="34" charset="-122"/>
                <a:sym typeface="Wingdings 2" panose="05020102010507070707" pitchFamily="18" charset="2"/>
              </a:rPr>
              <a:t>年第 </a:t>
            </a:r>
            <a:r>
              <a:rPr lang="en-US" altLang="zh-CN" sz="2000" b="1" dirty="0">
                <a:latin typeface="微软雅黑" pitchFamily="34" charset="-122"/>
                <a:ea typeface="微软雅黑" pitchFamily="34" charset="-122"/>
                <a:sym typeface="Wingdings 2" panose="05020102010507070707" pitchFamily="18" charset="2"/>
              </a:rPr>
              <a:t>4 </a:t>
            </a:r>
            <a:r>
              <a:rPr lang="zh-CN" altLang="en-US" sz="2000" b="1" dirty="0">
                <a:latin typeface="微软雅黑" pitchFamily="34" charset="-122"/>
                <a:ea typeface="微软雅黑" pitchFamily="34" charset="-122"/>
                <a:sym typeface="Wingdings 2" panose="05020102010507070707" pitchFamily="18" charset="2"/>
              </a:rPr>
              <a:t>季度开始，</a:t>
            </a:r>
            <a:r>
              <a:rPr lang="en-US" altLang="zh-CN" sz="2000" b="1" dirty="0">
                <a:latin typeface="微软雅黑" pitchFamily="34" charset="-122"/>
                <a:ea typeface="微软雅黑" pitchFamily="34" charset="-122"/>
                <a:sym typeface="Wingdings 2" panose="05020102010507070707" pitchFamily="18" charset="2"/>
              </a:rPr>
              <a:t>3GPP </a:t>
            </a:r>
            <a:r>
              <a:rPr lang="zh-CN" altLang="en-US" sz="2000" b="1" dirty="0">
                <a:latin typeface="微软雅黑" pitchFamily="34" charset="-122"/>
                <a:ea typeface="微软雅黑" pitchFamily="34" charset="-122"/>
                <a:sym typeface="Wingdings 2" panose="05020102010507070707" pitchFamily="18" charset="2"/>
              </a:rPr>
              <a:t>又陆续发布 </a:t>
            </a:r>
            <a:r>
              <a:rPr lang="en-US" altLang="zh-CN" sz="2000" b="1" dirty="0">
                <a:solidFill>
                  <a:srgbClr val="C00000"/>
                </a:solidFill>
                <a:latin typeface="微软雅黑" pitchFamily="34" charset="-122"/>
                <a:ea typeface="微软雅黑" pitchFamily="34" charset="-122"/>
                <a:sym typeface="Wingdings 2" panose="05020102010507070707" pitchFamily="18" charset="2"/>
              </a:rPr>
              <a:t>R15/16</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等</a:t>
            </a:r>
            <a:r>
              <a:rPr lang="zh-CN" altLang="en-US" sz="2000" b="1" dirty="0">
                <a:solidFill>
                  <a:srgbClr val="0000CC"/>
                </a:solidFill>
                <a:latin typeface="微软雅黑" pitchFamily="34" charset="-122"/>
                <a:ea typeface="微软雅黑" pitchFamily="34" charset="-122"/>
                <a:sym typeface="Wingdings 2" panose="05020102010507070707" pitchFamily="18" charset="2"/>
              </a:rPr>
              <a:t>第 </a:t>
            </a:r>
            <a:r>
              <a:rPr lang="en-US" altLang="zh-CN" sz="2000" b="1" dirty="0">
                <a:solidFill>
                  <a:srgbClr val="0000CC"/>
                </a:solidFill>
                <a:latin typeface="微软雅黑" pitchFamily="34" charset="-122"/>
                <a:ea typeface="微软雅黑" pitchFamily="34" charset="-122"/>
                <a:sym typeface="Wingdings 2" panose="05020102010507070707" pitchFamily="18" charset="2"/>
              </a:rPr>
              <a:t>5 </a:t>
            </a:r>
            <a:r>
              <a:rPr lang="zh-CN" altLang="en-US" sz="2000" b="1" dirty="0">
                <a:solidFill>
                  <a:srgbClr val="0000CC"/>
                </a:solidFill>
                <a:latin typeface="微软雅黑" pitchFamily="34" charset="-122"/>
                <a:ea typeface="微软雅黑" pitchFamily="34" charset="-122"/>
                <a:sym typeface="Wingdings 2" panose="05020102010507070707" pitchFamily="18" charset="2"/>
              </a:rPr>
              <a:t>代</a:t>
            </a:r>
            <a:r>
              <a:rPr lang="zh-CN" altLang="en-US" sz="2000" b="1" dirty="0">
                <a:latin typeface="微软雅黑" pitchFamily="34" charset="-122"/>
                <a:ea typeface="微软雅黑" pitchFamily="34" charset="-122"/>
                <a:sym typeface="Wingdings 2" panose="05020102010507070707" pitchFamily="18" charset="2"/>
              </a:rPr>
              <a:t>蜂窝移动通信系统 </a:t>
            </a:r>
            <a:r>
              <a:rPr lang="en-US" altLang="zh-CN" sz="2000" b="1" dirty="0">
                <a:solidFill>
                  <a:srgbClr val="C00000"/>
                </a:solidFill>
                <a:latin typeface="微软雅黑" pitchFamily="34" charset="-122"/>
                <a:ea typeface="微软雅黑" pitchFamily="34" charset="-122"/>
                <a:sym typeface="Wingdings 2" panose="05020102010507070707" pitchFamily="18" charset="2"/>
              </a:rPr>
              <a:t>5G</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标准的版本。</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27446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其他 </a:t>
            </a: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无线网络技术</a:t>
            </a:r>
          </a:p>
        </p:txBody>
      </p:sp>
    </p:spTree>
    <p:extLst>
      <p:ext uri="{BB962C8B-B14F-4D97-AF65-F5344CB8AC3E}">
        <p14:creationId xmlns:p14="http://schemas.microsoft.com/office/powerpoint/2010/main" val="27586736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6" name="Rectangle 29"/>
          <p:cNvSpPr>
            <a:spLocks noChangeArrowheads="1"/>
          </p:cNvSpPr>
          <p:nvPr/>
        </p:nvSpPr>
        <p:spPr bwMode="auto">
          <a:xfrm>
            <a:off x="716986" y="134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9.4</a:t>
            </a:r>
          </a:p>
          <a:p>
            <a:pPr eaLnBrk="0" hangingPunct="0"/>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9.4.1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的基本概念</a:t>
            </a:r>
          </a:p>
          <a:p>
            <a:pPr eaLnBrk="0" hangingPunct="0">
              <a:lnSpc>
                <a:spcPct val="200000"/>
              </a:lnSpc>
            </a:pPr>
            <a:r>
              <a:rPr lang="en-US" altLang="zh-CN" sz="2000" b="1" dirty="0">
                <a:solidFill>
                  <a:schemeClr val="bg1"/>
                </a:solidFill>
                <a:latin typeface="微软雅黑" pitchFamily="34" charset="-122"/>
                <a:ea typeface="微软雅黑" pitchFamily="34" charset="-122"/>
              </a:rPr>
              <a:t>9.4.2  		        </a:t>
            </a:r>
            <a:r>
              <a:rPr lang="zh-CN" altLang="en-US" sz="2000" b="1" dirty="0">
                <a:solidFill>
                  <a:schemeClr val="bg1"/>
                </a:solidFill>
                <a:latin typeface="微软雅黑" pitchFamily="34" charset="-122"/>
                <a:ea typeface="微软雅黑" pitchFamily="34" charset="-122"/>
              </a:rPr>
              <a:t>移动网络对高层协议的影响</a:t>
            </a:r>
          </a:p>
        </p:txBody>
      </p:sp>
    </p:spTree>
    <p:extLst>
      <p:ext uri="{BB962C8B-B14F-4D97-AF65-F5344CB8AC3E}">
        <p14:creationId xmlns:p14="http://schemas.microsoft.com/office/powerpoint/2010/main" val="315612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745615" y="594451"/>
            <a:ext cx="36615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9.4.1 </a:t>
            </a:r>
            <a:r>
              <a:rPr lang="zh-CN" altLang="en-US" sz="2400" b="1" dirty="0">
                <a:solidFill>
                  <a:schemeClr val="bg1"/>
                </a:solidFill>
                <a:latin typeface="微软雅黑" pitchFamily="34" charset="-122"/>
                <a:ea typeface="微软雅黑" pitchFamily="34" charset="-122"/>
              </a:rPr>
              <a:t>移动 </a:t>
            </a:r>
            <a:r>
              <a:rPr lang="en-US" altLang="zh-CN" sz="2400" b="1" dirty="0">
                <a:solidFill>
                  <a:schemeClr val="bg1"/>
                </a:solidFill>
                <a:latin typeface="微软雅黑" pitchFamily="34" charset="-122"/>
                <a:ea typeface="微软雅黑" pitchFamily="34" charset="-122"/>
              </a:rPr>
              <a:t>IP </a:t>
            </a:r>
            <a:r>
              <a:rPr lang="zh-CN" altLang="en-US" sz="2400" b="1" dirty="0">
                <a:solidFill>
                  <a:schemeClr val="bg1"/>
                </a:solidFill>
                <a:latin typeface="微软雅黑" pitchFamily="34" charset="-122"/>
                <a:ea typeface="微软雅黑" pitchFamily="34" charset="-122"/>
              </a:rPr>
              <a:t>的基本概念</a:t>
            </a:r>
          </a:p>
        </p:txBody>
      </p:sp>
      <p:sp>
        <p:nvSpPr>
          <p:cNvPr id="4" name="Rectangle 46"/>
          <p:cNvSpPr>
            <a:spLocks noChangeArrowheads="1"/>
          </p:cNvSpPr>
          <p:nvPr/>
        </p:nvSpPr>
        <p:spPr bwMode="auto">
          <a:xfrm>
            <a:off x="511896" y="1042920"/>
            <a:ext cx="8129016"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传统计算机的位置都是固定不变的。</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便携式笔记本电脑允许用户在不同地点上网，使用不同的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地址，不是移动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在移动中浏览网页，若要在移动中的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连接不中断，就必须使移动站的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在移动中</a:t>
            </a:r>
            <a:r>
              <a:rPr lang="zh-CN" altLang="en-US" sz="2000" b="1" dirty="0">
                <a:solidFill>
                  <a:srgbClr val="0000CC"/>
                </a:solidFill>
                <a:latin typeface="微软雅黑" pitchFamily="34" charset="-122"/>
                <a:ea typeface="微软雅黑" pitchFamily="34" charset="-122"/>
              </a:rPr>
              <a:t>保持不变。</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中手机可以在漫游（移动）中保持与互联网的通信。</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(Mobile IP) </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由 </a:t>
            </a:r>
            <a:r>
              <a:rPr lang="en-US" altLang="zh-CN" sz="2000" b="1" dirty="0">
                <a:latin typeface="微软雅黑" pitchFamily="34" charset="-122"/>
                <a:ea typeface="微软雅黑" pitchFamily="34" charset="-122"/>
              </a:rPr>
              <a:t>IETF </a:t>
            </a:r>
            <a:r>
              <a:rPr lang="zh-CN" altLang="en-US" sz="2000" b="1" dirty="0">
                <a:latin typeface="微软雅黑" pitchFamily="34" charset="-122"/>
                <a:ea typeface="微软雅黑" pitchFamily="34" charset="-122"/>
              </a:rPr>
              <a:t>开发的一种技术，允许计算机移动到外地时，仍然保留其原来的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要解决的问题：</a:t>
            </a:r>
            <a:r>
              <a:rPr lang="zh-CN" altLang="en-US" sz="2000" b="1" dirty="0">
                <a:latin typeface="微软雅黑" pitchFamily="34" charset="-122"/>
                <a:ea typeface="微软雅黑" pitchFamily="34" charset="-122"/>
              </a:rPr>
              <a:t>使用户的移动性对上层的网络应用透明。 </a:t>
            </a:r>
          </a:p>
        </p:txBody>
      </p:sp>
    </p:spTree>
    <p:extLst>
      <p:ext uri="{BB962C8B-B14F-4D97-AF65-F5344CB8AC3E}">
        <p14:creationId xmlns:p14="http://schemas.microsoft.com/office/powerpoint/2010/main" val="3222770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使用的基本概念 </a:t>
            </a:r>
          </a:p>
        </p:txBody>
      </p:sp>
      <p:sp>
        <p:nvSpPr>
          <p:cNvPr id="5" name="矩形 4"/>
          <p:cNvSpPr/>
          <p:nvPr/>
        </p:nvSpPr>
        <p:spPr>
          <a:xfrm>
            <a:off x="804804" y="2924706"/>
            <a:ext cx="7737886" cy="1631216"/>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必须有一个原始地址，即</a:t>
            </a:r>
            <a:r>
              <a:rPr lang="zh-CN" altLang="en-US" sz="1600" b="1" dirty="0">
                <a:solidFill>
                  <a:srgbClr val="0000FF"/>
                </a:solidFill>
                <a:latin typeface="微软雅黑" pitchFamily="34" charset="-122"/>
                <a:ea typeface="微软雅黑" pitchFamily="34" charset="-122"/>
              </a:rPr>
              <a:t>永久地址</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归属地址 </a:t>
            </a:r>
            <a:r>
              <a:rPr lang="en-US" altLang="zh-CN" sz="1600" b="1" dirty="0">
                <a:latin typeface="微软雅黑" pitchFamily="34" charset="-122"/>
                <a:ea typeface="微软雅黑" pitchFamily="34" charset="-122"/>
              </a:rPr>
              <a:t>(home address)</a:t>
            </a:r>
            <a:r>
              <a:rPr lang="zh-CN" altLang="en-US" sz="1600" b="1" dirty="0">
                <a:latin typeface="微软雅黑" pitchFamily="34" charset="-122"/>
                <a:ea typeface="微软雅黑" pitchFamily="34" charset="-122"/>
              </a:rPr>
              <a:t>。移动站原始连接到的网络叫做</a:t>
            </a:r>
            <a:r>
              <a:rPr lang="zh-CN" altLang="en-US" sz="1600" b="1" dirty="0">
                <a:solidFill>
                  <a:srgbClr val="0000FF"/>
                </a:solidFill>
                <a:latin typeface="微软雅黑" pitchFamily="34" charset="-122"/>
                <a:ea typeface="微软雅黑" pitchFamily="34" charset="-122"/>
              </a:rPr>
              <a:t>归属网络 </a:t>
            </a:r>
            <a:r>
              <a:rPr lang="en-US" altLang="zh-CN" sz="1600" b="1" dirty="0">
                <a:latin typeface="微软雅黑" pitchFamily="34" charset="-122"/>
                <a:ea typeface="微软雅黑" pitchFamily="34" charset="-122"/>
              </a:rPr>
              <a:t>(home network)</a:t>
            </a:r>
            <a:r>
              <a:rPr lang="zh-CN" altLang="en-US" sz="1600" b="1" dirty="0">
                <a:latin typeface="微软雅黑" pitchFamily="34" charset="-122"/>
                <a:ea typeface="微软雅黑" pitchFamily="34" charset="-122"/>
              </a:rPr>
              <a:t>。</a:t>
            </a:r>
            <a:r>
              <a:rPr lang="zh-CN" altLang="en-US" sz="1600" b="1" dirty="0">
                <a:solidFill>
                  <a:srgbClr val="C00000"/>
                </a:solidFill>
                <a:latin typeface="微软雅黑" pitchFamily="34" charset="-122"/>
                <a:ea typeface="微软雅黑" pitchFamily="34" charset="-122"/>
              </a:rPr>
              <a:t>永久地址和归属网络的关联是不变的。</a:t>
            </a:r>
            <a:r>
              <a:rPr lang="zh-CN" altLang="en-US" sz="1600" b="1" dirty="0">
                <a:solidFill>
                  <a:srgbClr val="0000CC"/>
                </a:solidFill>
                <a:latin typeface="微软雅黑" pitchFamily="34" charset="-122"/>
                <a:ea typeface="微软雅黑" pitchFamily="34" charset="-122"/>
              </a:rPr>
              <a:t>归属代理 </a:t>
            </a:r>
            <a:r>
              <a:rPr lang="en-US" altLang="zh-CN" sz="1600" b="1" dirty="0">
                <a:latin typeface="微软雅黑" pitchFamily="34" charset="-122"/>
                <a:ea typeface="微软雅黑" pitchFamily="34" charset="-122"/>
              </a:rPr>
              <a:t>(home agent) </a:t>
            </a:r>
            <a:r>
              <a:rPr lang="zh-CN" altLang="en-US" sz="1600" b="1" dirty="0">
                <a:latin typeface="微软雅黑" pitchFamily="34" charset="-122"/>
                <a:ea typeface="微软雅黑" pitchFamily="34" charset="-122"/>
              </a:rPr>
              <a:t>让地址的改变对互联网的其余部分透明，它通常就是连接在归属网络上的路由器，代理功能在</a:t>
            </a:r>
            <a:r>
              <a:rPr lang="zh-CN" altLang="en-US" sz="1600" b="1" dirty="0">
                <a:solidFill>
                  <a:srgbClr val="0000CC"/>
                </a:solidFill>
                <a:latin typeface="微软雅黑" pitchFamily="34" charset="-122"/>
                <a:ea typeface="微软雅黑" pitchFamily="34" charset="-122"/>
              </a:rPr>
              <a:t>应用层</a:t>
            </a:r>
            <a:r>
              <a:rPr lang="zh-CN" altLang="en-US" sz="1600" b="1" dirty="0">
                <a:latin typeface="微软雅黑" pitchFamily="34" charset="-122"/>
                <a:ea typeface="微软雅黑" pitchFamily="34" charset="-122"/>
              </a:rPr>
              <a:t>完成。归属代理既是路由器，也是主机。</a:t>
            </a: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Tree>
    <p:extLst>
      <p:ext uri="{BB962C8B-B14F-4D97-AF65-F5344CB8AC3E}">
        <p14:creationId xmlns:p14="http://schemas.microsoft.com/office/powerpoint/2010/main" val="163212830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使用的基本概念 </a:t>
            </a:r>
          </a:p>
        </p:txBody>
      </p:sp>
      <p:sp>
        <p:nvSpPr>
          <p:cNvPr id="5" name="矩形 4"/>
          <p:cNvSpPr/>
          <p:nvPr/>
        </p:nvSpPr>
        <p:spPr>
          <a:xfrm>
            <a:off x="804804" y="2924706"/>
            <a:ext cx="7737886" cy="1323439"/>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当移动站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移动到另一个地点，接入的网络称为</a:t>
            </a:r>
            <a:r>
              <a:rPr lang="zh-CN" altLang="en-US" sz="1600" b="1" dirty="0">
                <a:solidFill>
                  <a:srgbClr val="0000CC"/>
                </a:solidFill>
                <a:latin typeface="微软雅黑" pitchFamily="34" charset="-122"/>
                <a:ea typeface="微软雅黑" pitchFamily="34" charset="-122"/>
              </a:rPr>
              <a:t>被访网络 </a:t>
            </a:r>
            <a:r>
              <a:rPr lang="en-US" altLang="zh-CN" sz="1600" b="1" dirty="0">
                <a:latin typeface="微软雅黑" pitchFamily="34" charset="-122"/>
                <a:ea typeface="微软雅黑" pitchFamily="34" charset="-122"/>
              </a:rPr>
              <a:t>(visited network)</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外地网络 </a:t>
            </a:r>
            <a:r>
              <a:rPr lang="en-US" altLang="zh-CN" sz="1600" b="1" dirty="0">
                <a:latin typeface="微软雅黑" pitchFamily="34" charset="-122"/>
                <a:ea typeface="微软雅黑" pitchFamily="34" charset="-122"/>
              </a:rPr>
              <a:t>(foreign network)</a:t>
            </a:r>
            <a:r>
              <a:rPr lang="zh-CN" altLang="en-US" sz="1600" b="1" dirty="0">
                <a:latin typeface="微软雅黑" pitchFamily="34" charset="-122"/>
                <a:ea typeface="微软雅黑" pitchFamily="34" charset="-122"/>
              </a:rPr>
              <a:t>。被访网络中使用的代理叫做</a:t>
            </a:r>
            <a:r>
              <a:rPr lang="zh-CN" altLang="en-US" sz="1600" b="1" dirty="0">
                <a:solidFill>
                  <a:srgbClr val="0000CC"/>
                </a:solidFill>
                <a:latin typeface="微软雅黑" pitchFamily="34" charset="-122"/>
                <a:ea typeface="微软雅黑" pitchFamily="34" charset="-122"/>
              </a:rPr>
              <a:t>外地代理 </a:t>
            </a:r>
            <a:r>
              <a:rPr lang="en-US" altLang="zh-CN" sz="1600" b="1" dirty="0">
                <a:latin typeface="微软雅黑" pitchFamily="34" charset="-122"/>
                <a:ea typeface="微软雅黑" pitchFamily="34" charset="-122"/>
              </a:rPr>
              <a:t>(foreign agent)</a:t>
            </a:r>
            <a:r>
              <a:rPr lang="zh-CN" altLang="en-US" sz="1600" b="1" dirty="0">
                <a:latin typeface="微软雅黑" pitchFamily="34" charset="-122"/>
                <a:ea typeface="微软雅黑" pitchFamily="34" charset="-122"/>
              </a:rPr>
              <a:t>，它通常就是连接在被访网络上的路由器。为移动站 </a:t>
            </a:r>
            <a:r>
              <a:rPr lang="en-US" altLang="zh-CN" sz="1600" b="1" dirty="0">
                <a:latin typeface="微软雅黑" pitchFamily="34" charset="-122"/>
                <a:ea typeface="微软雅黑" pitchFamily="34" charset="-122"/>
              </a:rPr>
              <a:t>A </a:t>
            </a:r>
            <a:r>
              <a:rPr lang="zh-CN" altLang="en-US" sz="1600" b="1" dirty="0">
                <a:solidFill>
                  <a:srgbClr val="C00000"/>
                </a:solidFill>
                <a:latin typeface="微软雅黑" pitchFamily="34" charset="-122"/>
                <a:ea typeface="微软雅黑" pitchFamily="34" charset="-122"/>
              </a:rPr>
              <a:t>在被访网络中</a:t>
            </a:r>
            <a:r>
              <a:rPr lang="zh-CN" altLang="en-US" sz="1600" b="1" dirty="0">
                <a:latin typeface="微软雅黑" pitchFamily="34" charset="-122"/>
                <a:ea typeface="微软雅黑" pitchFamily="34" charset="-122"/>
              </a:rPr>
              <a:t>创建的</a:t>
            </a:r>
            <a:r>
              <a:rPr lang="zh-CN" altLang="en-US" sz="1600" b="1" dirty="0">
                <a:solidFill>
                  <a:srgbClr val="C00000"/>
                </a:solidFill>
                <a:latin typeface="微软雅黑" pitchFamily="34" charset="-122"/>
                <a:ea typeface="微软雅黑" pitchFamily="34" charset="-122"/>
              </a:rPr>
              <a:t>临时地址</a:t>
            </a:r>
            <a:r>
              <a:rPr lang="zh-CN" altLang="en-US" sz="1600" b="1" dirty="0">
                <a:latin typeface="微软雅黑" pitchFamily="34" charset="-122"/>
                <a:ea typeface="微软雅黑" pitchFamily="34" charset="-122"/>
              </a:rPr>
              <a:t>叫做</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(care-of address)</a:t>
            </a:r>
            <a:r>
              <a:rPr lang="zh-CN" altLang="en-US" sz="1600" b="1" dirty="0">
                <a:latin typeface="微软雅黑" pitchFamily="34" charset="-122"/>
                <a:ea typeface="微软雅黑" pitchFamily="34" charset="-122"/>
              </a:rPr>
              <a:t>。</a:t>
            </a: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Tree>
    <p:extLst>
      <p:ext uri="{BB962C8B-B14F-4D97-AF65-F5344CB8AC3E}">
        <p14:creationId xmlns:p14="http://schemas.microsoft.com/office/powerpoint/2010/main" val="41269654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309888"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sym typeface="Wingdings 2" panose="05020102010507070707" pitchFamily="18" charset="2"/>
              </a:rPr>
              <a:t>1</a:t>
            </a:r>
            <a:r>
              <a:rPr lang="zh-CN" altLang="en-US" b="1" dirty="0">
                <a:latin typeface="微软雅黑" pitchFamily="34" charset="-122"/>
                <a:ea typeface="微软雅黑" pitchFamily="34" charset="-122"/>
                <a:sym typeface="Wingdings 2" panose="05020102010507070707" pitchFamily="18" charset="2"/>
              </a:rPr>
              <a:t>，</a:t>
            </a:r>
            <a:r>
              <a:rPr lang="zh-CN" altLang="en-US" b="1" dirty="0">
                <a:solidFill>
                  <a:srgbClr val="C00000"/>
                </a:solidFill>
                <a:latin typeface="微软雅黑" pitchFamily="34" charset="-122"/>
                <a:ea typeface="微软雅黑" pitchFamily="34" charset="-122"/>
                <a:sym typeface="Wingdings 2" panose="05020102010507070707" pitchFamily="18" charset="2"/>
              </a:rPr>
              <a:t>转交地址</a:t>
            </a:r>
            <a:r>
              <a:rPr lang="zh-CN" altLang="en-US" b="1" dirty="0">
                <a:latin typeface="微软雅黑" pitchFamily="34" charset="-122"/>
                <a:ea typeface="微软雅黑" pitchFamily="34" charset="-122"/>
                <a:sym typeface="Wingdings 2" panose="05020102010507070707" pitchFamily="18" charset="2"/>
              </a:rPr>
              <a:t>是供移动站、归属代理以及外地代理使用的，</a:t>
            </a:r>
            <a:r>
              <a:rPr lang="zh-CN" altLang="en-US" b="1" dirty="0">
                <a:solidFill>
                  <a:srgbClr val="0000CC"/>
                </a:solidFill>
                <a:latin typeface="微软雅黑" pitchFamily="34" charset="-122"/>
                <a:ea typeface="微软雅黑" pitchFamily="34" charset="-122"/>
                <a:sym typeface="Wingdings 2" panose="05020102010507070707" pitchFamily="18" charset="2"/>
              </a:rPr>
              <a:t>各种应用程序都</a:t>
            </a:r>
            <a:r>
              <a:rPr lang="zh-CN" altLang="en-US" b="1" dirty="0">
                <a:solidFill>
                  <a:srgbClr val="C00000"/>
                </a:solidFill>
                <a:latin typeface="微软雅黑" pitchFamily="34" charset="-122"/>
                <a:ea typeface="微软雅黑" pitchFamily="34" charset="-122"/>
                <a:sym typeface="Wingdings 2" panose="05020102010507070707" pitchFamily="18" charset="2"/>
              </a:rPr>
              <a:t>不使用</a:t>
            </a:r>
            <a:r>
              <a:rPr lang="zh-CN" altLang="en-US" b="1" dirty="0">
                <a:solidFill>
                  <a:srgbClr val="0000CC"/>
                </a:solidFill>
                <a:latin typeface="微软雅黑" pitchFamily="34" charset="-122"/>
                <a:ea typeface="微软雅黑" pitchFamily="34" charset="-122"/>
                <a:sym typeface="Wingdings 2" panose="05020102010507070707" pitchFamily="18" charset="2"/>
              </a:rPr>
              <a:t>这种转交地址。</a:t>
            </a:r>
            <a:endParaRPr lang="en-US" altLang="zh-CN" b="1" dirty="0">
              <a:solidFill>
                <a:srgbClr val="0000CC"/>
              </a:solidFill>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sym typeface="Wingdings 2" panose="05020102010507070707" pitchFamily="18" charset="2"/>
              </a:rPr>
              <a:t>2</a:t>
            </a:r>
            <a:r>
              <a:rPr lang="zh-CN" altLang="en-US" b="1" dirty="0">
                <a:latin typeface="微软雅黑" pitchFamily="34" charset="-122"/>
                <a:ea typeface="微软雅黑" pitchFamily="34" charset="-122"/>
                <a:sym typeface="Wingdings 2" panose="05020102010507070707" pitchFamily="18" charset="2"/>
              </a:rPr>
              <a:t>，</a:t>
            </a:r>
            <a:r>
              <a:rPr lang="zh-CN" altLang="en-US" b="1" dirty="0">
                <a:solidFill>
                  <a:srgbClr val="C00000"/>
                </a:solidFill>
                <a:latin typeface="微软雅黑" pitchFamily="34" charset="-122"/>
                <a:ea typeface="微软雅黑" pitchFamily="34" charset="-122"/>
                <a:sym typeface="Wingdings 2" panose="05020102010507070707" pitchFamily="18" charset="2"/>
              </a:rPr>
              <a:t>转交地址</a:t>
            </a:r>
            <a:r>
              <a:rPr lang="zh-CN" altLang="en-US" b="1" dirty="0">
                <a:latin typeface="微软雅黑" pitchFamily="34" charset="-122"/>
                <a:ea typeface="微软雅黑" pitchFamily="34" charset="-122"/>
                <a:sym typeface="Wingdings 2" panose="05020102010507070707" pitchFamily="18" charset="2"/>
              </a:rPr>
              <a:t>在互联网中并</a:t>
            </a:r>
            <a:r>
              <a:rPr lang="zh-CN" altLang="en-US" b="1" dirty="0">
                <a:solidFill>
                  <a:srgbClr val="C00000"/>
                </a:solidFill>
                <a:latin typeface="微软雅黑" pitchFamily="34" charset="-122"/>
                <a:ea typeface="微软雅黑" pitchFamily="34" charset="-122"/>
                <a:sym typeface="Wingdings 2" panose="05020102010507070707" pitchFamily="18" charset="2"/>
              </a:rPr>
              <a:t>不唯一。</a:t>
            </a:r>
            <a:r>
              <a:rPr lang="zh-CN" altLang="en-US" b="1" dirty="0">
                <a:latin typeface="微软雅黑" pitchFamily="34" charset="-122"/>
                <a:ea typeface="微软雅黑" pitchFamily="34" charset="-122"/>
                <a:sym typeface="Wingdings 2" panose="05020102010507070707" pitchFamily="18" charset="2"/>
              </a:rPr>
              <a:t>外地代理可以给好几个移动站指派同样的转交地址，甚至把自己的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地址指派为移动站的转交地址。这样并不会引起混乱，因为当</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要向连接在</a:t>
            </a:r>
            <a:r>
              <a:rPr lang="zh-CN" altLang="en-US" b="1" dirty="0">
                <a:solidFill>
                  <a:srgbClr val="0000CC"/>
                </a:solidFill>
                <a:latin typeface="微软雅黑" pitchFamily="34" charset="-122"/>
                <a:ea typeface="微软雅黑" pitchFamily="34" charset="-122"/>
                <a:sym typeface="Wingdings 2" panose="05020102010507070707" pitchFamily="18" charset="2"/>
              </a:rPr>
              <a:t>被访网络上的移动站</a:t>
            </a:r>
            <a:r>
              <a:rPr lang="zh-CN" altLang="en-US" b="1" dirty="0">
                <a:latin typeface="微软雅黑" pitchFamily="34" charset="-122"/>
                <a:ea typeface="微软雅黑" pitchFamily="34" charset="-122"/>
                <a:sym typeface="Wingdings 2" panose="05020102010507070707" pitchFamily="18" charset="2"/>
              </a:rPr>
              <a:t>发送数据报时，</a:t>
            </a:r>
            <a:r>
              <a:rPr lang="zh-CN" altLang="en-US" b="1" dirty="0">
                <a:solidFill>
                  <a:srgbClr val="0000CC"/>
                </a:solidFill>
                <a:latin typeface="微软雅黑" pitchFamily="34" charset="-122"/>
                <a:ea typeface="微软雅黑" pitchFamily="34" charset="-122"/>
                <a:sym typeface="Wingdings 2" panose="05020102010507070707" pitchFamily="18" charset="2"/>
              </a:rPr>
              <a:t>直接使用这个移动站的 </a:t>
            </a:r>
            <a:r>
              <a:rPr lang="en-US" altLang="zh-CN" b="1" dirty="0">
                <a:solidFill>
                  <a:srgbClr val="0000CC"/>
                </a:solidFill>
                <a:latin typeface="微软雅黑" pitchFamily="34" charset="-122"/>
                <a:ea typeface="微软雅黑" pitchFamily="34" charset="-122"/>
                <a:sym typeface="Wingdings 2" panose="05020102010507070707" pitchFamily="18" charset="2"/>
              </a:rPr>
              <a:t>MAC </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（当移动站首次和外地代理通信时，外地代理就记录下这个移动站的 </a:t>
            </a:r>
            <a:r>
              <a:rPr lang="en-US" altLang="zh-CN" b="1" dirty="0">
                <a:latin typeface="微软雅黑" pitchFamily="34" charset="-122"/>
                <a:ea typeface="微软雅黑" pitchFamily="34" charset="-122"/>
                <a:sym typeface="Wingdings 2" panose="05020102010507070707" pitchFamily="18" charset="2"/>
              </a:rPr>
              <a:t>MAC </a:t>
            </a:r>
            <a:r>
              <a:rPr lang="zh-CN" altLang="en-US" b="1" dirty="0">
                <a:latin typeface="微软雅黑" pitchFamily="34" charset="-122"/>
                <a:ea typeface="微软雅黑" pitchFamily="34" charset="-122"/>
                <a:sym typeface="Wingdings 2" panose="05020102010507070707" pitchFamily="18" charset="2"/>
              </a:rPr>
              <a:t>地址）。</a:t>
            </a: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有时，</a:t>
            </a:r>
            <a:r>
              <a:rPr lang="zh-CN" altLang="en-US" b="1" dirty="0">
                <a:solidFill>
                  <a:srgbClr val="0000CC"/>
                </a:solidFill>
                <a:latin typeface="微软雅黑" pitchFamily="34" charset="-122"/>
                <a:ea typeface="微软雅黑" pitchFamily="34" charset="-122"/>
                <a:sym typeface="Wingdings 2" panose="05020102010507070707" pitchFamily="18" charset="2"/>
              </a:rPr>
              <a:t>移动站本身也可以充当外地代理，</a:t>
            </a:r>
            <a:r>
              <a:rPr lang="zh-CN" altLang="en-US" b="1" dirty="0">
                <a:latin typeface="微软雅黑" pitchFamily="34" charset="-122"/>
                <a:ea typeface="微软雅黑" pitchFamily="34" charset="-122"/>
                <a:sym typeface="Wingdings 2" panose="05020102010507070707" pitchFamily="18" charset="2"/>
              </a:rPr>
              <a:t>即移动站和外地代理是同一个设备。这时的转交地址叫做</a:t>
            </a:r>
            <a:r>
              <a:rPr lang="zh-CN" altLang="en-US" b="1" dirty="0">
                <a:solidFill>
                  <a:srgbClr val="C00000"/>
                </a:solidFill>
                <a:latin typeface="微软雅黑" pitchFamily="34" charset="-122"/>
                <a:ea typeface="微软雅黑" pitchFamily="34" charset="-122"/>
                <a:sym typeface="Wingdings 2" panose="05020102010507070707" pitchFamily="18" charset="2"/>
              </a:rPr>
              <a:t>同址转交地址</a:t>
            </a:r>
            <a:r>
              <a:rPr lang="en-US" altLang="zh-CN" b="1" dirty="0">
                <a:latin typeface="微软雅黑" pitchFamily="34" charset="-122"/>
                <a:ea typeface="微软雅黑" pitchFamily="34" charset="-122"/>
                <a:sym typeface="Wingdings 2" panose="05020102010507070707" pitchFamily="18" charset="2"/>
              </a:rPr>
              <a:t>(co-located care-of address)</a:t>
            </a:r>
            <a:r>
              <a:rPr lang="zh-CN" altLang="en-US" b="1" dirty="0">
                <a:latin typeface="微软雅黑" pitchFamily="34" charset="-122"/>
                <a:ea typeface="微软雅黑" pitchFamily="34" charset="-122"/>
                <a:sym typeface="Wingdings 2" panose="05020102010507070707" pitchFamily="18" charset="2"/>
              </a:rPr>
              <a:t>。 </a:t>
            </a:r>
            <a:endParaRPr lang="en-US" altLang="zh-CN" b="1" dirty="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9541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注意：</a:t>
            </a:r>
          </a:p>
        </p:txBody>
      </p:sp>
    </p:spTree>
    <p:extLst>
      <p:ext uri="{BB962C8B-B14F-4D97-AF65-F5344CB8AC3E}">
        <p14:creationId xmlns:p14="http://schemas.microsoft.com/office/powerpoint/2010/main" val="3284474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5" name="圆角矩形 4"/>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 name="矩形 7"/>
          <p:cNvSpPr/>
          <p:nvPr/>
        </p:nvSpPr>
        <p:spPr>
          <a:xfrm>
            <a:off x="626451" y="2870757"/>
            <a:ext cx="7895059" cy="759182"/>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的数据报的目的地址是：</a:t>
            </a:r>
            <a:r>
              <a:rPr lang="en-US" altLang="zh-CN" b="1" dirty="0">
                <a:latin typeface="微软雅黑" pitchFamily="34" charset="-122"/>
                <a:ea typeface="微软雅黑" pitchFamily="34" charset="-122"/>
              </a:rPr>
              <a:t>131.8.6.7</a:t>
            </a:r>
            <a:r>
              <a:rPr lang="zh-CN" altLang="en-US" b="1" dirty="0">
                <a:latin typeface="微软雅黑" pitchFamily="34" charset="-122"/>
                <a:ea typeface="微软雅黑" pitchFamily="34" charset="-122"/>
              </a:rPr>
              <a:t>。此数据报被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a:t>
            </a:r>
            <a:r>
              <a:rPr lang="zh-CN" altLang="en-US" b="1" dirty="0">
                <a:solidFill>
                  <a:srgbClr val="0000CC"/>
                </a:solidFill>
                <a:latin typeface="微软雅黑" pitchFamily="34" charset="-122"/>
                <a:ea typeface="微软雅黑" pitchFamily="34" charset="-122"/>
              </a:rPr>
              <a:t>归属代理截获</a:t>
            </a:r>
            <a:r>
              <a:rPr lang="zh-CN" altLang="en-US" b="1" dirty="0">
                <a:latin typeface="微软雅黑" pitchFamily="34" charset="-122"/>
                <a:ea typeface="微软雅黑" pitchFamily="34" charset="-122"/>
              </a:rPr>
              <a:t>（只有当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离开归属网络时，归属代理才能截获发给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的数据报）。</a:t>
            </a:r>
          </a:p>
        </p:txBody>
      </p:sp>
      <p:sp>
        <p:nvSpPr>
          <p:cNvPr id="9"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0"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11"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12"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13"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15"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6"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0"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1"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22"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3"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24"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25"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28"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9"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32"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36" name="组合 35"/>
          <p:cNvGrpSpPr/>
          <p:nvPr/>
        </p:nvGrpSpPr>
        <p:grpSpPr>
          <a:xfrm>
            <a:off x="6238223" y="2317040"/>
            <a:ext cx="309983" cy="332183"/>
            <a:chOff x="2565534" y="4101618"/>
            <a:chExt cx="360485" cy="386301"/>
          </a:xfrm>
        </p:grpSpPr>
        <p:sp>
          <p:nvSpPr>
            <p:cNvPr id="3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8" name="Group 424"/>
            <p:cNvGrpSpPr>
              <a:grpSpLocks/>
            </p:cNvGrpSpPr>
            <p:nvPr/>
          </p:nvGrpSpPr>
          <p:grpSpPr bwMode="auto">
            <a:xfrm>
              <a:off x="2565534" y="4101618"/>
              <a:ext cx="360485" cy="119330"/>
              <a:chOff x="748" y="2251"/>
              <a:chExt cx="306" cy="90"/>
            </a:xfrm>
          </p:grpSpPr>
          <p:sp>
            <p:nvSpPr>
              <p:cNvPr id="4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6" name="组合 45"/>
          <p:cNvGrpSpPr/>
          <p:nvPr/>
        </p:nvGrpSpPr>
        <p:grpSpPr>
          <a:xfrm>
            <a:off x="1877866" y="1316516"/>
            <a:ext cx="528586" cy="356119"/>
            <a:chOff x="4406004" y="4260453"/>
            <a:chExt cx="558674" cy="429804"/>
          </a:xfrm>
        </p:grpSpPr>
        <p:grpSp>
          <p:nvGrpSpPr>
            <p:cNvPr id="47" name="Group 460"/>
            <p:cNvGrpSpPr>
              <a:grpSpLocks/>
            </p:cNvGrpSpPr>
            <p:nvPr/>
          </p:nvGrpSpPr>
          <p:grpSpPr bwMode="auto">
            <a:xfrm>
              <a:off x="4543772" y="4322623"/>
              <a:ext cx="420906" cy="367634"/>
              <a:chOff x="657" y="1570"/>
              <a:chExt cx="318" cy="318"/>
            </a:xfrm>
          </p:grpSpPr>
          <p:sp>
            <p:nvSpPr>
              <p:cNvPr id="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 name="Group 463"/>
            <p:cNvGrpSpPr>
              <a:grpSpLocks/>
            </p:cNvGrpSpPr>
            <p:nvPr/>
          </p:nvGrpSpPr>
          <p:grpSpPr bwMode="auto">
            <a:xfrm>
              <a:off x="4406004" y="4260453"/>
              <a:ext cx="405022" cy="119404"/>
              <a:chOff x="748" y="2251"/>
              <a:chExt cx="306" cy="90"/>
            </a:xfrm>
            <a:solidFill>
              <a:srgbClr val="0066FF"/>
            </a:solidFill>
          </p:grpSpPr>
          <p:sp>
            <p:nvSpPr>
              <p:cNvPr id="4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57" name="组合 56"/>
          <p:cNvGrpSpPr/>
          <p:nvPr/>
        </p:nvGrpSpPr>
        <p:grpSpPr>
          <a:xfrm>
            <a:off x="5797409" y="1316516"/>
            <a:ext cx="528586" cy="356119"/>
            <a:chOff x="4406004" y="4260453"/>
            <a:chExt cx="558674" cy="429804"/>
          </a:xfrm>
        </p:grpSpPr>
        <p:grpSp>
          <p:nvGrpSpPr>
            <p:cNvPr id="58" name="Group 460"/>
            <p:cNvGrpSpPr>
              <a:grpSpLocks/>
            </p:cNvGrpSpPr>
            <p:nvPr/>
          </p:nvGrpSpPr>
          <p:grpSpPr bwMode="auto">
            <a:xfrm>
              <a:off x="4543772" y="4322623"/>
              <a:ext cx="420906" cy="367634"/>
              <a:chOff x="657" y="1570"/>
              <a:chExt cx="318" cy="318"/>
            </a:xfrm>
          </p:grpSpPr>
          <p:sp>
            <p:nvSpPr>
              <p:cNvPr id="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 name="Group 463"/>
            <p:cNvGrpSpPr>
              <a:grpSpLocks/>
            </p:cNvGrpSpPr>
            <p:nvPr/>
          </p:nvGrpSpPr>
          <p:grpSpPr bwMode="auto">
            <a:xfrm>
              <a:off x="4406004" y="4260453"/>
              <a:ext cx="405022" cy="119404"/>
              <a:chOff x="748" y="2251"/>
              <a:chExt cx="306" cy="90"/>
            </a:xfrm>
            <a:solidFill>
              <a:srgbClr val="0066FF"/>
            </a:solidFill>
          </p:grpSpPr>
          <p:sp>
            <p:nvSpPr>
              <p:cNvPr id="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72" name="组合 71"/>
          <p:cNvGrpSpPr/>
          <p:nvPr/>
        </p:nvGrpSpPr>
        <p:grpSpPr>
          <a:xfrm>
            <a:off x="2494098" y="1993453"/>
            <a:ext cx="3761679" cy="571185"/>
            <a:chOff x="2494098" y="1993453"/>
            <a:chExt cx="3761679" cy="571185"/>
          </a:xfrm>
        </p:grpSpPr>
        <p:sp>
          <p:nvSpPr>
            <p:cNvPr id="33"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Tree>
    <p:extLst>
      <p:ext uri="{BB962C8B-B14F-4D97-AF65-F5344CB8AC3E}">
        <p14:creationId xmlns:p14="http://schemas.microsoft.com/office/powerpoint/2010/main" val="510761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wipe(right)">
                                      <p:cBhvr>
                                        <p:cTn id="7" dur="1000"/>
                                        <p:tgtEl>
                                          <p:spTgt spid="7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rPr>
              <a:t>归属代理把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发来的数据报进行</a:t>
            </a:r>
            <a:r>
              <a:rPr lang="zh-CN" altLang="en-US" b="1" dirty="0">
                <a:solidFill>
                  <a:srgbClr val="0000CC"/>
                </a:solidFill>
                <a:latin typeface="微软雅黑" pitchFamily="34" charset="-122"/>
                <a:ea typeface="微软雅黑" pitchFamily="34" charset="-122"/>
              </a:rPr>
              <a:t>再封装，</a:t>
            </a:r>
            <a:r>
              <a:rPr lang="zh-CN" altLang="en-US" b="1" dirty="0">
                <a:latin typeface="微软雅黑" pitchFamily="34" charset="-122"/>
                <a:ea typeface="微软雅黑" pitchFamily="34" charset="-122"/>
              </a:rPr>
              <a:t>新的数据报的目的地址是：</a:t>
            </a:r>
            <a:r>
              <a:rPr lang="en-US" altLang="zh-CN" b="1" dirty="0">
                <a:latin typeface="微软雅黑" pitchFamily="34" charset="-122"/>
                <a:ea typeface="微软雅黑" pitchFamily="34" charset="-122"/>
              </a:rPr>
              <a:t>15.5.6.7</a:t>
            </a:r>
            <a:r>
              <a:rPr lang="zh-CN" altLang="en-US" b="1" dirty="0">
                <a:latin typeface="微软雅黑" pitchFamily="34" charset="-122"/>
                <a:ea typeface="微软雅黑" pitchFamily="34" charset="-122"/>
              </a:rPr>
              <a:t>，就是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现在的转交地址。使用</a:t>
            </a:r>
            <a:r>
              <a:rPr lang="zh-CN" altLang="en-US" b="1" dirty="0">
                <a:solidFill>
                  <a:srgbClr val="0000CC"/>
                </a:solidFill>
                <a:latin typeface="微软雅黑" pitchFamily="34" charset="-122"/>
                <a:ea typeface="微软雅黑" pitchFamily="34" charset="-122"/>
              </a:rPr>
              <a:t>隧道技术</a:t>
            </a:r>
            <a:r>
              <a:rPr lang="zh-CN" altLang="en-US" b="1" dirty="0">
                <a:latin typeface="微软雅黑" pitchFamily="34" charset="-122"/>
                <a:ea typeface="微软雅黑" pitchFamily="34" charset="-122"/>
              </a:rPr>
              <a:t>或 </a:t>
            </a:r>
            <a:r>
              <a:rPr lang="en-US" altLang="zh-CN" b="1" dirty="0">
                <a:solidFill>
                  <a:srgbClr val="0000CC"/>
                </a:solidFill>
                <a:latin typeface="微软雅黑" pitchFamily="34" charset="-122"/>
                <a:ea typeface="微软雅黑" pitchFamily="34" charset="-122"/>
              </a:rPr>
              <a:t>IP-in-IP</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将新封装的数据报发送到被访网络的</a:t>
            </a:r>
            <a:r>
              <a:rPr lang="zh-CN" altLang="en-US" b="1" dirty="0">
                <a:solidFill>
                  <a:srgbClr val="0000CC"/>
                </a:solidFill>
                <a:latin typeface="微软雅黑" pitchFamily="34" charset="-122"/>
                <a:ea typeface="微软雅黑" pitchFamily="34" charset="-122"/>
              </a:rPr>
              <a:t>外地代理。</a:t>
            </a: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
        <p:nvSpPr>
          <p:cNvPr id="2" name="矩形 1"/>
          <p:cNvSpPr/>
          <p:nvPr/>
        </p:nvSpPr>
        <p:spPr>
          <a:xfrm>
            <a:off x="5926385" y="1893877"/>
            <a:ext cx="1127183" cy="406265"/>
          </a:xfrm>
          <a:prstGeom prst="rect">
            <a:avLst/>
          </a:prstGeom>
        </p:spPr>
        <p:txBody>
          <a:bodyPr wrap="square">
            <a:spAutoFit/>
          </a:bodyPr>
          <a:lstStyle/>
          <a:p>
            <a:pPr algn="ctr">
              <a:lnSpc>
                <a:spcPct val="85000"/>
              </a:lnSpc>
            </a:pPr>
            <a:r>
              <a:rPr kumimoji="1" lang="zh-CN" altLang="en-US" sz="1200" b="1" dirty="0">
                <a:solidFill>
                  <a:schemeClr val="bg1"/>
                </a:solidFill>
                <a:latin typeface="微软雅黑" panose="020B0503020204020204" pitchFamily="34" charset="-122"/>
                <a:ea typeface="微软雅黑" panose="020B0503020204020204" pitchFamily="34" charset="-122"/>
              </a:rPr>
              <a:t>转交地址 </a:t>
            </a:r>
            <a:r>
              <a:rPr kumimoji="1" lang="en-US" altLang="zh-CN" sz="1200" b="1" dirty="0">
                <a:solidFill>
                  <a:schemeClr val="bg1"/>
                </a:solidFill>
                <a:latin typeface="微软雅黑" panose="020B0503020204020204" pitchFamily="34" charset="-122"/>
                <a:ea typeface="微软雅黑" panose="020B0503020204020204" pitchFamily="34" charset="-122"/>
              </a:rPr>
              <a:t>15.5.6.7/8</a:t>
            </a:r>
          </a:p>
        </p:txBody>
      </p:sp>
    </p:spTree>
    <p:extLst>
      <p:ext uri="{BB962C8B-B14F-4D97-AF65-F5344CB8AC3E}">
        <p14:creationId xmlns:p14="http://schemas.microsoft.com/office/powerpoint/2010/main" val="17374101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wipe(left)">
                                      <p:cBhvr>
                                        <p:cTn id="7" dur="1000"/>
                                        <p:tgtEl>
                                          <p:spTgt spid="133"/>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被访网络中的</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把收到的封装的数据报进行</a:t>
            </a:r>
            <a:r>
              <a:rPr lang="zh-CN" altLang="en-US" b="1" dirty="0">
                <a:solidFill>
                  <a:srgbClr val="0000CC"/>
                </a:solidFill>
                <a:latin typeface="微软雅黑" pitchFamily="34" charset="-122"/>
                <a:ea typeface="微软雅黑" pitchFamily="34" charset="-122"/>
                <a:sym typeface="Wingdings 2" panose="05020102010507070707" pitchFamily="18" charset="2"/>
              </a:rPr>
              <a:t>拆封，</a:t>
            </a:r>
            <a:r>
              <a:rPr lang="zh-CN" altLang="en-US" b="1" dirty="0">
                <a:latin typeface="微软雅黑" pitchFamily="34" charset="-122"/>
                <a:ea typeface="微软雅黑" pitchFamily="34" charset="-122"/>
                <a:sym typeface="Wingdings 2" panose="05020102010507070707" pitchFamily="18" charset="2"/>
              </a:rPr>
              <a:t>取出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发送的原始数据报，然后</a:t>
            </a:r>
            <a:r>
              <a:rPr lang="zh-CN" altLang="en-US" b="1" dirty="0">
                <a:solidFill>
                  <a:srgbClr val="0000CC"/>
                </a:solidFill>
                <a:latin typeface="微软雅黑" pitchFamily="34" charset="-122"/>
                <a:ea typeface="微软雅黑" pitchFamily="34" charset="-122"/>
                <a:sym typeface="Wingdings 2" panose="05020102010507070707" pitchFamily="18" charset="2"/>
              </a:rPr>
              <a:t>转发</a:t>
            </a:r>
            <a:r>
              <a:rPr lang="zh-CN" altLang="en-US" b="1" dirty="0">
                <a:latin typeface="微软雅黑" pitchFamily="34" charset="-122"/>
                <a:ea typeface="微软雅黑" pitchFamily="34" charset="-122"/>
                <a:sym typeface="Wingdings 2" panose="05020102010507070707" pitchFamily="18" charset="2"/>
              </a:rPr>
              <a:t>给移动站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。这个数据报的目的地址是：</a:t>
            </a:r>
            <a:r>
              <a:rPr lang="en-US" altLang="zh-CN" b="1" dirty="0">
                <a:latin typeface="微软雅黑" pitchFamily="34" charset="-122"/>
                <a:ea typeface="微软雅黑" pitchFamily="34" charset="-122"/>
                <a:sym typeface="Wingdings 2" panose="05020102010507070707" pitchFamily="18" charset="2"/>
              </a:rPr>
              <a:t>131.8.6.7</a:t>
            </a:r>
            <a:r>
              <a:rPr lang="zh-CN" altLang="en-US" b="1" dirty="0">
                <a:latin typeface="微软雅黑" pitchFamily="34" charset="-122"/>
                <a:ea typeface="微软雅黑" pitchFamily="34" charset="-122"/>
                <a:sym typeface="Wingdings 2" panose="05020102010507070707" pitchFamily="18" charset="2"/>
              </a:rPr>
              <a:t>，就是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的永久地址。</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收到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发送的原始数据报后，也得到了 </a:t>
            </a:r>
            <a:r>
              <a:rPr lang="en-US" altLang="zh-CN" b="1" dirty="0">
                <a:solidFill>
                  <a:srgbClr val="0000CC"/>
                </a:solidFill>
                <a:latin typeface="微软雅黑" pitchFamily="34" charset="-122"/>
                <a:ea typeface="微软雅黑" pitchFamily="34" charset="-122"/>
                <a:sym typeface="Wingdings 2" panose="05020102010507070707" pitchFamily="18" charset="2"/>
              </a:rPr>
              <a:t>B </a:t>
            </a:r>
            <a:r>
              <a:rPr lang="zh-CN" altLang="en-US" b="1" dirty="0">
                <a:solidFill>
                  <a:srgbClr val="0000CC"/>
                </a:solidFill>
                <a:latin typeface="微软雅黑" pitchFamily="34" charset="-122"/>
                <a:ea typeface="微软雅黑" pitchFamily="34" charset="-122"/>
                <a:sym typeface="Wingdings 2" panose="05020102010507070707" pitchFamily="18" charset="2"/>
              </a:rPr>
              <a:t>的</a:t>
            </a:r>
            <a:r>
              <a:rPr lang="en-US" altLang="zh-CN" b="1" dirty="0">
                <a:solidFill>
                  <a:srgbClr val="0000CC"/>
                </a:solidFill>
                <a:latin typeface="微软雅黑" pitchFamily="34" charset="-122"/>
                <a:ea typeface="微软雅黑" pitchFamily="34" charset="-122"/>
                <a:sym typeface="Wingdings 2" panose="05020102010507070707" pitchFamily="18" charset="2"/>
              </a:rPr>
              <a:t>IP</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Tree>
    <p:extLst>
      <p:ext uri="{BB962C8B-B14F-4D97-AF65-F5344CB8AC3E}">
        <p14:creationId xmlns:p14="http://schemas.microsoft.com/office/powerpoint/2010/main" val="1807797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wipe(down)">
                                      <p:cBhvr>
                                        <p:cTn id="7" dur="2000"/>
                                        <p:tgtEl>
                                          <p:spTgt spid="136"/>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如果现在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要向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发送数据报，</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仍然使用自己的永久地址作为数据报的源地址，用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地址作为数据报的目的地址。这个数据报显然没有必要在通过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的归属代理进行转发了。</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9" name="组合 138"/>
          <p:cNvGrpSpPr/>
          <p:nvPr/>
        </p:nvGrpSpPr>
        <p:grpSpPr>
          <a:xfrm>
            <a:off x="6223967" y="1509126"/>
            <a:ext cx="1098283" cy="989245"/>
            <a:chOff x="6223967" y="1509126"/>
            <a:chExt cx="1098283" cy="989245"/>
          </a:xfrm>
        </p:grpSpPr>
        <p:sp>
          <p:nvSpPr>
            <p:cNvPr id="140" name="Freeform 115"/>
            <p:cNvSpPr>
              <a:spLocks/>
            </p:cNvSpPr>
            <p:nvPr/>
          </p:nvSpPr>
          <p:spPr bwMode="auto">
            <a:xfrm>
              <a:off x="6223967" y="1604459"/>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Text Box 145"/>
            <p:cNvSpPr txBox="1">
              <a:spLocks noChangeArrowheads="1"/>
            </p:cNvSpPr>
            <p:nvPr/>
          </p:nvSpPr>
          <p:spPr bwMode="auto">
            <a:xfrm flipH="1">
              <a:off x="6892993" y="1509126"/>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grpSp>
    </p:spTree>
    <p:extLst>
      <p:ext uri="{BB962C8B-B14F-4D97-AF65-F5344CB8AC3E}">
        <p14:creationId xmlns:p14="http://schemas.microsoft.com/office/powerpoint/2010/main" val="26248376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wipe(up)">
                                      <p:cBhvr>
                                        <p:cTn id="7" dur="1000"/>
                                        <p:tgtEl>
                                          <p:spTgt spid="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4627"/>
            <a:ext cx="8129015"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移动站到外地代理的协议。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外地代理到归属代理的登记协议。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归属代理数据报封装协议。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外地代理拆封协议。</a:t>
            </a:r>
          </a:p>
        </p:txBody>
      </p:sp>
      <p:sp>
        <p:nvSpPr>
          <p:cNvPr id="3" name="AutoShape 5"/>
          <p:cNvSpPr>
            <a:spLocks noChangeArrowheads="1"/>
          </p:cNvSpPr>
          <p:nvPr/>
        </p:nvSpPr>
        <p:spPr bwMode="auto">
          <a:xfrm>
            <a:off x="511897" y="620341"/>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01668" y="587130"/>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网络层应增加的新功能</a:t>
            </a:r>
          </a:p>
        </p:txBody>
      </p:sp>
    </p:spTree>
    <p:extLst>
      <p:ext uri="{BB962C8B-B14F-4D97-AF65-F5344CB8AC3E}">
        <p14:creationId xmlns:p14="http://schemas.microsoft.com/office/powerpoint/2010/main" val="823020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间接路由选择：</a:t>
            </a:r>
            <a:r>
              <a:rPr lang="zh-CN" altLang="en-US" sz="2000" b="1" dirty="0">
                <a:latin typeface="微软雅黑" pitchFamily="34" charset="-122"/>
                <a:ea typeface="微软雅黑" pitchFamily="34" charset="-122"/>
              </a:rPr>
              <a:t>把数据报发往移动站的归属网络，由</a:t>
            </a:r>
            <a:r>
              <a:rPr lang="zh-CN" altLang="en-US" sz="2000" b="1" dirty="0">
                <a:solidFill>
                  <a:srgbClr val="0000CC"/>
                </a:solidFill>
                <a:latin typeface="微软雅黑" pitchFamily="34" charset="-122"/>
                <a:ea typeface="微软雅黑" pitchFamily="34" charset="-122"/>
              </a:rPr>
              <a:t>归属代理</a:t>
            </a:r>
            <a:r>
              <a:rPr lang="zh-CN" altLang="en-US" sz="2000" b="1" dirty="0">
                <a:latin typeface="微软雅黑" pitchFamily="34" charset="-122"/>
                <a:ea typeface="微软雅黑" pitchFamily="34" charset="-122"/>
              </a:rPr>
              <a:t>完成以后的</a:t>
            </a:r>
            <a:r>
              <a:rPr lang="zh-CN" altLang="en-US" sz="2000" b="1" dirty="0">
                <a:solidFill>
                  <a:srgbClr val="0000CC"/>
                </a:solidFill>
                <a:latin typeface="微软雅黑" pitchFamily="34" charset="-122"/>
                <a:ea typeface="微软雅黑" pitchFamily="34" charset="-122"/>
              </a:rPr>
              <a:t>寻址</a:t>
            </a:r>
            <a:r>
              <a:rPr lang="zh-CN" altLang="en-US" sz="2000" b="1" dirty="0">
                <a:latin typeface="微软雅黑" pitchFamily="34" charset="-122"/>
                <a:ea typeface="微软雅黑" pitchFamily="34" charset="-122"/>
              </a:rPr>
              <a:t>工作，进而完成数据报</a:t>
            </a:r>
            <a:r>
              <a:rPr lang="zh-CN" altLang="en-US" sz="2000" b="1" dirty="0">
                <a:solidFill>
                  <a:srgbClr val="0000CC"/>
                </a:solidFill>
                <a:latin typeface="微软雅黑" pitchFamily="34" charset="-122"/>
                <a:ea typeface="微软雅黑" pitchFamily="34" charset="-122"/>
              </a:rPr>
              <a:t>转发</a:t>
            </a:r>
            <a:r>
              <a:rPr lang="zh-CN" altLang="en-US" sz="2000" b="1" dirty="0">
                <a:latin typeface="微软雅黑" pitchFamily="34" charset="-122"/>
                <a:ea typeface="微软雅黑" pitchFamily="34" charset="-122"/>
              </a:rPr>
              <a:t>的方式。</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可能会引起数据报转发的</a:t>
            </a:r>
            <a:r>
              <a:rPr lang="zh-CN" altLang="en-US" sz="2000" b="1" dirty="0">
                <a:solidFill>
                  <a:srgbClr val="C00000"/>
                </a:solidFill>
                <a:latin typeface="微软雅黑" pitchFamily="34" charset="-122"/>
                <a:ea typeface="微软雅黑" pitchFamily="34" charset="-122"/>
              </a:rPr>
              <a:t>低效，</a:t>
            </a:r>
            <a:r>
              <a:rPr lang="zh-CN" altLang="en-US" sz="2000" b="1" dirty="0">
                <a:latin typeface="微软雅黑" pitchFamily="34" charset="-122"/>
                <a:ea typeface="微软雅黑" pitchFamily="34" charset="-122"/>
              </a:rPr>
              <a:t>即</a:t>
            </a:r>
            <a:r>
              <a:rPr lang="zh-CN" altLang="en-US" sz="2000" b="1" dirty="0">
                <a:solidFill>
                  <a:srgbClr val="C00000"/>
                </a:solidFill>
                <a:latin typeface="微软雅黑" pitchFamily="34" charset="-122"/>
                <a:ea typeface="微软雅黑" pitchFamily="34" charset="-122"/>
              </a:rPr>
              <a:t>三角形路由选择问题</a:t>
            </a:r>
            <a:r>
              <a:rPr lang="en-US" altLang="zh-CN" sz="2000" b="1" dirty="0">
                <a:latin typeface="微软雅黑" pitchFamily="34" charset="-122"/>
                <a:ea typeface="微软雅黑" pitchFamily="34" charset="-122"/>
              </a:rPr>
              <a:t>(triangle routing problem)</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329908" y="58808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三角形路由选择问题</a:t>
            </a:r>
          </a:p>
        </p:txBody>
      </p:sp>
      <p:sp>
        <p:nvSpPr>
          <p:cNvPr id="5" name="矩形 4"/>
          <p:cNvSpPr/>
          <p:nvPr/>
        </p:nvSpPr>
        <p:spPr>
          <a:xfrm>
            <a:off x="951000" y="2565893"/>
            <a:ext cx="7376159" cy="1759456"/>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本来在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之间可能有一条更有效的路由，但现在要走另外</a:t>
            </a:r>
            <a:r>
              <a:rPr lang="zh-CN" altLang="en-US" b="1" dirty="0">
                <a:solidFill>
                  <a:srgbClr val="0000CC"/>
                </a:solidFill>
                <a:latin typeface="微软雅黑" panose="020B0503020204020204" pitchFamily="34" charset="-122"/>
                <a:ea typeface="微软雅黑" panose="020B0503020204020204" pitchFamily="34" charset="-122"/>
              </a:rPr>
              <a:t>两条路：</a:t>
            </a:r>
            <a:r>
              <a:rPr lang="zh-CN" altLang="en-US" b="1" dirty="0">
                <a:latin typeface="微软雅黑" panose="020B0503020204020204" pitchFamily="34" charset="-122"/>
                <a:ea typeface="微软雅黑" panose="020B0503020204020204" pitchFamily="34" charset="-122"/>
              </a:rPr>
              <a:t>先要把数据报从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发送到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的归属代理，然后再转发给漫游到被访网络的 </a:t>
            </a:r>
            <a:r>
              <a:rPr lang="en-US" altLang="zh-CN" b="1" dirty="0">
                <a:latin typeface="微软雅黑" panose="020B0503020204020204" pitchFamily="34" charset="-122"/>
                <a:ea typeface="微软雅黑" panose="020B0503020204020204" pitchFamily="34" charset="-122"/>
              </a:rPr>
              <a:t>A</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a:lnSpc>
                <a:spcPts val="2600"/>
              </a:lnSpc>
            </a:pPr>
            <a:r>
              <a:rPr lang="zh-CN" altLang="en-US" b="1" dirty="0">
                <a:solidFill>
                  <a:srgbClr val="C00000"/>
                </a:solidFill>
                <a:latin typeface="微软雅黑" panose="020B0503020204020204" pitchFamily="34" charset="-122"/>
                <a:ea typeface="微软雅黑" panose="020B0503020204020204" pitchFamily="34" charset="-122"/>
              </a:rPr>
              <a:t>如果 </a:t>
            </a:r>
            <a:r>
              <a:rPr lang="en-US" altLang="zh-CN" b="1" dirty="0">
                <a:solidFill>
                  <a:srgbClr val="C00000"/>
                </a:solidFill>
                <a:latin typeface="微软雅黑" panose="020B0503020204020204" pitchFamily="34" charset="-122"/>
                <a:ea typeface="微软雅黑" panose="020B0503020204020204" pitchFamily="34" charset="-122"/>
              </a:rPr>
              <a:t>B </a:t>
            </a:r>
            <a:r>
              <a:rPr lang="zh-CN" altLang="en-US" b="1" dirty="0">
                <a:solidFill>
                  <a:srgbClr val="C00000"/>
                </a:solidFill>
                <a:latin typeface="微软雅黑" panose="020B0503020204020204" pitchFamily="34" charset="-122"/>
                <a:ea typeface="微软雅黑" panose="020B0503020204020204" pitchFamily="34" charset="-122"/>
              </a:rPr>
              <a:t>所在的网络就是 </a:t>
            </a:r>
            <a:r>
              <a:rPr lang="en-US" altLang="zh-CN" b="1" dirty="0">
                <a:solidFill>
                  <a:srgbClr val="C00000"/>
                </a:solidFill>
                <a:latin typeface="微软雅黑" panose="020B0503020204020204" pitchFamily="34" charset="-122"/>
                <a:ea typeface="微软雅黑" panose="020B0503020204020204" pitchFamily="34" charset="-122"/>
              </a:rPr>
              <a:t>A </a:t>
            </a:r>
            <a:r>
              <a:rPr lang="zh-CN" altLang="en-US" b="1" dirty="0">
                <a:solidFill>
                  <a:srgbClr val="C00000"/>
                </a:solidFill>
                <a:latin typeface="微软雅黑" panose="020B0503020204020204" pitchFamily="34" charset="-122"/>
                <a:ea typeface="微软雅黑" panose="020B0503020204020204" pitchFamily="34" charset="-122"/>
              </a:rPr>
              <a:t>到达的被访网络呢？</a:t>
            </a: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600"/>
              </a:lnSpc>
            </a:pPr>
            <a:r>
              <a:rPr lang="zh-CN" altLang="en-US" b="1" dirty="0">
                <a:solidFill>
                  <a:srgbClr val="0000CC"/>
                </a:solidFill>
                <a:latin typeface="微软雅黑" panose="020B0503020204020204" pitchFamily="34" charset="-122"/>
                <a:ea typeface="微软雅黑" panose="020B0503020204020204" pitchFamily="34" charset="-122"/>
              </a:rPr>
              <a:t>直接交付即可，根本不需要使用路由器。</a:t>
            </a:r>
          </a:p>
        </p:txBody>
      </p:sp>
    </p:spTree>
    <p:extLst>
      <p:ext uri="{BB962C8B-B14F-4D97-AF65-F5344CB8AC3E}">
        <p14:creationId xmlns:p14="http://schemas.microsoft.com/office/powerpoint/2010/main" val="39439777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bg/>
                                          </p:spTgt>
                                        </p:tgtEl>
                                        <p:attrNameLst>
                                          <p:attrName>style.visibility</p:attrName>
                                        </p:attrNameLst>
                                      </p:cBhvr>
                                      <p:to>
                                        <p:strVal val="visible"/>
                                      </p:to>
                                    </p:set>
                                    <p:animEffect transition="in" filter="fade">
                                      <p:cBhvr>
                                        <p:cTn id="7" dur="1000"/>
                                        <p:tgtEl>
                                          <p:spTgt spid="5">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fade">
                                      <p:cBhvr>
                                        <p:cTn id="10" dur="1000"/>
                                        <p:tgtEl>
                                          <p:spTgt spid="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animEffect transition="in" filter="fade">
                                      <p:cBhvr>
                                        <p:cTn id="15" dur="1000"/>
                                        <p:tgtEl>
                                          <p:spTgt spid="5">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xEl>
                                              <p:pRg st="2" end="2"/>
                                            </p:txEl>
                                          </p:spTgt>
                                        </p:tgtEl>
                                        <p:attrNameLst>
                                          <p:attrName>style.visibility</p:attrName>
                                        </p:attrNameLst>
                                      </p:cBhvr>
                                      <p:to>
                                        <p:strVal val="visible"/>
                                      </p:to>
                                    </p:set>
                                    <p:animEffect transition="in" filter="fade">
                                      <p:cBhvr>
                                        <p:cTn id="20" dur="10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301565" y="598587"/>
            <a:ext cx="45448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a:t>
            </a:r>
          </a:p>
        </p:txBody>
      </p:sp>
      <p:sp>
        <p:nvSpPr>
          <p:cNvPr id="5" name="矩形 4"/>
          <p:cNvSpPr/>
          <p:nvPr/>
        </p:nvSpPr>
        <p:spPr>
          <a:xfrm>
            <a:off x="966651" y="3161212"/>
            <a:ext cx="7245532" cy="1220847"/>
          </a:xfrm>
          <a:prstGeom prst="rect">
            <a:avLst/>
          </a:prstGeom>
          <a:noFill/>
          <a:ln>
            <a:noFill/>
          </a:ln>
        </p:spPr>
        <p:txBody>
          <a:bodyPr wrap="square">
            <a:spAutoFit/>
          </a:bodyPr>
          <a:lstStyle/>
          <a:p>
            <a:pPr>
              <a:lnSpc>
                <a:spcPts val="2200"/>
              </a:lnSpc>
            </a:pPr>
            <a:r>
              <a:rPr lang="zh-CN" altLang="en-US" sz="1600" b="1" dirty="0">
                <a:latin typeface="微软雅黑" pitchFamily="34" charset="-122"/>
                <a:ea typeface="微软雅黑" pitchFamily="34" charset="-122"/>
              </a:rPr>
              <a:t>让通信者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创建一个</a:t>
            </a:r>
            <a:r>
              <a:rPr lang="zh-CN" altLang="en-US" sz="1600" b="1" dirty="0">
                <a:solidFill>
                  <a:srgbClr val="C00000"/>
                </a:solidFill>
                <a:latin typeface="微软雅黑" pitchFamily="34" charset="-122"/>
                <a:ea typeface="微软雅黑" pitchFamily="34" charset="-122"/>
              </a:rPr>
              <a:t>通信者代理 </a:t>
            </a:r>
            <a:r>
              <a:rPr lang="en-US" altLang="zh-CN" sz="1600" b="1" dirty="0">
                <a:latin typeface="微软雅黑" pitchFamily="34" charset="-122"/>
                <a:ea typeface="微软雅黑" pitchFamily="34" charset="-122"/>
              </a:rPr>
              <a:t>(correspondent agent)</a:t>
            </a:r>
            <a:r>
              <a:rPr lang="zh-CN" altLang="en-US" sz="1600" b="1" dirty="0">
                <a:latin typeface="微软雅黑" pitchFamily="34" charset="-122"/>
                <a:ea typeface="微软雅黑" pitchFamily="34" charset="-122"/>
              </a:rPr>
              <a:t>，让通信者代理向</a:t>
            </a:r>
            <a:r>
              <a:rPr lang="zh-CN" altLang="en-US" sz="1600" b="1" dirty="0">
                <a:solidFill>
                  <a:srgbClr val="0000CC"/>
                </a:solidFill>
                <a:latin typeface="微软雅黑" pitchFamily="34" charset="-122"/>
                <a:ea typeface="微软雅黑" pitchFamily="34" charset="-122"/>
              </a:rPr>
              <a:t>归属代理</a:t>
            </a:r>
            <a:r>
              <a:rPr lang="zh-CN" altLang="en-US" sz="1600" b="1" dirty="0">
                <a:solidFill>
                  <a:srgbClr val="C00000"/>
                </a:solidFill>
                <a:latin typeface="微软雅黑" pitchFamily="34" charset="-122"/>
                <a:ea typeface="微软雅黑" pitchFamily="34" charset="-122"/>
              </a:rPr>
              <a:t>询问</a:t>
            </a:r>
            <a:r>
              <a:rPr lang="zh-CN" altLang="en-US" sz="1600" b="1" dirty="0">
                <a:latin typeface="微软雅黑" pitchFamily="34" charset="-122"/>
                <a:ea typeface="微软雅黑" pitchFamily="34" charset="-122"/>
              </a:rPr>
              <a:t>到移动站在被访网络的</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然后由通信者代理把数据报用</a:t>
            </a:r>
            <a:r>
              <a:rPr lang="zh-CN" altLang="en-US" sz="1600" b="1" dirty="0">
                <a:solidFill>
                  <a:srgbClr val="C00000"/>
                </a:solidFill>
                <a:latin typeface="微软雅黑" pitchFamily="34" charset="-122"/>
                <a:ea typeface="微软雅黑" pitchFamily="34" charset="-122"/>
              </a:rPr>
              <a:t>隧道技术</a:t>
            </a:r>
            <a:r>
              <a:rPr lang="zh-CN" altLang="en-US" sz="1600" b="1" dirty="0">
                <a:latin typeface="微软雅黑" pitchFamily="34" charset="-122"/>
                <a:ea typeface="微软雅黑" pitchFamily="34" charset="-122"/>
              </a:rPr>
              <a:t>发送到被访网络的</a:t>
            </a:r>
            <a:r>
              <a:rPr lang="zh-CN" altLang="en-US" sz="1600" b="1" dirty="0">
                <a:solidFill>
                  <a:srgbClr val="0000CC"/>
                </a:solidFill>
                <a:latin typeface="微软雅黑" pitchFamily="34" charset="-122"/>
                <a:ea typeface="微软雅黑" pitchFamily="34" charset="-122"/>
              </a:rPr>
              <a:t>外地代理，</a:t>
            </a:r>
            <a:r>
              <a:rPr lang="zh-CN" altLang="en-US" sz="1600" b="1" dirty="0">
                <a:latin typeface="微软雅黑" pitchFamily="34" charset="-122"/>
                <a:ea typeface="微软雅黑" pitchFamily="34" charset="-122"/>
              </a:rPr>
              <a:t>最后再由这个外地代理拆封，把数据报转发给移动站。</a:t>
            </a:r>
          </a:p>
        </p:txBody>
      </p:sp>
      <p:sp>
        <p:nvSpPr>
          <p:cNvPr id="100"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1"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2"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103"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4"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105"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06"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107" name="组合 106"/>
          <p:cNvGrpSpPr/>
          <p:nvPr/>
        </p:nvGrpSpPr>
        <p:grpSpPr>
          <a:xfrm>
            <a:off x="1812942" y="1105129"/>
            <a:ext cx="1524445" cy="1036309"/>
            <a:chOff x="1812942" y="1105129"/>
            <a:chExt cx="1524445" cy="1036309"/>
          </a:xfrm>
        </p:grpSpPr>
        <p:sp>
          <p:nvSpPr>
            <p:cNvPr id="10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9"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13"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4"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11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6"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17"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8" name="组合 117"/>
            <p:cNvGrpSpPr/>
            <p:nvPr/>
          </p:nvGrpSpPr>
          <p:grpSpPr>
            <a:xfrm>
              <a:off x="2527029" y="1360798"/>
              <a:ext cx="424510" cy="296144"/>
              <a:chOff x="4406004" y="4260453"/>
              <a:chExt cx="558674" cy="429804"/>
            </a:xfrm>
          </p:grpSpPr>
          <p:grpSp>
            <p:nvGrpSpPr>
              <p:cNvPr id="119" name="Group 460"/>
              <p:cNvGrpSpPr>
                <a:grpSpLocks/>
              </p:cNvGrpSpPr>
              <p:nvPr/>
            </p:nvGrpSpPr>
            <p:grpSpPr bwMode="auto">
              <a:xfrm>
                <a:off x="4543772" y="4322623"/>
                <a:ext cx="420906" cy="367634"/>
                <a:chOff x="657" y="1570"/>
                <a:chExt cx="318" cy="318"/>
              </a:xfrm>
            </p:grpSpPr>
            <p:sp>
              <p:nvSpPr>
                <p:cNvPr id="12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 name="Group 463"/>
              <p:cNvGrpSpPr>
                <a:grpSpLocks/>
              </p:cNvGrpSpPr>
              <p:nvPr/>
            </p:nvGrpSpPr>
            <p:grpSpPr bwMode="auto">
              <a:xfrm>
                <a:off x="4406004" y="4260453"/>
                <a:ext cx="405022" cy="119404"/>
                <a:chOff x="748" y="2251"/>
                <a:chExt cx="306" cy="90"/>
              </a:xfrm>
              <a:solidFill>
                <a:srgbClr val="0066FF"/>
              </a:solidFill>
            </p:grpSpPr>
            <p:sp>
              <p:nvSpPr>
                <p:cNvPr id="12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29" name="组合 128"/>
          <p:cNvGrpSpPr/>
          <p:nvPr/>
        </p:nvGrpSpPr>
        <p:grpSpPr>
          <a:xfrm>
            <a:off x="5169053" y="1105766"/>
            <a:ext cx="1356746" cy="982674"/>
            <a:chOff x="5169053" y="1105766"/>
            <a:chExt cx="1356746" cy="982674"/>
          </a:xfrm>
        </p:grpSpPr>
        <p:sp>
          <p:nvSpPr>
            <p:cNvPr id="130"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1"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32"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134"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5"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6"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37" name="组合 136"/>
            <p:cNvGrpSpPr/>
            <p:nvPr/>
          </p:nvGrpSpPr>
          <p:grpSpPr>
            <a:xfrm>
              <a:off x="5565692" y="1317271"/>
              <a:ext cx="424510" cy="296144"/>
              <a:chOff x="4406004" y="4260453"/>
              <a:chExt cx="558674" cy="429804"/>
            </a:xfrm>
          </p:grpSpPr>
          <p:grpSp>
            <p:nvGrpSpPr>
              <p:cNvPr id="138" name="Group 460"/>
              <p:cNvGrpSpPr>
                <a:grpSpLocks/>
              </p:cNvGrpSpPr>
              <p:nvPr/>
            </p:nvGrpSpPr>
            <p:grpSpPr bwMode="auto">
              <a:xfrm>
                <a:off x="4543772" y="4322623"/>
                <a:ext cx="420906" cy="367634"/>
                <a:chOff x="657" y="1570"/>
                <a:chExt cx="318" cy="318"/>
              </a:xfrm>
            </p:grpSpPr>
            <p:sp>
              <p:nvSpPr>
                <p:cNvPr id="1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9" name="Group 463"/>
              <p:cNvGrpSpPr>
                <a:grpSpLocks/>
              </p:cNvGrpSpPr>
              <p:nvPr/>
            </p:nvGrpSpPr>
            <p:grpSpPr bwMode="auto">
              <a:xfrm>
                <a:off x="4406004" y="4260453"/>
                <a:ext cx="405022" cy="119404"/>
                <a:chOff x="748" y="2251"/>
                <a:chExt cx="306" cy="90"/>
              </a:xfrm>
              <a:solidFill>
                <a:srgbClr val="0066FF"/>
              </a:solidFill>
            </p:grpSpPr>
            <p:sp>
              <p:nvSpPr>
                <p:cNvPr id="1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57" name="组合 156"/>
          <p:cNvGrpSpPr/>
          <p:nvPr/>
        </p:nvGrpSpPr>
        <p:grpSpPr>
          <a:xfrm>
            <a:off x="5842731" y="1759566"/>
            <a:ext cx="1794687" cy="1042396"/>
            <a:chOff x="5842731" y="1759566"/>
            <a:chExt cx="1794687" cy="1042396"/>
          </a:xfrm>
        </p:grpSpPr>
        <p:sp>
          <p:nvSpPr>
            <p:cNvPr id="158"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59"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60"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2"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3"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197"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98" name="组合 197"/>
            <p:cNvGrpSpPr/>
            <p:nvPr/>
          </p:nvGrpSpPr>
          <p:grpSpPr>
            <a:xfrm>
              <a:off x="6802182" y="2064362"/>
              <a:ext cx="424510" cy="296144"/>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09" name="组合 208"/>
          <p:cNvGrpSpPr/>
          <p:nvPr/>
        </p:nvGrpSpPr>
        <p:grpSpPr>
          <a:xfrm>
            <a:off x="5910665" y="1585668"/>
            <a:ext cx="910539" cy="603000"/>
            <a:chOff x="5927347" y="1585668"/>
            <a:chExt cx="910539" cy="603000"/>
          </a:xfrm>
        </p:grpSpPr>
        <p:sp>
          <p:nvSpPr>
            <p:cNvPr id="210"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1"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2" name="组合 211"/>
          <p:cNvGrpSpPr/>
          <p:nvPr/>
        </p:nvGrpSpPr>
        <p:grpSpPr>
          <a:xfrm>
            <a:off x="4203306" y="1956921"/>
            <a:ext cx="1064151" cy="631387"/>
            <a:chOff x="4203306" y="1956921"/>
            <a:chExt cx="1064151" cy="631387"/>
          </a:xfrm>
        </p:grpSpPr>
        <p:sp>
          <p:nvSpPr>
            <p:cNvPr id="213"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4"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5" name="组合 214"/>
          <p:cNvGrpSpPr/>
          <p:nvPr/>
        </p:nvGrpSpPr>
        <p:grpSpPr>
          <a:xfrm>
            <a:off x="3100063" y="1956921"/>
            <a:ext cx="787907" cy="581071"/>
            <a:chOff x="3100063" y="1956921"/>
            <a:chExt cx="787907" cy="581071"/>
          </a:xfrm>
        </p:grpSpPr>
        <p:sp>
          <p:nvSpPr>
            <p:cNvPr id="216"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7"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8" name="组合 217"/>
          <p:cNvGrpSpPr/>
          <p:nvPr/>
        </p:nvGrpSpPr>
        <p:grpSpPr>
          <a:xfrm>
            <a:off x="5487060" y="1602019"/>
            <a:ext cx="383825" cy="384087"/>
            <a:chOff x="5503742" y="1602019"/>
            <a:chExt cx="383825" cy="384087"/>
          </a:xfrm>
        </p:grpSpPr>
        <p:sp>
          <p:nvSpPr>
            <p:cNvPr id="219"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0"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1" name="组合 220"/>
          <p:cNvGrpSpPr/>
          <p:nvPr/>
        </p:nvGrpSpPr>
        <p:grpSpPr>
          <a:xfrm>
            <a:off x="6470747" y="2169014"/>
            <a:ext cx="458331" cy="405583"/>
            <a:chOff x="6504679" y="2187129"/>
            <a:chExt cx="458331" cy="405583"/>
          </a:xfrm>
        </p:grpSpPr>
        <p:sp>
          <p:nvSpPr>
            <p:cNvPr id="222"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3"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4" name="组合 223"/>
          <p:cNvGrpSpPr/>
          <p:nvPr/>
        </p:nvGrpSpPr>
        <p:grpSpPr>
          <a:xfrm>
            <a:off x="5542833" y="1956921"/>
            <a:ext cx="710643" cy="635080"/>
            <a:chOff x="5542833" y="1956921"/>
            <a:chExt cx="710643" cy="635080"/>
          </a:xfrm>
        </p:grpSpPr>
        <p:sp>
          <p:nvSpPr>
            <p:cNvPr id="225"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6"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7" name="组合 226"/>
          <p:cNvGrpSpPr/>
          <p:nvPr/>
        </p:nvGrpSpPr>
        <p:grpSpPr>
          <a:xfrm>
            <a:off x="5350468" y="1960422"/>
            <a:ext cx="1676767" cy="781658"/>
            <a:chOff x="5350468" y="1960422"/>
            <a:chExt cx="1676767" cy="781658"/>
          </a:xfrm>
        </p:grpSpPr>
        <p:sp>
          <p:nvSpPr>
            <p:cNvPr id="228"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9"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30" name="组合 229"/>
          <p:cNvGrpSpPr/>
          <p:nvPr/>
        </p:nvGrpSpPr>
        <p:grpSpPr>
          <a:xfrm>
            <a:off x="3268827" y="2424345"/>
            <a:ext cx="424510" cy="296144"/>
            <a:chOff x="4406004" y="4260453"/>
            <a:chExt cx="558674" cy="429804"/>
          </a:xfrm>
        </p:grpSpPr>
        <p:grpSp>
          <p:nvGrpSpPr>
            <p:cNvPr id="231" name="Group 460"/>
            <p:cNvGrpSpPr>
              <a:grpSpLocks/>
            </p:cNvGrpSpPr>
            <p:nvPr/>
          </p:nvGrpSpPr>
          <p:grpSpPr bwMode="auto">
            <a:xfrm>
              <a:off x="4543772" y="4322623"/>
              <a:ext cx="420906" cy="367634"/>
              <a:chOff x="657" y="1570"/>
              <a:chExt cx="318" cy="318"/>
            </a:xfrm>
          </p:grpSpPr>
          <p:sp>
            <p:nvSpPr>
              <p:cNvPr id="23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40"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 name="Group 463"/>
            <p:cNvGrpSpPr>
              <a:grpSpLocks/>
            </p:cNvGrpSpPr>
            <p:nvPr/>
          </p:nvGrpSpPr>
          <p:grpSpPr bwMode="auto">
            <a:xfrm>
              <a:off x="4406004" y="4260453"/>
              <a:ext cx="405022" cy="119404"/>
              <a:chOff x="748" y="2251"/>
              <a:chExt cx="306" cy="90"/>
            </a:xfrm>
            <a:solidFill>
              <a:srgbClr val="0066FF"/>
            </a:solidFill>
          </p:grpSpPr>
          <p:sp>
            <p:nvSpPr>
              <p:cNvPr id="23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41"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42"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43"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2238396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如何使通信者代理向移动站的归属代理</a:t>
            </a:r>
            <a:r>
              <a:rPr lang="zh-CN" altLang="en-US" sz="2000" b="1" dirty="0">
                <a:solidFill>
                  <a:srgbClr val="C00000"/>
                </a:solidFill>
                <a:latin typeface="微软雅黑" pitchFamily="34" charset="-122"/>
                <a:ea typeface="微软雅黑" pitchFamily="34" charset="-122"/>
              </a:rPr>
              <a:t>查询到</a:t>
            </a:r>
            <a:r>
              <a:rPr lang="zh-CN" altLang="en-US" sz="2000" b="1" dirty="0">
                <a:latin typeface="微软雅黑" pitchFamily="34" charset="-122"/>
                <a:ea typeface="微软雅黑" pitchFamily="34" charset="-122"/>
              </a:rPr>
              <a:t>移动站的转交地址？</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当移动站</a:t>
            </a:r>
            <a:r>
              <a:rPr lang="zh-CN" altLang="en-US" sz="2000" b="1" dirty="0">
                <a:solidFill>
                  <a:srgbClr val="C00000"/>
                </a:solidFill>
                <a:latin typeface="微软雅黑" pitchFamily="34" charset="-122"/>
                <a:ea typeface="微软雅黑" pitchFamily="34" charset="-122"/>
              </a:rPr>
              <a:t>再移动</a:t>
            </a:r>
            <a:r>
              <a:rPr lang="zh-CN" altLang="en-US" sz="2000" b="1" dirty="0">
                <a:latin typeface="微软雅黑" pitchFamily="34" charset="-122"/>
                <a:ea typeface="微软雅黑" pitchFamily="34" charset="-122"/>
              </a:rPr>
              <a:t>到其他网络时，怎样得到移动站的位置信息？</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98649" y="588089"/>
            <a:ext cx="25555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a:solidFill>
                  <a:schemeClr val="bg1"/>
                </a:solidFill>
                <a:latin typeface="微软雅黑" pitchFamily="34" charset="-122"/>
                <a:ea typeface="微软雅黑" pitchFamily="34" charset="-122"/>
              </a:rPr>
              <a:t>需要解决的两个问题</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1230595" y="1485841"/>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增加一个</a:t>
            </a:r>
            <a:r>
              <a:rPr lang="zh-CN" altLang="en-US" b="1" dirty="0">
                <a:solidFill>
                  <a:srgbClr val="0000CC"/>
                </a:solidFill>
                <a:latin typeface="微软雅黑" panose="020B0503020204020204" pitchFamily="34" charset="-122"/>
                <a:ea typeface="微软雅黑" panose="020B0503020204020204" pitchFamily="34" charset="-122"/>
              </a:rPr>
              <a:t>移动用户定位协议 </a:t>
            </a:r>
            <a:r>
              <a:rPr lang="en-US" altLang="zh-CN" b="1" dirty="0">
                <a:latin typeface="微软雅黑" panose="020B0503020204020204" pitchFamily="34" charset="-122"/>
                <a:ea typeface="微软雅黑" panose="020B0503020204020204" pitchFamily="34" charset="-122"/>
              </a:rPr>
              <a:t>(mobile-user location protocol)</a:t>
            </a:r>
            <a:endParaRPr lang="zh-CN" altLang="en-US" b="1" dirty="0">
              <a:latin typeface="微软雅黑" panose="020B0503020204020204" pitchFamily="34" charset="-122"/>
              <a:ea typeface="微软雅黑" panose="020B0503020204020204" pitchFamily="34" charset="-122"/>
            </a:endParaRPr>
          </a:p>
        </p:txBody>
      </p:sp>
      <p:sp>
        <p:nvSpPr>
          <p:cNvPr id="7" name="矩形 6"/>
          <p:cNvSpPr/>
          <p:nvPr/>
        </p:nvSpPr>
        <p:spPr>
          <a:xfrm>
            <a:off x="1230595" y="2616802"/>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使用</a:t>
            </a:r>
            <a:r>
              <a:rPr lang="zh-CN" altLang="en-US" b="1" dirty="0">
                <a:solidFill>
                  <a:srgbClr val="0000CC"/>
                </a:solidFill>
                <a:latin typeface="微软雅黑" panose="020B0503020204020204" pitchFamily="34" charset="-122"/>
                <a:ea typeface="微软雅黑" panose="020B0503020204020204" pitchFamily="34" charset="-122"/>
              </a:rPr>
              <a:t>锚外地代理 </a:t>
            </a:r>
            <a:r>
              <a:rPr lang="en-US" altLang="zh-CN" b="1" dirty="0">
                <a:latin typeface="微软雅黑" panose="020B0503020204020204" pitchFamily="34" charset="-122"/>
                <a:ea typeface="微软雅黑" panose="020B0503020204020204" pitchFamily="34" charset="-122"/>
              </a:rPr>
              <a:t>(anchor foreign agent)</a:t>
            </a:r>
            <a:endParaRPr lang="zh-CN" altLang="en-US"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199829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的通信者代理从移动站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的归属代理得到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所漫游到的被访网络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的外地代理。把移动站</a:t>
            </a:r>
            <a:r>
              <a:rPr lang="zh-CN" altLang="en-US" b="1" dirty="0">
                <a:solidFill>
                  <a:srgbClr val="C00000"/>
                </a:solidFill>
                <a:latin typeface="微软雅黑" pitchFamily="34" charset="-122"/>
                <a:ea typeface="微软雅黑" pitchFamily="34" charset="-122"/>
              </a:rPr>
              <a:t>首次漫游</a:t>
            </a:r>
            <a:r>
              <a:rPr lang="zh-CN" altLang="en-US" b="1" dirty="0">
                <a:latin typeface="微软雅黑" pitchFamily="34" charset="-122"/>
                <a:ea typeface="微软雅黑" pitchFamily="34" charset="-122"/>
              </a:rPr>
              <a:t>到的被访网络的外地代理称为</a:t>
            </a:r>
            <a:r>
              <a:rPr lang="zh-CN" altLang="en-US" b="1" dirty="0">
                <a:solidFill>
                  <a:srgbClr val="0000CC"/>
                </a:solidFill>
                <a:latin typeface="微软雅黑" pitchFamily="34" charset="-122"/>
                <a:ea typeface="微软雅黑" pitchFamily="34" charset="-122"/>
              </a:rPr>
              <a:t>锚外地代理 </a:t>
            </a:r>
            <a:r>
              <a:rPr lang="en-US" altLang="zh-CN" b="1" dirty="0">
                <a:latin typeface="微软雅黑" pitchFamily="34" charset="-122"/>
                <a:ea typeface="微软雅黑" pitchFamily="34" charset="-122"/>
              </a:rPr>
              <a:t>(anchor foreign agent)</a:t>
            </a:r>
            <a:r>
              <a:rPr lang="zh-CN" altLang="en-US" b="1" dirty="0">
                <a:latin typeface="微软雅黑" pitchFamily="34" charset="-122"/>
                <a:ea typeface="微软雅黑" pitchFamily="34" charset="-122"/>
              </a:rPr>
              <a:t>。</a:t>
            </a: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33110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1000"/>
                                        <p:tgtEl>
                                          <p:spTgt spid="6"/>
                                        </p:tgtEl>
                                      </p:cBhvr>
                                    </p:animEffect>
                                  </p:childTnLst>
                                </p:cTn>
                              </p:par>
                            </p:childTnLst>
                          </p:cTn>
                        </p:par>
                        <p:par>
                          <p:cTn id="8" fill="hold">
                            <p:stCondLst>
                              <p:cond delay="1000"/>
                            </p:stCondLst>
                            <p:childTnLst>
                              <p:par>
                                <p:cTn id="9" presetID="35" presetClass="emph" presetSubtype="0" repeatCount="3000" fill="hold" grpId="0" nodeType="afterEffect">
                                  <p:stCondLst>
                                    <p:cond delay="0"/>
                                  </p:stCondLst>
                                  <p:childTnLst>
                                    <p:anim calcmode="discrete" valueType="str">
                                      <p:cBhvr>
                                        <p:cTn id="10" dur="1000" fill="hold"/>
                                        <p:tgtEl>
                                          <p:spTgt spid="21"/>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5503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通信者代理把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发给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的数据报再封装后，发送到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2076399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锚外地代理把拆封后的数据报发送给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8917919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sym typeface="Wingdings 2" panose="05020102010507070707" pitchFamily="18" charset="2"/>
              </a:rPr>
              <a:t>A </a:t>
            </a:r>
            <a:r>
              <a:rPr lang="zh-CN" altLang="en-US" b="1" dirty="0">
                <a:solidFill>
                  <a:srgbClr val="0000CC"/>
                </a:solidFill>
                <a:latin typeface="微软雅黑" pitchFamily="34" charset="-122"/>
                <a:ea typeface="微软雅黑" pitchFamily="34" charset="-122"/>
                <a:sym typeface="Wingdings 2" panose="05020102010507070707" pitchFamily="18" charset="2"/>
              </a:rPr>
              <a:t>移动</a:t>
            </a:r>
            <a:r>
              <a:rPr lang="zh-CN" altLang="en-US" b="1" dirty="0">
                <a:latin typeface="微软雅黑" pitchFamily="34" charset="-122"/>
                <a:ea typeface="微软雅黑" pitchFamily="34" charset="-122"/>
                <a:sym typeface="Wingdings 2" panose="05020102010507070707" pitchFamily="18" charset="2"/>
              </a:rPr>
              <a:t>到另一个被访网络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a:t>
            </a:r>
            <a:endParaRPr lang="zh-CN" altLang="en-US" sz="1600"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23" name="组合 22"/>
          <p:cNvGrpSpPr/>
          <p:nvPr/>
        </p:nvGrpSpPr>
        <p:grpSpPr>
          <a:xfrm>
            <a:off x="5842731" y="1970750"/>
            <a:ext cx="1488503" cy="831212"/>
            <a:chOff x="5842731" y="1970750"/>
            <a:chExt cx="1488503" cy="831212"/>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313181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向被访网络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登记。</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7407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1000"/>
                                        <p:tgtEl>
                                          <p:spTgt spid="10"/>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403893"/>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新外地代理把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的新转交地址告诉</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259649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1000"/>
                                        <p:tgtEl>
                                          <p:spTgt spid="11"/>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向移动站发送数据报的重要步骤</a:t>
            </a: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锚外地代理收到发给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的封装数据报后，用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的新转交地址对数据报进行再封装，然后发送给被访网络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上的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拆封后转发给移动站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 name="组合 21"/>
          <p:cNvGrpSpPr/>
          <p:nvPr/>
        </p:nvGrpSpPr>
        <p:grpSpPr>
          <a:xfrm>
            <a:off x="5350468" y="1960422"/>
            <a:ext cx="1676767" cy="781658"/>
            <a:chOff x="5350468" y="1960422"/>
            <a:chExt cx="1676767" cy="781658"/>
          </a:xfrm>
        </p:grpSpPr>
        <p:sp>
          <p:nvSpPr>
            <p:cNvPr id="89"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矩形 22"/>
          <p:cNvSpPr/>
          <p:nvPr/>
        </p:nvSpPr>
        <p:spPr>
          <a:xfrm>
            <a:off x="844732" y="4218983"/>
            <a:ext cx="7297783" cy="369332"/>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b="1" dirty="0">
                <a:latin typeface="微软雅黑" panose="020B0503020204020204" pitchFamily="34" charset="-122"/>
                <a:ea typeface="微软雅黑" panose="020B0503020204020204" pitchFamily="34" charset="-122"/>
              </a:rPr>
              <a:t>如果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再漫游到另一个网络，也是通过锚外地代理转发给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的数据报。</a:t>
            </a:r>
          </a:p>
        </p:txBody>
      </p:sp>
    </p:spTree>
    <p:extLst>
      <p:ext uri="{BB962C8B-B14F-4D97-AF65-F5344CB8AC3E}">
        <p14:creationId xmlns:p14="http://schemas.microsoft.com/office/powerpoint/2010/main" val="14112713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1000"/>
                                        <p:tgtEl>
                                          <p:spTgt spid="2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23"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19830" y="594451"/>
            <a:ext cx="47131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9.4.2 </a:t>
            </a:r>
            <a:r>
              <a:rPr lang="zh-CN" altLang="en-US" sz="2400" b="1" dirty="0">
                <a:solidFill>
                  <a:schemeClr val="bg1"/>
                </a:solidFill>
                <a:latin typeface="微软雅黑" pitchFamily="34" charset="-122"/>
                <a:ea typeface="微软雅黑" pitchFamily="34" charset="-122"/>
              </a:rPr>
              <a:t>移动网络对高层协议的影响</a:t>
            </a:r>
          </a:p>
        </p:txBody>
      </p:sp>
      <p:sp>
        <p:nvSpPr>
          <p:cNvPr id="4" name="Rectangle 46"/>
          <p:cNvSpPr>
            <a:spLocks noChangeArrowheads="1"/>
          </p:cNvSpPr>
          <p:nvPr/>
        </p:nvSpPr>
        <p:spPr bwMode="auto">
          <a:xfrm>
            <a:off x="511896" y="1042920"/>
            <a:ext cx="8129016" cy="20928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漫游时，会经常更换移动用户到无线网络的连接点，网络连接就会发生很短时间的中断。这种情况对高层协议有没有影响呢？</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报文段会丢失  </a:t>
            </a:r>
            <a:r>
              <a:rPr lang="zh-CN" altLang="en-US" sz="2800" b="1" dirty="0">
                <a:solidFill>
                  <a:srgbClr val="C00000"/>
                </a:solidFill>
                <a:latin typeface="微软雅黑" pitchFamily="34" charset="-122"/>
                <a:ea typeface="微软雅黑" pitchFamily="34" charset="-122"/>
                <a:sym typeface="Wingdings 3" panose="05040102010807070707" pitchFamily="18" charset="2"/>
              </a:rPr>
              <a:t></a:t>
            </a:r>
            <a:endParaRPr lang="en-US" altLang="zh-CN" sz="28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拥塞控制就会采取措施，减小其拥塞窗口，使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发送方的报文段发送速率降低。</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4880663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81957"/>
            <a:ext cx="8222801"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本地恢复。</a:t>
            </a:r>
            <a:r>
              <a:rPr lang="zh-CN" altLang="en-US" sz="2000" b="1" dirty="0">
                <a:latin typeface="微软雅黑" pitchFamily="34" charset="-122"/>
                <a:ea typeface="微软雅黑" pitchFamily="34" charset="-122"/>
              </a:rPr>
              <a:t>差错出现在什么地方，就在什么地方改正。例如，在无线局域网中使用的自动请求重传 </a:t>
            </a:r>
            <a:r>
              <a:rPr lang="en-US" altLang="zh-CN" sz="2000" b="1" dirty="0">
                <a:latin typeface="微软雅黑" pitchFamily="34" charset="-122"/>
                <a:ea typeface="微软雅黑" pitchFamily="34" charset="-122"/>
              </a:rPr>
              <a:t>ARQ </a:t>
            </a:r>
            <a:r>
              <a:rPr lang="zh-CN" altLang="en-US" sz="2000" b="1" dirty="0">
                <a:latin typeface="微软雅黑" pitchFamily="34" charset="-122"/>
                <a:ea typeface="微软雅黑" pitchFamily="34" charset="-122"/>
              </a:rPr>
              <a:t>协议就属于本地恢复措施。</a:t>
            </a:r>
          </a:p>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让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发送方知道什么地方使用了无线链路。</a:t>
            </a:r>
            <a:r>
              <a:rPr lang="zh-CN" altLang="en-US" sz="2000" b="1" dirty="0">
                <a:latin typeface="微软雅黑" pitchFamily="34" charset="-122"/>
                <a:ea typeface="微软雅黑" pitchFamily="34" charset="-122"/>
              </a:rPr>
              <a:t>仅在有线网络部分发生了拥塞，</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才采用拥塞控制的策略。但要区分是在有线网段还是无线网段出现报文段丢失，则还需要一些特殊的技术。</a:t>
            </a:r>
          </a:p>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把含有移动用户的端到端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连接拆成两个互相串接的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连接。</a:t>
            </a:r>
            <a:r>
              <a:rPr lang="zh-CN" altLang="en-US" sz="2000" b="1" dirty="0">
                <a:latin typeface="微软雅黑" pitchFamily="34" charset="-122"/>
                <a:ea typeface="微软雅黑" pitchFamily="34" charset="-122"/>
              </a:rPr>
              <a:t>从移动用户到无线接入点是一个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连接（无线信道），而剩下的使用有线网段连接的部分则是另一个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99248" y="598587"/>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使用三种方法处理问题</a:t>
            </a:r>
          </a:p>
        </p:txBody>
      </p:sp>
    </p:spTree>
    <p:extLst>
      <p:ext uri="{BB962C8B-B14F-4D97-AF65-F5344CB8AC3E}">
        <p14:creationId xmlns:p14="http://schemas.microsoft.com/office/powerpoint/2010/main" val="20193207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7033</TotalTime>
  <Words>14798</Words>
  <Application>Microsoft Office PowerPoint</Application>
  <PresentationFormat>全屏显示(16:9)</PresentationFormat>
  <Paragraphs>2718</Paragraphs>
  <Slides>161</Slides>
  <Notes>57</Notes>
  <HiddenSlides>0</HiddenSlides>
  <MMClips>0</MMClips>
  <ScaleCrop>false</ScaleCrop>
  <HeadingPairs>
    <vt:vector size="8" baseType="variant">
      <vt:variant>
        <vt:lpstr>已用的字体</vt:lpstr>
      </vt:variant>
      <vt:variant>
        <vt:i4>7</vt:i4>
      </vt:variant>
      <vt:variant>
        <vt:lpstr>主题</vt:lpstr>
      </vt:variant>
      <vt:variant>
        <vt:i4>1</vt:i4>
      </vt:variant>
      <vt:variant>
        <vt:lpstr>嵌入 OLE 服务器</vt:lpstr>
      </vt:variant>
      <vt:variant>
        <vt:i4>3</vt:i4>
      </vt:variant>
      <vt:variant>
        <vt:lpstr>幻灯片标题</vt:lpstr>
      </vt:variant>
      <vt:variant>
        <vt:i4>161</vt:i4>
      </vt:variant>
    </vt:vector>
  </HeadingPairs>
  <TitlesOfParts>
    <vt:vector size="172" baseType="lpstr">
      <vt:lpstr>-apple-system</vt:lpstr>
      <vt:lpstr>Wingdings</vt:lpstr>
      <vt:lpstr>微软雅黑</vt:lpstr>
      <vt:lpstr>宋体</vt:lpstr>
      <vt:lpstr>Arial</vt:lpstr>
      <vt:lpstr>Times New Roman</vt:lpstr>
      <vt:lpstr>Calibri</vt:lpstr>
      <vt:lpstr>Office 主题​​</vt:lpstr>
      <vt:lpstr>VISIO</vt:lpstr>
      <vt:lpstr>Microsoft ClipArt Gallery</vt:lpstr>
      <vt:lpstr>Visio</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ILY FAM</cp:lastModifiedBy>
  <cp:revision>666</cp:revision>
  <dcterms:created xsi:type="dcterms:W3CDTF">2018-07-18T08:51:30Z</dcterms:created>
  <dcterms:modified xsi:type="dcterms:W3CDTF">2025-05-26T01:23:46Z</dcterms:modified>
</cp:coreProperties>
</file>