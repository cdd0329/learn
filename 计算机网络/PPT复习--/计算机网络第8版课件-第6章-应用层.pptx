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282"/>
  </p:notesMasterIdLst>
  <p:sldIdLst>
    <p:sldId id="257" r:id="rId2"/>
    <p:sldId id="572" r:id="rId3"/>
    <p:sldId id="256" r:id="rId4"/>
    <p:sldId id="258" r:id="rId5"/>
    <p:sldId id="573" r:id="rId6"/>
    <p:sldId id="259" r:id="rId7"/>
    <p:sldId id="260" r:id="rId8"/>
    <p:sldId id="577" r:id="rId9"/>
    <p:sldId id="575" r:id="rId10"/>
    <p:sldId id="261" r:id="rId11"/>
    <p:sldId id="582" r:id="rId12"/>
    <p:sldId id="584" r:id="rId13"/>
    <p:sldId id="267" r:id="rId14"/>
    <p:sldId id="585" r:id="rId15"/>
    <p:sldId id="268" r:id="rId16"/>
    <p:sldId id="269" r:id="rId17"/>
    <p:sldId id="270" r:id="rId18"/>
    <p:sldId id="271" r:id="rId19"/>
    <p:sldId id="272" r:id="rId20"/>
    <p:sldId id="588" r:id="rId21"/>
    <p:sldId id="274" r:id="rId22"/>
    <p:sldId id="275" r:id="rId23"/>
    <p:sldId id="590" r:id="rId24"/>
    <p:sldId id="276" r:id="rId25"/>
    <p:sldId id="277" r:id="rId26"/>
    <p:sldId id="278" r:id="rId27"/>
    <p:sldId id="279" r:id="rId28"/>
    <p:sldId id="280" r:id="rId29"/>
    <p:sldId id="591" r:id="rId30"/>
    <p:sldId id="282" r:id="rId31"/>
    <p:sldId id="283" r:id="rId32"/>
    <p:sldId id="284" r:id="rId33"/>
    <p:sldId id="285" r:id="rId34"/>
    <p:sldId id="286" r:id="rId35"/>
    <p:sldId id="287" r:id="rId36"/>
    <p:sldId id="288" r:id="rId37"/>
    <p:sldId id="290" r:id="rId38"/>
    <p:sldId id="592" r:id="rId39"/>
    <p:sldId id="293" r:id="rId40"/>
    <p:sldId id="294" r:id="rId41"/>
    <p:sldId id="295" r:id="rId42"/>
    <p:sldId id="296" r:id="rId43"/>
    <p:sldId id="297" r:id="rId44"/>
    <p:sldId id="298" r:id="rId45"/>
    <p:sldId id="299" r:id="rId46"/>
    <p:sldId id="300" r:id="rId47"/>
    <p:sldId id="548" r:id="rId48"/>
    <p:sldId id="302" r:id="rId49"/>
    <p:sldId id="303" r:id="rId50"/>
    <p:sldId id="304" r:id="rId51"/>
    <p:sldId id="549" r:id="rId52"/>
    <p:sldId id="306" r:id="rId53"/>
    <p:sldId id="307" r:id="rId54"/>
    <p:sldId id="309" r:id="rId55"/>
    <p:sldId id="311" r:id="rId56"/>
    <p:sldId id="593" r:id="rId57"/>
    <p:sldId id="594" r:id="rId58"/>
    <p:sldId id="595" r:id="rId59"/>
    <p:sldId id="596" r:id="rId60"/>
    <p:sldId id="597" r:id="rId61"/>
    <p:sldId id="317" r:id="rId62"/>
    <p:sldId id="322" r:id="rId63"/>
    <p:sldId id="599" r:id="rId64"/>
    <p:sldId id="598" r:id="rId65"/>
    <p:sldId id="326" r:id="rId66"/>
    <p:sldId id="327" r:id="rId67"/>
    <p:sldId id="328" r:id="rId68"/>
    <p:sldId id="329" r:id="rId69"/>
    <p:sldId id="600" r:id="rId70"/>
    <p:sldId id="601" r:id="rId71"/>
    <p:sldId id="603" r:id="rId72"/>
    <p:sldId id="602" r:id="rId73"/>
    <p:sldId id="331" r:id="rId74"/>
    <p:sldId id="332" r:id="rId75"/>
    <p:sldId id="333" r:id="rId76"/>
    <p:sldId id="334" r:id="rId77"/>
    <p:sldId id="335" r:id="rId78"/>
    <p:sldId id="605" r:id="rId79"/>
    <p:sldId id="607" r:id="rId80"/>
    <p:sldId id="338" r:id="rId81"/>
    <p:sldId id="339" r:id="rId82"/>
    <p:sldId id="340" r:id="rId83"/>
    <p:sldId id="341" r:id="rId84"/>
    <p:sldId id="608" r:id="rId85"/>
    <p:sldId id="609" r:id="rId86"/>
    <p:sldId id="610" r:id="rId87"/>
    <p:sldId id="611" r:id="rId88"/>
    <p:sldId id="345" r:id="rId89"/>
    <p:sldId id="346" r:id="rId90"/>
    <p:sldId id="347" r:id="rId91"/>
    <p:sldId id="613" r:id="rId92"/>
    <p:sldId id="612" r:id="rId93"/>
    <p:sldId id="615" r:id="rId94"/>
    <p:sldId id="616" r:id="rId95"/>
    <p:sldId id="617" r:id="rId96"/>
    <p:sldId id="618" r:id="rId97"/>
    <p:sldId id="619" r:id="rId98"/>
    <p:sldId id="620" r:id="rId99"/>
    <p:sldId id="621" r:id="rId100"/>
    <p:sldId id="622" r:id="rId101"/>
    <p:sldId id="624" r:id="rId102"/>
    <p:sldId id="359" r:id="rId103"/>
    <p:sldId id="360" r:id="rId104"/>
    <p:sldId id="361" r:id="rId105"/>
    <p:sldId id="362" r:id="rId106"/>
    <p:sldId id="363" r:id="rId107"/>
    <p:sldId id="364" r:id="rId108"/>
    <p:sldId id="365" r:id="rId109"/>
    <p:sldId id="366" r:id="rId110"/>
    <p:sldId id="367" r:id="rId111"/>
    <p:sldId id="368" r:id="rId112"/>
    <p:sldId id="369" r:id="rId113"/>
    <p:sldId id="370" r:id="rId114"/>
    <p:sldId id="375" r:id="rId115"/>
    <p:sldId id="625" r:id="rId116"/>
    <p:sldId id="626" r:id="rId117"/>
    <p:sldId id="377" r:id="rId118"/>
    <p:sldId id="627" r:id="rId119"/>
    <p:sldId id="378" r:id="rId120"/>
    <p:sldId id="628" r:id="rId121"/>
    <p:sldId id="379" r:id="rId122"/>
    <p:sldId id="383" r:id="rId123"/>
    <p:sldId id="386" r:id="rId124"/>
    <p:sldId id="387" r:id="rId125"/>
    <p:sldId id="389" r:id="rId126"/>
    <p:sldId id="390" r:id="rId127"/>
    <p:sldId id="392" r:id="rId128"/>
    <p:sldId id="393" r:id="rId129"/>
    <p:sldId id="394" r:id="rId130"/>
    <p:sldId id="395" r:id="rId131"/>
    <p:sldId id="396" r:id="rId132"/>
    <p:sldId id="397" r:id="rId133"/>
    <p:sldId id="398" r:id="rId134"/>
    <p:sldId id="399" r:id="rId135"/>
    <p:sldId id="400" r:id="rId136"/>
    <p:sldId id="401" r:id="rId137"/>
    <p:sldId id="402" r:id="rId138"/>
    <p:sldId id="403" r:id="rId139"/>
    <p:sldId id="404" r:id="rId140"/>
    <p:sldId id="405" r:id="rId141"/>
    <p:sldId id="406" r:id="rId142"/>
    <p:sldId id="407" r:id="rId143"/>
    <p:sldId id="629" r:id="rId144"/>
    <p:sldId id="630" r:id="rId145"/>
    <p:sldId id="631" r:id="rId146"/>
    <p:sldId id="408" r:id="rId147"/>
    <p:sldId id="409" r:id="rId148"/>
    <p:sldId id="410" r:id="rId149"/>
    <p:sldId id="411" r:id="rId150"/>
    <p:sldId id="412" r:id="rId151"/>
    <p:sldId id="413" r:id="rId152"/>
    <p:sldId id="414" r:id="rId153"/>
    <p:sldId id="415" r:id="rId154"/>
    <p:sldId id="416" r:id="rId155"/>
    <p:sldId id="417" r:id="rId156"/>
    <p:sldId id="418" r:id="rId157"/>
    <p:sldId id="419" r:id="rId158"/>
    <p:sldId id="420" r:id="rId159"/>
    <p:sldId id="422" r:id="rId160"/>
    <p:sldId id="632" r:id="rId161"/>
    <p:sldId id="424" r:id="rId162"/>
    <p:sldId id="560" r:id="rId163"/>
    <p:sldId id="426" r:id="rId164"/>
    <p:sldId id="427" r:id="rId165"/>
    <p:sldId id="428" r:id="rId166"/>
    <p:sldId id="429" r:id="rId167"/>
    <p:sldId id="430" r:id="rId168"/>
    <p:sldId id="431" r:id="rId169"/>
    <p:sldId id="432" r:id="rId170"/>
    <p:sldId id="633" r:id="rId171"/>
    <p:sldId id="434" r:id="rId172"/>
    <p:sldId id="435" r:id="rId173"/>
    <p:sldId id="436" r:id="rId174"/>
    <p:sldId id="437" r:id="rId175"/>
    <p:sldId id="438" r:id="rId176"/>
    <p:sldId id="563" r:id="rId177"/>
    <p:sldId id="439" r:id="rId178"/>
    <p:sldId id="440" r:id="rId179"/>
    <p:sldId id="441" r:id="rId180"/>
    <p:sldId id="442" r:id="rId181"/>
    <p:sldId id="443" r:id="rId182"/>
    <p:sldId id="444" r:id="rId183"/>
    <p:sldId id="445" r:id="rId184"/>
    <p:sldId id="446" r:id="rId185"/>
    <p:sldId id="447" r:id="rId186"/>
    <p:sldId id="448" r:id="rId187"/>
    <p:sldId id="449" r:id="rId188"/>
    <p:sldId id="450" r:id="rId189"/>
    <p:sldId id="451" r:id="rId190"/>
    <p:sldId id="452" r:id="rId191"/>
    <p:sldId id="453" r:id="rId192"/>
    <p:sldId id="454" r:id="rId193"/>
    <p:sldId id="455" r:id="rId194"/>
    <p:sldId id="456" r:id="rId195"/>
    <p:sldId id="457" r:id="rId196"/>
    <p:sldId id="458" r:id="rId197"/>
    <p:sldId id="459" r:id="rId198"/>
    <p:sldId id="460" r:id="rId199"/>
    <p:sldId id="461" r:id="rId200"/>
    <p:sldId id="462" r:id="rId201"/>
    <p:sldId id="463" r:id="rId202"/>
    <p:sldId id="464" r:id="rId203"/>
    <p:sldId id="466" r:id="rId204"/>
    <p:sldId id="467" r:id="rId205"/>
    <p:sldId id="468" r:id="rId206"/>
    <p:sldId id="469" r:id="rId207"/>
    <p:sldId id="470" r:id="rId208"/>
    <p:sldId id="471" r:id="rId209"/>
    <p:sldId id="472" r:id="rId210"/>
    <p:sldId id="473" r:id="rId211"/>
    <p:sldId id="474" r:id="rId212"/>
    <p:sldId id="475" r:id="rId213"/>
    <p:sldId id="476" r:id="rId214"/>
    <p:sldId id="477" r:id="rId215"/>
    <p:sldId id="478" r:id="rId216"/>
    <p:sldId id="479" r:id="rId217"/>
    <p:sldId id="480" r:id="rId218"/>
    <p:sldId id="481" r:id="rId219"/>
    <p:sldId id="482" r:id="rId220"/>
    <p:sldId id="483" r:id="rId221"/>
    <p:sldId id="484" r:id="rId222"/>
    <p:sldId id="485" r:id="rId223"/>
    <p:sldId id="486" r:id="rId224"/>
    <p:sldId id="487" r:id="rId225"/>
    <p:sldId id="488" r:id="rId226"/>
    <p:sldId id="489" r:id="rId227"/>
    <p:sldId id="490" r:id="rId228"/>
    <p:sldId id="491" r:id="rId229"/>
    <p:sldId id="492" r:id="rId230"/>
    <p:sldId id="493" r:id="rId231"/>
    <p:sldId id="494" r:id="rId232"/>
    <p:sldId id="495" r:id="rId233"/>
    <p:sldId id="496" r:id="rId234"/>
    <p:sldId id="497" r:id="rId235"/>
    <p:sldId id="498" r:id="rId236"/>
    <p:sldId id="499" r:id="rId237"/>
    <p:sldId id="500" r:id="rId238"/>
    <p:sldId id="501" r:id="rId239"/>
    <p:sldId id="502" r:id="rId240"/>
    <p:sldId id="503" r:id="rId241"/>
    <p:sldId id="504" r:id="rId242"/>
    <p:sldId id="506" r:id="rId243"/>
    <p:sldId id="507" r:id="rId244"/>
    <p:sldId id="508" r:id="rId245"/>
    <p:sldId id="509" r:id="rId246"/>
    <p:sldId id="510" r:id="rId247"/>
    <p:sldId id="511" r:id="rId248"/>
    <p:sldId id="512" r:id="rId249"/>
    <p:sldId id="513" r:id="rId250"/>
    <p:sldId id="515" r:id="rId251"/>
    <p:sldId id="634" r:id="rId252"/>
    <p:sldId id="635" r:id="rId253"/>
    <p:sldId id="636" r:id="rId254"/>
    <p:sldId id="519" r:id="rId255"/>
    <p:sldId id="641" r:id="rId256"/>
    <p:sldId id="637" r:id="rId257"/>
    <p:sldId id="638" r:id="rId258"/>
    <p:sldId id="523" r:id="rId259"/>
    <p:sldId id="524" r:id="rId260"/>
    <p:sldId id="526" r:id="rId261"/>
    <p:sldId id="527" r:id="rId262"/>
    <p:sldId id="528" r:id="rId263"/>
    <p:sldId id="529" r:id="rId264"/>
    <p:sldId id="530" r:id="rId265"/>
    <p:sldId id="531" r:id="rId266"/>
    <p:sldId id="532" r:id="rId267"/>
    <p:sldId id="533" r:id="rId268"/>
    <p:sldId id="639" r:id="rId269"/>
    <p:sldId id="534" r:id="rId270"/>
    <p:sldId id="535" r:id="rId271"/>
    <p:sldId id="537" r:id="rId272"/>
    <p:sldId id="538" r:id="rId273"/>
    <p:sldId id="571" r:id="rId274"/>
    <p:sldId id="540" r:id="rId275"/>
    <p:sldId id="541" r:id="rId276"/>
    <p:sldId id="542" r:id="rId277"/>
    <p:sldId id="543" r:id="rId278"/>
    <p:sldId id="544" r:id="rId279"/>
    <p:sldId id="640" r:id="rId280"/>
    <p:sldId id="546" r:id="rId281"/>
  </p:sldIdLst>
  <p:sldSz cx="9144000" cy="5143500" type="screen16x9"/>
  <p:notesSz cx="6858000" cy="9144000"/>
  <p:embeddedFontLst>
    <p:embeddedFont>
      <p:font typeface="微软雅黑" panose="020B0503020204020204" pitchFamily="34" charset="-122"/>
      <p:regular r:id="rId283"/>
      <p:bold r:id="rId284"/>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0000FF"/>
    <a:srgbClr val="FFFF00"/>
    <a:srgbClr val="000099"/>
    <a:srgbClr val="CC00CC"/>
    <a:srgbClr val="9900CC"/>
    <a:srgbClr val="66FF66"/>
    <a:srgbClr val="FFFF99"/>
    <a:srgbClr val="FFFF66"/>
    <a:srgbClr val="CC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5758FB7-9AC5-4552-8A53-C91805E547FA}" styleName="主题样式 1 - 强调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8FD4443E-F989-4FC4-A0C8-D5A2AF1F390B}" styleName="深色样式 1 - 强调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AF606853-7671-496A-8E4F-DF71F8EC918B}" styleName="深色样式 1 - 强调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113A9D2-9D6B-4929-AA2D-F23B5EE8CBE7}" styleName="主题样式 2 - 强调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主题样式 2 - 强调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786" autoAdjust="0"/>
    <p:restoredTop sz="74242" autoAdjust="0"/>
  </p:normalViewPr>
  <p:slideViewPr>
    <p:cSldViewPr snapToGrid="0">
      <p:cViewPr varScale="1">
        <p:scale>
          <a:sx n="109" d="100"/>
          <a:sy n="109" d="100"/>
        </p:scale>
        <p:origin x="744" y="8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notesMaster" Target="notesMasters/notesMaster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font" Target="fonts/font1.fntdata"/><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font" Target="fonts/font2.fntdata"/><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presProps" Target="presProp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viewProps" Target="viewProps.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theme" Target="theme/theme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tableStyles" Target="tableStyles.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2" csCatId="colorful" phldr="1"/>
      <dgm:spPr/>
      <dgm:t>
        <a:bodyPr/>
        <a:lstStyle/>
        <a:p>
          <a:endParaRPr lang="zh-CN" altLang="en-US"/>
        </a:p>
      </dgm:t>
    </dgm:pt>
    <dgm:pt modelId="{078891F9-34FA-4EF4-89D8-5A412AD764F4}">
      <dgm:prSet phldrT="[文本]" custT="1"/>
      <dgm:spPr/>
      <dgm:t>
        <a:bodyPr/>
        <a:lstStyle/>
        <a:p>
          <a:pPr>
            <a:spcAft>
              <a:spcPts val="0"/>
            </a:spcAft>
          </a:pPr>
          <a:r>
            <a:rPr lang="zh-CN" sz="1400" b="1" dirty="0">
              <a:latin typeface="微软雅黑" panose="020B0503020204020204" pitchFamily="34" charset="-122"/>
              <a:ea typeface="微软雅黑" panose="020B0503020204020204" pitchFamily="34" charset="-122"/>
            </a:rPr>
            <a:t>万维网</a:t>
          </a:r>
          <a:endParaRPr lang="en-US" altLang="zh-CN" sz="1400" b="1" dirty="0">
            <a:latin typeface="微软雅黑" panose="020B0503020204020204" pitchFamily="34" charset="-122"/>
            <a:ea typeface="微软雅黑" panose="020B0503020204020204" pitchFamily="34" charset="-122"/>
          </a:endParaRP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en-US" altLang="zh-CN" sz="1400" b="1" dirty="0">
              <a:latin typeface="微软雅黑" panose="020B0503020204020204" pitchFamily="34" charset="-122"/>
              <a:ea typeface="微软雅黑" panose="020B0503020204020204" pitchFamily="34" charset="-122"/>
            </a:rPr>
            <a:t>SMTP</a:t>
          </a:r>
          <a:r>
            <a:rPr lang="zh-CN" altLang="en-US" sz="1400" b="1" dirty="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en-US" sz="1400" b="1" dirty="0">
              <a:latin typeface="微软雅黑" panose="020B0503020204020204" pitchFamily="34" charset="-122"/>
              <a:ea typeface="微软雅黑" panose="020B0503020204020204" pitchFamily="34" charset="-122"/>
            </a:rPr>
            <a:t>HTTP</a:t>
          </a:r>
          <a:endParaRPr lang="en-US" altLang="zh-CN" sz="1400" b="1" dirty="0">
            <a:latin typeface="微软雅黑" panose="020B0503020204020204" pitchFamily="34" charset="-122"/>
            <a:ea typeface="微软雅黑" panose="020B0503020204020204" pitchFamily="34" charset="-122"/>
          </a:endParaRP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a:latin typeface="微软雅黑" panose="020B0503020204020204" pitchFamily="34" charset="-122"/>
              <a:ea typeface="微软雅黑" panose="020B0503020204020204" pitchFamily="34" charset="-122"/>
            </a:rPr>
            <a:t>电子邮件</a:t>
          </a:r>
          <a:endParaRPr lang="en-US" altLang="zh-CN" sz="1400" b="1" dirty="0">
            <a:latin typeface="微软雅黑" panose="020B0503020204020204" pitchFamily="34" charset="-122"/>
            <a:ea typeface="微软雅黑" panose="020B0503020204020204"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文件传输</a:t>
          </a:r>
          <a:endParaRPr lang="en-US" altLang="zh-CN" sz="1400" b="1" dirty="0">
            <a:latin typeface="微软雅黑" panose="020B0503020204020204" pitchFamily="34" charset="-122"/>
            <a:ea typeface="微软雅黑" panose="020B0503020204020204"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en-US" altLang="zh-CN" sz="1400" b="1" dirty="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a:latin typeface="微软雅黑" panose="020B0503020204020204" pitchFamily="34" charset="-122"/>
              <a:ea typeface="微软雅黑" panose="020B0503020204020204" pitchFamily="34" charset="-122"/>
            </a:rPr>
            <a:t>不同于网络应用</a:t>
          </a: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pt>
    <dgm:pt modelId="{8D72D0DE-AA86-44B5-BAD3-4A56104B0618}" type="pres">
      <dgm:prSet presAssocID="{194B30E0-BBF3-4013-AA95-F36A73A99BE9}" presName="horzFour" presStyleCnt="0"/>
      <dgm:spPr/>
    </dgm:pt>
  </dgm:ptLst>
  <dgm:cxnLst>
    <dgm:cxn modelId="{13DAA706-1759-414C-A9E1-D7C4BBDA2A67}" srcId="{FA7BE1A0-586E-4E75-A7A2-8E8D9C81DB65}" destId="{194B30E0-BBF3-4013-AA95-F36A73A99BE9}" srcOrd="0" destOrd="0" parTransId="{F1920C41-8FA1-43C2-947F-37DE49CDBC93}" sibTransId="{7339F0ED-B46A-44B7-8FEC-EC74442AAED0}"/>
    <dgm:cxn modelId="{A7553C0C-489D-471C-AAB6-F8FE0699A02E}" type="presOf" srcId="{078891F9-34FA-4EF4-89D8-5A412AD764F4}" destId="{F381CC4E-322C-45E6-B7E7-4ED70FA8CF2E}" srcOrd="0" destOrd="0" presId="urn:microsoft.com/office/officeart/2005/8/layout/hierarchy4"/>
    <dgm:cxn modelId="{DFB0CF12-3CDA-449C-8B95-F600015C40A7}" type="presOf" srcId="{354A271C-6390-4DF4-9AC0-ADE68E742430}" destId="{1F36E606-4D05-483A-959D-7AFAA3F99964}" srcOrd="0" destOrd="0" presId="urn:microsoft.com/office/officeart/2005/8/layout/hierarchy4"/>
    <dgm:cxn modelId="{EBA0DB19-E670-45E1-97DE-A8F3744E3D69}" srcId="{2832C718-DAF0-4C4D-A446-27C1389A0F92}" destId="{5A02E71B-2C78-495B-B0C5-EECEC8CAF54C}" srcOrd="0" destOrd="0" parTransId="{28DD6B13-3ADE-4F3E-8AB8-43B85AB567B6}" sibTransId="{D9B750CA-5D66-4BE3-A57A-7E529C9C9314}"/>
    <dgm:cxn modelId="{8B8FD01C-7374-4520-A993-CABF85F0D4E0}" type="presOf" srcId="{0453551A-5977-423D-B5EC-B8426DA6E162}" destId="{49899EA7-F8C0-4BB7-A6AD-5F40B1731420}"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61668259-2802-4CF5-97DB-A927910C09B7}" type="presOf" srcId="{FA7BE1A0-586E-4E75-A7A2-8E8D9C81DB65}" destId="{07CD9CA8-8213-4B82-96DE-5A2E23AB39DC}" srcOrd="0" destOrd="0" presId="urn:microsoft.com/office/officeart/2005/8/layout/hierarchy4"/>
    <dgm:cxn modelId="{8B5B757C-9AA4-494F-8111-E33687EF58A9}" type="presOf" srcId="{2832C718-DAF0-4C4D-A446-27C1389A0F92}" destId="{E5B734C7-BD06-4002-8C05-19CC466CF4FE}"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5BA3F38E-E1B0-4D0C-BD88-A468FB0818F2}" type="presOf" srcId="{4AC447A3-3923-4C66-9E6E-9E85452007A2}" destId="{D772C529-9144-4F64-AC62-C41998E87A93}"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0C08B8-3AB8-4F5F-8218-34C18BD26F98}" type="presOf" srcId="{5A02E71B-2C78-495B-B0C5-EECEC8CAF54C}" destId="{7908BCB8-DE9B-4BF1-8D07-3A3FD24C7968}"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3" csCatId="colorful" phldr="1"/>
      <dgm:spPr/>
      <dgm:t>
        <a:bodyPr/>
        <a:lstStyle/>
        <a:p>
          <a:endParaRPr lang="zh-CN" altLang="en-US"/>
        </a:p>
      </dgm:t>
    </dgm:pt>
    <dgm:pt modelId="{078891F9-34FA-4EF4-89D8-5A412AD764F4}">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客户 </a:t>
          </a:r>
          <a:r>
            <a:rPr lang="en-US" altLang="zh-CN" sz="1400" b="1" dirty="0">
              <a:latin typeface="微软雅黑" panose="020B0503020204020204" pitchFamily="34" charset="-122"/>
              <a:ea typeface="微软雅黑" panose="020B0503020204020204" pitchFamily="34" charset="-122"/>
            </a:rPr>
            <a:t>(client)</a:t>
          </a:r>
        </a:p>
      </dgm:t>
    </dgm:pt>
    <dgm:pt modelId="{4B643090-A914-42B9-B238-056D4FF63DC6}" type="par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type="sibTrans" cxnId="{4D4A52C9-E9C4-4696-91DC-BD7EA7EBBD56}">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zh-CN" altLang="zh-CN" sz="1400" b="1" dirty="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type="par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type="sibTrans" cxnId="{8A3EA2AA-42A8-4AEA-B0B4-11120F121170}">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服务器 </a:t>
          </a:r>
          <a:r>
            <a:rPr lang="en-US" altLang="zh-CN" sz="1400" b="1" dirty="0">
              <a:latin typeface="微软雅黑" panose="020B0503020204020204" pitchFamily="34" charset="-122"/>
              <a:ea typeface="微软雅黑" panose="020B0503020204020204" pitchFamily="34" charset="-122"/>
            </a:rPr>
            <a:t>(server)</a:t>
          </a:r>
        </a:p>
      </dgm:t>
    </dgm:pt>
    <dgm:pt modelId="{0E2096BF-A648-4344-82E4-9E96ECC476E6}" type="par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type="sibTrans" cxnId="{28922770-A65C-4E3E-A3DA-16CCB81274A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a:latin typeface="微软雅黑" panose="020B0503020204020204" pitchFamily="34" charset="-122"/>
              <a:ea typeface="微软雅黑" panose="020B0503020204020204" pitchFamily="34" charset="-122"/>
            </a:rPr>
            <a:t>服务请求方</a:t>
          </a:r>
          <a:endParaRPr lang="en-US" altLang="zh-CN" sz="1400" b="1" dirty="0">
            <a:latin typeface="微软雅黑" panose="020B0503020204020204" pitchFamily="34" charset="-122"/>
            <a:ea typeface="微软雅黑" panose="020B0503020204020204" pitchFamily="34" charset="-122"/>
          </a:endParaRPr>
        </a:p>
      </dgm:t>
    </dgm:pt>
    <dgm:pt modelId="{647AE668-B33C-4713-93F9-613FF5C0205D}" type="par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type="sibTrans" cxnId="{F99D0580-FAE8-4372-9FCA-57C11D86F9D1}">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应用进程</a:t>
          </a:r>
          <a:endParaRPr lang="en-US" altLang="zh-CN" sz="1400" b="1" dirty="0">
            <a:latin typeface="微软雅黑" panose="020B0503020204020204" pitchFamily="34" charset="-122"/>
            <a:ea typeface="微软雅黑" panose="020B0503020204020204" pitchFamily="34" charset="-122"/>
          </a:endParaRPr>
        </a:p>
      </dgm:t>
    </dgm:pt>
    <dgm:pt modelId="{940A24D1-38C6-45BF-BBD5-710C5CD3DF15}" type="par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type="sibTrans" cxnId="{EC5B7AE1-7D79-43BD-8A23-277F057D5D83}">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zh-CN" altLang="en-US" sz="1400" b="1" dirty="0">
              <a:latin typeface="微软雅黑" panose="020B0503020204020204" pitchFamily="34" charset="-122"/>
              <a:ea typeface="微软雅黑" panose="020B0503020204020204" pitchFamily="34" charset="-122"/>
            </a:rPr>
            <a:t>应用进程</a:t>
          </a:r>
        </a:p>
      </dgm:t>
    </dgm:pt>
    <dgm:pt modelId="{F1920C41-8FA1-43C2-947F-37DE49CDBC93}" type="par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type="sibTrans" cxnId="{13DAA706-1759-414C-A9E1-D7C4BBDA2A67}">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a:latin typeface="微软雅黑" panose="020B0503020204020204" pitchFamily="34" charset="-122"/>
              <a:ea typeface="微软雅黑" panose="020B0503020204020204" pitchFamily="34" charset="-122"/>
            </a:rPr>
            <a:t>许多都基于客户服务器方式</a:t>
          </a:r>
        </a:p>
      </dgm:t>
    </dgm:pt>
    <dgm:pt modelId="{28DD6B13-3ADE-4F3E-8AB8-43B85AB567B6}" type="par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type="sibTrans" cxnId="{EBA0DB19-E670-45E1-97DE-A8F3744E3D69}">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pt>
    <dgm:pt modelId="{8D72D0DE-AA86-44B5-BAD3-4A56104B0618}" type="pres">
      <dgm:prSet presAssocID="{194B30E0-BBF3-4013-AA95-F36A73A99BE9}" presName="horzFour" presStyleCnt="0"/>
      <dgm:spPr/>
    </dgm:pt>
  </dgm:ptLst>
  <dgm:cxnLst>
    <dgm:cxn modelId="{13DAA706-1759-414C-A9E1-D7C4BBDA2A67}" srcId="{FA7BE1A0-586E-4E75-A7A2-8E8D9C81DB65}" destId="{194B30E0-BBF3-4013-AA95-F36A73A99BE9}" srcOrd="0" destOrd="0" parTransId="{F1920C41-8FA1-43C2-947F-37DE49CDBC93}" sibTransId="{7339F0ED-B46A-44B7-8FEC-EC74442AAED0}"/>
    <dgm:cxn modelId="{A7553C0C-489D-471C-AAB6-F8FE0699A02E}" type="presOf" srcId="{078891F9-34FA-4EF4-89D8-5A412AD764F4}" destId="{F381CC4E-322C-45E6-B7E7-4ED70FA8CF2E}" srcOrd="0" destOrd="0" presId="urn:microsoft.com/office/officeart/2005/8/layout/hierarchy4"/>
    <dgm:cxn modelId="{DFB0CF12-3CDA-449C-8B95-F600015C40A7}" type="presOf" srcId="{354A271C-6390-4DF4-9AC0-ADE68E742430}" destId="{1F36E606-4D05-483A-959D-7AFAA3F99964}" srcOrd="0" destOrd="0" presId="urn:microsoft.com/office/officeart/2005/8/layout/hierarchy4"/>
    <dgm:cxn modelId="{EBA0DB19-E670-45E1-97DE-A8F3744E3D69}" srcId="{2832C718-DAF0-4C4D-A446-27C1389A0F92}" destId="{5A02E71B-2C78-495B-B0C5-EECEC8CAF54C}" srcOrd="0" destOrd="0" parTransId="{28DD6B13-3ADE-4F3E-8AB8-43B85AB567B6}" sibTransId="{D9B750CA-5D66-4BE3-A57A-7E529C9C9314}"/>
    <dgm:cxn modelId="{8B8FD01C-7374-4520-A993-CABF85F0D4E0}" type="presOf" srcId="{0453551A-5977-423D-B5EC-B8426DA6E162}" destId="{49899EA7-F8C0-4BB7-A6AD-5F40B1731420}"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61668259-2802-4CF5-97DB-A927910C09B7}" type="presOf" srcId="{FA7BE1A0-586E-4E75-A7A2-8E8D9C81DB65}" destId="{07CD9CA8-8213-4B82-96DE-5A2E23AB39DC}" srcOrd="0" destOrd="0" presId="urn:microsoft.com/office/officeart/2005/8/layout/hierarchy4"/>
    <dgm:cxn modelId="{8B5B757C-9AA4-494F-8111-E33687EF58A9}" type="presOf" srcId="{2832C718-DAF0-4C4D-A446-27C1389A0F92}" destId="{E5B734C7-BD06-4002-8C05-19CC466CF4FE}"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5BA3F38E-E1B0-4D0C-BD88-A468FB0818F2}" type="presOf" srcId="{4AC447A3-3923-4C66-9E6E-9E85452007A2}" destId="{D772C529-9144-4F64-AC62-C41998E87A93}" srcOrd="0" destOrd="0" presId="urn:microsoft.com/office/officeart/2005/8/layout/hierarchy4"/>
    <dgm:cxn modelId="{8A3EA2AA-42A8-4AEA-B0B4-11120F121170}" srcId="{354A271C-6390-4DF4-9AC0-ADE68E742430}" destId="{FA7BE1A0-586E-4E75-A7A2-8E8D9C81DB65}" srcOrd="0" destOrd="0" parTransId="{D877AC74-80D2-46D3-88D7-2B19FF468A57}" sibTransId="{16F9E388-D379-4831-A10F-3BB4C241D915}"/>
    <dgm:cxn modelId="{EB0C08B8-3AB8-4F5F-8218-34C18BD26F98}" type="presOf" srcId="{5A02E71B-2C78-495B-B0C5-EECEC8CAF54C}" destId="{7908BCB8-DE9B-4BF1-8D07-3A3FD24C7968}"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C5B7AE1-7D79-43BD-8A23-277F057D5D83}" srcId="{0453551A-5977-423D-B5EC-B8426DA6E162}" destId="{4AC447A3-3923-4C66-9E6E-9E85452007A2}" srcOrd="0" destOrd="0" parTransId="{940A24D1-38C6-45BF-BBD5-710C5CD3DF15}" sibTransId="{1F74ABCB-B1AD-4B2F-B725-25FDF1FB8267}"/>
    <dgm:cxn modelId="{D672B4F9-C6C3-4E07-A613-A7B5F1B874B7}" type="presOf" srcId="{194B30E0-BBF3-4013-AA95-F36A73A99BE9}" destId="{629FD194-4F20-42AB-A0D3-D63455B286FC}" srcOrd="0" destOrd="0" presId="urn:microsoft.com/office/officeart/2005/8/layout/hierarchy4"/>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61C9BC5-B29F-48D4-9051-8080622C2265}" type="doc">
      <dgm:prSet loTypeId="urn:microsoft.com/office/officeart/2005/8/layout/hList1" loCatId="list" qsTypeId="urn:microsoft.com/office/officeart/2005/8/quickstyle/simple1" qsCatId="simple" csTypeId="urn:microsoft.com/office/officeart/2005/8/colors/colorful4" csCatId="colorful" phldr="1"/>
      <dgm:spPr/>
      <dgm:t>
        <a:bodyPr/>
        <a:lstStyle/>
        <a:p>
          <a:endParaRPr lang="zh-CN" altLang="en-US"/>
        </a:p>
      </dgm:t>
    </dgm:pt>
    <dgm:pt modelId="{1F6D49FA-F901-4B50-ADEC-FB4488F0ECDE}">
      <dgm:prSet phldrT="[文本]" custT="1"/>
      <dgm:spPr/>
      <dgm:t>
        <a:bodyPr/>
        <a:lstStyle/>
        <a:p>
          <a:r>
            <a:rPr lang="zh-CN" altLang="en-US" sz="1800" b="1" dirty="0">
              <a:solidFill>
                <a:schemeClr val="tx1"/>
              </a:solidFill>
              <a:highlight>
                <a:srgbClr val="FFFF00"/>
              </a:highlight>
              <a:latin typeface="微软雅黑" panose="020B0503020204020204" pitchFamily="34" charset="-122"/>
              <a:ea typeface="微软雅黑" panose="020B0503020204020204" pitchFamily="34" charset="-122"/>
            </a:rPr>
            <a:t>递归查询</a:t>
          </a:r>
        </a:p>
      </dgm:t>
    </dgm:pt>
    <dgm:pt modelId="{3BCE62CD-17F6-4BDE-88CF-B2E57C113250}" type="parTrans" cxnId="{B8FBCF65-8CE6-4959-A94A-4AFCB263801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12D40E-2867-4325-981C-5EED6888713A}" type="sibTrans" cxnId="{B8FBCF65-8CE6-4959-A94A-4AFCB263801D}">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7353B7C-3B7F-483A-9D5D-EF2CA979FE0F}">
      <dgm:prSet phldrT="[文本]" custT="1"/>
      <dgm:spPr/>
      <dgm:t>
        <a:bodyPr/>
        <a:lstStyle/>
        <a:p>
          <a:r>
            <a:rPr lang="zh-CN" altLang="en-US" sz="1600" b="1" dirty="0">
              <a:latin typeface="微软雅黑" panose="020B0503020204020204" pitchFamily="34" charset="-122"/>
              <a:ea typeface="微软雅黑" panose="020B0503020204020204" pitchFamily="34" charset="-122"/>
            </a:rPr>
            <a:t>通常，主机向本地域名服务器查询时使用。</a:t>
          </a:r>
        </a:p>
      </dgm:t>
    </dgm:pt>
    <dgm:pt modelId="{BCE185A7-04EA-450F-8DE8-10725E84408C}" type="parTrans" cxnId="{D31F8A4A-4BE7-48FE-B7E3-22A5225B721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49DC585-CA63-48CC-A0DD-6DDF763B9D5E}" type="sibTrans" cxnId="{D31F8A4A-4BE7-48FE-B7E3-22A5225B721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3C1C06F-F101-4097-8E76-7221602C9DCD}">
      <dgm:prSet phldrT="[文本]" custT="1"/>
      <dgm:spPr/>
      <dgm:t>
        <a:bodyPr/>
        <a:lstStyle/>
        <a:p>
          <a:r>
            <a:rPr lang="zh-CN" altLang="en-US" sz="1600" b="1" dirty="0">
              <a:latin typeface="微软雅黑" panose="020B0503020204020204" pitchFamily="34" charset="-122"/>
              <a:ea typeface="微软雅黑" panose="020B0503020204020204" pitchFamily="34" charset="-122"/>
            </a:rPr>
            <a:t>若不知道，就以 </a:t>
          </a:r>
          <a:r>
            <a:rPr lang="en-US" altLang="en-US" sz="1600" b="1" dirty="0">
              <a:latin typeface="微软雅黑" panose="020B0503020204020204" pitchFamily="34" charset="-122"/>
              <a:ea typeface="微软雅黑" panose="020B0503020204020204" pitchFamily="34" charset="-122"/>
            </a:rPr>
            <a:t>DNS </a:t>
          </a:r>
          <a:r>
            <a:rPr lang="zh-CN" altLang="en-US" sz="1600" b="1" dirty="0">
              <a:latin typeface="微软雅黑" panose="020B0503020204020204" pitchFamily="34" charset="-122"/>
              <a:ea typeface="微软雅黑" panose="020B0503020204020204" pitchFamily="34" charset="-122"/>
            </a:rPr>
            <a:t>客户的身份，向其他根域名服务器继续发出查询请求报文。</a:t>
          </a:r>
        </a:p>
      </dgm:t>
    </dgm:pt>
    <dgm:pt modelId="{394E42C2-1DBF-4E2F-9E18-2CBF2BCF68B0}" type="parTrans" cxnId="{EE3D05E0-647B-4AE0-9969-EF9A6CEF939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12E8C54-A45B-4F19-A2E1-DFAF120AE3AC}" type="sibTrans" cxnId="{EE3D05E0-647B-4AE0-9969-EF9A6CEF939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4C27B1A-540E-4AE1-A0FA-2373F8C7C00D}">
      <dgm:prSet phldrT="[文本]" custT="1"/>
      <dgm:spPr/>
      <dgm:t>
        <a:bodyPr/>
        <a:lstStyle/>
        <a:p>
          <a:r>
            <a:rPr lang="zh-CN" altLang="en-US" sz="1800" b="1" dirty="0">
              <a:solidFill>
                <a:schemeClr val="tx1"/>
              </a:solidFill>
              <a:highlight>
                <a:srgbClr val="FFFF00"/>
              </a:highlight>
              <a:latin typeface="微软雅黑" panose="020B0503020204020204" pitchFamily="34" charset="-122"/>
              <a:ea typeface="微软雅黑" panose="020B0503020204020204" pitchFamily="34" charset="-122"/>
            </a:rPr>
            <a:t>迭代查询</a:t>
          </a:r>
        </a:p>
      </dgm:t>
    </dgm:pt>
    <dgm:pt modelId="{2AF68E5C-339F-43E9-9BD8-1A6F133890E6}" type="parTrans" cxnId="{E3527060-511E-407B-94F7-F1B7A8110B4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0BBCA65-D6FF-4282-863E-E4E8ADE1401C}" type="sibTrans" cxnId="{E3527060-511E-407B-94F7-F1B7A8110B43}">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4ED0C5A-041D-4179-B2D9-667F95556395}">
      <dgm:prSet phldrT="[文本]" custT="1"/>
      <dgm:spPr/>
      <dgm:t>
        <a:bodyPr/>
        <a:lstStyle/>
        <a:p>
          <a:r>
            <a:rPr lang="zh-CN" altLang="en-US" sz="1600" b="1" dirty="0">
              <a:latin typeface="微软雅黑" panose="020B0503020204020204" pitchFamily="34" charset="-122"/>
              <a:ea typeface="微软雅黑" panose="020B0503020204020204" pitchFamily="34" charset="-122"/>
            </a:rPr>
            <a:t>本地域名服务器向根域名服务器查询时使用。</a:t>
          </a:r>
        </a:p>
      </dgm:t>
    </dgm:pt>
    <dgm:pt modelId="{9EA42626-615E-4243-9D5E-9458C4479806}" type="parTrans" cxnId="{AC98711B-30F1-4F9A-90F2-E5CCA3B9A35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42AF108-920E-4047-82C5-21EF27E335D8}" type="sibTrans" cxnId="{AC98711B-30F1-4F9A-90F2-E5CCA3B9A35E}">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99DE165-A6A2-4E3C-8084-9A776539F414}">
      <dgm:prSet phldrT="[文本]" custT="1"/>
      <dgm:spPr/>
      <dgm:t>
        <a:bodyPr/>
        <a:lstStyle/>
        <a:p>
          <a:r>
            <a:rPr lang="zh-CN" altLang="en-US" sz="1600" b="1" dirty="0">
              <a:latin typeface="微软雅黑" panose="020B0503020204020204" pitchFamily="34" charset="-122"/>
              <a:ea typeface="微软雅黑" panose="020B0503020204020204" pitchFamily="34" charset="-122"/>
            </a:rPr>
            <a:t>要么给出所要查询的 </a:t>
          </a:r>
          <a:r>
            <a:rPr lang="en-US" altLang="en-US"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地址，要么告诉下一个要查询的域名服务器的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a:t>
          </a:r>
        </a:p>
      </dgm:t>
    </dgm:pt>
    <dgm:pt modelId="{15A961B9-3A0A-4FA7-8F0F-40C05929148C}" type="parTrans" cxnId="{8797336C-4331-4DC2-AE25-347037722617}">
      <dgm:prSet/>
      <dgm:spPr/>
      <dgm:t>
        <a:bodyPr/>
        <a:lstStyle/>
        <a:p>
          <a:endParaRPr lang="zh-CN" altLang="en-US" sz="1600"/>
        </a:p>
      </dgm:t>
    </dgm:pt>
    <dgm:pt modelId="{39426DE8-50A8-4767-823C-76D6C28D84CD}" type="sibTrans" cxnId="{8797336C-4331-4DC2-AE25-347037722617}">
      <dgm:prSet/>
      <dgm:spPr/>
      <dgm:t>
        <a:bodyPr/>
        <a:lstStyle/>
        <a:p>
          <a:endParaRPr lang="zh-CN" altLang="en-US" sz="1600"/>
        </a:p>
      </dgm:t>
    </dgm:pt>
    <dgm:pt modelId="{888A2276-89F3-4140-9592-FE63CBE9FC6F}">
      <dgm:prSet phldrT="[文本]" custT="1"/>
      <dgm:spPr/>
      <dgm:t>
        <a:bodyPr/>
        <a:lstStyle/>
        <a:p>
          <a:r>
            <a:rPr lang="zh-CN" altLang="en-US" sz="1600" b="1" dirty="0">
              <a:latin typeface="微软雅黑" panose="020B0503020204020204" pitchFamily="34" charset="-122"/>
              <a:ea typeface="微软雅黑" panose="020B0503020204020204" pitchFamily="34" charset="-122"/>
            </a:rPr>
            <a:t>本地域名服务器继续后续查询。</a:t>
          </a:r>
        </a:p>
      </dgm:t>
    </dgm:pt>
    <dgm:pt modelId="{818B4799-89CB-4238-BB9D-472D60B40326}" type="parTrans" cxnId="{748B2594-474D-425B-8D6A-157BB949C56E}">
      <dgm:prSet/>
      <dgm:spPr/>
      <dgm:t>
        <a:bodyPr/>
        <a:lstStyle/>
        <a:p>
          <a:endParaRPr lang="zh-CN" altLang="en-US"/>
        </a:p>
      </dgm:t>
    </dgm:pt>
    <dgm:pt modelId="{91715877-E58D-486D-8BF0-DC8A4048A0A2}" type="sibTrans" cxnId="{748B2594-474D-425B-8D6A-157BB949C56E}">
      <dgm:prSet/>
      <dgm:spPr/>
      <dgm:t>
        <a:bodyPr/>
        <a:lstStyle/>
        <a:p>
          <a:endParaRPr lang="zh-CN" altLang="en-US"/>
        </a:p>
      </dgm:t>
    </dgm:pt>
    <dgm:pt modelId="{855C61C3-9681-46A9-85A5-1E65B56A782C}" type="pres">
      <dgm:prSet presAssocID="{361C9BC5-B29F-48D4-9051-8080622C2265}" presName="Name0" presStyleCnt="0">
        <dgm:presLayoutVars>
          <dgm:dir/>
          <dgm:animLvl val="lvl"/>
          <dgm:resizeHandles val="exact"/>
        </dgm:presLayoutVars>
      </dgm:prSet>
      <dgm:spPr/>
    </dgm:pt>
    <dgm:pt modelId="{C9C28BD1-EF4F-4CA1-9BA9-72A7B8BFFCFD}" type="pres">
      <dgm:prSet presAssocID="{1F6D49FA-F901-4B50-ADEC-FB4488F0ECDE}" presName="composite" presStyleCnt="0"/>
      <dgm:spPr/>
    </dgm:pt>
    <dgm:pt modelId="{CD69D0B0-1884-46A2-8F10-145B05B89842}" type="pres">
      <dgm:prSet presAssocID="{1F6D49FA-F901-4B50-ADEC-FB4488F0ECDE}" presName="parTx" presStyleLbl="alignNode1" presStyleIdx="0" presStyleCnt="2">
        <dgm:presLayoutVars>
          <dgm:chMax val="0"/>
          <dgm:chPref val="0"/>
          <dgm:bulletEnabled val="1"/>
        </dgm:presLayoutVars>
      </dgm:prSet>
      <dgm:spPr/>
    </dgm:pt>
    <dgm:pt modelId="{03A5736B-9407-4E51-943F-C4127641647B}" type="pres">
      <dgm:prSet presAssocID="{1F6D49FA-F901-4B50-ADEC-FB4488F0ECDE}" presName="desTx" presStyleLbl="alignAccFollowNode1" presStyleIdx="0" presStyleCnt="2">
        <dgm:presLayoutVars>
          <dgm:bulletEnabled val="1"/>
        </dgm:presLayoutVars>
      </dgm:prSet>
      <dgm:spPr/>
    </dgm:pt>
    <dgm:pt modelId="{E002B729-091C-462E-96C9-907AFB120A8D}" type="pres">
      <dgm:prSet presAssocID="{C712D40E-2867-4325-981C-5EED6888713A}" presName="space" presStyleCnt="0"/>
      <dgm:spPr/>
    </dgm:pt>
    <dgm:pt modelId="{7C58811D-8D19-40CE-89EC-CCE20868CD33}" type="pres">
      <dgm:prSet presAssocID="{B4C27B1A-540E-4AE1-A0FA-2373F8C7C00D}" presName="composite" presStyleCnt="0"/>
      <dgm:spPr/>
    </dgm:pt>
    <dgm:pt modelId="{B2079A84-D30A-43B1-81D6-28B09A3A7626}" type="pres">
      <dgm:prSet presAssocID="{B4C27B1A-540E-4AE1-A0FA-2373F8C7C00D}" presName="parTx" presStyleLbl="alignNode1" presStyleIdx="1" presStyleCnt="2">
        <dgm:presLayoutVars>
          <dgm:chMax val="0"/>
          <dgm:chPref val="0"/>
          <dgm:bulletEnabled val="1"/>
        </dgm:presLayoutVars>
      </dgm:prSet>
      <dgm:spPr/>
    </dgm:pt>
    <dgm:pt modelId="{802EC7D4-495D-4461-A980-1E7E46187315}" type="pres">
      <dgm:prSet presAssocID="{B4C27B1A-540E-4AE1-A0FA-2373F8C7C00D}" presName="desTx" presStyleLbl="alignAccFollowNode1" presStyleIdx="1" presStyleCnt="2">
        <dgm:presLayoutVars>
          <dgm:bulletEnabled val="1"/>
        </dgm:presLayoutVars>
      </dgm:prSet>
      <dgm:spPr/>
    </dgm:pt>
  </dgm:ptLst>
  <dgm:cxnLst>
    <dgm:cxn modelId="{AC98711B-30F1-4F9A-90F2-E5CCA3B9A35E}" srcId="{B4C27B1A-540E-4AE1-A0FA-2373F8C7C00D}" destId="{E4ED0C5A-041D-4179-B2D9-667F95556395}" srcOrd="0" destOrd="0" parTransId="{9EA42626-615E-4243-9D5E-9458C4479806}" sibTransId="{242AF108-920E-4047-82C5-21EF27E335D8}"/>
    <dgm:cxn modelId="{E3527060-511E-407B-94F7-F1B7A8110B43}" srcId="{361C9BC5-B29F-48D4-9051-8080622C2265}" destId="{B4C27B1A-540E-4AE1-A0FA-2373F8C7C00D}" srcOrd="1" destOrd="0" parTransId="{2AF68E5C-339F-43E9-9BD8-1A6F133890E6}" sibTransId="{D0BBCA65-D6FF-4282-863E-E4E8ADE1401C}"/>
    <dgm:cxn modelId="{B8FBCF65-8CE6-4959-A94A-4AFCB263801D}" srcId="{361C9BC5-B29F-48D4-9051-8080622C2265}" destId="{1F6D49FA-F901-4B50-ADEC-FB4488F0ECDE}" srcOrd="0" destOrd="0" parTransId="{3BCE62CD-17F6-4BDE-88CF-B2E57C113250}" sibTransId="{C712D40E-2867-4325-981C-5EED6888713A}"/>
    <dgm:cxn modelId="{0E812949-F4E6-4FAE-A911-F22FFCB65A29}" type="presOf" srcId="{A7353B7C-3B7F-483A-9D5D-EF2CA979FE0F}" destId="{03A5736B-9407-4E51-943F-C4127641647B}" srcOrd="0" destOrd="0" presId="urn:microsoft.com/office/officeart/2005/8/layout/hList1"/>
    <dgm:cxn modelId="{D31F8A4A-4BE7-48FE-B7E3-22A5225B721F}" srcId="{1F6D49FA-F901-4B50-ADEC-FB4488F0ECDE}" destId="{A7353B7C-3B7F-483A-9D5D-EF2CA979FE0F}" srcOrd="0" destOrd="0" parTransId="{BCE185A7-04EA-450F-8DE8-10725E84408C}" sibTransId="{949DC585-CA63-48CC-A0DD-6DDF763B9D5E}"/>
    <dgm:cxn modelId="{8797336C-4331-4DC2-AE25-347037722617}" srcId="{B4C27B1A-540E-4AE1-A0FA-2373F8C7C00D}" destId="{C99DE165-A6A2-4E3C-8084-9A776539F414}" srcOrd="1" destOrd="0" parTransId="{15A961B9-3A0A-4FA7-8F0F-40C05929148C}" sibTransId="{39426DE8-50A8-4767-823C-76D6C28D84CD}"/>
    <dgm:cxn modelId="{FB5B8E72-0B22-4D45-99E3-6EC7140F0AB3}" type="presOf" srcId="{361C9BC5-B29F-48D4-9051-8080622C2265}" destId="{855C61C3-9681-46A9-85A5-1E65B56A782C}" srcOrd="0" destOrd="0" presId="urn:microsoft.com/office/officeart/2005/8/layout/hList1"/>
    <dgm:cxn modelId="{90A5E980-4063-4E8B-B918-C4BAF3B1F2BA}" type="presOf" srcId="{B3C1C06F-F101-4097-8E76-7221602C9DCD}" destId="{03A5736B-9407-4E51-943F-C4127641647B}" srcOrd="0" destOrd="1" presId="urn:microsoft.com/office/officeart/2005/8/layout/hList1"/>
    <dgm:cxn modelId="{7588A984-A004-4D3A-B9AD-8EBCD3E5E060}" type="presOf" srcId="{1F6D49FA-F901-4B50-ADEC-FB4488F0ECDE}" destId="{CD69D0B0-1884-46A2-8F10-145B05B89842}" srcOrd="0" destOrd="0" presId="urn:microsoft.com/office/officeart/2005/8/layout/hList1"/>
    <dgm:cxn modelId="{748B2594-474D-425B-8D6A-157BB949C56E}" srcId="{B4C27B1A-540E-4AE1-A0FA-2373F8C7C00D}" destId="{888A2276-89F3-4140-9592-FE63CBE9FC6F}" srcOrd="2" destOrd="0" parTransId="{818B4799-89CB-4238-BB9D-472D60B40326}" sibTransId="{91715877-E58D-486D-8BF0-DC8A4048A0A2}"/>
    <dgm:cxn modelId="{BE63DE9B-CDE6-4C28-B84D-A080B2864CB1}" type="presOf" srcId="{B4C27B1A-540E-4AE1-A0FA-2373F8C7C00D}" destId="{B2079A84-D30A-43B1-81D6-28B09A3A7626}" srcOrd="0" destOrd="0" presId="urn:microsoft.com/office/officeart/2005/8/layout/hList1"/>
    <dgm:cxn modelId="{C8999BBC-2F22-4036-BE2F-27BE3D94CD58}" type="presOf" srcId="{C99DE165-A6A2-4E3C-8084-9A776539F414}" destId="{802EC7D4-495D-4461-A980-1E7E46187315}" srcOrd="0" destOrd="1" presId="urn:microsoft.com/office/officeart/2005/8/layout/hList1"/>
    <dgm:cxn modelId="{9018C1BE-37B3-488E-A8BA-C8A16612C9FC}" type="presOf" srcId="{888A2276-89F3-4140-9592-FE63CBE9FC6F}" destId="{802EC7D4-495D-4461-A980-1E7E46187315}" srcOrd="0" destOrd="2" presId="urn:microsoft.com/office/officeart/2005/8/layout/hList1"/>
    <dgm:cxn modelId="{EE3D05E0-647B-4AE0-9969-EF9A6CEF939E}" srcId="{1F6D49FA-F901-4B50-ADEC-FB4488F0ECDE}" destId="{B3C1C06F-F101-4097-8E76-7221602C9DCD}" srcOrd="1" destOrd="0" parTransId="{394E42C2-1DBF-4E2F-9E18-2CBF2BCF68B0}" sibTransId="{512E8C54-A45B-4F19-A2E1-DFAF120AE3AC}"/>
    <dgm:cxn modelId="{5D0AE4FB-E321-463C-B9B1-FD65C5AF83CD}" type="presOf" srcId="{E4ED0C5A-041D-4179-B2D9-667F95556395}" destId="{802EC7D4-495D-4461-A980-1E7E46187315}" srcOrd="0" destOrd="0" presId="urn:microsoft.com/office/officeart/2005/8/layout/hList1"/>
    <dgm:cxn modelId="{88BF604C-1904-459E-B3C1-82432CC3C6AA}" type="presParOf" srcId="{855C61C3-9681-46A9-85A5-1E65B56A782C}" destId="{C9C28BD1-EF4F-4CA1-9BA9-72A7B8BFFCFD}" srcOrd="0" destOrd="0" presId="urn:microsoft.com/office/officeart/2005/8/layout/hList1"/>
    <dgm:cxn modelId="{8D44B271-6CFA-498C-9A7C-9B0866F8B7E8}" type="presParOf" srcId="{C9C28BD1-EF4F-4CA1-9BA9-72A7B8BFFCFD}" destId="{CD69D0B0-1884-46A2-8F10-145B05B89842}" srcOrd="0" destOrd="0" presId="urn:microsoft.com/office/officeart/2005/8/layout/hList1"/>
    <dgm:cxn modelId="{E6030247-9935-40B7-97A0-29A74D32B9B3}" type="presParOf" srcId="{C9C28BD1-EF4F-4CA1-9BA9-72A7B8BFFCFD}" destId="{03A5736B-9407-4E51-943F-C4127641647B}" srcOrd="1" destOrd="0" presId="urn:microsoft.com/office/officeart/2005/8/layout/hList1"/>
    <dgm:cxn modelId="{7A0C3FFE-0952-48F8-A6F9-DFCD5564103D}" type="presParOf" srcId="{855C61C3-9681-46A9-85A5-1E65B56A782C}" destId="{E002B729-091C-462E-96C9-907AFB120A8D}" srcOrd="1" destOrd="0" presId="urn:microsoft.com/office/officeart/2005/8/layout/hList1"/>
    <dgm:cxn modelId="{607FB96D-1A3C-4ABF-B086-75C824EE5DFA}" type="presParOf" srcId="{855C61C3-9681-46A9-85A5-1E65B56A782C}" destId="{7C58811D-8D19-40CE-89EC-CCE20868CD33}" srcOrd="2" destOrd="0" presId="urn:microsoft.com/office/officeart/2005/8/layout/hList1"/>
    <dgm:cxn modelId="{CD61260C-10A3-495F-B435-EF004E25E192}" type="presParOf" srcId="{7C58811D-8D19-40CE-89EC-CCE20868CD33}" destId="{B2079A84-D30A-43B1-81D6-28B09A3A7626}" srcOrd="0" destOrd="0" presId="urn:microsoft.com/office/officeart/2005/8/layout/hList1"/>
    <dgm:cxn modelId="{D65B1510-D8CD-42E0-B790-D98AD9EADCD5}" type="presParOf" srcId="{7C58811D-8D19-40CE-89EC-CCE20868CD33}" destId="{802EC7D4-495D-4461-A980-1E7E46187315}"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D4ABD43-DDCE-4440-B189-B8BC99419A8C}"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zh-CN" altLang="en-US"/>
        </a:p>
      </dgm:t>
    </dgm:pt>
    <dgm:pt modelId="{6B1D83A1-F256-427B-A1DC-7ADE79857098}">
      <dgm:prSet custT="1"/>
      <dgm:spPr>
        <a:solidFill>
          <a:srgbClr val="0070C0"/>
        </a:solidFill>
      </dgm:spPr>
      <dgm:t>
        <a:bodyPr/>
        <a:lstStyle/>
        <a:p>
          <a:pPr rtl="0"/>
          <a:r>
            <a:rPr lang="en-US" altLang="zh-CN" sz="1400" b="1" dirty="0">
              <a:solidFill>
                <a:schemeClr val="bg1"/>
              </a:solidFill>
              <a:latin typeface="微软雅黑" pitchFamily="34" charset="-122"/>
              <a:ea typeface="微软雅黑" pitchFamily="34" charset="-122"/>
            </a:rPr>
            <a:t>	</a:t>
          </a:r>
          <a:r>
            <a:rPr lang="zh-CN" sz="1600" b="1" dirty="0">
              <a:solidFill>
                <a:schemeClr val="bg1"/>
              </a:solidFill>
              <a:latin typeface="微软雅黑" pitchFamily="34" charset="-122"/>
              <a:ea typeface="微软雅黑" pitchFamily="34" charset="-122"/>
            </a:rPr>
            <a:t>方法（操作）</a:t>
          </a:r>
          <a:r>
            <a:rPr lang="en-US" sz="1600" b="1" dirty="0">
              <a:solidFill>
                <a:schemeClr val="bg1"/>
              </a:solidFill>
              <a:latin typeface="微软雅黑" pitchFamily="34" charset="-122"/>
              <a:ea typeface="微软雅黑" pitchFamily="34" charset="-122"/>
            </a:rPr>
            <a:t>				</a:t>
          </a:r>
          <a:r>
            <a:rPr lang="zh-CN" sz="1600" b="1" dirty="0">
              <a:solidFill>
                <a:schemeClr val="bg1"/>
              </a:solidFill>
              <a:latin typeface="微软雅黑" pitchFamily="34" charset="-122"/>
              <a:ea typeface="微软雅黑" pitchFamily="34" charset="-122"/>
            </a:rPr>
            <a:t>意义</a:t>
          </a:r>
          <a:endParaRPr lang="zh-CN" sz="1600" dirty="0">
            <a:solidFill>
              <a:schemeClr val="bg1"/>
            </a:solidFill>
            <a:latin typeface="微软雅黑" pitchFamily="34" charset="-122"/>
            <a:ea typeface="微软雅黑" pitchFamily="34" charset="-122"/>
          </a:endParaRPr>
        </a:p>
      </dgm:t>
    </dgm:pt>
    <dgm:pt modelId="{27CE23E2-20D6-4DA6-8FDE-164A9143B325}" type="parTrans" cxnId="{F05DA65B-F8ED-4E81-94E7-A2A3A92D746E}">
      <dgm:prSet/>
      <dgm:spPr/>
      <dgm:t>
        <a:bodyPr/>
        <a:lstStyle/>
        <a:p>
          <a:endParaRPr lang="zh-CN" altLang="en-US" sz="2000"/>
        </a:p>
      </dgm:t>
    </dgm:pt>
    <dgm:pt modelId="{04EB3969-0881-486F-B9ED-3D997F33DE3D}" type="sibTrans" cxnId="{F05DA65B-F8ED-4E81-94E7-A2A3A92D746E}">
      <dgm:prSet/>
      <dgm:spPr/>
      <dgm:t>
        <a:bodyPr/>
        <a:lstStyle/>
        <a:p>
          <a:endParaRPr lang="zh-CN" altLang="en-US" sz="2000"/>
        </a:p>
      </dgm:t>
    </dgm:pt>
    <dgm:pt modelId="{14A0F9A2-BA5E-473C-A26A-07D95F39FF2B}">
      <dgm:prSet custT="1"/>
      <dgm:spPr>
        <a:solidFill>
          <a:srgbClr val="99FFCC"/>
        </a:solidFill>
      </dgm:spPr>
      <dgm:t>
        <a:bodyPr/>
        <a:lstStyle/>
        <a:p>
          <a:pPr rtl="0"/>
          <a:r>
            <a:rPr lang="en-US" sz="1400" b="1" dirty="0">
              <a:solidFill>
                <a:schemeClr val="tx1"/>
              </a:solidFill>
              <a:latin typeface="微软雅黑" pitchFamily="34" charset="-122"/>
              <a:ea typeface="微软雅黑" pitchFamily="34" charset="-122"/>
            </a:rPr>
            <a:t>	OPTION		  </a:t>
          </a:r>
          <a:r>
            <a:rPr lang="zh-CN" sz="1400" b="1" dirty="0">
              <a:solidFill>
                <a:schemeClr val="tx1"/>
              </a:solidFill>
              <a:latin typeface="微软雅黑" pitchFamily="34" charset="-122"/>
              <a:ea typeface="微软雅黑" pitchFamily="34" charset="-122"/>
            </a:rPr>
            <a:t>请求一些选项的信息</a:t>
          </a:r>
          <a:endParaRPr lang="zh-CN" sz="1400" dirty="0">
            <a:solidFill>
              <a:schemeClr val="tx1"/>
            </a:solidFill>
            <a:latin typeface="微软雅黑" pitchFamily="34" charset="-122"/>
            <a:ea typeface="微软雅黑" pitchFamily="34" charset="-122"/>
          </a:endParaRPr>
        </a:p>
      </dgm:t>
    </dgm:pt>
    <dgm:pt modelId="{F428299F-92F4-4EC3-8F69-F35A1F2197D3}" type="parTrans" cxnId="{1F5B8AB9-56BA-4B3C-93A2-CD67F067C1A5}">
      <dgm:prSet/>
      <dgm:spPr/>
      <dgm:t>
        <a:bodyPr/>
        <a:lstStyle/>
        <a:p>
          <a:endParaRPr lang="zh-CN" altLang="en-US" sz="2000"/>
        </a:p>
      </dgm:t>
    </dgm:pt>
    <dgm:pt modelId="{09F3E21C-1E3E-4245-BD23-D7EF14018618}" type="sibTrans" cxnId="{1F5B8AB9-56BA-4B3C-93A2-CD67F067C1A5}">
      <dgm:prSet/>
      <dgm:spPr/>
      <dgm:t>
        <a:bodyPr/>
        <a:lstStyle/>
        <a:p>
          <a:endParaRPr lang="zh-CN" altLang="en-US" sz="2000"/>
        </a:p>
      </dgm:t>
    </dgm:pt>
    <dgm:pt modelId="{D32D8361-DF8C-48A0-8647-ACE46C5DA45A}">
      <dgm:prSet custT="1"/>
      <dgm:spPr>
        <a:solidFill>
          <a:schemeClr val="accent1">
            <a:lumMod val="40000"/>
            <a:lumOff val="60000"/>
          </a:schemeClr>
        </a:solidFill>
      </dgm:spPr>
      <dgm:t>
        <a:bodyPr/>
        <a:lstStyle/>
        <a:p>
          <a:pPr rtl="0"/>
          <a:r>
            <a:rPr lang="en-US" sz="1400" b="1" dirty="0">
              <a:solidFill>
                <a:schemeClr val="tx1"/>
              </a:solidFill>
              <a:latin typeface="微软雅黑" pitchFamily="34" charset="-122"/>
              <a:ea typeface="微软雅黑" pitchFamily="34" charset="-122"/>
            </a:rPr>
            <a:t>	GET               		  </a:t>
          </a:r>
          <a:r>
            <a:rPr lang="zh-CN" sz="1400" b="1" dirty="0">
              <a:solidFill>
                <a:schemeClr val="tx1"/>
              </a:solidFill>
              <a:latin typeface="微软雅黑" pitchFamily="34" charset="-122"/>
              <a:ea typeface="微软雅黑" pitchFamily="34" charset="-122"/>
            </a:rPr>
            <a:t>请求读取由 </a:t>
          </a:r>
          <a:r>
            <a:rPr lang="en-US" sz="1400" b="1" dirty="0">
              <a:solidFill>
                <a:schemeClr val="tx1"/>
              </a:solidFill>
              <a:latin typeface="微软雅黑" pitchFamily="34" charset="-122"/>
              <a:ea typeface="微软雅黑" pitchFamily="34" charset="-122"/>
            </a:rPr>
            <a:t>URL</a:t>
          </a:r>
          <a:r>
            <a:rPr lang="zh-CN" sz="1400" b="1" dirty="0">
              <a:solidFill>
                <a:schemeClr val="tx1"/>
              </a:solidFill>
              <a:latin typeface="微软雅黑" pitchFamily="34" charset="-122"/>
              <a:ea typeface="微软雅黑" pitchFamily="34" charset="-122"/>
            </a:rPr>
            <a:t>所标志的信息</a:t>
          </a:r>
          <a:endParaRPr lang="zh-CN" sz="1400" dirty="0">
            <a:solidFill>
              <a:schemeClr val="tx1"/>
            </a:solidFill>
            <a:latin typeface="微软雅黑" pitchFamily="34" charset="-122"/>
            <a:ea typeface="微软雅黑" pitchFamily="34" charset="-122"/>
          </a:endParaRPr>
        </a:p>
      </dgm:t>
    </dgm:pt>
    <dgm:pt modelId="{47CA20CA-28BF-4089-8B81-7E9E84CA28B5}" type="parTrans" cxnId="{C3922EF1-C25D-4D0E-A360-802694E5B206}">
      <dgm:prSet/>
      <dgm:spPr/>
      <dgm:t>
        <a:bodyPr/>
        <a:lstStyle/>
        <a:p>
          <a:endParaRPr lang="zh-CN" altLang="en-US" sz="2000"/>
        </a:p>
      </dgm:t>
    </dgm:pt>
    <dgm:pt modelId="{9BD60071-19A1-4A88-A60A-8FB6F147096F}" type="sibTrans" cxnId="{C3922EF1-C25D-4D0E-A360-802694E5B206}">
      <dgm:prSet/>
      <dgm:spPr/>
      <dgm:t>
        <a:bodyPr/>
        <a:lstStyle/>
        <a:p>
          <a:endParaRPr lang="zh-CN" altLang="en-US" sz="2000"/>
        </a:p>
      </dgm:t>
    </dgm:pt>
    <dgm:pt modelId="{5F2F9BD6-F24E-4255-85FC-E2350396D805}">
      <dgm:prSet custT="1"/>
      <dgm:spPr>
        <a:solidFill>
          <a:srgbClr val="99FFCC"/>
        </a:solidFill>
      </dgm:spPr>
      <dgm:t>
        <a:bodyPr/>
        <a:lstStyle/>
        <a:p>
          <a:pPr rtl="0"/>
          <a:r>
            <a:rPr lang="en-US" sz="1400" b="1" dirty="0">
              <a:solidFill>
                <a:schemeClr val="tx1"/>
              </a:solidFill>
              <a:latin typeface="微软雅黑" pitchFamily="34" charset="-122"/>
              <a:ea typeface="微软雅黑" pitchFamily="34" charset="-122"/>
            </a:rPr>
            <a:t>	HEAD              	  </a:t>
          </a:r>
          <a:r>
            <a:rPr lang="zh-CN" sz="1400" b="1" dirty="0">
              <a:solidFill>
                <a:schemeClr val="tx1"/>
              </a:solidFill>
              <a:latin typeface="微软雅黑" pitchFamily="34" charset="-122"/>
              <a:ea typeface="微软雅黑" pitchFamily="34" charset="-122"/>
            </a:rPr>
            <a:t>请求读取由 </a:t>
          </a:r>
          <a:r>
            <a:rPr lang="en-US" sz="1400" b="1" dirty="0">
              <a:solidFill>
                <a:schemeClr val="tx1"/>
              </a:solidFill>
              <a:latin typeface="微软雅黑" pitchFamily="34" charset="-122"/>
              <a:ea typeface="微软雅黑" pitchFamily="34" charset="-122"/>
            </a:rPr>
            <a:t>URL</a:t>
          </a:r>
          <a:r>
            <a:rPr lang="zh-CN" sz="1400" b="1" dirty="0">
              <a:solidFill>
                <a:schemeClr val="tx1"/>
              </a:solidFill>
              <a:latin typeface="微软雅黑" pitchFamily="34" charset="-122"/>
              <a:ea typeface="微软雅黑" pitchFamily="34" charset="-122"/>
            </a:rPr>
            <a:t>所标志的信息的首部</a:t>
          </a:r>
          <a:endParaRPr lang="zh-CN" sz="1400" dirty="0">
            <a:solidFill>
              <a:schemeClr val="tx1"/>
            </a:solidFill>
            <a:latin typeface="微软雅黑" pitchFamily="34" charset="-122"/>
            <a:ea typeface="微软雅黑" pitchFamily="34" charset="-122"/>
          </a:endParaRPr>
        </a:p>
      </dgm:t>
    </dgm:pt>
    <dgm:pt modelId="{01AAAC48-EC48-440E-A5E2-88572E88C756}" type="parTrans" cxnId="{22E6D2E9-025D-4FE7-ADBC-975B6274EA23}">
      <dgm:prSet/>
      <dgm:spPr/>
      <dgm:t>
        <a:bodyPr/>
        <a:lstStyle/>
        <a:p>
          <a:endParaRPr lang="zh-CN" altLang="en-US" sz="2000"/>
        </a:p>
      </dgm:t>
    </dgm:pt>
    <dgm:pt modelId="{1287D65E-3DAA-4426-89B8-BA3E376A4119}" type="sibTrans" cxnId="{22E6D2E9-025D-4FE7-ADBC-975B6274EA23}">
      <dgm:prSet/>
      <dgm:spPr/>
      <dgm:t>
        <a:bodyPr/>
        <a:lstStyle/>
        <a:p>
          <a:endParaRPr lang="zh-CN" altLang="en-US" sz="2000"/>
        </a:p>
      </dgm:t>
    </dgm:pt>
    <dgm:pt modelId="{B3D81C7E-05E3-49CF-989C-070CE891B722}">
      <dgm:prSet custT="1"/>
      <dgm:spPr>
        <a:solidFill>
          <a:schemeClr val="accent1">
            <a:lumMod val="40000"/>
            <a:lumOff val="60000"/>
          </a:schemeClr>
        </a:solidFill>
      </dgm:spPr>
      <dgm:t>
        <a:bodyPr/>
        <a:lstStyle/>
        <a:p>
          <a:pPr rtl="0"/>
          <a:r>
            <a:rPr lang="en-US" sz="1400" b="1" dirty="0">
              <a:solidFill>
                <a:schemeClr val="tx1"/>
              </a:solidFill>
              <a:latin typeface="微软雅黑" pitchFamily="34" charset="-122"/>
              <a:ea typeface="微软雅黑" pitchFamily="34" charset="-122"/>
            </a:rPr>
            <a:t>	POST     	    	  </a:t>
          </a:r>
          <a:r>
            <a:rPr lang="zh-CN" sz="1400" b="1" dirty="0">
              <a:solidFill>
                <a:schemeClr val="tx1"/>
              </a:solidFill>
              <a:latin typeface="微软雅黑" pitchFamily="34" charset="-122"/>
              <a:ea typeface="微软雅黑" pitchFamily="34" charset="-122"/>
            </a:rPr>
            <a:t>给服务器添加信息（例如，注释）</a:t>
          </a:r>
          <a:endParaRPr lang="zh-CN" sz="1400" dirty="0">
            <a:solidFill>
              <a:schemeClr val="tx1"/>
            </a:solidFill>
            <a:latin typeface="微软雅黑" pitchFamily="34" charset="-122"/>
            <a:ea typeface="微软雅黑" pitchFamily="34" charset="-122"/>
          </a:endParaRPr>
        </a:p>
      </dgm:t>
    </dgm:pt>
    <dgm:pt modelId="{B5132612-45C6-41E7-B856-574DE76148DF}" type="parTrans" cxnId="{6FB93842-5A12-41B3-86BF-64E06F25EF4F}">
      <dgm:prSet/>
      <dgm:spPr/>
      <dgm:t>
        <a:bodyPr/>
        <a:lstStyle/>
        <a:p>
          <a:endParaRPr lang="zh-CN" altLang="en-US" sz="2000"/>
        </a:p>
      </dgm:t>
    </dgm:pt>
    <dgm:pt modelId="{967E2E43-1BFB-45FB-ABC6-E9B961CBA7DF}" type="sibTrans" cxnId="{6FB93842-5A12-41B3-86BF-64E06F25EF4F}">
      <dgm:prSet/>
      <dgm:spPr/>
      <dgm:t>
        <a:bodyPr/>
        <a:lstStyle/>
        <a:p>
          <a:endParaRPr lang="zh-CN" altLang="en-US" sz="2000"/>
        </a:p>
      </dgm:t>
    </dgm:pt>
    <dgm:pt modelId="{258A2F10-98A6-45AC-9A9C-BB262FDEF029}">
      <dgm:prSet custT="1"/>
      <dgm:spPr>
        <a:solidFill>
          <a:srgbClr val="99FFCC"/>
        </a:solidFill>
      </dgm:spPr>
      <dgm:t>
        <a:bodyPr/>
        <a:lstStyle/>
        <a:p>
          <a:pPr rtl="0"/>
          <a:r>
            <a:rPr lang="en-US" sz="1400" b="1" dirty="0">
              <a:solidFill>
                <a:schemeClr val="tx1"/>
              </a:solidFill>
              <a:latin typeface="微软雅黑" pitchFamily="34" charset="-122"/>
              <a:ea typeface="微软雅黑" pitchFamily="34" charset="-122"/>
            </a:rPr>
            <a:t>	PUT			  </a:t>
          </a:r>
          <a:r>
            <a:rPr lang="zh-CN" sz="1400" b="1" dirty="0">
              <a:solidFill>
                <a:schemeClr val="tx1"/>
              </a:solidFill>
              <a:latin typeface="微软雅黑" pitchFamily="34" charset="-122"/>
              <a:ea typeface="微软雅黑" pitchFamily="34" charset="-122"/>
            </a:rPr>
            <a:t>在指明的 </a:t>
          </a:r>
          <a:r>
            <a:rPr lang="en-US" sz="1400" b="1" dirty="0">
              <a:solidFill>
                <a:schemeClr val="tx1"/>
              </a:solidFill>
              <a:latin typeface="微软雅黑" pitchFamily="34" charset="-122"/>
              <a:ea typeface="微软雅黑" pitchFamily="34" charset="-122"/>
            </a:rPr>
            <a:t>URL</a:t>
          </a:r>
          <a:r>
            <a:rPr lang="zh-CN" sz="1400" b="1" dirty="0">
              <a:solidFill>
                <a:schemeClr val="tx1"/>
              </a:solidFill>
              <a:latin typeface="微软雅黑" pitchFamily="34" charset="-122"/>
              <a:ea typeface="微软雅黑" pitchFamily="34" charset="-122"/>
            </a:rPr>
            <a:t>下存储一个文档</a:t>
          </a:r>
          <a:endParaRPr lang="zh-CN" sz="1400" dirty="0">
            <a:solidFill>
              <a:schemeClr val="tx1"/>
            </a:solidFill>
            <a:latin typeface="微软雅黑" pitchFamily="34" charset="-122"/>
            <a:ea typeface="微软雅黑" pitchFamily="34" charset="-122"/>
          </a:endParaRPr>
        </a:p>
      </dgm:t>
    </dgm:pt>
    <dgm:pt modelId="{D2D2868A-62C4-410B-B3D8-7DF502EAB38D}" type="parTrans" cxnId="{0E53C646-4BC7-40A4-8EBC-CB6A10ECCF93}">
      <dgm:prSet/>
      <dgm:spPr/>
      <dgm:t>
        <a:bodyPr/>
        <a:lstStyle/>
        <a:p>
          <a:endParaRPr lang="zh-CN" altLang="en-US" sz="2000"/>
        </a:p>
      </dgm:t>
    </dgm:pt>
    <dgm:pt modelId="{196481A8-5918-4487-AE93-E8C148F56D79}" type="sibTrans" cxnId="{0E53C646-4BC7-40A4-8EBC-CB6A10ECCF93}">
      <dgm:prSet/>
      <dgm:spPr/>
      <dgm:t>
        <a:bodyPr/>
        <a:lstStyle/>
        <a:p>
          <a:endParaRPr lang="zh-CN" altLang="en-US" sz="2000"/>
        </a:p>
      </dgm:t>
    </dgm:pt>
    <dgm:pt modelId="{63AFF0E2-A007-4F85-97C5-0E10709F7E5C}">
      <dgm:prSet custT="1"/>
      <dgm:spPr>
        <a:solidFill>
          <a:schemeClr val="accent1">
            <a:lumMod val="40000"/>
            <a:lumOff val="60000"/>
          </a:schemeClr>
        </a:solidFill>
      </dgm:spPr>
      <dgm:t>
        <a:bodyPr/>
        <a:lstStyle/>
        <a:p>
          <a:pPr rtl="0"/>
          <a:r>
            <a:rPr lang="en-US" sz="1400" b="1" dirty="0">
              <a:solidFill>
                <a:schemeClr val="tx1"/>
              </a:solidFill>
              <a:latin typeface="微软雅黑" pitchFamily="34" charset="-122"/>
              <a:ea typeface="微软雅黑" pitchFamily="34" charset="-122"/>
            </a:rPr>
            <a:t>	DELETE		  </a:t>
          </a:r>
          <a:r>
            <a:rPr lang="zh-CN" sz="1400" b="1" dirty="0">
              <a:solidFill>
                <a:schemeClr val="tx1"/>
              </a:solidFill>
              <a:latin typeface="微软雅黑" pitchFamily="34" charset="-122"/>
              <a:ea typeface="微软雅黑" pitchFamily="34" charset="-122"/>
            </a:rPr>
            <a:t>删除指明的 </a:t>
          </a:r>
          <a:r>
            <a:rPr lang="en-US" sz="1400" b="1" dirty="0">
              <a:solidFill>
                <a:schemeClr val="tx1"/>
              </a:solidFill>
              <a:latin typeface="微软雅黑" pitchFamily="34" charset="-122"/>
              <a:ea typeface="微软雅黑" pitchFamily="34" charset="-122"/>
            </a:rPr>
            <a:t>URL</a:t>
          </a:r>
          <a:r>
            <a:rPr lang="zh-CN" sz="1400" b="1" dirty="0">
              <a:solidFill>
                <a:schemeClr val="tx1"/>
              </a:solidFill>
              <a:latin typeface="微软雅黑" pitchFamily="34" charset="-122"/>
              <a:ea typeface="微软雅黑" pitchFamily="34" charset="-122"/>
            </a:rPr>
            <a:t>所标志的资源</a:t>
          </a:r>
          <a:endParaRPr lang="zh-CN" sz="1400" dirty="0">
            <a:solidFill>
              <a:schemeClr val="tx1"/>
            </a:solidFill>
            <a:latin typeface="微软雅黑" pitchFamily="34" charset="-122"/>
            <a:ea typeface="微软雅黑" pitchFamily="34" charset="-122"/>
          </a:endParaRPr>
        </a:p>
      </dgm:t>
    </dgm:pt>
    <dgm:pt modelId="{D6DDE952-B0DE-47D8-B71F-7EF423B3547D}" type="parTrans" cxnId="{53A1F586-4C70-408A-97C9-D8C804FE3C81}">
      <dgm:prSet/>
      <dgm:spPr/>
      <dgm:t>
        <a:bodyPr/>
        <a:lstStyle/>
        <a:p>
          <a:endParaRPr lang="zh-CN" altLang="en-US" sz="2000"/>
        </a:p>
      </dgm:t>
    </dgm:pt>
    <dgm:pt modelId="{4399A9B5-36A9-4B6F-8820-694DF2DF950C}" type="sibTrans" cxnId="{53A1F586-4C70-408A-97C9-D8C804FE3C81}">
      <dgm:prSet/>
      <dgm:spPr/>
      <dgm:t>
        <a:bodyPr/>
        <a:lstStyle/>
        <a:p>
          <a:endParaRPr lang="zh-CN" altLang="en-US" sz="2000"/>
        </a:p>
      </dgm:t>
    </dgm:pt>
    <dgm:pt modelId="{07B4F805-20D4-4BC2-A365-667098FF337D}">
      <dgm:prSet custT="1"/>
      <dgm:spPr>
        <a:solidFill>
          <a:srgbClr val="99FFCC"/>
        </a:solidFill>
      </dgm:spPr>
      <dgm:t>
        <a:bodyPr/>
        <a:lstStyle/>
        <a:p>
          <a:pPr rtl="0"/>
          <a:r>
            <a:rPr lang="en-US" sz="1400" b="1" dirty="0">
              <a:solidFill>
                <a:schemeClr val="tx1"/>
              </a:solidFill>
              <a:latin typeface="微软雅黑" pitchFamily="34" charset="-122"/>
              <a:ea typeface="微软雅黑" pitchFamily="34" charset="-122"/>
            </a:rPr>
            <a:t>	TRACE			  </a:t>
          </a:r>
          <a:r>
            <a:rPr lang="zh-CN" sz="1400" b="1" dirty="0">
              <a:solidFill>
                <a:schemeClr val="tx1"/>
              </a:solidFill>
              <a:latin typeface="微软雅黑" pitchFamily="34" charset="-122"/>
              <a:ea typeface="微软雅黑" pitchFamily="34" charset="-122"/>
            </a:rPr>
            <a:t>用来进行环回测试的请求报文</a:t>
          </a:r>
          <a:endParaRPr lang="zh-CN" sz="1400" dirty="0">
            <a:solidFill>
              <a:schemeClr val="tx1"/>
            </a:solidFill>
            <a:latin typeface="微软雅黑" pitchFamily="34" charset="-122"/>
            <a:ea typeface="微软雅黑" pitchFamily="34" charset="-122"/>
          </a:endParaRPr>
        </a:p>
      </dgm:t>
    </dgm:pt>
    <dgm:pt modelId="{E1C34BCD-65C7-4C0E-9A76-8FC4FE780A8E}" type="parTrans" cxnId="{3CAC8A55-DD07-40E8-8A00-4729478CF17D}">
      <dgm:prSet/>
      <dgm:spPr/>
      <dgm:t>
        <a:bodyPr/>
        <a:lstStyle/>
        <a:p>
          <a:endParaRPr lang="zh-CN" altLang="en-US" sz="2000"/>
        </a:p>
      </dgm:t>
    </dgm:pt>
    <dgm:pt modelId="{5CF980BE-E654-4424-8AA0-131C7CAB0A00}" type="sibTrans" cxnId="{3CAC8A55-DD07-40E8-8A00-4729478CF17D}">
      <dgm:prSet/>
      <dgm:spPr/>
      <dgm:t>
        <a:bodyPr/>
        <a:lstStyle/>
        <a:p>
          <a:endParaRPr lang="zh-CN" altLang="en-US" sz="2000"/>
        </a:p>
      </dgm:t>
    </dgm:pt>
    <dgm:pt modelId="{C616A960-C11D-48B4-BA4F-337251C61470}">
      <dgm:prSet custT="1"/>
      <dgm:spPr>
        <a:solidFill>
          <a:schemeClr val="accent1">
            <a:lumMod val="40000"/>
            <a:lumOff val="60000"/>
          </a:schemeClr>
        </a:solidFill>
      </dgm:spPr>
      <dgm:t>
        <a:bodyPr/>
        <a:lstStyle/>
        <a:p>
          <a:pPr rtl="0"/>
          <a:r>
            <a:rPr lang="en-US" sz="1400" b="1" dirty="0">
              <a:solidFill>
                <a:schemeClr val="tx1"/>
              </a:solidFill>
              <a:latin typeface="微软雅黑" pitchFamily="34" charset="-122"/>
              <a:ea typeface="微软雅黑" pitchFamily="34" charset="-122"/>
            </a:rPr>
            <a:t>	CONNECT		  </a:t>
          </a:r>
          <a:r>
            <a:rPr lang="zh-CN" sz="1400" b="1" dirty="0">
              <a:solidFill>
                <a:schemeClr val="tx1"/>
              </a:solidFill>
              <a:latin typeface="微软雅黑" pitchFamily="34" charset="-122"/>
              <a:ea typeface="微软雅黑" pitchFamily="34" charset="-122"/>
            </a:rPr>
            <a:t>用于代理服务器</a:t>
          </a:r>
          <a:endParaRPr lang="zh-CN" sz="1400" dirty="0">
            <a:solidFill>
              <a:schemeClr val="tx1"/>
            </a:solidFill>
            <a:latin typeface="微软雅黑" pitchFamily="34" charset="-122"/>
            <a:ea typeface="微软雅黑" pitchFamily="34" charset="-122"/>
          </a:endParaRPr>
        </a:p>
      </dgm:t>
    </dgm:pt>
    <dgm:pt modelId="{5B569C4F-E263-4D62-874B-1A2E3B1B9E32}" type="parTrans" cxnId="{721A12FC-6CA4-4E93-AE77-B928A1B14CE1}">
      <dgm:prSet/>
      <dgm:spPr/>
      <dgm:t>
        <a:bodyPr/>
        <a:lstStyle/>
        <a:p>
          <a:endParaRPr lang="zh-CN" altLang="en-US" sz="2000"/>
        </a:p>
      </dgm:t>
    </dgm:pt>
    <dgm:pt modelId="{ECA1C154-7A47-4D18-B8BB-6870073C2A59}" type="sibTrans" cxnId="{721A12FC-6CA4-4E93-AE77-B928A1B14CE1}">
      <dgm:prSet/>
      <dgm:spPr/>
      <dgm:t>
        <a:bodyPr/>
        <a:lstStyle/>
        <a:p>
          <a:endParaRPr lang="zh-CN" altLang="en-US" sz="2000"/>
        </a:p>
      </dgm:t>
    </dgm:pt>
    <dgm:pt modelId="{F4952754-BFC9-4911-B4D0-7A50D557351A}" type="pres">
      <dgm:prSet presAssocID="{ED4ABD43-DDCE-4440-B189-B8BC99419A8C}" presName="linear" presStyleCnt="0">
        <dgm:presLayoutVars>
          <dgm:animLvl val="lvl"/>
          <dgm:resizeHandles val="exact"/>
        </dgm:presLayoutVars>
      </dgm:prSet>
      <dgm:spPr/>
    </dgm:pt>
    <dgm:pt modelId="{5F526FD6-3C16-45F7-931B-D3253D84A49B}" type="pres">
      <dgm:prSet presAssocID="{6B1D83A1-F256-427B-A1DC-7ADE79857098}" presName="parentText" presStyleLbl="node1" presStyleIdx="0" presStyleCnt="9">
        <dgm:presLayoutVars>
          <dgm:chMax val="0"/>
          <dgm:bulletEnabled val="1"/>
        </dgm:presLayoutVars>
      </dgm:prSet>
      <dgm:spPr/>
    </dgm:pt>
    <dgm:pt modelId="{70B8B93F-D17B-4288-8E8A-4E14EC79485F}" type="pres">
      <dgm:prSet presAssocID="{04EB3969-0881-486F-B9ED-3D997F33DE3D}" presName="spacer" presStyleCnt="0"/>
      <dgm:spPr/>
    </dgm:pt>
    <dgm:pt modelId="{50B73F1F-44EA-4F89-8398-75FE0BB22E10}" type="pres">
      <dgm:prSet presAssocID="{14A0F9A2-BA5E-473C-A26A-07D95F39FF2B}" presName="parentText" presStyleLbl="node1" presStyleIdx="1" presStyleCnt="9">
        <dgm:presLayoutVars>
          <dgm:chMax val="0"/>
          <dgm:bulletEnabled val="1"/>
        </dgm:presLayoutVars>
      </dgm:prSet>
      <dgm:spPr/>
    </dgm:pt>
    <dgm:pt modelId="{D34EC1E6-6907-428C-9D5F-AF01907B324C}" type="pres">
      <dgm:prSet presAssocID="{09F3E21C-1E3E-4245-BD23-D7EF14018618}" presName="spacer" presStyleCnt="0"/>
      <dgm:spPr/>
    </dgm:pt>
    <dgm:pt modelId="{FD5606E7-7379-4F33-830F-006516F4DFDB}" type="pres">
      <dgm:prSet presAssocID="{D32D8361-DF8C-48A0-8647-ACE46C5DA45A}" presName="parentText" presStyleLbl="node1" presStyleIdx="2" presStyleCnt="9">
        <dgm:presLayoutVars>
          <dgm:chMax val="0"/>
          <dgm:bulletEnabled val="1"/>
        </dgm:presLayoutVars>
      </dgm:prSet>
      <dgm:spPr/>
    </dgm:pt>
    <dgm:pt modelId="{A3A91749-FBEB-4655-AFB4-033C7D74953C}" type="pres">
      <dgm:prSet presAssocID="{9BD60071-19A1-4A88-A60A-8FB6F147096F}" presName="spacer" presStyleCnt="0"/>
      <dgm:spPr/>
    </dgm:pt>
    <dgm:pt modelId="{E1C3FBBC-EA1F-4BAD-A2D7-05E9F414FDC7}" type="pres">
      <dgm:prSet presAssocID="{5F2F9BD6-F24E-4255-85FC-E2350396D805}" presName="parentText" presStyleLbl="node1" presStyleIdx="3" presStyleCnt="9">
        <dgm:presLayoutVars>
          <dgm:chMax val="0"/>
          <dgm:bulletEnabled val="1"/>
        </dgm:presLayoutVars>
      </dgm:prSet>
      <dgm:spPr/>
    </dgm:pt>
    <dgm:pt modelId="{337E9823-B5CB-43BA-8F01-2BD744123BF2}" type="pres">
      <dgm:prSet presAssocID="{1287D65E-3DAA-4426-89B8-BA3E376A4119}" presName="spacer" presStyleCnt="0"/>
      <dgm:spPr/>
    </dgm:pt>
    <dgm:pt modelId="{0EB52B51-C389-4A36-BC05-864D852DF5FC}" type="pres">
      <dgm:prSet presAssocID="{B3D81C7E-05E3-49CF-989C-070CE891B722}" presName="parentText" presStyleLbl="node1" presStyleIdx="4" presStyleCnt="9">
        <dgm:presLayoutVars>
          <dgm:chMax val="0"/>
          <dgm:bulletEnabled val="1"/>
        </dgm:presLayoutVars>
      </dgm:prSet>
      <dgm:spPr/>
    </dgm:pt>
    <dgm:pt modelId="{2D368CEE-5AD2-460D-8088-9CA2F6997FA2}" type="pres">
      <dgm:prSet presAssocID="{967E2E43-1BFB-45FB-ABC6-E9B961CBA7DF}" presName="spacer" presStyleCnt="0"/>
      <dgm:spPr/>
    </dgm:pt>
    <dgm:pt modelId="{4E4C0534-037E-45A5-BADC-B7406AF7B1C3}" type="pres">
      <dgm:prSet presAssocID="{258A2F10-98A6-45AC-9A9C-BB262FDEF029}" presName="parentText" presStyleLbl="node1" presStyleIdx="5" presStyleCnt="9">
        <dgm:presLayoutVars>
          <dgm:chMax val="0"/>
          <dgm:bulletEnabled val="1"/>
        </dgm:presLayoutVars>
      </dgm:prSet>
      <dgm:spPr/>
    </dgm:pt>
    <dgm:pt modelId="{C039C7DD-0E08-48C1-A6EC-72D7F9D82548}" type="pres">
      <dgm:prSet presAssocID="{196481A8-5918-4487-AE93-E8C148F56D79}" presName="spacer" presStyleCnt="0"/>
      <dgm:spPr/>
    </dgm:pt>
    <dgm:pt modelId="{EC4E5CDF-5396-4684-B963-9679F944855F}" type="pres">
      <dgm:prSet presAssocID="{63AFF0E2-A007-4F85-97C5-0E10709F7E5C}" presName="parentText" presStyleLbl="node1" presStyleIdx="6" presStyleCnt="9">
        <dgm:presLayoutVars>
          <dgm:chMax val="0"/>
          <dgm:bulletEnabled val="1"/>
        </dgm:presLayoutVars>
      </dgm:prSet>
      <dgm:spPr/>
    </dgm:pt>
    <dgm:pt modelId="{E4EC7552-37A5-4003-B7CF-035B11AA3598}" type="pres">
      <dgm:prSet presAssocID="{4399A9B5-36A9-4B6F-8820-694DF2DF950C}" presName="spacer" presStyleCnt="0"/>
      <dgm:spPr/>
    </dgm:pt>
    <dgm:pt modelId="{21855FA6-2BB4-499A-A8A9-433441C6C9C7}" type="pres">
      <dgm:prSet presAssocID="{07B4F805-20D4-4BC2-A365-667098FF337D}" presName="parentText" presStyleLbl="node1" presStyleIdx="7" presStyleCnt="9">
        <dgm:presLayoutVars>
          <dgm:chMax val="0"/>
          <dgm:bulletEnabled val="1"/>
        </dgm:presLayoutVars>
      </dgm:prSet>
      <dgm:spPr/>
    </dgm:pt>
    <dgm:pt modelId="{66723406-0C3F-437D-80D6-FA1C8062C148}" type="pres">
      <dgm:prSet presAssocID="{5CF980BE-E654-4424-8AA0-131C7CAB0A00}" presName="spacer" presStyleCnt="0"/>
      <dgm:spPr/>
    </dgm:pt>
    <dgm:pt modelId="{08F040B1-2CBD-4876-96AA-45AF94F7D94E}" type="pres">
      <dgm:prSet presAssocID="{C616A960-C11D-48B4-BA4F-337251C61470}" presName="parentText" presStyleLbl="node1" presStyleIdx="8" presStyleCnt="9">
        <dgm:presLayoutVars>
          <dgm:chMax val="0"/>
          <dgm:bulletEnabled val="1"/>
        </dgm:presLayoutVars>
      </dgm:prSet>
      <dgm:spPr/>
    </dgm:pt>
  </dgm:ptLst>
  <dgm:cxnLst>
    <dgm:cxn modelId="{0540C91C-EAF7-4EFA-B74E-527657268102}" type="presOf" srcId="{6B1D83A1-F256-427B-A1DC-7ADE79857098}" destId="{5F526FD6-3C16-45F7-931B-D3253D84A49B}" srcOrd="0" destOrd="0" presId="urn:microsoft.com/office/officeart/2005/8/layout/vList2"/>
    <dgm:cxn modelId="{F05DA65B-F8ED-4E81-94E7-A2A3A92D746E}" srcId="{ED4ABD43-DDCE-4440-B189-B8BC99419A8C}" destId="{6B1D83A1-F256-427B-A1DC-7ADE79857098}" srcOrd="0" destOrd="0" parTransId="{27CE23E2-20D6-4DA6-8FDE-164A9143B325}" sibTransId="{04EB3969-0881-486F-B9ED-3D997F33DE3D}"/>
    <dgm:cxn modelId="{6FB93842-5A12-41B3-86BF-64E06F25EF4F}" srcId="{ED4ABD43-DDCE-4440-B189-B8BC99419A8C}" destId="{B3D81C7E-05E3-49CF-989C-070CE891B722}" srcOrd="4" destOrd="0" parTransId="{B5132612-45C6-41E7-B856-574DE76148DF}" sibTransId="{967E2E43-1BFB-45FB-ABC6-E9B961CBA7DF}"/>
    <dgm:cxn modelId="{8FF67364-7DEB-49FE-8192-3E7830B06CAF}" type="presOf" srcId="{258A2F10-98A6-45AC-9A9C-BB262FDEF029}" destId="{4E4C0534-037E-45A5-BADC-B7406AF7B1C3}" srcOrd="0" destOrd="0" presId="urn:microsoft.com/office/officeart/2005/8/layout/vList2"/>
    <dgm:cxn modelId="{0E53C646-4BC7-40A4-8EBC-CB6A10ECCF93}" srcId="{ED4ABD43-DDCE-4440-B189-B8BC99419A8C}" destId="{258A2F10-98A6-45AC-9A9C-BB262FDEF029}" srcOrd="5" destOrd="0" parTransId="{D2D2868A-62C4-410B-B3D8-7DF502EAB38D}" sibTransId="{196481A8-5918-4487-AE93-E8C148F56D79}"/>
    <dgm:cxn modelId="{BA001C70-062E-4DD3-A57D-6BD7E453C49C}" type="presOf" srcId="{07B4F805-20D4-4BC2-A365-667098FF337D}" destId="{21855FA6-2BB4-499A-A8A9-433441C6C9C7}" srcOrd="0" destOrd="0" presId="urn:microsoft.com/office/officeart/2005/8/layout/vList2"/>
    <dgm:cxn modelId="{1AA63E50-9899-4EB9-9DC6-E5CFEBE9AA52}" type="presOf" srcId="{C616A960-C11D-48B4-BA4F-337251C61470}" destId="{08F040B1-2CBD-4876-96AA-45AF94F7D94E}" srcOrd="0" destOrd="0" presId="urn:microsoft.com/office/officeart/2005/8/layout/vList2"/>
    <dgm:cxn modelId="{3CAC8A55-DD07-40E8-8A00-4729478CF17D}" srcId="{ED4ABD43-DDCE-4440-B189-B8BC99419A8C}" destId="{07B4F805-20D4-4BC2-A365-667098FF337D}" srcOrd="7" destOrd="0" parTransId="{E1C34BCD-65C7-4C0E-9A76-8FC4FE780A8E}" sibTransId="{5CF980BE-E654-4424-8AA0-131C7CAB0A00}"/>
    <dgm:cxn modelId="{0E29C981-1B57-48D5-876F-395BA29D6BA7}" type="presOf" srcId="{B3D81C7E-05E3-49CF-989C-070CE891B722}" destId="{0EB52B51-C389-4A36-BC05-864D852DF5FC}" srcOrd="0" destOrd="0" presId="urn:microsoft.com/office/officeart/2005/8/layout/vList2"/>
    <dgm:cxn modelId="{53A1F586-4C70-408A-97C9-D8C804FE3C81}" srcId="{ED4ABD43-DDCE-4440-B189-B8BC99419A8C}" destId="{63AFF0E2-A007-4F85-97C5-0E10709F7E5C}" srcOrd="6" destOrd="0" parTransId="{D6DDE952-B0DE-47D8-B71F-7EF423B3547D}" sibTransId="{4399A9B5-36A9-4B6F-8820-694DF2DF950C}"/>
    <dgm:cxn modelId="{8346098B-6D4A-4876-BD6E-94E423230B8C}" type="presOf" srcId="{63AFF0E2-A007-4F85-97C5-0E10709F7E5C}" destId="{EC4E5CDF-5396-4684-B963-9679F944855F}" srcOrd="0" destOrd="0" presId="urn:microsoft.com/office/officeart/2005/8/layout/vList2"/>
    <dgm:cxn modelId="{1F5B8AB9-56BA-4B3C-93A2-CD67F067C1A5}" srcId="{ED4ABD43-DDCE-4440-B189-B8BC99419A8C}" destId="{14A0F9A2-BA5E-473C-A26A-07D95F39FF2B}" srcOrd="1" destOrd="0" parTransId="{F428299F-92F4-4EC3-8F69-F35A1F2197D3}" sibTransId="{09F3E21C-1E3E-4245-BD23-D7EF14018618}"/>
    <dgm:cxn modelId="{A610C3C6-FD98-4CF8-8058-5E1E28A4F7E8}" type="presOf" srcId="{ED4ABD43-DDCE-4440-B189-B8BC99419A8C}" destId="{F4952754-BFC9-4911-B4D0-7A50D557351A}" srcOrd="0" destOrd="0" presId="urn:microsoft.com/office/officeart/2005/8/layout/vList2"/>
    <dgm:cxn modelId="{3DE9CDCC-39B1-4776-A172-C290216078E3}" type="presOf" srcId="{5F2F9BD6-F24E-4255-85FC-E2350396D805}" destId="{E1C3FBBC-EA1F-4BAD-A2D7-05E9F414FDC7}" srcOrd="0" destOrd="0" presId="urn:microsoft.com/office/officeart/2005/8/layout/vList2"/>
    <dgm:cxn modelId="{CF44E6D7-8243-4343-9257-F0185984D0A4}" type="presOf" srcId="{14A0F9A2-BA5E-473C-A26A-07D95F39FF2B}" destId="{50B73F1F-44EA-4F89-8398-75FE0BB22E10}" srcOrd="0" destOrd="0" presId="urn:microsoft.com/office/officeart/2005/8/layout/vList2"/>
    <dgm:cxn modelId="{22E6D2E9-025D-4FE7-ADBC-975B6274EA23}" srcId="{ED4ABD43-DDCE-4440-B189-B8BC99419A8C}" destId="{5F2F9BD6-F24E-4255-85FC-E2350396D805}" srcOrd="3" destOrd="0" parTransId="{01AAAC48-EC48-440E-A5E2-88572E88C756}" sibTransId="{1287D65E-3DAA-4426-89B8-BA3E376A4119}"/>
    <dgm:cxn modelId="{D69FD6EE-E9E5-43FF-86CA-09AFA75CB2C2}" type="presOf" srcId="{D32D8361-DF8C-48A0-8647-ACE46C5DA45A}" destId="{FD5606E7-7379-4F33-830F-006516F4DFDB}" srcOrd="0" destOrd="0" presId="urn:microsoft.com/office/officeart/2005/8/layout/vList2"/>
    <dgm:cxn modelId="{C3922EF1-C25D-4D0E-A360-802694E5B206}" srcId="{ED4ABD43-DDCE-4440-B189-B8BC99419A8C}" destId="{D32D8361-DF8C-48A0-8647-ACE46C5DA45A}" srcOrd="2" destOrd="0" parTransId="{47CA20CA-28BF-4089-8B81-7E9E84CA28B5}" sibTransId="{9BD60071-19A1-4A88-A60A-8FB6F147096F}"/>
    <dgm:cxn modelId="{721A12FC-6CA4-4E93-AE77-B928A1B14CE1}" srcId="{ED4ABD43-DDCE-4440-B189-B8BC99419A8C}" destId="{C616A960-C11D-48B4-BA4F-337251C61470}" srcOrd="8" destOrd="0" parTransId="{5B569C4F-E263-4D62-874B-1A2E3B1B9E32}" sibTransId="{ECA1C154-7A47-4D18-B8BB-6870073C2A59}"/>
    <dgm:cxn modelId="{8B043B42-CEA0-49E2-9182-57E5EE364CA8}" type="presParOf" srcId="{F4952754-BFC9-4911-B4D0-7A50D557351A}" destId="{5F526FD6-3C16-45F7-931B-D3253D84A49B}" srcOrd="0" destOrd="0" presId="urn:microsoft.com/office/officeart/2005/8/layout/vList2"/>
    <dgm:cxn modelId="{E323F154-53F9-418D-A3F5-5E1AE7022CBD}" type="presParOf" srcId="{F4952754-BFC9-4911-B4D0-7A50D557351A}" destId="{70B8B93F-D17B-4288-8E8A-4E14EC79485F}" srcOrd="1" destOrd="0" presId="urn:microsoft.com/office/officeart/2005/8/layout/vList2"/>
    <dgm:cxn modelId="{5F65A232-A817-4763-B0A7-CC42A8ACC53E}" type="presParOf" srcId="{F4952754-BFC9-4911-B4D0-7A50D557351A}" destId="{50B73F1F-44EA-4F89-8398-75FE0BB22E10}" srcOrd="2" destOrd="0" presId="urn:microsoft.com/office/officeart/2005/8/layout/vList2"/>
    <dgm:cxn modelId="{8BE3ED8B-3534-4A6B-B916-5ED1F6C5D12C}" type="presParOf" srcId="{F4952754-BFC9-4911-B4D0-7A50D557351A}" destId="{D34EC1E6-6907-428C-9D5F-AF01907B324C}" srcOrd="3" destOrd="0" presId="urn:microsoft.com/office/officeart/2005/8/layout/vList2"/>
    <dgm:cxn modelId="{88AF628F-6B21-43E3-8510-139C0A68CDDB}" type="presParOf" srcId="{F4952754-BFC9-4911-B4D0-7A50D557351A}" destId="{FD5606E7-7379-4F33-830F-006516F4DFDB}" srcOrd="4" destOrd="0" presId="urn:microsoft.com/office/officeart/2005/8/layout/vList2"/>
    <dgm:cxn modelId="{E81F9F7F-3008-4FFD-A34C-B24836CE2789}" type="presParOf" srcId="{F4952754-BFC9-4911-B4D0-7A50D557351A}" destId="{A3A91749-FBEB-4655-AFB4-033C7D74953C}" srcOrd="5" destOrd="0" presId="urn:microsoft.com/office/officeart/2005/8/layout/vList2"/>
    <dgm:cxn modelId="{BF26FA07-DB15-4003-9CD7-79A48440DF7F}" type="presParOf" srcId="{F4952754-BFC9-4911-B4D0-7A50D557351A}" destId="{E1C3FBBC-EA1F-4BAD-A2D7-05E9F414FDC7}" srcOrd="6" destOrd="0" presId="urn:microsoft.com/office/officeart/2005/8/layout/vList2"/>
    <dgm:cxn modelId="{AACCE79E-EBA4-4FA5-BA95-EC663504198B}" type="presParOf" srcId="{F4952754-BFC9-4911-B4D0-7A50D557351A}" destId="{337E9823-B5CB-43BA-8F01-2BD744123BF2}" srcOrd="7" destOrd="0" presId="urn:microsoft.com/office/officeart/2005/8/layout/vList2"/>
    <dgm:cxn modelId="{BF7FE5B6-8D0C-4465-817E-22AFA0D783BE}" type="presParOf" srcId="{F4952754-BFC9-4911-B4D0-7A50D557351A}" destId="{0EB52B51-C389-4A36-BC05-864D852DF5FC}" srcOrd="8" destOrd="0" presId="urn:microsoft.com/office/officeart/2005/8/layout/vList2"/>
    <dgm:cxn modelId="{1732B9D0-DF1E-4D2F-B6A5-8A2A406CF108}" type="presParOf" srcId="{F4952754-BFC9-4911-B4D0-7A50D557351A}" destId="{2D368CEE-5AD2-460D-8088-9CA2F6997FA2}" srcOrd="9" destOrd="0" presId="urn:microsoft.com/office/officeart/2005/8/layout/vList2"/>
    <dgm:cxn modelId="{A1CFA4E7-48B9-4DF3-AB07-876A25DFF48E}" type="presParOf" srcId="{F4952754-BFC9-4911-B4D0-7A50D557351A}" destId="{4E4C0534-037E-45A5-BADC-B7406AF7B1C3}" srcOrd="10" destOrd="0" presId="urn:microsoft.com/office/officeart/2005/8/layout/vList2"/>
    <dgm:cxn modelId="{8C621798-C527-41B7-8DE5-808CFCC784AE}" type="presParOf" srcId="{F4952754-BFC9-4911-B4D0-7A50D557351A}" destId="{C039C7DD-0E08-48C1-A6EC-72D7F9D82548}" srcOrd="11" destOrd="0" presId="urn:microsoft.com/office/officeart/2005/8/layout/vList2"/>
    <dgm:cxn modelId="{743FB023-60A0-4E8B-9CEB-11616042108F}" type="presParOf" srcId="{F4952754-BFC9-4911-B4D0-7A50D557351A}" destId="{EC4E5CDF-5396-4684-B963-9679F944855F}" srcOrd="12" destOrd="0" presId="urn:microsoft.com/office/officeart/2005/8/layout/vList2"/>
    <dgm:cxn modelId="{B00F3713-C00F-423A-A166-9EAAC35C07CE}" type="presParOf" srcId="{F4952754-BFC9-4911-B4D0-7A50D557351A}" destId="{E4EC7552-37A5-4003-B7CF-035B11AA3598}" srcOrd="13" destOrd="0" presId="urn:microsoft.com/office/officeart/2005/8/layout/vList2"/>
    <dgm:cxn modelId="{EBB0F5D1-9D26-4409-8C19-2CA476CCC5AA}" type="presParOf" srcId="{F4952754-BFC9-4911-B4D0-7A50D557351A}" destId="{21855FA6-2BB4-499A-A8A9-433441C6C9C7}" srcOrd="14" destOrd="0" presId="urn:microsoft.com/office/officeart/2005/8/layout/vList2"/>
    <dgm:cxn modelId="{889C6B30-6315-4929-B518-6E19398F2A1F}" type="presParOf" srcId="{F4952754-BFC9-4911-B4D0-7A50D557351A}" destId="{66723406-0C3F-437D-80D6-FA1C8062C148}" srcOrd="15" destOrd="0" presId="urn:microsoft.com/office/officeart/2005/8/layout/vList2"/>
    <dgm:cxn modelId="{A203E2E4-4A48-48D9-B283-388C7A09B2A3}" type="presParOf" srcId="{F4952754-BFC9-4911-B4D0-7A50D557351A}" destId="{08F040B1-2CBD-4876-96AA-45AF94F7D94E}" srcOrd="1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4A67B12B-F27E-4426-AA87-6EFCC170D45C}">
      <dgm:prSet phldrT="[文本]" custT="1"/>
      <dgm:spPr/>
      <dgm:t>
        <a:bodyPr/>
        <a:lstStyle/>
        <a:p>
          <a:r>
            <a:rPr lang="zh-CN" altLang="en-US" sz="1400" b="1" dirty="0">
              <a:solidFill>
                <a:schemeClr val="tx1"/>
              </a:solidFill>
              <a:highlight>
                <a:srgbClr val="FFFF00"/>
              </a:highlight>
              <a:latin typeface="微软雅黑" panose="020B0503020204020204" pitchFamily="34" charset="-122"/>
              <a:ea typeface="微软雅黑" panose="020B0503020204020204" pitchFamily="34" charset="-122"/>
            </a:rPr>
            <a:t>全文检索搜索引擎</a:t>
          </a:r>
        </a:p>
      </dgm:t>
    </dgm:pt>
    <dgm:pt modelId="{5BEE43B6-8E9E-4602-B465-7FED085A3832}" type="parTrans" cxnId="{3A5BA247-2FD8-41F6-A0FA-D35ED6ABC45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9E4612-C65B-423F-A46B-414E3F4A9548}" type="sibTrans" cxnId="{3A5BA247-2FD8-41F6-A0FA-D35ED6ABC45F}">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dirty="0">
              <a:latin typeface="微软雅黑" panose="020B0503020204020204" pitchFamily="34" charset="-122"/>
              <a:ea typeface="微软雅黑" panose="020B0503020204020204" pitchFamily="34" charset="-122"/>
            </a:rPr>
            <a:t>一种纯技术型的检索工具。</a:t>
          </a:r>
        </a:p>
      </dgm:t>
    </dgm:pt>
    <dgm:pt modelId="{A57610D4-26F8-4604-B151-839C46B7150C}" type="parTrans" cxnId="{6A610126-55CF-4099-BACD-73F722678D52}">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0900141-49FB-4448-A9A4-DDD3FD4ED3EE}" type="sibTrans" cxnId="{6A610126-55CF-4099-BACD-73F722678D52}">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F607C1B-80D0-4E37-9532-5DEF8092D95F}">
      <dgm:prSet phldrT="[文本]" custT="1"/>
      <dgm:spPr/>
      <dgm:t>
        <a:bodyPr/>
        <a:lstStyle/>
        <a:p>
          <a:r>
            <a:rPr lang="zh-CN" altLang="en-US" sz="1400" b="1" dirty="0">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p>
      </dgm:t>
    </dgm:pt>
    <dgm:pt modelId="{129CC8E6-B479-4A11-9A5C-F331665CEF58}" type="parTrans" cxnId="{D5DEB2F0-BE16-44F9-82A1-3A74268E7224}">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389A9B5-441E-42CC-BEA3-51AA982AD6CE}" type="sibTrans" cxnId="{D5DEB2F0-BE16-44F9-82A1-3A74268E7224}">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1C60E65-B106-4C3D-AAF8-FC1FD0A02A4B}">
      <dgm:prSet phldrT="[文本]" custT="1"/>
      <dgm:spPr/>
      <dgm:t>
        <a:bodyPr/>
        <a:lstStyle/>
        <a:p>
          <a:r>
            <a:rPr lang="zh-CN" altLang="en-US" sz="1400" b="1" dirty="0">
              <a:latin typeface="微软雅黑" panose="020B0503020204020204" pitchFamily="34" charset="-122"/>
              <a:ea typeface="微软雅黑" panose="020B0503020204020204" pitchFamily="34" charset="-122"/>
            </a:rPr>
            <a:t>通过搜索软件（例如一种叫做“蜘蛛”或“网络机器人”的 </a:t>
          </a:r>
          <a:r>
            <a:rPr lang="en-US" altLang="en-US" sz="1400" b="1" dirty="0">
              <a:latin typeface="微软雅黑" panose="020B0503020204020204" pitchFamily="34" charset="-122"/>
              <a:ea typeface="微软雅黑" panose="020B0503020204020204" pitchFamily="34" charset="-122"/>
            </a:rPr>
            <a:t>Spider </a:t>
          </a:r>
          <a:r>
            <a:rPr lang="zh-CN" altLang="en-US" sz="1400" b="1" dirty="0">
              <a:latin typeface="微软雅黑" panose="020B0503020204020204" pitchFamily="34" charset="-122"/>
              <a:ea typeface="微软雅黑" panose="020B0503020204020204" pitchFamily="34" charset="-122"/>
            </a:rPr>
            <a:t>程序）到互联网上的各网站收集信息。</a:t>
          </a:r>
        </a:p>
      </dgm:t>
    </dgm:pt>
    <dgm:pt modelId="{C254F781-548E-478F-BAF2-126F5E2F3D7A}" type="parTrans" cxnId="{6514846C-E978-4C49-8BB5-1C4EF2E4803B}">
      <dgm:prSet/>
      <dgm:spPr/>
      <dgm:t>
        <a:bodyPr/>
        <a:lstStyle/>
        <a:p>
          <a:endParaRPr lang="zh-CN" altLang="en-US" sz="1400"/>
        </a:p>
      </dgm:t>
    </dgm:pt>
    <dgm:pt modelId="{8AD171DB-28FE-4ACB-B0C1-15945DC4A62A}" type="sibTrans" cxnId="{6514846C-E978-4C49-8BB5-1C4EF2E4803B}">
      <dgm:prSet/>
      <dgm:spPr/>
      <dgm:t>
        <a:bodyPr/>
        <a:lstStyle/>
        <a:p>
          <a:endParaRPr lang="zh-CN" altLang="en-US" sz="1400"/>
        </a:p>
      </dgm:t>
    </dgm:pt>
    <dgm:pt modelId="{328CB23F-D8F3-4B6A-B4B9-F64BFB9CA47F}">
      <dgm:prSet phldrT="[文本]" custT="1"/>
      <dgm:spPr/>
      <dgm:t>
        <a:bodyPr/>
        <a:lstStyle/>
        <a:p>
          <a:r>
            <a:rPr lang="zh-CN" altLang="en-US" sz="1400" b="1" dirty="0">
              <a:highlight>
                <a:srgbClr val="FFFF00"/>
              </a:highlight>
              <a:latin typeface="微软雅黑" panose="020B0503020204020204" pitchFamily="34" charset="-122"/>
              <a:ea typeface="微软雅黑" panose="020B0503020204020204" pitchFamily="34" charset="-122"/>
            </a:rPr>
            <a:t>用户在查询时只要输入关键词，从已经建立的索引数据库里查询</a:t>
          </a:r>
          <a:r>
            <a:rPr lang="zh-CN" altLang="en-US" sz="1400" b="1" dirty="0">
              <a:latin typeface="微软雅黑" panose="020B0503020204020204" pitchFamily="34" charset="-122"/>
              <a:ea typeface="微软雅黑" panose="020B0503020204020204" pitchFamily="34" charset="-122"/>
            </a:rPr>
            <a:t>（非实时）。</a:t>
          </a:r>
        </a:p>
      </dgm:t>
    </dgm:pt>
    <dgm:pt modelId="{77010FA5-DC68-4DEB-93B3-B53DAC9E6ABC}" type="parTrans" cxnId="{021637B2-6265-427F-8249-22D6800BF362}">
      <dgm:prSet/>
      <dgm:spPr/>
      <dgm:t>
        <a:bodyPr/>
        <a:lstStyle/>
        <a:p>
          <a:endParaRPr lang="zh-CN" altLang="en-US" sz="1400"/>
        </a:p>
      </dgm:t>
    </dgm:pt>
    <dgm:pt modelId="{118F7781-722A-4376-B3E0-5E4C4F274A72}" type="sibTrans" cxnId="{021637B2-6265-427F-8249-22D6800BF362}">
      <dgm:prSet/>
      <dgm:spPr/>
      <dgm:t>
        <a:bodyPr/>
        <a:lstStyle/>
        <a:p>
          <a:endParaRPr lang="zh-CN" altLang="en-US" sz="1400"/>
        </a:p>
      </dgm:t>
    </dgm:pt>
    <dgm:pt modelId="{050C4E28-BA13-4764-8595-89E113C63E70}">
      <dgm:prSet phldrT="[文本]" custT="1"/>
      <dgm:spPr/>
      <dgm:t>
        <a:bodyPr/>
        <a:lstStyle/>
        <a:p>
          <a:r>
            <a:rPr lang="zh-CN" altLang="en-US" sz="1400" b="1" dirty="0">
              <a:highlight>
                <a:srgbClr val="FFFF00"/>
              </a:highlight>
              <a:latin typeface="微软雅黑" panose="020B0503020204020204" pitchFamily="34" charset="-122"/>
              <a:ea typeface="微软雅黑" panose="020B0503020204020204" pitchFamily="34" charset="-122"/>
            </a:rPr>
            <a:t>需要定期更新维护数据库</a:t>
          </a:r>
          <a:r>
            <a:rPr lang="zh-CN" altLang="en-US" sz="1400" b="1" dirty="0">
              <a:latin typeface="微软雅黑" panose="020B0503020204020204" pitchFamily="34" charset="-122"/>
              <a:ea typeface="微软雅黑" panose="020B0503020204020204" pitchFamily="34" charset="-122"/>
            </a:rPr>
            <a:t>。</a:t>
          </a:r>
        </a:p>
      </dgm:t>
    </dgm:pt>
    <dgm:pt modelId="{9464634E-D6F1-4FE9-B86E-6F1B48EA7169}" type="parTrans" cxnId="{4554409D-A1B1-4700-B815-DC22BB410C36}">
      <dgm:prSet/>
      <dgm:spPr/>
      <dgm:t>
        <a:bodyPr/>
        <a:lstStyle/>
        <a:p>
          <a:endParaRPr lang="zh-CN" altLang="en-US"/>
        </a:p>
      </dgm:t>
    </dgm:pt>
    <dgm:pt modelId="{9AB1F0C5-8DF9-4CAC-BABA-22C83EBF2A4D}" type="sibTrans" cxnId="{4554409D-A1B1-4700-B815-DC22BB410C36}">
      <dgm:prSet/>
      <dgm:spPr/>
      <dgm:t>
        <a:bodyPr/>
        <a:lstStyle/>
        <a:p>
          <a:endParaRPr lang="zh-CN" altLang="en-US"/>
        </a:p>
      </dgm:t>
    </dgm:pt>
    <dgm:pt modelId="{5449751D-EB9D-4373-893A-D2F5888DB8FC}">
      <dgm:prSet phldrT="[文本]" custT="1"/>
      <dgm:spPr/>
      <dgm:t>
        <a:bodyPr/>
        <a:lstStyle/>
        <a:p>
          <a:r>
            <a:rPr lang="zh-CN" altLang="en-US" sz="1400" b="1" dirty="0">
              <a:solidFill>
                <a:schemeClr val="tx1"/>
              </a:solidFill>
              <a:highlight>
                <a:srgbClr val="FFFF00"/>
              </a:highlight>
              <a:latin typeface="微软雅黑" panose="020B0503020204020204" pitchFamily="34" charset="-122"/>
              <a:ea typeface="微软雅黑" panose="020B0503020204020204" pitchFamily="34" charset="-122"/>
            </a:rPr>
            <a:t>分类目录搜索引擎</a:t>
          </a:r>
        </a:p>
      </dgm:t>
    </dgm:pt>
    <dgm:pt modelId="{328CCA76-77A8-4316-A94F-1D0317492727}" type="parTrans" cxnId="{6D0F46F1-4AC4-4736-B900-19ECDC23E479}">
      <dgm:prSet/>
      <dgm:spPr/>
      <dgm:t>
        <a:bodyPr/>
        <a:lstStyle/>
        <a:p>
          <a:endParaRPr lang="zh-CN" altLang="en-US"/>
        </a:p>
      </dgm:t>
    </dgm:pt>
    <dgm:pt modelId="{F6B66E90-AD5B-457C-AAB4-88F3EC4A38ED}" type="sibTrans" cxnId="{6D0F46F1-4AC4-4736-B900-19ECDC23E479}">
      <dgm:prSet/>
      <dgm:spPr/>
      <dgm:t>
        <a:bodyPr/>
        <a:lstStyle/>
        <a:p>
          <a:endParaRPr lang="zh-CN" altLang="en-US"/>
        </a:p>
      </dgm:t>
    </dgm:pt>
    <dgm:pt modelId="{CE71DC2E-5525-4979-B6CC-33CC9C5CCDE8}">
      <dgm:prSet custT="1"/>
      <dgm:spPr/>
      <dgm:t>
        <a:bodyPr/>
        <a:lstStyle/>
        <a:p>
          <a:r>
            <a:rPr lang="zh-CN" altLang="en-US" sz="1400" b="1" dirty="0">
              <a:latin typeface="微软雅黑" panose="020B0503020204020204" pitchFamily="34" charset="-122"/>
              <a:ea typeface="微软雅黑" panose="020B0503020204020204" pitchFamily="34" charset="-122"/>
            </a:rPr>
            <a:t>分类目录搜索也叫做分类网站搜索。 </a:t>
          </a:r>
        </a:p>
      </dgm:t>
    </dgm:pt>
    <dgm:pt modelId="{F8466C81-619C-4EDF-AD7B-C61C08441610}" type="parTrans" cxnId="{F5AAB865-104E-411B-9B3C-BEE8F1D0D046}">
      <dgm:prSet/>
      <dgm:spPr/>
      <dgm:t>
        <a:bodyPr/>
        <a:lstStyle/>
        <a:p>
          <a:endParaRPr lang="zh-CN" altLang="en-US"/>
        </a:p>
      </dgm:t>
    </dgm:pt>
    <dgm:pt modelId="{5B8DBDFD-DE8C-4AEF-97F4-5037A2D9F0E8}" type="sibTrans" cxnId="{F5AAB865-104E-411B-9B3C-BEE8F1D0D046}">
      <dgm:prSet/>
      <dgm:spPr/>
      <dgm:t>
        <a:bodyPr/>
        <a:lstStyle/>
        <a:p>
          <a:endParaRPr lang="zh-CN" altLang="en-US"/>
        </a:p>
      </dgm:t>
    </dgm:pt>
    <dgm:pt modelId="{03B7B585-4274-466B-9BFA-67A3A8D9458C}">
      <dgm:prSet custT="1"/>
      <dgm:spPr/>
      <dgm:t>
        <a:bodyPr/>
        <a:lstStyle/>
        <a:p>
          <a:r>
            <a:rPr lang="zh-CN" altLang="en-US" sz="1400" b="1" dirty="0">
              <a:highlight>
                <a:srgbClr val="FFFF00"/>
              </a:highlight>
              <a:latin typeface="微软雅黑" panose="020B0503020204020204" pitchFamily="34" charset="-122"/>
              <a:ea typeface="微软雅黑" panose="020B0503020204020204" pitchFamily="34" charset="-122"/>
            </a:rPr>
            <a:t>查询时只需要按照分类，不需要使用关键词，查询的准确性较好</a:t>
          </a:r>
          <a:r>
            <a:rPr lang="zh-CN" altLang="en-US" sz="1400" b="1" dirty="0">
              <a:latin typeface="微软雅黑" panose="020B0503020204020204" pitchFamily="34" charset="-122"/>
              <a:ea typeface="微软雅黑" panose="020B0503020204020204" pitchFamily="34" charset="-122"/>
            </a:rPr>
            <a:t>。</a:t>
          </a:r>
        </a:p>
      </dgm:t>
    </dgm:pt>
    <dgm:pt modelId="{A952DB3C-805E-4A71-8677-121621D53B56}" type="parTrans" cxnId="{AD1B10FF-C036-4E2D-81C6-4650BD7AE0A2}">
      <dgm:prSet/>
      <dgm:spPr/>
      <dgm:t>
        <a:bodyPr/>
        <a:lstStyle/>
        <a:p>
          <a:endParaRPr lang="zh-CN" altLang="en-US"/>
        </a:p>
      </dgm:t>
    </dgm:pt>
    <dgm:pt modelId="{760ED4A1-D3FB-4E3E-9FAF-B1345895BD7A}" type="sibTrans" cxnId="{AD1B10FF-C036-4E2D-81C6-4650BD7AE0A2}">
      <dgm:prSet/>
      <dgm:spPr/>
      <dgm:t>
        <a:bodyPr/>
        <a:lstStyle/>
        <a:p>
          <a:endParaRPr lang="zh-CN" altLang="en-US"/>
        </a:p>
      </dgm:t>
    </dgm:pt>
    <dgm:pt modelId="{6339AE21-B307-4792-AF9D-64765A81105C}">
      <dgm:prSet custT="1"/>
      <dgm:spPr/>
      <dgm:t>
        <a:bodyPr/>
        <a:lstStyle/>
        <a:p>
          <a:r>
            <a:rPr lang="zh-CN" altLang="en-US" sz="1400" b="1" dirty="0">
              <a:highlight>
                <a:srgbClr val="FFFF00"/>
              </a:highlight>
              <a:latin typeface="微软雅黑" panose="020B0503020204020204" pitchFamily="34" charset="-122"/>
              <a:ea typeface="微软雅黑" panose="020B0503020204020204" pitchFamily="34" charset="-122"/>
            </a:rPr>
            <a:t>查询的结果不是具体的页面，而是被收录网站主页的 </a:t>
          </a:r>
          <a:r>
            <a:rPr lang="en-US" altLang="en-US" sz="1400" b="1" dirty="0">
              <a:highlight>
                <a:srgbClr val="FFFF00"/>
              </a:highlight>
              <a:latin typeface="微软雅黑" panose="020B0503020204020204" pitchFamily="34" charset="-122"/>
              <a:ea typeface="微软雅黑" panose="020B0503020204020204" pitchFamily="34" charset="-122"/>
            </a:rPr>
            <a:t>URL </a:t>
          </a:r>
          <a:r>
            <a:rPr lang="zh-CN" altLang="en-US" sz="1400" b="1" dirty="0">
              <a:highlight>
                <a:srgbClr val="FFFF00"/>
              </a:highlight>
              <a:latin typeface="微软雅黑" panose="020B0503020204020204" pitchFamily="34" charset="-122"/>
              <a:ea typeface="微软雅黑" panose="020B0503020204020204" pitchFamily="34" charset="-122"/>
            </a:rPr>
            <a:t>地址</a:t>
          </a:r>
          <a:r>
            <a:rPr lang="zh-CN" altLang="en-US" sz="1400" b="1" dirty="0">
              <a:latin typeface="微软雅黑" panose="020B0503020204020204" pitchFamily="34" charset="-122"/>
              <a:ea typeface="微软雅黑" panose="020B0503020204020204" pitchFamily="34" charset="-122"/>
            </a:rPr>
            <a:t>。</a:t>
          </a:r>
        </a:p>
      </dgm:t>
    </dgm:pt>
    <dgm:pt modelId="{9567897E-214A-48CD-89B6-83D5184D2F2A}" type="parTrans" cxnId="{F5A8529D-26B9-45B9-A973-9E127E73CE38}">
      <dgm:prSet/>
      <dgm:spPr/>
      <dgm:t>
        <a:bodyPr/>
        <a:lstStyle/>
        <a:p>
          <a:endParaRPr lang="zh-CN" altLang="en-US"/>
        </a:p>
      </dgm:t>
    </dgm:pt>
    <dgm:pt modelId="{569B0100-1CBF-4344-9FD1-DFB338417209}" type="sibTrans" cxnId="{F5A8529D-26B9-45B9-A973-9E127E73CE38}">
      <dgm:prSet/>
      <dgm:spPr/>
      <dgm:t>
        <a:bodyPr/>
        <a:lstStyle/>
        <a:p>
          <a:endParaRPr lang="zh-CN" altLang="en-US"/>
        </a:p>
      </dgm:t>
    </dgm:pt>
    <dgm:pt modelId="{C0D8ADDD-B14C-4A4B-8F66-FA1E12F27746}">
      <dgm:prSet phldrT="[文本]" custT="1"/>
      <dgm:spPr/>
      <dgm:t>
        <a:bodyPr/>
        <a:lstStyle/>
        <a:p>
          <a:r>
            <a:rPr lang="zh-CN" altLang="en-US" sz="1400" b="1" dirty="0">
              <a:highlight>
                <a:srgbClr val="FFFF00"/>
              </a:highlight>
              <a:latin typeface="微软雅黑" panose="020B0503020204020204" pitchFamily="34" charset="-122"/>
              <a:ea typeface="微软雅黑" panose="020B0503020204020204" pitchFamily="34" charset="-122"/>
            </a:rPr>
            <a:t>按照一定的规则建立一个很大的在线索引数据库</a:t>
          </a:r>
          <a:r>
            <a:rPr lang="zh-CN" altLang="en-US" sz="1400" b="1" dirty="0">
              <a:latin typeface="微软雅黑" panose="020B0503020204020204" pitchFamily="34" charset="-122"/>
              <a:ea typeface="微软雅黑" panose="020B0503020204020204" pitchFamily="34" charset="-122"/>
            </a:rPr>
            <a:t>。</a:t>
          </a:r>
        </a:p>
      </dgm:t>
    </dgm:pt>
    <dgm:pt modelId="{7673687D-617F-4DD5-A0DC-4CE6C4420FBA}" type="parTrans" cxnId="{1995B44A-319A-4391-8AC4-57E9F719C2EF}">
      <dgm:prSet/>
      <dgm:spPr/>
      <dgm:t>
        <a:bodyPr/>
        <a:lstStyle/>
        <a:p>
          <a:endParaRPr lang="zh-CN" altLang="en-US"/>
        </a:p>
      </dgm:t>
    </dgm:pt>
    <dgm:pt modelId="{B4C73580-2708-4C61-A24E-944871042CDA}" type="sibTrans" cxnId="{1995B44A-319A-4391-8AC4-57E9F719C2EF}">
      <dgm:prSet/>
      <dgm:spPr/>
      <dgm:t>
        <a:bodyPr/>
        <a:lstStyle/>
        <a:p>
          <a:endParaRPr lang="zh-CN" altLang="en-US"/>
        </a:p>
      </dgm:t>
    </dgm:pt>
    <dgm:pt modelId="{18114A28-018D-44D7-AF7A-D60D965430EC}" type="pres">
      <dgm:prSet presAssocID="{640FA84E-D24C-4A71-8726-ABEBB11DBFA7}" presName="Name0" presStyleCnt="0">
        <dgm:presLayoutVars>
          <dgm:dir/>
          <dgm:animLvl val="lvl"/>
          <dgm:resizeHandles val="exact"/>
        </dgm:presLayoutVars>
      </dgm:prSet>
      <dgm:spPr/>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pt>
    <dgm:pt modelId="{4E1C6945-3361-4332-9057-7162DBC9BE74}" type="pres">
      <dgm:prSet presAssocID="{4A67B12B-F27E-4426-AA87-6EFCC170D45C}" presName="desTx" presStyleLbl="alignAccFollowNode1" presStyleIdx="0" presStyleCnt="2">
        <dgm:presLayoutVars>
          <dgm:bulletEnabled val="1"/>
        </dgm:presLayoutVars>
      </dgm:prSet>
      <dgm:spPr/>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pt>
    <dgm:pt modelId="{56308F05-9C6F-4168-94D1-139E66E21E29}" type="pres">
      <dgm:prSet presAssocID="{5449751D-EB9D-4373-893A-D2F5888DB8FC}" presName="desTx" presStyleLbl="alignAccFollowNode1" presStyleIdx="1" presStyleCnt="2">
        <dgm:presLayoutVars>
          <dgm:bulletEnabled val="1"/>
        </dgm:presLayoutVars>
      </dgm:prSet>
      <dgm:spPr/>
    </dgm:pt>
  </dgm:ptLst>
  <dgm:cxnLst>
    <dgm:cxn modelId="{9EC04E04-7BBD-42A1-AFF5-CDFF6F65FF51}" type="presOf" srcId="{4A67B12B-F27E-4426-AA87-6EFCC170D45C}" destId="{73F60847-C5CB-4E1F-92CA-969FDFBB52DB}" srcOrd="0" destOrd="0" presId="urn:microsoft.com/office/officeart/2005/8/layout/hList1"/>
    <dgm:cxn modelId="{EF3E2D13-5487-44EF-8C7D-630C24300665}" type="presOf" srcId="{6339AE21-B307-4792-AF9D-64765A81105C}" destId="{56308F05-9C6F-4168-94D1-139E66E21E29}" srcOrd="0" destOrd="3" presId="urn:microsoft.com/office/officeart/2005/8/layout/hList1"/>
    <dgm:cxn modelId="{7EF01D21-D98D-474C-8C7F-420E03D07E1A}" type="presOf" srcId="{050C4E28-BA13-4764-8595-89E113C63E70}" destId="{4E1C6945-3361-4332-9057-7162DBC9BE74}" srcOrd="0" destOrd="4"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F2EC2B2A-3CA3-4E1B-A7CD-A463B4F86B4B}" type="presOf" srcId="{03B7B585-4274-466B-9BFA-67A3A8D9458C}" destId="{56308F05-9C6F-4168-94D1-139E66E21E29}" srcOrd="0" destOrd="2" presId="urn:microsoft.com/office/officeart/2005/8/layout/hList1"/>
    <dgm:cxn modelId="{F5AAB865-104E-411B-9B3C-BEE8F1D0D046}" srcId="{5449751D-EB9D-4373-893A-D2F5888DB8FC}" destId="{CE71DC2E-5525-4979-B6CC-33CC9C5CCDE8}" srcOrd="1" destOrd="0" parTransId="{F8466C81-619C-4EDF-AD7B-C61C08441610}" sibTransId="{5B8DBDFD-DE8C-4AEF-97F4-5037A2D9F0E8}"/>
    <dgm:cxn modelId="{3A5BA247-2FD8-41F6-A0FA-D35ED6ABC45F}" srcId="{640FA84E-D24C-4A71-8726-ABEBB11DBFA7}" destId="{4A67B12B-F27E-4426-AA87-6EFCC170D45C}" srcOrd="0" destOrd="0" parTransId="{5BEE43B6-8E9E-4602-B465-7FED085A3832}" sibTransId="{D99E4612-C65B-423F-A46B-414E3F4A9548}"/>
    <dgm:cxn modelId="{1995B44A-319A-4391-8AC4-57E9F719C2EF}" srcId="{4A67B12B-F27E-4426-AA87-6EFCC170D45C}" destId="{C0D8ADDD-B14C-4A4B-8F66-FA1E12F27746}" srcOrd="2" destOrd="0" parTransId="{7673687D-617F-4DD5-A0DC-4CE6C4420FBA}" sibTransId="{B4C73580-2708-4C61-A24E-944871042CDA}"/>
    <dgm:cxn modelId="{6514846C-E978-4C49-8BB5-1C4EF2E4803B}" srcId="{4A67B12B-F27E-4426-AA87-6EFCC170D45C}" destId="{61C60E65-B106-4C3D-AAF8-FC1FD0A02A4B}" srcOrd="1" destOrd="0" parTransId="{C254F781-548E-478F-BAF2-126F5E2F3D7A}" sibTransId="{8AD171DB-28FE-4ACB-B0C1-15945DC4A62A}"/>
    <dgm:cxn modelId="{B96D9B56-5617-48F7-B19C-343E3F206AA8}" type="presOf" srcId="{5449751D-EB9D-4373-893A-D2F5888DB8FC}" destId="{68DA0B6D-3EBF-4324-92AB-1CC040E6E5B2}" srcOrd="0" destOrd="0" presId="urn:microsoft.com/office/officeart/2005/8/layout/hList1"/>
    <dgm:cxn modelId="{4F82438A-4352-41EB-A568-354AB46CCDED}" type="presOf" srcId="{61C60E65-B106-4C3D-AAF8-FC1FD0A02A4B}" destId="{4E1C6945-3361-4332-9057-7162DBC9BE74}" srcOrd="0" destOrd="1" presId="urn:microsoft.com/office/officeart/2005/8/layout/hList1"/>
    <dgm:cxn modelId="{55B80895-AEA4-4B34-A2C3-3A99CBE000CA}" type="presOf" srcId="{09A0DAAE-BBFE-4AB5-AD9D-1D5FFFFCD3E3}" destId="{4E1C6945-3361-4332-9057-7162DBC9BE74}" srcOrd="0" destOrd="0" presId="urn:microsoft.com/office/officeart/2005/8/layout/hList1"/>
    <dgm:cxn modelId="{04A54596-543B-4F6D-9EE7-19A93944811E}" type="presOf" srcId="{328CB23F-D8F3-4B6A-B4B9-F64BFB9CA47F}" destId="{4E1C6945-3361-4332-9057-7162DBC9BE74}" srcOrd="0" destOrd="3" presId="urn:microsoft.com/office/officeart/2005/8/layout/hList1"/>
    <dgm:cxn modelId="{4554409D-A1B1-4700-B815-DC22BB410C36}" srcId="{4A67B12B-F27E-4426-AA87-6EFCC170D45C}" destId="{050C4E28-BA13-4764-8595-89E113C63E70}" srcOrd="4" destOrd="0" parTransId="{9464634E-D6F1-4FE9-B86E-6F1B48EA7169}" sibTransId="{9AB1F0C5-8DF9-4CAC-BABA-22C83EBF2A4D}"/>
    <dgm:cxn modelId="{F5A8529D-26B9-45B9-A973-9E127E73CE38}" srcId="{5449751D-EB9D-4373-893A-D2F5888DB8FC}" destId="{6339AE21-B307-4792-AF9D-64765A81105C}" srcOrd="3" destOrd="0" parTransId="{9567897E-214A-48CD-89B6-83D5184D2F2A}" sibTransId="{569B0100-1CBF-4344-9FD1-DFB338417209}"/>
    <dgm:cxn modelId="{286FC2A6-8859-4845-86F0-9E9BE12E588A}" type="presOf" srcId="{9F607C1B-80D0-4E37-9532-5DEF8092D95F}" destId="{56308F05-9C6F-4168-94D1-139E66E21E29}" srcOrd="0" destOrd="0" presId="urn:microsoft.com/office/officeart/2005/8/layout/hList1"/>
    <dgm:cxn modelId="{66F6AFA8-7EFE-4A43-9A3D-72A92C3E3AC0}" type="presOf" srcId="{640FA84E-D24C-4A71-8726-ABEBB11DBFA7}" destId="{18114A28-018D-44D7-AF7A-D60D965430EC}" srcOrd="0" destOrd="0" presId="urn:microsoft.com/office/officeart/2005/8/layout/hList1"/>
    <dgm:cxn modelId="{021637B2-6265-427F-8249-22D6800BF362}" srcId="{4A67B12B-F27E-4426-AA87-6EFCC170D45C}" destId="{328CB23F-D8F3-4B6A-B4B9-F64BFB9CA47F}" srcOrd="3" destOrd="0" parTransId="{77010FA5-DC68-4DEB-93B3-B53DAC9E6ABC}" sibTransId="{118F7781-722A-4376-B3E0-5E4C4F274A72}"/>
    <dgm:cxn modelId="{6C8AC5BD-9059-4C85-B5FF-822C28A50264}" type="presOf" srcId="{CE71DC2E-5525-4979-B6CC-33CC9C5CCDE8}" destId="{56308F05-9C6F-4168-94D1-139E66E21E29}" srcOrd="0" destOrd="1" presId="urn:microsoft.com/office/officeart/2005/8/layout/hList1"/>
    <dgm:cxn modelId="{975272D0-8E49-407C-BF50-D9C808514A4D}" type="presOf" srcId="{C0D8ADDD-B14C-4A4B-8F66-FA1E12F27746}" destId="{4E1C6945-3361-4332-9057-7162DBC9BE74}" srcOrd="0" destOrd="2" presId="urn:microsoft.com/office/officeart/2005/8/layout/hList1"/>
    <dgm:cxn modelId="{D5DEB2F0-BE16-44F9-82A1-3A74268E7224}" srcId="{5449751D-EB9D-4373-893A-D2F5888DB8FC}" destId="{9F607C1B-80D0-4E37-9532-5DEF8092D95F}" srcOrd="0" destOrd="0" parTransId="{129CC8E6-B479-4A11-9A5C-F331665CEF58}" sibTransId="{E389A9B5-441E-42CC-BEA3-51AA982AD6CE}"/>
    <dgm:cxn modelId="{6D0F46F1-4AC4-4736-B900-19ECDC23E479}" srcId="{640FA84E-D24C-4A71-8726-ABEBB11DBFA7}" destId="{5449751D-EB9D-4373-893A-D2F5888DB8FC}" srcOrd="1" destOrd="0" parTransId="{328CCA76-77A8-4316-A94F-1D0317492727}" sibTransId="{F6B66E90-AD5B-457C-AAB4-88F3EC4A38ED}"/>
    <dgm:cxn modelId="{AD1B10FF-C036-4E2D-81C6-4650BD7AE0A2}" srcId="{5449751D-EB9D-4373-893A-D2F5888DB8FC}" destId="{03B7B585-4274-466B-9BFA-67A3A8D9458C}" srcOrd="2" destOrd="0" parTransId="{A952DB3C-805E-4A71-8677-121621D53B56}" sibTransId="{760ED4A1-D3FB-4E3E-9FAF-B1345895BD7A}"/>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4A67B12B-F27E-4426-AA87-6EFCC170D45C}">
      <dgm:prSet phldrT="[文本]" custT="1"/>
      <dgm:spPr/>
      <dgm:t>
        <a:bodyPr/>
        <a:lstStyle/>
        <a:p>
          <a:r>
            <a:rPr lang="en-US" altLang="en-US" sz="1800" b="1" dirty="0">
              <a:latin typeface="微软雅黑" panose="020B0503020204020204" pitchFamily="34" charset="-122"/>
              <a:ea typeface="微软雅黑" panose="020B0503020204020204" pitchFamily="34" charset="-122"/>
            </a:rPr>
            <a:t>1. </a:t>
          </a:r>
          <a:r>
            <a:rPr lang="zh-CN" altLang="en-US" sz="1800" b="1" dirty="0">
              <a:latin typeface="微软雅黑" panose="020B0503020204020204" pitchFamily="34" charset="-122"/>
              <a:ea typeface="微软雅黑" panose="020B0503020204020204" pitchFamily="34" charset="-122"/>
            </a:rPr>
            <a:t>博客</a:t>
          </a:r>
        </a:p>
      </dgm:t>
    </dgm:pt>
    <dgm:pt modelId="{5BEE43B6-8E9E-4602-B465-7FED085A3832}" type="parTrans" cxnId="{3A5BA247-2FD8-41F6-A0FA-D35ED6ABC45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99E4612-C65B-423F-A46B-414E3F4A9548}" type="sibTrans" cxnId="{3A5BA247-2FD8-41F6-A0FA-D35ED6ABC45F}">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a:latin typeface="微软雅黑" panose="020B0503020204020204" pitchFamily="34" charset="-122"/>
              <a:ea typeface="微软雅黑" panose="020B0503020204020204" pitchFamily="34" charset="-122"/>
            </a:rPr>
            <a:t>万维网日志 </a:t>
          </a:r>
          <a:r>
            <a:rPr lang="en-US" altLang="en-US" sz="1400" b="1">
              <a:latin typeface="微软雅黑" panose="020B0503020204020204" pitchFamily="34" charset="-122"/>
              <a:ea typeface="微软雅黑" panose="020B0503020204020204" pitchFamily="34" charset="-122"/>
            </a:rPr>
            <a:t>(weblog) </a:t>
          </a:r>
          <a:r>
            <a:rPr lang="zh-CN" altLang="en-US" sz="1400" b="1">
              <a:latin typeface="微软雅黑" panose="020B0503020204020204" pitchFamily="34" charset="-122"/>
              <a:ea typeface="微软雅黑" panose="020B0503020204020204" pitchFamily="34" charset="-122"/>
            </a:rPr>
            <a:t>的简称。</a:t>
          </a:r>
          <a:endParaRPr lang="zh-CN" altLang="en-US" sz="1400" b="1" dirty="0">
            <a:latin typeface="微软雅黑" panose="020B0503020204020204" pitchFamily="34" charset="-122"/>
            <a:ea typeface="微软雅黑" panose="020B0503020204020204" pitchFamily="34" charset="-122"/>
          </a:endParaRPr>
        </a:p>
      </dgm:t>
    </dgm:pt>
    <dgm:pt modelId="{A57610D4-26F8-4604-B151-839C46B7150C}" type="parTrans" cxnId="{6A610126-55CF-4099-BACD-73F722678D5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40900141-49FB-4448-A9A4-DDD3FD4ED3EE}" type="sibTrans" cxnId="{6A610126-55CF-4099-BACD-73F722678D52}">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449751D-EB9D-4373-893A-D2F5888DB8FC}">
      <dgm:prSet phldrT="[文本]" custT="1"/>
      <dgm:spPr/>
      <dgm:t>
        <a:bodyPr/>
        <a:lstStyle/>
        <a:p>
          <a:r>
            <a:rPr lang="en-US" altLang="en-US" sz="1800" b="1" dirty="0">
              <a:latin typeface="微软雅黑" panose="020B0503020204020204" pitchFamily="34" charset="-122"/>
              <a:ea typeface="微软雅黑" panose="020B0503020204020204" pitchFamily="34" charset="-122"/>
            </a:rPr>
            <a:t>2. </a:t>
          </a:r>
          <a:r>
            <a:rPr lang="zh-CN" altLang="en-US" sz="1800" b="1" dirty="0">
              <a:latin typeface="微软雅黑" panose="020B0503020204020204" pitchFamily="34" charset="-122"/>
              <a:ea typeface="微软雅黑" panose="020B0503020204020204" pitchFamily="34" charset="-122"/>
            </a:rPr>
            <a:t>微博</a:t>
          </a:r>
        </a:p>
      </dgm:t>
    </dgm:pt>
    <dgm:pt modelId="{328CCA76-77A8-4316-A94F-1D0317492727}" type="parTrans" cxnId="{6D0F46F1-4AC4-4736-B900-19ECDC23E479}">
      <dgm:prSet/>
      <dgm:spPr/>
      <dgm:t>
        <a:bodyPr/>
        <a:lstStyle/>
        <a:p>
          <a:endParaRPr lang="zh-CN" altLang="en-US" sz="1600"/>
        </a:p>
      </dgm:t>
    </dgm:pt>
    <dgm:pt modelId="{F6B66E90-AD5B-457C-AAB4-88F3EC4A38ED}" type="sibTrans" cxnId="{6D0F46F1-4AC4-4736-B900-19ECDC23E479}">
      <dgm:prSet/>
      <dgm:spPr/>
      <dgm:t>
        <a:bodyPr/>
        <a:lstStyle/>
        <a:p>
          <a:endParaRPr lang="zh-CN" altLang="en-US" sz="1600"/>
        </a:p>
      </dgm:t>
    </dgm:pt>
    <dgm:pt modelId="{64E223BE-32F1-486C-B4B4-A6AF93F9F36C}">
      <dgm:prSet custT="1"/>
      <dgm:spPr/>
      <dgm:t>
        <a:bodyPr/>
        <a:lstStyle/>
        <a:p>
          <a:r>
            <a:rPr lang="zh-CN" altLang="en-US" sz="1400" b="1" dirty="0">
              <a:latin typeface="微软雅黑" panose="020B0503020204020204" pitchFamily="34" charset="-122"/>
              <a:ea typeface="微软雅黑" panose="020B0503020204020204" pitchFamily="34" charset="-122"/>
            </a:rPr>
            <a:t>使网民不仅是互联网上内容的消费者，而且还是互联网上内容的生产者。</a:t>
          </a:r>
        </a:p>
      </dgm:t>
    </dgm:pt>
    <dgm:pt modelId="{5349B983-CC63-40F5-9599-070B484B227A}" type="parTrans" cxnId="{BDE0994F-91FE-4665-86F0-4A11BDE9BB10}">
      <dgm:prSet/>
      <dgm:spPr/>
      <dgm:t>
        <a:bodyPr/>
        <a:lstStyle/>
        <a:p>
          <a:endParaRPr lang="zh-CN" altLang="en-US" sz="1600"/>
        </a:p>
      </dgm:t>
    </dgm:pt>
    <dgm:pt modelId="{72B9F3AD-116E-4F82-9B5B-F5F26528299A}" type="sibTrans" cxnId="{BDE0994F-91FE-4665-86F0-4A11BDE9BB10}">
      <dgm:prSet/>
      <dgm:spPr/>
      <dgm:t>
        <a:bodyPr/>
        <a:lstStyle/>
        <a:p>
          <a:endParaRPr lang="zh-CN" altLang="en-US" sz="1600"/>
        </a:p>
      </dgm:t>
    </dgm:pt>
    <dgm:pt modelId="{A63C9B60-172B-4DC9-9A5C-1AEAC4875897}">
      <dgm:prSet phldrT="[文本]" custT="1"/>
      <dgm:spPr/>
      <dgm:t>
        <a:bodyPr/>
        <a:lstStyle/>
        <a:p>
          <a:r>
            <a:rPr lang="zh-CN" altLang="en-US" sz="1400" b="1" dirty="0">
              <a:latin typeface="微软雅黑" panose="020B0503020204020204" pitchFamily="34" charset="-122"/>
              <a:ea typeface="微软雅黑" panose="020B0503020204020204" pitchFamily="34" charset="-122"/>
            </a:rPr>
            <a:t>微型博客 </a:t>
          </a:r>
          <a:r>
            <a:rPr lang="en-US" altLang="en-US" sz="1400" b="1" dirty="0">
              <a:latin typeface="微软雅黑" panose="020B0503020204020204" pitchFamily="34" charset="-122"/>
              <a:ea typeface="微软雅黑" panose="020B0503020204020204" pitchFamily="34" charset="-122"/>
            </a:rPr>
            <a:t>(microblog)</a:t>
          </a:r>
          <a:r>
            <a:rPr lang="zh-CN" altLang="en-US" sz="1400" b="1" dirty="0">
              <a:latin typeface="微软雅黑" panose="020B0503020204020204" pitchFamily="34" charset="-122"/>
              <a:ea typeface="微软雅黑" panose="020B0503020204020204" pitchFamily="34" charset="-122"/>
            </a:rPr>
            <a:t>，又称为微博客。</a:t>
          </a:r>
        </a:p>
      </dgm:t>
    </dgm:pt>
    <dgm:pt modelId="{6EEAD8AA-246A-4E0F-B3B7-C0CC12FB0CB7}" type="parTrans" cxnId="{DF1AD42E-CB2D-42D1-B825-99E8FC2086F1}">
      <dgm:prSet/>
      <dgm:spPr/>
      <dgm:t>
        <a:bodyPr/>
        <a:lstStyle/>
        <a:p>
          <a:endParaRPr lang="zh-CN" altLang="en-US" sz="1600"/>
        </a:p>
      </dgm:t>
    </dgm:pt>
    <dgm:pt modelId="{7E736B33-8943-43C4-8301-E5C19CBA7CE8}" type="sibTrans" cxnId="{DF1AD42E-CB2D-42D1-B825-99E8FC2086F1}">
      <dgm:prSet/>
      <dgm:spPr/>
      <dgm:t>
        <a:bodyPr/>
        <a:lstStyle/>
        <a:p>
          <a:endParaRPr lang="zh-CN" altLang="en-US" sz="1600"/>
        </a:p>
      </dgm:t>
    </dgm:pt>
    <dgm:pt modelId="{C4C756D0-11A8-4F58-ADD6-109F69DB6D46}">
      <dgm:prSet custT="1"/>
      <dgm:spPr/>
      <dgm:t>
        <a:bodyPr/>
        <a:lstStyle/>
        <a:p>
          <a:r>
            <a:rPr lang="zh-CN" altLang="en-US" sz="1400" b="1" dirty="0">
              <a:latin typeface="微软雅黑" panose="020B0503020204020204" pitchFamily="34" charset="-122"/>
              <a:ea typeface="微软雅黑" panose="020B0503020204020204" pitchFamily="34" charset="-122"/>
            </a:rPr>
            <a:t>只记录片段、碎语，三言两语，现场记录，发发感慨，晒晒心情，永远只针对一个问题进行回答。</a:t>
          </a:r>
        </a:p>
      </dgm:t>
    </dgm:pt>
    <dgm:pt modelId="{D683D10C-57AB-4C10-9769-DBF4097AA893}" type="parTrans" cxnId="{4638EDD7-45CD-4B25-8286-1B7EF72C1585}">
      <dgm:prSet/>
      <dgm:spPr/>
      <dgm:t>
        <a:bodyPr/>
        <a:lstStyle/>
        <a:p>
          <a:endParaRPr lang="zh-CN" altLang="en-US" sz="1600"/>
        </a:p>
      </dgm:t>
    </dgm:pt>
    <dgm:pt modelId="{86F29A84-6C15-4571-8FF5-B3A5C153DFAD}" type="sibTrans" cxnId="{4638EDD7-45CD-4B25-8286-1B7EF72C1585}">
      <dgm:prSet/>
      <dgm:spPr/>
      <dgm:t>
        <a:bodyPr/>
        <a:lstStyle/>
        <a:p>
          <a:endParaRPr lang="zh-CN" altLang="en-US" sz="1600"/>
        </a:p>
      </dgm:t>
    </dgm:pt>
    <dgm:pt modelId="{7CCBB12D-9E4D-487D-8378-589BB6565FF3}">
      <dgm:prSet custT="1"/>
      <dgm:spPr/>
      <dgm:t>
        <a:bodyPr/>
        <a:lstStyle/>
        <a:p>
          <a:r>
            <a:rPr lang="zh-CN" altLang="en-US" sz="1400" b="1" dirty="0">
              <a:latin typeface="微软雅黑" panose="020B0503020204020204" pitchFamily="34" charset="-122"/>
              <a:ea typeface="微软雅黑" panose="020B0503020204020204" pitchFamily="34" charset="-122"/>
            </a:rPr>
            <a:t>是一种互动及传播性极快的工具。</a:t>
          </a:r>
        </a:p>
      </dgm:t>
    </dgm:pt>
    <dgm:pt modelId="{293005E5-8ACC-47EE-A886-CF5964C56A19}" type="parTrans" cxnId="{759464FF-C27D-425C-96F3-EEC7F1676B35}">
      <dgm:prSet/>
      <dgm:spPr/>
      <dgm:t>
        <a:bodyPr/>
        <a:lstStyle/>
        <a:p>
          <a:endParaRPr lang="zh-CN" altLang="en-US" sz="1600"/>
        </a:p>
      </dgm:t>
    </dgm:pt>
    <dgm:pt modelId="{E387F7B8-20A7-4DEA-856A-6B567157E9D8}" type="sibTrans" cxnId="{759464FF-C27D-425C-96F3-EEC7F1676B35}">
      <dgm:prSet/>
      <dgm:spPr/>
      <dgm:t>
        <a:bodyPr/>
        <a:lstStyle/>
        <a:p>
          <a:endParaRPr lang="zh-CN" altLang="en-US" sz="1600"/>
        </a:p>
      </dgm:t>
    </dgm:pt>
    <dgm:pt modelId="{FD7B538E-BA8B-4398-A456-7F49453E20B7}">
      <dgm:prSet custT="1"/>
      <dgm:spPr/>
      <dgm:t>
        <a:bodyPr/>
        <a:lstStyle/>
        <a:p>
          <a:r>
            <a:rPr lang="zh-CN" altLang="en-US" sz="1400" b="1" dirty="0">
              <a:latin typeface="微软雅黑" panose="020B0503020204020204" pitchFamily="34" charset="-122"/>
              <a:ea typeface="微软雅黑" panose="020B0503020204020204" pitchFamily="34" charset="-122"/>
            </a:rPr>
            <a:t>开通的多种 </a:t>
          </a:r>
          <a:r>
            <a:rPr lang="en-US" altLang="en-US" sz="1400" b="1" dirty="0">
              <a:latin typeface="微软雅黑" panose="020B0503020204020204" pitchFamily="34" charset="-122"/>
              <a:ea typeface="微软雅黑" panose="020B0503020204020204" pitchFamily="34" charset="-122"/>
            </a:rPr>
            <a:t>API </a:t>
          </a:r>
          <a:r>
            <a:rPr lang="zh-CN" altLang="en-US" sz="1400" b="1" dirty="0">
              <a:latin typeface="微软雅黑" panose="020B0503020204020204" pitchFamily="34" charset="-122"/>
              <a:ea typeface="微软雅黑" panose="020B0503020204020204" pitchFamily="34" charset="-122"/>
            </a:rPr>
            <a:t>使用户可通过手机、网络等方式即时更新自己的信息。</a:t>
          </a:r>
        </a:p>
      </dgm:t>
    </dgm:pt>
    <dgm:pt modelId="{9D640870-A10C-44BF-9CD5-3CDCBF003B8C}" type="parTrans" cxnId="{B753547C-2B29-4B1B-A72E-60EA9B6F6E91}">
      <dgm:prSet/>
      <dgm:spPr/>
      <dgm:t>
        <a:bodyPr/>
        <a:lstStyle/>
        <a:p>
          <a:endParaRPr lang="zh-CN" altLang="en-US" sz="1600"/>
        </a:p>
      </dgm:t>
    </dgm:pt>
    <dgm:pt modelId="{2E9E6DAA-946C-403F-87E2-162E0AACC27A}" type="sibTrans" cxnId="{B753547C-2B29-4B1B-A72E-60EA9B6F6E91}">
      <dgm:prSet/>
      <dgm:spPr/>
      <dgm:t>
        <a:bodyPr/>
        <a:lstStyle/>
        <a:p>
          <a:endParaRPr lang="zh-CN" altLang="en-US" sz="1600"/>
        </a:p>
      </dgm:t>
    </dgm:pt>
    <dgm:pt modelId="{18114A28-018D-44D7-AF7A-D60D965430EC}" type="pres">
      <dgm:prSet presAssocID="{640FA84E-D24C-4A71-8726-ABEBB11DBFA7}" presName="Name0" presStyleCnt="0">
        <dgm:presLayoutVars>
          <dgm:dir/>
          <dgm:animLvl val="lvl"/>
          <dgm:resizeHandles val="exact"/>
        </dgm:presLayoutVars>
      </dgm:prSet>
      <dgm:spPr/>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pt>
    <dgm:pt modelId="{4E1C6945-3361-4332-9057-7162DBC9BE74}" type="pres">
      <dgm:prSet presAssocID="{4A67B12B-F27E-4426-AA87-6EFCC170D45C}" presName="desTx" presStyleLbl="alignAccFollowNode1" presStyleIdx="0" presStyleCnt="2">
        <dgm:presLayoutVars>
          <dgm:bulletEnabled val="1"/>
        </dgm:presLayoutVars>
      </dgm:prSet>
      <dgm:spPr/>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pt>
    <dgm:pt modelId="{56308F05-9C6F-4168-94D1-139E66E21E29}" type="pres">
      <dgm:prSet presAssocID="{5449751D-EB9D-4373-893A-D2F5888DB8FC}" presName="desTx" presStyleLbl="alignAccFollowNode1" presStyleIdx="1" presStyleCnt="2">
        <dgm:presLayoutVars>
          <dgm:bulletEnabled val="1"/>
        </dgm:presLayoutVars>
      </dgm:prSet>
      <dgm:spPr/>
    </dgm:pt>
  </dgm:ptLst>
  <dgm:cxnLst>
    <dgm:cxn modelId="{9EC04E04-7BBD-42A1-AFF5-CDFF6F65FF51}" type="presOf" srcId="{4A67B12B-F27E-4426-AA87-6EFCC170D45C}" destId="{73F60847-C5CB-4E1F-92CA-969FDFBB52DB}" srcOrd="0" destOrd="0" presId="urn:microsoft.com/office/officeart/2005/8/layout/hList1"/>
    <dgm:cxn modelId="{7D5A0A0D-4290-4EEE-BE5D-94B3943B33FB}" type="presOf" srcId="{64E223BE-32F1-486C-B4B4-A6AF93F9F36C}" destId="{4E1C6945-3361-4332-9057-7162DBC9BE74}" srcOrd="0" destOrd="1"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459C802C-FBE1-44FB-907E-8CB3451091E5}" type="presOf" srcId="{FD7B538E-BA8B-4398-A456-7F49453E20B7}" destId="{56308F05-9C6F-4168-94D1-139E66E21E29}" srcOrd="0" destOrd="2" presId="urn:microsoft.com/office/officeart/2005/8/layout/hList1"/>
    <dgm:cxn modelId="{DF1AD42E-CB2D-42D1-B825-99E8FC2086F1}" srcId="{5449751D-EB9D-4373-893A-D2F5888DB8FC}" destId="{A63C9B60-172B-4DC9-9A5C-1AEAC4875897}" srcOrd="0" destOrd="0" parTransId="{6EEAD8AA-246A-4E0F-B3B7-C0CC12FB0CB7}" sibTransId="{7E736B33-8943-43C4-8301-E5C19CBA7CE8}"/>
    <dgm:cxn modelId="{3A5BA247-2FD8-41F6-A0FA-D35ED6ABC45F}" srcId="{640FA84E-D24C-4A71-8726-ABEBB11DBFA7}" destId="{4A67B12B-F27E-4426-AA87-6EFCC170D45C}" srcOrd="0" destOrd="0" parTransId="{5BEE43B6-8E9E-4602-B465-7FED085A3832}" sibTransId="{D99E4612-C65B-423F-A46B-414E3F4A9548}"/>
    <dgm:cxn modelId="{8551894B-0E24-43B6-ADCF-1077DF74389C}" type="presOf" srcId="{A63C9B60-172B-4DC9-9A5C-1AEAC4875897}" destId="{56308F05-9C6F-4168-94D1-139E66E21E29}" srcOrd="0" destOrd="0" presId="urn:microsoft.com/office/officeart/2005/8/layout/hList1"/>
    <dgm:cxn modelId="{BDE0994F-91FE-4665-86F0-4A11BDE9BB10}" srcId="{4A67B12B-F27E-4426-AA87-6EFCC170D45C}" destId="{64E223BE-32F1-486C-B4B4-A6AF93F9F36C}" srcOrd="1" destOrd="0" parTransId="{5349B983-CC63-40F5-9599-070B484B227A}" sibTransId="{72B9F3AD-116E-4F82-9B5B-F5F26528299A}"/>
    <dgm:cxn modelId="{B96D9B56-5617-48F7-B19C-343E3F206AA8}" type="presOf" srcId="{5449751D-EB9D-4373-893A-D2F5888DB8FC}" destId="{68DA0B6D-3EBF-4324-92AB-1CC040E6E5B2}" srcOrd="0" destOrd="0" presId="urn:microsoft.com/office/officeart/2005/8/layout/hList1"/>
    <dgm:cxn modelId="{B753547C-2B29-4B1B-A72E-60EA9B6F6E91}" srcId="{5449751D-EB9D-4373-893A-D2F5888DB8FC}" destId="{FD7B538E-BA8B-4398-A456-7F49453E20B7}" srcOrd="2" destOrd="0" parTransId="{9D640870-A10C-44BF-9CD5-3CDCBF003B8C}" sibTransId="{2E9E6DAA-946C-403F-87E2-162E0AACC27A}"/>
    <dgm:cxn modelId="{424DF999-509C-4CBE-938B-E6AB41036969}" type="presOf" srcId="{09A0DAAE-BBFE-4AB5-AD9D-1D5FFFFCD3E3}" destId="{4E1C6945-3361-4332-9057-7162DBC9BE74}" srcOrd="0" destOrd="0" presId="urn:microsoft.com/office/officeart/2005/8/layout/hList1"/>
    <dgm:cxn modelId="{ACC7B2A1-17E2-4C23-B541-224E817BA20C}" type="presOf" srcId="{C4C756D0-11A8-4F58-ADD6-109F69DB6D46}" destId="{56308F05-9C6F-4168-94D1-139E66E21E29}" srcOrd="0" destOrd="1" presId="urn:microsoft.com/office/officeart/2005/8/layout/hList1"/>
    <dgm:cxn modelId="{66F6AFA8-7EFE-4A43-9A3D-72A92C3E3AC0}" type="presOf" srcId="{640FA84E-D24C-4A71-8726-ABEBB11DBFA7}" destId="{18114A28-018D-44D7-AF7A-D60D965430EC}" srcOrd="0" destOrd="0" presId="urn:microsoft.com/office/officeart/2005/8/layout/hList1"/>
    <dgm:cxn modelId="{4638EDD7-45CD-4B25-8286-1B7EF72C1585}" srcId="{5449751D-EB9D-4373-893A-D2F5888DB8FC}" destId="{C4C756D0-11A8-4F58-ADD6-109F69DB6D46}" srcOrd="1" destOrd="0" parTransId="{D683D10C-57AB-4C10-9769-DBF4097AA893}" sibTransId="{86F29A84-6C15-4571-8FF5-B3A5C153DFAD}"/>
    <dgm:cxn modelId="{F55C9EEB-F37C-4E56-889B-76432DD5F50F}" type="presOf" srcId="{7CCBB12D-9E4D-487D-8378-589BB6565FF3}" destId="{56308F05-9C6F-4168-94D1-139E66E21E29}" srcOrd="0" destOrd="3" presId="urn:microsoft.com/office/officeart/2005/8/layout/hList1"/>
    <dgm:cxn modelId="{6D0F46F1-4AC4-4736-B900-19ECDC23E479}" srcId="{640FA84E-D24C-4A71-8726-ABEBB11DBFA7}" destId="{5449751D-EB9D-4373-893A-D2F5888DB8FC}" srcOrd="1" destOrd="0" parTransId="{328CCA76-77A8-4316-A94F-1D0317492727}" sibTransId="{F6B66E90-AD5B-457C-AAB4-88F3EC4A38ED}"/>
    <dgm:cxn modelId="{759464FF-C27D-425C-96F3-EEC7F1676B35}" srcId="{5449751D-EB9D-4373-893A-D2F5888DB8FC}" destId="{7CCBB12D-9E4D-487D-8378-589BB6565FF3}" srcOrd="3" destOrd="0" parTransId="{293005E5-8ACC-47EE-A886-CF5964C56A19}" sibTransId="{E387F7B8-20A7-4DEA-856A-6B567157E9D8}"/>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不同于网络应用</a:t>
          </a: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sz="1400" b="1" kern="1200" dirty="0">
              <a:latin typeface="微软雅黑" panose="020B0503020204020204" pitchFamily="34" charset="-122"/>
              <a:ea typeface="微软雅黑" panose="020B0503020204020204" pitchFamily="34" charset="-122"/>
            </a:rPr>
            <a:t>万维网</a:t>
          </a:r>
          <a:endParaRPr lang="en-US" altLang="zh-CN" sz="1400" b="1" kern="1200" dirty="0">
            <a:latin typeface="微软雅黑" panose="020B0503020204020204" pitchFamily="34" charset="-122"/>
            <a:ea typeface="微软雅黑" panose="020B0503020204020204" pitchFamily="34" charset="-122"/>
          </a:endParaRP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1" kern="1200" dirty="0">
              <a:latin typeface="微软雅黑" panose="020B0503020204020204" pitchFamily="34" charset="-122"/>
              <a:ea typeface="微软雅黑" panose="020B0503020204020204" pitchFamily="34" charset="-122"/>
            </a:rPr>
            <a:t>电子邮件</a:t>
          </a:r>
          <a:endParaRPr lang="en-US" altLang="zh-CN" sz="1400" b="1" kern="1200" dirty="0">
            <a:latin typeface="微软雅黑" panose="020B0503020204020204" pitchFamily="34" charset="-122"/>
            <a:ea typeface="微软雅黑" panose="020B0503020204020204"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1" kern="1200" dirty="0">
              <a:latin typeface="微软雅黑" panose="020B0503020204020204" pitchFamily="34" charset="-122"/>
              <a:ea typeface="微软雅黑" panose="020B0503020204020204" pitchFamily="34" charset="-122"/>
            </a:rPr>
            <a:t>文件传输</a:t>
          </a:r>
          <a:endParaRPr lang="en-US" altLang="zh-CN" sz="1400" b="1" kern="1200" dirty="0">
            <a:latin typeface="微软雅黑" panose="020B0503020204020204" pitchFamily="34" charset="-122"/>
            <a:ea typeface="微软雅黑" panose="020B0503020204020204"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sz="1400" b="1" kern="1200" dirty="0">
              <a:latin typeface="微软雅黑" panose="020B0503020204020204" pitchFamily="34" charset="-122"/>
              <a:ea typeface="微软雅黑" panose="020B0503020204020204" pitchFamily="34" charset="-122"/>
            </a:rPr>
            <a:t>HTTP</a:t>
          </a:r>
          <a:endParaRPr lang="en-US" altLang="zh-CN" sz="1400" b="1" kern="1200" dirty="0">
            <a:latin typeface="微软雅黑" panose="020B0503020204020204" pitchFamily="34" charset="-122"/>
            <a:ea typeface="微软雅黑" panose="020B0503020204020204" pitchFamily="34" charset="-122"/>
          </a:endParaRP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altLang="zh-CN" sz="1400" b="1" kern="1200" dirty="0">
              <a:latin typeface="微软雅黑" panose="020B0503020204020204" pitchFamily="34" charset="-122"/>
              <a:ea typeface="微软雅黑" panose="020B0503020204020204" pitchFamily="34" charset="-122"/>
            </a:rPr>
            <a:t>SMTP</a:t>
          </a:r>
          <a:r>
            <a:rPr lang="zh-CN" altLang="en-US" sz="1400" b="1" kern="1200" dirty="0">
              <a:latin typeface="微软雅黑" panose="020B0503020204020204" pitchFamily="34" charset="-122"/>
              <a:ea typeface="微软雅黑" panose="020B0503020204020204" pitchFamily="34" charset="-122"/>
            </a:rPr>
            <a:t>，</a:t>
          </a:r>
          <a:r>
            <a:rPr lang="en-US" altLang="zh-CN" sz="1400" b="1" kern="1200" dirty="0">
              <a:latin typeface="微软雅黑" panose="020B0503020204020204" pitchFamily="34" charset="-122"/>
              <a:ea typeface="微软雅黑" panose="020B0503020204020204" pitchFamily="34" charset="-122"/>
            </a:rPr>
            <a:t>POP3</a:t>
          </a:r>
          <a:endParaRPr lang="zh-CN" altLang="en-US" sz="1400" b="1" kern="1200" dirty="0">
            <a:latin typeface="微软雅黑" panose="020B0503020204020204" pitchFamily="34" charset="-122"/>
            <a:ea typeface="微软雅黑" panose="020B0503020204020204"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en-US" altLang="zh-CN" sz="1400" b="1" kern="1200" dirty="0">
              <a:latin typeface="微软雅黑" panose="020B0503020204020204" pitchFamily="34" charset="-122"/>
              <a:ea typeface="微软雅黑" panose="020B0503020204020204" pitchFamily="34" charset="-122"/>
            </a:rPr>
            <a:t>FTP</a:t>
          </a:r>
          <a:endParaRPr lang="zh-CN" altLang="en-US" sz="1400" b="1" kern="1200" dirty="0">
            <a:latin typeface="微软雅黑" panose="020B0503020204020204" pitchFamily="34" charset="-122"/>
            <a:ea typeface="微软雅黑" panose="020B0503020204020204" pitchFamily="34" charset="-122"/>
          </a:endParaRPr>
        </a:p>
      </dsp:txBody>
      <dsp:txXfrm>
        <a:off x="1992007" y="1273099"/>
        <a:ext cx="1808551" cy="30570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8BCB8-DE9B-4BF1-8D07-3A3FD24C7968}">
      <dsp:nvSpPr>
        <dsp:cNvPr id="0" name=""/>
        <dsp:cNvSpPr/>
      </dsp:nvSpPr>
      <dsp:spPr>
        <a:xfrm>
          <a:off x="1406" y="785"/>
          <a:ext cx="3808663" cy="482503"/>
        </a:xfrm>
        <a:prstGeom prst="roundRect">
          <a:avLst>
            <a:gd name="adj" fmla="val 10000"/>
          </a:avLst>
        </a:prstGeom>
        <a:gradFill rotWithShape="0">
          <a:gsLst>
            <a:gs pos="0">
              <a:schemeClr val="accent2">
                <a:hueOff val="0"/>
                <a:satOff val="0"/>
                <a:lumOff val="0"/>
                <a:alphaOff val="0"/>
                <a:tint val="50000"/>
                <a:satMod val="300000"/>
              </a:schemeClr>
            </a:gs>
            <a:gs pos="35000">
              <a:schemeClr val="accent2">
                <a:hueOff val="0"/>
                <a:satOff val="0"/>
                <a:lumOff val="0"/>
                <a:alphaOff val="0"/>
                <a:tint val="37000"/>
                <a:satMod val="300000"/>
              </a:schemeClr>
            </a:gs>
            <a:gs pos="100000">
              <a:schemeClr val="accent2">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zh-CN" altLang="en-US" sz="1600" b="1" kern="1200" dirty="0">
              <a:latin typeface="微软雅黑" panose="020B0503020204020204" pitchFamily="34" charset="-122"/>
              <a:ea typeface="微软雅黑" panose="020B0503020204020204" pitchFamily="34" charset="-122"/>
            </a:rPr>
            <a:t>许多都基于客户服务器方式</a:t>
          </a:r>
        </a:p>
      </dsp:txBody>
      <dsp:txXfrm>
        <a:off x="15538" y="14917"/>
        <a:ext cx="3780399" cy="454239"/>
      </dsp:txXfrm>
    </dsp:sp>
    <dsp:sp modelId="{F381CC4E-322C-45E6-B7E7-4ED70FA8CF2E}">
      <dsp:nvSpPr>
        <dsp:cNvPr id="0" name=""/>
        <dsp:cNvSpPr/>
      </dsp:nvSpPr>
      <dsp:spPr>
        <a:xfrm>
          <a:off x="140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1" kern="1200" dirty="0">
              <a:latin typeface="微软雅黑" panose="020B0503020204020204" pitchFamily="34" charset="-122"/>
              <a:ea typeface="微软雅黑" panose="020B0503020204020204" pitchFamily="34" charset="-122"/>
            </a:rPr>
            <a:t>客户 </a:t>
          </a:r>
          <a:r>
            <a:rPr lang="en-US" altLang="zh-CN" sz="1400" b="1" kern="1200" dirty="0">
              <a:latin typeface="微软雅黑" panose="020B0503020204020204" pitchFamily="34" charset="-122"/>
              <a:ea typeface="微软雅黑" panose="020B0503020204020204" pitchFamily="34" charset="-122"/>
            </a:rPr>
            <a:t>(client)</a:t>
          </a:r>
        </a:p>
      </dsp:txBody>
      <dsp:txXfrm>
        <a:off x="10917" y="536416"/>
        <a:ext cx="1808551" cy="305703"/>
      </dsp:txXfrm>
    </dsp:sp>
    <dsp:sp modelId="{49899EA7-F8C0-4BB7-A6AD-5F40B1731420}">
      <dsp:nvSpPr>
        <dsp:cNvPr id="0" name=""/>
        <dsp:cNvSpPr/>
      </dsp:nvSpPr>
      <dsp:spPr>
        <a:xfrm>
          <a:off x="140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1" kern="1200" dirty="0">
              <a:latin typeface="微软雅黑" panose="020B0503020204020204" pitchFamily="34" charset="-122"/>
              <a:ea typeface="微软雅黑" panose="020B0503020204020204" pitchFamily="34" charset="-122"/>
            </a:rPr>
            <a:t>服务请求方</a:t>
          </a:r>
          <a:endParaRPr lang="en-US" altLang="zh-CN" sz="1400" b="1" kern="1200" dirty="0">
            <a:latin typeface="微软雅黑" panose="020B0503020204020204" pitchFamily="34" charset="-122"/>
            <a:ea typeface="微软雅黑" panose="020B0503020204020204" pitchFamily="34" charset="-122"/>
          </a:endParaRPr>
        </a:p>
      </dsp:txBody>
      <dsp:txXfrm>
        <a:off x="10917" y="904757"/>
        <a:ext cx="1808551" cy="305703"/>
      </dsp:txXfrm>
    </dsp:sp>
    <dsp:sp modelId="{D772C529-9144-4F64-AC62-C41998E87A93}">
      <dsp:nvSpPr>
        <dsp:cNvPr id="0" name=""/>
        <dsp:cNvSpPr/>
      </dsp:nvSpPr>
      <dsp:spPr>
        <a:xfrm>
          <a:off x="140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1" kern="1200" dirty="0">
              <a:latin typeface="微软雅黑" panose="020B0503020204020204" pitchFamily="34" charset="-122"/>
              <a:ea typeface="微软雅黑" panose="020B0503020204020204" pitchFamily="34" charset="-122"/>
            </a:rPr>
            <a:t>应用进程</a:t>
          </a:r>
          <a:endParaRPr lang="en-US" altLang="zh-CN" sz="1400" b="1" kern="1200" dirty="0">
            <a:latin typeface="微软雅黑" panose="020B0503020204020204" pitchFamily="34" charset="-122"/>
            <a:ea typeface="微软雅黑" panose="020B0503020204020204" pitchFamily="34" charset="-122"/>
          </a:endParaRPr>
        </a:p>
      </dsp:txBody>
      <dsp:txXfrm>
        <a:off x="10917" y="1273099"/>
        <a:ext cx="1808551" cy="305703"/>
      </dsp:txXfrm>
    </dsp:sp>
    <dsp:sp modelId="{1F36E606-4D05-483A-959D-7AFAA3F99964}">
      <dsp:nvSpPr>
        <dsp:cNvPr id="0" name=""/>
        <dsp:cNvSpPr/>
      </dsp:nvSpPr>
      <dsp:spPr>
        <a:xfrm>
          <a:off x="1982496" y="526905"/>
          <a:ext cx="1827573" cy="324725"/>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1" kern="1200" dirty="0">
              <a:latin typeface="微软雅黑" panose="020B0503020204020204" pitchFamily="34" charset="-122"/>
              <a:ea typeface="微软雅黑" panose="020B0503020204020204" pitchFamily="34" charset="-122"/>
            </a:rPr>
            <a:t>服务器 </a:t>
          </a:r>
          <a:r>
            <a:rPr lang="en-US" altLang="zh-CN" sz="1400" b="1" kern="1200" dirty="0">
              <a:latin typeface="微软雅黑" panose="020B0503020204020204" pitchFamily="34" charset="-122"/>
              <a:ea typeface="微软雅黑" panose="020B0503020204020204" pitchFamily="34" charset="-122"/>
            </a:rPr>
            <a:t>(server)</a:t>
          </a:r>
        </a:p>
      </dsp:txBody>
      <dsp:txXfrm>
        <a:off x="1992007" y="536416"/>
        <a:ext cx="1808551" cy="305703"/>
      </dsp:txXfrm>
    </dsp:sp>
    <dsp:sp modelId="{07CD9CA8-8213-4B82-96DE-5A2E23AB39DC}">
      <dsp:nvSpPr>
        <dsp:cNvPr id="0" name=""/>
        <dsp:cNvSpPr/>
      </dsp:nvSpPr>
      <dsp:spPr>
        <a:xfrm>
          <a:off x="1982496" y="895246"/>
          <a:ext cx="1827573" cy="324725"/>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zh-CN" sz="1400" b="1" kern="1200" dirty="0">
              <a:latin typeface="微软雅黑" panose="020B0503020204020204" pitchFamily="34" charset="-122"/>
              <a:ea typeface="微软雅黑" panose="020B0503020204020204" pitchFamily="34" charset="-122"/>
            </a:rPr>
            <a:t>服务提供方</a:t>
          </a:r>
          <a:endParaRPr lang="zh-CN" altLang="en-US" sz="1400" b="1" kern="1200" dirty="0">
            <a:latin typeface="微软雅黑" panose="020B0503020204020204" pitchFamily="34" charset="-122"/>
            <a:ea typeface="微软雅黑" panose="020B0503020204020204" pitchFamily="34" charset="-122"/>
          </a:endParaRPr>
        </a:p>
      </dsp:txBody>
      <dsp:txXfrm>
        <a:off x="1992007" y="904757"/>
        <a:ext cx="1808551" cy="305703"/>
      </dsp:txXfrm>
    </dsp:sp>
    <dsp:sp modelId="{629FD194-4F20-42AB-A0D3-D63455B286FC}">
      <dsp:nvSpPr>
        <dsp:cNvPr id="0" name=""/>
        <dsp:cNvSpPr/>
      </dsp:nvSpPr>
      <dsp:spPr>
        <a:xfrm>
          <a:off x="1982496" y="1263588"/>
          <a:ext cx="1827573" cy="324725"/>
        </a:xfrm>
        <a:prstGeom prst="roundRect">
          <a:avLst>
            <a:gd name="adj" fmla="val 10000"/>
          </a:avLst>
        </a:prstGeom>
        <a:gradFill rotWithShape="0">
          <a:gsLst>
            <a:gs pos="0">
              <a:schemeClr val="accent6">
                <a:hueOff val="0"/>
                <a:satOff val="0"/>
                <a:lumOff val="0"/>
                <a:alphaOff val="0"/>
                <a:tint val="50000"/>
                <a:satMod val="300000"/>
              </a:schemeClr>
            </a:gs>
            <a:gs pos="35000">
              <a:schemeClr val="accent6">
                <a:hueOff val="0"/>
                <a:satOff val="0"/>
                <a:lumOff val="0"/>
                <a:alphaOff val="0"/>
                <a:tint val="37000"/>
                <a:satMod val="300000"/>
              </a:schemeClr>
            </a:gs>
            <a:gs pos="100000">
              <a:schemeClr val="accent6">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ts val="0"/>
            </a:spcAft>
            <a:buNone/>
          </a:pPr>
          <a:r>
            <a:rPr lang="zh-CN" altLang="en-US" sz="1400" b="1" kern="1200" dirty="0">
              <a:latin typeface="微软雅黑" panose="020B0503020204020204" pitchFamily="34" charset="-122"/>
              <a:ea typeface="微软雅黑" panose="020B0503020204020204" pitchFamily="34" charset="-122"/>
            </a:rPr>
            <a:t>应用进程</a:t>
          </a:r>
        </a:p>
      </dsp:txBody>
      <dsp:txXfrm>
        <a:off x="1992007" y="1273099"/>
        <a:ext cx="1808551" cy="30570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69D0B0-1884-46A2-8F10-145B05B89842}">
      <dsp:nvSpPr>
        <dsp:cNvPr id="0" name=""/>
        <dsp:cNvSpPr/>
      </dsp:nvSpPr>
      <dsp:spPr>
        <a:xfrm>
          <a:off x="31" y="25026"/>
          <a:ext cx="3025569" cy="576000"/>
        </a:xfrm>
        <a:prstGeom prst="rect">
          <a:avLst/>
        </a:prstGeom>
        <a:solidFill>
          <a:schemeClr val="accent4">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solidFill>
                <a:schemeClr val="tx1"/>
              </a:solidFill>
              <a:highlight>
                <a:srgbClr val="FFFF00"/>
              </a:highlight>
              <a:latin typeface="微软雅黑" panose="020B0503020204020204" pitchFamily="34" charset="-122"/>
              <a:ea typeface="微软雅黑" panose="020B0503020204020204" pitchFamily="34" charset="-122"/>
            </a:rPr>
            <a:t>递归查询</a:t>
          </a:r>
        </a:p>
      </dsp:txBody>
      <dsp:txXfrm>
        <a:off x="31" y="25026"/>
        <a:ext cx="3025569" cy="576000"/>
      </dsp:txXfrm>
    </dsp:sp>
    <dsp:sp modelId="{03A5736B-9407-4E51-943F-C4127641647B}">
      <dsp:nvSpPr>
        <dsp:cNvPr id="0" name=""/>
        <dsp:cNvSpPr/>
      </dsp:nvSpPr>
      <dsp:spPr>
        <a:xfrm>
          <a:off x="31" y="601026"/>
          <a:ext cx="3025569" cy="2216587"/>
        </a:xfrm>
        <a:prstGeom prst="rect">
          <a:avLst/>
        </a:prstGeom>
        <a:solidFill>
          <a:schemeClr val="accent4">
            <a:tint val="40000"/>
            <a:alpha val="90000"/>
            <a:hueOff val="0"/>
            <a:satOff val="0"/>
            <a:lumOff val="0"/>
            <a:alphaOff val="0"/>
          </a:schemeClr>
        </a:solidFill>
        <a:ln w="25400" cap="flat" cmpd="sng" algn="ctr">
          <a:solidFill>
            <a:schemeClr val="accent4">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通常，主机向本地域名服务器查询时使用。</a:t>
          </a:r>
        </a:p>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若不知道，就以 </a:t>
          </a:r>
          <a:r>
            <a:rPr lang="en-US" altLang="en-US" sz="1600" b="1" kern="1200" dirty="0">
              <a:latin typeface="微软雅黑" panose="020B0503020204020204" pitchFamily="34" charset="-122"/>
              <a:ea typeface="微软雅黑" panose="020B0503020204020204" pitchFamily="34" charset="-122"/>
            </a:rPr>
            <a:t>DNS </a:t>
          </a:r>
          <a:r>
            <a:rPr lang="zh-CN" altLang="en-US" sz="1600" b="1" kern="1200" dirty="0">
              <a:latin typeface="微软雅黑" panose="020B0503020204020204" pitchFamily="34" charset="-122"/>
              <a:ea typeface="微软雅黑" panose="020B0503020204020204" pitchFamily="34" charset="-122"/>
            </a:rPr>
            <a:t>客户的身份，向其他根域名服务器继续发出查询请求报文。</a:t>
          </a:r>
        </a:p>
      </dsp:txBody>
      <dsp:txXfrm>
        <a:off x="31" y="601026"/>
        <a:ext cx="3025569" cy="2216587"/>
      </dsp:txXfrm>
    </dsp:sp>
    <dsp:sp modelId="{B2079A84-D30A-43B1-81D6-28B09A3A7626}">
      <dsp:nvSpPr>
        <dsp:cNvPr id="0" name=""/>
        <dsp:cNvSpPr/>
      </dsp:nvSpPr>
      <dsp:spPr>
        <a:xfrm>
          <a:off x="3449180" y="25026"/>
          <a:ext cx="3025569" cy="576000"/>
        </a:xfrm>
        <a:prstGeom prst="rect">
          <a:avLst/>
        </a:prstGeom>
        <a:solidFill>
          <a:schemeClr val="accent4">
            <a:hueOff val="-4464770"/>
            <a:satOff val="26899"/>
            <a:lumOff val="2156"/>
            <a:alphaOff val="0"/>
          </a:schemeClr>
        </a:solidFill>
        <a:ln w="25400" cap="flat" cmpd="sng" algn="ctr">
          <a:solidFill>
            <a:schemeClr val="accent4">
              <a:hueOff val="-4464770"/>
              <a:satOff val="26899"/>
              <a:lumOff val="2156"/>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zh-CN" altLang="en-US" sz="1800" b="1" kern="1200" dirty="0">
              <a:solidFill>
                <a:schemeClr val="tx1"/>
              </a:solidFill>
              <a:highlight>
                <a:srgbClr val="FFFF00"/>
              </a:highlight>
              <a:latin typeface="微软雅黑" panose="020B0503020204020204" pitchFamily="34" charset="-122"/>
              <a:ea typeface="微软雅黑" panose="020B0503020204020204" pitchFamily="34" charset="-122"/>
            </a:rPr>
            <a:t>迭代查询</a:t>
          </a:r>
        </a:p>
      </dsp:txBody>
      <dsp:txXfrm>
        <a:off x="3449180" y="25026"/>
        <a:ext cx="3025569" cy="576000"/>
      </dsp:txXfrm>
    </dsp:sp>
    <dsp:sp modelId="{802EC7D4-495D-4461-A980-1E7E46187315}">
      <dsp:nvSpPr>
        <dsp:cNvPr id="0" name=""/>
        <dsp:cNvSpPr/>
      </dsp:nvSpPr>
      <dsp:spPr>
        <a:xfrm>
          <a:off x="3449180" y="601026"/>
          <a:ext cx="3025569" cy="2216587"/>
        </a:xfrm>
        <a:prstGeom prst="rect">
          <a:avLst/>
        </a:prstGeom>
        <a:solidFill>
          <a:schemeClr val="accent4">
            <a:tint val="40000"/>
            <a:alpha val="90000"/>
            <a:hueOff val="-3945710"/>
            <a:satOff val="22157"/>
            <a:lumOff val="1408"/>
            <a:alphaOff val="0"/>
          </a:schemeClr>
        </a:solidFill>
        <a:ln w="25400" cap="flat" cmpd="sng" algn="ctr">
          <a:solidFill>
            <a:schemeClr val="accent4">
              <a:tint val="40000"/>
              <a:alpha val="90000"/>
              <a:hueOff val="-3945710"/>
              <a:satOff val="22157"/>
              <a:lumOff val="1408"/>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本地域名服务器向根域名服务器查询时使用。</a:t>
          </a:r>
        </a:p>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要么给出所要查询的 </a:t>
          </a:r>
          <a:r>
            <a:rPr lang="en-US" altLang="en-US"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地址，要么告诉下一个要查询的域名服务器的 </a:t>
          </a:r>
          <a:r>
            <a:rPr lang="en-US" altLang="zh-CN" sz="1600" b="1" kern="1200" dirty="0">
              <a:latin typeface="微软雅黑" panose="020B0503020204020204" pitchFamily="34" charset="-122"/>
              <a:ea typeface="微软雅黑" panose="020B0503020204020204" pitchFamily="34" charset="-122"/>
            </a:rPr>
            <a:t>IP </a:t>
          </a:r>
          <a:r>
            <a:rPr lang="zh-CN" altLang="en-US" sz="1600" b="1" kern="1200" dirty="0">
              <a:latin typeface="微软雅黑" panose="020B0503020204020204" pitchFamily="34" charset="-122"/>
              <a:ea typeface="微软雅黑" panose="020B0503020204020204" pitchFamily="34" charset="-122"/>
            </a:rPr>
            <a:t>地址。</a:t>
          </a:r>
        </a:p>
        <a:p>
          <a:pPr marL="171450" lvl="1" indent="-171450" algn="l" defTabSz="711200">
            <a:lnSpc>
              <a:spcPct val="90000"/>
            </a:lnSpc>
            <a:spcBef>
              <a:spcPct val="0"/>
            </a:spcBef>
            <a:spcAft>
              <a:spcPct val="15000"/>
            </a:spcAft>
            <a:buChar char="•"/>
          </a:pPr>
          <a:r>
            <a:rPr lang="zh-CN" altLang="en-US" sz="1600" b="1" kern="1200" dirty="0">
              <a:latin typeface="微软雅黑" panose="020B0503020204020204" pitchFamily="34" charset="-122"/>
              <a:ea typeface="微软雅黑" panose="020B0503020204020204" pitchFamily="34" charset="-122"/>
            </a:rPr>
            <a:t>本地域名服务器继续后续查询。</a:t>
          </a:r>
        </a:p>
      </dsp:txBody>
      <dsp:txXfrm>
        <a:off x="3449180" y="601026"/>
        <a:ext cx="3025569" cy="2216587"/>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526FD6-3C16-45F7-931B-D3253D84A49B}">
      <dsp:nvSpPr>
        <dsp:cNvPr id="0" name=""/>
        <dsp:cNvSpPr/>
      </dsp:nvSpPr>
      <dsp:spPr>
        <a:xfrm>
          <a:off x="0" y="193"/>
          <a:ext cx="8048776" cy="350874"/>
        </a:xfrm>
        <a:prstGeom prst="roundRect">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altLang="zh-CN" sz="1400" b="1" kern="1200" dirty="0">
              <a:solidFill>
                <a:schemeClr val="bg1"/>
              </a:solidFill>
              <a:latin typeface="微软雅黑" pitchFamily="34" charset="-122"/>
              <a:ea typeface="微软雅黑" pitchFamily="34" charset="-122"/>
            </a:rPr>
            <a:t>	</a:t>
          </a:r>
          <a:r>
            <a:rPr lang="zh-CN" sz="1600" b="1" kern="1200" dirty="0">
              <a:solidFill>
                <a:schemeClr val="bg1"/>
              </a:solidFill>
              <a:latin typeface="微软雅黑" pitchFamily="34" charset="-122"/>
              <a:ea typeface="微软雅黑" pitchFamily="34" charset="-122"/>
            </a:rPr>
            <a:t>方法（操作）</a:t>
          </a:r>
          <a:r>
            <a:rPr lang="en-US" sz="1600" b="1" kern="1200" dirty="0">
              <a:solidFill>
                <a:schemeClr val="bg1"/>
              </a:solidFill>
              <a:latin typeface="微软雅黑" pitchFamily="34" charset="-122"/>
              <a:ea typeface="微软雅黑" pitchFamily="34" charset="-122"/>
            </a:rPr>
            <a:t>				</a:t>
          </a:r>
          <a:r>
            <a:rPr lang="zh-CN" sz="1600" b="1" kern="1200" dirty="0">
              <a:solidFill>
                <a:schemeClr val="bg1"/>
              </a:solidFill>
              <a:latin typeface="微软雅黑" pitchFamily="34" charset="-122"/>
              <a:ea typeface="微软雅黑" pitchFamily="34" charset="-122"/>
            </a:rPr>
            <a:t>意义</a:t>
          </a:r>
          <a:endParaRPr lang="zh-CN" sz="1600" kern="1200" dirty="0">
            <a:solidFill>
              <a:schemeClr val="bg1"/>
            </a:solidFill>
            <a:latin typeface="微软雅黑" pitchFamily="34" charset="-122"/>
            <a:ea typeface="微软雅黑" pitchFamily="34" charset="-122"/>
          </a:endParaRPr>
        </a:p>
      </dsp:txBody>
      <dsp:txXfrm>
        <a:off x="17128" y="17321"/>
        <a:ext cx="8014520" cy="316618"/>
      </dsp:txXfrm>
    </dsp:sp>
    <dsp:sp modelId="{50B73F1F-44EA-4F89-8398-75FE0BB22E10}">
      <dsp:nvSpPr>
        <dsp:cNvPr id="0" name=""/>
        <dsp:cNvSpPr/>
      </dsp:nvSpPr>
      <dsp:spPr>
        <a:xfrm>
          <a:off x="0" y="361600"/>
          <a:ext cx="8048776" cy="350874"/>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OPTION		  </a:t>
          </a:r>
          <a:r>
            <a:rPr lang="zh-CN" sz="1400" b="1" kern="1200" dirty="0">
              <a:solidFill>
                <a:schemeClr val="tx1"/>
              </a:solidFill>
              <a:latin typeface="微软雅黑" pitchFamily="34" charset="-122"/>
              <a:ea typeface="微软雅黑" pitchFamily="34" charset="-122"/>
            </a:rPr>
            <a:t>请求一些选项的信息</a:t>
          </a:r>
          <a:endParaRPr lang="zh-CN" sz="1400" kern="1200" dirty="0">
            <a:solidFill>
              <a:schemeClr val="tx1"/>
            </a:solidFill>
            <a:latin typeface="微软雅黑" pitchFamily="34" charset="-122"/>
            <a:ea typeface="微软雅黑" pitchFamily="34" charset="-122"/>
          </a:endParaRPr>
        </a:p>
      </dsp:txBody>
      <dsp:txXfrm>
        <a:off x="17128" y="378728"/>
        <a:ext cx="8014520" cy="316618"/>
      </dsp:txXfrm>
    </dsp:sp>
    <dsp:sp modelId="{FD5606E7-7379-4F33-830F-006516F4DFDB}">
      <dsp:nvSpPr>
        <dsp:cNvPr id="0" name=""/>
        <dsp:cNvSpPr/>
      </dsp:nvSpPr>
      <dsp:spPr>
        <a:xfrm>
          <a:off x="0" y="723008"/>
          <a:ext cx="8048776" cy="350874"/>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GET               		  </a:t>
          </a:r>
          <a:r>
            <a:rPr lang="zh-CN" sz="1400" b="1" kern="1200" dirty="0">
              <a:solidFill>
                <a:schemeClr val="tx1"/>
              </a:solidFill>
              <a:latin typeface="微软雅黑" pitchFamily="34" charset="-122"/>
              <a:ea typeface="微软雅黑" pitchFamily="34" charset="-122"/>
            </a:rPr>
            <a:t>请求读取由 </a:t>
          </a:r>
          <a:r>
            <a:rPr lang="en-US" sz="1400" b="1" kern="1200" dirty="0">
              <a:solidFill>
                <a:schemeClr val="tx1"/>
              </a:solidFill>
              <a:latin typeface="微软雅黑" pitchFamily="34" charset="-122"/>
              <a:ea typeface="微软雅黑" pitchFamily="34" charset="-122"/>
            </a:rPr>
            <a:t>URL</a:t>
          </a:r>
          <a:r>
            <a:rPr lang="zh-CN" sz="1400" b="1" kern="1200" dirty="0">
              <a:solidFill>
                <a:schemeClr val="tx1"/>
              </a:solidFill>
              <a:latin typeface="微软雅黑" pitchFamily="34" charset="-122"/>
              <a:ea typeface="微软雅黑" pitchFamily="34" charset="-122"/>
            </a:rPr>
            <a:t>所标志的信息</a:t>
          </a:r>
          <a:endParaRPr lang="zh-CN" sz="1400" kern="1200" dirty="0">
            <a:solidFill>
              <a:schemeClr val="tx1"/>
            </a:solidFill>
            <a:latin typeface="微软雅黑" pitchFamily="34" charset="-122"/>
            <a:ea typeface="微软雅黑" pitchFamily="34" charset="-122"/>
          </a:endParaRPr>
        </a:p>
      </dsp:txBody>
      <dsp:txXfrm>
        <a:off x="17128" y="740136"/>
        <a:ext cx="8014520" cy="316618"/>
      </dsp:txXfrm>
    </dsp:sp>
    <dsp:sp modelId="{E1C3FBBC-EA1F-4BAD-A2D7-05E9F414FDC7}">
      <dsp:nvSpPr>
        <dsp:cNvPr id="0" name=""/>
        <dsp:cNvSpPr/>
      </dsp:nvSpPr>
      <dsp:spPr>
        <a:xfrm>
          <a:off x="0" y="1084415"/>
          <a:ext cx="8048776" cy="350874"/>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HEAD              	  </a:t>
          </a:r>
          <a:r>
            <a:rPr lang="zh-CN" sz="1400" b="1" kern="1200" dirty="0">
              <a:solidFill>
                <a:schemeClr val="tx1"/>
              </a:solidFill>
              <a:latin typeface="微软雅黑" pitchFamily="34" charset="-122"/>
              <a:ea typeface="微软雅黑" pitchFamily="34" charset="-122"/>
            </a:rPr>
            <a:t>请求读取由 </a:t>
          </a:r>
          <a:r>
            <a:rPr lang="en-US" sz="1400" b="1" kern="1200" dirty="0">
              <a:solidFill>
                <a:schemeClr val="tx1"/>
              </a:solidFill>
              <a:latin typeface="微软雅黑" pitchFamily="34" charset="-122"/>
              <a:ea typeface="微软雅黑" pitchFamily="34" charset="-122"/>
            </a:rPr>
            <a:t>URL</a:t>
          </a:r>
          <a:r>
            <a:rPr lang="zh-CN" sz="1400" b="1" kern="1200" dirty="0">
              <a:solidFill>
                <a:schemeClr val="tx1"/>
              </a:solidFill>
              <a:latin typeface="微软雅黑" pitchFamily="34" charset="-122"/>
              <a:ea typeface="微软雅黑" pitchFamily="34" charset="-122"/>
            </a:rPr>
            <a:t>所标志的信息的首部</a:t>
          </a:r>
          <a:endParaRPr lang="zh-CN" sz="1400" kern="1200" dirty="0">
            <a:solidFill>
              <a:schemeClr val="tx1"/>
            </a:solidFill>
            <a:latin typeface="微软雅黑" pitchFamily="34" charset="-122"/>
            <a:ea typeface="微软雅黑" pitchFamily="34" charset="-122"/>
          </a:endParaRPr>
        </a:p>
      </dsp:txBody>
      <dsp:txXfrm>
        <a:off x="17128" y="1101543"/>
        <a:ext cx="8014520" cy="316618"/>
      </dsp:txXfrm>
    </dsp:sp>
    <dsp:sp modelId="{0EB52B51-C389-4A36-BC05-864D852DF5FC}">
      <dsp:nvSpPr>
        <dsp:cNvPr id="0" name=""/>
        <dsp:cNvSpPr/>
      </dsp:nvSpPr>
      <dsp:spPr>
        <a:xfrm>
          <a:off x="0" y="1445822"/>
          <a:ext cx="8048776" cy="350874"/>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POST     	    	  </a:t>
          </a:r>
          <a:r>
            <a:rPr lang="zh-CN" sz="1400" b="1" kern="1200" dirty="0">
              <a:solidFill>
                <a:schemeClr val="tx1"/>
              </a:solidFill>
              <a:latin typeface="微软雅黑" pitchFamily="34" charset="-122"/>
              <a:ea typeface="微软雅黑" pitchFamily="34" charset="-122"/>
            </a:rPr>
            <a:t>给服务器添加信息（例如，注释）</a:t>
          </a:r>
          <a:endParaRPr lang="zh-CN" sz="1400" kern="1200" dirty="0">
            <a:solidFill>
              <a:schemeClr val="tx1"/>
            </a:solidFill>
            <a:latin typeface="微软雅黑" pitchFamily="34" charset="-122"/>
            <a:ea typeface="微软雅黑" pitchFamily="34" charset="-122"/>
          </a:endParaRPr>
        </a:p>
      </dsp:txBody>
      <dsp:txXfrm>
        <a:off x="17128" y="1462950"/>
        <a:ext cx="8014520" cy="316618"/>
      </dsp:txXfrm>
    </dsp:sp>
    <dsp:sp modelId="{4E4C0534-037E-45A5-BADC-B7406AF7B1C3}">
      <dsp:nvSpPr>
        <dsp:cNvPr id="0" name=""/>
        <dsp:cNvSpPr/>
      </dsp:nvSpPr>
      <dsp:spPr>
        <a:xfrm>
          <a:off x="0" y="1807229"/>
          <a:ext cx="8048776" cy="350874"/>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PUT			  </a:t>
          </a:r>
          <a:r>
            <a:rPr lang="zh-CN" sz="1400" b="1" kern="1200" dirty="0">
              <a:solidFill>
                <a:schemeClr val="tx1"/>
              </a:solidFill>
              <a:latin typeface="微软雅黑" pitchFamily="34" charset="-122"/>
              <a:ea typeface="微软雅黑" pitchFamily="34" charset="-122"/>
            </a:rPr>
            <a:t>在指明的 </a:t>
          </a:r>
          <a:r>
            <a:rPr lang="en-US" sz="1400" b="1" kern="1200" dirty="0">
              <a:solidFill>
                <a:schemeClr val="tx1"/>
              </a:solidFill>
              <a:latin typeface="微软雅黑" pitchFamily="34" charset="-122"/>
              <a:ea typeface="微软雅黑" pitchFamily="34" charset="-122"/>
            </a:rPr>
            <a:t>URL</a:t>
          </a:r>
          <a:r>
            <a:rPr lang="zh-CN" sz="1400" b="1" kern="1200" dirty="0">
              <a:solidFill>
                <a:schemeClr val="tx1"/>
              </a:solidFill>
              <a:latin typeface="微软雅黑" pitchFamily="34" charset="-122"/>
              <a:ea typeface="微软雅黑" pitchFamily="34" charset="-122"/>
            </a:rPr>
            <a:t>下存储一个文档</a:t>
          </a:r>
          <a:endParaRPr lang="zh-CN" sz="1400" kern="1200" dirty="0">
            <a:solidFill>
              <a:schemeClr val="tx1"/>
            </a:solidFill>
            <a:latin typeface="微软雅黑" pitchFamily="34" charset="-122"/>
            <a:ea typeface="微软雅黑" pitchFamily="34" charset="-122"/>
          </a:endParaRPr>
        </a:p>
      </dsp:txBody>
      <dsp:txXfrm>
        <a:off x="17128" y="1824357"/>
        <a:ext cx="8014520" cy="316618"/>
      </dsp:txXfrm>
    </dsp:sp>
    <dsp:sp modelId="{EC4E5CDF-5396-4684-B963-9679F944855F}">
      <dsp:nvSpPr>
        <dsp:cNvPr id="0" name=""/>
        <dsp:cNvSpPr/>
      </dsp:nvSpPr>
      <dsp:spPr>
        <a:xfrm>
          <a:off x="0" y="2168636"/>
          <a:ext cx="8048776" cy="350874"/>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DELETE		  </a:t>
          </a:r>
          <a:r>
            <a:rPr lang="zh-CN" sz="1400" b="1" kern="1200" dirty="0">
              <a:solidFill>
                <a:schemeClr val="tx1"/>
              </a:solidFill>
              <a:latin typeface="微软雅黑" pitchFamily="34" charset="-122"/>
              <a:ea typeface="微软雅黑" pitchFamily="34" charset="-122"/>
            </a:rPr>
            <a:t>删除指明的 </a:t>
          </a:r>
          <a:r>
            <a:rPr lang="en-US" sz="1400" b="1" kern="1200" dirty="0">
              <a:solidFill>
                <a:schemeClr val="tx1"/>
              </a:solidFill>
              <a:latin typeface="微软雅黑" pitchFamily="34" charset="-122"/>
              <a:ea typeface="微软雅黑" pitchFamily="34" charset="-122"/>
            </a:rPr>
            <a:t>URL</a:t>
          </a:r>
          <a:r>
            <a:rPr lang="zh-CN" sz="1400" b="1" kern="1200" dirty="0">
              <a:solidFill>
                <a:schemeClr val="tx1"/>
              </a:solidFill>
              <a:latin typeface="微软雅黑" pitchFamily="34" charset="-122"/>
              <a:ea typeface="微软雅黑" pitchFamily="34" charset="-122"/>
            </a:rPr>
            <a:t>所标志的资源</a:t>
          </a:r>
          <a:endParaRPr lang="zh-CN" sz="1400" kern="1200" dirty="0">
            <a:solidFill>
              <a:schemeClr val="tx1"/>
            </a:solidFill>
            <a:latin typeface="微软雅黑" pitchFamily="34" charset="-122"/>
            <a:ea typeface="微软雅黑" pitchFamily="34" charset="-122"/>
          </a:endParaRPr>
        </a:p>
      </dsp:txBody>
      <dsp:txXfrm>
        <a:off x="17128" y="2185764"/>
        <a:ext cx="8014520" cy="316618"/>
      </dsp:txXfrm>
    </dsp:sp>
    <dsp:sp modelId="{21855FA6-2BB4-499A-A8A9-433441C6C9C7}">
      <dsp:nvSpPr>
        <dsp:cNvPr id="0" name=""/>
        <dsp:cNvSpPr/>
      </dsp:nvSpPr>
      <dsp:spPr>
        <a:xfrm>
          <a:off x="0" y="2530043"/>
          <a:ext cx="8048776" cy="350874"/>
        </a:xfrm>
        <a:prstGeom prst="roundRect">
          <a:avLst/>
        </a:prstGeom>
        <a:solidFill>
          <a:srgbClr val="99FF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TRACE			  </a:t>
          </a:r>
          <a:r>
            <a:rPr lang="zh-CN" sz="1400" b="1" kern="1200" dirty="0">
              <a:solidFill>
                <a:schemeClr val="tx1"/>
              </a:solidFill>
              <a:latin typeface="微软雅黑" pitchFamily="34" charset="-122"/>
              <a:ea typeface="微软雅黑" pitchFamily="34" charset="-122"/>
            </a:rPr>
            <a:t>用来进行环回测试的请求报文</a:t>
          </a:r>
          <a:endParaRPr lang="zh-CN" sz="1400" kern="1200" dirty="0">
            <a:solidFill>
              <a:schemeClr val="tx1"/>
            </a:solidFill>
            <a:latin typeface="微软雅黑" pitchFamily="34" charset="-122"/>
            <a:ea typeface="微软雅黑" pitchFamily="34" charset="-122"/>
          </a:endParaRPr>
        </a:p>
      </dsp:txBody>
      <dsp:txXfrm>
        <a:off x="17128" y="2547171"/>
        <a:ext cx="8014520" cy="316618"/>
      </dsp:txXfrm>
    </dsp:sp>
    <dsp:sp modelId="{08F040B1-2CBD-4876-96AA-45AF94F7D94E}">
      <dsp:nvSpPr>
        <dsp:cNvPr id="0" name=""/>
        <dsp:cNvSpPr/>
      </dsp:nvSpPr>
      <dsp:spPr>
        <a:xfrm>
          <a:off x="0" y="2891450"/>
          <a:ext cx="8048776" cy="350874"/>
        </a:xfrm>
        <a:prstGeom prst="roundRect">
          <a:avLst/>
        </a:prstGeom>
        <a:solidFill>
          <a:schemeClr val="accent1">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rtl="0">
            <a:lnSpc>
              <a:spcPct val="90000"/>
            </a:lnSpc>
            <a:spcBef>
              <a:spcPct val="0"/>
            </a:spcBef>
            <a:spcAft>
              <a:spcPct val="35000"/>
            </a:spcAft>
            <a:buNone/>
          </a:pPr>
          <a:r>
            <a:rPr lang="en-US" sz="1400" b="1" kern="1200" dirty="0">
              <a:solidFill>
                <a:schemeClr val="tx1"/>
              </a:solidFill>
              <a:latin typeface="微软雅黑" pitchFamily="34" charset="-122"/>
              <a:ea typeface="微软雅黑" pitchFamily="34" charset="-122"/>
            </a:rPr>
            <a:t>	CONNECT		  </a:t>
          </a:r>
          <a:r>
            <a:rPr lang="zh-CN" sz="1400" b="1" kern="1200" dirty="0">
              <a:solidFill>
                <a:schemeClr val="tx1"/>
              </a:solidFill>
              <a:latin typeface="微软雅黑" pitchFamily="34" charset="-122"/>
              <a:ea typeface="微软雅黑" pitchFamily="34" charset="-122"/>
            </a:rPr>
            <a:t>用于代理服务器</a:t>
          </a:r>
          <a:endParaRPr lang="zh-CN" sz="1400" kern="1200" dirty="0">
            <a:solidFill>
              <a:schemeClr val="tx1"/>
            </a:solidFill>
            <a:latin typeface="微软雅黑" pitchFamily="34" charset="-122"/>
            <a:ea typeface="微软雅黑" pitchFamily="34" charset="-122"/>
          </a:endParaRPr>
        </a:p>
      </dsp:txBody>
      <dsp:txXfrm>
        <a:off x="17128" y="2908578"/>
        <a:ext cx="8014520" cy="316618"/>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5" y="12560"/>
          <a:ext cx="3359257" cy="4608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altLang="en-US" sz="1400" b="1" kern="1200" dirty="0">
              <a:solidFill>
                <a:schemeClr val="tx1"/>
              </a:solidFill>
              <a:highlight>
                <a:srgbClr val="FFFF00"/>
              </a:highlight>
              <a:latin typeface="微软雅黑" panose="020B0503020204020204" pitchFamily="34" charset="-122"/>
              <a:ea typeface="微软雅黑" panose="020B0503020204020204" pitchFamily="34" charset="-122"/>
            </a:rPr>
            <a:t>全文检索搜索引擎</a:t>
          </a:r>
        </a:p>
      </dsp:txBody>
      <dsp:txXfrm>
        <a:off x="35" y="12560"/>
        <a:ext cx="3359257" cy="460800"/>
      </dsp:txXfrm>
    </dsp:sp>
    <dsp:sp modelId="{4E1C6945-3361-4332-9057-7162DBC9BE74}">
      <dsp:nvSpPr>
        <dsp:cNvPr id="0" name=""/>
        <dsp:cNvSpPr/>
      </dsp:nvSpPr>
      <dsp:spPr>
        <a:xfrm>
          <a:off x="35" y="473360"/>
          <a:ext cx="3359257" cy="307989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一种纯技术型的检索工具。</a:t>
          </a: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通过搜索软件（例如一种叫做“蜘蛛”或“网络机器人”的 </a:t>
          </a:r>
          <a:r>
            <a:rPr lang="en-US" altLang="en-US" sz="1400" b="1" kern="1200" dirty="0">
              <a:latin typeface="微软雅黑" panose="020B0503020204020204" pitchFamily="34" charset="-122"/>
              <a:ea typeface="微软雅黑" panose="020B0503020204020204" pitchFamily="34" charset="-122"/>
            </a:rPr>
            <a:t>Spider </a:t>
          </a:r>
          <a:r>
            <a:rPr lang="zh-CN" altLang="en-US" sz="1400" b="1" kern="1200" dirty="0">
              <a:latin typeface="微软雅黑" panose="020B0503020204020204" pitchFamily="34" charset="-122"/>
              <a:ea typeface="微软雅黑" panose="020B0503020204020204" pitchFamily="34" charset="-122"/>
            </a:rPr>
            <a:t>程序）到互联网上的各网站收集信息。</a:t>
          </a:r>
        </a:p>
        <a:p>
          <a:pPr marL="114300" lvl="1" indent="-114300" algn="l" defTabSz="622300">
            <a:lnSpc>
              <a:spcPct val="90000"/>
            </a:lnSpc>
            <a:spcBef>
              <a:spcPct val="0"/>
            </a:spcBef>
            <a:spcAft>
              <a:spcPct val="15000"/>
            </a:spcAft>
            <a:buChar char="•"/>
          </a:pPr>
          <a:r>
            <a:rPr lang="zh-CN" altLang="en-US" sz="1400" b="1" kern="1200" dirty="0">
              <a:highlight>
                <a:srgbClr val="FFFF00"/>
              </a:highlight>
              <a:latin typeface="微软雅黑" panose="020B0503020204020204" pitchFamily="34" charset="-122"/>
              <a:ea typeface="微软雅黑" panose="020B0503020204020204" pitchFamily="34" charset="-122"/>
            </a:rPr>
            <a:t>按照一定的规则建立一个很大的在线索引数据库</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ct val="90000"/>
            </a:lnSpc>
            <a:spcBef>
              <a:spcPct val="0"/>
            </a:spcBef>
            <a:spcAft>
              <a:spcPct val="15000"/>
            </a:spcAft>
            <a:buChar char="•"/>
          </a:pPr>
          <a:r>
            <a:rPr lang="zh-CN" altLang="en-US" sz="1400" b="1" kern="1200" dirty="0">
              <a:highlight>
                <a:srgbClr val="FFFF00"/>
              </a:highlight>
              <a:latin typeface="微软雅黑" panose="020B0503020204020204" pitchFamily="34" charset="-122"/>
              <a:ea typeface="微软雅黑" panose="020B0503020204020204" pitchFamily="34" charset="-122"/>
            </a:rPr>
            <a:t>用户在查询时只要输入关键词，从已经建立的索引数据库里查询</a:t>
          </a:r>
          <a:r>
            <a:rPr lang="zh-CN" altLang="en-US" sz="1400" b="1" kern="1200" dirty="0">
              <a:latin typeface="微软雅黑" panose="020B0503020204020204" pitchFamily="34" charset="-122"/>
              <a:ea typeface="微软雅黑" panose="020B0503020204020204" pitchFamily="34" charset="-122"/>
            </a:rPr>
            <a:t>（非实时）。</a:t>
          </a:r>
        </a:p>
        <a:p>
          <a:pPr marL="114300" lvl="1" indent="-114300" algn="l" defTabSz="622300">
            <a:lnSpc>
              <a:spcPct val="90000"/>
            </a:lnSpc>
            <a:spcBef>
              <a:spcPct val="0"/>
            </a:spcBef>
            <a:spcAft>
              <a:spcPct val="15000"/>
            </a:spcAft>
            <a:buChar char="•"/>
          </a:pPr>
          <a:r>
            <a:rPr lang="zh-CN" altLang="en-US" sz="1400" b="1" kern="1200" dirty="0">
              <a:highlight>
                <a:srgbClr val="FFFF00"/>
              </a:highlight>
              <a:latin typeface="微软雅黑" panose="020B0503020204020204" pitchFamily="34" charset="-122"/>
              <a:ea typeface="微软雅黑" panose="020B0503020204020204" pitchFamily="34" charset="-122"/>
            </a:rPr>
            <a:t>需要定期更新维护数据库</a:t>
          </a:r>
          <a:r>
            <a:rPr lang="zh-CN" altLang="en-US" sz="1400" b="1" kern="1200" dirty="0">
              <a:latin typeface="微软雅黑" panose="020B0503020204020204" pitchFamily="34" charset="-122"/>
              <a:ea typeface="微软雅黑" panose="020B0503020204020204" pitchFamily="34" charset="-122"/>
            </a:rPr>
            <a:t>。</a:t>
          </a:r>
        </a:p>
      </dsp:txBody>
      <dsp:txXfrm>
        <a:off x="35" y="473360"/>
        <a:ext cx="3359257" cy="3079890"/>
      </dsp:txXfrm>
    </dsp:sp>
    <dsp:sp modelId="{68DA0B6D-3EBF-4324-92AB-1CC040E6E5B2}">
      <dsp:nvSpPr>
        <dsp:cNvPr id="0" name=""/>
        <dsp:cNvSpPr/>
      </dsp:nvSpPr>
      <dsp:spPr>
        <a:xfrm>
          <a:off x="3829589" y="12560"/>
          <a:ext cx="3359257" cy="4608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zh-CN" altLang="en-US" sz="1400" b="1" kern="1200" dirty="0">
              <a:solidFill>
                <a:schemeClr val="tx1"/>
              </a:solidFill>
              <a:highlight>
                <a:srgbClr val="FFFF00"/>
              </a:highlight>
              <a:latin typeface="微软雅黑" panose="020B0503020204020204" pitchFamily="34" charset="-122"/>
              <a:ea typeface="微软雅黑" panose="020B0503020204020204" pitchFamily="34" charset="-122"/>
            </a:rPr>
            <a:t>分类目录搜索引擎</a:t>
          </a:r>
        </a:p>
      </dsp:txBody>
      <dsp:txXfrm>
        <a:off x="3829589" y="12560"/>
        <a:ext cx="3359257" cy="460800"/>
      </dsp:txXfrm>
    </dsp:sp>
    <dsp:sp modelId="{56308F05-9C6F-4168-94D1-139E66E21E29}">
      <dsp:nvSpPr>
        <dsp:cNvPr id="0" name=""/>
        <dsp:cNvSpPr/>
      </dsp:nvSpPr>
      <dsp:spPr>
        <a:xfrm>
          <a:off x="3829589" y="473360"/>
          <a:ext cx="3359257" cy="307989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分类目录搜索也叫做分类网站搜索。 </a:t>
          </a:r>
        </a:p>
        <a:p>
          <a:pPr marL="114300" lvl="1" indent="-114300" algn="l" defTabSz="622300">
            <a:lnSpc>
              <a:spcPct val="90000"/>
            </a:lnSpc>
            <a:spcBef>
              <a:spcPct val="0"/>
            </a:spcBef>
            <a:spcAft>
              <a:spcPct val="15000"/>
            </a:spcAft>
            <a:buChar char="•"/>
          </a:pPr>
          <a:r>
            <a:rPr lang="zh-CN" altLang="en-US" sz="1400" b="1" kern="1200" dirty="0">
              <a:highlight>
                <a:srgbClr val="FFFF00"/>
              </a:highlight>
              <a:latin typeface="微软雅黑" panose="020B0503020204020204" pitchFamily="34" charset="-122"/>
              <a:ea typeface="微软雅黑" panose="020B0503020204020204" pitchFamily="34" charset="-122"/>
            </a:rPr>
            <a:t>查询时只需要按照分类，不需要使用关键词，查询的准确性较好</a:t>
          </a:r>
          <a:r>
            <a:rPr lang="zh-CN" altLang="en-US" sz="1400" b="1" kern="1200" dirty="0">
              <a:latin typeface="微软雅黑" panose="020B0503020204020204" pitchFamily="34" charset="-122"/>
              <a:ea typeface="微软雅黑" panose="020B0503020204020204" pitchFamily="34" charset="-122"/>
            </a:rPr>
            <a:t>。</a:t>
          </a:r>
        </a:p>
        <a:p>
          <a:pPr marL="114300" lvl="1" indent="-114300" algn="l" defTabSz="622300">
            <a:lnSpc>
              <a:spcPct val="90000"/>
            </a:lnSpc>
            <a:spcBef>
              <a:spcPct val="0"/>
            </a:spcBef>
            <a:spcAft>
              <a:spcPct val="15000"/>
            </a:spcAft>
            <a:buChar char="•"/>
          </a:pPr>
          <a:r>
            <a:rPr lang="zh-CN" altLang="en-US" sz="1400" b="1" kern="1200" dirty="0">
              <a:highlight>
                <a:srgbClr val="FFFF00"/>
              </a:highlight>
              <a:latin typeface="微软雅黑" panose="020B0503020204020204" pitchFamily="34" charset="-122"/>
              <a:ea typeface="微软雅黑" panose="020B0503020204020204" pitchFamily="34" charset="-122"/>
            </a:rPr>
            <a:t>查询的结果不是具体的页面，而是被收录网站主页的 </a:t>
          </a:r>
          <a:r>
            <a:rPr lang="en-US" altLang="en-US" sz="1400" b="1" kern="1200" dirty="0">
              <a:highlight>
                <a:srgbClr val="FFFF00"/>
              </a:highlight>
              <a:latin typeface="微软雅黑" panose="020B0503020204020204" pitchFamily="34" charset="-122"/>
              <a:ea typeface="微软雅黑" panose="020B0503020204020204" pitchFamily="34" charset="-122"/>
            </a:rPr>
            <a:t>URL </a:t>
          </a:r>
          <a:r>
            <a:rPr lang="zh-CN" altLang="en-US" sz="1400" b="1" kern="1200" dirty="0">
              <a:highlight>
                <a:srgbClr val="FFFF00"/>
              </a:highlight>
              <a:latin typeface="微软雅黑" panose="020B0503020204020204" pitchFamily="34" charset="-122"/>
              <a:ea typeface="微软雅黑" panose="020B0503020204020204" pitchFamily="34" charset="-122"/>
            </a:rPr>
            <a:t>地址</a:t>
          </a:r>
          <a:r>
            <a:rPr lang="zh-CN" altLang="en-US" sz="1400" b="1" kern="1200" dirty="0">
              <a:latin typeface="微软雅黑" panose="020B0503020204020204" pitchFamily="34" charset="-122"/>
              <a:ea typeface="微软雅黑" panose="020B0503020204020204" pitchFamily="34" charset="-122"/>
            </a:rPr>
            <a:t>。</a:t>
          </a:r>
        </a:p>
      </dsp:txBody>
      <dsp:txXfrm>
        <a:off x="3829589" y="473360"/>
        <a:ext cx="3359257" cy="3079890"/>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F60847-C5CB-4E1F-92CA-969FDFBB52DB}">
      <dsp:nvSpPr>
        <dsp:cNvPr id="0" name=""/>
        <dsp:cNvSpPr/>
      </dsp:nvSpPr>
      <dsp:spPr>
        <a:xfrm>
          <a:off x="35" y="1090"/>
          <a:ext cx="3359257" cy="8640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en-US" sz="1800" b="1" kern="1200" dirty="0">
              <a:latin typeface="微软雅黑" panose="020B0503020204020204" pitchFamily="34" charset="-122"/>
              <a:ea typeface="微软雅黑" panose="020B0503020204020204" pitchFamily="34" charset="-122"/>
            </a:rPr>
            <a:t>1. </a:t>
          </a:r>
          <a:r>
            <a:rPr lang="zh-CN" altLang="en-US" sz="1800" b="1" kern="1200" dirty="0">
              <a:latin typeface="微软雅黑" panose="020B0503020204020204" pitchFamily="34" charset="-122"/>
              <a:ea typeface="微软雅黑" panose="020B0503020204020204" pitchFamily="34" charset="-122"/>
            </a:rPr>
            <a:t>博客</a:t>
          </a:r>
        </a:p>
      </dsp:txBody>
      <dsp:txXfrm>
        <a:off x="35" y="1090"/>
        <a:ext cx="3359257" cy="864000"/>
      </dsp:txXfrm>
    </dsp:sp>
    <dsp:sp modelId="{4E1C6945-3361-4332-9057-7162DBC9BE74}">
      <dsp:nvSpPr>
        <dsp:cNvPr id="0" name=""/>
        <dsp:cNvSpPr/>
      </dsp:nvSpPr>
      <dsp:spPr>
        <a:xfrm>
          <a:off x="35" y="865090"/>
          <a:ext cx="3359257" cy="2264625"/>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a:latin typeface="微软雅黑" panose="020B0503020204020204" pitchFamily="34" charset="-122"/>
              <a:ea typeface="微软雅黑" panose="020B0503020204020204" pitchFamily="34" charset="-122"/>
            </a:rPr>
            <a:t>万维网日志 </a:t>
          </a:r>
          <a:r>
            <a:rPr lang="en-US" altLang="en-US" sz="1400" b="1" kern="1200">
              <a:latin typeface="微软雅黑" panose="020B0503020204020204" pitchFamily="34" charset="-122"/>
              <a:ea typeface="微软雅黑" panose="020B0503020204020204" pitchFamily="34" charset="-122"/>
            </a:rPr>
            <a:t>(weblog) </a:t>
          </a:r>
          <a:r>
            <a:rPr lang="zh-CN" altLang="en-US" sz="1400" b="1" kern="1200">
              <a:latin typeface="微软雅黑" panose="020B0503020204020204" pitchFamily="34" charset="-122"/>
              <a:ea typeface="微软雅黑" panose="020B0503020204020204" pitchFamily="34" charset="-122"/>
            </a:rPr>
            <a:t>的简称。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使网民不仅是互联网上内容的消费者，而且还是互联网上内容的生产者。</a:t>
          </a:r>
        </a:p>
      </dsp:txBody>
      <dsp:txXfrm>
        <a:off x="35" y="865090"/>
        <a:ext cx="3359257" cy="2264625"/>
      </dsp:txXfrm>
    </dsp:sp>
    <dsp:sp modelId="{68DA0B6D-3EBF-4324-92AB-1CC040E6E5B2}">
      <dsp:nvSpPr>
        <dsp:cNvPr id="0" name=""/>
        <dsp:cNvSpPr/>
      </dsp:nvSpPr>
      <dsp:spPr>
        <a:xfrm>
          <a:off x="3829589" y="1090"/>
          <a:ext cx="3359257" cy="8640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altLang="en-US" sz="1800" b="1" kern="1200" dirty="0">
              <a:latin typeface="微软雅黑" panose="020B0503020204020204" pitchFamily="34" charset="-122"/>
              <a:ea typeface="微软雅黑" panose="020B0503020204020204" pitchFamily="34" charset="-122"/>
            </a:rPr>
            <a:t>2. </a:t>
          </a:r>
          <a:r>
            <a:rPr lang="zh-CN" altLang="en-US" sz="1800" b="1" kern="1200" dirty="0">
              <a:latin typeface="微软雅黑" panose="020B0503020204020204" pitchFamily="34" charset="-122"/>
              <a:ea typeface="微软雅黑" panose="020B0503020204020204" pitchFamily="34" charset="-122"/>
            </a:rPr>
            <a:t>微博</a:t>
          </a:r>
        </a:p>
      </dsp:txBody>
      <dsp:txXfrm>
        <a:off x="3829589" y="1090"/>
        <a:ext cx="3359257" cy="864000"/>
      </dsp:txXfrm>
    </dsp:sp>
    <dsp:sp modelId="{56308F05-9C6F-4168-94D1-139E66E21E29}">
      <dsp:nvSpPr>
        <dsp:cNvPr id="0" name=""/>
        <dsp:cNvSpPr/>
      </dsp:nvSpPr>
      <dsp:spPr>
        <a:xfrm>
          <a:off x="3829589" y="865090"/>
          <a:ext cx="3359257" cy="2264625"/>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微型博客 </a:t>
          </a:r>
          <a:r>
            <a:rPr lang="en-US" altLang="en-US" sz="1400" b="1" kern="1200" dirty="0">
              <a:latin typeface="微软雅黑" panose="020B0503020204020204" pitchFamily="34" charset="-122"/>
              <a:ea typeface="微软雅黑" panose="020B0503020204020204" pitchFamily="34" charset="-122"/>
            </a:rPr>
            <a:t>(microblog)</a:t>
          </a:r>
          <a:r>
            <a:rPr lang="zh-CN" altLang="en-US" sz="1400" b="1" kern="1200" dirty="0">
              <a:latin typeface="微软雅黑" panose="020B0503020204020204" pitchFamily="34" charset="-122"/>
              <a:ea typeface="微软雅黑" panose="020B0503020204020204" pitchFamily="34" charset="-122"/>
            </a:rPr>
            <a:t>，又称为微博客。</a:t>
          </a: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只记录片段、碎语，三言两语，现场记录，发发感慨，晒晒心情，永远只针对一个问题进行回答。</a:t>
          </a: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开通的多种 </a:t>
          </a:r>
          <a:r>
            <a:rPr lang="en-US" altLang="en-US" sz="1400" b="1" kern="1200" dirty="0">
              <a:latin typeface="微软雅黑" panose="020B0503020204020204" pitchFamily="34" charset="-122"/>
              <a:ea typeface="微软雅黑" panose="020B0503020204020204" pitchFamily="34" charset="-122"/>
            </a:rPr>
            <a:t>API </a:t>
          </a:r>
          <a:r>
            <a:rPr lang="zh-CN" altLang="en-US" sz="1400" b="1" kern="1200" dirty="0">
              <a:latin typeface="微软雅黑" panose="020B0503020204020204" pitchFamily="34" charset="-122"/>
              <a:ea typeface="微软雅黑" panose="020B0503020204020204" pitchFamily="34" charset="-122"/>
            </a:rPr>
            <a:t>使用户可通过手机、网络等方式即时更新自己的信息。</a:t>
          </a:r>
        </a:p>
        <a:p>
          <a:pPr marL="114300" lvl="1" indent="-114300" algn="l" defTabSz="622300">
            <a:lnSpc>
              <a:spcPct val="90000"/>
            </a:lnSpc>
            <a:spcBef>
              <a:spcPct val="0"/>
            </a:spcBef>
            <a:spcAft>
              <a:spcPct val="15000"/>
            </a:spcAft>
            <a:buChar char="•"/>
          </a:pPr>
          <a:r>
            <a:rPr lang="zh-CN" altLang="en-US" sz="1400" b="1" kern="1200" dirty="0">
              <a:latin typeface="微软雅黑" panose="020B0503020204020204" pitchFamily="34" charset="-122"/>
              <a:ea typeface="微软雅黑" panose="020B0503020204020204" pitchFamily="34" charset="-122"/>
            </a:rPr>
            <a:t>是一种互动及传播性极快的工具。</a:t>
          </a:r>
        </a:p>
      </dsp:txBody>
      <dsp:txXfrm>
        <a:off x="3829589" y="865090"/>
        <a:ext cx="3359257" cy="2264625"/>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2024/5/30</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a:t>
            </a:fld>
            <a:endParaRPr lang="zh-CN" altLang="en-US"/>
          </a:p>
        </p:txBody>
      </p:sp>
    </p:spTree>
    <p:extLst>
      <p:ext uri="{BB962C8B-B14F-4D97-AF65-F5344CB8AC3E}">
        <p14:creationId xmlns:p14="http://schemas.microsoft.com/office/powerpoint/2010/main" val="41827944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a:t>
            </a:fld>
            <a:endParaRPr lang="zh-CN" altLang="en-US"/>
          </a:p>
        </p:txBody>
      </p:sp>
    </p:spTree>
    <p:extLst>
      <p:ext uri="{BB962C8B-B14F-4D97-AF65-F5344CB8AC3E}">
        <p14:creationId xmlns:p14="http://schemas.microsoft.com/office/powerpoint/2010/main" val="16947883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a:t>
            </a:fld>
            <a:endParaRPr lang="zh-CN" altLang="en-US"/>
          </a:p>
        </p:txBody>
      </p:sp>
    </p:spTree>
    <p:extLst>
      <p:ext uri="{BB962C8B-B14F-4D97-AF65-F5344CB8AC3E}">
        <p14:creationId xmlns:p14="http://schemas.microsoft.com/office/powerpoint/2010/main" val="102838178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a:t>
            </a:fld>
            <a:endParaRPr lang="zh-CN" altLang="en-US"/>
          </a:p>
        </p:txBody>
      </p:sp>
    </p:spTree>
    <p:extLst>
      <p:ext uri="{BB962C8B-B14F-4D97-AF65-F5344CB8AC3E}">
        <p14:creationId xmlns:p14="http://schemas.microsoft.com/office/powerpoint/2010/main" val="363534752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a:t>
            </a:fld>
            <a:endParaRPr lang="zh-CN" altLang="en-US"/>
          </a:p>
        </p:txBody>
      </p:sp>
    </p:spTree>
    <p:extLst>
      <p:ext uri="{BB962C8B-B14F-4D97-AF65-F5344CB8AC3E}">
        <p14:creationId xmlns:p14="http://schemas.microsoft.com/office/powerpoint/2010/main" val="4064304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37</a:t>
            </a:fld>
            <a:endParaRPr lang="zh-CN" altLang="en-US"/>
          </a:p>
        </p:txBody>
      </p:sp>
    </p:spTree>
    <p:extLst>
      <p:ext uri="{BB962C8B-B14F-4D97-AF65-F5344CB8AC3E}">
        <p14:creationId xmlns:p14="http://schemas.microsoft.com/office/powerpoint/2010/main" val="367118974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38</a:t>
            </a:fld>
            <a:endParaRPr lang="zh-CN" altLang="en-US"/>
          </a:p>
        </p:txBody>
      </p:sp>
    </p:spTree>
    <p:extLst>
      <p:ext uri="{BB962C8B-B14F-4D97-AF65-F5344CB8AC3E}">
        <p14:creationId xmlns:p14="http://schemas.microsoft.com/office/powerpoint/2010/main" val="38676447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74</a:t>
            </a:fld>
            <a:endParaRPr lang="zh-CN" altLang="en-US"/>
          </a:p>
        </p:txBody>
      </p:sp>
    </p:spTree>
    <p:extLst>
      <p:ext uri="{BB962C8B-B14F-4D97-AF65-F5344CB8AC3E}">
        <p14:creationId xmlns:p14="http://schemas.microsoft.com/office/powerpoint/2010/main" val="2415631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89</a:t>
            </a:fld>
            <a:endParaRPr lang="zh-CN" altLang="en-US"/>
          </a:p>
        </p:txBody>
      </p:sp>
    </p:spTree>
    <p:extLst>
      <p:ext uri="{BB962C8B-B14F-4D97-AF65-F5344CB8AC3E}">
        <p14:creationId xmlns:p14="http://schemas.microsoft.com/office/powerpoint/2010/main" val="24607878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101</a:t>
            </a:fld>
            <a:endParaRPr lang="zh-CN" altLang="en-US"/>
          </a:p>
        </p:txBody>
      </p:sp>
    </p:spTree>
    <p:extLst>
      <p:ext uri="{BB962C8B-B14F-4D97-AF65-F5344CB8AC3E}">
        <p14:creationId xmlns:p14="http://schemas.microsoft.com/office/powerpoint/2010/main" val="27588173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p14="http://schemas.microsoft.com/office/powerpoint/2010/main" val="12893177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p14="http://schemas.microsoft.com/office/powerpoint/2010/main" val="13754096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130</a:t>
            </a:fld>
            <a:endParaRPr lang="zh-CN" altLang="en-US"/>
          </a:p>
        </p:txBody>
      </p:sp>
    </p:spTree>
    <p:extLst>
      <p:ext uri="{BB962C8B-B14F-4D97-AF65-F5344CB8AC3E}">
        <p14:creationId xmlns:p14="http://schemas.microsoft.com/office/powerpoint/2010/main" val="14609085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131</a:t>
            </a:fld>
            <a:endParaRPr lang="zh-CN" altLang="en-US"/>
          </a:p>
        </p:txBody>
      </p:sp>
    </p:spTree>
    <p:extLst>
      <p:ext uri="{BB962C8B-B14F-4D97-AF65-F5344CB8AC3E}">
        <p14:creationId xmlns:p14="http://schemas.microsoft.com/office/powerpoint/2010/main" val="171962389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132</a:t>
            </a:fld>
            <a:endParaRPr lang="zh-CN" altLang="en-US"/>
          </a:p>
        </p:txBody>
      </p:sp>
    </p:spTree>
    <p:extLst>
      <p:ext uri="{BB962C8B-B14F-4D97-AF65-F5344CB8AC3E}">
        <p14:creationId xmlns:p14="http://schemas.microsoft.com/office/powerpoint/2010/main" val="203247819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133</a:t>
            </a:fld>
            <a:endParaRPr lang="zh-CN" altLang="en-US"/>
          </a:p>
        </p:txBody>
      </p:sp>
    </p:spTree>
    <p:extLst>
      <p:ext uri="{BB962C8B-B14F-4D97-AF65-F5344CB8AC3E}">
        <p14:creationId xmlns:p14="http://schemas.microsoft.com/office/powerpoint/2010/main" val="216687154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p14="http://schemas.microsoft.com/office/powerpoint/2010/main" val="31284936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150</a:t>
            </a:fld>
            <a:endParaRPr lang="zh-CN" altLang="en-US"/>
          </a:p>
        </p:txBody>
      </p:sp>
    </p:spTree>
    <p:extLst>
      <p:ext uri="{BB962C8B-B14F-4D97-AF65-F5344CB8AC3E}">
        <p14:creationId xmlns:p14="http://schemas.microsoft.com/office/powerpoint/2010/main" val="29556381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204</a:t>
            </a:fld>
            <a:endParaRPr lang="zh-CN" altLang="en-US"/>
          </a:p>
        </p:txBody>
      </p:sp>
    </p:spTree>
    <p:extLst>
      <p:ext uri="{BB962C8B-B14F-4D97-AF65-F5344CB8AC3E}">
        <p14:creationId xmlns:p14="http://schemas.microsoft.com/office/powerpoint/2010/main" val="12505107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250</a:t>
            </a:fld>
            <a:endParaRPr lang="zh-CN" altLang="en-US"/>
          </a:p>
        </p:txBody>
      </p:sp>
    </p:spTree>
    <p:extLst>
      <p:ext uri="{BB962C8B-B14F-4D97-AF65-F5344CB8AC3E}">
        <p14:creationId xmlns:p14="http://schemas.microsoft.com/office/powerpoint/2010/main" val="74260838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251</a:t>
            </a:fld>
            <a:endParaRPr lang="zh-CN" altLang="en-US"/>
          </a:p>
        </p:txBody>
      </p:sp>
    </p:spTree>
    <p:extLst>
      <p:ext uri="{BB962C8B-B14F-4D97-AF65-F5344CB8AC3E}">
        <p14:creationId xmlns:p14="http://schemas.microsoft.com/office/powerpoint/2010/main" val="179358934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252</a:t>
            </a:fld>
            <a:endParaRPr lang="zh-CN" altLang="en-US"/>
          </a:p>
        </p:txBody>
      </p:sp>
    </p:spTree>
    <p:extLst>
      <p:ext uri="{BB962C8B-B14F-4D97-AF65-F5344CB8AC3E}">
        <p14:creationId xmlns:p14="http://schemas.microsoft.com/office/powerpoint/2010/main" val="395845275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UDP</a:t>
            </a:r>
            <a:r>
              <a:rPr lang="zh-CN" altLang="en-US" dirty="0"/>
              <a:t>服务器由于只提供无连接服务，因此不使用</a:t>
            </a:r>
            <a:r>
              <a:rPr lang="en-US" altLang="zh-CN" dirty="0"/>
              <a:t>listen</a:t>
            </a:r>
            <a:r>
              <a:rPr lang="zh-CN" altLang="en-US" dirty="0"/>
              <a:t>和</a:t>
            </a:r>
            <a:r>
              <a:rPr lang="en-US" altLang="zh-CN" dirty="0"/>
              <a:t>accept</a:t>
            </a:r>
            <a:r>
              <a:rPr lang="zh-CN" altLang="en-US" dirty="0"/>
              <a:t>系统调用。</a:t>
            </a: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253</a:t>
            </a:fld>
            <a:endParaRPr lang="zh-CN" altLang="en-US"/>
          </a:p>
        </p:txBody>
      </p:sp>
    </p:spTree>
    <p:extLst>
      <p:ext uri="{BB962C8B-B14F-4D97-AF65-F5344CB8AC3E}">
        <p14:creationId xmlns:p14="http://schemas.microsoft.com/office/powerpoint/2010/main" val="61710349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在</a:t>
            </a:r>
            <a:r>
              <a:rPr lang="en-US" altLang="zh-CN" dirty="0"/>
              <a:t>connect</a:t>
            </a:r>
            <a:r>
              <a:rPr lang="zh-CN" altLang="en-US" dirty="0"/>
              <a:t>系统调用中，客户必须指明远地端点（即远地服务器的</a:t>
            </a:r>
            <a:r>
              <a:rPr lang="en-US" altLang="zh-CN" dirty="0"/>
              <a:t>IP</a:t>
            </a:r>
            <a:r>
              <a:rPr lang="zh-CN" altLang="en-US" dirty="0"/>
              <a:t>地址和端口号）。</a:t>
            </a:r>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255</a:t>
            </a:fld>
            <a:endParaRPr lang="zh-CN" altLang="en-US"/>
          </a:p>
        </p:txBody>
      </p:sp>
    </p:spTree>
    <p:extLst>
      <p:ext uri="{BB962C8B-B14F-4D97-AF65-F5344CB8AC3E}">
        <p14:creationId xmlns:p14="http://schemas.microsoft.com/office/powerpoint/2010/main" val="266604003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调用用</a:t>
            </a:r>
            <a:r>
              <a:rPr lang="en-US" altLang="zh-CN" dirty="0"/>
              <a:t>send</a:t>
            </a:r>
            <a:r>
              <a:rPr lang="zh-CN" altLang="en-US" dirty="0"/>
              <a:t>需要三个变量：数据要发往的套接字的描述符、要发送的数据的地址以及数据的长度。</a:t>
            </a:r>
            <a:endParaRPr lang="en-US" altLang="zh-CN" dirty="0"/>
          </a:p>
          <a:p>
            <a:r>
              <a:rPr lang="zh-CN" altLang="en-US" dirty="0"/>
              <a:t>通常</a:t>
            </a:r>
            <a:r>
              <a:rPr lang="en-US" altLang="zh-CN" dirty="0"/>
              <a:t>send</a:t>
            </a:r>
            <a:r>
              <a:rPr lang="zh-CN" altLang="en-US" dirty="0"/>
              <a:t>调用把数据复制到操作系统内核的缓存中。若系统的缓存已满，</a:t>
            </a:r>
            <a:r>
              <a:rPr lang="en-US" altLang="zh-CN" dirty="0"/>
              <a:t>send</a:t>
            </a:r>
            <a:r>
              <a:rPr lang="zh-CN" altLang="en-US" dirty="0"/>
              <a:t>就暂时阻塞，直到缓存有空间存放新的数据。</a:t>
            </a:r>
          </a:p>
          <a:p>
            <a:endParaRPr lang="en-US" altLang="zh-CN" dirty="0"/>
          </a:p>
          <a:p>
            <a:r>
              <a:rPr lang="zh-CN" altLang="en-US" dirty="0"/>
              <a:t>调用</a:t>
            </a:r>
            <a:r>
              <a:rPr lang="en-US" altLang="zh-CN" dirty="0" err="1"/>
              <a:t>recv</a:t>
            </a:r>
            <a:r>
              <a:rPr lang="zh-CN" altLang="en-US" dirty="0"/>
              <a:t>也需要三个变量：要使用的套接字的描述符、缓存的地址以及缓存空间的长度。</a:t>
            </a:r>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256</a:t>
            </a:fld>
            <a:endParaRPr lang="zh-CN" altLang="en-US"/>
          </a:p>
        </p:txBody>
      </p:sp>
    </p:spTree>
    <p:extLst>
      <p:ext uri="{BB962C8B-B14F-4D97-AF65-F5344CB8AC3E}">
        <p14:creationId xmlns:p14="http://schemas.microsoft.com/office/powerpoint/2010/main" val="26277345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257</a:t>
            </a:fld>
            <a:endParaRPr lang="zh-CN" altLang="en-US"/>
          </a:p>
        </p:txBody>
      </p:sp>
    </p:spTree>
    <p:extLst>
      <p:ext uri="{BB962C8B-B14F-4D97-AF65-F5344CB8AC3E}">
        <p14:creationId xmlns:p14="http://schemas.microsoft.com/office/powerpoint/2010/main" val="2956329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259</a:t>
            </a:fld>
            <a:endParaRPr lang="zh-CN" altLang="en-US"/>
          </a:p>
        </p:txBody>
      </p:sp>
    </p:spTree>
    <p:extLst>
      <p:ext uri="{BB962C8B-B14F-4D97-AF65-F5344CB8AC3E}">
        <p14:creationId xmlns:p14="http://schemas.microsoft.com/office/powerpoint/2010/main" val="286836349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268</a:t>
            </a:fld>
            <a:endParaRPr lang="zh-CN" altLang="en-US"/>
          </a:p>
        </p:txBody>
      </p:sp>
    </p:spTree>
    <p:extLst>
      <p:ext uri="{BB962C8B-B14F-4D97-AF65-F5344CB8AC3E}">
        <p14:creationId xmlns:p14="http://schemas.microsoft.com/office/powerpoint/2010/main" val="3756863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269</a:t>
            </a:fld>
            <a:endParaRPr lang="zh-CN" altLang="en-US"/>
          </a:p>
        </p:txBody>
      </p:sp>
    </p:spTree>
    <p:extLst>
      <p:ext uri="{BB962C8B-B14F-4D97-AF65-F5344CB8AC3E}">
        <p14:creationId xmlns:p14="http://schemas.microsoft.com/office/powerpoint/2010/main" val="42469671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279</a:t>
            </a:fld>
            <a:endParaRPr lang="zh-CN" altLang="en-US"/>
          </a:p>
        </p:txBody>
      </p:sp>
    </p:spTree>
    <p:extLst>
      <p:ext uri="{BB962C8B-B14F-4D97-AF65-F5344CB8AC3E}">
        <p14:creationId xmlns:p14="http://schemas.microsoft.com/office/powerpoint/2010/main" val="101047638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280</a:t>
            </a:fld>
            <a:endParaRPr lang="zh-CN" altLang="en-US"/>
          </a:p>
        </p:txBody>
      </p:sp>
    </p:spTree>
    <p:extLst>
      <p:ext uri="{BB962C8B-B14F-4D97-AF65-F5344CB8AC3E}">
        <p14:creationId xmlns:p14="http://schemas.microsoft.com/office/powerpoint/2010/main" val="1122049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4605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p14="http://schemas.microsoft.com/office/powerpoint/2010/main" val="7642588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4996674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0064001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9922684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261718659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591302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228525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7156747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9169469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2024/5/30</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p14="http://schemas.microsoft.com/office/powerpoint/2010/main" val="33153080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30"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9" name="图片 18"/>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sp>
        <p:nvSpPr>
          <p:cNvPr id="20"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 name="矩形 20"/>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3" name="Rectangle 4"/>
          <p:cNvSpPr>
            <a:spLocks noChangeArrowheads="1"/>
          </p:cNvSpPr>
          <p:nvPr userDrawn="1"/>
        </p:nvSpPr>
        <p:spPr bwMode="auto">
          <a:xfrm>
            <a:off x="4810742" y="164227"/>
            <a:ext cx="1065212"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fr-FR" sz="1100" b="1" dirty="0">
                <a:solidFill>
                  <a:srgbClr val="0070C0"/>
                </a:solidFill>
                <a:latin typeface="微软雅黑" pitchFamily="34" charset="-122"/>
                <a:ea typeface="微软雅黑" pitchFamily="34" charset="-122"/>
              </a:rPr>
              <a:t>谢希仁 编著</a:t>
            </a:r>
          </a:p>
        </p:txBody>
      </p:sp>
      <p:sp>
        <p:nvSpPr>
          <p:cNvPr id="24"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a:solidFill>
                  <a:srgbClr val="0070C0"/>
                </a:solidFill>
                <a:latin typeface="微软雅黑" pitchFamily="34" charset="-122"/>
                <a:ea typeface="微软雅黑" pitchFamily="34" charset="-122"/>
              </a:rPr>
              <a:t>计算机网络 </a:t>
            </a:r>
            <a:r>
              <a:rPr lang="en-US" altLang="zh-CN" sz="1100" b="1" dirty="0">
                <a:solidFill>
                  <a:srgbClr val="0070C0"/>
                </a:solidFill>
                <a:latin typeface="微软雅黑" pitchFamily="34" charset="-122"/>
                <a:ea typeface="微软雅黑" pitchFamily="34" charset="-122"/>
              </a:rPr>
              <a:t>(</a:t>
            </a:r>
            <a:r>
              <a:rPr lang="zh-CN" altLang="en-US" sz="1100" b="1" dirty="0">
                <a:solidFill>
                  <a:srgbClr val="0070C0"/>
                </a:solidFill>
                <a:latin typeface="微软雅黑" pitchFamily="34" charset="-122"/>
                <a:ea typeface="微软雅黑" pitchFamily="34" charset="-122"/>
              </a:rPr>
              <a:t>第 </a:t>
            </a:r>
            <a:r>
              <a:rPr lang="en-US" altLang="zh-CN" sz="1100" b="1" dirty="0">
                <a:solidFill>
                  <a:srgbClr val="0070C0"/>
                </a:solidFill>
                <a:latin typeface="微软雅黑" pitchFamily="34" charset="-122"/>
                <a:ea typeface="微软雅黑" pitchFamily="34" charset="-122"/>
              </a:rPr>
              <a:t>8 </a:t>
            </a:r>
            <a:r>
              <a:rPr lang="zh-CN" altLang="en-US" sz="1100" b="1" dirty="0">
                <a:solidFill>
                  <a:srgbClr val="0070C0"/>
                </a:solidFill>
                <a:latin typeface="微软雅黑" pitchFamily="34" charset="-122"/>
                <a:ea typeface="微软雅黑" pitchFamily="34" charset="-122"/>
              </a:rPr>
              <a:t>版</a:t>
            </a:r>
            <a:r>
              <a:rPr lang="en-US" altLang="zh-CN" sz="1100" b="1" dirty="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5" name="椭圆 24"/>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26" name="Line 3"/>
          <p:cNvSpPr>
            <a:spLocks noChangeShapeType="1"/>
          </p:cNvSpPr>
          <p:nvPr userDrawn="1"/>
        </p:nvSpPr>
        <p:spPr bwMode="auto">
          <a:xfrm>
            <a:off x="5713428" y="301530"/>
            <a:ext cx="3430572" cy="0"/>
          </a:xfrm>
          <a:prstGeom prst="line">
            <a:avLst/>
          </a:prstGeom>
          <a:noFill/>
          <a:ln w="12700" algn="ctr">
            <a:solidFill>
              <a:srgbClr val="00CC00"/>
            </a:solidFill>
            <a:round/>
            <a:headEnd/>
            <a:tailEnd/>
          </a:ln>
          <a:extLst>
            <a:ext uri="{909E8E84-426E-40DD-AFC4-6F175D3DCCD1}">
              <a14:hiddenFill xmlns:a14="http://schemas.microsoft.com/office/drawing/2010/main">
                <a:noFill/>
              </a14:hiddenFill>
            </a:ext>
          </a:extLst>
        </p:spPr>
        <p:txBody>
          <a:bodyPr/>
          <a:lstStyle/>
          <a:p>
            <a:pPr lvl="0"/>
            <a:endParaRPr lang="zh-CN" altLang="en-US"/>
          </a:p>
        </p:txBody>
      </p:sp>
      <p:sp>
        <p:nvSpPr>
          <p:cNvPr id="27" name="椭圆 26"/>
          <p:cNvSpPr/>
          <p:nvPr userDrawn="1"/>
        </p:nvSpPr>
        <p:spPr>
          <a:xfrm>
            <a:off x="5710547"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32" name="图片 31"/>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extLst>
      <p:ext uri="{BB962C8B-B14F-4D97-AF65-F5344CB8AC3E}">
        <p14:creationId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8" Type="http://schemas.openxmlformats.org/officeDocument/2006/relationships/diagramLayout" Target="../diagrams/layout2.xml"/><Relationship Id="rId3" Type="http://schemas.openxmlformats.org/officeDocument/2006/relationships/diagramLayout" Target="../diagrams/layout1.xml"/><Relationship Id="rId7" Type="http://schemas.openxmlformats.org/officeDocument/2006/relationships/diagramData" Target="../diagrams/data2.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11" Type="http://schemas.microsoft.com/office/2007/relationships/diagramDrawing" Target="../diagrams/drawing2.xml"/><Relationship Id="rId5" Type="http://schemas.openxmlformats.org/officeDocument/2006/relationships/diagramColors" Target="../diagrams/colors1.xml"/><Relationship Id="rId10" Type="http://schemas.openxmlformats.org/officeDocument/2006/relationships/diagramColors" Target="../diagrams/colors2.xml"/><Relationship Id="rId4" Type="http://schemas.openxmlformats.org/officeDocument/2006/relationships/diagramQuickStyle" Target="../diagrams/quickStyle1.xml"/><Relationship Id="rId9" Type="http://schemas.openxmlformats.org/officeDocument/2006/relationships/diagramQuickStyle" Target="../diagrams/quickStyle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10.wmf"/></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11.w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oleObject" Target="../embeddings/oleObject3.bin"/><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0.wmf"/><Relationship Id="rId4" Type="http://schemas.openxmlformats.org/officeDocument/2006/relationships/oleObject" Target="../embeddings/oleObject4.bin"/></Relationships>
</file>

<file path=ppt/slides/_rels/slide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1.wmf"/><Relationship Id="rId4" Type="http://schemas.openxmlformats.org/officeDocument/2006/relationships/oleObject" Target="../embeddings/oleObject5.bin"/></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13.png"/><Relationship Id="rId4" Type="http://schemas.openxmlformats.org/officeDocument/2006/relationships/image" Target="../media/image11.wmf"/></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1.wmf"/></Relationships>
</file>

<file path=ppt/slides/_rels/slide76.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1.wmf"/></Relationships>
</file>

<file path=ppt/slides/_rels/slide7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1.wmf"/><Relationship Id="rId4" Type="http://schemas.openxmlformats.org/officeDocument/2006/relationships/oleObject" Target="../embeddings/oleObject9.bin"/></Relationships>
</file>

<file path=ppt/slides/_rels/slide7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1.wmf"/><Relationship Id="rId4" Type="http://schemas.openxmlformats.org/officeDocument/2006/relationships/oleObject" Target="../embeddings/oleObject10.bin"/></Relationships>
</file>

<file path=ppt/slides/_rels/slide7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 Id="rId5" Type="http://schemas.openxmlformats.org/officeDocument/2006/relationships/image" Target="../media/image11.wmf"/><Relationship Id="rId4" Type="http://schemas.openxmlformats.org/officeDocument/2006/relationships/oleObject" Target="../embeddings/oleObject11.bin"/></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116.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jpe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2.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13.bin"/></Relationships>
</file>

<file path=ppt/slides/_rels/slide126.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4.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15.bin"/></Relationships>
</file>

<file path=ppt/slides/_rels/slide127.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6.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17.bin"/></Relationships>
</file>

<file path=ppt/slides/_rels/slide128.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18.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19.bin"/></Relationships>
</file>

<file path=ppt/slides/_rels/slide129.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20.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21.bin"/></Relationships>
</file>

<file path=ppt/slides/_rels/slide130.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oleObject" Target="../embeddings/oleObject22.bin"/><Relationship Id="rId7" Type="http://schemas.openxmlformats.org/officeDocument/2006/relationships/oleObject" Target="../embeddings/oleObject24.bin"/><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oleObject" Target="../embeddings/oleObject23.bin"/><Relationship Id="rId10" Type="http://schemas.openxmlformats.org/officeDocument/2006/relationships/image" Target="../media/image18.emf"/><Relationship Id="rId4" Type="http://schemas.openxmlformats.org/officeDocument/2006/relationships/image" Target="../media/image10.wmf"/><Relationship Id="rId9" Type="http://schemas.openxmlformats.org/officeDocument/2006/relationships/oleObject" Target="../embeddings/oleObject25.bin"/></Relationships>
</file>

<file path=ppt/slides/_rels/slide131.xml.rels><?xml version="1.0" encoding="UTF-8" standalone="yes"?>
<Relationships xmlns="http://schemas.openxmlformats.org/package/2006/relationships"><Relationship Id="rId8" Type="http://schemas.openxmlformats.org/officeDocument/2006/relationships/oleObject" Target="../embeddings/oleObject29.bin"/><Relationship Id="rId3" Type="http://schemas.openxmlformats.org/officeDocument/2006/relationships/oleObject" Target="../embeddings/oleObject26.bin"/><Relationship Id="rId7" Type="http://schemas.openxmlformats.org/officeDocument/2006/relationships/image" Target="../media/image17.emf"/><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oleObject" Target="../embeddings/oleObject28.bin"/><Relationship Id="rId5" Type="http://schemas.openxmlformats.org/officeDocument/2006/relationships/oleObject" Target="../embeddings/oleObject27.bin"/><Relationship Id="rId4" Type="http://schemas.openxmlformats.org/officeDocument/2006/relationships/image" Target="../media/image11.wmf"/><Relationship Id="rId9" Type="http://schemas.openxmlformats.org/officeDocument/2006/relationships/image" Target="../media/image18.emf"/></Relationships>
</file>

<file path=ppt/slides/_rels/slide132.xml.rels><?xml version="1.0" encoding="UTF-8" standalone="yes"?>
<Relationships xmlns="http://schemas.openxmlformats.org/package/2006/relationships"><Relationship Id="rId8" Type="http://schemas.openxmlformats.org/officeDocument/2006/relationships/oleObject" Target="../embeddings/oleObject33.bin"/><Relationship Id="rId3" Type="http://schemas.openxmlformats.org/officeDocument/2006/relationships/oleObject" Target="../embeddings/oleObject30.bin"/><Relationship Id="rId7" Type="http://schemas.openxmlformats.org/officeDocument/2006/relationships/image" Target="../media/image17.emf"/><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oleObject" Target="../embeddings/oleObject32.bin"/><Relationship Id="rId5" Type="http://schemas.openxmlformats.org/officeDocument/2006/relationships/oleObject" Target="../embeddings/oleObject31.bin"/><Relationship Id="rId4" Type="http://schemas.openxmlformats.org/officeDocument/2006/relationships/image" Target="../media/image11.wmf"/><Relationship Id="rId9" Type="http://schemas.openxmlformats.org/officeDocument/2006/relationships/image" Target="../media/image18.emf"/></Relationships>
</file>

<file path=ppt/slides/_rels/slide133.xml.rels><?xml version="1.0" encoding="UTF-8" standalone="yes"?>
<Relationships xmlns="http://schemas.openxmlformats.org/package/2006/relationships"><Relationship Id="rId8" Type="http://schemas.openxmlformats.org/officeDocument/2006/relationships/oleObject" Target="../embeddings/oleObject37.bin"/><Relationship Id="rId3" Type="http://schemas.openxmlformats.org/officeDocument/2006/relationships/oleObject" Target="../embeddings/oleObject34.bin"/><Relationship Id="rId7" Type="http://schemas.openxmlformats.org/officeDocument/2006/relationships/image" Target="../media/image17.emf"/><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oleObject" Target="../embeddings/oleObject36.bin"/><Relationship Id="rId5" Type="http://schemas.openxmlformats.org/officeDocument/2006/relationships/oleObject" Target="../embeddings/oleObject35.bin"/><Relationship Id="rId4" Type="http://schemas.openxmlformats.org/officeDocument/2006/relationships/image" Target="../media/image11.wmf"/><Relationship Id="rId9" Type="http://schemas.openxmlformats.org/officeDocument/2006/relationships/image" Target="../media/image18.emf"/></Relationships>
</file>

<file path=ppt/slides/_rels/slide134.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oleObject" Target="../embeddings/oleObject38.bin"/><Relationship Id="rId7" Type="http://schemas.openxmlformats.org/officeDocument/2006/relationships/oleObject" Target="../embeddings/oleObject40.bin"/><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oleObject" Target="../embeddings/oleObject39.bin"/><Relationship Id="rId10" Type="http://schemas.openxmlformats.org/officeDocument/2006/relationships/image" Target="../media/image18.emf"/><Relationship Id="rId4" Type="http://schemas.openxmlformats.org/officeDocument/2006/relationships/image" Target="../media/image10.wmf"/><Relationship Id="rId9" Type="http://schemas.openxmlformats.org/officeDocument/2006/relationships/oleObject" Target="../embeddings/oleObject41.bin"/></Relationships>
</file>

<file path=ppt/slides/_rels/slide135.xml.rels><?xml version="1.0" encoding="UTF-8" standalone="yes"?>
<Relationships xmlns="http://schemas.openxmlformats.org/package/2006/relationships"><Relationship Id="rId8" Type="http://schemas.openxmlformats.org/officeDocument/2006/relationships/image" Target="../media/image18.emf"/><Relationship Id="rId3" Type="http://schemas.openxmlformats.org/officeDocument/2006/relationships/image" Target="../media/image11.wmf"/><Relationship Id="rId7" Type="http://schemas.openxmlformats.org/officeDocument/2006/relationships/oleObject" Target="../embeddings/oleObject45.bin"/><Relationship Id="rId2" Type="http://schemas.openxmlformats.org/officeDocument/2006/relationships/oleObject" Target="../embeddings/oleObject42.bin"/><Relationship Id="rId1" Type="http://schemas.openxmlformats.org/officeDocument/2006/relationships/slideLayout" Target="../slideLayouts/slideLayout2.xml"/><Relationship Id="rId6" Type="http://schemas.openxmlformats.org/officeDocument/2006/relationships/image" Target="../media/image17.emf"/><Relationship Id="rId5" Type="http://schemas.openxmlformats.org/officeDocument/2006/relationships/oleObject" Target="../embeddings/oleObject44.bin"/><Relationship Id="rId4" Type="http://schemas.openxmlformats.org/officeDocument/2006/relationships/oleObject" Target="../embeddings/oleObject43.bin"/></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46.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47.bin"/></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48.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49.bin"/></Relationships>
</file>

<file path=ppt/slides/_rels/slide152.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oleObject" Target="../embeddings/oleObject50.bin"/><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51.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52.bin"/></Relationships>
</file>

<file path=ppt/slides/_rels/slide160.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oleObject" Target="../embeddings/oleObject53.bin"/><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oleObject" Target="../embeddings/oleObject54.bin"/></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7.png"/><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oleObject" Target="../embeddings/oleObject55.bin"/><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7.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oleObject" Target="../embeddings/oleObject56.bin"/><Relationship Id="rId1" Type="http://schemas.openxmlformats.org/officeDocument/2006/relationships/slideLayout" Target="../slideLayouts/slideLayout2.xml"/><Relationship Id="rId4" Type="http://schemas.openxmlformats.org/officeDocument/2006/relationships/image" Target="../media/image23.wmf"/></Relationships>
</file>

<file path=ppt/slides/_rels/slide262.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oleObject" Target="../embeddings/oleObject57.bin"/><Relationship Id="rId1" Type="http://schemas.openxmlformats.org/officeDocument/2006/relationships/slideLayout" Target="../slideLayouts/slideLayout2.xml"/><Relationship Id="rId4" Type="http://schemas.openxmlformats.org/officeDocument/2006/relationships/image" Target="../media/image23.wmf"/></Relationships>
</file>

<file path=ppt/slides/_rels/slide263.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oleObject" Target="../embeddings/oleObject58.bin"/><Relationship Id="rId1" Type="http://schemas.openxmlformats.org/officeDocument/2006/relationships/slideLayout" Target="../slideLayouts/slideLayout2.xml"/><Relationship Id="rId4" Type="http://schemas.openxmlformats.org/officeDocument/2006/relationships/image" Target="../media/image23.wmf"/></Relationships>
</file>

<file path=ppt/slides/_rels/slide264.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oleObject" Target="../embeddings/oleObject59.bin"/><Relationship Id="rId1" Type="http://schemas.openxmlformats.org/officeDocument/2006/relationships/slideLayout" Target="../slideLayouts/slideLayout2.xml"/><Relationship Id="rId4" Type="http://schemas.openxmlformats.org/officeDocument/2006/relationships/image" Target="../media/image23.wmf"/></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oleObject" Target="../embeddings/oleObject60.bin"/><Relationship Id="rId7" Type="http://schemas.openxmlformats.org/officeDocument/2006/relationships/oleObject" Target="../embeddings/oleObject62.bin"/><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10.wmf"/><Relationship Id="rId5" Type="http://schemas.openxmlformats.org/officeDocument/2006/relationships/oleObject" Target="../embeddings/oleObject61.bin"/><Relationship Id="rId10" Type="http://schemas.openxmlformats.org/officeDocument/2006/relationships/oleObject" Target="../embeddings/oleObject64.bin"/><Relationship Id="rId4" Type="http://schemas.openxmlformats.org/officeDocument/2006/relationships/image" Target="../media/image24.wmf"/><Relationship Id="rId9" Type="http://schemas.openxmlformats.org/officeDocument/2006/relationships/oleObject" Target="../embeddings/oleObject63.bin"/></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a:solidFill>
                  <a:schemeClr val="bg1"/>
                </a:solidFill>
                <a:latin typeface="微软雅黑" pitchFamily="34" charset="-122"/>
                <a:ea typeface="微软雅黑" pitchFamily="34" charset="-122"/>
              </a:rPr>
              <a:t>应</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用</a:t>
            </a:r>
            <a:r>
              <a:rPr lang="zh-CN" altLang="en-US" sz="2400" b="1" dirty="0">
                <a:solidFill>
                  <a:schemeClr val="bg1"/>
                </a:solidFill>
                <a:latin typeface="微软雅黑" pitchFamily="34" charset="-122"/>
                <a:ea typeface="微软雅黑" pitchFamily="34" charset="-122"/>
              </a:rPr>
              <a:t> </a:t>
            </a:r>
            <a:r>
              <a:rPr lang="zh-CN" altLang="en-US" sz="5500" b="1" dirty="0">
                <a:solidFill>
                  <a:schemeClr val="bg1"/>
                </a:solidFill>
                <a:latin typeface="微软雅黑" pitchFamily="34" charset="-122"/>
                <a:ea typeface="微软雅黑" pitchFamily="34" charset="-122"/>
              </a:rPr>
              <a:t>层</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a:solidFill>
                  <a:schemeClr val="bg1"/>
                </a:solidFill>
                <a:latin typeface="微软雅黑" pitchFamily="34" charset="-122"/>
                <a:ea typeface="微软雅黑" pitchFamily="34" charset="-122"/>
              </a:rPr>
              <a:t>第 6 章</a:t>
            </a: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计算机网络（第 8 版）</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0560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计算机网络体系结构</a:t>
            </a:r>
          </a:p>
        </p:txBody>
      </p:sp>
      <p:sp>
        <p:nvSpPr>
          <p:cNvPr id="48" name="圆角矩形 47"/>
          <p:cNvSpPr/>
          <p:nvPr/>
        </p:nvSpPr>
        <p:spPr>
          <a:xfrm>
            <a:off x="505072" y="108165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3473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应用层</a:t>
              </a:r>
            </a:p>
          </p:txBody>
        </p:sp>
        <p:sp>
          <p:nvSpPr>
            <p:cNvPr id="58" name="Text Box 23"/>
            <p:cNvSpPr txBox="1">
              <a:spLocks noChangeArrowheads="1"/>
            </p:cNvSpPr>
            <p:nvPr/>
          </p:nvSpPr>
          <p:spPr bwMode="auto">
            <a:xfrm>
              <a:off x="2006602" y="2706561"/>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运输层</a:t>
              </a: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网络层</a:t>
              </a: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p>
            <a:p>
              <a:pPr>
                <a:lnSpc>
                  <a:spcPct val="185000"/>
                </a:lnSpc>
              </a:pPr>
              <a:r>
                <a:rPr kumimoji="1" lang="en-US" altLang="zh-CN" sz="1100" b="1" dirty="0">
                  <a:latin typeface="微软雅黑" panose="020B0503020204020204" pitchFamily="34" charset="-122"/>
                  <a:ea typeface="微软雅黑" panose="020B0503020204020204" pitchFamily="34" charset="-122"/>
                </a:rPr>
                <a:t>6</a:t>
              </a:r>
            </a:p>
            <a:p>
              <a:pPr>
                <a:lnSpc>
                  <a:spcPct val="185000"/>
                </a:lnSpc>
              </a:pPr>
              <a:r>
                <a:rPr kumimoji="1" lang="en-US" altLang="zh-CN" sz="1100" b="1" dirty="0">
                  <a:latin typeface="微软雅黑" panose="020B0503020204020204" pitchFamily="34" charset="-122"/>
                  <a:ea typeface="微软雅黑" panose="020B0503020204020204" pitchFamily="34" charset="-122"/>
                </a:rPr>
                <a:t>5</a:t>
              </a:r>
            </a:p>
            <a:p>
              <a:pPr>
                <a:lnSpc>
                  <a:spcPct val="185000"/>
                </a:lnSpc>
              </a:pPr>
              <a:r>
                <a:rPr kumimoji="1" lang="en-US" altLang="zh-CN" sz="1100" b="1" dirty="0">
                  <a:latin typeface="微软雅黑" panose="020B0503020204020204" pitchFamily="34" charset="-122"/>
                  <a:ea typeface="微软雅黑" panose="020B0503020204020204" pitchFamily="34" charset="-122"/>
                </a:rPr>
                <a:t>4</a:t>
              </a:r>
            </a:p>
            <a:p>
              <a:pPr>
                <a:lnSpc>
                  <a:spcPct val="185000"/>
                </a:lnSpc>
              </a:pPr>
              <a:r>
                <a:rPr kumimoji="1" lang="en-US" altLang="zh-CN" sz="1100" b="1" dirty="0">
                  <a:latin typeface="微软雅黑" panose="020B0503020204020204" pitchFamily="34" charset="-122"/>
                  <a:ea typeface="微软雅黑" panose="020B0503020204020204" pitchFamily="34" charset="-122"/>
                </a:rPr>
                <a:t>3</a:t>
              </a:r>
            </a:p>
            <a:p>
              <a:pPr>
                <a:lnSpc>
                  <a:spcPct val="185000"/>
                </a:lnSpc>
              </a:pPr>
              <a:r>
                <a:rPr kumimoji="1" lang="en-US" altLang="zh-CN" sz="1100" b="1" dirty="0">
                  <a:latin typeface="微软雅黑" panose="020B0503020204020204" pitchFamily="34" charset="-122"/>
                  <a:ea typeface="微软雅黑" panose="020B0503020204020204" pitchFamily="34" charset="-122"/>
                </a:rPr>
                <a:t>2</a:t>
              </a:r>
            </a:p>
            <a:p>
              <a:pPr>
                <a:lnSpc>
                  <a:spcPct val="185000"/>
                </a:lnSpc>
              </a:pPr>
              <a:r>
                <a:rPr kumimoji="1" lang="en-US" altLang="zh-CN" sz="1100" b="1" dirty="0">
                  <a:latin typeface="微软雅黑" panose="020B0503020204020204" pitchFamily="34" charset="-122"/>
                  <a:ea typeface="微软雅黑" panose="020B0503020204020204" pitchFamily="34" charset="-122"/>
                </a:rPr>
                <a:t>1</a:t>
              </a:r>
            </a:p>
          </p:txBody>
        </p:sp>
      </p:grpSp>
      <p:sp>
        <p:nvSpPr>
          <p:cNvPr id="65" name="Text Box 13"/>
          <p:cNvSpPr txBox="1">
            <a:spLocks noChangeArrowheads="1"/>
          </p:cNvSpPr>
          <p:nvPr/>
        </p:nvSpPr>
        <p:spPr bwMode="auto">
          <a:xfrm>
            <a:off x="1156623" y="119818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a:solidFill>
                  <a:srgbClr val="000099"/>
                </a:solidFill>
                <a:latin typeface="微软雅黑" panose="020B0503020204020204" pitchFamily="34" charset="-122"/>
                <a:ea typeface="微软雅黑" panose="020B0503020204020204" pitchFamily="34" charset="-122"/>
              </a:rPr>
              <a:t>的七层协议体系结构</a:t>
            </a:r>
          </a:p>
        </p:txBody>
      </p:sp>
      <p:sp>
        <p:nvSpPr>
          <p:cNvPr id="66" name="Text Box 12"/>
          <p:cNvSpPr txBox="1">
            <a:spLocks noChangeArrowheads="1"/>
          </p:cNvSpPr>
          <p:nvPr/>
        </p:nvSpPr>
        <p:spPr bwMode="auto">
          <a:xfrm>
            <a:off x="3432593" y="118706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a:latin typeface="微软雅黑" panose="020B0503020204020204" pitchFamily="34" charset="-122"/>
                <a:ea typeface="微软雅黑" panose="020B0503020204020204" pitchFamily="34" charset="-122"/>
              </a:rPr>
              <a:t>的四层协议体系结构</a:t>
            </a:r>
          </a:p>
        </p:txBody>
      </p:sp>
      <p:sp>
        <p:nvSpPr>
          <p:cNvPr id="67" name="Text Box 95"/>
          <p:cNvSpPr txBox="1">
            <a:spLocks noChangeArrowheads="1"/>
          </p:cNvSpPr>
          <p:nvPr/>
        </p:nvSpPr>
        <p:spPr bwMode="auto">
          <a:xfrm>
            <a:off x="1993066" y="383660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p>
        </p:txBody>
      </p:sp>
      <p:sp>
        <p:nvSpPr>
          <p:cNvPr id="68" name="Text Box 96"/>
          <p:cNvSpPr txBox="1">
            <a:spLocks noChangeArrowheads="1"/>
          </p:cNvSpPr>
          <p:nvPr/>
        </p:nvSpPr>
        <p:spPr bwMode="auto">
          <a:xfrm>
            <a:off x="4328191" y="383660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p>
        </p:txBody>
      </p:sp>
      <p:sp>
        <p:nvSpPr>
          <p:cNvPr id="69" name="Text Box 97"/>
          <p:cNvSpPr txBox="1">
            <a:spLocks noChangeArrowheads="1"/>
          </p:cNvSpPr>
          <p:nvPr/>
        </p:nvSpPr>
        <p:spPr bwMode="auto">
          <a:xfrm>
            <a:off x="6655970" y="384462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p>
        </p:txBody>
      </p:sp>
      <p:sp>
        <p:nvSpPr>
          <p:cNvPr id="70" name="Text Box 113"/>
          <p:cNvSpPr txBox="1">
            <a:spLocks noChangeArrowheads="1"/>
          </p:cNvSpPr>
          <p:nvPr/>
        </p:nvSpPr>
        <p:spPr bwMode="auto">
          <a:xfrm>
            <a:off x="5946357" y="118230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p>
        </p:txBody>
      </p:sp>
      <p:grpSp>
        <p:nvGrpSpPr>
          <p:cNvPr id="71" name="组合 70"/>
          <p:cNvGrpSpPr/>
          <p:nvPr/>
        </p:nvGrpSpPr>
        <p:grpSpPr>
          <a:xfrm>
            <a:off x="3578724" y="150298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4    </a:t>
              </a:r>
              <a:r>
                <a:rPr kumimoji="1" lang="zh-CN" altLang="en-US" sz="1100" b="1" dirty="0">
                  <a:solidFill>
                    <a:srgbClr val="C00000"/>
                  </a:solidFill>
                  <a:latin typeface="微软雅黑" panose="020B0503020204020204" pitchFamily="34" charset="-122"/>
                  <a:ea typeface="微软雅黑" panose="020B0503020204020204" pitchFamily="34" charset="-122"/>
                </a:rPr>
                <a:t>应用层</a:t>
              </a: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1    </a:t>
              </a:r>
              <a:r>
                <a:rPr kumimoji="1" lang="zh-CN" altLang="en-US" sz="1100" b="1" dirty="0">
                  <a:latin typeface="微软雅黑" panose="020B0503020204020204" pitchFamily="34" charset="-122"/>
                  <a:ea typeface="微软雅黑" panose="020B0503020204020204" pitchFamily="34" charset="-122"/>
                </a:rPr>
                <a:t>网络接口层</a:t>
              </a: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a:latin typeface="微软雅黑" panose="020B0503020204020204" pitchFamily="34" charset="-122"/>
                  <a:ea typeface="微软雅黑" panose="020B0503020204020204" pitchFamily="34" charset="-122"/>
                </a:rPr>
                <a:t>2    </a:t>
              </a:r>
              <a:r>
                <a:rPr kumimoji="1" lang="zh-CN" altLang="en-US" sz="1100" b="1" dirty="0">
                  <a:latin typeface="微软雅黑" panose="020B0503020204020204" pitchFamily="34" charset="-122"/>
                  <a:ea typeface="微软雅黑" panose="020B0503020204020204" pitchFamily="34" charset="-122"/>
                </a:rPr>
                <a:t>网际层 </a:t>
              </a:r>
              <a:r>
                <a:rPr kumimoji="1" lang="en-US" altLang="zh-CN" sz="1100" b="1" dirty="0">
                  <a:latin typeface="微软雅黑" panose="020B0503020204020204" pitchFamily="34" charset="-122"/>
                  <a:ea typeface="微软雅黑" panose="020B0503020204020204" pitchFamily="34" charset="-122"/>
                </a:rPr>
                <a:t>IP</a:t>
              </a: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3</a:t>
              </a:r>
              <a:r>
                <a:rPr kumimoji="1" lang="en-US" altLang="zh-CN" sz="1100" b="1" dirty="0">
                  <a:solidFill>
                    <a:srgbClr val="C00000"/>
                  </a:solidFill>
                  <a:latin typeface="微软雅黑" panose="020B0503020204020204" pitchFamily="34" charset="-122"/>
                  <a:ea typeface="微软雅黑" panose="020B0503020204020204" pitchFamily="34" charset="-122"/>
                </a:rPr>
                <a:t>   </a:t>
              </a:r>
              <a:r>
                <a:rPr kumimoji="1" lang="zh-CN" altLang="en-US" sz="1100" b="1" dirty="0">
                  <a:latin typeface="微软雅黑" panose="020B0503020204020204" pitchFamily="34" charset="-122"/>
                  <a:ea typeface="微软雅黑" panose="020B0503020204020204" pitchFamily="34" charset="-122"/>
                </a:rPr>
                <a:t>运输层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p>
          </p:txBody>
        </p:sp>
      </p:grpSp>
      <p:cxnSp>
        <p:nvCxnSpPr>
          <p:cNvPr id="82" name="直接连接符 81"/>
          <p:cNvCxnSpPr/>
          <p:nvPr/>
        </p:nvCxnSpPr>
        <p:spPr>
          <a:xfrm>
            <a:off x="5334249" y="320494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3368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3481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运输层</a:t>
              </a: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网络层</a:t>
              </a: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应用层</a:t>
              </a: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p>
          </p:txBody>
        </p:sp>
      </p:grpSp>
    </p:spTree>
    <p:extLst>
      <p:ext uri="{BB962C8B-B14F-4D97-AF65-F5344CB8AC3E}">
        <p14:creationId xmlns:p14="http://schemas.microsoft.com/office/powerpoint/2010/main" val="226400465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0"/>
          <p:cNvSpPr>
            <a:spLocks noChangeArrowheads="1"/>
          </p:cNvSpPr>
          <p:nvPr/>
        </p:nvSpPr>
        <p:spPr bwMode="auto">
          <a:xfrm>
            <a:off x="1684337" y="275149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3" name="Rectangle 11"/>
          <p:cNvSpPr>
            <a:spLocks noChangeArrowheads="1"/>
          </p:cNvSpPr>
          <p:nvPr/>
        </p:nvSpPr>
        <p:spPr bwMode="auto">
          <a:xfrm>
            <a:off x="1684337" y="315919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4" name="Rectangle 12"/>
          <p:cNvSpPr>
            <a:spLocks noChangeArrowheads="1"/>
          </p:cNvSpPr>
          <p:nvPr/>
        </p:nvSpPr>
        <p:spPr bwMode="auto">
          <a:xfrm>
            <a:off x="1684337" y="3556246"/>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5" name="Rectangle 13"/>
          <p:cNvSpPr>
            <a:spLocks noChangeArrowheads="1"/>
          </p:cNvSpPr>
          <p:nvPr/>
        </p:nvSpPr>
        <p:spPr bwMode="auto">
          <a:xfrm>
            <a:off x="1684337" y="397305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6" name="Rectangle 9"/>
          <p:cNvSpPr>
            <a:spLocks noChangeArrowheads="1"/>
          </p:cNvSpPr>
          <p:nvPr/>
        </p:nvSpPr>
        <p:spPr bwMode="auto">
          <a:xfrm>
            <a:off x="1684337" y="723165"/>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7" name="Rectangle 10"/>
          <p:cNvSpPr>
            <a:spLocks noChangeArrowheads="1"/>
          </p:cNvSpPr>
          <p:nvPr/>
        </p:nvSpPr>
        <p:spPr bwMode="auto">
          <a:xfrm>
            <a:off x="1684337" y="113927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8" name="Rectangle 11"/>
          <p:cNvSpPr>
            <a:spLocks noChangeArrowheads="1"/>
          </p:cNvSpPr>
          <p:nvPr/>
        </p:nvSpPr>
        <p:spPr bwMode="auto">
          <a:xfrm>
            <a:off x="1684337" y="153783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19" name="Rectangle 12"/>
          <p:cNvSpPr>
            <a:spLocks noChangeArrowheads="1"/>
          </p:cNvSpPr>
          <p:nvPr/>
        </p:nvSpPr>
        <p:spPr bwMode="auto">
          <a:xfrm>
            <a:off x="1684337" y="195317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20" name="Rectangle 13"/>
          <p:cNvSpPr>
            <a:spLocks noChangeArrowheads="1"/>
          </p:cNvSpPr>
          <p:nvPr/>
        </p:nvSpPr>
        <p:spPr bwMode="auto">
          <a:xfrm>
            <a:off x="1684337" y="235169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charset="-122"/>
            </a:endParaRPr>
          </a:p>
        </p:txBody>
      </p:sp>
      <p:sp>
        <p:nvSpPr>
          <p:cNvPr id="21" name="Rectangle 17"/>
          <p:cNvSpPr>
            <a:spLocks noChangeArrowheads="1"/>
          </p:cNvSpPr>
          <p:nvPr/>
        </p:nvSpPr>
        <p:spPr bwMode="auto">
          <a:xfrm>
            <a:off x="1716084" y="626374"/>
            <a:ext cx="5662177" cy="37856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lnSpc>
                <a:spcPts val="3200"/>
              </a:lnSpc>
            </a:pPr>
            <a:r>
              <a:rPr lang="en-US" altLang="zh-CN" sz="2000" b="1" dirty="0">
                <a:solidFill>
                  <a:schemeClr val="bg1"/>
                </a:solidFill>
                <a:latin typeface="微软雅黑" pitchFamily="34" charset="-122"/>
                <a:ea typeface="微软雅黑" pitchFamily="34" charset="-122"/>
              </a:rPr>
              <a:t>6.1                                             </a:t>
            </a:r>
            <a:r>
              <a:rPr lang="zh-CN" altLang="en-US" sz="2000" b="1" dirty="0">
                <a:highlight>
                  <a:srgbClr val="FFFF00"/>
                </a:highlight>
                <a:latin typeface="微软雅黑" pitchFamily="34" charset="-122"/>
                <a:ea typeface="微软雅黑" pitchFamily="34" charset="-122"/>
              </a:rPr>
              <a:t>域名系统 </a:t>
            </a:r>
            <a:r>
              <a:rPr lang="en-US" altLang="zh-CN" sz="2000" b="1" dirty="0">
                <a:highlight>
                  <a:srgbClr val="FFFF00"/>
                </a:highlight>
                <a:latin typeface="微软雅黑" pitchFamily="34" charset="-122"/>
                <a:ea typeface="微软雅黑" pitchFamily="34" charset="-122"/>
              </a:rPr>
              <a:t>DNS</a:t>
            </a:r>
          </a:p>
          <a:p>
            <a:pPr eaLnBrk="0" hangingPunct="0">
              <a:lnSpc>
                <a:spcPts val="3200"/>
              </a:lnSpc>
            </a:pPr>
            <a:r>
              <a:rPr lang="en-US" altLang="zh-CN" sz="2000" b="1" dirty="0">
                <a:solidFill>
                  <a:schemeClr val="bg1"/>
                </a:solidFill>
                <a:latin typeface="微软雅黑" pitchFamily="34" charset="-122"/>
                <a:ea typeface="微软雅黑" pitchFamily="34" charset="-122"/>
              </a:rPr>
              <a:t>6.2                                              </a:t>
            </a:r>
            <a:r>
              <a:rPr lang="zh-CN" altLang="en-US" sz="2000" b="1" dirty="0">
                <a:highlight>
                  <a:srgbClr val="FFFF00"/>
                </a:highlight>
                <a:latin typeface="微软雅黑" pitchFamily="34" charset="-122"/>
                <a:ea typeface="微软雅黑" pitchFamily="34" charset="-122"/>
              </a:rPr>
              <a:t>文件传送协议</a:t>
            </a:r>
          </a:p>
          <a:p>
            <a:pPr eaLnBrk="0" hangingPunct="0">
              <a:lnSpc>
                <a:spcPts val="3200"/>
              </a:lnSpc>
            </a:pPr>
            <a:r>
              <a:rPr lang="en-US" altLang="zh-CN" sz="2000" b="1" dirty="0">
                <a:solidFill>
                  <a:schemeClr val="bg1"/>
                </a:solidFill>
                <a:latin typeface="微软雅黑" pitchFamily="34" charset="-122"/>
                <a:ea typeface="微软雅黑" pitchFamily="34" charset="-122"/>
              </a:rPr>
              <a:t>6.3                                 </a:t>
            </a:r>
            <a:r>
              <a:rPr lang="zh-CN" altLang="en-US" sz="2000" b="1" dirty="0">
                <a:solidFill>
                  <a:schemeClr val="bg1"/>
                </a:solidFill>
                <a:latin typeface="微软雅黑" pitchFamily="34" charset="-122"/>
                <a:ea typeface="微软雅黑" pitchFamily="34" charset="-122"/>
              </a:rPr>
              <a:t>远程终端协议 </a:t>
            </a:r>
            <a:r>
              <a:rPr lang="en-US" altLang="zh-CN" sz="2000" b="1" dirty="0">
                <a:solidFill>
                  <a:schemeClr val="bg1"/>
                </a:solidFill>
                <a:latin typeface="微软雅黑" pitchFamily="34" charset="-122"/>
                <a:ea typeface="微软雅黑" pitchFamily="34" charset="-122"/>
              </a:rPr>
              <a:t>TELNET</a:t>
            </a:r>
          </a:p>
          <a:p>
            <a:pPr eaLnBrk="0" hangingPunct="0">
              <a:lnSpc>
                <a:spcPts val="3200"/>
              </a:lnSpc>
            </a:pPr>
            <a:r>
              <a:rPr lang="en-US" altLang="zh-CN" sz="2000" b="1" dirty="0">
                <a:solidFill>
                  <a:schemeClr val="bg1"/>
                </a:solidFill>
                <a:latin typeface="微软雅黑" pitchFamily="34" charset="-122"/>
                <a:ea typeface="微软雅黑" pitchFamily="34" charset="-122"/>
              </a:rPr>
              <a:t>6.4                                             </a:t>
            </a:r>
            <a:r>
              <a:rPr lang="zh-CN" altLang="en-US" sz="2000" b="1" dirty="0">
                <a:highlight>
                  <a:srgbClr val="FFFF00"/>
                </a:highlight>
                <a:latin typeface="微软雅黑" pitchFamily="34" charset="-122"/>
                <a:ea typeface="微软雅黑" pitchFamily="34" charset="-122"/>
              </a:rPr>
              <a:t>万维网 </a:t>
            </a:r>
            <a:r>
              <a:rPr lang="en-US" altLang="zh-CN" sz="2000" b="1" dirty="0">
                <a:highlight>
                  <a:srgbClr val="FFFF00"/>
                </a:highlight>
                <a:latin typeface="微软雅黑" pitchFamily="34" charset="-122"/>
                <a:ea typeface="微软雅黑" pitchFamily="34" charset="-122"/>
              </a:rPr>
              <a:t>WWW</a:t>
            </a:r>
          </a:p>
          <a:p>
            <a:pPr eaLnBrk="0" hangingPunct="0">
              <a:lnSpc>
                <a:spcPts val="3200"/>
              </a:lnSpc>
            </a:pPr>
            <a:r>
              <a:rPr lang="en-US" altLang="zh-CN" sz="2000" b="1" dirty="0">
                <a:solidFill>
                  <a:schemeClr val="bg1"/>
                </a:solidFill>
                <a:latin typeface="微软雅黑" pitchFamily="34" charset="-122"/>
                <a:ea typeface="微软雅黑" pitchFamily="34" charset="-122"/>
              </a:rPr>
              <a:t>6.5                                                     </a:t>
            </a:r>
            <a:r>
              <a:rPr lang="zh-CN" altLang="en-US" sz="2000" b="1" dirty="0">
                <a:highlight>
                  <a:srgbClr val="FFFF00"/>
                </a:highlight>
                <a:latin typeface="微软雅黑" pitchFamily="34" charset="-122"/>
                <a:ea typeface="微软雅黑" pitchFamily="34" charset="-122"/>
              </a:rPr>
              <a:t>电子邮件</a:t>
            </a:r>
          </a:p>
          <a:p>
            <a:pPr eaLnBrk="0" hangingPunct="0">
              <a:lnSpc>
                <a:spcPts val="3200"/>
              </a:lnSpc>
            </a:pPr>
            <a:r>
              <a:rPr lang="en-US" altLang="zh-CN" sz="2000" b="1" dirty="0">
                <a:solidFill>
                  <a:schemeClr val="bg1"/>
                </a:solidFill>
                <a:latin typeface="微软雅黑" pitchFamily="34" charset="-122"/>
                <a:ea typeface="微软雅黑" pitchFamily="34" charset="-122"/>
              </a:rPr>
              <a:t>6.6                             </a:t>
            </a:r>
            <a:r>
              <a:rPr lang="zh-CN" altLang="en-US" sz="2000" b="1" dirty="0">
                <a:solidFill>
                  <a:schemeClr val="bg1"/>
                </a:solidFill>
                <a:latin typeface="微软雅黑" pitchFamily="34" charset="-122"/>
                <a:ea typeface="微软雅黑" pitchFamily="34" charset="-122"/>
              </a:rPr>
              <a:t>动态主机配置协议 </a:t>
            </a:r>
            <a:r>
              <a:rPr lang="en-US" altLang="zh-CN" sz="2000" b="1" dirty="0">
                <a:solidFill>
                  <a:schemeClr val="bg1"/>
                </a:solidFill>
                <a:latin typeface="微软雅黑" pitchFamily="34" charset="-122"/>
                <a:ea typeface="微软雅黑" pitchFamily="34" charset="-122"/>
              </a:rPr>
              <a:t>DHCP</a:t>
            </a:r>
          </a:p>
          <a:p>
            <a:pPr eaLnBrk="0" hangingPunct="0">
              <a:lnSpc>
                <a:spcPts val="3200"/>
              </a:lnSpc>
            </a:pPr>
            <a:r>
              <a:rPr lang="en-US" altLang="zh-CN" sz="2000" b="1" dirty="0">
                <a:solidFill>
                  <a:schemeClr val="bg1"/>
                </a:solidFill>
                <a:latin typeface="微软雅黑" pitchFamily="34" charset="-122"/>
                <a:ea typeface="微软雅黑" pitchFamily="34" charset="-122"/>
              </a:rPr>
              <a:t>6.7                            </a:t>
            </a:r>
            <a:r>
              <a:rPr lang="zh-CN" altLang="en-US" sz="2000" b="1" dirty="0">
                <a:solidFill>
                  <a:schemeClr val="bg1"/>
                </a:solidFill>
                <a:latin typeface="微软雅黑" pitchFamily="34" charset="-122"/>
                <a:ea typeface="微软雅黑" pitchFamily="34" charset="-122"/>
              </a:rPr>
              <a:t>简单网络管理协议 </a:t>
            </a:r>
            <a:r>
              <a:rPr lang="en-US" altLang="zh-CN" sz="2000" b="1" dirty="0">
                <a:solidFill>
                  <a:schemeClr val="bg1"/>
                </a:solidFill>
                <a:latin typeface="微软雅黑" pitchFamily="34" charset="-122"/>
                <a:ea typeface="微软雅黑" pitchFamily="34" charset="-122"/>
              </a:rPr>
              <a:t>SNMP</a:t>
            </a:r>
          </a:p>
          <a:p>
            <a:pPr eaLnBrk="0" hangingPunct="0">
              <a:lnSpc>
                <a:spcPts val="3200"/>
              </a:lnSpc>
            </a:pPr>
            <a:r>
              <a:rPr lang="en-US" altLang="zh-CN" sz="2000" b="1" dirty="0">
                <a:solidFill>
                  <a:schemeClr val="bg1"/>
                </a:solidFill>
                <a:latin typeface="微软雅黑" pitchFamily="34" charset="-122"/>
                <a:ea typeface="微软雅黑" pitchFamily="34" charset="-122"/>
              </a:rPr>
              <a:t>6.8                              </a:t>
            </a:r>
            <a:r>
              <a:rPr lang="zh-CN" altLang="en-US" sz="2000" b="1" dirty="0">
                <a:solidFill>
                  <a:schemeClr val="bg1"/>
                </a:solidFill>
                <a:latin typeface="微软雅黑" pitchFamily="34" charset="-122"/>
                <a:ea typeface="微软雅黑" pitchFamily="34" charset="-122"/>
              </a:rPr>
              <a:t>应用进程跨越网络的通信</a:t>
            </a:r>
          </a:p>
          <a:p>
            <a:pPr eaLnBrk="0" hangingPunct="0">
              <a:lnSpc>
                <a:spcPts val="3200"/>
              </a:lnSpc>
            </a:pPr>
            <a:r>
              <a:rPr lang="en-US" altLang="zh-CN" sz="2000" b="1" dirty="0">
                <a:solidFill>
                  <a:schemeClr val="bg1"/>
                </a:solidFill>
                <a:latin typeface="微软雅黑" pitchFamily="34" charset="-122"/>
                <a:ea typeface="微软雅黑" pitchFamily="34" charset="-122"/>
              </a:rPr>
              <a:t>6.9                                                    P2P </a:t>
            </a:r>
            <a:r>
              <a:rPr lang="zh-CN" altLang="en-US" sz="2000" b="1" dirty="0">
                <a:solidFill>
                  <a:schemeClr val="bg1"/>
                </a:solidFill>
                <a:latin typeface="微软雅黑" pitchFamily="34" charset="-122"/>
                <a:ea typeface="微软雅黑" pitchFamily="34" charset="-122"/>
              </a:rPr>
              <a:t>应用</a:t>
            </a:r>
          </a:p>
        </p:txBody>
      </p:sp>
    </p:spTree>
    <p:extLst>
      <p:ext uri="{BB962C8B-B14F-4D97-AF65-F5344CB8AC3E}">
        <p14:creationId xmlns:p14="http://schemas.microsoft.com/office/powerpoint/2010/main" val="643569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应用层协议</a:t>
            </a:r>
          </a:p>
        </p:txBody>
      </p:sp>
      <p:sp>
        <p:nvSpPr>
          <p:cNvPr id="13" name="Rectangle 8"/>
          <p:cNvSpPr>
            <a:spLocks noChangeArrowheads="1"/>
          </p:cNvSpPr>
          <p:nvPr/>
        </p:nvSpPr>
        <p:spPr bwMode="auto">
          <a:xfrm>
            <a:off x="545143" y="1009181"/>
            <a:ext cx="8053711" cy="2365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精确定义不同主机中的多个</a:t>
            </a:r>
            <a:r>
              <a:rPr lang="zh-CN" altLang="en-US" sz="2000" b="1" dirty="0">
                <a:solidFill>
                  <a:srgbClr val="C00000"/>
                </a:solidFill>
                <a:latin typeface="微软雅黑" pitchFamily="34" charset="-122"/>
                <a:ea typeface="微软雅黑" pitchFamily="34" charset="-122"/>
              </a:rPr>
              <a:t>应用进程之间</a:t>
            </a:r>
            <a:r>
              <a:rPr lang="zh-CN" altLang="en-US" sz="2000" b="1" dirty="0">
                <a:solidFill>
                  <a:srgbClr val="0000FF"/>
                </a:solidFill>
                <a:latin typeface="微软雅黑" pitchFamily="34" charset="-122"/>
                <a:ea typeface="微软雅黑" pitchFamily="34" charset="-122"/>
              </a:rPr>
              <a:t>的通信规则。</a:t>
            </a:r>
            <a:endParaRPr lang="en-US" altLang="zh-CN" sz="2000" b="1" dirty="0">
              <a:solidFill>
                <a:srgbClr val="0000FF"/>
              </a:solidFill>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包括：</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应用进程交换的报文类型，如请求报文和响应报文。</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各种报文类型的语法，如报文中的各个字段及其详细描述。</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字段的语义，即包含在字段中的信息的含义。</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进程何时、如何发送报文，以及对报文进行响应的规则。</a:t>
            </a:r>
          </a:p>
        </p:txBody>
      </p:sp>
    </p:spTree>
    <p:extLst>
      <p:ext uri="{BB962C8B-B14F-4D97-AF65-F5344CB8AC3E}">
        <p14:creationId xmlns:p14="http://schemas.microsoft.com/office/powerpoint/2010/main" val="14007001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应用层协议</a:t>
            </a:r>
          </a:p>
        </p:txBody>
      </p:sp>
      <p:graphicFrame>
        <p:nvGraphicFramePr>
          <p:cNvPr id="2" name="图示 1"/>
          <p:cNvGraphicFramePr/>
          <p:nvPr>
            <p:extLst>
              <p:ext uri="{D42A27DB-BD31-4B8C-83A1-F6EECF244321}">
                <p14:modId xmlns:p14="http://schemas.microsoft.com/office/powerpoint/2010/main" val="2096376874"/>
              </p:ext>
            </p:extLst>
          </p:nvPr>
        </p:nvGraphicFramePr>
        <p:xfrm>
          <a:off x="689500" y="1207367"/>
          <a:ext cx="3811477" cy="1589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6" name="图示 5"/>
          <p:cNvGraphicFramePr/>
          <p:nvPr>
            <p:extLst>
              <p:ext uri="{D42A27DB-BD31-4B8C-83A1-F6EECF244321}">
                <p14:modId xmlns:p14="http://schemas.microsoft.com/office/powerpoint/2010/main" val="3589487637"/>
              </p:ext>
            </p:extLst>
          </p:nvPr>
        </p:nvGraphicFramePr>
        <p:xfrm>
          <a:off x="4702207" y="1207367"/>
          <a:ext cx="3811477" cy="158910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5284366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graphicEl>
                                              <a:dgm id="{7908BCB8-DE9B-4BF1-8D07-3A3FD24C7968}"/>
                                            </p:graphicEl>
                                          </p:spTgt>
                                        </p:tgtEl>
                                        <p:attrNameLst>
                                          <p:attrName>style.visibility</p:attrName>
                                        </p:attrNameLst>
                                      </p:cBhvr>
                                      <p:to>
                                        <p:strVal val="visible"/>
                                      </p:to>
                                    </p:set>
                                    <p:animEffect transition="in" filter="wipe(up)">
                                      <p:cBhvr>
                                        <p:cTn id="7" dur="1000"/>
                                        <p:tgtEl>
                                          <p:spTgt spid="2">
                                            <p:graphicEl>
                                              <a:dgm id="{7908BCB8-DE9B-4BF1-8D07-3A3FD24C7968}"/>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
                                            <p:graphicEl>
                                              <a:dgm id="{F381CC4E-322C-45E6-B7E7-4ED70FA8CF2E}"/>
                                            </p:graphicEl>
                                          </p:spTgt>
                                        </p:tgtEl>
                                        <p:attrNameLst>
                                          <p:attrName>style.visibility</p:attrName>
                                        </p:attrNameLst>
                                      </p:cBhvr>
                                      <p:to>
                                        <p:strVal val="visible"/>
                                      </p:to>
                                    </p:set>
                                    <p:animEffect transition="in" filter="wipe(up)">
                                      <p:cBhvr>
                                        <p:cTn id="12" dur="1000"/>
                                        <p:tgtEl>
                                          <p:spTgt spid="2">
                                            <p:graphicEl>
                                              <a:dgm id="{F381CC4E-322C-45E6-B7E7-4ED70FA8CF2E}"/>
                                            </p:graphicEl>
                                          </p:spTgt>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
                                            <p:graphicEl>
                                              <a:dgm id="{1F36E606-4D05-483A-959D-7AFAA3F99964}"/>
                                            </p:graphicEl>
                                          </p:spTgt>
                                        </p:tgtEl>
                                        <p:attrNameLst>
                                          <p:attrName>style.visibility</p:attrName>
                                        </p:attrNameLst>
                                      </p:cBhvr>
                                      <p:to>
                                        <p:strVal val="visible"/>
                                      </p:to>
                                    </p:set>
                                    <p:animEffect transition="in" filter="wipe(up)">
                                      <p:cBhvr>
                                        <p:cTn id="16" dur="1000"/>
                                        <p:tgtEl>
                                          <p:spTgt spid="2">
                                            <p:graphicEl>
                                              <a:dgm id="{1F36E606-4D05-483A-959D-7AFAA3F99964}"/>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
                                            <p:graphicEl>
                                              <a:dgm id="{49899EA7-F8C0-4BB7-A6AD-5F40B1731420}"/>
                                            </p:graphicEl>
                                          </p:spTgt>
                                        </p:tgtEl>
                                        <p:attrNameLst>
                                          <p:attrName>style.visibility</p:attrName>
                                        </p:attrNameLst>
                                      </p:cBhvr>
                                      <p:to>
                                        <p:strVal val="visible"/>
                                      </p:to>
                                    </p:set>
                                    <p:animEffect transition="in" filter="wipe(up)">
                                      <p:cBhvr>
                                        <p:cTn id="21" dur="1000"/>
                                        <p:tgtEl>
                                          <p:spTgt spid="2">
                                            <p:graphicEl>
                                              <a:dgm id="{49899EA7-F8C0-4BB7-A6AD-5F40B1731420}"/>
                                            </p:graphicEl>
                                          </p:spTgt>
                                        </p:tgtEl>
                                      </p:cBhvr>
                                    </p:animEffect>
                                  </p:childTnLst>
                                </p:cTn>
                              </p:par>
                            </p:childTnLst>
                          </p:cTn>
                        </p:par>
                        <p:par>
                          <p:cTn id="22" fill="hold">
                            <p:stCondLst>
                              <p:cond delay="1000"/>
                            </p:stCondLst>
                            <p:childTnLst>
                              <p:par>
                                <p:cTn id="23" presetID="22" presetClass="entr" presetSubtype="1" fill="hold" grpId="0" nodeType="afterEffect">
                                  <p:stCondLst>
                                    <p:cond delay="0"/>
                                  </p:stCondLst>
                                  <p:childTnLst>
                                    <p:set>
                                      <p:cBhvr>
                                        <p:cTn id="24" dur="1" fill="hold">
                                          <p:stCondLst>
                                            <p:cond delay="0"/>
                                          </p:stCondLst>
                                        </p:cTn>
                                        <p:tgtEl>
                                          <p:spTgt spid="2">
                                            <p:graphicEl>
                                              <a:dgm id="{07CD9CA8-8213-4B82-96DE-5A2E23AB39DC}"/>
                                            </p:graphicEl>
                                          </p:spTgt>
                                        </p:tgtEl>
                                        <p:attrNameLst>
                                          <p:attrName>style.visibility</p:attrName>
                                        </p:attrNameLst>
                                      </p:cBhvr>
                                      <p:to>
                                        <p:strVal val="visible"/>
                                      </p:to>
                                    </p:set>
                                    <p:animEffect transition="in" filter="wipe(up)">
                                      <p:cBhvr>
                                        <p:cTn id="25" dur="1000"/>
                                        <p:tgtEl>
                                          <p:spTgt spid="2">
                                            <p:graphicEl>
                                              <a:dgm id="{07CD9CA8-8213-4B82-96DE-5A2E23AB39DC}"/>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2">
                                            <p:graphicEl>
                                              <a:dgm id="{D772C529-9144-4F64-AC62-C41998E87A93}"/>
                                            </p:graphicEl>
                                          </p:spTgt>
                                        </p:tgtEl>
                                        <p:attrNameLst>
                                          <p:attrName>style.visibility</p:attrName>
                                        </p:attrNameLst>
                                      </p:cBhvr>
                                      <p:to>
                                        <p:strVal val="visible"/>
                                      </p:to>
                                    </p:set>
                                    <p:animEffect transition="in" filter="wipe(up)">
                                      <p:cBhvr>
                                        <p:cTn id="30" dur="1000"/>
                                        <p:tgtEl>
                                          <p:spTgt spid="2">
                                            <p:graphicEl>
                                              <a:dgm id="{D772C529-9144-4F64-AC62-C41998E87A93}"/>
                                            </p:graphicEl>
                                          </p:spTgt>
                                        </p:tgtEl>
                                      </p:cBhvr>
                                    </p:animEffect>
                                  </p:childTnLst>
                                </p:cTn>
                              </p:par>
                            </p:childTnLst>
                          </p:cTn>
                        </p:par>
                        <p:par>
                          <p:cTn id="31" fill="hold">
                            <p:stCondLst>
                              <p:cond delay="1000"/>
                            </p:stCondLst>
                            <p:childTnLst>
                              <p:par>
                                <p:cTn id="32" presetID="22" presetClass="entr" presetSubtype="1" fill="hold" grpId="0" nodeType="afterEffect">
                                  <p:stCondLst>
                                    <p:cond delay="0"/>
                                  </p:stCondLst>
                                  <p:childTnLst>
                                    <p:set>
                                      <p:cBhvr>
                                        <p:cTn id="33" dur="1" fill="hold">
                                          <p:stCondLst>
                                            <p:cond delay="0"/>
                                          </p:stCondLst>
                                        </p:cTn>
                                        <p:tgtEl>
                                          <p:spTgt spid="2">
                                            <p:graphicEl>
                                              <a:dgm id="{629FD194-4F20-42AB-A0D3-D63455B286FC}"/>
                                            </p:graphicEl>
                                          </p:spTgt>
                                        </p:tgtEl>
                                        <p:attrNameLst>
                                          <p:attrName>style.visibility</p:attrName>
                                        </p:attrNameLst>
                                      </p:cBhvr>
                                      <p:to>
                                        <p:strVal val="visible"/>
                                      </p:to>
                                    </p:set>
                                    <p:animEffect transition="in" filter="wipe(up)">
                                      <p:cBhvr>
                                        <p:cTn id="34" dur="1000"/>
                                        <p:tgtEl>
                                          <p:spTgt spid="2">
                                            <p:graphicEl>
                                              <a:dgm id="{629FD194-4F20-42AB-A0D3-D63455B286F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6">
                                            <p:graphicEl>
                                              <a:dgm id="{7908BCB8-DE9B-4BF1-8D07-3A3FD24C7968}"/>
                                            </p:graphicEl>
                                          </p:spTgt>
                                        </p:tgtEl>
                                        <p:attrNameLst>
                                          <p:attrName>style.visibility</p:attrName>
                                        </p:attrNameLst>
                                      </p:cBhvr>
                                      <p:to>
                                        <p:strVal val="visible"/>
                                      </p:to>
                                    </p:set>
                                    <p:animEffect transition="in" filter="wipe(up)">
                                      <p:cBhvr>
                                        <p:cTn id="39" dur="1000"/>
                                        <p:tgtEl>
                                          <p:spTgt spid="6">
                                            <p:graphicEl>
                                              <a:dgm id="{7908BCB8-DE9B-4BF1-8D07-3A3FD24C7968}"/>
                                            </p:graphicEl>
                                          </p:spTgt>
                                        </p:tgtEl>
                                      </p:cBhvr>
                                    </p:animEffect>
                                  </p:childTnLst>
                                </p:cTn>
                              </p:par>
                            </p:childTnLst>
                          </p:cTn>
                        </p:par>
                        <p:par>
                          <p:cTn id="40" fill="hold">
                            <p:stCondLst>
                              <p:cond delay="1000"/>
                            </p:stCondLst>
                            <p:childTnLst>
                              <p:par>
                                <p:cTn id="41" presetID="22" presetClass="entr" presetSubtype="1" fill="hold" grpId="0" nodeType="afterEffect">
                                  <p:stCondLst>
                                    <p:cond delay="0"/>
                                  </p:stCondLst>
                                  <p:childTnLst>
                                    <p:set>
                                      <p:cBhvr>
                                        <p:cTn id="42" dur="1" fill="hold">
                                          <p:stCondLst>
                                            <p:cond delay="0"/>
                                          </p:stCondLst>
                                        </p:cTn>
                                        <p:tgtEl>
                                          <p:spTgt spid="6">
                                            <p:graphicEl>
                                              <a:dgm id="{F381CC4E-322C-45E6-B7E7-4ED70FA8CF2E}"/>
                                            </p:graphicEl>
                                          </p:spTgt>
                                        </p:tgtEl>
                                        <p:attrNameLst>
                                          <p:attrName>style.visibility</p:attrName>
                                        </p:attrNameLst>
                                      </p:cBhvr>
                                      <p:to>
                                        <p:strVal val="visible"/>
                                      </p:to>
                                    </p:set>
                                    <p:animEffect transition="in" filter="wipe(up)">
                                      <p:cBhvr>
                                        <p:cTn id="43" dur="1000"/>
                                        <p:tgtEl>
                                          <p:spTgt spid="6">
                                            <p:graphicEl>
                                              <a:dgm id="{F381CC4E-322C-45E6-B7E7-4ED70FA8CF2E}"/>
                                            </p:graphicEl>
                                          </p:spTgt>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6">
                                            <p:graphicEl>
                                              <a:dgm id="{1F36E606-4D05-483A-959D-7AFAA3F99964}"/>
                                            </p:graphicEl>
                                          </p:spTgt>
                                        </p:tgtEl>
                                        <p:attrNameLst>
                                          <p:attrName>style.visibility</p:attrName>
                                        </p:attrNameLst>
                                      </p:cBhvr>
                                      <p:to>
                                        <p:strVal val="visible"/>
                                      </p:to>
                                    </p:set>
                                    <p:animEffect transition="in" filter="wipe(up)">
                                      <p:cBhvr>
                                        <p:cTn id="47" dur="1000"/>
                                        <p:tgtEl>
                                          <p:spTgt spid="6">
                                            <p:graphicEl>
                                              <a:dgm id="{1F36E606-4D05-483A-959D-7AFAA3F99964}"/>
                                            </p:graphicEl>
                                          </p:spTgt>
                                        </p:tgtEl>
                                      </p:cBhvr>
                                    </p:animEffect>
                                  </p:childTnLst>
                                </p:cTn>
                              </p:par>
                            </p:childTnLst>
                          </p:cTn>
                        </p:par>
                        <p:par>
                          <p:cTn id="48" fill="hold">
                            <p:stCondLst>
                              <p:cond delay="3000"/>
                            </p:stCondLst>
                            <p:childTnLst>
                              <p:par>
                                <p:cTn id="49" presetID="22" presetClass="entr" presetSubtype="1" fill="hold" grpId="0" nodeType="afterEffect">
                                  <p:stCondLst>
                                    <p:cond delay="0"/>
                                  </p:stCondLst>
                                  <p:childTnLst>
                                    <p:set>
                                      <p:cBhvr>
                                        <p:cTn id="50" dur="1" fill="hold">
                                          <p:stCondLst>
                                            <p:cond delay="0"/>
                                          </p:stCondLst>
                                        </p:cTn>
                                        <p:tgtEl>
                                          <p:spTgt spid="6">
                                            <p:graphicEl>
                                              <a:dgm id="{49899EA7-F8C0-4BB7-A6AD-5F40B1731420}"/>
                                            </p:graphicEl>
                                          </p:spTgt>
                                        </p:tgtEl>
                                        <p:attrNameLst>
                                          <p:attrName>style.visibility</p:attrName>
                                        </p:attrNameLst>
                                      </p:cBhvr>
                                      <p:to>
                                        <p:strVal val="visible"/>
                                      </p:to>
                                    </p:set>
                                    <p:animEffect transition="in" filter="wipe(up)">
                                      <p:cBhvr>
                                        <p:cTn id="51" dur="1000"/>
                                        <p:tgtEl>
                                          <p:spTgt spid="6">
                                            <p:graphicEl>
                                              <a:dgm id="{49899EA7-F8C0-4BB7-A6AD-5F40B1731420}"/>
                                            </p:graphicEl>
                                          </p:spTgt>
                                        </p:tgtEl>
                                      </p:cBhvr>
                                    </p:animEffect>
                                  </p:childTnLst>
                                </p:cTn>
                              </p:par>
                            </p:childTnLst>
                          </p:cTn>
                        </p:par>
                        <p:par>
                          <p:cTn id="52" fill="hold">
                            <p:stCondLst>
                              <p:cond delay="4000"/>
                            </p:stCondLst>
                            <p:childTnLst>
                              <p:par>
                                <p:cTn id="53" presetID="22" presetClass="entr" presetSubtype="1" fill="hold" grpId="0" nodeType="afterEffect">
                                  <p:stCondLst>
                                    <p:cond delay="0"/>
                                  </p:stCondLst>
                                  <p:childTnLst>
                                    <p:set>
                                      <p:cBhvr>
                                        <p:cTn id="54" dur="1" fill="hold">
                                          <p:stCondLst>
                                            <p:cond delay="0"/>
                                          </p:stCondLst>
                                        </p:cTn>
                                        <p:tgtEl>
                                          <p:spTgt spid="6">
                                            <p:graphicEl>
                                              <a:dgm id="{07CD9CA8-8213-4B82-96DE-5A2E23AB39DC}"/>
                                            </p:graphicEl>
                                          </p:spTgt>
                                        </p:tgtEl>
                                        <p:attrNameLst>
                                          <p:attrName>style.visibility</p:attrName>
                                        </p:attrNameLst>
                                      </p:cBhvr>
                                      <p:to>
                                        <p:strVal val="visible"/>
                                      </p:to>
                                    </p:set>
                                    <p:animEffect transition="in" filter="wipe(up)">
                                      <p:cBhvr>
                                        <p:cTn id="55" dur="1000"/>
                                        <p:tgtEl>
                                          <p:spTgt spid="6">
                                            <p:graphicEl>
                                              <a:dgm id="{07CD9CA8-8213-4B82-96DE-5A2E23AB39DC}"/>
                                            </p:graphicEl>
                                          </p:spTgt>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6">
                                            <p:graphicEl>
                                              <a:dgm id="{D772C529-9144-4F64-AC62-C41998E87A93}"/>
                                            </p:graphicEl>
                                          </p:spTgt>
                                        </p:tgtEl>
                                        <p:attrNameLst>
                                          <p:attrName>style.visibility</p:attrName>
                                        </p:attrNameLst>
                                      </p:cBhvr>
                                      <p:to>
                                        <p:strVal val="visible"/>
                                      </p:to>
                                    </p:set>
                                    <p:animEffect transition="in" filter="wipe(up)">
                                      <p:cBhvr>
                                        <p:cTn id="59" dur="1000"/>
                                        <p:tgtEl>
                                          <p:spTgt spid="6">
                                            <p:graphicEl>
                                              <a:dgm id="{D772C529-9144-4F64-AC62-C41998E87A93}"/>
                                            </p:graphicEl>
                                          </p:spTgt>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6">
                                            <p:graphicEl>
                                              <a:dgm id="{629FD194-4F20-42AB-A0D3-D63455B286FC}"/>
                                            </p:graphicEl>
                                          </p:spTgt>
                                        </p:tgtEl>
                                        <p:attrNameLst>
                                          <p:attrName>style.visibility</p:attrName>
                                        </p:attrNameLst>
                                      </p:cBhvr>
                                      <p:to>
                                        <p:strVal val="visible"/>
                                      </p:to>
                                    </p:set>
                                    <p:animEffect transition="in" filter="wipe(up)">
                                      <p:cBhvr>
                                        <p:cTn id="63" dur="1000"/>
                                        <p:tgtEl>
                                          <p:spTgt spid="6">
                                            <p:graphicEl>
                                              <a:dgm id="{629FD194-4F20-42AB-A0D3-D63455B286FC}"/>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Dgm bld="lvlOne"/>
        </p:bldSub>
      </p:bldGraphic>
      <p:bldGraphic spid="6" grpId="0" uiExpand="1">
        <p:bldSub>
          <a:bldDgm bld="lvlOne"/>
        </p:bldSub>
      </p:bldGraphic>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29135" y="138340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29135" y="1989829"/>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1"/>
          <p:cNvSpPr>
            <a:spLocks noChangeArrowheads="1"/>
          </p:cNvSpPr>
          <p:nvPr/>
        </p:nvSpPr>
        <p:spPr bwMode="auto">
          <a:xfrm>
            <a:off x="2629135" y="260736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6" name="Line 16"/>
          <p:cNvSpPr>
            <a:spLocks noChangeShapeType="1"/>
          </p:cNvSpPr>
          <p:nvPr/>
        </p:nvSpPr>
        <p:spPr bwMode="auto">
          <a:xfrm>
            <a:off x="3637198" y="1311966"/>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1129404"/>
            <a:ext cx="5472113"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6.1.1                                         </a:t>
            </a:r>
            <a:r>
              <a:rPr lang="zh-CN" altLang="en-US" sz="2000" b="1" dirty="0">
                <a:solidFill>
                  <a:schemeClr val="bg1"/>
                </a:solidFill>
                <a:latin typeface="微软雅黑" pitchFamily="34" charset="-122"/>
                <a:ea typeface="微软雅黑" pitchFamily="34" charset="-122"/>
              </a:rPr>
              <a:t>域名系统概述</a:t>
            </a:r>
          </a:p>
          <a:p>
            <a:pPr eaLnBrk="0" hangingPunct="0">
              <a:lnSpc>
                <a:spcPct val="200000"/>
              </a:lnSpc>
            </a:pPr>
            <a:r>
              <a:rPr lang="en-US" altLang="zh-CN" sz="2000" b="1" dirty="0">
                <a:solidFill>
                  <a:schemeClr val="bg1"/>
                </a:solidFill>
                <a:latin typeface="微软雅黑" pitchFamily="34" charset="-122"/>
                <a:ea typeface="微软雅黑" pitchFamily="34" charset="-122"/>
              </a:rPr>
              <a:t>6.1.2                                  </a:t>
            </a:r>
            <a:r>
              <a:rPr lang="zh-CN" altLang="en-US" sz="2000" b="1" dirty="0">
                <a:solidFill>
                  <a:schemeClr val="bg1"/>
                </a:solidFill>
                <a:latin typeface="微软雅黑" pitchFamily="34" charset="-122"/>
                <a:ea typeface="微软雅黑" pitchFamily="34" charset="-122"/>
              </a:rPr>
              <a:t>互联网的域名结构</a:t>
            </a:r>
          </a:p>
          <a:p>
            <a:pPr eaLnBrk="0" hangingPunct="0">
              <a:lnSpc>
                <a:spcPct val="200000"/>
              </a:lnSpc>
            </a:pPr>
            <a:r>
              <a:rPr lang="en-US" altLang="zh-CN" sz="2000" b="1" dirty="0">
                <a:solidFill>
                  <a:schemeClr val="bg1"/>
                </a:solidFill>
                <a:latin typeface="微软雅黑" pitchFamily="34" charset="-122"/>
                <a:ea typeface="微软雅黑" pitchFamily="34" charset="-122"/>
              </a:rPr>
              <a:t>6.1.3                                            </a:t>
            </a:r>
            <a:r>
              <a:rPr lang="zh-CN" altLang="en-US" sz="2000" b="1" dirty="0">
                <a:solidFill>
                  <a:schemeClr val="bg1"/>
                </a:solidFill>
                <a:latin typeface="微软雅黑" pitchFamily="34" charset="-122"/>
                <a:ea typeface="微软雅黑" pitchFamily="34" charset="-122"/>
              </a:rPr>
              <a:t>域名服务器</a:t>
            </a:r>
          </a:p>
        </p:txBody>
      </p:sp>
      <p:sp>
        <p:nvSpPr>
          <p:cNvPr id="18" name="Rectangle 27"/>
          <p:cNvSpPr>
            <a:spLocks noChangeArrowheads="1"/>
          </p:cNvSpPr>
          <p:nvPr/>
        </p:nvSpPr>
        <p:spPr bwMode="auto">
          <a:xfrm>
            <a:off x="639730" y="1383404"/>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9" name="Rectangle 29"/>
          <p:cNvSpPr>
            <a:spLocks noChangeArrowheads="1"/>
          </p:cNvSpPr>
          <p:nvPr/>
        </p:nvSpPr>
        <p:spPr bwMode="auto">
          <a:xfrm>
            <a:off x="648619" y="1478336"/>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6.1</a:t>
            </a:r>
          </a:p>
          <a:p>
            <a:pPr eaLnBrk="0" hangingPunct="0"/>
            <a:r>
              <a:rPr lang="zh-CN" altLang="en-US" sz="2000" b="1" dirty="0">
                <a:solidFill>
                  <a:schemeClr val="bg1"/>
                </a:solidFill>
                <a:latin typeface="微软雅黑" pitchFamily="34" charset="-122"/>
                <a:ea typeface="微软雅黑" pitchFamily="34" charset="-122"/>
              </a:rPr>
              <a:t>域名系统 </a:t>
            </a:r>
            <a:r>
              <a:rPr lang="en-US" altLang="zh-CN" sz="2000" b="1" dirty="0">
                <a:solidFill>
                  <a:schemeClr val="bg1"/>
                </a:solidFill>
                <a:latin typeface="微软雅黑" pitchFamily="34" charset="-122"/>
                <a:ea typeface="微软雅黑" pitchFamily="34" charset="-122"/>
              </a:rPr>
              <a:t>DNS</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261690221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807867" y="2522620"/>
            <a:ext cx="7279689" cy="188957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6.1.1  </a:t>
            </a:r>
            <a:r>
              <a:rPr lang="zh-CN" altLang="en-US" sz="2400" b="1" dirty="0">
                <a:solidFill>
                  <a:schemeClr val="bg1"/>
                </a:solidFill>
                <a:latin typeface="微软雅黑" pitchFamily="34" charset="-122"/>
                <a:ea typeface="微软雅黑" pitchFamily="34" charset="-122"/>
              </a:rPr>
              <a:t>域名系统概述</a:t>
            </a:r>
          </a:p>
        </p:txBody>
      </p:sp>
      <p:sp>
        <p:nvSpPr>
          <p:cNvPr id="15" name="Rectangle 8"/>
          <p:cNvSpPr>
            <a:spLocks noChangeArrowheads="1"/>
          </p:cNvSpPr>
          <p:nvPr/>
        </p:nvSpPr>
        <p:spPr bwMode="auto">
          <a:xfrm>
            <a:off x="545143" y="1003858"/>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域名系统 </a:t>
            </a:r>
            <a:r>
              <a:rPr lang="en-US" altLang="zh-CN" sz="2000" b="1" dirty="0">
                <a:solidFill>
                  <a:srgbClr val="C00000"/>
                </a:solidFill>
                <a:latin typeface="微软雅黑" pitchFamily="34" charset="-122"/>
                <a:ea typeface="微软雅黑" pitchFamily="34" charset="-122"/>
              </a:rPr>
              <a:t>DNS </a:t>
            </a:r>
            <a:r>
              <a:rPr lang="en-US" altLang="zh-CN" sz="2000" b="1" dirty="0">
                <a:latin typeface="微软雅黑" pitchFamily="34" charset="-122"/>
                <a:ea typeface="微软雅黑" pitchFamily="34" charset="-122"/>
              </a:rPr>
              <a:t>(Domain Name System)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互联网使用的命名系统。</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用来把人们使用的机器</a:t>
            </a:r>
            <a:r>
              <a:rPr lang="zh-CN" altLang="en-US" sz="2000" b="1" dirty="0">
                <a:solidFill>
                  <a:srgbClr val="0000FF"/>
                </a:solidFill>
                <a:latin typeface="微软雅黑" pitchFamily="34" charset="-122"/>
                <a:ea typeface="微软雅黑" pitchFamily="34" charset="-122"/>
              </a:rPr>
              <a:t>名字（域名）转换为 </a:t>
            </a:r>
            <a:r>
              <a:rPr lang="en-US" altLang="zh-CN" sz="2000" b="1" dirty="0">
                <a:solidFill>
                  <a:srgbClr val="0000FF"/>
                </a:solidFill>
                <a:latin typeface="微软雅黑" pitchFamily="34" charset="-122"/>
                <a:ea typeface="微软雅黑" pitchFamily="34" charset="-122"/>
              </a:rPr>
              <a:t>IP </a:t>
            </a:r>
            <a:r>
              <a:rPr lang="zh-CN" altLang="en-US" sz="2000" b="1" dirty="0">
                <a:solidFill>
                  <a:srgbClr val="0000FF"/>
                </a:solidFill>
                <a:latin typeface="微软雅黑" pitchFamily="34" charset="-122"/>
                <a:ea typeface="微软雅黑" pitchFamily="34" charset="-122"/>
              </a:rPr>
              <a:t>地址。</a:t>
            </a:r>
            <a:endParaRPr lang="en-US" altLang="zh-CN" sz="2000" b="1" dirty="0">
              <a:solidFill>
                <a:srgbClr val="0000FF"/>
              </a:solidFill>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为互联网的各种网络应用提供了核心服务。</a:t>
            </a:r>
            <a:endParaRPr lang="en-US" altLang="zh-CN" sz="2000" b="1" dirty="0">
              <a:latin typeface="微软雅黑" pitchFamily="34" charset="-122"/>
              <a:ea typeface="微软雅黑" pitchFamily="34" charset="-122"/>
            </a:endParaRPr>
          </a:p>
        </p:txBody>
      </p:sp>
      <p:grpSp>
        <p:nvGrpSpPr>
          <p:cNvPr id="40" name="组合 39"/>
          <p:cNvGrpSpPr/>
          <p:nvPr/>
        </p:nvGrpSpPr>
        <p:grpSpPr>
          <a:xfrm>
            <a:off x="845702" y="2665944"/>
            <a:ext cx="7043565" cy="1650084"/>
            <a:chOff x="845702" y="2665944"/>
            <a:chExt cx="7043565" cy="1650084"/>
          </a:xfrm>
        </p:grpSpPr>
        <p:sp>
          <p:nvSpPr>
            <p:cNvPr id="8" name="矩形 7"/>
            <p:cNvSpPr/>
            <p:nvPr/>
          </p:nvSpPr>
          <p:spPr>
            <a:xfrm>
              <a:off x="2240258" y="2665944"/>
              <a:ext cx="2909323" cy="276999"/>
            </a:xfrm>
            <a:prstGeom prst="rect">
              <a:avLst/>
            </a:prstGeom>
          </p:spPr>
          <p:txBody>
            <a:bodyPr wrap="none">
              <a:spAutoFit/>
            </a:bodyPr>
            <a:lstStyle/>
            <a:p>
              <a:pPr algn="ctr"/>
              <a:r>
                <a:rPr lang="zh-CN" altLang="en-US" sz="1200" b="1" dirty="0">
                  <a:latin typeface="微软雅黑" pitchFamily="34" charset="-122"/>
                  <a:ea typeface="微软雅黑" pitchFamily="34" charset="-122"/>
                </a:rPr>
                <a:t>查询 </a:t>
              </a:r>
              <a:r>
                <a:rPr lang="en-US" altLang="zh-CN" sz="1200" b="1" dirty="0">
                  <a:latin typeface="微软雅黑" pitchFamily="34" charset="-122"/>
                  <a:ea typeface="微软雅黑" pitchFamily="34" charset="-122"/>
                </a:rPr>
                <a:t>www.myschool.edu </a:t>
              </a:r>
              <a:r>
                <a:rPr lang="zh-CN" altLang="en-US" sz="1200" b="1" dirty="0">
                  <a:latin typeface="微软雅黑" pitchFamily="34" charset="-122"/>
                  <a:ea typeface="微软雅黑" pitchFamily="34" charset="-122"/>
                </a:rPr>
                <a:t>的 </a:t>
              </a:r>
              <a:r>
                <a:rPr lang="en-US" altLang="zh-CN" sz="1200" b="1" dirty="0">
                  <a:latin typeface="微软雅黑" pitchFamily="34" charset="-122"/>
                  <a:ea typeface="微软雅黑" pitchFamily="34" charset="-122"/>
                </a:rPr>
                <a:t>IP </a:t>
              </a:r>
              <a:r>
                <a:rPr lang="zh-CN" altLang="en-US" sz="1200" b="1" dirty="0">
                  <a:latin typeface="微软雅黑" pitchFamily="34" charset="-122"/>
                  <a:ea typeface="微软雅黑" pitchFamily="34" charset="-122"/>
                </a:rPr>
                <a:t>地址</a:t>
              </a:r>
              <a:endParaRPr lang="zh-CN" altLang="en-US" sz="1200" dirty="0"/>
            </a:p>
          </p:txBody>
        </p:sp>
        <p:sp>
          <p:nvSpPr>
            <p:cNvPr id="16" name="矩形 15"/>
            <p:cNvSpPr/>
            <p:nvPr/>
          </p:nvSpPr>
          <p:spPr>
            <a:xfrm>
              <a:off x="5064582" y="4008251"/>
              <a:ext cx="1334020"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211.44.55.66</a:t>
              </a:r>
              <a:endParaRPr lang="zh-CN" altLang="en-US" sz="1400" dirty="0"/>
            </a:p>
          </p:txBody>
        </p:sp>
        <p:sp>
          <p:nvSpPr>
            <p:cNvPr id="10" name="云形 9"/>
            <p:cNvSpPr/>
            <p:nvPr/>
          </p:nvSpPr>
          <p:spPr>
            <a:xfrm>
              <a:off x="5318528" y="2683699"/>
              <a:ext cx="1787626" cy="1219649"/>
            </a:xfrm>
            <a:prstGeom prst="cloud">
              <a:avLst/>
            </a:prstGeom>
            <a:solidFill>
              <a:schemeClr val="bg1"/>
            </a:solidFill>
            <a:ln w="12700">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18" name="图片 1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544615" y="3640097"/>
              <a:ext cx="297954" cy="417136"/>
            </a:xfrm>
            <a:prstGeom prst="rect">
              <a:avLst/>
            </a:prstGeom>
          </p:spPr>
        </p:pic>
        <p:sp>
          <p:nvSpPr>
            <p:cNvPr id="3" name="圆角矩形 2"/>
            <p:cNvSpPr/>
            <p:nvPr/>
          </p:nvSpPr>
          <p:spPr>
            <a:xfrm>
              <a:off x="5145486" y="2759941"/>
              <a:ext cx="773085" cy="406121"/>
            </a:xfrm>
            <a:prstGeom prst="roundRect">
              <a:avLst/>
            </a:prstGeom>
            <a:solidFill>
              <a:srgbClr val="00B0F0"/>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latin typeface="微软雅黑" panose="020B0503020204020204" pitchFamily="34" charset="-122"/>
                  <a:ea typeface="微软雅黑" panose="020B0503020204020204" pitchFamily="34" charset="-122"/>
                </a:rPr>
                <a:t>DNS</a:t>
              </a:r>
              <a:endParaRPr lang="zh-CN" altLang="en-US" sz="1600" b="1" dirty="0">
                <a:latin typeface="微软雅黑" panose="020B0503020204020204" pitchFamily="34" charset="-122"/>
                <a:ea typeface="微软雅黑" panose="020B0503020204020204" pitchFamily="34" charset="-122"/>
              </a:endParaRPr>
            </a:p>
          </p:txBody>
        </p:sp>
        <p:sp>
          <p:nvSpPr>
            <p:cNvPr id="23" name="矩形 22"/>
            <p:cNvSpPr/>
            <p:nvPr/>
          </p:nvSpPr>
          <p:spPr>
            <a:xfrm>
              <a:off x="2764650" y="2969044"/>
              <a:ext cx="1919116" cy="276999"/>
            </a:xfrm>
            <a:prstGeom prst="rect">
              <a:avLst/>
            </a:prstGeom>
          </p:spPr>
          <p:txBody>
            <a:bodyPr wrap="none">
              <a:spAutoFit/>
            </a:bodyPr>
            <a:lstStyle/>
            <a:p>
              <a:pPr algn="ctr"/>
              <a:r>
                <a:rPr lang="en-US" altLang="zh-CN" sz="1200" b="1" dirty="0">
                  <a:latin typeface="微软雅黑" pitchFamily="34" charset="-122"/>
                  <a:ea typeface="微软雅黑" pitchFamily="34" charset="-122"/>
                </a:rPr>
                <a:t>IP </a:t>
              </a:r>
              <a:r>
                <a:rPr lang="zh-CN" altLang="en-US" sz="1200" b="1" dirty="0">
                  <a:latin typeface="微软雅黑" pitchFamily="34" charset="-122"/>
                  <a:ea typeface="微软雅黑" pitchFamily="34" charset="-122"/>
                </a:rPr>
                <a:t>地址为 </a:t>
              </a:r>
              <a:r>
                <a:rPr lang="en-US" altLang="zh-CN" sz="1200" b="1" dirty="0">
                  <a:latin typeface="微软雅黑" pitchFamily="34" charset="-122"/>
                  <a:ea typeface="微软雅黑" pitchFamily="34" charset="-122"/>
                </a:rPr>
                <a:t>211.44.55.66</a:t>
              </a:r>
              <a:endParaRPr lang="zh-CN" altLang="en-US" sz="1200" dirty="0"/>
            </a:p>
          </p:txBody>
        </p:sp>
        <p:grpSp>
          <p:nvGrpSpPr>
            <p:cNvPr id="26" name="组合 25"/>
            <p:cNvGrpSpPr/>
            <p:nvPr/>
          </p:nvGrpSpPr>
          <p:grpSpPr>
            <a:xfrm>
              <a:off x="1696121" y="2698471"/>
              <a:ext cx="640530" cy="640531"/>
              <a:chOff x="1749336" y="2998394"/>
              <a:chExt cx="640530" cy="640531"/>
            </a:xfrm>
          </p:grpSpPr>
          <p:pic>
            <p:nvPicPr>
              <p:cNvPr id="19"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9336" y="2998394"/>
                <a:ext cx="640530" cy="640531"/>
              </a:xfrm>
              <a:prstGeom prst="rect">
                <a:avLst/>
              </a:prstGeom>
              <a:noFill/>
              <a:extLst>
                <a:ext uri="{909E8E84-426E-40DD-AFC4-6F175D3DCCD1}">
                  <a14:hiddenFill xmlns:a14="http://schemas.microsoft.com/office/drawing/2010/main">
                    <a:solidFill>
                      <a:srgbClr val="FFFFFF"/>
                    </a:solidFill>
                  </a14:hiddenFill>
                </a:ext>
              </a:extLst>
            </p:spPr>
          </p:pic>
          <p:sp>
            <p:nvSpPr>
              <p:cNvPr id="24" name="文本框 23"/>
              <p:cNvSpPr txBox="1"/>
              <p:nvPr/>
            </p:nvSpPr>
            <p:spPr>
              <a:xfrm>
                <a:off x="1763811" y="3117525"/>
                <a:ext cx="602363" cy="261610"/>
              </a:xfrm>
              <a:prstGeom prst="rect">
                <a:avLst/>
              </a:prstGeom>
              <a:noFill/>
            </p:spPr>
            <p:txBody>
              <a:bodyPr wrap="square" rtlCol="0">
                <a:spAutoFit/>
              </a:bodyPr>
              <a:lstStyle/>
              <a:p>
                <a:pPr algn="ctr"/>
                <a:r>
                  <a:rPr lang="zh-CN" altLang="en-US" sz="1100" b="1" dirty="0">
                    <a:solidFill>
                      <a:srgbClr val="FFFF00"/>
                    </a:solidFill>
                    <a:latin typeface="微软雅黑" panose="020B0503020204020204" pitchFamily="34" charset="-122"/>
                    <a:ea typeface="微软雅黑" panose="020B0503020204020204" pitchFamily="34" charset="-122"/>
                  </a:rPr>
                  <a:t>浏览器</a:t>
                </a:r>
              </a:p>
            </p:txBody>
          </p:sp>
        </p:grpSp>
        <p:sp>
          <p:nvSpPr>
            <p:cNvPr id="25" name="矩形 24"/>
            <p:cNvSpPr/>
            <p:nvPr/>
          </p:nvSpPr>
          <p:spPr>
            <a:xfrm>
              <a:off x="5869485" y="3154596"/>
              <a:ext cx="723275" cy="307777"/>
            </a:xfrm>
            <a:prstGeom prst="rect">
              <a:avLst/>
            </a:prstGeom>
          </p:spPr>
          <p:txBody>
            <a:bodyPr wrap="none">
              <a:spAutoFit/>
            </a:bodyPr>
            <a:lstStyle/>
            <a:p>
              <a:r>
                <a:rPr lang="zh-CN" altLang="en-US" sz="1400" b="1" dirty="0">
                  <a:solidFill>
                    <a:srgbClr val="000066"/>
                  </a:solidFill>
                  <a:latin typeface="微软雅黑" panose="020B0503020204020204" pitchFamily="34" charset="-122"/>
                  <a:ea typeface="微软雅黑" panose="020B0503020204020204" pitchFamily="34" charset="-122"/>
                </a:rPr>
                <a:t>互联网</a:t>
              </a:r>
            </a:p>
          </p:txBody>
        </p:sp>
        <p:cxnSp>
          <p:nvCxnSpPr>
            <p:cNvPr id="27" name="直接箭头连接符 26"/>
            <p:cNvCxnSpPr/>
            <p:nvPr/>
          </p:nvCxnSpPr>
          <p:spPr>
            <a:xfrm>
              <a:off x="2312959" y="3146458"/>
              <a:ext cx="3192435" cy="756890"/>
            </a:xfrm>
            <a:prstGeom prst="straightConnector1">
              <a:avLst/>
            </a:prstGeom>
            <a:ln w="19050">
              <a:solidFill>
                <a:schemeClr val="tx1"/>
              </a:solidFill>
              <a:prstDash val="sysDash"/>
              <a:tailEnd type="triangle"/>
            </a:ln>
          </p:spPr>
          <p:style>
            <a:lnRef idx="1">
              <a:schemeClr val="dk1"/>
            </a:lnRef>
            <a:fillRef idx="0">
              <a:schemeClr val="dk1"/>
            </a:fillRef>
            <a:effectRef idx="0">
              <a:schemeClr val="dk1"/>
            </a:effectRef>
            <a:fontRef idx="minor">
              <a:schemeClr val="tx1"/>
            </a:fontRef>
          </p:style>
        </p:cxnSp>
        <p:pic>
          <p:nvPicPr>
            <p:cNvPr id="33" name="图片 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0787" y="3286709"/>
              <a:ext cx="297954" cy="417136"/>
            </a:xfrm>
            <a:prstGeom prst="rect">
              <a:avLst/>
            </a:prstGeom>
          </p:spPr>
        </p:pic>
        <p:sp>
          <p:nvSpPr>
            <p:cNvPr id="34" name="矩形 33"/>
            <p:cNvSpPr/>
            <p:nvPr/>
          </p:nvSpPr>
          <p:spPr>
            <a:xfrm>
              <a:off x="6555247" y="3648022"/>
              <a:ext cx="1334020"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200.11.22.33</a:t>
              </a:r>
              <a:endParaRPr lang="zh-CN" altLang="en-US" sz="1400" dirty="0"/>
            </a:p>
          </p:txBody>
        </p:sp>
        <p:sp>
          <p:nvSpPr>
            <p:cNvPr id="35" name="矩形 34"/>
            <p:cNvSpPr/>
            <p:nvPr/>
          </p:nvSpPr>
          <p:spPr>
            <a:xfrm>
              <a:off x="845702" y="3340059"/>
              <a:ext cx="2208811" cy="276999"/>
            </a:xfrm>
            <a:prstGeom prst="rect">
              <a:avLst/>
            </a:prstGeom>
          </p:spPr>
          <p:txBody>
            <a:bodyPr wrap="none">
              <a:spAutoFit/>
            </a:bodyPr>
            <a:lstStyle/>
            <a:p>
              <a:pPr algn="ctr"/>
              <a:r>
                <a:rPr lang="en-US" altLang="zh-CN" sz="1200" b="1" dirty="0">
                  <a:latin typeface="微软雅黑" pitchFamily="34" charset="-122"/>
                  <a:ea typeface="微软雅黑" pitchFamily="34" charset="-122"/>
                </a:rPr>
                <a:t>http://www.myschool.edu</a:t>
              </a:r>
              <a:endParaRPr lang="zh-CN" altLang="en-US" sz="1200" dirty="0"/>
            </a:p>
          </p:txBody>
        </p:sp>
        <p:grpSp>
          <p:nvGrpSpPr>
            <p:cNvPr id="38" name="组合 37"/>
            <p:cNvGrpSpPr/>
            <p:nvPr/>
          </p:nvGrpSpPr>
          <p:grpSpPr>
            <a:xfrm>
              <a:off x="2284350" y="2920745"/>
              <a:ext cx="2861961" cy="87320"/>
              <a:chOff x="2977656" y="2920745"/>
              <a:chExt cx="1954758" cy="87320"/>
            </a:xfrm>
          </p:grpSpPr>
          <p:cxnSp>
            <p:nvCxnSpPr>
              <p:cNvPr id="5" name="直接箭头连接符 4"/>
              <p:cNvCxnSpPr/>
              <p:nvPr/>
            </p:nvCxnSpPr>
            <p:spPr>
              <a:xfrm>
                <a:off x="2977656" y="2920745"/>
                <a:ext cx="1954758" cy="0"/>
              </a:xfrm>
              <a:prstGeom prst="straightConnector1">
                <a:avLst/>
              </a:prstGeom>
              <a:ln w="19050">
                <a:solidFill>
                  <a:srgbClr val="CC00CC"/>
                </a:solidFill>
                <a:tailEnd type="triangle"/>
              </a:ln>
            </p:spPr>
            <p:style>
              <a:lnRef idx="1">
                <a:schemeClr val="dk1"/>
              </a:lnRef>
              <a:fillRef idx="0">
                <a:schemeClr val="dk1"/>
              </a:fillRef>
              <a:effectRef idx="0">
                <a:schemeClr val="dk1"/>
              </a:effectRef>
              <a:fontRef idx="minor">
                <a:schemeClr val="tx1"/>
              </a:fontRef>
            </p:style>
          </p:cxnSp>
          <p:cxnSp>
            <p:nvCxnSpPr>
              <p:cNvPr id="9" name="直接箭头连接符 8"/>
              <p:cNvCxnSpPr/>
              <p:nvPr/>
            </p:nvCxnSpPr>
            <p:spPr>
              <a:xfrm>
                <a:off x="2977656" y="3008065"/>
                <a:ext cx="1954758" cy="0"/>
              </a:xfrm>
              <a:prstGeom prst="straightConnector1">
                <a:avLst/>
              </a:prstGeom>
              <a:ln w="19050">
                <a:solidFill>
                  <a:srgbClr val="000099"/>
                </a:solidFill>
                <a:headEnd type="triangle" w="med" len="med"/>
                <a:tailEnd type="none" w="med" len="med"/>
              </a:ln>
            </p:spPr>
            <p:style>
              <a:lnRef idx="1">
                <a:schemeClr val="dk1"/>
              </a:lnRef>
              <a:fillRef idx="0">
                <a:schemeClr val="dk1"/>
              </a:fillRef>
              <a:effectRef idx="0">
                <a:schemeClr val="dk1"/>
              </a:effectRef>
              <a:fontRef idx="minor">
                <a:schemeClr val="tx1"/>
              </a:fontRef>
            </p:style>
          </p:cxnSp>
        </p:grpSp>
      </p:grpSp>
    </p:spTree>
    <p:extLst>
      <p:ext uri="{BB962C8B-B14F-4D97-AF65-F5344CB8AC3E}">
        <p14:creationId xmlns:p14="http://schemas.microsoft.com/office/powerpoint/2010/main" val="6689464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6.1.1  </a:t>
            </a:r>
            <a:r>
              <a:rPr lang="zh-CN" altLang="en-US" sz="2400" b="1" dirty="0">
                <a:solidFill>
                  <a:schemeClr val="bg1"/>
                </a:solidFill>
                <a:latin typeface="微软雅黑" pitchFamily="34" charset="-122"/>
                <a:ea typeface="微软雅黑" pitchFamily="34" charset="-122"/>
              </a:rPr>
              <a:t>域名系统概述</a:t>
            </a:r>
          </a:p>
        </p:txBody>
      </p:sp>
      <p:sp>
        <p:nvSpPr>
          <p:cNvPr id="15" name="Rectangle 8"/>
          <p:cNvSpPr>
            <a:spLocks noChangeArrowheads="1"/>
          </p:cNvSpPr>
          <p:nvPr/>
        </p:nvSpPr>
        <p:spPr bwMode="auto">
          <a:xfrm>
            <a:off x="545143" y="1003858"/>
            <a:ext cx="8053711" cy="441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域名</a:t>
            </a:r>
            <a:r>
              <a:rPr lang="zh-CN" altLang="en-US" sz="2000" b="1" dirty="0">
                <a:latin typeface="微软雅黑" pitchFamily="34" charset="-122"/>
                <a:ea typeface="微软雅黑" pitchFamily="34" charset="-122"/>
              </a:rPr>
              <a:t>采用层次</a:t>
            </a:r>
            <a:r>
              <a:rPr lang="zh-CN" altLang="en-US" sz="2000" b="1" dirty="0">
                <a:solidFill>
                  <a:srgbClr val="C00000"/>
                </a:solidFill>
                <a:latin typeface="微软雅黑" pitchFamily="34" charset="-122"/>
                <a:ea typeface="微软雅黑" pitchFamily="34" charset="-122"/>
              </a:rPr>
              <a:t>树状结构</a:t>
            </a:r>
            <a:r>
              <a:rPr lang="zh-CN" altLang="en-US" sz="2000" b="1" dirty="0">
                <a:latin typeface="微软雅黑" pitchFamily="34" charset="-122"/>
                <a:ea typeface="微软雅黑" pitchFamily="34" charset="-122"/>
              </a:rPr>
              <a:t>的命名方法：</a:t>
            </a:r>
            <a:r>
              <a:rPr lang="en-US" altLang="zh-CN" sz="2000" b="1" dirty="0">
                <a:latin typeface="微软雅黑" pitchFamily="34" charset="-122"/>
                <a:ea typeface="微软雅黑" pitchFamily="34" charset="-122"/>
              </a:rPr>
              <a:t>www.myschool.edu</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grpSp>
        <p:nvGrpSpPr>
          <p:cNvPr id="2" name="组合 1"/>
          <p:cNvGrpSpPr/>
          <p:nvPr/>
        </p:nvGrpSpPr>
        <p:grpSpPr>
          <a:xfrm>
            <a:off x="6641647" y="1375130"/>
            <a:ext cx="2236132" cy="1862998"/>
            <a:chOff x="4235802" y="1499417"/>
            <a:chExt cx="2236132" cy="1862998"/>
          </a:xfrm>
        </p:grpSpPr>
        <p:sp>
          <p:nvSpPr>
            <p:cNvPr id="5" name="Rectangle 122"/>
            <p:cNvSpPr>
              <a:spLocks noChangeArrowheads="1"/>
            </p:cNvSpPr>
            <p:nvPr/>
          </p:nvSpPr>
          <p:spPr bwMode="auto">
            <a:xfrm>
              <a:off x="4774221" y="1499417"/>
              <a:ext cx="409790" cy="324229"/>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rgbClr val="0000FF"/>
                  </a:solidFill>
                  <a:latin typeface="微软雅黑" pitchFamily="34" charset="-122"/>
                  <a:ea typeface="微软雅黑" pitchFamily="34" charset="-122"/>
                </a:rPr>
                <a:t>根</a:t>
              </a:r>
            </a:p>
          </p:txBody>
        </p:sp>
        <p:sp>
          <p:nvSpPr>
            <p:cNvPr id="19" name="Text Box 105"/>
            <p:cNvSpPr txBox="1">
              <a:spLocks noChangeArrowheads="1"/>
            </p:cNvSpPr>
            <p:nvPr/>
          </p:nvSpPr>
          <p:spPr bwMode="auto">
            <a:xfrm>
              <a:off x="5796446" y="2634960"/>
              <a:ext cx="357612" cy="307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25" name="Text Box 124"/>
            <p:cNvSpPr txBox="1">
              <a:spLocks noChangeArrowheads="1"/>
            </p:cNvSpPr>
            <p:nvPr/>
          </p:nvSpPr>
          <p:spPr bwMode="auto">
            <a:xfrm>
              <a:off x="4868740" y="2687209"/>
              <a:ext cx="10502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pitchFamily="34" charset="-122"/>
                  <a:ea typeface="微软雅黑" pitchFamily="34" charset="-122"/>
                </a:rPr>
                <a:t>myschool</a:t>
              </a:r>
              <a:endParaRPr kumimoji="1" lang="en-US" altLang="zh-CN" sz="1400" b="1" dirty="0">
                <a:solidFill>
                  <a:schemeClr val="tx1"/>
                </a:solidFill>
                <a:latin typeface="微软雅黑" pitchFamily="34" charset="-122"/>
                <a:ea typeface="微软雅黑" pitchFamily="34" charset="-122"/>
              </a:endParaRPr>
            </a:p>
          </p:txBody>
        </p:sp>
        <p:sp>
          <p:nvSpPr>
            <p:cNvPr id="28" name="Line 142"/>
            <p:cNvSpPr>
              <a:spLocks noChangeShapeType="1"/>
            </p:cNvSpPr>
            <p:nvPr/>
          </p:nvSpPr>
          <p:spPr bwMode="auto">
            <a:xfrm>
              <a:off x="5304275" y="2420677"/>
              <a:ext cx="81165" cy="3242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Line 143"/>
            <p:cNvSpPr>
              <a:spLocks noChangeShapeType="1"/>
            </p:cNvSpPr>
            <p:nvPr/>
          </p:nvSpPr>
          <p:spPr bwMode="auto">
            <a:xfrm>
              <a:off x="5304275" y="2433600"/>
              <a:ext cx="557632" cy="291127"/>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Line 144"/>
            <p:cNvSpPr>
              <a:spLocks noChangeShapeType="1"/>
            </p:cNvSpPr>
            <p:nvPr/>
          </p:nvSpPr>
          <p:spPr bwMode="auto">
            <a:xfrm flipV="1">
              <a:off x="4893212" y="2445345"/>
              <a:ext cx="411062" cy="27938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5" name="Group 162"/>
            <p:cNvGrpSpPr>
              <a:grpSpLocks/>
            </p:cNvGrpSpPr>
            <p:nvPr/>
          </p:nvGrpSpPr>
          <p:grpSpPr bwMode="auto">
            <a:xfrm>
              <a:off x="4566141" y="2421987"/>
              <a:ext cx="341067" cy="118649"/>
              <a:chOff x="2875" y="1143"/>
              <a:chExt cx="330" cy="132"/>
            </a:xfrm>
          </p:grpSpPr>
          <p:sp>
            <p:nvSpPr>
              <p:cNvPr id="56" name="Line 16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Line 16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8" name="Line 16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9" name="Line 16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38" name="Group 177"/>
            <p:cNvGrpSpPr>
              <a:grpSpLocks/>
            </p:cNvGrpSpPr>
            <p:nvPr/>
          </p:nvGrpSpPr>
          <p:grpSpPr bwMode="auto">
            <a:xfrm>
              <a:off x="5642797" y="2421987"/>
              <a:ext cx="341067" cy="118649"/>
              <a:chOff x="2875" y="1143"/>
              <a:chExt cx="330" cy="132"/>
            </a:xfrm>
          </p:grpSpPr>
          <p:sp>
            <p:nvSpPr>
              <p:cNvPr id="44" name="Line 17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5" name="Line 17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6" name="Line 18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7" name="Line 18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sp>
          <p:nvSpPr>
            <p:cNvPr id="73" name="Text Box 150"/>
            <p:cNvSpPr txBox="1">
              <a:spLocks noChangeArrowheads="1"/>
            </p:cNvSpPr>
            <p:nvPr/>
          </p:nvSpPr>
          <p:spPr bwMode="auto">
            <a:xfrm>
              <a:off x="5268039" y="3054633"/>
              <a:ext cx="641410" cy="30778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www</a:t>
              </a:r>
            </a:p>
          </p:txBody>
        </p:sp>
        <p:sp>
          <p:nvSpPr>
            <p:cNvPr id="74" name="Text Box 152"/>
            <p:cNvSpPr txBox="1">
              <a:spLocks noChangeArrowheads="1"/>
            </p:cNvSpPr>
            <p:nvPr/>
          </p:nvSpPr>
          <p:spPr bwMode="auto">
            <a:xfrm>
              <a:off x="4632836" y="263460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76" name="Line 154"/>
            <p:cNvSpPr>
              <a:spLocks noChangeShapeType="1"/>
            </p:cNvSpPr>
            <p:nvPr/>
          </p:nvSpPr>
          <p:spPr bwMode="auto">
            <a:xfrm>
              <a:off x="5469063" y="2955536"/>
              <a:ext cx="130465" cy="186024"/>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0" name="Text Box 107"/>
            <p:cNvSpPr txBox="1">
              <a:spLocks noChangeArrowheads="1"/>
            </p:cNvSpPr>
            <p:nvPr/>
          </p:nvSpPr>
          <p:spPr bwMode="auto">
            <a:xfrm>
              <a:off x="4521599" y="2165889"/>
              <a:ext cx="5725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com</a:t>
              </a:r>
            </a:p>
          </p:txBody>
        </p:sp>
        <p:sp>
          <p:nvSpPr>
            <p:cNvPr id="102" name="Text Box 109"/>
            <p:cNvSpPr txBox="1">
              <a:spLocks noChangeArrowheads="1"/>
            </p:cNvSpPr>
            <p:nvPr/>
          </p:nvSpPr>
          <p:spPr bwMode="auto">
            <a:xfrm>
              <a:off x="5053565" y="2165889"/>
              <a:ext cx="524328"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103" name="Text Box 110"/>
            <p:cNvSpPr txBox="1">
              <a:spLocks noChangeArrowheads="1"/>
            </p:cNvSpPr>
            <p:nvPr/>
          </p:nvSpPr>
          <p:spPr bwMode="auto">
            <a:xfrm>
              <a:off x="5599528" y="2165889"/>
              <a:ext cx="525600"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gov</a:t>
              </a:r>
            </a:p>
          </p:txBody>
        </p:sp>
        <p:sp>
          <p:nvSpPr>
            <p:cNvPr id="110" name="Line 134"/>
            <p:cNvSpPr>
              <a:spLocks noChangeShapeType="1"/>
            </p:cNvSpPr>
            <p:nvPr/>
          </p:nvSpPr>
          <p:spPr bwMode="auto">
            <a:xfrm flipH="1">
              <a:off x="4427415" y="1791531"/>
              <a:ext cx="559882" cy="4361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1" name="Line 135"/>
            <p:cNvSpPr>
              <a:spLocks noChangeShapeType="1"/>
            </p:cNvSpPr>
            <p:nvPr/>
          </p:nvSpPr>
          <p:spPr bwMode="auto">
            <a:xfrm flipH="1">
              <a:off x="4785027" y="1800409"/>
              <a:ext cx="187090" cy="42727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2" name="Line 136"/>
            <p:cNvSpPr>
              <a:spLocks noChangeShapeType="1"/>
            </p:cNvSpPr>
            <p:nvPr/>
          </p:nvSpPr>
          <p:spPr bwMode="auto">
            <a:xfrm>
              <a:off x="4987388" y="1809942"/>
              <a:ext cx="316887" cy="42878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3" name="Line 137"/>
            <p:cNvSpPr>
              <a:spLocks noChangeShapeType="1"/>
            </p:cNvSpPr>
            <p:nvPr/>
          </p:nvSpPr>
          <p:spPr bwMode="auto">
            <a:xfrm>
              <a:off x="4984843" y="1800544"/>
              <a:ext cx="866668" cy="4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38"/>
            <p:cNvSpPr>
              <a:spLocks noChangeShapeType="1"/>
            </p:cNvSpPr>
            <p:nvPr/>
          </p:nvSpPr>
          <p:spPr bwMode="auto">
            <a:xfrm>
              <a:off x="5001387" y="1792321"/>
              <a:ext cx="1259701" cy="43935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7" name="Text Box 141"/>
            <p:cNvSpPr txBox="1">
              <a:spLocks noChangeArrowheads="1"/>
            </p:cNvSpPr>
            <p:nvPr/>
          </p:nvSpPr>
          <p:spPr bwMode="auto">
            <a:xfrm>
              <a:off x="423580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118" name="Text Box 207"/>
            <p:cNvSpPr txBox="1">
              <a:spLocks noChangeArrowheads="1"/>
            </p:cNvSpPr>
            <p:nvPr/>
          </p:nvSpPr>
          <p:spPr bwMode="auto">
            <a:xfrm>
              <a:off x="611432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grpSp>
      <p:sp>
        <p:nvSpPr>
          <p:cNvPr id="119" name="Rectangle 8"/>
          <p:cNvSpPr>
            <a:spLocks noChangeArrowheads="1"/>
          </p:cNvSpPr>
          <p:nvPr/>
        </p:nvSpPr>
        <p:spPr bwMode="auto">
          <a:xfrm>
            <a:off x="545143" y="1419520"/>
            <a:ext cx="5786583"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是一个联机</a:t>
            </a:r>
            <a:r>
              <a:rPr lang="zh-CN" altLang="en-US" sz="2000" b="1" dirty="0">
                <a:solidFill>
                  <a:srgbClr val="C00000"/>
                </a:solidFill>
                <a:latin typeface="微软雅黑" pitchFamily="34" charset="-122"/>
                <a:ea typeface="微软雅黑" pitchFamily="34" charset="-122"/>
              </a:rPr>
              <a:t>分布式数据库系统，</a:t>
            </a:r>
            <a:r>
              <a:rPr lang="zh-CN" altLang="en-US" sz="2000" b="1" dirty="0">
                <a:latin typeface="微软雅黑" pitchFamily="34" charset="-122"/>
                <a:ea typeface="微软雅黑" pitchFamily="34" charset="-122"/>
              </a:rPr>
              <a:t>采用</a:t>
            </a:r>
            <a:r>
              <a:rPr lang="zh-CN" altLang="en-US" sz="2000" b="1" dirty="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域名到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地址的解析是由若干个</a:t>
            </a:r>
            <a:r>
              <a:rPr lang="zh-CN" altLang="en-US" sz="2000" b="1" dirty="0">
                <a:solidFill>
                  <a:srgbClr val="C00000"/>
                </a:solidFill>
                <a:latin typeface="微软雅黑" pitchFamily="34" charset="-122"/>
                <a:ea typeface="微软雅黑" pitchFamily="34" charset="-122"/>
              </a:rPr>
              <a:t>域名服务器程序</a:t>
            </a:r>
            <a:r>
              <a:rPr lang="zh-CN" altLang="en-US" sz="2000" b="1" dirty="0">
                <a:latin typeface="微软雅黑" pitchFamily="34" charset="-122"/>
                <a:ea typeface="微软雅黑" pitchFamily="34" charset="-122"/>
              </a:rPr>
              <a:t>共同完成。</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域名服务器程序在专设的结点上运行，运行该程序的机器称为</a:t>
            </a:r>
            <a:r>
              <a:rPr lang="zh-CN" altLang="en-US" sz="2000" b="1" dirty="0">
                <a:solidFill>
                  <a:srgbClr val="C00000"/>
                </a:solidFill>
                <a:latin typeface="微软雅黑" pitchFamily="34" charset="-122"/>
                <a:ea typeface="微软雅黑" pitchFamily="34" charset="-122"/>
              </a:rPr>
              <a:t>域名服务器。</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40240448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19">
                                            <p:txEl>
                                              <p:pRg st="0" end="0"/>
                                            </p:txEl>
                                          </p:spTgt>
                                        </p:tgtEl>
                                        <p:attrNameLst>
                                          <p:attrName>style.visibility</p:attrName>
                                        </p:attrNameLst>
                                      </p:cBhvr>
                                      <p:to>
                                        <p:strVal val="visible"/>
                                      </p:to>
                                    </p:set>
                                    <p:animEffect transition="in" filter="wipe(up)">
                                      <p:cBhvr>
                                        <p:cTn id="12" dur="1000"/>
                                        <p:tgtEl>
                                          <p:spTgt spid="11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9">
                                            <p:txEl>
                                              <p:pRg st="1" end="1"/>
                                            </p:txEl>
                                          </p:spTgt>
                                        </p:tgtEl>
                                        <p:attrNameLst>
                                          <p:attrName>style.visibility</p:attrName>
                                        </p:attrNameLst>
                                      </p:cBhvr>
                                      <p:to>
                                        <p:strVal val="visible"/>
                                      </p:to>
                                    </p:set>
                                    <p:animEffect transition="in" filter="wipe(up)">
                                      <p:cBhvr>
                                        <p:cTn id="17" dur="1000"/>
                                        <p:tgtEl>
                                          <p:spTgt spid="119">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19">
                                            <p:txEl>
                                              <p:pRg st="2" end="2"/>
                                            </p:txEl>
                                          </p:spTgt>
                                        </p:tgtEl>
                                        <p:attrNameLst>
                                          <p:attrName>style.visibility</p:attrName>
                                        </p:attrNameLst>
                                      </p:cBhvr>
                                      <p:to>
                                        <p:strVal val="visible"/>
                                      </p:to>
                                    </p:set>
                                    <p:animEffect transition="in" filter="wipe(up)">
                                      <p:cBhvr>
                                        <p:cTn id="22" dur="1000"/>
                                        <p:tgtEl>
                                          <p:spTgt spid="11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uiExpand="1"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100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63099" y="577797"/>
            <a:ext cx="22365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域名解析过程要点</a:t>
            </a:r>
          </a:p>
        </p:txBody>
      </p:sp>
      <p:sp>
        <p:nvSpPr>
          <p:cNvPr id="7" name="圆角矩形 6"/>
          <p:cNvSpPr/>
          <p:nvPr/>
        </p:nvSpPr>
        <p:spPr>
          <a:xfrm>
            <a:off x="807867" y="1008671"/>
            <a:ext cx="7279689" cy="34923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文本框 7"/>
          <p:cNvSpPr txBox="1"/>
          <p:nvPr/>
        </p:nvSpPr>
        <p:spPr>
          <a:xfrm>
            <a:off x="2714425" y="1321580"/>
            <a:ext cx="504892" cy="276999"/>
          </a:xfrm>
          <a:prstGeom prst="rect">
            <a:avLst/>
          </a:prstGeom>
          <a:noFill/>
          <a:ln>
            <a:noFill/>
          </a:ln>
        </p:spPr>
        <p:txBody>
          <a:bodyPr wrap="square" rtlCol="0" anchor="ctr">
            <a:spAutoFit/>
          </a:bodyPr>
          <a:lstStyle/>
          <a:p>
            <a:pPr algn="ctr"/>
            <a:r>
              <a:rPr lang="zh-CN" altLang="en-US" sz="1200" b="1" dirty="0">
                <a:solidFill>
                  <a:srgbClr val="C00000"/>
                </a:solidFill>
                <a:latin typeface="微软雅黑" panose="020B0503020204020204" pitchFamily="34" charset="-122"/>
                <a:ea typeface="微软雅黑" panose="020B0503020204020204" pitchFamily="34" charset="-122"/>
              </a:rPr>
              <a:t>客户</a:t>
            </a:r>
          </a:p>
        </p:txBody>
      </p:sp>
      <p:grpSp>
        <p:nvGrpSpPr>
          <p:cNvPr id="21" name="Group 233"/>
          <p:cNvGrpSpPr>
            <a:grpSpLocks/>
          </p:cNvGrpSpPr>
          <p:nvPr/>
        </p:nvGrpSpPr>
        <p:grpSpPr bwMode="auto">
          <a:xfrm>
            <a:off x="5317724" y="3466759"/>
            <a:ext cx="488272" cy="699122"/>
            <a:chOff x="1441" y="3172"/>
            <a:chExt cx="355" cy="585"/>
          </a:xfrm>
        </p:grpSpPr>
        <p:sp>
          <p:nvSpPr>
            <p:cNvPr id="22" name="Freeform 234"/>
            <p:cNvSpPr>
              <a:spLocks/>
            </p:cNvSpPr>
            <p:nvPr/>
          </p:nvSpPr>
          <p:spPr bwMode="auto">
            <a:xfrm>
              <a:off x="1441" y="3172"/>
              <a:ext cx="355" cy="585"/>
            </a:xfrm>
            <a:custGeom>
              <a:avLst/>
              <a:gdLst>
                <a:gd name="T0" fmla="*/ 355 w 7809"/>
                <a:gd name="T1" fmla="*/ 0 h 12860"/>
                <a:gd name="T2" fmla="*/ 355 w 7809"/>
                <a:gd name="T3" fmla="*/ 0 h 12860"/>
                <a:gd name="T4" fmla="*/ 355 w 7809"/>
                <a:gd name="T5" fmla="*/ 0 h 12860"/>
                <a:gd name="T6" fmla="*/ 355 w 7809"/>
                <a:gd name="T7" fmla="*/ 466 h 12860"/>
                <a:gd name="T8" fmla="*/ 235 w 7809"/>
                <a:gd name="T9" fmla="*/ 585 h 12860"/>
                <a:gd name="T10" fmla="*/ 0 w 7809"/>
                <a:gd name="T11" fmla="*/ 585 h 12860"/>
                <a:gd name="T12" fmla="*/ 0 w 7809"/>
                <a:gd name="T13" fmla="*/ 119 h 12860"/>
                <a:gd name="T14" fmla="*/ 119 w 7809"/>
                <a:gd name="T15" fmla="*/ 0 h 12860"/>
                <a:gd name="T16" fmla="*/ 355 w 7809"/>
                <a:gd name="T17" fmla="*/ 0 h 128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09" h="12860">
                  <a:moveTo>
                    <a:pt x="7809" y="0"/>
                  </a:moveTo>
                  <a:lnTo>
                    <a:pt x="7809" y="0"/>
                  </a:lnTo>
                  <a:lnTo>
                    <a:pt x="7809" y="10235"/>
                  </a:lnTo>
                  <a:lnTo>
                    <a:pt x="5174" y="12860"/>
                  </a:lnTo>
                  <a:lnTo>
                    <a:pt x="0" y="12860"/>
                  </a:lnTo>
                  <a:lnTo>
                    <a:pt x="0" y="2625"/>
                  </a:lnTo>
                  <a:lnTo>
                    <a:pt x="2628" y="1"/>
                  </a:lnTo>
                  <a:lnTo>
                    <a:pt x="7809" y="0"/>
                  </a:lnTo>
                  <a:close/>
                </a:path>
              </a:pathLst>
            </a:custGeom>
            <a:solidFill>
              <a:srgbClr val="5781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 name="Rectangle 235"/>
            <p:cNvSpPr>
              <a:spLocks noChangeArrowheads="1"/>
            </p:cNvSpPr>
            <p:nvPr/>
          </p:nvSpPr>
          <p:spPr bwMode="auto">
            <a:xfrm>
              <a:off x="1441" y="3292"/>
              <a:ext cx="235" cy="465"/>
            </a:xfrm>
            <a:prstGeom prst="rect">
              <a:avLst/>
            </a:prstGeom>
            <a:solidFill>
              <a:srgbClr val="5781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4" name="Freeform 236"/>
            <p:cNvSpPr>
              <a:spLocks/>
            </p:cNvSpPr>
            <p:nvPr/>
          </p:nvSpPr>
          <p:spPr bwMode="auto">
            <a:xfrm>
              <a:off x="1676" y="3172"/>
              <a:ext cx="120" cy="585"/>
            </a:xfrm>
            <a:custGeom>
              <a:avLst/>
              <a:gdLst>
                <a:gd name="T0" fmla="*/ 120 w 2635"/>
                <a:gd name="T1" fmla="*/ 0 h 12860"/>
                <a:gd name="T2" fmla="*/ 0 w 2635"/>
                <a:gd name="T3" fmla="*/ 119 h 12860"/>
                <a:gd name="T4" fmla="*/ 0 w 2635"/>
                <a:gd name="T5" fmla="*/ 585 h 12860"/>
                <a:gd name="T6" fmla="*/ 120 w 2635"/>
                <a:gd name="T7" fmla="*/ 466 h 12860"/>
                <a:gd name="T8" fmla="*/ 120 w 2635"/>
                <a:gd name="T9" fmla="*/ 0 h 128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35" h="12860">
                  <a:moveTo>
                    <a:pt x="2635" y="0"/>
                  </a:moveTo>
                  <a:lnTo>
                    <a:pt x="0" y="2625"/>
                  </a:lnTo>
                  <a:lnTo>
                    <a:pt x="0" y="12860"/>
                  </a:lnTo>
                  <a:lnTo>
                    <a:pt x="2635" y="10235"/>
                  </a:lnTo>
                  <a:lnTo>
                    <a:pt x="2635" y="0"/>
                  </a:lnTo>
                  <a:close/>
                </a:path>
              </a:pathLst>
            </a:custGeom>
            <a:solidFill>
              <a:srgbClr val="325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 name="Freeform 237"/>
            <p:cNvSpPr>
              <a:spLocks/>
            </p:cNvSpPr>
            <p:nvPr/>
          </p:nvSpPr>
          <p:spPr bwMode="auto">
            <a:xfrm>
              <a:off x="1441" y="3172"/>
              <a:ext cx="355" cy="120"/>
            </a:xfrm>
            <a:custGeom>
              <a:avLst/>
              <a:gdLst>
                <a:gd name="T0" fmla="*/ 0 w 7809"/>
                <a:gd name="T1" fmla="*/ 120 h 2625"/>
                <a:gd name="T2" fmla="*/ 235 w 7809"/>
                <a:gd name="T3" fmla="*/ 120 h 2625"/>
                <a:gd name="T4" fmla="*/ 355 w 7809"/>
                <a:gd name="T5" fmla="*/ 0 h 2625"/>
                <a:gd name="T6" fmla="*/ 119 w 7809"/>
                <a:gd name="T7" fmla="*/ 0 h 2625"/>
                <a:gd name="T8" fmla="*/ 0 w 7809"/>
                <a:gd name="T9" fmla="*/ 120 h 2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09" h="2625">
                  <a:moveTo>
                    <a:pt x="0" y="2625"/>
                  </a:moveTo>
                  <a:lnTo>
                    <a:pt x="5174" y="2625"/>
                  </a:lnTo>
                  <a:lnTo>
                    <a:pt x="7809" y="0"/>
                  </a:lnTo>
                  <a:lnTo>
                    <a:pt x="2628" y="1"/>
                  </a:lnTo>
                  <a:lnTo>
                    <a:pt x="0" y="2625"/>
                  </a:lnTo>
                  <a:close/>
                </a:path>
              </a:pathLst>
            </a:custGeom>
            <a:solidFill>
              <a:srgbClr val="83A7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 name="Rectangle 238"/>
            <p:cNvSpPr>
              <a:spLocks noChangeArrowheads="1"/>
            </p:cNvSpPr>
            <p:nvPr/>
          </p:nvSpPr>
          <p:spPr bwMode="auto">
            <a:xfrm>
              <a:off x="1515" y="3304"/>
              <a:ext cx="154" cy="57"/>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7" name="Rectangle 239"/>
            <p:cNvSpPr>
              <a:spLocks noChangeArrowheads="1"/>
            </p:cNvSpPr>
            <p:nvPr/>
          </p:nvSpPr>
          <p:spPr bwMode="auto">
            <a:xfrm>
              <a:off x="1530" y="3317"/>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8" name="Rectangle 240"/>
            <p:cNvSpPr>
              <a:spLocks noChangeArrowheads="1"/>
            </p:cNvSpPr>
            <p:nvPr/>
          </p:nvSpPr>
          <p:spPr bwMode="auto">
            <a:xfrm>
              <a:off x="1530" y="3317"/>
              <a:ext cx="127" cy="12"/>
            </a:xfrm>
            <a:prstGeom prst="rect">
              <a:avLst/>
            </a:prstGeom>
            <a:noFill/>
            <a:ln w="3175">
              <a:solidFill>
                <a:srgbClr val="1F1A17"/>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9" name="Rectangle 241"/>
            <p:cNvSpPr>
              <a:spLocks noChangeArrowheads="1"/>
            </p:cNvSpPr>
            <p:nvPr/>
          </p:nvSpPr>
          <p:spPr bwMode="auto">
            <a:xfrm>
              <a:off x="1515" y="3373"/>
              <a:ext cx="154" cy="116"/>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0" name="Rectangle 242"/>
            <p:cNvSpPr>
              <a:spLocks noChangeArrowheads="1"/>
            </p:cNvSpPr>
            <p:nvPr/>
          </p:nvSpPr>
          <p:spPr bwMode="auto">
            <a:xfrm>
              <a:off x="1515" y="3499"/>
              <a:ext cx="154" cy="231"/>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1" name="Rectangle 243"/>
            <p:cNvSpPr>
              <a:spLocks noChangeArrowheads="1"/>
            </p:cNvSpPr>
            <p:nvPr/>
          </p:nvSpPr>
          <p:spPr bwMode="auto">
            <a:xfrm>
              <a:off x="1530" y="3400"/>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2" name="Rectangle 244"/>
            <p:cNvSpPr>
              <a:spLocks noChangeArrowheads="1"/>
            </p:cNvSpPr>
            <p:nvPr/>
          </p:nvSpPr>
          <p:spPr bwMode="auto">
            <a:xfrm>
              <a:off x="1530" y="3400"/>
              <a:ext cx="127" cy="12"/>
            </a:xfrm>
            <a:prstGeom prst="rect">
              <a:avLst/>
            </a:prstGeom>
            <a:noFill/>
            <a:ln w="3175">
              <a:solidFill>
                <a:srgbClr val="1F1A17"/>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33" name="矩形 32"/>
          <p:cNvSpPr/>
          <p:nvPr/>
        </p:nvSpPr>
        <p:spPr>
          <a:xfrm>
            <a:off x="5665317" y="3664804"/>
            <a:ext cx="815070" cy="276999"/>
          </a:xfrm>
          <a:prstGeom prst="rect">
            <a:avLst/>
          </a:prstGeom>
        </p:spPr>
        <p:txBody>
          <a:bodyPr wrap="square">
            <a:spAutoFit/>
          </a:bodyPr>
          <a:lstStyle/>
          <a:p>
            <a:pPr algn="ctr"/>
            <a:r>
              <a:rPr lang="zh-CN" altLang="en-US" sz="1200" b="1" dirty="0">
                <a:latin typeface="微软雅黑" pitchFamily="34" charset="-122"/>
                <a:ea typeface="微软雅黑" pitchFamily="34" charset="-122"/>
              </a:rPr>
              <a:t>服务器</a:t>
            </a:r>
            <a:endParaRPr lang="zh-CN" altLang="en-US" sz="1200" dirty="0"/>
          </a:p>
        </p:txBody>
      </p:sp>
      <p:cxnSp>
        <p:nvCxnSpPr>
          <p:cNvPr id="34" name="直接箭头连接符 33"/>
          <p:cNvCxnSpPr/>
          <p:nvPr/>
        </p:nvCxnSpPr>
        <p:spPr>
          <a:xfrm>
            <a:off x="3169328" y="2417626"/>
            <a:ext cx="953457" cy="0"/>
          </a:xfrm>
          <a:prstGeom prst="straightConnector1">
            <a:avLst/>
          </a:prstGeom>
          <a:ln w="38100">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nvCxnSpPr>
        <p:spPr>
          <a:xfrm>
            <a:off x="3170724" y="2259928"/>
            <a:ext cx="960116" cy="1"/>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6050932" y="1175504"/>
            <a:ext cx="523017" cy="718723"/>
            <a:chOff x="5309611" y="1717945"/>
            <a:chExt cx="523017" cy="718723"/>
          </a:xfrm>
        </p:grpSpPr>
        <p:grpSp>
          <p:nvGrpSpPr>
            <p:cNvPr id="10" name="组合 9"/>
            <p:cNvGrpSpPr/>
            <p:nvPr/>
          </p:nvGrpSpPr>
          <p:grpSpPr>
            <a:xfrm>
              <a:off x="5309611" y="1717945"/>
              <a:ext cx="523017" cy="718723"/>
              <a:chOff x="5309612" y="1480331"/>
              <a:chExt cx="585650" cy="956337"/>
            </a:xfrm>
          </p:grpSpPr>
          <p:sp>
            <p:nvSpPr>
              <p:cNvPr id="12"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4"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7"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8"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9"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11"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a:latin typeface="微软雅黑" panose="020B0503020204020204" pitchFamily="34" charset="-122"/>
                  <a:ea typeface="微软雅黑" panose="020B0503020204020204" pitchFamily="34" charset="-122"/>
                </a:rPr>
                <a:t>域名</a:t>
              </a:r>
              <a:endParaRPr lang="en-US" altLang="zh-CN" sz="800" b="1" dirty="0">
                <a:latin typeface="微软雅黑" panose="020B0503020204020204" pitchFamily="34" charset="-122"/>
                <a:ea typeface="微软雅黑" panose="020B0503020204020204" pitchFamily="34" charset="-122"/>
              </a:endParaRPr>
            </a:p>
            <a:p>
              <a:pPr algn="ctr"/>
              <a:r>
                <a:rPr lang="zh-CN" altLang="zh-CN" sz="800" b="1" dirty="0">
                  <a:latin typeface="微软雅黑" panose="020B0503020204020204" pitchFamily="34" charset="-122"/>
                  <a:ea typeface="微软雅黑" panose="020B0503020204020204" pitchFamily="34" charset="-122"/>
                </a:rPr>
                <a:t>服务器程序</a:t>
              </a:r>
              <a:endParaRPr lang="zh-CN" altLang="en-US" sz="800" b="1" dirty="0">
                <a:latin typeface="微软雅黑" panose="020B0503020204020204" pitchFamily="34" charset="-122"/>
                <a:ea typeface="微软雅黑" panose="020B0503020204020204" pitchFamily="34" charset="-122"/>
              </a:endParaRPr>
            </a:p>
          </p:txBody>
        </p:sp>
      </p:grpSp>
      <p:sp>
        <p:nvSpPr>
          <p:cNvPr id="20" name="矩形 19"/>
          <p:cNvSpPr/>
          <p:nvPr/>
        </p:nvSpPr>
        <p:spPr>
          <a:xfrm>
            <a:off x="6544499" y="1389508"/>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cxnSp>
        <p:nvCxnSpPr>
          <p:cNvPr id="36" name="直接箭头连接符 35"/>
          <p:cNvCxnSpPr/>
          <p:nvPr/>
        </p:nvCxnSpPr>
        <p:spPr>
          <a:xfrm flipV="1">
            <a:off x="4792931" y="1467848"/>
            <a:ext cx="1209158" cy="617697"/>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4797661" y="1600666"/>
            <a:ext cx="1177012" cy="612650"/>
          </a:xfrm>
          <a:prstGeom prst="straightConnector1">
            <a:avLst/>
          </a:prstGeom>
          <a:ln w="38100">
            <a:solidFill>
              <a:srgbClr val="0070C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1673555" y="2224041"/>
            <a:ext cx="559954" cy="597887"/>
            <a:chOff x="2004574" y="2821838"/>
            <a:chExt cx="559954" cy="597887"/>
          </a:xfrm>
        </p:grpSpPr>
        <p:grpSp>
          <p:nvGrpSpPr>
            <p:cNvPr id="39" name="组合 38"/>
            <p:cNvGrpSpPr/>
            <p:nvPr/>
          </p:nvGrpSpPr>
          <p:grpSpPr>
            <a:xfrm>
              <a:off x="2007378" y="2821838"/>
              <a:ext cx="557150" cy="597887"/>
              <a:chOff x="1143777" y="1614707"/>
              <a:chExt cx="557150" cy="597887"/>
            </a:xfrm>
          </p:grpSpPr>
          <p:sp>
            <p:nvSpPr>
              <p:cNvPr id="41" name="Freeform 124"/>
              <p:cNvSpPr>
                <a:spLocks noEditPoints="1"/>
              </p:cNvSpPr>
              <p:nvPr/>
            </p:nvSpPr>
            <p:spPr bwMode="auto">
              <a:xfrm>
                <a:off x="1143777" y="1614707"/>
                <a:ext cx="557150" cy="497542"/>
              </a:xfrm>
              <a:custGeom>
                <a:avLst/>
                <a:gdLst>
                  <a:gd name="T0" fmla="*/ 0 w 2287"/>
                  <a:gd name="T1" fmla="*/ 0 h 1907"/>
                  <a:gd name="T2" fmla="*/ 571 w 2287"/>
                  <a:gd name="T3" fmla="*/ 0 h 1907"/>
                  <a:gd name="T4" fmla="*/ 571 w 2287"/>
                  <a:gd name="T5" fmla="*/ 476 h 1907"/>
                  <a:gd name="T6" fmla="*/ 0 w 2287"/>
                  <a:gd name="T7" fmla="*/ 476 h 1907"/>
                  <a:gd name="T8" fmla="*/ 0 w 2287"/>
                  <a:gd name="T9" fmla="*/ 0 h 1907"/>
                  <a:gd name="T10" fmla="*/ 50 w 2287"/>
                  <a:gd name="T11" fmla="*/ 48 h 1907"/>
                  <a:gd name="T12" fmla="*/ 525 w 2287"/>
                  <a:gd name="T13" fmla="*/ 48 h 1907"/>
                  <a:gd name="T14" fmla="*/ 525 w 2287"/>
                  <a:gd name="T15" fmla="*/ 403 h 1907"/>
                  <a:gd name="T16" fmla="*/ 50 w 2287"/>
                  <a:gd name="T17" fmla="*/ 403 h 1907"/>
                  <a:gd name="T18" fmla="*/ 50 w 2287"/>
                  <a:gd name="T19" fmla="*/ 48 h 19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87" h="1907">
                    <a:moveTo>
                      <a:pt x="0" y="0"/>
                    </a:moveTo>
                    <a:lnTo>
                      <a:pt x="2287" y="0"/>
                    </a:lnTo>
                    <a:lnTo>
                      <a:pt x="2287" y="1907"/>
                    </a:lnTo>
                    <a:lnTo>
                      <a:pt x="0" y="1907"/>
                    </a:lnTo>
                    <a:lnTo>
                      <a:pt x="0" y="0"/>
                    </a:lnTo>
                    <a:close/>
                    <a:moveTo>
                      <a:pt x="202" y="194"/>
                    </a:moveTo>
                    <a:lnTo>
                      <a:pt x="2104" y="194"/>
                    </a:lnTo>
                    <a:lnTo>
                      <a:pt x="2104" y="1615"/>
                    </a:lnTo>
                    <a:lnTo>
                      <a:pt x="202" y="1615"/>
                    </a:lnTo>
                    <a:lnTo>
                      <a:pt x="202" y="194"/>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2" name="Rectangle 128"/>
              <p:cNvSpPr>
                <a:spLocks noChangeArrowheads="1"/>
              </p:cNvSpPr>
              <p:nvPr/>
            </p:nvSpPr>
            <p:spPr bwMode="auto">
              <a:xfrm>
                <a:off x="1241351" y="2171829"/>
                <a:ext cx="374686" cy="40765"/>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3" name="Rectangle 130"/>
              <p:cNvSpPr>
                <a:spLocks noChangeArrowheads="1"/>
              </p:cNvSpPr>
              <p:nvPr/>
            </p:nvSpPr>
            <p:spPr bwMode="auto">
              <a:xfrm>
                <a:off x="1321362" y="2114340"/>
                <a:ext cx="222470" cy="33448"/>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4" name="Rectangle 131"/>
              <p:cNvSpPr>
                <a:spLocks noChangeArrowheads="1"/>
              </p:cNvSpPr>
              <p:nvPr/>
            </p:nvSpPr>
            <p:spPr bwMode="auto">
              <a:xfrm>
                <a:off x="1339902" y="2147788"/>
                <a:ext cx="182464" cy="19860"/>
              </a:xfrm>
              <a:prstGeom prst="rect">
                <a:avLst/>
              </a:prstGeom>
              <a:solidFill>
                <a:srgbClr val="00426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nvGrpSpPr>
              <p:cNvPr id="45" name="组合 44"/>
              <p:cNvGrpSpPr/>
              <p:nvPr/>
            </p:nvGrpSpPr>
            <p:grpSpPr>
              <a:xfrm>
                <a:off x="1178904" y="1656517"/>
                <a:ext cx="490799" cy="391971"/>
                <a:chOff x="1892703" y="3643061"/>
                <a:chExt cx="490799" cy="391971"/>
              </a:xfrm>
            </p:grpSpPr>
            <p:sp>
              <p:nvSpPr>
                <p:cNvPr id="46" name="Rectangle 123"/>
                <p:cNvSpPr>
                  <a:spLocks noChangeArrowheads="1"/>
                </p:cNvSpPr>
                <p:nvPr/>
              </p:nvSpPr>
              <p:spPr bwMode="auto">
                <a:xfrm>
                  <a:off x="1892703" y="3643061"/>
                  <a:ext cx="490799" cy="391971"/>
                </a:xfrm>
                <a:prstGeom prst="rect">
                  <a:avLst/>
                </a:prstGeom>
                <a:solidFill>
                  <a:srgbClr val="CCBF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7" name="Rectangle 125"/>
                <p:cNvSpPr>
                  <a:spLocks noChangeArrowheads="1"/>
                </p:cNvSpPr>
                <p:nvPr/>
              </p:nvSpPr>
              <p:spPr bwMode="auto">
                <a:xfrm>
                  <a:off x="1906363" y="3651423"/>
                  <a:ext cx="464454" cy="9407"/>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8" name="Rectangle 126"/>
                <p:cNvSpPr>
                  <a:spLocks noChangeArrowheads="1"/>
                </p:cNvSpPr>
                <p:nvPr/>
              </p:nvSpPr>
              <p:spPr bwMode="auto">
                <a:xfrm>
                  <a:off x="1906363" y="3653514"/>
                  <a:ext cx="9757" cy="36584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9" name="Rectangle 127"/>
                <p:cNvSpPr>
                  <a:spLocks noChangeArrowheads="1"/>
                </p:cNvSpPr>
                <p:nvPr/>
              </p:nvSpPr>
              <p:spPr bwMode="auto">
                <a:xfrm>
                  <a:off x="1906363" y="4014128"/>
                  <a:ext cx="463479" cy="83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0" name="Rectangle 129"/>
                <p:cNvSpPr>
                  <a:spLocks noChangeArrowheads="1"/>
                </p:cNvSpPr>
                <p:nvPr/>
              </p:nvSpPr>
              <p:spPr bwMode="auto">
                <a:xfrm>
                  <a:off x="2362036" y="3651423"/>
                  <a:ext cx="8782" cy="3710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grpSp>
        <p:sp>
          <p:nvSpPr>
            <p:cNvPr id="40" name="文本框 39"/>
            <p:cNvSpPr txBox="1"/>
            <p:nvPr/>
          </p:nvSpPr>
          <p:spPr>
            <a:xfrm>
              <a:off x="2004574" y="2859996"/>
              <a:ext cx="547674" cy="415498"/>
            </a:xfrm>
            <a:prstGeom prst="rect">
              <a:avLst/>
            </a:prstGeom>
            <a:noFill/>
            <a:ln>
              <a:noFill/>
            </a:ln>
          </p:spPr>
          <p:txBody>
            <a:bodyPr wrap="square" rtlCol="0" anchor="ctr">
              <a:spAutoFit/>
            </a:bodyPr>
            <a:lstStyle/>
            <a:p>
              <a:pPr algn="ctr"/>
              <a:r>
                <a:rPr lang="zh-CN" altLang="en-US" sz="1050" b="1" dirty="0">
                  <a:latin typeface="微软雅黑" panose="020B0503020204020204" pitchFamily="34" charset="-122"/>
                  <a:ea typeface="微软雅黑" panose="020B0503020204020204" pitchFamily="34" charset="-122"/>
                </a:rPr>
                <a:t>应用进程</a:t>
              </a:r>
            </a:p>
          </p:txBody>
        </p:sp>
      </p:grpSp>
      <p:sp>
        <p:nvSpPr>
          <p:cNvPr id="73" name="矩形 72"/>
          <p:cNvSpPr/>
          <p:nvPr/>
        </p:nvSpPr>
        <p:spPr>
          <a:xfrm>
            <a:off x="2793891" y="1596600"/>
            <a:ext cx="345961" cy="1440162"/>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ysClr val="windowText" lastClr="000000"/>
                </a:solidFill>
                <a:latin typeface="微软雅黑" panose="020B0503020204020204" pitchFamily="34" charset="-122"/>
                <a:ea typeface="微软雅黑" panose="020B0503020204020204" pitchFamily="34" charset="-122"/>
              </a:rPr>
              <a:t>解析程序</a:t>
            </a:r>
            <a:endParaRPr lang="zh-CN" altLang="en-US" sz="1400" dirty="0">
              <a:solidFill>
                <a:sysClr val="windowText" lastClr="000000"/>
              </a:solidFill>
            </a:endParaRPr>
          </a:p>
        </p:txBody>
      </p:sp>
      <p:sp>
        <p:nvSpPr>
          <p:cNvPr id="74" name="圆角右箭头 73"/>
          <p:cNvSpPr/>
          <p:nvPr/>
        </p:nvSpPr>
        <p:spPr>
          <a:xfrm>
            <a:off x="1869235" y="1746270"/>
            <a:ext cx="901666" cy="461528"/>
          </a:xfrm>
          <a:prstGeom prst="bentArrow">
            <a:avLst>
              <a:gd name="adj1" fmla="val 11913"/>
              <a:gd name="adj2" fmla="val 15020"/>
              <a:gd name="adj3" fmla="val 25000"/>
              <a:gd name="adj4" fmla="val 41706"/>
            </a:avLst>
          </a:prstGeom>
          <a:solidFill>
            <a:srgbClr val="0099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1" name="组合 50"/>
          <p:cNvGrpSpPr/>
          <p:nvPr/>
        </p:nvGrpSpPr>
        <p:grpSpPr>
          <a:xfrm>
            <a:off x="6046202" y="1961446"/>
            <a:ext cx="523017" cy="718723"/>
            <a:chOff x="5309611" y="1717945"/>
            <a:chExt cx="523017" cy="718723"/>
          </a:xfrm>
        </p:grpSpPr>
        <p:grpSp>
          <p:nvGrpSpPr>
            <p:cNvPr id="52" name="组合 51"/>
            <p:cNvGrpSpPr/>
            <p:nvPr/>
          </p:nvGrpSpPr>
          <p:grpSpPr>
            <a:xfrm>
              <a:off x="5309611" y="1717945"/>
              <a:ext cx="523017" cy="718723"/>
              <a:chOff x="5309612" y="1480331"/>
              <a:chExt cx="585650" cy="956337"/>
            </a:xfrm>
          </p:grpSpPr>
          <p:sp>
            <p:nvSpPr>
              <p:cNvPr id="54"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6"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53"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a:latin typeface="微软雅黑" panose="020B0503020204020204" pitchFamily="34" charset="-122"/>
                  <a:ea typeface="微软雅黑" panose="020B0503020204020204" pitchFamily="34" charset="-122"/>
                </a:rPr>
                <a:t>域名</a:t>
              </a:r>
              <a:endParaRPr lang="en-US" altLang="zh-CN" sz="800" b="1" dirty="0">
                <a:latin typeface="微软雅黑" panose="020B0503020204020204" pitchFamily="34" charset="-122"/>
                <a:ea typeface="微软雅黑" panose="020B0503020204020204" pitchFamily="34" charset="-122"/>
              </a:endParaRPr>
            </a:p>
            <a:p>
              <a:pPr algn="ctr"/>
              <a:r>
                <a:rPr lang="zh-CN" altLang="zh-CN" sz="800" b="1" dirty="0">
                  <a:latin typeface="微软雅黑" panose="020B0503020204020204" pitchFamily="34" charset="-122"/>
                  <a:ea typeface="微软雅黑" panose="020B0503020204020204" pitchFamily="34" charset="-122"/>
                </a:rPr>
                <a:t>服务器程序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5" name="直接箭头连接符 74"/>
          <p:cNvCxnSpPr/>
          <p:nvPr/>
        </p:nvCxnSpPr>
        <p:spPr>
          <a:xfrm>
            <a:off x="4792931" y="2321087"/>
            <a:ext cx="1204428" cy="1527"/>
          </a:xfrm>
          <a:prstGeom prst="straightConnector1">
            <a:avLst/>
          </a:prstGeom>
          <a:ln w="38100">
            <a:solidFill>
              <a:srgbClr val="80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792931" y="2426967"/>
            <a:ext cx="1141500" cy="0"/>
          </a:xfrm>
          <a:prstGeom prst="straightConnector1">
            <a:avLst/>
          </a:prstGeom>
          <a:ln w="38100">
            <a:solidFill>
              <a:srgbClr val="CC66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6539769" y="2161348"/>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grpSp>
        <p:nvGrpSpPr>
          <p:cNvPr id="62" name="组合 61"/>
          <p:cNvGrpSpPr/>
          <p:nvPr/>
        </p:nvGrpSpPr>
        <p:grpSpPr>
          <a:xfrm>
            <a:off x="6034957" y="2759441"/>
            <a:ext cx="523017" cy="718723"/>
            <a:chOff x="5309611" y="1717945"/>
            <a:chExt cx="523017" cy="718723"/>
          </a:xfrm>
        </p:grpSpPr>
        <p:grpSp>
          <p:nvGrpSpPr>
            <p:cNvPr id="63" name="组合 62"/>
            <p:cNvGrpSpPr/>
            <p:nvPr/>
          </p:nvGrpSpPr>
          <p:grpSpPr>
            <a:xfrm>
              <a:off x="5309611" y="1717945"/>
              <a:ext cx="523017" cy="718723"/>
              <a:chOff x="5309612" y="1480331"/>
              <a:chExt cx="585650" cy="956337"/>
            </a:xfrm>
          </p:grpSpPr>
          <p:sp>
            <p:nvSpPr>
              <p:cNvPr id="65"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6"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7"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8"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9"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0"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1"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2"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64"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a:latin typeface="微软雅黑" panose="020B0503020204020204" pitchFamily="34" charset="-122"/>
                  <a:ea typeface="微软雅黑" panose="020B0503020204020204" pitchFamily="34" charset="-122"/>
                </a:rPr>
                <a:t>域名</a:t>
              </a:r>
              <a:endParaRPr lang="en-US" altLang="zh-CN" sz="800" b="1" dirty="0">
                <a:latin typeface="微软雅黑" panose="020B0503020204020204" pitchFamily="34" charset="-122"/>
                <a:ea typeface="微软雅黑" panose="020B0503020204020204" pitchFamily="34" charset="-122"/>
              </a:endParaRPr>
            </a:p>
            <a:p>
              <a:pPr algn="ctr"/>
              <a:r>
                <a:rPr lang="zh-CN" altLang="zh-CN" sz="800" b="1" dirty="0">
                  <a:latin typeface="微软雅黑" panose="020B0503020204020204" pitchFamily="34" charset="-122"/>
                  <a:ea typeface="微软雅黑" panose="020B0503020204020204" pitchFamily="34" charset="-122"/>
                </a:rPr>
                <a:t>服务器程序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7" name="直接箭头连接符 76"/>
          <p:cNvCxnSpPr/>
          <p:nvPr/>
        </p:nvCxnSpPr>
        <p:spPr>
          <a:xfrm>
            <a:off x="4798091" y="2547446"/>
            <a:ext cx="1188023" cy="512659"/>
          </a:xfrm>
          <a:prstGeom prst="straightConnector1">
            <a:avLst/>
          </a:prstGeom>
          <a:ln w="38100">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a:off x="4792931" y="2656744"/>
            <a:ext cx="1130255" cy="500667"/>
          </a:xfrm>
          <a:prstGeom prst="straightConnector1">
            <a:avLst/>
          </a:prstGeom>
          <a:ln w="38100">
            <a:solidFill>
              <a:srgbClr val="0099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6528524" y="2961690"/>
            <a:ext cx="954107" cy="276999"/>
          </a:xfrm>
          <a:prstGeom prst="rect">
            <a:avLst/>
          </a:prstGeom>
        </p:spPr>
        <p:txBody>
          <a:bodyPr wrap="none">
            <a:spAutoFit/>
          </a:bodyPr>
          <a:lstStyle/>
          <a:p>
            <a:r>
              <a:rPr lang="zh-CN" altLang="en-US" sz="1200" b="1" dirty="0">
                <a:solidFill>
                  <a:srgbClr val="000099"/>
                </a:solidFill>
                <a:latin typeface="微软雅黑" pitchFamily="34" charset="-122"/>
                <a:ea typeface="微软雅黑" pitchFamily="34" charset="-122"/>
              </a:rPr>
              <a:t>域名服务器</a:t>
            </a:r>
            <a:endParaRPr lang="zh-CN" altLang="en-US" sz="1200" dirty="0">
              <a:solidFill>
                <a:srgbClr val="000099"/>
              </a:solidFill>
            </a:endParaRPr>
          </a:p>
        </p:txBody>
      </p:sp>
      <p:grpSp>
        <p:nvGrpSpPr>
          <p:cNvPr id="81" name="组合 80"/>
          <p:cNvGrpSpPr/>
          <p:nvPr/>
        </p:nvGrpSpPr>
        <p:grpSpPr>
          <a:xfrm>
            <a:off x="4158256" y="2032844"/>
            <a:ext cx="523017" cy="718723"/>
            <a:chOff x="5309611" y="1717945"/>
            <a:chExt cx="523017" cy="718723"/>
          </a:xfrm>
        </p:grpSpPr>
        <p:grpSp>
          <p:nvGrpSpPr>
            <p:cNvPr id="82" name="组合 81"/>
            <p:cNvGrpSpPr/>
            <p:nvPr/>
          </p:nvGrpSpPr>
          <p:grpSpPr>
            <a:xfrm>
              <a:off x="5309611" y="1717945"/>
              <a:ext cx="523017" cy="718723"/>
              <a:chOff x="5309612" y="1480331"/>
              <a:chExt cx="585650" cy="956337"/>
            </a:xfrm>
          </p:grpSpPr>
          <p:sp>
            <p:nvSpPr>
              <p:cNvPr id="84" name="Freeform 135"/>
              <p:cNvSpPr>
                <a:spLocks/>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6" name="Freeform 137"/>
              <p:cNvSpPr>
                <a:spLocks/>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7" name="Freeform 138"/>
              <p:cNvSpPr>
                <a:spLocks/>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83" name="Freeform 154"/>
            <p:cNvSpPr>
              <a:spLocks/>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headEnd/>
                  <a:tailEnd/>
                </a14:hiddenLine>
              </a:ext>
            </a:extLst>
          </p:spPr>
          <p:txBody>
            <a:bodyPr anchor="ctr"/>
            <a:lstStyle/>
            <a:p>
              <a:pPr algn="ctr"/>
              <a:r>
                <a:rPr lang="zh-CN" altLang="zh-CN" sz="800" b="1" dirty="0">
                  <a:latin typeface="微软雅黑" panose="020B0503020204020204" pitchFamily="34" charset="-122"/>
                  <a:ea typeface="微软雅黑" panose="020B0503020204020204" pitchFamily="34" charset="-122"/>
                </a:rPr>
                <a:t>域名</a:t>
              </a:r>
              <a:endParaRPr lang="en-US" altLang="zh-CN" sz="800" b="1" dirty="0">
                <a:latin typeface="微软雅黑" panose="020B0503020204020204" pitchFamily="34" charset="-122"/>
                <a:ea typeface="微软雅黑" panose="020B0503020204020204" pitchFamily="34" charset="-122"/>
              </a:endParaRPr>
            </a:p>
            <a:p>
              <a:pPr algn="ctr"/>
              <a:r>
                <a:rPr lang="zh-CN" altLang="zh-CN" sz="800" b="1" dirty="0">
                  <a:latin typeface="微软雅黑" panose="020B0503020204020204" pitchFamily="34" charset="-122"/>
                  <a:ea typeface="微软雅黑" panose="020B0503020204020204" pitchFamily="34" charset="-122"/>
                </a:rPr>
                <a:t>服务器程序</a:t>
              </a:r>
              <a:endParaRPr lang="zh-CN" altLang="en-US" sz="800" b="1" dirty="0">
                <a:latin typeface="微软雅黑" panose="020B0503020204020204" pitchFamily="34" charset="-122"/>
                <a:ea typeface="微软雅黑" panose="020B0503020204020204" pitchFamily="34" charset="-122"/>
              </a:endParaRPr>
            </a:p>
          </p:txBody>
        </p:sp>
      </p:grpSp>
      <p:sp>
        <p:nvSpPr>
          <p:cNvPr id="92" name="矩形 91"/>
          <p:cNvSpPr/>
          <p:nvPr/>
        </p:nvSpPr>
        <p:spPr>
          <a:xfrm>
            <a:off x="3947988" y="1596600"/>
            <a:ext cx="954107" cy="461665"/>
          </a:xfrm>
          <a:prstGeom prst="rect">
            <a:avLst/>
          </a:prstGeom>
        </p:spPr>
        <p:txBody>
          <a:bodyPr wrap="none">
            <a:spAutoFit/>
          </a:bodyPr>
          <a:lstStyle/>
          <a:p>
            <a:pPr algn="ctr"/>
            <a:r>
              <a:rPr lang="zh-CN" altLang="en-US" sz="1200" b="1" dirty="0">
                <a:solidFill>
                  <a:srgbClr val="0000FF"/>
                </a:solidFill>
                <a:latin typeface="微软雅黑" pitchFamily="34" charset="-122"/>
                <a:ea typeface="微软雅黑" pitchFamily="34" charset="-122"/>
              </a:rPr>
              <a:t>本地</a:t>
            </a:r>
            <a:endParaRPr lang="en-US" altLang="zh-CN" sz="1200" b="1" dirty="0">
              <a:solidFill>
                <a:srgbClr val="0000FF"/>
              </a:solidFill>
              <a:latin typeface="微软雅黑" pitchFamily="34" charset="-122"/>
              <a:ea typeface="微软雅黑" pitchFamily="34" charset="-122"/>
            </a:endParaRPr>
          </a:p>
          <a:p>
            <a:pPr algn="ctr"/>
            <a:r>
              <a:rPr lang="zh-CN" altLang="en-US" sz="1200" b="1" dirty="0">
                <a:solidFill>
                  <a:srgbClr val="0000FF"/>
                </a:solidFill>
                <a:latin typeface="微软雅黑" pitchFamily="34" charset="-122"/>
                <a:ea typeface="微软雅黑" pitchFamily="34" charset="-122"/>
              </a:rPr>
              <a:t>域名服务器</a:t>
            </a:r>
            <a:endParaRPr lang="zh-CN" altLang="en-US" sz="1200" dirty="0">
              <a:solidFill>
                <a:srgbClr val="0000FF"/>
              </a:solidFill>
            </a:endParaRPr>
          </a:p>
        </p:txBody>
      </p:sp>
      <p:sp>
        <p:nvSpPr>
          <p:cNvPr id="93" name="圆角右箭头 92"/>
          <p:cNvSpPr/>
          <p:nvPr/>
        </p:nvSpPr>
        <p:spPr>
          <a:xfrm flipV="1">
            <a:off x="2054947" y="2902529"/>
            <a:ext cx="3213933" cy="928144"/>
          </a:xfrm>
          <a:prstGeom prst="bentArrow">
            <a:avLst>
              <a:gd name="adj1" fmla="val 5245"/>
              <a:gd name="adj2" fmla="val 6893"/>
              <a:gd name="adj3" fmla="val 14998"/>
              <a:gd name="adj4" fmla="val 41706"/>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圆角右箭头 93"/>
          <p:cNvSpPr/>
          <p:nvPr/>
        </p:nvSpPr>
        <p:spPr>
          <a:xfrm rot="5400000" flipH="1" flipV="1">
            <a:off x="3020293" y="1710968"/>
            <a:ext cx="1065272" cy="3396398"/>
          </a:xfrm>
          <a:prstGeom prst="bentArrow">
            <a:avLst>
              <a:gd name="adj1" fmla="val 5245"/>
              <a:gd name="adj2" fmla="val 6088"/>
              <a:gd name="adj3" fmla="val 12584"/>
              <a:gd name="adj4" fmla="val 41706"/>
            </a:avLst>
          </a:prstGeom>
          <a:solidFill>
            <a:srgbClr val="9933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圆角右箭头 94"/>
          <p:cNvSpPr/>
          <p:nvPr/>
        </p:nvSpPr>
        <p:spPr>
          <a:xfrm rot="16200000" flipH="1">
            <a:off x="2228242" y="1689761"/>
            <a:ext cx="282418" cy="785149"/>
          </a:xfrm>
          <a:prstGeom prst="bentArrow">
            <a:avLst>
              <a:gd name="adj1" fmla="val 19310"/>
              <a:gd name="adj2" fmla="val 25803"/>
              <a:gd name="adj3" fmla="val 36096"/>
              <a:gd name="adj4" fmla="val 23212"/>
            </a:avLst>
          </a:prstGeom>
          <a:solidFill>
            <a:srgbClr val="0066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矩形 1"/>
          <p:cNvSpPr/>
          <p:nvPr/>
        </p:nvSpPr>
        <p:spPr>
          <a:xfrm>
            <a:off x="4659179" y="4117443"/>
            <a:ext cx="1691040" cy="276999"/>
          </a:xfrm>
          <a:prstGeom prst="rect">
            <a:avLst/>
          </a:prstGeom>
        </p:spPr>
        <p:txBody>
          <a:bodyPr wrap="none">
            <a:spAutoFit/>
          </a:bodyPr>
          <a:lstStyle/>
          <a:p>
            <a:r>
              <a:rPr lang="en-US" altLang="zh-CN" sz="1200" b="1" dirty="0">
                <a:latin typeface="微软雅黑" pitchFamily="34" charset="-122"/>
                <a:ea typeface="微软雅黑" pitchFamily="34" charset="-122"/>
              </a:rPr>
              <a:t>www.myschool.edu</a:t>
            </a:r>
            <a:endParaRPr lang="zh-CN" altLang="en-US" sz="1200" dirty="0"/>
          </a:p>
        </p:txBody>
      </p:sp>
      <p:sp>
        <p:nvSpPr>
          <p:cNvPr id="4" name="矩形 3"/>
          <p:cNvSpPr/>
          <p:nvPr/>
        </p:nvSpPr>
        <p:spPr>
          <a:xfrm>
            <a:off x="2526185" y="2989214"/>
            <a:ext cx="904799" cy="307777"/>
          </a:xfrm>
          <a:prstGeom prst="rect">
            <a:avLst/>
          </a:prstGeom>
        </p:spPr>
        <p:txBody>
          <a:bodyPr wrap="none">
            <a:spAutoFit/>
          </a:bodyPr>
          <a:lstStyle/>
          <a:p>
            <a:pPr algn="ctr"/>
            <a:r>
              <a:rPr lang="en-US" altLang="zh-CN" sz="1400" b="1" dirty="0">
                <a:latin typeface="微软雅黑" pitchFamily="34" charset="-122"/>
                <a:ea typeface="微软雅黑" pitchFamily="34" charset="-122"/>
              </a:rPr>
              <a:t>resolver</a:t>
            </a:r>
            <a:endParaRPr lang="zh-CN" altLang="en-US" sz="1400" b="1" dirty="0">
              <a:latin typeface="微软雅黑" pitchFamily="34" charset="-122"/>
              <a:ea typeface="微软雅黑" pitchFamily="34" charset="-122"/>
            </a:endParaRPr>
          </a:p>
        </p:txBody>
      </p:sp>
      <p:sp>
        <p:nvSpPr>
          <p:cNvPr id="3" name="矩形 2"/>
          <p:cNvSpPr/>
          <p:nvPr/>
        </p:nvSpPr>
        <p:spPr>
          <a:xfrm>
            <a:off x="3280042" y="1056188"/>
            <a:ext cx="2385275" cy="338554"/>
          </a:xfrm>
          <a:prstGeom prst="rect">
            <a:avLst/>
          </a:prstGeom>
          <a:solidFill>
            <a:srgbClr val="000099"/>
          </a:solidFill>
          <a:ln>
            <a:noFill/>
          </a:ln>
        </p:spPr>
        <p:txBody>
          <a:bodyPr wrap="square">
            <a:spAutoFit/>
          </a:bodyPr>
          <a:lstStyle/>
          <a:p>
            <a:pPr algn="ctr"/>
            <a:r>
              <a:rPr lang="en-US" altLang="zh-CN" sz="1600" b="1" dirty="0">
                <a:solidFill>
                  <a:schemeClr val="bg1"/>
                </a:solidFill>
                <a:latin typeface="微软雅黑" panose="020B0503020204020204" pitchFamily="34" charset="-122"/>
                <a:ea typeface="微软雅黑" panose="020B0503020204020204" pitchFamily="34" charset="-122"/>
              </a:rPr>
              <a:t>DNS </a:t>
            </a:r>
            <a:r>
              <a:rPr lang="zh-CN" altLang="en-US" sz="1600" b="1" dirty="0">
                <a:solidFill>
                  <a:schemeClr val="bg1"/>
                </a:solidFill>
                <a:latin typeface="微软雅黑" panose="020B0503020204020204" pitchFamily="34" charset="-122"/>
                <a:ea typeface="微软雅黑" panose="020B0503020204020204" pitchFamily="34" charset="-122"/>
              </a:rPr>
              <a:t>使用 </a:t>
            </a:r>
            <a:r>
              <a:rPr lang="en-US" altLang="zh-CN" sz="1600" b="1" dirty="0">
                <a:solidFill>
                  <a:schemeClr val="bg1"/>
                </a:solidFill>
                <a:latin typeface="微软雅黑" panose="020B0503020204020204" pitchFamily="34" charset="-122"/>
                <a:ea typeface="微软雅黑" panose="020B0503020204020204" pitchFamily="34" charset="-122"/>
              </a:rPr>
              <a:t>UDP </a:t>
            </a:r>
            <a:r>
              <a:rPr lang="zh-CN" altLang="en-US" sz="1600" b="1" dirty="0">
                <a:solidFill>
                  <a:schemeClr val="bg1"/>
                </a:solidFill>
                <a:latin typeface="微软雅黑" panose="020B0503020204020204" pitchFamily="34" charset="-122"/>
                <a:ea typeface="微软雅黑" panose="020B0503020204020204" pitchFamily="34" charset="-122"/>
              </a:rPr>
              <a:t>通信</a:t>
            </a:r>
          </a:p>
        </p:txBody>
      </p:sp>
    </p:spTree>
    <p:extLst>
      <p:ext uri="{BB962C8B-B14F-4D97-AF65-F5344CB8AC3E}">
        <p14:creationId xmlns:p14="http://schemas.microsoft.com/office/powerpoint/2010/main" val="2200189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000"/>
                                        <p:tgtEl>
                                          <p:spTgt spid="74"/>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right)">
                                      <p:cBhvr>
                                        <p:cTn id="16" dur="1000"/>
                                        <p:tgtEl>
                                          <p:spTgt spid="34"/>
                                        </p:tgtEl>
                                      </p:cBhvr>
                                    </p:animEffect>
                                  </p:childTnLst>
                                </p:cTn>
                              </p:par>
                            </p:childTnLst>
                          </p:cTn>
                        </p:par>
                        <p:par>
                          <p:cTn id="17" fill="hold">
                            <p:stCondLst>
                              <p:cond delay="1000"/>
                            </p:stCondLst>
                            <p:childTnLst>
                              <p:par>
                                <p:cTn id="18" presetID="22" presetClass="entr" presetSubtype="2" fill="hold" grpId="0" nodeType="afterEffect">
                                  <p:stCondLst>
                                    <p:cond delay="0"/>
                                  </p:stCondLst>
                                  <p:childTnLst>
                                    <p:set>
                                      <p:cBhvr>
                                        <p:cTn id="19" dur="1" fill="hold">
                                          <p:stCondLst>
                                            <p:cond delay="0"/>
                                          </p:stCondLst>
                                        </p:cTn>
                                        <p:tgtEl>
                                          <p:spTgt spid="95"/>
                                        </p:tgtEl>
                                        <p:attrNameLst>
                                          <p:attrName>style.visibility</p:attrName>
                                        </p:attrNameLst>
                                      </p:cBhvr>
                                      <p:to>
                                        <p:strVal val="visible"/>
                                      </p:to>
                                    </p:set>
                                    <p:animEffect transition="in" filter="wipe(right)">
                                      <p:cBhvr>
                                        <p:cTn id="20" dur="1000"/>
                                        <p:tgtEl>
                                          <p:spTgt spid="9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wipe(left)">
                                      <p:cBhvr>
                                        <p:cTn id="25" dur="1000"/>
                                        <p:tgtEl>
                                          <p:spTgt spid="93"/>
                                        </p:tgtEl>
                                      </p:cBhvr>
                                    </p:animEffect>
                                  </p:childTnLst>
                                </p:cTn>
                              </p:par>
                            </p:childTnLst>
                          </p:cTn>
                        </p:par>
                        <p:par>
                          <p:cTn id="26" fill="hold">
                            <p:stCondLst>
                              <p:cond delay="1000"/>
                            </p:stCondLst>
                            <p:childTnLst>
                              <p:par>
                                <p:cTn id="27" presetID="22" presetClass="entr" presetSubtype="2" fill="hold" grpId="0"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right)">
                                      <p:cBhvr>
                                        <p:cTn id="29" dur="1000"/>
                                        <p:tgtEl>
                                          <p:spTgt spid="9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1000"/>
                                        <p:tgtEl>
                                          <p:spTgt spid="36"/>
                                        </p:tgtEl>
                                      </p:cBhvr>
                                    </p:animEffect>
                                  </p:childTnLst>
                                </p:cTn>
                              </p:par>
                            </p:childTnLst>
                          </p:cTn>
                        </p:par>
                        <p:par>
                          <p:cTn id="35" fill="hold">
                            <p:stCondLst>
                              <p:cond delay="1000"/>
                            </p:stCondLst>
                            <p:childTnLst>
                              <p:par>
                                <p:cTn id="36" presetID="22" presetClass="entr" presetSubtype="2"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right)">
                                      <p:cBhvr>
                                        <p:cTn id="38" dur="1000"/>
                                        <p:tgtEl>
                                          <p:spTgt spid="37"/>
                                        </p:tgtEl>
                                      </p:cBhvr>
                                    </p:animEffect>
                                  </p:childTnLst>
                                </p:cTn>
                              </p:par>
                            </p:childTnLst>
                          </p:cTn>
                        </p:par>
                        <p:par>
                          <p:cTn id="39" fill="hold">
                            <p:stCondLst>
                              <p:cond delay="2000"/>
                            </p:stCondLst>
                            <p:childTnLst>
                              <p:par>
                                <p:cTn id="40" presetID="22" presetClass="entr" presetSubtype="8" fill="hold" nodeType="after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left)">
                                      <p:cBhvr>
                                        <p:cTn id="42" dur="1000"/>
                                        <p:tgtEl>
                                          <p:spTgt spid="75"/>
                                        </p:tgtEl>
                                      </p:cBhvr>
                                    </p:animEffect>
                                  </p:childTnLst>
                                </p:cTn>
                              </p:par>
                            </p:childTnLst>
                          </p:cTn>
                        </p:par>
                        <p:par>
                          <p:cTn id="43" fill="hold">
                            <p:stCondLst>
                              <p:cond delay="3000"/>
                            </p:stCondLst>
                            <p:childTnLst>
                              <p:par>
                                <p:cTn id="44" presetID="22" presetClass="entr" presetSubtype="2"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right)">
                                      <p:cBhvr>
                                        <p:cTn id="46" dur="1000"/>
                                        <p:tgtEl>
                                          <p:spTgt spid="76"/>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77"/>
                                        </p:tgtEl>
                                        <p:attrNameLst>
                                          <p:attrName>style.visibility</p:attrName>
                                        </p:attrNameLst>
                                      </p:cBhvr>
                                      <p:to>
                                        <p:strVal val="visible"/>
                                      </p:to>
                                    </p:set>
                                    <p:animEffect transition="in" filter="wipe(left)">
                                      <p:cBhvr>
                                        <p:cTn id="50" dur="1000"/>
                                        <p:tgtEl>
                                          <p:spTgt spid="77"/>
                                        </p:tgtEl>
                                      </p:cBhvr>
                                    </p:animEffect>
                                  </p:childTnLst>
                                </p:cTn>
                              </p:par>
                            </p:childTnLst>
                          </p:cTn>
                        </p:par>
                        <p:par>
                          <p:cTn id="51" fill="hold">
                            <p:stCondLst>
                              <p:cond delay="5000"/>
                            </p:stCondLst>
                            <p:childTnLst>
                              <p:par>
                                <p:cTn id="52" presetID="22" presetClass="entr" presetSubtype="2" fill="hold" nodeType="after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right)">
                                      <p:cBhvr>
                                        <p:cTn id="54"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3" grpId="0" animBg="1"/>
      <p:bldP spid="94" grpId="0" animBg="1"/>
      <p:bldP spid="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6.1.2   </a:t>
            </a:r>
            <a:r>
              <a:rPr lang="zh-CN" altLang="en-US" sz="2400" b="1" dirty="0">
                <a:solidFill>
                  <a:schemeClr val="bg1"/>
                </a:solidFill>
                <a:latin typeface="微软雅黑" pitchFamily="34" charset="-122"/>
                <a:ea typeface="微软雅黑" pitchFamily="34" charset="-122"/>
              </a:rPr>
              <a:t>互联网的域名结构</a:t>
            </a:r>
          </a:p>
        </p:txBody>
      </p:sp>
      <p:sp>
        <p:nvSpPr>
          <p:cNvPr id="110" name="Rectangle 8"/>
          <p:cNvSpPr>
            <a:spLocks noChangeArrowheads="1"/>
          </p:cNvSpPr>
          <p:nvPr/>
        </p:nvSpPr>
        <p:spPr bwMode="auto">
          <a:xfrm>
            <a:off x="545143" y="1028509"/>
            <a:ext cx="8053711" cy="27853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命名方法：</a:t>
            </a:r>
            <a:r>
              <a:rPr lang="zh-CN" altLang="en-US" sz="2000" b="1" dirty="0">
                <a:latin typeface="微软雅黑" pitchFamily="34" charset="-122"/>
                <a:ea typeface="微软雅黑" pitchFamily="34" charset="-122"/>
              </a:rPr>
              <a:t>层次</a:t>
            </a:r>
            <a:r>
              <a:rPr lang="zh-CN" altLang="en-US" sz="2000" b="1" dirty="0">
                <a:solidFill>
                  <a:srgbClr val="0000FF"/>
                </a:solidFill>
                <a:latin typeface="微软雅黑" pitchFamily="34" charset="-122"/>
                <a:ea typeface="微软雅黑" pitchFamily="34" charset="-122"/>
              </a:rPr>
              <a:t>树状</a:t>
            </a:r>
            <a:r>
              <a:rPr lang="zh-CN" altLang="en-US" sz="2000" b="1" dirty="0">
                <a:latin typeface="微软雅黑" pitchFamily="34" charset="-122"/>
                <a:ea typeface="微软雅黑" pitchFamily="34" charset="-122"/>
              </a:rPr>
              <a:t>结构方法。</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任何一个连接在互联网上的主机或路由器，都有一个</a:t>
            </a:r>
            <a:r>
              <a:rPr lang="zh-CN" altLang="en-US" sz="2000" b="1" dirty="0">
                <a:solidFill>
                  <a:srgbClr val="0000FF"/>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的层次结构的名字，即</a:t>
            </a:r>
            <a:r>
              <a:rPr lang="zh-CN" altLang="en-US" sz="2000" b="1" dirty="0">
                <a:solidFill>
                  <a:srgbClr val="0000FF"/>
                </a:solidFill>
                <a:latin typeface="微软雅黑" pitchFamily="34" charset="-122"/>
                <a:ea typeface="微软雅黑" pitchFamily="34" charset="-122"/>
              </a:rPr>
              <a:t>域名 </a:t>
            </a:r>
            <a:r>
              <a:rPr lang="en-US" altLang="zh-CN" sz="2000" b="1" dirty="0">
                <a:latin typeface="微软雅黑" pitchFamily="34" charset="-122"/>
                <a:ea typeface="微软雅黑" pitchFamily="34" charset="-122"/>
              </a:rPr>
              <a:t>(domain name)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域 </a:t>
            </a:r>
            <a:r>
              <a:rPr lang="en-US" altLang="zh-CN" sz="2000" b="1" dirty="0">
                <a:solidFill>
                  <a:srgbClr val="C00000"/>
                </a:solidFill>
                <a:latin typeface="微软雅黑" pitchFamily="34" charset="-122"/>
                <a:ea typeface="微软雅黑" pitchFamily="34" charset="-122"/>
              </a:rPr>
              <a:t>(domain)</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名字空间中一个</a:t>
            </a:r>
            <a:r>
              <a:rPr lang="zh-CN" altLang="en-US" sz="2000" b="1" dirty="0">
                <a:solidFill>
                  <a:srgbClr val="0000FF"/>
                </a:solidFill>
                <a:latin typeface="微软雅黑" pitchFamily="34" charset="-122"/>
                <a:ea typeface="微软雅黑" pitchFamily="34" charset="-122"/>
              </a:rPr>
              <a:t>可被管理</a:t>
            </a:r>
            <a:r>
              <a:rPr lang="zh-CN" altLang="en-US" sz="2000" b="1" dirty="0">
                <a:latin typeface="微软雅黑" pitchFamily="34" charset="-122"/>
                <a:ea typeface="微软雅黑" pitchFamily="34" charset="-122"/>
              </a:rPr>
              <a:t>的划分。</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可以划分为</a:t>
            </a:r>
            <a:r>
              <a:rPr lang="zh-CN" altLang="en-US" sz="2000" b="1" dirty="0">
                <a:solidFill>
                  <a:srgbClr val="0000FF"/>
                </a:solidFill>
                <a:latin typeface="微软雅黑" pitchFamily="34" charset="-122"/>
                <a:ea typeface="微软雅黑" pitchFamily="34" charset="-122"/>
              </a:rPr>
              <a:t>子域，</a:t>
            </a:r>
            <a:r>
              <a:rPr lang="zh-CN" altLang="en-US" sz="2000" b="1" dirty="0">
                <a:latin typeface="微软雅黑" pitchFamily="34" charset="-122"/>
                <a:ea typeface="微软雅黑" pitchFamily="34" charset="-122"/>
              </a:rPr>
              <a:t>而子域还可继续划分为子域的子域，这样就形成了顶级域、二级域、三级域，等等。</a:t>
            </a:r>
          </a:p>
        </p:txBody>
      </p:sp>
    </p:spTree>
    <p:extLst>
      <p:ext uri="{BB962C8B-B14F-4D97-AF65-F5344CB8AC3E}">
        <p14:creationId xmlns:p14="http://schemas.microsoft.com/office/powerpoint/2010/main" val="32354610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545143" y="1922839"/>
            <a:ext cx="8053711" cy="23206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6.1.2   </a:t>
            </a:r>
            <a:r>
              <a:rPr lang="zh-CN" altLang="en-US" sz="2400" b="1" dirty="0">
                <a:solidFill>
                  <a:schemeClr val="bg1"/>
                </a:solidFill>
                <a:latin typeface="微软雅黑" pitchFamily="34" charset="-122"/>
                <a:ea typeface="微软雅黑" pitchFamily="34" charset="-122"/>
              </a:rPr>
              <a:t>互联网的域名结构</a:t>
            </a:r>
          </a:p>
        </p:txBody>
      </p:sp>
      <p:sp>
        <p:nvSpPr>
          <p:cNvPr id="110" name="Rectangle 8"/>
          <p:cNvSpPr>
            <a:spLocks noChangeArrowheads="1"/>
          </p:cNvSpPr>
          <p:nvPr/>
        </p:nvSpPr>
        <p:spPr bwMode="auto">
          <a:xfrm>
            <a:off x="545143" y="1028509"/>
            <a:ext cx="8053711"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域名结构：</a:t>
            </a:r>
            <a:r>
              <a:rPr lang="zh-CN" altLang="en-US" sz="2000" b="1" dirty="0">
                <a:solidFill>
                  <a:srgbClr val="0000FF"/>
                </a:solidFill>
                <a:latin typeface="微软雅黑" pitchFamily="34" charset="-122"/>
                <a:ea typeface="微软雅黑" pitchFamily="34" charset="-122"/>
              </a:rPr>
              <a:t>层次结构。</a:t>
            </a:r>
            <a:r>
              <a:rPr lang="zh-CN" altLang="en-US" sz="2000" b="1" dirty="0">
                <a:latin typeface="微软雅黑" pitchFamily="34" charset="-122"/>
                <a:ea typeface="微软雅黑" pitchFamily="34" charset="-122"/>
              </a:rPr>
              <a:t>由标号 </a:t>
            </a:r>
            <a:r>
              <a:rPr lang="en-US" altLang="zh-CN" sz="2000" b="1" dirty="0">
                <a:latin typeface="微软雅黑" pitchFamily="34" charset="-122"/>
                <a:ea typeface="微软雅黑" pitchFamily="34" charset="-122"/>
              </a:rPr>
              <a:t>(label) </a:t>
            </a:r>
            <a:r>
              <a:rPr lang="zh-CN" altLang="en-US" sz="2000" b="1" dirty="0">
                <a:latin typeface="微软雅黑" pitchFamily="34" charset="-122"/>
                <a:ea typeface="微软雅黑" pitchFamily="34" charset="-122"/>
              </a:rPr>
              <a:t>序列组成，各标号之间用点（</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）隔开，各标号分别代表不同级别的域名。</a:t>
            </a:r>
          </a:p>
        </p:txBody>
      </p:sp>
      <p:sp>
        <p:nvSpPr>
          <p:cNvPr id="17" name="矩形 16"/>
          <p:cNvSpPr/>
          <p:nvPr/>
        </p:nvSpPr>
        <p:spPr>
          <a:xfrm>
            <a:off x="2902003" y="2848210"/>
            <a:ext cx="2134148" cy="400110"/>
          </a:xfrm>
          <a:prstGeom prst="rect">
            <a:avLst/>
          </a:prstGeom>
          <a:noFill/>
          <a:ln w="38100">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7"/>
          <p:cNvSpPr txBox="1">
            <a:spLocks noChangeArrowheads="1"/>
          </p:cNvSpPr>
          <p:nvPr/>
        </p:nvSpPr>
        <p:spPr bwMode="auto">
          <a:xfrm>
            <a:off x="3021625" y="2848210"/>
            <a:ext cx="2014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rgbClr val="C00000"/>
                </a:solidFill>
                <a:latin typeface="微软雅黑" panose="020B0503020204020204" pitchFamily="34" charset="-122"/>
                <a:ea typeface="微软雅黑" panose="020B0503020204020204" pitchFamily="34" charset="-122"/>
              </a:rPr>
              <a:t>mail.cctv.com </a:t>
            </a:r>
          </a:p>
        </p:txBody>
      </p:sp>
      <p:grpSp>
        <p:nvGrpSpPr>
          <p:cNvPr id="14" name="组合 13"/>
          <p:cNvGrpSpPr/>
          <p:nvPr/>
        </p:nvGrpSpPr>
        <p:grpSpPr>
          <a:xfrm>
            <a:off x="2242227" y="3156184"/>
            <a:ext cx="3654627" cy="914180"/>
            <a:chOff x="2014957" y="2987504"/>
            <a:chExt cx="3654627" cy="914180"/>
          </a:xfrm>
        </p:grpSpPr>
        <p:sp>
          <p:nvSpPr>
            <p:cNvPr id="7" name="Text Box 8"/>
            <p:cNvSpPr txBox="1">
              <a:spLocks noChangeArrowheads="1"/>
            </p:cNvSpPr>
            <p:nvPr/>
          </p:nvSpPr>
          <p:spPr bwMode="auto">
            <a:xfrm>
              <a:off x="2123250" y="3274842"/>
              <a:ext cx="336181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b="1" dirty="0">
                  <a:latin typeface="微软雅黑" panose="020B0503020204020204" pitchFamily="34" charset="-122"/>
                  <a:ea typeface="微软雅黑" panose="020B0503020204020204" pitchFamily="34" charset="-122"/>
                </a:rPr>
                <a:t>三级域名 </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二级域名 </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顶级域名</a:t>
              </a:r>
            </a:p>
          </p:txBody>
        </p:sp>
        <p:sp>
          <p:nvSpPr>
            <p:cNvPr id="8" name="Line 9"/>
            <p:cNvSpPr>
              <a:spLocks noChangeShapeType="1"/>
            </p:cNvSpPr>
            <p:nvPr/>
          </p:nvSpPr>
          <p:spPr bwMode="auto">
            <a:xfrm flipV="1">
              <a:off x="3784308" y="2987504"/>
              <a:ext cx="0"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10"/>
            <p:cNvSpPr>
              <a:spLocks noChangeShapeType="1"/>
            </p:cNvSpPr>
            <p:nvPr/>
          </p:nvSpPr>
          <p:spPr bwMode="auto">
            <a:xfrm flipV="1">
              <a:off x="2674733" y="3013694"/>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1"/>
            <p:cNvSpPr>
              <a:spLocks noChangeShapeType="1"/>
            </p:cNvSpPr>
            <p:nvPr/>
          </p:nvSpPr>
          <p:spPr bwMode="auto">
            <a:xfrm flipH="1" flipV="1">
              <a:off x="4276776" y="3013698"/>
              <a:ext cx="504825" cy="287338"/>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 name="矩形 2"/>
            <p:cNvSpPr/>
            <p:nvPr/>
          </p:nvSpPr>
          <p:spPr>
            <a:xfrm>
              <a:off x="2014957" y="3563130"/>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（级别最低）</a:t>
              </a:r>
            </a:p>
          </p:txBody>
        </p:sp>
        <p:sp>
          <p:nvSpPr>
            <p:cNvPr id="12" name="矩形 11"/>
            <p:cNvSpPr/>
            <p:nvPr/>
          </p:nvSpPr>
          <p:spPr>
            <a:xfrm>
              <a:off x="4253812" y="3563130"/>
              <a:ext cx="1415772" cy="338554"/>
            </a:xfrm>
            <a:prstGeom prst="rect">
              <a:avLst/>
            </a:prstGeom>
          </p:spPr>
          <p:txBody>
            <a:bodyPr wrap="none">
              <a:spAutoFit/>
            </a:bodyPr>
            <a:lstStyle/>
            <a:p>
              <a:r>
                <a:rPr lang="zh-CN" altLang="en-US" sz="1600" b="1" dirty="0">
                  <a:solidFill>
                    <a:srgbClr val="9900FF"/>
                  </a:solidFill>
                  <a:latin typeface="微软雅黑" panose="020B0503020204020204" pitchFamily="34" charset="-122"/>
                  <a:ea typeface="微软雅黑" panose="020B0503020204020204" pitchFamily="34" charset="-122"/>
                </a:rPr>
                <a:t>（级别最高）</a:t>
              </a:r>
            </a:p>
          </p:txBody>
        </p:sp>
      </p:grpSp>
      <p:grpSp>
        <p:nvGrpSpPr>
          <p:cNvPr id="18" name="组合 17"/>
          <p:cNvGrpSpPr/>
          <p:nvPr/>
        </p:nvGrpSpPr>
        <p:grpSpPr>
          <a:xfrm>
            <a:off x="1316609" y="2062198"/>
            <a:ext cx="2816797" cy="916986"/>
            <a:chOff x="3660125" y="2092751"/>
            <a:chExt cx="2816797" cy="1090208"/>
          </a:xfrm>
        </p:grpSpPr>
        <p:sp>
          <p:nvSpPr>
            <p:cNvPr id="4" name="矩形 3"/>
            <p:cNvSpPr/>
            <p:nvPr/>
          </p:nvSpPr>
          <p:spPr>
            <a:xfrm>
              <a:off x="3660125" y="2092751"/>
              <a:ext cx="2816797" cy="402508"/>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每一个标号不超过 </a:t>
              </a:r>
              <a:r>
                <a:rPr lang="en-US" altLang="zh-CN" sz="1600" b="1" dirty="0">
                  <a:latin typeface="微软雅黑" panose="020B0503020204020204" pitchFamily="34" charset="-122"/>
                  <a:ea typeface="微软雅黑" panose="020B0503020204020204" pitchFamily="34" charset="-122"/>
                </a:rPr>
                <a:t>63 </a:t>
              </a:r>
              <a:r>
                <a:rPr lang="zh-CN" altLang="en-US" sz="1600" b="1" dirty="0">
                  <a:latin typeface="微软雅黑" panose="020B0503020204020204" pitchFamily="34" charset="-122"/>
                  <a:ea typeface="微软雅黑" panose="020B0503020204020204" pitchFamily="34" charset="-122"/>
                </a:rPr>
                <a:t>个字符</a:t>
              </a:r>
            </a:p>
          </p:txBody>
        </p:sp>
        <p:sp>
          <p:nvSpPr>
            <p:cNvPr id="20" name="Line 11"/>
            <p:cNvSpPr>
              <a:spLocks noChangeShapeType="1"/>
            </p:cNvSpPr>
            <p:nvPr/>
          </p:nvSpPr>
          <p:spPr bwMode="auto">
            <a:xfrm>
              <a:off x="6104848" y="2502619"/>
              <a:ext cx="220054" cy="68034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19" name="组合 18"/>
          <p:cNvGrpSpPr/>
          <p:nvPr/>
        </p:nvGrpSpPr>
        <p:grpSpPr>
          <a:xfrm>
            <a:off x="1751022" y="2400264"/>
            <a:ext cx="1826141" cy="556780"/>
            <a:chOff x="4242919" y="2380321"/>
            <a:chExt cx="1826141" cy="661958"/>
          </a:xfrm>
        </p:grpSpPr>
        <p:sp>
          <p:nvSpPr>
            <p:cNvPr id="5" name="矩形 4"/>
            <p:cNvSpPr/>
            <p:nvPr/>
          </p:nvSpPr>
          <p:spPr>
            <a:xfrm>
              <a:off x="4242919" y="2380321"/>
              <a:ext cx="1826141" cy="338555"/>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不区分大小写字母</a:t>
              </a:r>
            </a:p>
          </p:txBody>
        </p:sp>
        <p:sp>
          <p:nvSpPr>
            <p:cNvPr id="21" name="Line 11"/>
            <p:cNvSpPr>
              <a:spLocks noChangeShapeType="1"/>
            </p:cNvSpPr>
            <p:nvPr/>
          </p:nvSpPr>
          <p:spPr bwMode="auto">
            <a:xfrm>
              <a:off x="5797824" y="2718876"/>
              <a:ext cx="100900" cy="323403"/>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22" name="组合 21"/>
          <p:cNvGrpSpPr/>
          <p:nvPr/>
        </p:nvGrpSpPr>
        <p:grpSpPr>
          <a:xfrm>
            <a:off x="4912310" y="2212153"/>
            <a:ext cx="3148621" cy="630485"/>
            <a:chOff x="4928337" y="2765085"/>
            <a:chExt cx="3148621" cy="630485"/>
          </a:xfrm>
        </p:grpSpPr>
        <p:sp>
          <p:nvSpPr>
            <p:cNvPr id="11" name="矩形 10"/>
            <p:cNvSpPr/>
            <p:nvPr/>
          </p:nvSpPr>
          <p:spPr>
            <a:xfrm>
              <a:off x="4928339" y="2765085"/>
              <a:ext cx="3148619"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完整域名总共不超过 </a:t>
              </a:r>
              <a:r>
                <a:rPr lang="en-US" altLang="zh-CN" sz="1600" b="1" dirty="0">
                  <a:latin typeface="微软雅黑" panose="020B0503020204020204" pitchFamily="34" charset="-122"/>
                  <a:ea typeface="微软雅黑" panose="020B0503020204020204" pitchFamily="34" charset="-122"/>
                </a:rPr>
                <a:t>255 </a:t>
              </a:r>
              <a:r>
                <a:rPr lang="zh-CN" altLang="en-US" sz="1600" b="1" dirty="0">
                  <a:latin typeface="微软雅黑" panose="020B0503020204020204" pitchFamily="34" charset="-122"/>
                  <a:ea typeface="微软雅黑" panose="020B0503020204020204" pitchFamily="34" charset="-122"/>
                </a:rPr>
                <a:t>个字符</a:t>
              </a:r>
            </a:p>
          </p:txBody>
        </p:sp>
        <p:sp>
          <p:nvSpPr>
            <p:cNvPr id="23" name="Line 11"/>
            <p:cNvSpPr>
              <a:spLocks noChangeShapeType="1"/>
            </p:cNvSpPr>
            <p:nvPr/>
          </p:nvSpPr>
          <p:spPr bwMode="auto">
            <a:xfrm flipH="1">
              <a:off x="4928337" y="3047553"/>
              <a:ext cx="197159" cy="348017"/>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24" name="矩形 23"/>
          <p:cNvSpPr/>
          <p:nvPr/>
        </p:nvSpPr>
        <p:spPr>
          <a:xfrm>
            <a:off x="6136955" y="2716147"/>
            <a:ext cx="2050884" cy="1015663"/>
          </a:xfrm>
          <a:prstGeom prst="rect">
            <a:avLst/>
          </a:prstGeom>
          <a:solidFill>
            <a:schemeClr val="bg1"/>
          </a:solidFill>
        </p:spPr>
        <p:txBody>
          <a:bodyPr wrap="square">
            <a:spAutoFit/>
          </a:bodyPr>
          <a:lstStyle/>
          <a:p>
            <a:pPr>
              <a:lnSpc>
                <a:spcPts val="2400"/>
              </a:lnSpc>
            </a:pPr>
            <a:r>
              <a:rPr lang="zh-CN" altLang="en-US" sz="1600" b="1" dirty="0">
                <a:solidFill>
                  <a:srgbClr val="C00000"/>
                </a:solidFill>
                <a:latin typeface="微软雅黑" panose="020B0503020204020204" pitchFamily="34" charset="-122"/>
                <a:ea typeface="微软雅黑" panose="020B0503020204020204" pitchFamily="34" charset="-122"/>
              </a:rPr>
              <a:t>注意：</a:t>
            </a:r>
            <a:r>
              <a:rPr lang="zh-CN" altLang="en-US" sz="1600" b="1" dirty="0">
                <a:latin typeface="微软雅黑" panose="020B0503020204020204" pitchFamily="34" charset="-122"/>
                <a:ea typeface="微软雅黑" panose="020B0503020204020204" pitchFamily="34" charset="-122"/>
              </a:rPr>
              <a:t>域名只是个逻辑概念，并不代表计算机所在的物理地点。</a:t>
            </a:r>
          </a:p>
        </p:txBody>
      </p:sp>
    </p:spTree>
    <p:extLst>
      <p:ext uri="{BB962C8B-B14F-4D97-AF65-F5344CB8AC3E}">
        <p14:creationId xmlns:p14="http://schemas.microsoft.com/office/powerpoint/2010/main" val="10733735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1000"/>
                                        <p:tgtEl>
                                          <p:spTgt spid="18"/>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10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7"/>
                                        </p:tgtEl>
                                        <p:attrNameLst>
                                          <p:attrName>style.visibility</p:attrName>
                                        </p:attrNameLst>
                                      </p:cBhvr>
                                      <p:tavLst>
                                        <p:tav tm="0">
                                          <p:val>
                                            <p:strVal val="hidden"/>
                                          </p:val>
                                        </p:tav>
                                        <p:tav tm="50000">
                                          <p:val>
                                            <p:strVal val="visible"/>
                                          </p:val>
                                        </p:tav>
                                      </p:tavLst>
                                    </p:anim>
                                  </p:childTnLst>
                                </p:cTn>
                              </p:par>
                              <p:par>
                                <p:cTn id="24" presetID="22" presetClass="entr" presetSubtype="1"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10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2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5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140236" y="577386"/>
            <a:ext cx="4882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全球顶级域名 </a:t>
            </a:r>
            <a:r>
              <a:rPr lang="en-US" altLang="zh-CN" sz="2000" b="1" dirty="0">
                <a:solidFill>
                  <a:schemeClr val="bg1"/>
                </a:solidFill>
                <a:latin typeface="微软雅黑" pitchFamily="34" charset="-122"/>
                <a:ea typeface="微软雅黑" pitchFamily="34" charset="-122"/>
              </a:rPr>
              <a:t>TLD (Top Level Domain)</a:t>
            </a:r>
            <a:endParaRPr lang="zh-CN" altLang="en-US" sz="2000" b="1" dirty="0">
              <a:solidFill>
                <a:schemeClr val="bg1"/>
              </a:solidFill>
              <a:latin typeface="微软雅黑" pitchFamily="34" charset="-122"/>
              <a:ea typeface="微软雅黑" pitchFamily="34" charset="-122"/>
            </a:endParaRPr>
          </a:p>
        </p:txBody>
      </p:sp>
      <p:grpSp>
        <p:nvGrpSpPr>
          <p:cNvPr id="20" name="组合 19"/>
          <p:cNvGrpSpPr/>
          <p:nvPr/>
        </p:nvGrpSpPr>
        <p:grpSpPr>
          <a:xfrm>
            <a:off x="1064087" y="1019586"/>
            <a:ext cx="5341046" cy="2984244"/>
            <a:chOff x="1064087" y="1019585"/>
            <a:chExt cx="5341046" cy="3232819"/>
          </a:xfrm>
        </p:grpSpPr>
        <p:sp>
          <p:nvSpPr>
            <p:cNvPr id="4" name="任意多边形 3"/>
            <p:cNvSpPr/>
            <p:nvPr/>
          </p:nvSpPr>
          <p:spPr>
            <a:xfrm>
              <a:off x="1064087"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国家顶级域名 </a:t>
              </a:r>
              <a:r>
                <a:rPr lang="en-US" altLang="en-US" sz="1400" b="1" kern="1200" dirty="0" err="1">
                  <a:latin typeface="微软雅黑" panose="020B0503020204020204" pitchFamily="34" charset="-122"/>
                  <a:ea typeface="微软雅黑" panose="020B0503020204020204" pitchFamily="34" charset="-122"/>
                </a:rPr>
                <a:t>nTLD</a:t>
              </a:r>
              <a:endParaRPr lang="zh-CN" altLang="en-US" sz="1400"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233644" y="1894719"/>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采用 </a:t>
              </a:r>
              <a:r>
                <a:rPr lang="en-US" altLang="en-US" sz="1400" b="1" kern="1200" dirty="0">
                  <a:latin typeface="微软雅黑" panose="020B0503020204020204" pitchFamily="34" charset="-122"/>
                  <a:ea typeface="微软雅黑" panose="020B0503020204020204" pitchFamily="34" charset="-122"/>
                </a:rPr>
                <a:t>ISO 3166</a:t>
              </a:r>
              <a:r>
                <a:rPr lang="zh-CN" altLang="en-US" sz="1400" b="1" kern="1200" dirty="0">
                  <a:latin typeface="微软雅黑" panose="020B0503020204020204" pitchFamily="34" charset="-122"/>
                  <a:ea typeface="微软雅黑" panose="020B0503020204020204" pitchFamily="34" charset="-122"/>
                </a:rPr>
                <a:t>的规定</a:t>
              </a:r>
            </a:p>
          </p:txBody>
        </p:sp>
        <p:sp>
          <p:nvSpPr>
            <p:cNvPr id="8" name="任意多边形 7"/>
            <p:cNvSpPr/>
            <p:nvPr/>
          </p:nvSpPr>
          <p:spPr>
            <a:xfrm>
              <a:off x="1233644" y="2649686"/>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1241735"/>
                <a:satOff val="4976"/>
                <a:lumOff val="1078"/>
                <a:alphaOff val="0"/>
              </a:schemeClr>
            </a:fillRef>
            <a:effectRef idx="1">
              <a:schemeClr val="accent5">
                <a:hueOff val="-1241735"/>
                <a:satOff val="4976"/>
                <a:lumOff val="1078"/>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又常记为 </a:t>
              </a:r>
              <a:r>
                <a:rPr lang="en-US" altLang="en-US" sz="1400" b="1" kern="1200" dirty="0" err="1">
                  <a:latin typeface="微软雅黑" panose="020B0503020204020204" pitchFamily="34" charset="-122"/>
                  <a:ea typeface="微软雅黑" panose="020B0503020204020204" pitchFamily="34" charset="-122"/>
                </a:rPr>
                <a:t>ccTLD</a:t>
              </a:r>
              <a:endParaRPr lang="zh-CN" altLang="en-US" sz="1400" b="1" kern="1200" dirty="0">
                <a:latin typeface="微软雅黑" panose="020B0503020204020204" pitchFamily="34" charset="-122"/>
                <a:ea typeface="微软雅黑" panose="020B0503020204020204" pitchFamily="34" charset="-122"/>
              </a:endParaRPr>
            </a:p>
          </p:txBody>
        </p:sp>
        <p:sp>
          <p:nvSpPr>
            <p:cNvPr id="9" name="任意多边形 8"/>
            <p:cNvSpPr/>
            <p:nvPr/>
          </p:nvSpPr>
          <p:spPr>
            <a:xfrm>
              <a:off x="1233644" y="3404653"/>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2483469"/>
                <a:satOff val="9953"/>
                <a:lumOff val="2157"/>
                <a:alphaOff val="0"/>
              </a:schemeClr>
            </a:fillRef>
            <a:effectRef idx="1">
              <a:schemeClr val="accent5">
                <a:hueOff val="-2483469"/>
                <a:satOff val="9953"/>
                <a:lumOff val="2157"/>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200" b="1" kern="1200" dirty="0">
                  <a:latin typeface="微软雅黑" panose="020B0503020204020204" pitchFamily="34" charset="-122"/>
                  <a:ea typeface="微软雅黑" panose="020B0503020204020204" pitchFamily="34" charset="-122"/>
                </a:rPr>
                <a:t>总数已达 </a:t>
              </a:r>
              <a:r>
                <a:rPr lang="en-US" altLang="en-US" sz="1200" b="1" kern="1200" dirty="0">
                  <a:latin typeface="微软雅黑" panose="020B0503020204020204" pitchFamily="34" charset="-122"/>
                  <a:ea typeface="微软雅黑" panose="020B0503020204020204" pitchFamily="34" charset="-122"/>
                </a:rPr>
                <a:t>316 </a:t>
              </a:r>
              <a:r>
                <a:rPr lang="zh-CN" altLang="en-US" sz="1200" b="1" kern="1200" dirty="0">
                  <a:latin typeface="微软雅黑" panose="020B0503020204020204" pitchFamily="34" charset="-122"/>
                  <a:ea typeface="微软雅黑" panose="020B0503020204020204" pitchFamily="34" charset="-122"/>
                </a:rPr>
                <a:t>个</a:t>
              </a:r>
            </a:p>
          </p:txBody>
        </p:sp>
        <p:sp>
          <p:nvSpPr>
            <p:cNvPr id="10" name="任意多边形 9"/>
            <p:cNvSpPr/>
            <p:nvPr/>
          </p:nvSpPr>
          <p:spPr>
            <a:xfrm>
              <a:off x="2886825"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通用顶级域名 </a:t>
              </a:r>
              <a:r>
                <a:rPr lang="en-US" altLang="en-US" sz="1400" b="1" kern="1200" dirty="0" err="1">
                  <a:latin typeface="微软雅黑" panose="020B0503020204020204" pitchFamily="34" charset="-122"/>
                  <a:ea typeface="微软雅黑" panose="020B0503020204020204" pitchFamily="34" charset="-122"/>
                </a:rPr>
                <a:t>gTLD</a:t>
              </a:r>
              <a:endParaRPr lang="zh-CN" altLang="en-US" sz="1400" b="1" kern="1200" dirty="0">
                <a:latin typeface="微软雅黑" panose="020B0503020204020204" pitchFamily="34" charset="-122"/>
                <a:ea typeface="微软雅黑" panose="020B0503020204020204" pitchFamily="34" charset="-122"/>
              </a:endParaRPr>
            </a:p>
          </p:txBody>
        </p:sp>
        <p:sp>
          <p:nvSpPr>
            <p:cNvPr id="11" name="任意多边形 10"/>
            <p:cNvSpPr/>
            <p:nvPr/>
          </p:nvSpPr>
          <p:spPr>
            <a:xfrm>
              <a:off x="3056382"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3725204"/>
                <a:satOff val="14929"/>
                <a:lumOff val="3235"/>
                <a:alphaOff val="0"/>
              </a:schemeClr>
            </a:fillRef>
            <a:effectRef idx="1">
              <a:schemeClr val="accent5">
                <a:hueOff val="-3725204"/>
                <a:satOff val="14929"/>
                <a:lumOff val="3235"/>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en-US" altLang="en-US" sz="1400" b="1" kern="1200" dirty="0">
                  <a:latin typeface="微软雅黑" panose="020B0503020204020204" pitchFamily="34" charset="-122"/>
                  <a:ea typeface="微软雅黑" panose="020B0503020204020204" pitchFamily="34" charset="-122"/>
                </a:rPr>
                <a:t>com</a:t>
              </a:r>
              <a:r>
                <a:rPr lang="zh-CN" altLang="en-US" sz="1400" b="1" kern="1200" dirty="0">
                  <a:latin typeface="微软雅黑" panose="020B0503020204020204" pitchFamily="34" charset="-122"/>
                  <a:ea typeface="微软雅黑" panose="020B0503020204020204" pitchFamily="34" charset="-122"/>
                </a:rPr>
                <a:t>，</a:t>
              </a:r>
              <a:r>
                <a:rPr lang="en-US" altLang="en-US" sz="1400" b="1" kern="1200" dirty="0">
                  <a:latin typeface="微软雅黑" panose="020B0503020204020204" pitchFamily="34" charset="-122"/>
                  <a:ea typeface="微软雅黑" panose="020B0503020204020204" pitchFamily="34" charset="-122"/>
                </a:rPr>
                <a:t>net</a:t>
              </a:r>
              <a:r>
                <a:rPr lang="zh-CN" altLang="en-US" sz="1400" b="1" kern="1200" dirty="0">
                  <a:latin typeface="微软雅黑" panose="020B0503020204020204" pitchFamily="34" charset="-122"/>
                  <a:ea typeface="微软雅黑" panose="020B0503020204020204" pitchFamily="34" charset="-122"/>
                </a:rPr>
                <a:t>，</a:t>
              </a:r>
              <a:r>
                <a:rPr lang="en-US" altLang="zh-CN" sz="1400" b="1" kern="1200" dirty="0">
                  <a:latin typeface="微软雅黑" panose="020B0503020204020204" pitchFamily="34" charset="-122"/>
                  <a:ea typeface="微软雅黑" panose="020B0503020204020204" pitchFamily="34" charset="-122"/>
                </a:rPr>
                <a:t>org</a:t>
              </a:r>
              <a:r>
                <a:rPr lang="zh-CN" altLang="en-US" sz="1400" b="1" kern="1200" dirty="0">
                  <a:latin typeface="微软雅黑" panose="020B0503020204020204" pitchFamily="34" charset="-122"/>
                  <a:ea typeface="微软雅黑" panose="020B0503020204020204" pitchFamily="34" charset="-122"/>
                </a:rPr>
                <a:t>，</a:t>
              </a:r>
              <a:r>
                <a:rPr lang="en-US" altLang="en-US" sz="1400" b="1" kern="1200" dirty="0" err="1">
                  <a:latin typeface="微软雅黑" panose="020B0503020204020204" pitchFamily="34" charset="-122"/>
                  <a:ea typeface="微软雅黑" panose="020B0503020204020204" pitchFamily="34" charset="-122"/>
                </a:rPr>
                <a:t>edu</a:t>
              </a:r>
              <a:r>
                <a:rPr lang="zh-CN" altLang="en-US" sz="1400" b="1" kern="1200" dirty="0">
                  <a:latin typeface="微软雅黑" panose="020B0503020204020204" pitchFamily="34" charset="-122"/>
                  <a:ea typeface="微软雅黑" panose="020B0503020204020204" pitchFamily="34" charset="-122"/>
                </a:rPr>
                <a:t>，</a:t>
              </a:r>
              <a:r>
                <a:rPr lang="en-US" altLang="zh-CN" sz="1400" b="1" kern="1200" dirty="0" err="1">
                  <a:latin typeface="微软雅黑" panose="020B0503020204020204" pitchFamily="34" charset="-122"/>
                  <a:ea typeface="微软雅黑" panose="020B0503020204020204" pitchFamily="34" charset="-122"/>
                </a:rPr>
                <a:t>gov</a:t>
              </a:r>
              <a:r>
                <a:rPr lang="en-US" altLang="zh-CN" sz="1400" b="1" kern="1200" dirty="0">
                  <a:latin typeface="微软雅黑" panose="020B0503020204020204" pitchFamily="34" charset="-122"/>
                  <a:ea typeface="微软雅黑" panose="020B0503020204020204" pitchFamily="34" charset="-122"/>
                </a:rPr>
                <a:t> </a:t>
              </a:r>
              <a:r>
                <a:rPr lang="zh-CN" altLang="en-US" sz="1400" b="1" kern="1200" dirty="0">
                  <a:latin typeface="微软雅黑" panose="020B0503020204020204" pitchFamily="34" charset="-122"/>
                  <a:ea typeface="微软雅黑" panose="020B0503020204020204" pitchFamily="34" charset="-122"/>
                </a:rPr>
                <a:t>等</a:t>
              </a:r>
            </a:p>
          </p:txBody>
        </p:sp>
        <p:sp>
          <p:nvSpPr>
            <p:cNvPr id="12" name="任意多边形 11"/>
            <p:cNvSpPr/>
            <p:nvPr/>
          </p:nvSpPr>
          <p:spPr>
            <a:xfrm>
              <a:off x="3056382"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4966938"/>
                <a:satOff val="19906"/>
                <a:lumOff val="4314"/>
                <a:alphaOff val="0"/>
              </a:schemeClr>
            </a:fillRef>
            <a:effectRef idx="1">
              <a:schemeClr val="accent5">
                <a:hueOff val="-4966938"/>
                <a:satOff val="19906"/>
                <a:lumOff val="4314"/>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总数已达 </a:t>
              </a:r>
              <a:r>
                <a:rPr lang="en-US" altLang="en-US" sz="1400" b="1" kern="1200" dirty="0">
                  <a:latin typeface="微软雅黑" panose="020B0503020204020204" pitchFamily="34" charset="-122"/>
                  <a:ea typeface="微软雅黑" panose="020B0503020204020204" pitchFamily="34" charset="-122"/>
                </a:rPr>
                <a:t>20 </a:t>
              </a:r>
              <a:r>
                <a:rPr lang="zh-CN" altLang="en-US" sz="1400" b="1" kern="1200" dirty="0">
                  <a:latin typeface="微软雅黑" panose="020B0503020204020204" pitchFamily="34" charset="-122"/>
                  <a:ea typeface="微软雅黑" panose="020B0503020204020204" pitchFamily="34" charset="-122"/>
                </a:rPr>
                <a:t>个</a:t>
              </a:r>
            </a:p>
          </p:txBody>
        </p:sp>
        <p:sp>
          <p:nvSpPr>
            <p:cNvPr id="13" name="任意多边形 12"/>
            <p:cNvSpPr/>
            <p:nvPr/>
          </p:nvSpPr>
          <p:spPr>
            <a:xfrm>
              <a:off x="4709563"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t" anchorCtr="0">
              <a:noAutofit/>
            </a:bodyPr>
            <a:lstStyle/>
            <a:p>
              <a:pPr lvl="0" algn="ctr" defTabSz="622300">
                <a:lnSpc>
                  <a:spcPts val="18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基础结构域名</a:t>
              </a:r>
              <a:r>
                <a:rPr lang="en-US" altLang="en-US" sz="1400" b="1" kern="1200" dirty="0">
                  <a:latin typeface="微软雅黑" panose="020B0503020204020204" pitchFamily="34" charset="-122"/>
                  <a:ea typeface="微软雅黑" panose="020B0503020204020204" pitchFamily="34" charset="-122"/>
                </a:rPr>
                <a:t>(infrastructure domain)</a:t>
              </a:r>
              <a:endParaRPr lang="zh-CN" altLang="en-US" sz="1400" b="1" kern="1200" dirty="0">
                <a:latin typeface="微软雅黑" panose="020B0503020204020204" pitchFamily="34" charset="-122"/>
                <a:ea typeface="微软雅黑" panose="020B0503020204020204" pitchFamily="34" charset="-122"/>
              </a:endParaRPr>
            </a:p>
          </p:txBody>
        </p:sp>
        <p:sp>
          <p:nvSpPr>
            <p:cNvPr id="14" name="任意多边形 13"/>
            <p:cNvSpPr/>
            <p:nvPr/>
          </p:nvSpPr>
          <p:spPr>
            <a:xfrm>
              <a:off x="4879120"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6208672"/>
                <a:satOff val="24882"/>
                <a:lumOff val="5392"/>
                <a:alphaOff val="0"/>
              </a:schemeClr>
            </a:fillRef>
            <a:effectRef idx="1">
              <a:schemeClr val="accent5">
                <a:hueOff val="-6208672"/>
                <a:satOff val="24882"/>
                <a:lumOff val="5392"/>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只有一个：</a:t>
              </a:r>
              <a:r>
                <a:rPr lang="en-US" altLang="en-US" sz="1400" b="1" kern="1200" dirty="0" err="1">
                  <a:latin typeface="微软雅黑" panose="020B0503020204020204" pitchFamily="34" charset="-122"/>
                  <a:ea typeface="微软雅黑" panose="020B0503020204020204" pitchFamily="34" charset="-122"/>
                </a:rPr>
                <a:t>arpa</a:t>
              </a:r>
              <a:endParaRPr lang="zh-CN" altLang="en-US" sz="1400" b="1" kern="1200" dirty="0">
                <a:latin typeface="微软雅黑" panose="020B0503020204020204" pitchFamily="34" charset="-122"/>
                <a:ea typeface="微软雅黑" panose="020B0503020204020204" pitchFamily="34" charset="-122"/>
              </a:endParaRPr>
            </a:p>
          </p:txBody>
        </p:sp>
        <p:sp>
          <p:nvSpPr>
            <p:cNvPr id="15" name="任意多边形 14"/>
            <p:cNvSpPr/>
            <p:nvPr/>
          </p:nvSpPr>
          <p:spPr>
            <a:xfrm>
              <a:off x="4879120"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7450407"/>
                <a:satOff val="29858"/>
                <a:lumOff val="6471"/>
                <a:alphaOff val="0"/>
              </a:schemeClr>
            </a:fillRef>
            <a:effectRef idx="1">
              <a:schemeClr val="accent5">
                <a:hueOff val="-7450407"/>
                <a:satOff val="29858"/>
                <a:lumOff val="6471"/>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用于反向域名解析，又称为反向域名</a:t>
              </a:r>
            </a:p>
          </p:txBody>
        </p:sp>
      </p:grpSp>
      <p:grpSp>
        <p:nvGrpSpPr>
          <p:cNvPr id="21" name="组合 20"/>
          <p:cNvGrpSpPr/>
          <p:nvPr/>
        </p:nvGrpSpPr>
        <p:grpSpPr>
          <a:xfrm>
            <a:off x="6532301" y="1019586"/>
            <a:ext cx="1695570" cy="2984244"/>
            <a:chOff x="6532301" y="1019585"/>
            <a:chExt cx="1695570" cy="3232819"/>
          </a:xfrm>
        </p:grpSpPr>
        <p:sp>
          <p:nvSpPr>
            <p:cNvPr id="16" name="任意多边形 15"/>
            <p:cNvSpPr/>
            <p:nvPr/>
          </p:nvSpPr>
          <p:spPr>
            <a:xfrm>
              <a:off x="6532301"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a:ln w="19050">
              <a:solidFill>
                <a:srgbClr val="000066"/>
              </a:solidFill>
              <a:prstDash val="sysDash"/>
            </a:ln>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新顶级域名</a:t>
              </a:r>
              <a:endParaRPr lang="en-US" altLang="zh-CN" sz="1400" b="1" kern="1200" dirty="0">
                <a:latin typeface="微软雅黑" panose="020B0503020204020204" pitchFamily="34" charset="-122"/>
                <a:ea typeface="微软雅黑" panose="020B0503020204020204" pitchFamily="34" charset="-122"/>
              </a:endParaRPr>
            </a:p>
            <a:p>
              <a:pPr lvl="0" algn="ctr" defTabSz="622300">
                <a:lnSpc>
                  <a:spcPts val="1800"/>
                </a:lnSpc>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a:t>
              </a:r>
              <a:r>
                <a:rPr lang="en-US" altLang="en-US" sz="1400" b="1" kern="1200" dirty="0">
                  <a:latin typeface="微软雅黑" panose="020B0503020204020204" pitchFamily="34" charset="-122"/>
                  <a:ea typeface="微软雅黑" panose="020B0503020204020204" pitchFamily="34" charset="-122"/>
                </a:rPr>
                <a:t>New </a:t>
              </a:r>
              <a:r>
                <a:rPr lang="en-US" altLang="en-US" sz="1400" b="1" kern="1200" dirty="0" err="1">
                  <a:latin typeface="微软雅黑" panose="020B0503020204020204" pitchFamily="34" charset="-122"/>
                  <a:ea typeface="微软雅黑" panose="020B0503020204020204" pitchFamily="34" charset="-122"/>
                </a:rPr>
                <a:t>gTLD</a:t>
              </a:r>
              <a:r>
                <a:rPr lang="zh-CN" altLang="en-US" sz="1400" b="1" kern="1200" dirty="0">
                  <a:latin typeface="微软雅黑" panose="020B0503020204020204" pitchFamily="34" charset="-122"/>
                  <a:ea typeface="微软雅黑" panose="020B0503020204020204" pitchFamily="34" charset="-122"/>
                </a:rPr>
                <a:t>）</a:t>
              </a:r>
            </a:p>
          </p:txBody>
        </p:sp>
        <p:sp>
          <p:nvSpPr>
            <p:cNvPr id="17" name="任意多边形 16"/>
            <p:cNvSpPr/>
            <p:nvPr/>
          </p:nvSpPr>
          <p:spPr>
            <a:xfrm>
              <a:off x="6701858"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8692142"/>
                <a:satOff val="34835"/>
                <a:lumOff val="7549"/>
                <a:alphaOff val="0"/>
              </a:schemeClr>
            </a:fillRef>
            <a:effectRef idx="1">
              <a:schemeClr val="accent5">
                <a:hueOff val="-8692142"/>
                <a:satOff val="34835"/>
                <a:lumOff val="7549"/>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任何公司、机构都有权向</a:t>
              </a:r>
              <a:r>
                <a:rPr lang="en-US" altLang="en-US" sz="1400" b="1" kern="1200" dirty="0">
                  <a:latin typeface="微软雅黑" panose="020B0503020204020204" pitchFamily="34" charset="-122"/>
                  <a:ea typeface="微软雅黑" panose="020B0503020204020204" pitchFamily="34" charset="-122"/>
                </a:rPr>
                <a:t>ICANN </a:t>
              </a:r>
              <a:r>
                <a:rPr lang="zh-CN" altLang="en-US" sz="1400" b="1" kern="1200" dirty="0">
                  <a:latin typeface="微软雅黑" panose="020B0503020204020204" pitchFamily="34" charset="-122"/>
                  <a:ea typeface="微软雅黑" panose="020B0503020204020204" pitchFamily="34" charset="-122"/>
                </a:rPr>
                <a:t>申请新的顶级域</a:t>
              </a:r>
            </a:p>
          </p:txBody>
        </p:sp>
        <p:sp>
          <p:nvSpPr>
            <p:cNvPr id="18" name="任意多边形 17"/>
            <p:cNvSpPr/>
            <p:nvPr/>
          </p:nvSpPr>
          <p:spPr>
            <a:xfrm>
              <a:off x="6701858"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9933876"/>
                <a:satOff val="39811"/>
                <a:lumOff val="8628"/>
                <a:alphaOff val="0"/>
              </a:schemeClr>
            </a:fillRef>
            <a:effectRef idx="1">
              <a:schemeClr val="accent5">
                <a:hueOff val="-9933876"/>
                <a:satOff val="39811"/>
                <a:lumOff val="8628"/>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a:latin typeface="微软雅黑" panose="020B0503020204020204" pitchFamily="34" charset="-122"/>
                  <a:ea typeface="微软雅黑" panose="020B0503020204020204" pitchFamily="34" charset="-122"/>
                </a:rPr>
                <a:t>真正的企业网络商标</a:t>
              </a:r>
            </a:p>
          </p:txBody>
        </p:sp>
      </p:grpSp>
      <p:sp>
        <p:nvSpPr>
          <p:cNvPr id="22" name="矩形 21"/>
          <p:cNvSpPr/>
          <p:nvPr/>
        </p:nvSpPr>
        <p:spPr>
          <a:xfrm>
            <a:off x="1389888" y="4023377"/>
            <a:ext cx="6602193" cy="707886"/>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在国家顶级域名下注册的二级域名均由该国家自行确定。</a:t>
            </a:r>
            <a:endParaRPr lang="en-US" altLang="zh-CN" sz="1600" b="1" dirty="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我国把二级域名划分为“</a:t>
            </a:r>
            <a:r>
              <a:rPr lang="zh-CN" altLang="en-US" sz="1600" b="1" dirty="0">
                <a:solidFill>
                  <a:srgbClr val="0000CC"/>
                </a:solidFill>
                <a:latin typeface="微软雅黑" panose="020B0503020204020204" pitchFamily="34" charset="-122"/>
                <a:ea typeface="微软雅黑" panose="020B0503020204020204" pitchFamily="34" charset="-122"/>
              </a:rPr>
              <a:t>类别域名</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0000CC"/>
                </a:solidFill>
                <a:latin typeface="微软雅黑" panose="020B0503020204020204" pitchFamily="34" charset="-122"/>
                <a:ea typeface="微软雅黑" panose="020B0503020204020204" pitchFamily="34" charset="-122"/>
              </a:rPr>
              <a:t>行政区域名</a:t>
            </a:r>
            <a:r>
              <a:rPr lang="zh-CN" altLang="en-US" sz="1600" b="1" dirty="0">
                <a:latin typeface="微软雅黑" panose="020B0503020204020204" pitchFamily="34" charset="-122"/>
                <a:ea typeface="微软雅黑" panose="020B0503020204020204" pitchFamily="34" charset="-122"/>
              </a:rPr>
              <a:t>”两大类。</a:t>
            </a:r>
          </a:p>
        </p:txBody>
      </p:sp>
    </p:spTree>
    <p:extLst>
      <p:ext uri="{BB962C8B-B14F-4D97-AF65-F5344CB8AC3E}">
        <p14:creationId xmlns:p14="http://schemas.microsoft.com/office/powerpoint/2010/main" val="22009552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up)">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10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up)">
                                      <p:cBhvr>
                                        <p:cTn id="17"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互联网的域名空间结构</a:t>
            </a:r>
          </a:p>
        </p:txBody>
      </p:sp>
      <p:sp>
        <p:nvSpPr>
          <p:cNvPr id="80" name="圆角矩形 79"/>
          <p:cNvSpPr/>
          <p:nvPr/>
        </p:nvSpPr>
        <p:spPr>
          <a:xfrm>
            <a:off x="556963" y="1006405"/>
            <a:ext cx="8048776" cy="318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Rectangle 122"/>
          <p:cNvSpPr>
            <a:spLocks noChangeArrowheads="1"/>
          </p:cNvSpPr>
          <p:nvPr/>
        </p:nvSpPr>
        <p:spPr bwMode="auto">
          <a:xfrm>
            <a:off x="4927416" y="1019374"/>
            <a:ext cx="1675702" cy="324229"/>
          </a:xfrm>
          <a:prstGeom prst="rect">
            <a:avLst/>
          </a:prstGeom>
          <a:solidFill>
            <a:srgbClr val="C3E3F9"/>
          </a:solidFill>
          <a:ln>
            <a:noFill/>
          </a:ln>
          <a:effectLst/>
        </p:spPr>
        <p:txBody>
          <a:bodyPr wrap="none" anchor="ctr"/>
          <a:lstStyle/>
          <a:p>
            <a:pPr algn="ctr"/>
            <a:r>
              <a:rPr kumimoji="1" lang="zh-CN" altLang="en-US" sz="1600" b="1" dirty="0">
                <a:solidFill>
                  <a:srgbClr val="C00000"/>
                </a:solidFill>
                <a:latin typeface="微软雅黑" pitchFamily="34" charset="-122"/>
                <a:ea typeface="微软雅黑" pitchFamily="34" charset="-122"/>
              </a:rPr>
              <a:t>根</a:t>
            </a:r>
            <a:r>
              <a:rPr kumimoji="1" lang="zh-CN" altLang="en-US" sz="1600" b="1" dirty="0">
                <a:latin typeface="微软雅黑" pitchFamily="34" charset="-122"/>
                <a:ea typeface="微软雅黑" pitchFamily="34" charset="-122"/>
              </a:rPr>
              <a:t>（根没有名字）</a:t>
            </a:r>
          </a:p>
        </p:txBody>
      </p:sp>
      <p:grpSp>
        <p:nvGrpSpPr>
          <p:cNvPr id="82" name="Group 216"/>
          <p:cNvGrpSpPr>
            <a:grpSpLocks/>
          </p:cNvGrpSpPr>
          <p:nvPr/>
        </p:nvGrpSpPr>
        <p:grpSpPr bwMode="auto">
          <a:xfrm>
            <a:off x="1111677" y="3394713"/>
            <a:ext cx="6369560" cy="756537"/>
            <a:chOff x="113" y="2435"/>
            <a:chExt cx="5005" cy="644"/>
          </a:xfrm>
        </p:grpSpPr>
        <p:sp>
          <p:nvSpPr>
            <p:cNvPr id="84" name="Rectangle 130"/>
            <p:cNvSpPr>
              <a:spLocks noChangeArrowheads="1"/>
            </p:cNvSpPr>
            <p:nvPr/>
          </p:nvSpPr>
          <p:spPr bwMode="auto">
            <a:xfrm>
              <a:off x="113" y="2811"/>
              <a:ext cx="708" cy="260"/>
            </a:xfrm>
            <a:prstGeom prst="rect">
              <a:avLst/>
            </a:prstGeom>
            <a:solidFill>
              <a:srgbClr val="008000"/>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四级域名</a:t>
              </a:r>
            </a:p>
          </p:txBody>
        </p:sp>
        <p:sp>
          <p:nvSpPr>
            <p:cNvPr id="85" name="Text Box 131"/>
            <p:cNvSpPr txBox="1">
              <a:spLocks noChangeArrowheads="1"/>
            </p:cNvSpPr>
            <p:nvPr/>
          </p:nvSpPr>
          <p:spPr bwMode="auto">
            <a:xfrm>
              <a:off x="3556" y="2817"/>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pitchFamily="34" charset="-122"/>
                  <a:ea typeface="微软雅黑" pitchFamily="34" charset="-122"/>
                </a:rPr>
                <a:t>mail</a:t>
              </a:r>
            </a:p>
          </p:txBody>
        </p:sp>
        <p:sp>
          <p:nvSpPr>
            <p:cNvPr id="86" name="Text Box 132"/>
            <p:cNvSpPr txBox="1">
              <a:spLocks noChangeArrowheads="1"/>
            </p:cNvSpPr>
            <p:nvPr/>
          </p:nvSpPr>
          <p:spPr bwMode="auto">
            <a:xfrm>
              <a:off x="4165" y="2801"/>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87" name="Text Box 151"/>
            <p:cNvSpPr txBox="1">
              <a:spLocks noChangeArrowheads="1"/>
            </p:cNvSpPr>
            <p:nvPr/>
          </p:nvSpPr>
          <p:spPr bwMode="auto">
            <a:xfrm>
              <a:off x="4614" y="2817"/>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rgbClr val="0000CC"/>
                  </a:solidFill>
                  <a:latin typeface="微软雅黑" pitchFamily="34" charset="-122"/>
                  <a:ea typeface="微软雅黑" pitchFamily="34" charset="-122"/>
                </a:rPr>
                <a:t>www</a:t>
              </a:r>
            </a:p>
          </p:txBody>
        </p:sp>
        <p:sp>
          <p:nvSpPr>
            <p:cNvPr id="88" name="Line 155"/>
            <p:cNvSpPr>
              <a:spLocks noChangeShapeType="1"/>
            </p:cNvSpPr>
            <p:nvPr/>
          </p:nvSpPr>
          <p:spPr bwMode="auto">
            <a:xfrm>
              <a:off x="4381" y="2435"/>
              <a:ext cx="437" cy="4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9" name="Line 156"/>
            <p:cNvSpPr>
              <a:spLocks noChangeShapeType="1"/>
            </p:cNvSpPr>
            <p:nvPr/>
          </p:nvSpPr>
          <p:spPr bwMode="auto">
            <a:xfrm flipH="1">
              <a:off x="3819" y="2440"/>
              <a:ext cx="560"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90" name="Group 214"/>
          <p:cNvGrpSpPr>
            <a:grpSpLocks/>
          </p:cNvGrpSpPr>
          <p:nvPr/>
        </p:nvGrpSpPr>
        <p:grpSpPr bwMode="auto">
          <a:xfrm>
            <a:off x="1111677" y="1962694"/>
            <a:ext cx="6915523" cy="765934"/>
            <a:chOff x="113" y="1216"/>
            <a:chExt cx="5434" cy="652"/>
          </a:xfrm>
        </p:grpSpPr>
        <p:sp>
          <p:nvSpPr>
            <p:cNvPr id="92" name="Text Box 105"/>
            <p:cNvSpPr txBox="1">
              <a:spLocks noChangeArrowheads="1"/>
            </p:cNvSpPr>
            <p:nvPr/>
          </p:nvSpPr>
          <p:spPr bwMode="auto">
            <a:xfrm>
              <a:off x="1882"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93" name="Text Box 115"/>
            <p:cNvSpPr txBox="1">
              <a:spLocks noChangeArrowheads="1"/>
            </p:cNvSpPr>
            <p:nvPr/>
          </p:nvSpPr>
          <p:spPr bwMode="auto">
            <a:xfrm>
              <a:off x="3956" y="1593"/>
              <a:ext cx="28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bj</a:t>
              </a:r>
            </a:p>
          </p:txBody>
        </p:sp>
        <p:sp>
          <p:nvSpPr>
            <p:cNvPr id="94" name="Text Box 116"/>
            <p:cNvSpPr txBox="1">
              <a:spLocks noChangeArrowheads="1"/>
            </p:cNvSpPr>
            <p:nvPr/>
          </p:nvSpPr>
          <p:spPr bwMode="auto">
            <a:xfrm>
              <a:off x="4554" y="1592"/>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95" name="Text Box 117"/>
            <p:cNvSpPr txBox="1">
              <a:spLocks noChangeArrowheads="1"/>
            </p:cNvSpPr>
            <p:nvPr/>
          </p:nvSpPr>
          <p:spPr bwMode="auto">
            <a:xfrm>
              <a:off x="5097" y="1592"/>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com</a:t>
              </a:r>
            </a:p>
          </p:txBody>
        </p:sp>
        <p:sp>
          <p:nvSpPr>
            <p:cNvPr id="96" name="Text Box 118"/>
            <p:cNvSpPr txBox="1">
              <a:spLocks noChangeArrowheads="1"/>
            </p:cNvSpPr>
            <p:nvPr/>
          </p:nvSpPr>
          <p:spPr bwMode="auto">
            <a:xfrm>
              <a:off x="4277"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97" name="Text Box 123"/>
            <p:cNvSpPr txBox="1">
              <a:spLocks noChangeArrowheads="1"/>
            </p:cNvSpPr>
            <p:nvPr/>
          </p:nvSpPr>
          <p:spPr bwMode="auto">
            <a:xfrm>
              <a:off x="1437" y="1592"/>
              <a:ext cx="43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cctv</a:t>
              </a:r>
            </a:p>
          </p:txBody>
        </p:sp>
        <p:sp>
          <p:nvSpPr>
            <p:cNvPr id="98" name="Text Box 124"/>
            <p:cNvSpPr txBox="1">
              <a:spLocks noChangeArrowheads="1"/>
            </p:cNvSpPr>
            <p:nvPr/>
          </p:nvSpPr>
          <p:spPr bwMode="auto">
            <a:xfrm>
              <a:off x="2185" y="1591"/>
              <a:ext cx="42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ibm</a:t>
              </a:r>
            </a:p>
          </p:txBody>
        </p:sp>
        <p:sp>
          <p:nvSpPr>
            <p:cNvPr id="99" name="Text Box 125"/>
            <p:cNvSpPr txBox="1">
              <a:spLocks noChangeArrowheads="1"/>
            </p:cNvSpPr>
            <p:nvPr/>
          </p:nvSpPr>
          <p:spPr bwMode="auto">
            <a:xfrm>
              <a:off x="2546" y="1592"/>
              <a:ext cx="65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err="1">
                  <a:solidFill>
                    <a:schemeClr val="tx1"/>
                  </a:solidFill>
                  <a:latin typeface="微软雅黑" pitchFamily="34" charset="-122"/>
                  <a:ea typeface="微软雅黑" pitchFamily="34" charset="-122"/>
                </a:rPr>
                <a:t>huawei</a:t>
              </a:r>
              <a:endParaRPr kumimoji="1" lang="en-US" altLang="zh-CN" sz="1400" b="1" dirty="0">
                <a:solidFill>
                  <a:schemeClr val="tx1"/>
                </a:solidFill>
                <a:latin typeface="微软雅黑" pitchFamily="34" charset="-122"/>
                <a:ea typeface="微软雅黑" pitchFamily="34" charset="-122"/>
              </a:endParaRPr>
            </a:p>
          </p:txBody>
        </p:sp>
        <p:sp>
          <p:nvSpPr>
            <p:cNvPr id="100" name="Rectangle 127"/>
            <p:cNvSpPr>
              <a:spLocks noChangeArrowheads="1"/>
            </p:cNvSpPr>
            <p:nvPr/>
          </p:nvSpPr>
          <p:spPr bwMode="auto">
            <a:xfrm>
              <a:off x="113" y="1608"/>
              <a:ext cx="708" cy="260"/>
            </a:xfrm>
            <a:prstGeom prst="rect">
              <a:avLst/>
            </a:prstGeom>
            <a:solidFill>
              <a:srgbClr val="0066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二级域名</a:t>
              </a:r>
            </a:p>
          </p:txBody>
        </p:sp>
        <p:sp>
          <p:nvSpPr>
            <p:cNvPr id="101" name="Line 142"/>
            <p:cNvSpPr>
              <a:spLocks noChangeShapeType="1"/>
            </p:cNvSpPr>
            <p:nvPr/>
          </p:nvSpPr>
          <p:spPr bwMode="auto">
            <a:xfrm>
              <a:off x="2180" y="1274"/>
              <a:ext cx="213" cy="3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2" name="Line 143"/>
            <p:cNvSpPr>
              <a:spLocks noChangeShapeType="1"/>
            </p:cNvSpPr>
            <p:nvPr/>
          </p:nvSpPr>
          <p:spPr bwMode="auto">
            <a:xfrm>
              <a:off x="2173" y="1269"/>
              <a:ext cx="546" cy="3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3" name="Line 144"/>
            <p:cNvSpPr>
              <a:spLocks noChangeShapeType="1"/>
            </p:cNvSpPr>
            <p:nvPr/>
          </p:nvSpPr>
          <p:spPr bwMode="auto">
            <a:xfrm flipV="1">
              <a:off x="1672" y="1279"/>
              <a:ext cx="501" cy="34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4" name="Line 145"/>
            <p:cNvSpPr>
              <a:spLocks noChangeShapeType="1"/>
            </p:cNvSpPr>
            <p:nvPr/>
          </p:nvSpPr>
          <p:spPr bwMode="auto">
            <a:xfrm>
              <a:off x="4662" y="1216"/>
              <a:ext cx="111" cy="43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5" name="Line 146"/>
            <p:cNvSpPr>
              <a:spLocks noChangeShapeType="1"/>
            </p:cNvSpPr>
            <p:nvPr/>
          </p:nvSpPr>
          <p:spPr bwMode="auto">
            <a:xfrm>
              <a:off x="4665" y="1224"/>
              <a:ext cx="626" cy="40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06" name="Line 147"/>
            <p:cNvSpPr>
              <a:spLocks noChangeShapeType="1"/>
            </p:cNvSpPr>
            <p:nvPr/>
          </p:nvSpPr>
          <p:spPr bwMode="auto">
            <a:xfrm flipH="1">
              <a:off x="4090" y="1224"/>
              <a:ext cx="572" cy="39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07" name="Group 157"/>
            <p:cNvGrpSpPr>
              <a:grpSpLocks/>
            </p:cNvGrpSpPr>
            <p:nvPr/>
          </p:nvGrpSpPr>
          <p:grpSpPr bwMode="auto">
            <a:xfrm>
              <a:off x="1168" y="1244"/>
              <a:ext cx="268" cy="101"/>
              <a:chOff x="2875" y="1143"/>
              <a:chExt cx="330" cy="132"/>
            </a:xfrm>
          </p:grpSpPr>
          <p:sp>
            <p:nvSpPr>
              <p:cNvPr id="133" name="Line 15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4" name="Line 15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5" name="Line 16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6" name="Line 16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8" name="Group 162"/>
            <p:cNvGrpSpPr>
              <a:grpSpLocks/>
            </p:cNvGrpSpPr>
            <p:nvPr/>
          </p:nvGrpSpPr>
          <p:grpSpPr bwMode="auto">
            <a:xfrm>
              <a:off x="2507" y="1244"/>
              <a:ext cx="268" cy="101"/>
              <a:chOff x="2875" y="1143"/>
              <a:chExt cx="330" cy="132"/>
            </a:xfrm>
          </p:grpSpPr>
          <p:sp>
            <p:nvSpPr>
              <p:cNvPr id="129" name="Line 16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0" name="Line 16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1" name="Line 16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2" name="Line 16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09" name="Group 167"/>
            <p:cNvGrpSpPr>
              <a:grpSpLocks/>
            </p:cNvGrpSpPr>
            <p:nvPr/>
          </p:nvGrpSpPr>
          <p:grpSpPr bwMode="auto">
            <a:xfrm>
              <a:off x="2936" y="1244"/>
              <a:ext cx="268" cy="101"/>
              <a:chOff x="2875" y="1143"/>
              <a:chExt cx="330" cy="132"/>
            </a:xfrm>
          </p:grpSpPr>
          <p:sp>
            <p:nvSpPr>
              <p:cNvPr id="125" name="Line 16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6" name="Line 16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7" name="Line 17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8" name="Line 17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0" name="Group 172"/>
            <p:cNvGrpSpPr>
              <a:grpSpLocks/>
            </p:cNvGrpSpPr>
            <p:nvPr/>
          </p:nvGrpSpPr>
          <p:grpSpPr bwMode="auto">
            <a:xfrm>
              <a:off x="3363" y="1244"/>
              <a:ext cx="268" cy="101"/>
              <a:chOff x="2875" y="1143"/>
              <a:chExt cx="330" cy="132"/>
            </a:xfrm>
          </p:grpSpPr>
          <p:sp>
            <p:nvSpPr>
              <p:cNvPr id="121" name="Line 17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2" name="Line 17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3" name="Line 17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4" name="Line 17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1" name="Group 177"/>
            <p:cNvGrpSpPr>
              <a:grpSpLocks/>
            </p:cNvGrpSpPr>
            <p:nvPr/>
          </p:nvGrpSpPr>
          <p:grpSpPr bwMode="auto">
            <a:xfrm>
              <a:off x="3792" y="1244"/>
              <a:ext cx="268" cy="101"/>
              <a:chOff x="2875" y="1143"/>
              <a:chExt cx="330" cy="132"/>
            </a:xfrm>
          </p:grpSpPr>
          <p:sp>
            <p:nvSpPr>
              <p:cNvPr id="117" name="Line 17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8" name="Line 17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9" name="Line 18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20" name="Line 18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12" name="Group 182"/>
            <p:cNvGrpSpPr>
              <a:grpSpLocks/>
            </p:cNvGrpSpPr>
            <p:nvPr/>
          </p:nvGrpSpPr>
          <p:grpSpPr bwMode="auto">
            <a:xfrm>
              <a:off x="4935" y="1244"/>
              <a:ext cx="268" cy="101"/>
              <a:chOff x="2875" y="1143"/>
              <a:chExt cx="330" cy="132"/>
            </a:xfrm>
          </p:grpSpPr>
          <p:sp>
            <p:nvSpPr>
              <p:cNvPr id="113" name="Line 18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4" name="Line 18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5" name="Line 18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6" name="Line 18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37" name="Group 215"/>
          <p:cNvGrpSpPr>
            <a:grpSpLocks/>
          </p:cNvGrpSpPr>
          <p:nvPr/>
        </p:nvGrpSpPr>
        <p:grpSpPr bwMode="auto">
          <a:xfrm>
            <a:off x="1111677" y="2617023"/>
            <a:ext cx="6939704" cy="815271"/>
            <a:chOff x="113" y="1773"/>
            <a:chExt cx="5453" cy="694"/>
          </a:xfrm>
        </p:grpSpPr>
        <p:sp>
          <p:nvSpPr>
            <p:cNvPr id="139" name="Text Box 119"/>
            <p:cNvSpPr txBox="1">
              <a:spLocks noChangeArrowheads="1"/>
            </p:cNvSpPr>
            <p:nvPr/>
          </p:nvSpPr>
          <p:spPr bwMode="auto">
            <a:xfrm>
              <a:off x="5150" y="2205"/>
              <a:ext cx="41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pku</a:t>
              </a:r>
            </a:p>
          </p:txBody>
        </p:sp>
        <p:sp>
          <p:nvSpPr>
            <p:cNvPr id="140" name="Text Box 120"/>
            <p:cNvSpPr txBox="1">
              <a:spLocks noChangeArrowheads="1"/>
            </p:cNvSpPr>
            <p:nvPr/>
          </p:nvSpPr>
          <p:spPr bwMode="auto">
            <a:xfrm>
              <a:off x="3924" y="2205"/>
              <a:ext cx="764"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tsinghua</a:t>
              </a:r>
            </a:p>
          </p:txBody>
        </p:sp>
        <p:sp>
          <p:nvSpPr>
            <p:cNvPr id="141" name="Text Box 121"/>
            <p:cNvSpPr txBox="1">
              <a:spLocks noChangeArrowheads="1"/>
            </p:cNvSpPr>
            <p:nvPr/>
          </p:nvSpPr>
          <p:spPr bwMode="auto">
            <a:xfrm>
              <a:off x="4754"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42" name="Rectangle 128"/>
            <p:cNvSpPr>
              <a:spLocks noChangeArrowheads="1"/>
            </p:cNvSpPr>
            <p:nvPr/>
          </p:nvSpPr>
          <p:spPr bwMode="auto">
            <a:xfrm>
              <a:off x="113" y="2182"/>
              <a:ext cx="708" cy="260"/>
            </a:xfrm>
            <a:prstGeom prst="rect">
              <a:avLst/>
            </a:prstGeom>
            <a:solidFill>
              <a:srgbClr val="CC00CC"/>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三级域名</a:t>
              </a:r>
            </a:p>
          </p:txBody>
        </p:sp>
        <p:sp>
          <p:nvSpPr>
            <p:cNvPr id="143" name="Text Box 129"/>
            <p:cNvSpPr txBox="1">
              <a:spLocks noChangeArrowheads="1"/>
            </p:cNvSpPr>
            <p:nvPr/>
          </p:nvSpPr>
          <p:spPr bwMode="auto">
            <a:xfrm>
              <a:off x="1064" y="2205"/>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rgbClr val="0000CC"/>
                  </a:solidFill>
                  <a:latin typeface="微软雅黑" pitchFamily="34" charset="-122"/>
                  <a:ea typeface="微软雅黑" pitchFamily="34" charset="-122"/>
                </a:rPr>
                <a:t>mail</a:t>
              </a:r>
            </a:p>
          </p:txBody>
        </p:sp>
        <p:sp>
          <p:nvSpPr>
            <p:cNvPr id="144" name="Line 148"/>
            <p:cNvSpPr>
              <a:spLocks noChangeShapeType="1"/>
            </p:cNvSpPr>
            <p:nvPr/>
          </p:nvSpPr>
          <p:spPr bwMode="auto">
            <a:xfrm flipH="1">
              <a:off x="4386" y="1773"/>
              <a:ext cx="387" cy="42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5" name="Line 149"/>
            <p:cNvSpPr>
              <a:spLocks noChangeShapeType="1"/>
            </p:cNvSpPr>
            <p:nvPr/>
          </p:nvSpPr>
          <p:spPr bwMode="auto">
            <a:xfrm>
              <a:off x="4792" y="1784"/>
              <a:ext cx="548" cy="43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6" name="Text Box 150"/>
            <p:cNvSpPr txBox="1">
              <a:spLocks noChangeArrowheads="1"/>
            </p:cNvSpPr>
            <p:nvPr/>
          </p:nvSpPr>
          <p:spPr bwMode="auto">
            <a:xfrm>
              <a:off x="1826" y="2205"/>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rgbClr val="0000CC"/>
                  </a:solidFill>
                  <a:latin typeface="微软雅黑" pitchFamily="34" charset="-122"/>
                  <a:ea typeface="微软雅黑" pitchFamily="34" charset="-122"/>
                </a:rPr>
                <a:t>www</a:t>
              </a:r>
            </a:p>
          </p:txBody>
        </p:sp>
        <p:sp>
          <p:nvSpPr>
            <p:cNvPr id="147" name="Text Box 152"/>
            <p:cNvSpPr txBox="1">
              <a:spLocks noChangeArrowheads="1"/>
            </p:cNvSpPr>
            <p:nvPr/>
          </p:nvSpPr>
          <p:spPr bwMode="auto">
            <a:xfrm>
              <a:off x="1519"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48" name="Line 153"/>
            <p:cNvSpPr>
              <a:spLocks noChangeShapeType="1"/>
            </p:cNvSpPr>
            <p:nvPr/>
          </p:nvSpPr>
          <p:spPr bwMode="auto">
            <a:xfrm flipV="1">
              <a:off x="1274" y="1794"/>
              <a:ext cx="383" cy="44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9" name="Line 154"/>
            <p:cNvSpPr>
              <a:spLocks noChangeShapeType="1"/>
            </p:cNvSpPr>
            <p:nvPr/>
          </p:nvSpPr>
          <p:spPr bwMode="auto">
            <a:xfrm>
              <a:off x="1657" y="1794"/>
              <a:ext cx="361" cy="473"/>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150" name="Group 187"/>
            <p:cNvGrpSpPr>
              <a:grpSpLocks/>
            </p:cNvGrpSpPr>
            <p:nvPr/>
          </p:nvGrpSpPr>
          <p:grpSpPr bwMode="auto">
            <a:xfrm>
              <a:off x="2613" y="1797"/>
              <a:ext cx="269" cy="101"/>
              <a:chOff x="2875" y="1143"/>
              <a:chExt cx="330" cy="132"/>
            </a:xfrm>
          </p:grpSpPr>
          <p:sp>
            <p:nvSpPr>
              <p:cNvPr id="166" name="Line 18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7" name="Line 18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8" name="Line 19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9" name="Line 19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1" name="Group 192"/>
            <p:cNvGrpSpPr>
              <a:grpSpLocks/>
            </p:cNvGrpSpPr>
            <p:nvPr/>
          </p:nvGrpSpPr>
          <p:grpSpPr bwMode="auto">
            <a:xfrm>
              <a:off x="5131" y="1797"/>
              <a:ext cx="268" cy="101"/>
              <a:chOff x="2875" y="1143"/>
              <a:chExt cx="330" cy="132"/>
            </a:xfrm>
          </p:grpSpPr>
          <p:sp>
            <p:nvSpPr>
              <p:cNvPr id="162" name="Line 19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3" name="Line 19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4" name="Line 19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5" name="Line 19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2" name="Group 197"/>
            <p:cNvGrpSpPr>
              <a:grpSpLocks/>
            </p:cNvGrpSpPr>
            <p:nvPr/>
          </p:nvGrpSpPr>
          <p:grpSpPr bwMode="auto">
            <a:xfrm>
              <a:off x="2239" y="1797"/>
              <a:ext cx="268" cy="101"/>
              <a:chOff x="2875" y="1143"/>
              <a:chExt cx="330" cy="132"/>
            </a:xfrm>
          </p:grpSpPr>
          <p:sp>
            <p:nvSpPr>
              <p:cNvPr id="158" name="Line 198"/>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9" name="Line 199"/>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0" name="Line 200"/>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1" name="Line 201"/>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153" name="Group 202"/>
            <p:cNvGrpSpPr>
              <a:grpSpLocks/>
            </p:cNvGrpSpPr>
            <p:nvPr/>
          </p:nvGrpSpPr>
          <p:grpSpPr bwMode="auto">
            <a:xfrm>
              <a:off x="3953" y="1797"/>
              <a:ext cx="268" cy="101"/>
              <a:chOff x="2875" y="1143"/>
              <a:chExt cx="330" cy="132"/>
            </a:xfrm>
          </p:grpSpPr>
          <p:sp>
            <p:nvSpPr>
              <p:cNvPr id="154" name="Line 203"/>
              <p:cNvSpPr>
                <a:spLocks noChangeShapeType="1"/>
              </p:cNvSpPr>
              <p:nvPr/>
            </p:nvSpPr>
            <p:spPr bwMode="auto">
              <a:xfrm>
                <a:off x="3061"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5" name="Line 204"/>
              <p:cNvSpPr>
                <a:spLocks noChangeShapeType="1"/>
              </p:cNvSpPr>
              <p:nvPr/>
            </p:nvSpPr>
            <p:spPr bwMode="auto">
              <a:xfrm>
                <a:off x="3050" y="1143"/>
                <a:ext cx="37" cy="12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6" name="Line 205"/>
              <p:cNvSpPr>
                <a:spLocks noChangeShapeType="1"/>
              </p:cNvSpPr>
              <p:nvPr/>
            </p:nvSpPr>
            <p:spPr bwMode="auto">
              <a:xfrm flipH="1">
                <a:off x="2875" y="1143"/>
                <a:ext cx="144" cy="13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7" name="Line 206"/>
              <p:cNvSpPr>
                <a:spLocks noChangeShapeType="1"/>
              </p:cNvSpPr>
              <p:nvPr/>
            </p:nvSpPr>
            <p:spPr bwMode="auto">
              <a:xfrm flipH="1">
                <a:off x="2980" y="1143"/>
                <a:ext cx="54" cy="126"/>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grpSp>
        <p:nvGrpSpPr>
          <p:cNvPr id="170" name="Group 213"/>
          <p:cNvGrpSpPr>
            <a:grpSpLocks/>
          </p:cNvGrpSpPr>
          <p:nvPr/>
        </p:nvGrpSpPr>
        <p:grpSpPr bwMode="auto">
          <a:xfrm>
            <a:off x="1111677" y="1364746"/>
            <a:ext cx="6902798" cy="682525"/>
            <a:chOff x="113" y="707"/>
            <a:chExt cx="5424" cy="581"/>
          </a:xfrm>
        </p:grpSpPr>
        <p:sp>
          <p:nvSpPr>
            <p:cNvPr id="172" name="Text Box 106"/>
            <p:cNvSpPr txBox="1">
              <a:spLocks noChangeArrowheads="1"/>
            </p:cNvSpPr>
            <p:nvPr/>
          </p:nvSpPr>
          <p:spPr bwMode="auto">
            <a:xfrm>
              <a:off x="1975" y="1026"/>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com</a:t>
              </a:r>
            </a:p>
          </p:txBody>
        </p:sp>
        <p:sp>
          <p:nvSpPr>
            <p:cNvPr id="173" name="Text Box 107"/>
            <p:cNvSpPr txBox="1">
              <a:spLocks noChangeArrowheads="1"/>
            </p:cNvSpPr>
            <p:nvPr/>
          </p:nvSpPr>
          <p:spPr bwMode="auto">
            <a:xfrm>
              <a:off x="2472" y="1026"/>
              <a:ext cx="37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net</a:t>
              </a:r>
            </a:p>
          </p:txBody>
        </p:sp>
        <p:sp>
          <p:nvSpPr>
            <p:cNvPr id="174" name="Text Box 108"/>
            <p:cNvSpPr txBox="1">
              <a:spLocks noChangeArrowheads="1"/>
            </p:cNvSpPr>
            <p:nvPr/>
          </p:nvSpPr>
          <p:spPr bwMode="auto">
            <a:xfrm>
              <a:off x="2900" y="1026"/>
              <a:ext cx="39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org</a:t>
              </a:r>
            </a:p>
          </p:txBody>
        </p:sp>
        <p:sp>
          <p:nvSpPr>
            <p:cNvPr id="175" name="Text Box 109"/>
            <p:cNvSpPr txBox="1">
              <a:spLocks noChangeArrowheads="1"/>
            </p:cNvSpPr>
            <p:nvPr/>
          </p:nvSpPr>
          <p:spPr bwMode="auto">
            <a:xfrm>
              <a:off x="3329" y="1026"/>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edu</a:t>
              </a:r>
            </a:p>
          </p:txBody>
        </p:sp>
        <p:sp>
          <p:nvSpPr>
            <p:cNvPr id="176" name="Text Box 110"/>
            <p:cNvSpPr txBox="1">
              <a:spLocks noChangeArrowheads="1"/>
            </p:cNvSpPr>
            <p:nvPr/>
          </p:nvSpPr>
          <p:spPr bwMode="auto">
            <a:xfrm>
              <a:off x="3758" y="1026"/>
              <a:ext cx="41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gov</a:t>
              </a:r>
            </a:p>
          </p:txBody>
        </p:sp>
        <p:sp>
          <p:nvSpPr>
            <p:cNvPr id="177" name="Text Box 111"/>
            <p:cNvSpPr txBox="1">
              <a:spLocks noChangeArrowheads="1"/>
            </p:cNvSpPr>
            <p:nvPr/>
          </p:nvSpPr>
          <p:spPr bwMode="auto">
            <a:xfrm>
              <a:off x="1114" y="1026"/>
              <a:ext cx="46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aero</a:t>
              </a:r>
            </a:p>
          </p:txBody>
        </p:sp>
        <p:sp>
          <p:nvSpPr>
            <p:cNvPr id="178" name="Text Box 112"/>
            <p:cNvSpPr txBox="1">
              <a:spLocks noChangeArrowheads="1"/>
            </p:cNvSpPr>
            <p:nvPr/>
          </p:nvSpPr>
          <p:spPr bwMode="auto">
            <a:xfrm>
              <a:off x="4489" y="1026"/>
              <a:ext cx="31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cn</a:t>
              </a:r>
            </a:p>
          </p:txBody>
        </p:sp>
        <p:sp>
          <p:nvSpPr>
            <p:cNvPr id="179" name="Text Box 113"/>
            <p:cNvSpPr txBox="1">
              <a:spLocks noChangeArrowheads="1"/>
            </p:cNvSpPr>
            <p:nvPr/>
          </p:nvSpPr>
          <p:spPr bwMode="auto">
            <a:xfrm>
              <a:off x="4918" y="1026"/>
              <a:ext cx="32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uk</a:t>
              </a:r>
            </a:p>
          </p:txBody>
        </p:sp>
        <p:sp>
          <p:nvSpPr>
            <p:cNvPr id="180" name="Text Box 114"/>
            <p:cNvSpPr txBox="1">
              <a:spLocks noChangeArrowheads="1"/>
            </p:cNvSpPr>
            <p:nvPr/>
          </p:nvSpPr>
          <p:spPr bwMode="auto">
            <a:xfrm>
              <a:off x="5256" y="987"/>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sp>
          <p:nvSpPr>
            <p:cNvPr id="181" name="Rectangle 126"/>
            <p:cNvSpPr>
              <a:spLocks noChangeArrowheads="1"/>
            </p:cNvSpPr>
            <p:nvPr/>
          </p:nvSpPr>
          <p:spPr bwMode="auto">
            <a:xfrm>
              <a:off x="113" y="1005"/>
              <a:ext cx="708" cy="260"/>
            </a:xfrm>
            <a:prstGeom prst="rect">
              <a:avLst/>
            </a:prstGeom>
            <a:solidFill>
              <a:srgbClr val="0000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itchFamily="34" charset="-122"/>
                  <a:ea typeface="微软雅黑" pitchFamily="34" charset="-122"/>
                </a:rPr>
                <a:t>顶级域名</a:t>
              </a:r>
            </a:p>
          </p:txBody>
        </p:sp>
        <p:sp>
          <p:nvSpPr>
            <p:cNvPr id="182" name="Line 133"/>
            <p:cNvSpPr>
              <a:spLocks noChangeShapeType="1"/>
            </p:cNvSpPr>
            <p:nvPr/>
          </p:nvSpPr>
          <p:spPr bwMode="auto">
            <a:xfrm flipH="1">
              <a:off x="2201" y="712"/>
              <a:ext cx="1068" cy="389"/>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3" name="Line 134"/>
            <p:cNvSpPr>
              <a:spLocks noChangeShapeType="1"/>
            </p:cNvSpPr>
            <p:nvPr/>
          </p:nvSpPr>
          <p:spPr bwMode="auto">
            <a:xfrm flipH="1">
              <a:off x="2681" y="730"/>
              <a:ext cx="575" cy="352"/>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4" name="Line 135"/>
            <p:cNvSpPr>
              <a:spLocks noChangeShapeType="1"/>
            </p:cNvSpPr>
            <p:nvPr/>
          </p:nvSpPr>
          <p:spPr bwMode="auto">
            <a:xfrm flipH="1">
              <a:off x="3134" y="730"/>
              <a:ext cx="131" cy="344"/>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5" name="Line 136"/>
            <p:cNvSpPr>
              <a:spLocks noChangeShapeType="1"/>
            </p:cNvSpPr>
            <p:nvPr/>
          </p:nvSpPr>
          <p:spPr bwMode="auto">
            <a:xfrm>
              <a:off x="3277" y="723"/>
              <a:ext cx="249" cy="36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6" name="Line 137"/>
            <p:cNvSpPr>
              <a:spLocks noChangeShapeType="1"/>
            </p:cNvSpPr>
            <p:nvPr/>
          </p:nvSpPr>
          <p:spPr bwMode="auto">
            <a:xfrm>
              <a:off x="3275" y="715"/>
              <a:ext cx="681" cy="375"/>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7" name="Line 138"/>
            <p:cNvSpPr>
              <a:spLocks noChangeShapeType="1"/>
            </p:cNvSpPr>
            <p:nvPr/>
          </p:nvSpPr>
          <p:spPr bwMode="auto">
            <a:xfrm>
              <a:off x="3288" y="708"/>
              <a:ext cx="1353" cy="377"/>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8" name="Line 139"/>
            <p:cNvSpPr>
              <a:spLocks noChangeShapeType="1"/>
            </p:cNvSpPr>
            <p:nvPr/>
          </p:nvSpPr>
          <p:spPr bwMode="auto">
            <a:xfrm flipH="1">
              <a:off x="1358" y="707"/>
              <a:ext cx="1933" cy="370"/>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9" name="Line 140"/>
            <p:cNvSpPr>
              <a:spLocks noChangeShapeType="1"/>
            </p:cNvSpPr>
            <p:nvPr/>
          </p:nvSpPr>
          <p:spPr bwMode="auto">
            <a:xfrm>
              <a:off x="3250" y="709"/>
              <a:ext cx="1777" cy="351"/>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0" name="Text Box 141"/>
            <p:cNvSpPr txBox="1">
              <a:spLocks noChangeArrowheads="1"/>
            </p:cNvSpPr>
            <p:nvPr/>
          </p:nvSpPr>
          <p:spPr bwMode="auto">
            <a:xfrm>
              <a:off x="1647" y="98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dirty="0">
                  <a:solidFill>
                    <a:schemeClr val="tx1"/>
                  </a:solidFill>
                  <a:latin typeface="微软雅黑" pitchFamily="34" charset="-122"/>
                  <a:ea typeface="微软雅黑" pitchFamily="34" charset="-122"/>
                </a:rPr>
                <a:t>…</a:t>
              </a:r>
            </a:p>
          </p:txBody>
        </p:sp>
        <p:sp>
          <p:nvSpPr>
            <p:cNvPr id="191" name="Text Box 207"/>
            <p:cNvSpPr txBox="1">
              <a:spLocks noChangeArrowheads="1"/>
            </p:cNvSpPr>
            <p:nvPr/>
          </p:nvSpPr>
          <p:spPr bwMode="auto">
            <a:xfrm>
              <a:off x="4147" y="985"/>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400" b="1">
                  <a:solidFill>
                    <a:schemeClr val="tx1"/>
                  </a:solidFill>
                  <a:latin typeface="微软雅黑" pitchFamily="34" charset="-122"/>
                  <a:ea typeface="微软雅黑" pitchFamily="34" charset="-122"/>
                </a:rPr>
                <a:t>…</a:t>
              </a:r>
            </a:p>
          </p:txBody>
        </p:sp>
      </p:grpSp>
      <p:sp>
        <p:nvSpPr>
          <p:cNvPr id="2" name="矩形 1"/>
          <p:cNvSpPr/>
          <p:nvPr/>
        </p:nvSpPr>
        <p:spPr>
          <a:xfrm>
            <a:off x="1447060" y="4218679"/>
            <a:ext cx="6702641" cy="369332"/>
          </a:xfrm>
          <a:prstGeom prst="rect">
            <a:avLst/>
          </a:prstGeom>
        </p:spPr>
        <p:txBody>
          <a:bodyPr wrap="square">
            <a:spAutoFit/>
          </a:bodyPr>
          <a:lstStyle/>
          <a:p>
            <a:r>
              <a:rPr lang="zh-CN" altLang="en-US" b="1" dirty="0">
                <a:latin typeface="微软雅黑" panose="020B0503020204020204" pitchFamily="34" charset="-122"/>
                <a:ea typeface="微软雅黑" panose="020B0503020204020204" pitchFamily="34" charset="-122"/>
              </a:rPr>
              <a:t>域名树的</a:t>
            </a:r>
            <a:r>
              <a:rPr lang="zh-CN" altLang="en-US" b="1" dirty="0">
                <a:solidFill>
                  <a:srgbClr val="C00000"/>
                </a:solidFill>
                <a:latin typeface="微软雅黑" panose="020B0503020204020204" pitchFamily="34" charset="-122"/>
                <a:ea typeface="微软雅黑" panose="020B0503020204020204" pitchFamily="34" charset="-122"/>
              </a:rPr>
              <a:t>树叶</a:t>
            </a:r>
            <a:r>
              <a:rPr lang="zh-CN" altLang="en-US" b="1" dirty="0">
                <a:latin typeface="微软雅黑" panose="020B0503020204020204" pitchFamily="34" charset="-122"/>
                <a:ea typeface="微软雅黑" panose="020B0503020204020204" pitchFamily="34" charset="-122"/>
              </a:rPr>
              <a:t>就是计算机的名字，它不能再继续往下划分子域了。</a:t>
            </a:r>
          </a:p>
        </p:txBody>
      </p:sp>
    </p:spTree>
    <p:extLst>
      <p:ext uri="{BB962C8B-B14F-4D97-AF65-F5344CB8AC3E}">
        <p14:creationId xmlns:p14="http://schemas.microsoft.com/office/powerpoint/2010/main" val="31222748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wipe(up)">
                                      <p:cBhvr>
                                        <p:cTn id="7" dur="10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up)">
                                      <p:cBhvr>
                                        <p:cTn id="12" dur="1000"/>
                                        <p:tgtEl>
                                          <p:spTgt spid="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wipe(up)">
                                      <p:cBhvr>
                                        <p:cTn id="17" dur="1000"/>
                                        <p:tgtEl>
                                          <p:spTgt spid="1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wipe(up)">
                                      <p:cBhvr>
                                        <p:cTn id="22" dur="1000"/>
                                        <p:tgtEl>
                                          <p:spTgt spid="82"/>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互联网的域名空间结构</a:t>
            </a:r>
          </a:p>
        </p:txBody>
      </p:sp>
      <p:grpSp>
        <p:nvGrpSpPr>
          <p:cNvPr id="4" name="组合 3"/>
          <p:cNvGrpSpPr/>
          <p:nvPr/>
        </p:nvGrpSpPr>
        <p:grpSpPr>
          <a:xfrm>
            <a:off x="1016382" y="1275608"/>
            <a:ext cx="7177707" cy="1041464"/>
            <a:chOff x="1202813" y="1328874"/>
            <a:chExt cx="7177707" cy="1041464"/>
          </a:xfrm>
        </p:grpSpPr>
        <p:sp>
          <p:nvSpPr>
            <p:cNvPr id="171" name="对角圆角矩形 170"/>
            <p:cNvSpPr/>
            <p:nvPr/>
          </p:nvSpPr>
          <p:spPr>
            <a:xfrm>
              <a:off x="1202813" y="1328874"/>
              <a:ext cx="7177707" cy="104146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1540275" y="1423150"/>
              <a:ext cx="6485139" cy="861774"/>
            </a:xfrm>
            <a:prstGeom prst="rect">
              <a:avLst/>
            </a:prstGeom>
          </p:spPr>
          <p:txBody>
            <a:bodyPr wrap="square">
              <a:spAutoFit/>
            </a:bodyPr>
            <a:lstStyle/>
            <a:p>
              <a:pPr>
                <a:lnSpc>
                  <a:spcPts val="3000"/>
                </a:lnSpc>
              </a:pPr>
              <a:r>
                <a:rPr lang="zh-CN" altLang="en-US" sz="2000" b="1" dirty="0">
                  <a:solidFill>
                    <a:srgbClr val="FFFF00"/>
                  </a:solidFill>
                  <a:latin typeface="微软雅黑" panose="020B0503020204020204" pitchFamily="34" charset="-122"/>
                  <a:ea typeface="微软雅黑" panose="020B0503020204020204" pitchFamily="34" charset="-122"/>
                </a:rPr>
                <a:t>注意：</a:t>
              </a:r>
              <a:r>
                <a:rPr lang="zh-CN" altLang="en-US" sz="2000" b="1" dirty="0">
                  <a:solidFill>
                    <a:schemeClr val="bg1"/>
                  </a:solidFill>
                  <a:latin typeface="微软雅黑" panose="020B0503020204020204" pitchFamily="34" charset="-122"/>
                  <a:ea typeface="微软雅黑" panose="020B0503020204020204" pitchFamily="34" charset="-122"/>
                </a:rPr>
                <a:t>互联网的名字空间是按照机构的组织来划分的，与物理的网络无关，与 </a:t>
              </a:r>
              <a:r>
                <a:rPr lang="en-US" altLang="zh-CN" sz="2000" b="1" dirty="0">
                  <a:solidFill>
                    <a:schemeClr val="bg1"/>
                  </a:solidFill>
                  <a:latin typeface="微软雅黑" panose="020B0503020204020204" pitchFamily="34" charset="-122"/>
                  <a:ea typeface="微软雅黑" panose="020B0503020204020204" pitchFamily="34" charset="-122"/>
                </a:rPr>
                <a:t>IP </a:t>
              </a:r>
              <a:r>
                <a:rPr lang="zh-CN" altLang="en-US" sz="2000" b="1" dirty="0">
                  <a:solidFill>
                    <a:schemeClr val="bg1"/>
                  </a:solidFill>
                  <a:latin typeface="微软雅黑" panose="020B0503020204020204" pitchFamily="34" charset="-122"/>
                  <a:ea typeface="微软雅黑" panose="020B0503020204020204" pitchFamily="34" charset="-122"/>
                </a:rPr>
                <a:t>地址中的“子网”也没有关系。</a:t>
              </a:r>
            </a:p>
          </p:txBody>
        </p:sp>
      </p:grpSp>
    </p:spTree>
    <p:extLst>
      <p:ext uri="{BB962C8B-B14F-4D97-AF65-F5344CB8AC3E}">
        <p14:creationId xmlns:p14="http://schemas.microsoft.com/office/powerpoint/2010/main" val="1811348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对角圆角矩形 8"/>
          <p:cNvSpPr/>
          <p:nvPr/>
        </p:nvSpPr>
        <p:spPr>
          <a:xfrm>
            <a:off x="1708847" y="3501223"/>
            <a:ext cx="5295641" cy="990877"/>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45143" y="61665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 name="Rectangle 6"/>
          <p:cNvSpPr>
            <a:spLocks noChangeArrowheads="1"/>
          </p:cNvSpPr>
          <p:nvPr/>
        </p:nvSpPr>
        <p:spPr bwMode="auto">
          <a:xfrm>
            <a:off x="3246959" y="574388"/>
            <a:ext cx="26500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6.1.3  </a:t>
            </a:r>
            <a:r>
              <a:rPr lang="zh-CN" altLang="en-US" sz="2400" b="1" dirty="0">
                <a:solidFill>
                  <a:schemeClr val="bg1"/>
                </a:solidFill>
                <a:latin typeface="微软雅黑" pitchFamily="34" charset="-122"/>
                <a:ea typeface="微软雅黑" pitchFamily="34" charset="-122"/>
              </a:rPr>
              <a:t>域名服务器</a:t>
            </a:r>
          </a:p>
        </p:txBody>
      </p:sp>
      <p:sp>
        <p:nvSpPr>
          <p:cNvPr id="8" name="Rectangle 8"/>
          <p:cNvSpPr>
            <a:spLocks noChangeArrowheads="1"/>
          </p:cNvSpPr>
          <p:nvPr/>
        </p:nvSpPr>
        <p:spPr bwMode="auto">
          <a:xfrm>
            <a:off x="545143" y="1014588"/>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实现域名系统使用分布在各地的</a:t>
            </a:r>
            <a:r>
              <a:rPr lang="zh-CN" altLang="en-US" sz="2000" b="1" dirty="0">
                <a:solidFill>
                  <a:srgbClr val="C00000"/>
                </a:solidFill>
                <a:latin typeface="微软雅黑" pitchFamily="34" charset="-122"/>
                <a:ea typeface="微软雅黑" pitchFamily="34" charset="-122"/>
              </a:rPr>
              <a:t>域名服务器</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服务器）。</a:t>
            </a:r>
            <a:endParaRPr lang="en-US" altLang="zh-CN" sz="2000" b="1" dirty="0">
              <a:latin typeface="微软雅黑" pitchFamily="34" charset="-122"/>
              <a:ea typeface="微软雅黑" pitchFamily="34" charset="-122"/>
            </a:endParaRPr>
          </a:p>
          <a:p>
            <a:pPr marL="285750" indent="-28575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一个服务器所负责管辖的（或有权限的）范围叫做</a:t>
            </a:r>
            <a:r>
              <a:rPr lang="zh-CN" altLang="en-US" sz="2000" b="1" dirty="0">
                <a:solidFill>
                  <a:srgbClr val="C00000"/>
                </a:solidFill>
                <a:latin typeface="微软雅黑" pitchFamily="34" charset="-122"/>
                <a:ea typeface="微软雅黑" pitchFamily="34" charset="-122"/>
              </a:rPr>
              <a:t>区</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(zone)</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各单位根据具体情况来划分自己管辖范围的区。但在一个区中的所有节点必须是能够</a:t>
            </a:r>
            <a:r>
              <a:rPr lang="zh-CN" altLang="en-US" sz="2000" b="1" dirty="0">
                <a:solidFill>
                  <a:srgbClr val="C00000"/>
                </a:solidFill>
                <a:latin typeface="微软雅黑" pitchFamily="34" charset="-122"/>
                <a:ea typeface="微软雅黑" pitchFamily="34" charset="-122"/>
              </a:rPr>
              <a:t>连通</a:t>
            </a:r>
            <a:r>
              <a:rPr lang="zh-CN" altLang="en-US" sz="2000" b="1" dirty="0">
                <a:latin typeface="微软雅黑" pitchFamily="34" charset="-122"/>
                <a:ea typeface="微软雅黑" pitchFamily="34" charset="-122"/>
              </a:rPr>
              <a:t>的。</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每一个区设置相应的</a:t>
            </a:r>
            <a:r>
              <a:rPr lang="zh-CN" altLang="en-US" sz="2000" b="1" dirty="0">
                <a:solidFill>
                  <a:srgbClr val="C00000"/>
                </a:solidFill>
                <a:latin typeface="微软雅黑" pitchFamily="34" charset="-122"/>
                <a:ea typeface="微软雅黑" pitchFamily="34" charset="-122"/>
              </a:rPr>
              <a:t>权限域名服务器，</a:t>
            </a:r>
            <a:r>
              <a:rPr lang="zh-CN" altLang="en-US" sz="2000" b="1" dirty="0">
                <a:latin typeface="微软雅黑" pitchFamily="34" charset="-122"/>
                <a:ea typeface="微软雅黑" pitchFamily="34" charset="-122"/>
              </a:rPr>
              <a:t>用来</a:t>
            </a:r>
            <a:r>
              <a:rPr lang="zh-CN" altLang="en-US" sz="2000" b="1" dirty="0">
                <a:solidFill>
                  <a:srgbClr val="C00000"/>
                </a:solidFill>
                <a:latin typeface="微软雅黑" pitchFamily="34" charset="-122"/>
                <a:ea typeface="微软雅黑" pitchFamily="34" charset="-122"/>
              </a:rPr>
              <a:t>保存</a:t>
            </a:r>
            <a:r>
              <a:rPr lang="zh-CN" altLang="en-US" sz="2000" b="1" dirty="0">
                <a:latin typeface="微软雅黑" pitchFamily="34" charset="-122"/>
                <a:ea typeface="微软雅黑" pitchFamily="34" charset="-122"/>
              </a:rPr>
              <a:t>该区中的所有主机的域名到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地址的映射。</a:t>
            </a:r>
          </a:p>
        </p:txBody>
      </p:sp>
      <p:sp>
        <p:nvSpPr>
          <p:cNvPr id="2" name="矩形 1"/>
          <p:cNvSpPr/>
          <p:nvPr/>
        </p:nvSpPr>
        <p:spPr>
          <a:xfrm>
            <a:off x="1890947" y="3607839"/>
            <a:ext cx="5078029" cy="730777"/>
          </a:xfrm>
          <a:prstGeom prst="rect">
            <a:avLst/>
          </a:prstGeom>
        </p:spPr>
        <p:txBody>
          <a:bodyPr wrap="square">
            <a:spAutoFit/>
          </a:bodyPr>
          <a:lstStyle/>
          <a:p>
            <a:pPr>
              <a:lnSpc>
                <a:spcPts val="2600"/>
              </a:lnSpc>
              <a:buClr>
                <a:srgbClr val="0070C0"/>
              </a:buClr>
            </a:pPr>
            <a:r>
              <a:rPr lang="en-US" altLang="zh-CN" b="1" dirty="0">
                <a:solidFill>
                  <a:schemeClr val="bg1"/>
                </a:solidFill>
                <a:latin typeface="微软雅黑" pitchFamily="34" charset="-122"/>
                <a:ea typeface="微软雅黑" pitchFamily="34" charset="-122"/>
              </a:rPr>
              <a:t>DNS </a:t>
            </a:r>
            <a:r>
              <a:rPr lang="zh-CN" altLang="en-US" b="1" dirty="0">
                <a:solidFill>
                  <a:schemeClr val="bg1"/>
                </a:solidFill>
                <a:latin typeface="微软雅黑" pitchFamily="34" charset="-122"/>
                <a:ea typeface="微软雅黑" pitchFamily="34" charset="-122"/>
              </a:rPr>
              <a:t>服务器的管辖范围不是以“域”为单位，而是</a:t>
            </a:r>
            <a:r>
              <a:rPr lang="zh-CN" altLang="en-US" b="1" dirty="0">
                <a:solidFill>
                  <a:srgbClr val="FFFF00"/>
                </a:solidFill>
                <a:latin typeface="微软雅黑" pitchFamily="34" charset="-122"/>
                <a:ea typeface="微软雅黑" pitchFamily="34" charset="-122"/>
              </a:rPr>
              <a:t>以“区”为单位。 </a:t>
            </a:r>
            <a:endParaRPr lang="en-US" altLang="zh-CN" b="1" dirty="0">
              <a:solidFill>
                <a:srgbClr val="FFFF00"/>
              </a:solidFill>
              <a:latin typeface="微软雅黑" pitchFamily="34" charset="-122"/>
              <a:ea typeface="微软雅黑" pitchFamily="34" charset="-122"/>
            </a:endParaRPr>
          </a:p>
        </p:txBody>
      </p:sp>
    </p:spTree>
    <p:extLst>
      <p:ext uri="{BB962C8B-B14F-4D97-AF65-F5344CB8AC3E}">
        <p14:creationId xmlns:p14="http://schemas.microsoft.com/office/powerpoint/2010/main" val="21170489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0380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AutoShape 95"/>
          <p:cNvSpPr>
            <a:spLocks noChangeArrowheads="1"/>
          </p:cNvSpPr>
          <p:nvPr/>
        </p:nvSpPr>
        <p:spPr bwMode="auto">
          <a:xfrm>
            <a:off x="1691868" y="2263871"/>
            <a:ext cx="2761795" cy="1592984"/>
          </a:xfrm>
          <a:prstGeom prst="roundRect">
            <a:avLst>
              <a:gd name="adj" fmla="val 9319"/>
            </a:avLst>
          </a:prstGeom>
          <a:solidFill>
            <a:srgbClr val="0000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31" name="Group 173"/>
          <p:cNvGrpSpPr>
            <a:grpSpLocks/>
          </p:cNvGrpSpPr>
          <p:nvPr/>
        </p:nvGrpSpPr>
        <p:grpSpPr bwMode="auto">
          <a:xfrm>
            <a:off x="4689084" y="1219433"/>
            <a:ext cx="2775277" cy="2956210"/>
            <a:chOff x="2971" y="709"/>
            <a:chExt cx="2676" cy="3088"/>
          </a:xfrm>
        </p:grpSpPr>
        <p:sp>
          <p:nvSpPr>
            <p:cNvPr id="38" name="AutoShape 117"/>
            <p:cNvSpPr>
              <a:spLocks noChangeArrowheads="1"/>
            </p:cNvSpPr>
            <p:nvPr/>
          </p:nvSpPr>
          <p:spPr bwMode="auto">
            <a:xfrm>
              <a:off x="2971" y="1800"/>
              <a:ext cx="2665" cy="1664"/>
            </a:xfrm>
            <a:prstGeom prst="roundRect">
              <a:avLst>
                <a:gd name="adj" fmla="val 9319"/>
              </a:avLst>
            </a:prstGeom>
            <a:solidFill>
              <a:schemeClr val="accent6">
                <a:lumMod val="50000"/>
              </a:schemeClr>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32" name="Group 89"/>
            <p:cNvGrpSpPr>
              <a:grpSpLocks/>
            </p:cNvGrpSpPr>
            <p:nvPr/>
          </p:nvGrpSpPr>
          <p:grpSpPr bwMode="auto">
            <a:xfrm>
              <a:off x="4196" y="1530"/>
              <a:ext cx="256" cy="98"/>
              <a:chOff x="1519" y="813"/>
              <a:chExt cx="227" cy="77"/>
            </a:xfrm>
          </p:grpSpPr>
          <p:sp>
            <p:nvSpPr>
              <p:cNvPr id="73" name="Line 9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4" name="Line 9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3" name="Text Box 112"/>
            <p:cNvSpPr txBox="1">
              <a:spLocks noChangeArrowheads="1"/>
            </p:cNvSpPr>
            <p:nvPr/>
          </p:nvSpPr>
          <p:spPr bwMode="auto">
            <a:xfrm>
              <a:off x="3892" y="3476"/>
              <a:ext cx="1061"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(b) </a:t>
              </a:r>
              <a:r>
                <a:rPr kumimoji="1" lang="zh-CN" altLang="en-US" sz="1400" b="1" dirty="0">
                  <a:latin typeface="微软雅黑" pitchFamily="34" charset="-122"/>
                  <a:ea typeface="微软雅黑" pitchFamily="34" charset="-122"/>
                </a:rPr>
                <a:t>区 </a:t>
              </a:r>
              <a:r>
                <a:rPr kumimoji="1" lang="en-US" altLang="zh-CN" sz="1400" b="1" dirty="0">
                  <a:latin typeface="微软雅黑" pitchFamily="34" charset="-122"/>
                  <a:ea typeface="微软雅黑" pitchFamily="34" charset="-122"/>
                </a:rPr>
                <a:t>&lt; </a:t>
              </a:r>
              <a:r>
                <a:rPr kumimoji="1" lang="zh-CN" altLang="en-US" sz="1400" b="1" dirty="0">
                  <a:latin typeface="微软雅黑" pitchFamily="34" charset="-122"/>
                  <a:ea typeface="微软雅黑" pitchFamily="34" charset="-122"/>
                </a:rPr>
                <a:t>域</a:t>
              </a:r>
            </a:p>
          </p:txBody>
        </p:sp>
        <p:sp>
          <p:nvSpPr>
            <p:cNvPr id="34" name="Line 113"/>
            <p:cNvSpPr>
              <a:spLocks noChangeShapeType="1"/>
            </p:cNvSpPr>
            <p:nvPr/>
          </p:nvSpPr>
          <p:spPr bwMode="auto">
            <a:xfrm>
              <a:off x="4328" y="1523"/>
              <a:ext cx="5" cy="50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5" name="Text Box 114"/>
            <p:cNvSpPr txBox="1">
              <a:spLocks noChangeArrowheads="1"/>
            </p:cNvSpPr>
            <p:nvPr/>
          </p:nvSpPr>
          <p:spPr bwMode="auto">
            <a:xfrm>
              <a:off x="3061" y="1806"/>
              <a:ext cx="994"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域 </a:t>
              </a:r>
              <a:r>
                <a:rPr kumimoji="1" lang="en-US" altLang="zh-CN" sz="1200" b="1" dirty="0">
                  <a:solidFill>
                    <a:schemeClr val="bg1"/>
                  </a:solidFill>
                  <a:latin typeface="微软雅黑" pitchFamily="34" charset="-122"/>
                  <a:ea typeface="微软雅黑" pitchFamily="34" charset="-122"/>
                </a:rPr>
                <a:t>abc.com</a:t>
              </a:r>
            </a:p>
          </p:txBody>
        </p:sp>
        <p:sp>
          <p:nvSpPr>
            <p:cNvPr id="36" name="Freeform 115"/>
            <p:cNvSpPr>
              <a:spLocks/>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7" name="Freeform 116"/>
            <p:cNvSpPr>
              <a:spLocks/>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00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9" name="Text Box 118"/>
            <p:cNvSpPr txBox="1">
              <a:spLocks noChangeArrowheads="1"/>
            </p:cNvSpPr>
            <p:nvPr/>
          </p:nvSpPr>
          <p:spPr bwMode="auto">
            <a:xfrm>
              <a:off x="2990" y="2131"/>
              <a:ext cx="801" cy="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pitchFamily="34" charset="-122"/>
                  <a:ea typeface="微软雅黑" pitchFamily="34" charset="-122"/>
                </a:rPr>
                <a:t> 区</a:t>
              </a:r>
              <a:endParaRPr kumimoji="1" lang="zh-CN" altLang="en-US" sz="1200" b="1" dirty="0">
                <a:solidFill>
                  <a:schemeClr val="bg1"/>
                </a:solidFill>
                <a:latin typeface="微软雅黑" pitchFamily="34" charset="-122"/>
                <a:ea typeface="微软雅黑" pitchFamily="34" charset="-122"/>
              </a:endParaRPr>
            </a:p>
            <a:p>
              <a:pPr algn="ctr" eaLnBrk="1" hangingPunct="1">
                <a:lnSpc>
                  <a:spcPct val="70000"/>
                </a:lnSpc>
              </a:pPr>
              <a:r>
                <a:rPr kumimoji="1" lang="en-US" altLang="zh-CN" sz="1200" b="1" dirty="0">
                  <a:solidFill>
                    <a:schemeClr val="bg1"/>
                  </a:solidFill>
                  <a:latin typeface="微软雅黑" pitchFamily="34" charset="-122"/>
                  <a:ea typeface="微软雅黑" pitchFamily="34" charset="-122"/>
                </a:rPr>
                <a:t>abc.com</a:t>
              </a:r>
            </a:p>
          </p:txBody>
        </p:sp>
        <p:sp>
          <p:nvSpPr>
            <p:cNvPr id="40" name="Text Box 119"/>
            <p:cNvSpPr txBox="1">
              <a:spLocks noChangeArrowheads="1"/>
            </p:cNvSpPr>
            <p:nvPr/>
          </p:nvSpPr>
          <p:spPr bwMode="auto">
            <a:xfrm>
              <a:off x="4649" y="1950"/>
              <a:ext cx="998" cy="3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5000"/>
                </a:lnSpc>
              </a:pPr>
              <a:r>
                <a:rPr kumimoji="1" lang="zh-CN" altLang="en-US" sz="1200" b="1">
                  <a:solidFill>
                    <a:schemeClr val="bg1"/>
                  </a:solidFill>
                  <a:latin typeface="微软雅黑" pitchFamily="34" charset="-122"/>
                  <a:ea typeface="微软雅黑" pitchFamily="34" charset="-122"/>
                </a:rPr>
                <a:t>区</a:t>
              </a:r>
            </a:p>
            <a:p>
              <a:pPr algn="ctr" eaLnBrk="1" hangingPunct="1">
                <a:lnSpc>
                  <a:spcPct val="75000"/>
                </a:lnSpc>
              </a:pPr>
              <a:r>
                <a:rPr kumimoji="1" lang="en-US" altLang="zh-CN" sz="1200" b="1">
                  <a:solidFill>
                    <a:schemeClr val="bg1"/>
                  </a:solidFill>
                  <a:latin typeface="微软雅黑" pitchFamily="34" charset="-122"/>
                  <a:ea typeface="微软雅黑" pitchFamily="34" charset="-122"/>
                </a:rPr>
                <a:t>y.abc.com</a:t>
              </a:r>
            </a:p>
          </p:txBody>
        </p:sp>
        <p:sp>
          <p:nvSpPr>
            <p:cNvPr id="41" name="Line 120"/>
            <p:cNvSpPr>
              <a:spLocks noChangeShapeType="1"/>
            </p:cNvSpPr>
            <p:nvPr/>
          </p:nvSpPr>
          <p:spPr bwMode="auto">
            <a:xfrm>
              <a:off x="3382" y="2470"/>
              <a:ext cx="156" cy="227"/>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121"/>
            <p:cNvSpPr>
              <a:spLocks noChangeShapeType="1"/>
            </p:cNvSpPr>
            <p:nvPr/>
          </p:nvSpPr>
          <p:spPr bwMode="auto">
            <a:xfrm rot="10800000" flipV="1">
              <a:off x="5103" y="2316"/>
              <a:ext cx="124" cy="426"/>
            </a:xfrm>
            <a:prstGeom prst="line">
              <a:avLst/>
            </a:prstGeom>
            <a:noFill/>
            <a:ln w="12700">
              <a:solidFill>
                <a:srgbClr val="FFFF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122"/>
            <p:cNvSpPr>
              <a:spLocks noChangeShapeType="1"/>
            </p:cNvSpPr>
            <p:nvPr/>
          </p:nvSpPr>
          <p:spPr bwMode="auto">
            <a:xfrm flipH="1">
              <a:off x="4054" y="2124"/>
              <a:ext cx="226" cy="417"/>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4" name="Line 123"/>
            <p:cNvSpPr>
              <a:spLocks noChangeShapeType="1"/>
            </p:cNvSpPr>
            <p:nvPr/>
          </p:nvSpPr>
          <p:spPr bwMode="auto">
            <a:xfrm>
              <a:off x="4407" y="2143"/>
              <a:ext cx="297" cy="38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5" name="Line 124"/>
            <p:cNvSpPr>
              <a:spLocks noChangeShapeType="1"/>
            </p:cNvSpPr>
            <p:nvPr/>
          </p:nvSpPr>
          <p:spPr bwMode="auto">
            <a:xfrm>
              <a:off x="4754" y="2610"/>
              <a:ext cx="319" cy="499"/>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6" name="Line 125"/>
            <p:cNvSpPr>
              <a:spLocks noChangeShapeType="1"/>
            </p:cNvSpPr>
            <p:nvPr/>
          </p:nvSpPr>
          <p:spPr bwMode="auto">
            <a:xfrm>
              <a:off x="4068" y="2622"/>
              <a:ext cx="388" cy="44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7" name="Line 126"/>
            <p:cNvSpPr>
              <a:spLocks noChangeShapeType="1"/>
            </p:cNvSpPr>
            <p:nvPr/>
          </p:nvSpPr>
          <p:spPr bwMode="auto">
            <a:xfrm flipH="1">
              <a:off x="4002" y="2629"/>
              <a:ext cx="11" cy="380"/>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8" name="Line 127"/>
            <p:cNvSpPr>
              <a:spLocks noChangeShapeType="1"/>
            </p:cNvSpPr>
            <p:nvPr/>
          </p:nvSpPr>
          <p:spPr bwMode="auto">
            <a:xfrm flipH="1">
              <a:off x="3528" y="2578"/>
              <a:ext cx="470" cy="48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49" name="Oval 128"/>
            <p:cNvSpPr>
              <a:spLocks noChangeArrowheads="1"/>
            </p:cNvSpPr>
            <p:nvPr/>
          </p:nvSpPr>
          <p:spPr bwMode="auto">
            <a:xfrm>
              <a:off x="4121" y="1982"/>
              <a:ext cx="410" cy="24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abc</a:t>
              </a:r>
            </a:p>
          </p:txBody>
        </p:sp>
        <p:sp>
          <p:nvSpPr>
            <p:cNvPr id="50" name="Oval 129"/>
            <p:cNvSpPr>
              <a:spLocks noChangeArrowheads="1"/>
            </p:cNvSpPr>
            <p:nvPr/>
          </p:nvSpPr>
          <p:spPr bwMode="auto">
            <a:xfrm>
              <a:off x="3844"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x</a:t>
              </a:r>
            </a:p>
          </p:txBody>
        </p:sp>
        <p:sp>
          <p:nvSpPr>
            <p:cNvPr id="51" name="Oval 130"/>
            <p:cNvSpPr>
              <a:spLocks noChangeArrowheads="1"/>
            </p:cNvSpPr>
            <p:nvPr/>
          </p:nvSpPr>
          <p:spPr bwMode="auto">
            <a:xfrm>
              <a:off x="3332"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u</a:t>
              </a:r>
            </a:p>
          </p:txBody>
        </p:sp>
        <p:sp>
          <p:nvSpPr>
            <p:cNvPr id="52" name="Oval 131"/>
            <p:cNvSpPr>
              <a:spLocks noChangeArrowheads="1"/>
            </p:cNvSpPr>
            <p:nvPr/>
          </p:nvSpPr>
          <p:spPr bwMode="auto">
            <a:xfrm>
              <a:off x="3810"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v</a:t>
              </a:r>
            </a:p>
          </p:txBody>
        </p:sp>
        <p:sp>
          <p:nvSpPr>
            <p:cNvPr id="53" name="Oval 132"/>
            <p:cNvSpPr>
              <a:spLocks noChangeArrowheads="1"/>
            </p:cNvSpPr>
            <p:nvPr/>
          </p:nvSpPr>
          <p:spPr bwMode="auto">
            <a:xfrm>
              <a:off x="428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w</a:t>
              </a:r>
            </a:p>
          </p:txBody>
        </p:sp>
        <p:sp>
          <p:nvSpPr>
            <p:cNvPr id="54" name="Oval 133"/>
            <p:cNvSpPr>
              <a:spLocks noChangeArrowheads="1"/>
            </p:cNvSpPr>
            <p:nvPr/>
          </p:nvSpPr>
          <p:spPr bwMode="auto">
            <a:xfrm>
              <a:off x="486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t</a:t>
              </a:r>
            </a:p>
          </p:txBody>
        </p:sp>
        <p:sp>
          <p:nvSpPr>
            <p:cNvPr id="55" name="Oval 134"/>
            <p:cNvSpPr>
              <a:spLocks noChangeArrowheads="1"/>
            </p:cNvSpPr>
            <p:nvPr/>
          </p:nvSpPr>
          <p:spPr bwMode="auto">
            <a:xfrm>
              <a:off x="4560"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y</a:t>
              </a:r>
            </a:p>
          </p:txBody>
        </p:sp>
        <p:sp>
          <p:nvSpPr>
            <p:cNvPr id="56" name="AutoShape 135"/>
            <p:cNvSpPr>
              <a:spLocks noChangeArrowheads="1"/>
            </p:cNvSpPr>
            <p:nvPr/>
          </p:nvSpPr>
          <p:spPr bwMode="auto">
            <a:xfrm>
              <a:off x="4063" y="1232"/>
              <a:ext cx="522" cy="303"/>
            </a:xfrm>
            <a:prstGeom prst="roundRect">
              <a:avLst>
                <a:gd name="adj" fmla="val 34167"/>
              </a:avLst>
            </a:prstGeom>
            <a:solidFill>
              <a:srgbClr val="66FF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com</a:t>
              </a:r>
            </a:p>
          </p:txBody>
        </p:sp>
        <p:sp>
          <p:nvSpPr>
            <p:cNvPr id="57" name="AutoShape 136"/>
            <p:cNvSpPr>
              <a:spLocks noChangeArrowheads="1"/>
            </p:cNvSpPr>
            <p:nvPr/>
          </p:nvSpPr>
          <p:spPr bwMode="auto">
            <a:xfrm>
              <a:off x="4909" y="1225"/>
              <a:ext cx="522" cy="304"/>
            </a:xfrm>
            <a:prstGeom prst="roundRect">
              <a:avLst>
                <a:gd name="adj" fmla="val 34167"/>
              </a:avLst>
            </a:prstGeom>
            <a:solidFill>
              <a:srgbClr val="00B0F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edu</a:t>
              </a:r>
            </a:p>
          </p:txBody>
        </p:sp>
        <p:sp>
          <p:nvSpPr>
            <p:cNvPr id="58" name="AutoShape 137"/>
            <p:cNvSpPr>
              <a:spLocks noChangeArrowheads="1"/>
            </p:cNvSpPr>
            <p:nvPr/>
          </p:nvSpPr>
          <p:spPr bwMode="auto">
            <a:xfrm>
              <a:off x="3220" y="1225"/>
              <a:ext cx="522" cy="304"/>
            </a:xfrm>
            <a:prstGeom prst="roundRect">
              <a:avLst>
                <a:gd name="adj" fmla="val 34167"/>
              </a:avLst>
            </a:prstGeom>
            <a:solidFill>
              <a:srgbClr val="00FF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org</a:t>
              </a:r>
            </a:p>
          </p:txBody>
        </p:sp>
        <p:grpSp>
          <p:nvGrpSpPr>
            <p:cNvPr id="59" name="Group 138"/>
            <p:cNvGrpSpPr>
              <a:grpSpLocks/>
            </p:cNvGrpSpPr>
            <p:nvPr/>
          </p:nvGrpSpPr>
          <p:grpSpPr bwMode="auto">
            <a:xfrm>
              <a:off x="5042" y="1530"/>
              <a:ext cx="256" cy="98"/>
              <a:chOff x="2875" y="1143"/>
              <a:chExt cx="330" cy="132"/>
            </a:xfrm>
          </p:grpSpPr>
          <p:sp>
            <p:nvSpPr>
              <p:cNvPr id="69" name="Line 139"/>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0" name="Line 140"/>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1" name="Line 141"/>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72" name="Line 142"/>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60" name="Group 143"/>
            <p:cNvGrpSpPr>
              <a:grpSpLocks/>
            </p:cNvGrpSpPr>
            <p:nvPr/>
          </p:nvGrpSpPr>
          <p:grpSpPr bwMode="auto">
            <a:xfrm>
              <a:off x="3353" y="1530"/>
              <a:ext cx="256" cy="98"/>
              <a:chOff x="2875" y="1143"/>
              <a:chExt cx="330" cy="132"/>
            </a:xfrm>
          </p:grpSpPr>
          <p:sp>
            <p:nvSpPr>
              <p:cNvPr id="65" name="Line 14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6" name="Line 14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7" name="Line 14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8" name="Line 14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61" name="AutoShape 148"/>
            <p:cNvSpPr>
              <a:spLocks noChangeArrowheads="1"/>
            </p:cNvSpPr>
            <p:nvPr/>
          </p:nvSpPr>
          <p:spPr bwMode="auto">
            <a:xfrm>
              <a:off x="4049" y="709"/>
              <a:ext cx="523" cy="304"/>
            </a:xfrm>
            <a:prstGeom prst="roundRect">
              <a:avLst>
                <a:gd name="adj" fmla="val 34167"/>
              </a:avLst>
            </a:prstGeom>
            <a:solidFill>
              <a:srgbClr val="FF66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200" b="1">
                  <a:latin typeface="微软雅黑" pitchFamily="34" charset="-122"/>
                  <a:ea typeface="微软雅黑" pitchFamily="34" charset="-122"/>
                </a:rPr>
                <a:t>根</a:t>
              </a:r>
            </a:p>
          </p:txBody>
        </p:sp>
        <p:sp>
          <p:nvSpPr>
            <p:cNvPr id="62" name="Line 149"/>
            <p:cNvSpPr>
              <a:spLocks noChangeShapeType="1"/>
            </p:cNvSpPr>
            <p:nvPr/>
          </p:nvSpPr>
          <p:spPr bwMode="auto">
            <a:xfrm>
              <a:off x="4375" y="1010"/>
              <a:ext cx="792"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3" name="Line 150"/>
            <p:cNvSpPr>
              <a:spLocks noChangeShapeType="1"/>
            </p:cNvSpPr>
            <p:nvPr/>
          </p:nvSpPr>
          <p:spPr bwMode="auto">
            <a:xfrm flipV="1">
              <a:off x="3481" y="1010"/>
              <a:ext cx="779"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64" name="Line 151"/>
            <p:cNvSpPr>
              <a:spLocks noChangeShapeType="1"/>
            </p:cNvSpPr>
            <p:nvPr/>
          </p:nvSpPr>
          <p:spPr bwMode="auto">
            <a:xfrm>
              <a:off x="4321" y="1010"/>
              <a:ext cx="0" cy="2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68145" y="582898"/>
            <a:ext cx="2826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区的不同划分方法举例</a:t>
            </a:r>
          </a:p>
        </p:txBody>
      </p:sp>
      <p:sp>
        <p:nvSpPr>
          <p:cNvPr id="8" name="Line 92"/>
          <p:cNvSpPr>
            <a:spLocks noChangeShapeType="1"/>
          </p:cNvSpPr>
          <p:nvPr/>
        </p:nvSpPr>
        <p:spPr bwMode="auto">
          <a:xfrm>
            <a:off x="3129287" y="1989120"/>
            <a:ext cx="6223" cy="48249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2" name="Text Box 93"/>
          <p:cNvSpPr txBox="1">
            <a:spLocks noChangeArrowheads="1"/>
          </p:cNvSpPr>
          <p:nvPr/>
        </p:nvSpPr>
        <p:spPr bwMode="auto">
          <a:xfrm>
            <a:off x="1771725" y="2248647"/>
            <a:ext cx="10310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域 </a:t>
            </a:r>
            <a:r>
              <a:rPr kumimoji="1" lang="en-US" altLang="zh-CN" sz="1200" b="1" dirty="0">
                <a:solidFill>
                  <a:schemeClr val="bg1"/>
                </a:solidFill>
                <a:latin typeface="微软雅黑" pitchFamily="34" charset="-122"/>
                <a:ea typeface="微软雅黑" pitchFamily="34" charset="-122"/>
              </a:rPr>
              <a:t>abc.com</a:t>
            </a:r>
          </a:p>
        </p:txBody>
      </p:sp>
      <p:sp>
        <p:nvSpPr>
          <p:cNvPr id="13" name="Freeform 94"/>
          <p:cNvSpPr>
            <a:spLocks/>
          </p:cNvSpPr>
          <p:nvPr/>
        </p:nvSpPr>
        <p:spPr bwMode="auto">
          <a:xfrm>
            <a:off x="1968773" y="2337586"/>
            <a:ext cx="2243246" cy="1384288"/>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Text Box 96"/>
          <p:cNvSpPr txBox="1">
            <a:spLocks noChangeArrowheads="1"/>
          </p:cNvSpPr>
          <p:nvPr/>
        </p:nvSpPr>
        <p:spPr bwMode="auto">
          <a:xfrm>
            <a:off x="1699665" y="2584575"/>
            <a:ext cx="830677" cy="350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1200" b="1" dirty="0">
                <a:solidFill>
                  <a:schemeClr val="bg1"/>
                </a:solidFill>
                <a:latin typeface="微软雅黑" pitchFamily="34" charset="-122"/>
                <a:ea typeface="微软雅黑" pitchFamily="34" charset="-122"/>
              </a:rPr>
              <a:t> 区</a:t>
            </a:r>
            <a:endParaRPr kumimoji="1" lang="zh-CN" altLang="en-US" sz="1200" b="1" dirty="0">
              <a:solidFill>
                <a:schemeClr val="bg1"/>
              </a:solidFill>
              <a:latin typeface="微软雅黑" pitchFamily="34" charset="-122"/>
              <a:ea typeface="微软雅黑" pitchFamily="34" charset="-122"/>
            </a:endParaRPr>
          </a:p>
          <a:p>
            <a:pPr algn="ctr" eaLnBrk="1" hangingPunct="1">
              <a:lnSpc>
                <a:spcPct val="70000"/>
              </a:lnSpc>
            </a:pPr>
            <a:r>
              <a:rPr kumimoji="1" lang="en-US" altLang="zh-CN" sz="1200" b="1" dirty="0">
                <a:solidFill>
                  <a:schemeClr val="bg1"/>
                </a:solidFill>
                <a:latin typeface="微软雅黑" pitchFamily="34" charset="-122"/>
                <a:ea typeface="微软雅黑" pitchFamily="34" charset="-122"/>
              </a:rPr>
              <a:t>abc.com</a:t>
            </a:r>
          </a:p>
        </p:txBody>
      </p:sp>
      <p:sp>
        <p:nvSpPr>
          <p:cNvPr id="16" name="Freeform 97"/>
          <p:cNvSpPr>
            <a:spLocks/>
          </p:cNvSpPr>
          <p:nvPr/>
        </p:nvSpPr>
        <p:spPr bwMode="auto">
          <a:xfrm>
            <a:off x="2099448" y="2900491"/>
            <a:ext cx="86079" cy="351337"/>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12700">
            <a:solidFill>
              <a:srgbClr val="FFFF00"/>
            </a:solidFill>
            <a:round/>
            <a:headE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Line 98"/>
          <p:cNvSpPr>
            <a:spLocks noChangeShapeType="1"/>
          </p:cNvSpPr>
          <p:nvPr/>
        </p:nvSpPr>
        <p:spPr bwMode="auto">
          <a:xfrm flipH="1">
            <a:off x="2837863" y="2574044"/>
            <a:ext cx="235422" cy="3992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Line 99"/>
          <p:cNvSpPr>
            <a:spLocks noChangeShapeType="1"/>
          </p:cNvSpPr>
          <p:nvPr/>
        </p:nvSpPr>
        <p:spPr bwMode="auto">
          <a:xfrm>
            <a:off x="3203958" y="2592234"/>
            <a:ext cx="308018" cy="372398"/>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00"/>
          <p:cNvSpPr>
            <a:spLocks noChangeShapeType="1"/>
          </p:cNvSpPr>
          <p:nvPr/>
        </p:nvSpPr>
        <p:spPr bwMode="auto">
          <a:xfrm>
            <a:off x="3564869" y="3039303"/>
            <a:ext cx="329798" cy="477704"/>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01"/>
          <p:cNvSpPr>
            <a:spLocks noChangeShapeType="1"/>
          </p:cNvSpPr>
          <p:nvPr/>
        </p:nvSpPr>
        <p:spPr bwMode="auto">
          <a:xfrm>
            <a:off x="2853419" y="3050790"/>
            <a:ext cx="402394" cy="425051"/>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102"/>
          <p:cNvSpPr>
            <a:spLocks noChangeShapeType="1"/>
          </p:cNvSpPr>
          <p:nvPr/>
        </p:nvSpPr>
        <p:spPr bwMode="auto">
          <a:xfrm flipH="1">
            <a:off x="2783933" y="3057492"/>
            <a:ext cx="11408" cy="363782"/>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103"/>
          <p:cNvSpPr>
            <a:spLocks noChangeShapeType="1"/>
          </p:cNvSpPr>
          <p:nvPr/>
        </p:nvSpPr>
        <p:spPr bwMode="auto">
          <a:xfrm flipH="1">
            <a:off x="2292348" y="3008668"/>
            <a:ext cx="488474" cy="467173"/>
          </a:xfrm>
          <a:prstGeom prst="line">
            <a:avLst/>
          </a:prstGeom>
          <a:noFill/>
          <a:ln w="12700">
            <a:solidFill>
              <a:srgbClr val="7030A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Oval 104"/>
          <p:cNvSpPr>
            <a:spLocks noChangeArrowheads="1"/>
          </p:cNvSpPr>
          <p:nvPr/>
        </p:nvSpPr>
        <p:spPr bwMode="auto">
          <a:xfrm>
            <a:off x="2908385" y="2438104"/>
            <a:ext cx="424174" cy="23167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abc</a:t>
            </a:r>
          </a:p>
        </p:txBody>
      </p:sp>
      <p:sp>
        <p:nvSpPr>
          <p:cNvPr id="24" name="Oval 105"/>
          <p:cNvSpPr>
            <a:spLocks noChangeArrowheads="1"/>
          </p:cNvSpPr>
          <p:nvPr/>
        </p:nvSpPr>
        <p:spPr bwMode="auto">
          <a:xfrm>
            <a:off x="2620071" y="2915808"/>
            <a:ext cx="372319"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x</a:t>
            </a:r>
          </a:p>
        </p:txBody>
      </p:sp>
      <p:sp>
        <p:nvSpPr>
          <p:cNvPr id="25" name="Oval 106"/>
          <p:cNvSpPr>
            <a:spLocks noChangeArrowheads="1"/>
          </p:cNvSpPr>
          <p:nvPr/>
        </p:nvSpPr>
        <p:spPr bwMode="auto">
          <a:xfrm>
            <a:off x="2090114" y="3424146"/>
            <a:ext cx="372318"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u</a:t>
            </a:r>
          </a:p>
        </p:txBody>
      </p:sp>
      <p:sp>
        <p:nvSpPr>
          <p:cNvPr id="26" name="Oval 107"/>
          <p:cNvSpPr>
            <a:spLocks noChangeArrowheads="1"/>
          </p:cNvSpPr>
          <p:nvPr/>
        </p:nvSpPr>
        <p:spPr bwMode="auto">
          <a:xfrm>
            <a:off x="2584810"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v</a:t>
            </a:r>
          </a:p>
        </p:txBody>
      </p:sp>
      <p:sp>
        <p:nvSpPr>
          <p:cNvPr id="27" name="Oval 108"/>
          <p:cNvSpPr>
            <a:spLocks noChangeArrowheads="1"/>
          </p:cNvSpPr>
          <p:nvPr/>
        </p:nvSpPr>
        <p:spPr bwMode="auto">
          <a:xfrm>
            <a:off x="3080544"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w</a:t>
            </a:r>
          </a:p>
        </p:txBody>
      </p:sp>
      <p:sp>
        <p:nvSpPr>
          <p:cNvPr id="28" name="Oval 109"/>
          <p:cNvSpPr>
            <a:spLocks noChangeArrowheads="1"/>
          </p:cNvSpPr>
          <p:nvPr/>
        </p:nvSpPr>
        <p:spPr bwMode="auto">
          <a:xfrm>
            <a:off x="3682061" y="3424146"/>
            <a:ext cx="372319" cy="185720"/>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t</a:t>
            </a:r>
          </a:p>
        </p:txBody>
      </p:sp>
      <p:sp>
        <p:nvSpPr>
          <p:cNvPr id="29" name="Oval 110"/>
          <p:cNvSpPr>
            <a:spLocks noChangeArrowheads="1"/>
          </p:cNvSpPr>
          <p:nvPr/>
        </p:nvSpPr>
        <p:spPr bwMode="auto">
          <a:xfrm>
            <a:off x="3363672" y="2915808"/>
            <a:ext cx="372318" cy="1847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y</a:t>
            </a:r>
          </a:p>
        </p:txBody>
      </p:sp>
      <p:sp>
        <p:nvSpPr>
          <p:cNvPr id="30" name="Text Box 111"/>
          <p:cNvSpPr txBox="1">
            <a:spLocks noChangeArrowheads="1"/>
          </p:cNvSpPr>
          <p:nvPr/>
        </p:nvSpPr>
        <p:spPr bwMode="auto">
          <a:xfrm>
            <a:off x="2584029" y="3868344"/>
            <a:ext cx="1083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(a) </a:t>
            </a:r>
            <a:r>
              <a:rPr kumimoji="1" lang="zh-CN" altLang="en-US" sz="1400" b="1" dirty="0">
                <a:latin typeface="微软雅黑" pitchFamily="34" charset="-122"/>
                <a:ea typeface="微软雅黑" pitchFamily="34" charset="-122"/>
              </a:rPr>
              <a:t>区 </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域</a:t>
            </a:r>
          </a:p>
        </p:txBody>
      </p:sp>
      <p:sp>
        <p:nvSpPr>
          <p:cNvPr id="75" name="AutoShape 152"/>
          <p:cNvSpPr>
            <a:spLocks noChangeArrowheads="1"/>
          </p:cNvSpPr>
          <p:nvPr/>
        </p:nvSpPr>
        <p:spPr bwMode="auto">
          <a:xfrm>
            <a:off x="2858604" y="1720113"/>
            <a:ext cx="542403" cy="290069"/>
          </a:xfrm>
          <a:prstGeom prst="roundRect">
            <a:avLst>
              <a:gd name="adj" fmla="val 34167"/>
            </a:avLst>
          </a:prstGeom>
          <a:solidFill>
            <a:srgbClr val="66FF66"/>
          </a:solidFill>
          <a:ln>
            <a:noFill/>
          </a:ln>
          <a:effectLst/>
        </p:spPr>
        <p:txBody>
          <a:bodyPr wrap="none" anchor="ctr"/>
          <a:lstStyle/>
          <a:p>
            <a:pPr algn="ctr" eaLnBrk="1" hangingPunct="1"/>
            <a:r>
              <a:rPr kumimoji="1" lang="en-US" altLang="zh-CN" sz="1200" b="1">
                <a:latin typeface="微软雅黑" pitchFamily="34" charset="-122"/>
                <a:ea typeface="微软雅黑" pitchFamily="34" charset="-122"/>
              </a:rPr>
              <a:t>com</a:t>
            </a:r>
          </a:p>
        </p:txBody>
      </p:sp>
      <p:sp>
        <p:nvSpPr>
          <p:cNvPr id="76" name="AutoShape 153"/>
          <p:cNvSpPr>
            <a:spLocks noChangeArrowheads="1"/>
          </p:cNvSpPr>
          <p:nvPr/>
        </p:nvSpPr>
        <p:spPr bwMode="auto">
          <a:xfrm>
            <a:off x="3737028" y="1713411"/>
            <a:ext cx="541366" cy="291026"/>
          </a:xfrm>
          <a:prstGeom prst="roundRect">
            <a:avLst>
              <a:gd name="adj" fmla="val 34167"/>
            </a:avLst>
          </a:prstGeom>
          <a:solidFill>
            <a:srgbClr val="00B0F0"/>
          </a:solidFill>
          <a:ln>
            <a:noFill/>
          </a:ln>
          <a:effectLst/>
        </p:spPr>
        <p:txBody>
          <a:bodyPr wrap="none" anchor="ctr"/>
          <a:lstStyle/>
          <a:p>
            <a:pPr algn="ctr" eaLnBrk="1" hangingPunct="1"/>
            <a:r>
              <a:rPr kumimoji="1" lang="en-US" altLang="zh-CN" sz="1200" b="1">
                <a:latin typeface="微软雅黑" pitchFamily="34" charset="-122"/>
                <a:ea typeface="微软雅黑" pitchFamily="34" charset="-122"/>
              </a:rPr>
              <a:t>edu</a:t>
            </a:r>
          </a:p>
        </p:txBody>
      </p:sp>
      <p:sp>
        <p:nvSpPr>
          <p:cNvPr id="77" name="AutoShape 154"/>
          <p:cNvSpPr>
            <a:spLocks noChangeArrowheads="1"/>
          </p:cNvSpPr>
          <p:nvPr/>
        </p:nvSpPr>
        <p:spPr bwMode="auto">
          <a:xfrm>
            <a:off x="1984330" y="1713411"/>
            <a:ext cx="542403" cy="291026"/>
          </a:xfrm>
          <a:prstGeom prst="roundRect">
            <a:avLst>
              <a:gd name="adj" fmla="val 34167"/>
            </a:avLst>
          </a:prstGeom>
          <a:solidFill>
            <a:srgbClr val="00FFCC"/>
          </a:solidFill>
          <a:ln>
            <a:noFill/>
          </a:ln>
          <a:effectLst/>
        </p:spPr>
        <p:txBody>
          <a:bodyPr wrap="none" anchor="ctr"/>
          <a:lstStyle/>
          <a:p>
            <a:pPr algn="ctr" eaLnBrk="1" hangingPunct="1"/>
            <a:r>
              <a:rPr kumimoji="1" lang="en-US" altLang="zh-CN" sz="1200" b="1">
                <a:latin typeface="微软雅黑" pitchFamily="34" charset="-122"/>
                <a:ea typeface="微软雅黑" pitchFamily="34" charset="-122"/>
              </a:rPr>
              <a:t>org</a:t>
            </a:r>
          </a:p>
        </p:txBody>
      </p:sp>
      <p:grpSp>
        <p:nvGrpSpPr>
          <p:cNvPr id="78" name="Group 155"/>
          <p:cNvGrpSpPr>
            <a:grpSpLocks/>
          </p:cNvGrpSpPr>
          <p:nvPr/>
        </p:nvGrpSpPr>
        <p:grpSpPr bwMode="auto">
          <a:xfrm>
            <a:off x="3874961" y="2005395"/>
            <a:ext cx="265498" cy="93818"/>
            <a:chOff x="2875" y="1143"/>
            <a:chExt cx="330" cy="132"/>
          </a:xfrm>
        </p:grpSpPr>
        <p:sp>
          <p:nvSpPr>
            <p:cNvPr id="79" name="Line 156"/>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0" name="Line 157"/>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1" name="Line 158"/>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2" name="Line 159"/>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grpSp>
        <p:nvGrpSpPr>
          <p:cNvPr id="83" name="Group 160"/>
          <p:cNvGrpSpPr>
            <a:grpSpLocks/>
          </p:cNvGrpSpPr>
          <p:nvPr/>
        </p:nvGrpSpPr>
        <p:grpSpPr bwMode="auto">
          <a:xfrm>
            <a:off x="2123301" y="2005395"/>
            <a:ext cx="265498" cy="93818"/>
            <a:chOff x="2875" y="1143"/>
            <a:chExt cx="330" cy="132"/>
          </a:xfrm>
        </p:grpSpPr>
        <p:sp>
          <p:nvSpPr>
            <p:cNvPr id="84" name="Line 161"/>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5" name="Line 162"/>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6" name="Line 163"/>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7" name="Line 164"/>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88" name="AutoShape 165"/>
          <p:cNvSpPr>
            <a:spLocks noChangeArrowheads="1"/>
          </p:cNvSpPr>
          <p:nvPr/>
        </p:nvSpPr>
        <p:spPr bwMode="auto">
          <a:xfrm>
            <a:off x="2845123" y="1219433"/>
            <a:ext cx="541366" cy="291026"/>
          </a:xfrm>
          <a:prstGeom prst="roundRect">
            <a:avLst>
              <a:gd name="adj" fmla="val 34167"/>
            </a:avLst>
          </a:prstGeom>
          <a:solidFill>
            <a:srgbClr val="FF66FF"/>
          </a:solidFill>
          <a:ln>
            <a:noFill/>
          </a:ln>
          <a:effectLst/>
        </p:spPr>
        <p:txBody>
          <a:bodyPr wrap="none" anchor="ctr"/>
          <a:lstStyle/>
          <a:p>
            <a:pPr algn="ctr" eaLnBrk="1" hangingPunct="1"/>
            <a:r>
              <a:rPr kumimoji="1" lang="zh-CN" altLang="en-US" sz="1200" b="1">
                <a:latin typeface="微软雅黑" pitchFamily="34" charset="-122"/>
                <a:ea typeface="微软雅黑" pitchFamily="34" charset="-122"/>
              </a:rPr>
              <a:t>根</a:t>
            </a:r>
          </a:p>
        </p:txBody>
      </p:sp>
      <p:sp>
        <p:nvSpPr>
          <p:cNvPr id="89" name="Line 166"/>
          <p:cNvSpPr>
            <a:spLocks noChangeShapeType="1"/>
          </p:cNvSpPr>
          <p:nvPr/>
        </p:nvSpPr>
        <p:spPr bwMode="auto">
          <a:xfrm>
            <a:off x="3183216" y="1507587"/>
            <a:ext cx="821382"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0" name="Line 167"/>
          <p:cNvSpPr>
            <a:spLocks noChangeShapeType="1"/>
          </p:cNvSpPr>
          <p:nvPr/>
        </p:nvSpPr>
        <p:spPr bwMode="auto">
          <a:xfrm flipV="1">
            <a:off x="2256049" y="1507587"/>
            <a:ext cx="80790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1" name="Line 168"/>
          <p:cNvSpPr>
            <a:spLocks noChangeShapeType="1"/>
          </p:cNvSpPr>
          <p:nvPr/>
        </p:nvSpPr>
        <p:spPr bwMode="auto">
          <a:xfrm>
            <a:off x="3127213" y="1507587"/>
            <a:ext cx="0" cy="2039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92" name="Group 169"/>
          <p:cNvGrpSpPr>
            <a:grpSpLocks/>
          </p:cNvGrpSpPr>
          <p:nvPr/>
        </p:nvGrpSpPr>
        <p:grpSpPr bwMode="auto">
          <a:xfrm>
            <a:off x="2993427" y="2005395"/>
            <a:ext cx="265498" cy="93818"/>
            <a:chOff x="1519" y="813"/>
            <a:chExt cx="227" cy="77"/>
          </a:xfrm>
        </p:grpSpPr>
        <p:sp>
          <p:nvSpPr>
            <p:cNvPr id="93" name="Line 170"/>
            <p:cNvSpPr>
              <a:spLocks noChangeShapeType="1"/>
            </p:cNvSpPr>
            <p:nvPr/>
          </p:nvSpPr>
          <p:spPr bwMode="auto">
            <a:xfrm>
              <a:off x="1647"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4" name="Line 171"/>
            <p:cNvSpPr>
              <a:spLocks noChangeShapeType="1"/>
            </p:cNvSpPr>
            <p:nvPr/>
          </p:nvSpPr>
          <p:spPr bwMode="auto">
            <a:xfrm flipH="1">
              <a:off x="1519" y="813"/>
              <a:ext cx="99" cy="7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Tree>
    <p:extLst>
      <p:ext uri="{BB962C8B-B14F-4D97-AF65-F5344CB8AC3E}">
        <p14:creationId xmlns:p14="http://schemas.microsoft.com/office/powerpoint/2010/main" val="859087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up)">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圆角矩形 188"/>
          <p:cNvSpPr/>
          <p:nvPr/>
        </p:nvSpPr>
        <p:spPr>
          <a:xfrm>
            <a:off x="556963" y="1003805"/>
            <a:ext cx="8048776" cy="30799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6" name="Rectangle 6"/>
          <p:cNvSpPr>
            <a:spLocks noChangeArrowheads="1"/>
          </p:cNvSpPr>
          <p:nvPr/>
        </p:nvSpPr>
        <p:spPr bwMode="auto">
          <a:xfrm>
            <a:off x="2803462" y="582898"/>
            <a:ext cx="35557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树状结构的 </a:t>
            </a:r>
            <a:r>
              <a:rPr lang="en-US" altLang="zh-CN" sz="2000" b="1" dirty="0">
                <a:solidFill>
                  <a:schemeClr val="bg1"/>
                </a:solidFill>
                <a:latin typeface="微软雅黑" pitchFamily="34" charset="-122"/>
                <a:ea typeface="微软雅黑" pitchFamily="34" charset="-122"/>
              </a:rPr>
              <a:t>DNS </a:t>
            </a:r>
            <a:r>
              <a:rPr lang="zh-CN" altLang="en-US" sz="2000" b="1" dirty="0">
                <a:solidFill>
                  <a:schemeClr val="bg1"/>
                </a:solidFill>
                <a:latin typeface="微软雅黑" pitchFamily="34" charset="-122"/>
                <a:ea typeface="微软雅黑" pitchFamily="34" charset="-122"/>
              </a:rPr>
              <a:t>域名服务器</a:t>
            </a:r>
          </a:p>
        </p:txBody>
      </p:sp>
      <p:grpSp>
        <p:nvGrpSpPr>
          <p:cNvPr id="2" name="组合 1"/>
          <p:cNvGrpSpPr/>
          <p:nvPr/>
        </p:nvGrpSpPr>
        <p:grpSpPr>
          <a:xfrm>
            <a:off x="1124956" y="1129683"/>
            <a:ext cx="6831277" cy="2755833"/>
            <a:chOff x="128464" y="1556792"/>
            <a:chExt cx="9873325" cy="3983038"/>
          </a:xfrm>
        </p:grpSpPr>
        <p:sp>
          <p:nvSpPr>
            <p:cNvPr id="276" name="AutoShape 31"/>
            <p:cNvSpPr>
              <a:spLocks noChangeArrowheads="1"/>
            </p:cNvSpPr>
            <p:nvPr/>
          </p:nvSpPr>
          <p:spPr bwMode="auto">
            <a:xfrm>
              <a:off x="4154498" y="3455442"/>
              <a:ext cx="2858294" cy="2084388"/>
            </a:xfrm>
            <a:prstGeom prst="roundRect">
              <a:avLst>
                <a:gd name="adj" fmla="val 16667"/>
              </a:avLst>
            </a:prstGeom>
            <a:solidFill>
              <a:srgbClr val="00FFCC"/>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277" name="Group 5"/>
            <p:cNvGrpSpPr>
              <a:grpSpLocks/>
            </p:cNvGrpSpPr>
            <p:nvPr/>
          </p:nvGrpSpPr>
          <p:grpSpPr bwMode="auto">
            <a:xfrm>
              <a:off x="3540531" y="2136615"/>
              <a:ext cx="4677833" cy="415541"/>
              <a:chOff x="2294" y="553"/>
              <a:chExt cx="2450" cy="337"/>
            </a:xfrm>
          </p:grpSpPr>
          <p:sp>
            <p:nvSpPr>
              <p:cNvPr id="278" name="Line 6"/>
              <p:cNvSpPr>
                <a:spLocks noChangeShapeType="1"/>
              </p:cNvSpPr>
              <p:nvPr/>
            </p:nvSpPr>
            <p:spPr bwMode="auto">
              <a:xfrm flipV="1">
                <a:off x="2294" y="553"/>
                <a:ext cx="1074"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9" name="Line 7"/>
              <p:cNvSpPr>
                <a:spLocks noChangeShapeType="1"/>
              </p:cNvSpPr>
              <p:nvPr/>
            </p:nvSpPr>
            <p:spPr bwMode="auto">
              <a:xfrm>
                <a:off x="3474" y="553"/>
                <a:ext cx="0"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0" name="Line 8"/>
              <p:cNvSpPr>
                <a:spLocks noChangeShapeType="1"/>
              </p:cNvSpPr>
              <p:nvPr/>
            </p:nvSpPr>
            <p:spPr bwMode="auto">
              <a:xfrm flipH="1" flipV="1">
                <a:off x="3595" y="553"/>
                <a:ext cx="1149" cy="3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81" name="Rectangle 9"/>
            <p:cNvSpPr>
              <a:spLocks noChangeArrowheads="1"/>
            </p:cNvSpPr>
            <p:nvPr/>
          </p:nvSpPr>
          <p:spPr bwMode="auto">
            <a:xfrm>
              <a:off x="4847573" y="1639342"/>
              <a:ext cx="1905529" cy="496888"/>
            </a:xfrm>
            <a:prstGeom prst="rect">
              <a:avLst/>
            </a:prstGeom>
            <a:solidFill>
              <a:srgbClr val="CC00CC"/>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根域名服务器</a:t>
              </a:r>
            </a:p>
          </p:txBody>
        </p:sp>
        <p:sp>
          <p:nvSpPr>
            <p:cNvPr id="282" name="Rectangle 10"/>
            <p:cNvSpPr>
              <a:spLocks noChangeArrowheads="1"/>
            </p:cNvSpPr>
            <p:nvPr/>
          </p:nvSpPr>
          <p:spPr bwMode="auto">
            <a:xfrm>
              <a:off x="2413379" y="2552157"/>
              <a:ext cx="2096082" cy="496887"/>
            </a:xfrm>
            <a:prstGeom prst="rect">
              <a:avLst/>
            </a:prstGeom>
            <a:solidFill>
              <a:srgbClr val="008000"/>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a:solidFill>
                    <a:schemeClr val="bg1"/>
                  </a:solidFill>
                  <a:latin typeface="微软雅黑" pitchFamily="34" charset="-122"/>
                  <a:ea typeface="微软雅黑" pitchFamily="34" charset="-122"/>
                </a:rPr>
                <a:t>org </a:t>
              </a:r>
              <a:r>
                <a:rPr kumimoji="1" lang="zh-CN" altLang="en-US" sz="1400" b="1">
                  <a:solidFill>
                    <a:schemeClr val="bg1"/>
                  </a:solidFill>
                  <a:latin typeface="微软雅黑" pitchFamily="34" charset="-122"/>
                  <a:ea typeface="微软雅黑" pitchFamily="34" charset="-122"/>
                </a:rPr>
                <a:t>域名服务器</a:t>
              </a:r>
            </a:p>
          </p:txBody>
        </p:sp>
        <p:sp>
          <p:nvSpPr>
            <p:cNvPr id="283" name="Rectangle 11"/>
            <p:cNvSpPr>
              <a:spLocks noChangeArrowheads="1"/>
            </p:cNvSpPr>
            <p:nvPr/>
          </p:nvSpPr>
          <p:spPr bwMode="auto">
            <a:xfrm>
              <a:off x="4752297" y="2552157"/>
              <a:ext cx="2096082" cy="496887"/>
            </a:xfrm>
            <a:prstGeom prst="rect">
              <a:avLst/>
            </a:prstGeom>
            <a:solidFill>
              <a:srgbClr val="0000FF"/>
            </a:solidFill>
            <a:ln>
              <a:noFill/>
            </a:ln>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com </a:t>
              </a:r>
              <a:r>
                <a:rPr kumimoji="1" lang="zh-CN" altLang="en-US" sz="1400" b="1" dirty="0">
                  <a:solidFill>
                    <a:schemeClr val="bg1"/>
                  </a:solidFill>
                  <a:latin typeface="微软雅黑" pitchFamily="34" charset="-122"/>
                  <a:ea typeface="微软雅黑" pitchFamily="34" charset="-122"/>
                </a:rPr>
                <a:t>域名服务器</a:t>
              </a:r>
            </a:p>
          </p:txBody>
        </p:sp>
        <p:sp>
          <p:nvSpPr>
            <p:cNvPr id="284" name="Rectangle 12"/>
            <p:cNvSpPr>
              <a:spLocks noChangeArrowheads="1"/>
            </p:cNvSpPr>
            <p:nvPr/>
          </p:nvSpPr>
          <p:spPr bwMode="auto">
            <a:xfrm>
              <a:off x="7092934" y="2552157"/>
              <a:ext cx="2096082" cy="496887"/>
            </a:xfrm>
            <a:prstGeom prst="rect">
              <a:avLst/>
            </a:prstGeom>
            <a:solidFill>
              <a:srgbClr val="7030A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err="1">
                  <a:solidFill>
                    <a:schemeClr val="bg1"/>
                  </a:solidFill>
                  <a:latin typeface="微软雅黑" pitchFamily="34" charset="-122"/>
                  <a:ea typeface="微软雅黑" pitchFamily="34" charset="-122"/>
                </a:rPr>
                <a:t>edu</a:t>
              </a:r>
              <a:r>
                <a:rPr kumimoji="1" lang="en-US" altLang="zh-CN" sz="1400" b="1" dirty="0">
                  <a:solidFill>
                    <a:schemeClr val="bg1"/>
                  </a:solidFill>
                  <a:latin typeface="微软雅黑" pitchFamily="34" charset="-122"/>
                  <a:ea typeface="微软雅黑" pitchFamily="34" charset="-122"/>
                </a:rPr>
                <a:t> </a:t>
              </a:r>
              <a:r>
                <a:rPr kumimoji="1" lang="zh-CN" altLang="en-US" sz="1400" b="1" dirty="0">
                  <a:solidFill>
                    <a:schemeClr val="bg1"/>
                  </a:solidFill>
                  <a:latin typeface="微软雅黑" pitchFamily="34" charset="-122"/>
                  <a:ea typeface="微软雅黑" pitchFamily="34" charset="-122"/>
                </a:rPr>
                <a:t>域名服务器</a:t>
              </a:r>
            </a:p>
          </p:txBody>
        </p:sp>
        <p:grpSp>
          <p:nvGrpSpPr>
            <p:cNvPr id="285" name="Group 13"/>
            <p:cNvGrpSpPr>
              <a:grpSpLocks/>
            </p:cNvGrpSpPr>
            <p:nvPr/>
          </p:nvGrpSpPr>
          <p:grpSpPr bwMode="auto">
            <a:xfrm>
              <a:off x="7704147" y="3049042"/>
              <a:ext cx="866775" cy="249238"/>
              <a:chOff x="2875" y="1143"/>
              <a:chExt cx="330" cy="132"/>
            </a:xfrm>
          </p:grpSpPr>
          <p:sp>
            <p:nvSpPr>
              <p:cNvPr id="286" name="Line 14"/>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7" name="Line 15"/>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8" name="Line 16"/>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9" name="Line 17"/>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0" name="Text Box 18"/>
            <p:cNvSpPr txBox="1">
              <a:spLocks noChangeArrowheads="1"/>
            </p:cNvSpPr>
            <p:nvPr/>
          </p:nvSpPr>
          <p:spPr bwMode="auto">
            <a:xfrm>
              <a:off x="9263996" y="2533411"/>
              <a:ext cx="480049" cy="4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latin typeface="微软雅黑" pitchFamily="34" charset="-122"/>
                  <a:ea typeface="微软雅黑" pitchFamily="34" charset="-122"/>
                </a:rPr>
                <a:t>…</a:t>
              </a:r>
            </a:p>
          </p:txBody>
        </p:sp>
        <p:grpSp>
          <p:nvGrpSpPr>
            <p:cNvPr id="291" name="Group 19"/>
            <p:cNvGrpSpPr>
              <a:grpSpLocks/>
            </p:cNvGrpSpPr>
            <p:nvPr/>
          </p:nvGrpSpPr>
          <p:grpSpPr bwMode="auto">
            <a:xfrm>
              <a:off x="3028033" y="3049042"/>
              <a:ext cx="866775" cy="249238"/>
              <a:chOff x="2875" y="1143"/>
              <a:chExt cx="330" cy="132"/>
            </a:xfrm>
          </p:grpSpPr>
          <p:sp>
            <p:nvSpPr>
              <p:cNvPr id="292" name="Line 20"/>
              <p:cNvSpPr>
                <a:spLocks noChangeShapeType="1"/>
              </p:cNvSpPr>
              <p:nvPr/>
            </p:nvSpPr>
            <p:spPr bwMode="auto">
              <a:xfrm>
                <a:off x="3061"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3" name="Line 21"/>
              <p:cNvSpPr>
                <a:spLocks noChangeShapeType="1"/>
              </p:cNvSpPr>
              <p:nvPr/>
            </p:nvSpPr>
            <p:spPr bwMode="auto">
              <a:xfrm>
                <a:off x="3050" y="1143"/>
                <a:ext cx="37"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4" name="Line 22"/>
              <p:cNvSpPr>
                <a:spLocks noChangeShapeType="1"/>
              </p:cNvSpPr>
              <p:nvPr/>
            </p:nvSpPr>
            <p:spPr bwMode="auto">
              <a:xfrm flipH="1">
                <a:off x="2875" y="1143"/>
                <a:ext cx="144" cy="13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5" name="Line 23"/>
              <p:cNvSpPr>
                <a:spLocks noChangeShapeType="1"/>
              </p:cNvSpPr>
              <p:nvPr/>
            </p:nvSpPr>
            <p:spPr bwMode="auto">
              <a:xfrm flipH="1">
                <a:off x="2980" y="1143"/>
                <a:ext cx="54" cy="12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6" name="Line 24"/>
            <p:cNvSpPr>
              <a:spLocks noChangeShapeType="1"/>
            </p:cNvSpPr>
            <p:nvPr/>
          </p:nvSpPr>
          <p:spPr bwMode="auto">
            <a:xfrm>
              <a:off x="5943081" y="3049042"/>
              <a:ext cx="37663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7" name="Line 25"/>
            <p:cNvSpPr>
              <a:spLocks noChangeShapeType="1"/>
            </p:cNvSpPr>
            <p:nvPr/>
          </p:nvSpPr>
          <p:spPr bwMode="auto">
            <a:xfrm>
              <a:off x="5913843" y="3049043"/>
              <a:ext cx="98029" cy="244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8" name="Line 26"/>
            <p:cNvSpPr>
              <a:spLocks noChangeShapeType="1"/>
            </p:cNvSpPr>
            <p:nvPr/>
          </p:nvSpPr>
          <p:spPr bwMode="auto">
            <a:xfrm flipH="1">
              <a:off x="5452940" y="3049042"/>
              <a:ext cx="378354" cy="249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9" name="Line 27"/>
            <p:cNvSpPr>
              <a:spLocks noChangeShapeType="1"/>
            </p:cNvSpPr>
            <p:nvPr/>
          </p:nvSpPr>
          <p:spPr bwMode="auto">
            <a:xfrm flipH="1">
              <a:off x="5590523" y="3049042"/>
              <a:ext cx="282046" cy="6683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1" name="Line 30"/>
            <p:cNvSpPr>
              <a:spLocks noChangeShapeType="1"/>
            </p:cNvSpPr>
            <p:nvPr/>
          </p:nvSpPr>
          <p:spPr bwMode="auto">
            <a:xfrm>
              <a:off x="5538929" y="4211093"/>
              <a:ext cx="0" cy="4984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2" name="Line 32"/>
            <p:cNvSpPr>
              <a:spLocks noChangeShapeType="1"/>
            </p:cNvSpPr>
            <p:nvPr/>
          </p:nvSpPr>
          <p:spPr bwMode="auto">
            <a:xfrm flipH="1" flipV="1">
              <a:off x="6557046" y="3918993"/>
              <a:ext cx="1394752" cy="180975"/>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3" name="Text Box 33"/>
            <p:cNvSpPr txBox="1">
              <a:spLocks noChangeArrowheads="1"/>
            </p:cNvSpPr>
            <p:nvPr/>
          </p:nvSpPr>
          <p:spPr bwMode="auto">
            <a:xfrm>
              <a:off x="7849639" y="3831681"/>
              <a:ext cx="2099521" cy="756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abc</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公司有两个</a:t>
              </a:r>
            </a:p>
            <a:p>
              <a:pPr algn="ctr" eaLnBrk="1" hangingPunct="1"/>
              <a:r>
                <a:rPr lang="zh-CN" altLang="en-US" sz="1400" b="1" dirty="0">
                  <a:solidFill>
                    <a:srgbClr val="0000FF"/>
                  </a:solidFill>
                  <a:latin typeface="微软雅黑" pitchFamily="34" charset="-122"/>
                  <a:ea typeface="微软雅黑" pitchFamily="34" charset="-122"/>
                </a:rPr>
                <a:t>权限域名服务器</a:t>
              </a:r>
            </a:p>
          </p:txBody>
        </p:sp>
        <p:grpSp>
          <p:nvGrpSpPr>
            <p:cNvPr id="304" name="Group 34"/>
            <p:cNvGrpSpPr>
              <a:grpSpLocks/>
            </p:cNvGrpSpPr>
            <p:nvPr/>
          </p:nvGrpSpPr>
          <p:grpSpPr bwMode="auto">
            <a:xfrm>
              <a:off x="128464" y="2385468"/>
              <a:ext cx="9873325" cy="830263"/>
              <a:chOff x="158" y="799"/>
              <a:chExt cx="5444" cy="454"/>
            </a:xfrm>
          </p:grpSpPr>
          <p:sp>
            <p:nvSpPr>
              <p:cNvPr id="305" name="Line 35"/>
              <p:cNvSpPr>
                <a:spLocks noChangeShapeType="1"/>
              </p:cNvSpPr>
              <p:nvPr/>
            </p:nvSpPr>
            <p:spPr bwMode="auto">
              <a:xfrm>
                <a:off x="158" y="799"/>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6" name="Line 36"/>
              <p:cNvSpPr>
                <a:spLocks noChangeShapeType="1"/>
              </p:cNvSpPr>
              <p:nvPr/>
            </p:nvSpPr>
            <p:spPr bwMode="auto">
              <a:xfrm>
                <a:off x="158" y="1253"/>
                <a:ext cx="5444" cy="0"/>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07" name="Text Box 37"/>
            <p:cNvSpPr txBox="1">
              <a:spLocks noChangeArrowheads="1"/>
            </p:cNvSpPr>
            <p:nvPr/>
          </p:nvSpPr>
          <p:spPr bwMode="auto">
            <a:xfrm>
              <a:off x="147065" y="406345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highlight>
                    <a:srgbClr val="FFFF00"/>
                  </a:highlight>
                  <a:latin typeface="微软雅黑" pitchFamily="34" charset="-122"/>
                  <a:ea typeface="微软雅黑" pitchFamily="34" charset="-122"/>
                </a:rPr>
                <a:t>权限域名服务器</a:t>
              </a:r>
            </a:p>
          </p:txBody>
        </p:sp>
        <p:sp>
          <p:nvSpPr>
            <p:cNvPr id="308" name="Text Box 38"/>
            <p:cNvSpPr txBox="1">
              <a:spLocks noChangeArrowheads="1"/>
            </p:cNvSpPr>
            <p:nvPr/>
          </p:nvSpPr>
          <p:spPr bwMode="auto">
            <a:xfrm>
              <a:off x="265628" y="1696493"/>
              <a:ext cx="1823817"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highlight>
                    <a:srgbClr val="FFFF00"/>
                  </a:highlight>
                  <a:latin typeface="微软雅黑" pitchFamily="34" charset="-122"/>
                  <a:ea typeface="微软雅黑" pitchFamily="34" charset="-122"/>
                </a:rPr>
                <a:t>根域名服务器</a:t>
              </a:r>
            </a:p>
          </p:txBody>
        </p:sp>
        <p:sp>
          <p:nvSpPr>
            <p:cNvPr id="309" name="Text Box 39"/>
            <p:cNvSpPr txBox="1">
              <a:spLocks noChangeArrowheads="1"/>
            </p:cNvSpPr>
            <p:nvPr/>
          </p:nvSpPr>
          <p:spPr bwMode="auto">
            <a:xfrm>
              <a:off x="146205" y="258390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highlight>
                    <a:srgbClr val="FFFF00"/>
                  </a:highlight>
                  <a:latin typeface="微软雅黑" pitchFamily="34" charset="-122"/>
                  <a:ea typeface="微软雅黑" pitchFamily="34" charset="-122"/>
                </a:rPr>
                <a:t>顶级域名服务器</a:t>
              </a:r>
            </a:p>
          </p:txBody>
        </p:sp>
        <p:sp>
          <p:nvSpPr>
            <p:cNvPr id="310" name="Line 40"/>
            <p:cNvSpPr>
              <a:spLocks noChangeShapeType="1"/>
            </p:cNvSpPr>
            <p:nvPr/>
          </p:nvSpPr>
          <p:spPr bwMode="auto">
            <a:xfrm>
              <a:off x="2242089" y="1556792"/>
              <a:ext cx="0" cy="39830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1" name="Line 41"/>
            <p:cNvSpPr>
              <a:spLocks noChangeShapeType="1"/>
            </p:cNvSpPr>
            <p:nvPr/>
          </p:nvSpPr>
          <p:spPr bwMode="auto">
            <a:xfrm flipH="1">
              <a:off x="6531250" y="4377780"/>
              <a:ext cx="1427427" cy="658812"/>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2" name="Rectangle 43"/>
            <p:cNvSpPr>
              <a:spLocks noChangeArrowheads="1"/>
            </p:cNvSpPr>
            <p:nvPr/>
          </p:nvSpPr>
          <p:spPr bwMode="auto">
            <a:xfrm>
              <a:off x="4575844" y="3683931"/>
              <a:ext cx="1907249" cy="73675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itchFamily="34" charset="-122"/>
                  <a:ea typeface="微软雅黑" pitchFamily="34" charset="-122"/>
                </a:rPr>
                <a:t>abc.com</a:t>
              </a:r>
            </a:p>
            <a:p>
              <a:pPr algn="ctr" eaLnBrk="1" hangingPunct="1"/>
              <a:r>
                <a:rPr lang="zh-CN" altLang="en-US" sz="1400" b="1" dirty="0">
                  <a:solidFill>
                    <a:srgbClr val="0000FF"/>
                  </a:solidFill>
                  <a:latin typeface="微软雅黑" pitchFamily="34" charset="-122"/>
                  <a:ea typeface="微软雅黑" pitchFamily="34" charset="-122"/>
                </a:rPr>
                <a:t>域名服务器</a:t>
              </a:r>
            </a:p>
          </p:txBody>
        </p:sp>
        <p:sp>
          <p:nvSpPr>
            <p:cNvPr id="300" name="Rectangle 29"/>
            <p:cNvSpPr>
              <a:spLocks noChangeArrowheads="1"/>
            </p:cNvSpPr>
            <p:nvPr/>
          </p:nvSpPr>
          <p:spPr bwMode="auto">
            <a:xfrm>
              <a:off x="4587885" y="4654449"/>
              <a:ext cx="1907248" cy="72378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itchFamily="34" charset="-122"/>
                  <a:ea typeface="微软雅黑" pitchFamily="34" charset="-122"/>
                </a:rPr>
                <a:t>y.abc.com</a:t>
              </a:r>
            </a:p>
            <a:p>
              <a:pPr algn="ctr" eaLnBrk="1" hangingPunct="1"/>
              <a:r>
                <a:rPr lang="zh-CN" altLang="en-US" sz="1400" b="1" dirty="0">
                  <a:solidFill>
                    <a:srgbClr val="0000FF"/>
                  </a:solidFill>
                  <a:latin typeface="微软雅黑" pitchFamily="34" charset="-122"/>
                  <a:ea typeface="微软雅黑" pitchFamily="34" charset="-122"/>
                </a:rPr>
                <a:t>域名服务器</a:t>
              </a:r>
            </a:p>
          </p:txBody>
        </p:sp>
      </p:grpSp>
      <p:sp>
        <p:nvSpPr>
          <p:cNvPr id="3" name="矩形 2"/>
          <p:cNvSpPr/>
          <p:nvPr/>
        </p:nvSpPr>
        <p:spPr>
          <a:xfrm>
            <a:off x="1811045" y="4095615"/>
            <a:ext cx="6145188" cy="369332"/>
          </a:xfrm>
          <a:prstGeom prst="rect">
            <a:avLst/>
          </a:prstGeom>
        </p:spPr>
        <p:txBody>
          <a:bodyPr wrap="square">
            <a:spAutoFit/>
          </a:bodyPr>
          <a:lstStyle/>
          <a:p>
            <a:pPr algn="ctr"/>
            <a:r>
              <a:rPr lang="zh-CN" altLang="en-US" b="1" dirty="0">
                <a:highlight>
                  <a:srgbClr val="FFFF00"/>
                </a:highlight>
                <a:latin typeface="微软雅黑" panose="020B0503020204020204" pitchFamily="34" charset="-122"/>
                <a:ea typeface="微软雅黑" panose="020B0503020204020204" pitchFamily="34" charset="-122"/>
              </a:rPr>
              <a:t>每个域名服务器都只对域名体系中的</a:t>
            </a:r>
            <a:r>
              <a:rPr lang="zh-CN" altLang="en-US" b="1" dirty="0">
                <a:solidFill>
                  <a:srgbClr val="C00000"/>
                </a:solidFill>
                <a:highlight>
                  <a:srgbClr val="FFFF00"/>
                </a:highlight>
                <a:latin typeface="微软雅黑" panose="020B0503020204020204" pitchFamily="34" charset="-122"/>
                <a:ea typeface="微软雅黑" panose="020B0503020204020204" pitchFamily="34" charset="-122"/>
              </a:rPr>
              <a:t>一部分</a:t>
            </a:r>
            <a:r>
              <a:rPr lang="zh-CN" altLang="en-US" b="1" dirty="0">
                <a:highlight>
                  <a:srgbClr val="FFFF00"/>
                </a:highlight>
                <a:latin typeface="微软雅黑" panose="020B0503020204020204" pitchFamily="34" charset="-122"/>
                <a:ea typeface="微软雅黑" panose="020B0503020204020204" pitchFamily="34" charset="-122"/>
              </a:rPr>
              <a:t>进行管辖</a:t>
            </a:r>
            <a:r>
              <a:rPr lang="zh-CN" altLang="en-US" b="1" dirty="0">
                <a:latin typeface="微软雅黑" panose="020B0503020204020204" pitchFamily="34" charset="-122"/>
                <a:ea typeface="微软雅黑" panose="020B0503020204020204" pitchFamily="34" charset="-122"/>
              </a:rPr>
              <a:t>。</a:t>
            </a:r>
          </a:p>
        </p:txBody>
      </p:sp>
    </p:spTree>
    <p:extLst>
      <p:ext uri="{BB962C8B-B14F-4D97-AF65-F5344CB8AC3E}">
        <p14:creationId xmlns:p14="http://schemas.microsoft.com/office/powerpoint/2010/main" val="35328171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AutoShape 5"/>
          <p:cNvSpPr>
            <a:spLocks noChangeArrowheads="1"/>
          </p:cNvSpPr>
          <p:nvPr/>
        </p:nvSpPr>
        <p:spPr bwMode="auto">
          <a:xfrm>
            <a:off x="556963" y="61208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591338" y="578871"/>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域名服务器类型</a:t>
            </a:r>
          </a:p>
        </p:txBody>
      </p:sp>
      <p:sp>
        <p:nvSpPr>
          <p:cNvPr id="43" name="Rectangle 68"/>
          <p:cNvSpPr>
            <a:spLocks noChangeArrowheads="1"/>
          </p:cNvSpPr>
          <p:nvPr/>
        </p:nvSpPr>
        <p:spPr bwMode="auto">
          <a:xfrm>
            <a:off x="556963" y="10574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根据所起的作用，分为四种类型：</a:t>
            </a:r>
            <a:endParaRPr lang="en-US" altLang="zh-CN" sz="2000" b="1" dirty="0">
              <a:latin typeface="微软雅黑" pitchFamily="34" charset="-122"/>
              <a:ea typeface="微软雅黑" pitchFamily="34" charset="-122"/>
            </a:endParaRPr>
          </a:p>
          <a:p>
            <a:pPr marL="266700" indent="-266700" eaLnBrk="0" hangingPunct="0">
              <a:lnSpc>
                <a:spcPts val="3300"/>
              </a:lnSpc>
              <a:buClr>
                <a:srgbClr val="9900CC"/>
              </a:buClr>
              <a:buSzPct val="90000"/>
              <a:buFont typeface="+mj-lt"/>
              <a:buAutoNum type="arabicPeriod"/>
            </a:pPr>
            <a:r>
              <a:rPr lang="zh-CN" altLang="en-US" sz="2000" b="1" dirty="0">
                <a:highlight>
                  <a:srgbClr val="FFFF00"/>
                </a:highlight>
                <a:latin typeface="微软雅黑" pitchFamily="34" charset="-122"/>
                <a:ea typeface="微软雅黑" pitchFamily="34" charset="-122"/>
              </a:rPr>
              <a:t>根域名服务器 </a:t>
            </a:r>
          </a:p>
          <a:p>
            <a:pPr marL="266700" indent="-266700" eaLnBrk="0" hangingPunct="0">
              <a:lnSpc>
                <a:spcPts val="3300"/>
              </a:lnSpc>
              <a:buClr>
                <a:srgbClr val="9900CC"/>
              </a:buClr>
              <a:buSzPct val="90000"/>
              <a:buFont typeface="+mj-lt"/>
              <a:buAutoNum type="arabicPeriod"/>
            </a:pPr>
            <a:r>
              <a:rPr lang="zh-CN" altLang="en-US" sz="2000" b="1" dirty="0">
                <a:highlight>
                  <a:srgbClr val="FFFF00"/>
                </a:highlight>
                <a:latin typeface="微软雅黑" pitchFamily="34" charset="-122"/>
                <a:ea typeface="微软雅黑" pitchFamily="34" charset="-122"/>
              </a:rPr>
              <a:t>顶级域名服务器 </a:t>
            </a:r>
          </a:p>
          <a:p>
            <a:pPr marL="266700" indent="-266700" eaLnBrk="0" hangingPunct="0">
              <a:lnSpc>
                <a:spcPts val="3300"/>
              </a:lnSpc>
              <a:buClr>
                <a:srgbClr val="9900CC"/>
              </a:buClr>
              <a:buSzPct val="90000"/>
              <a:buFont typeface="+mj-lt"/>
              <a:buAutoNum type="arabicPeriod"/>
            </a:pPr>
            <a:r>
              <a:rPr lang="zh-CN" altLang="en-US" sz="2000" b="1" dirty="0">
                <a:highlight>
                  <a:srgbClr val="FFFF00"/>
                </a:highlight>
                <a:latin typeface="微软雅黑" pitchFamily="34" charset="-122"/>
                <a:ea typeface="微软雅黑" pitchFamily="34" charset="-122"/>
              </a:rPr>
              <a:t>权限域名服务器 </a:t>
            </a:r>
          </a:p>
          <a:p>
            <a:pPr marL="266700" indent="-266700" eaLnBrk="0" hangingPunct="0">
              <a:lnSpc>
                <a:spcPts val="3300"/>
              </a:lnSpc>
              <a:buClr>
                <a:srgbClr val="9900CC"/>
              </a:buClr>
              <a:buSzPct val="90000"/>
              <a:buFont typeface="+mj-lt"/>
              <a:buAutoNum type="arabicPeriod"/>
            </a:pPr>
            <a:r>
              <a:rPr lang="zh-CN" altLang="en-US" sz="2000" b="1" dirty="0">
                <a:highlight>
                  <a:srgbClr val="FFFF00"/>
                </a:highlight>
                <a:latin typeface="微软雅黑" pitchFamily="34" charset="-122"/>
                <a:ea typeface="微软雅黑" pitchFamily="34" charset="-122"/>
              </a:rPr>
              <a:t>本地域名服务器 </a:t>
            </a:r>
          </a:p>
        </p:txBody>
      </p:sp>
    </p:spTree>
    <p:extLst>
      <p:ext uri="{BB962C8B-B14F-4D97-AF65-F5344CB8AC3E}">
        <p14:creationId xmlns:p14="http://schemas.microsoft.com/office/powerpoint/2010/main" val="11682525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076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64888" y="577549"/>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根域名服务器</a:t>
            </a:r>
          </a:p>
        </p:txBody>
      </p:sp>
      <p:sp>
        <p:nvSpPr>
          <p:cNvPr id="7" name="Rectangle 68"/>
          <p:cNvSpPr>
            <a:spLocks noChangeArrowheads="1"/>
          </p:cNvSpPr>
          <p:nvPr/>
        </p:nvSpPr>
        <p:spPr bwMode="auto">
          <a:xfrm>
            <a:off x="483810" y="976253"/>
            <a:ext cx="8245143"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最高层次，最为重要。</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所有根域名服务器都</a:t>
            </a:r>
            <a:r>
              <a:rPr lang="zh-CN" altLang="en-US" sz="2000" b="1" dirty="0">
                <a:solidFill>
                  <a:srgbClr val="C00000"/>
                </a:solidFill>
                <a:latin typeface="微软雅黑" pitchFamily="34" charset="-122"/>
                <a:ea typeface="微软雅黑" pitchFamily="34" charset="-122"/>
              </a:rPr>
              <a:t>知道</a:t>
            </a:r>
            <a:r>
              <a:rPr lang="zh-CN" altLang="en-US" sz="2000" b="1" dirty="0">
                <a:latin typeface="微软雅黑" pitchFamily="34" charset="-122"/>
                <a:ea typeface="微软雅黑" pitchFamily="34" charset="-122"/>
              </a:rPr>
              <a:t>所有的</a:t>
            </a:r>
            <a:r>
              <a:rPr lang="zh-CN" altLang="en-US" sz="2000" b="1" dirty="0">
                <a:solidFill>
                  <a:srgbClr val="C00000"/>
                </a:solidFill>
                <a:latin typeface="微软雅黑" pitchFamily="34" charset="-122"/>
                <a:ea typeface="微软雅黑" pitchFamily="34" charset="-122"/>
              </a:rPr>
              <a:t>顶级域名服务器</a:t>
            </a:r>
            <a:r>
              <a:rPr lang="zh-CN" altLang="en-US" sz="2000" b="1" dirty="0">
                <a:latin typeface="微软雅黑" pitchFamily="34" charset="-122"/>
                <a:ea typeface="微软雅黑" pitchFamily="34" charset="-122"/>
              </a:rPr>
              <a:t>的域名和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不管是哪一个本地域名服务器，若要对互联网上任何一个域名进行解析，只要自己无法解析，就</a:t>
            </a:r>
            <a:r>
              <a:rPr lang="zh-CN" altLang="en-US" sz="2000" b="1" dirty="0">
                <a:solidFill>
                  <a:srgbClr val="C00000"/>
                </a:solidFill>
                <a:latin typeface="微软雅黑" pitchFamily="34" charset="-122"/>
                <a:ea typeface="微软雅黑" pitchFamily="34" charset="-122"/>
              </a:rPr>
              <a:t>首先</a:t>
            </a:r>
            <a:r>
              <a:rPr lang="zh-CN" altLang="en-US" sz="2000" b="1" dirty="0">
                <a:latin typeface="微软雅黑" pitchFamily="34" charset="-122"/>
                <a:ea typeface="微软雅黑" pitchFamily="34" charset="-122"/>
              </a:rPr>
              <a:t>求助于根域名服务器。</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若所有的根域名服务器都瘫痪了，整个互联网中的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系统就无法工作了。</a:t>
            </a:r>
          </a:p>
        </p:txBody>
      </p:sp>
    </p:spTree>
    <p:extLst>
      <p:ext uri="{BB962C8B-B14F-4D97-AF65-F5344CB8AC3E}">
        <p14:creationId xmlns:p14="http://schemas.microsoft.com/office/powerpoint/2010/main" val="4338023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根域名服务器共有 </a:t>
            </a:r>
            <a:r>
              <a:rPr lang="en-US" altLang="zh-CN" sz="2000" b="1" dirty="0">
                <a:solidFill>
                  <a:schemeClr val="bg1"/>
                </a:solidFill>
                <a:latin typeface="微软雅黑" pitchFamily="34" charset="-122"/>
                <a:ea typeface="微软雅黑" pitchFamily="34" charset="-122"/>
              </a:rPr>
              <a:t>13 </a:t>
            </a:r>
            <a:r>
              <a:rPr lang="zh-CN" altLang="en-US" sz="2000" b="1" dirty="0">
                <a:solidFill>
                  <a:schemeClr val="bg1"/>
                </a:solidFill>
                <a:latin typeface="微软雅黑" pitchFamily="34" charset="-122"/>
                <a:ea typeface="微软雅黑" pitchFamily="34" charset="-122"/>
              </a:rPr>
              <a:t>套装置</a:t>
            </a:r>
          </a:p>
        </p:txBody>
      </p:sp>
      <p:sp>
        <p:nvSpPr>
          <p:cNvPr id="33" name="Rectangle 68"/>
          <p:cNvSpPr>
            <a:spLocks noChangeArrowheads="1"/>
          </p:cNvSpPr>
          <p:nvPr/>
        </p:nvSpPr>
        <p:spPr bwMode="auto">
          <a:xfrm>
            <a:off x="556962" y="965641"/>
            <a:ext cx="7986337" cy="11695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根域名服务器共有 </a:t>
            </a:r>
            <a:r>
              <a:rPr lang="en-US" altLang="zh-CN" sz="2000" b="1" dirty="0">
                <a:solidFill>
                  <a:srgbClr val="C00000"/>
                </a:solidFill>
                <a:latin typeface="微软雅黑" pitchFamily="34" charset="-122"/>
                <a:ea typeface="微软雅黑" pitchFamily="34" charset="-122"/>
              </a:rPr>
              <a:t>13 </a:t>
            </a:r>
            <a:r>
              <a:rPr lang="zh-CN" altLang="en-US" sz="2000" b="1" dirty="0">
                <a:solidFill>
                  <a:srgbClr val="C00000"/>
                </a:solidFill>
                <a:latin typeface="微软雅黑" pitchFamily="34" charset="-122"/>
                <a:ea typeface="微软雅黑" pitchFamily="34" charset="-122"/>
              </a:rPr>
              <a:t>套</a:t>
            </a:r>
            <a:r>
              <a:rPr lang="zh-CN" altLang="en-US" sz="2000" b="1" dirty="0">
                <a:latin typeface="微软雅黑" pitchFamily="34" charset="-122"/>
                <a:ea typeface="微软雅黑" pitchFamily="34" charset="-122"/>
              </a:rPr>
              <a:t>装置，构成 </a:t>
            </a:r>
            <a:r>
              <a:rPr lang="en-US" altLang="zh-CN" sz="2000" b="1" dirty="0">
                <a:solidFill>
                  <a:srgbClr val="C00000"/>
                </a:solidFill>
                <a:latin typeface="微软雅黑" pitchFamily="34" charset="-122"/>
                <a:ea typeface="微软雅黑" pitchFamily="34" charset="-122"/>
              </a:rPr>
              <a:t>13 </a:t>
            </a:r>
            <a:r>
              <a:rPr lang="zh-CN" altLang="en-US" sz="2000" b="1" dirty="0">
                <a:solidFill>
                  <a:srgbClr val="C00000"/>
                </a:solidFill>
                <a:latin typeface="微软雅黑" pitchFamily="34" charset="-122"/>
                <a:ea typeface="微软雅黑" pitchFamily="34" charset="-122"/>
              </a:rPr>
              <a:t>组</a:t>
            </a:r>
            <a:r>
              <a:rPr lang="zh-CN" altLang="en-US" sz="2000" b="1" dirty="0">
                <a:latin typeface="微软雅黑" pitchFamily="34" charset="-122"/>
                <a:ea typeface="微软雅黑" pitchFamily="34" charset="-122"/>
              </a:rPr>
              <a:t>根域名服务器。</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根域名服务器总共只有 </a:t>
            </a:r>
            <a:r>
              <a:rPr lang="en-US" altLang="zh-CN" sz="2000" b="1" dirty="0">
                <a:solidFill>
                  <a:srgbClr val="C00000"/>
                </a:solidFill>
                <a:latin typeface="微软雅黑" pitchFamily="34" charset="-122"/>
                <a:ea typeface="微软雅黑" pitchFamily="34" charset="-122"/>
              </a:rPr>
              <a:t>13 </a:t>
            </a:r>
            <a:r>
              <a:rPr lang="zh-CN" altLang="en-US" sz="2000" b="1" dirty="0">
                <a:solidFill>
                  <a:srgbClr val="C00000"/>
                </a:solidFill>
                <a:latin typeface="微软雅黑" pitchFamily="34" charset="-122"/>
                <a:ea typeface="微软雅黑" pitchFamily="34" charset="-122"/>
              </a:rPr>
              <a:t>个不同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地址的域名，</a:t>
            </a:r>
            <a:r>
              <a:rPr lang="zh-CN" altLang="en-US" sz="2000" b="1" dirty="0">
                <a:latin typeface="微软雅黑" pitchFamily="34" charset="-122"/>
                <a:ea typeface="微软雅黑" pitchFamily="34" charset="-122"/>
              </a:rPr>
              <a:t>但</a:t>
            </a:r>
            <a:r>
              <a:rPr lang="zh-CN" altLang="en-US" sz="2000" b="1" dirty="0">
                <a:solidFill>
                  <a:srgbClr val="0000CC"/>
                </a:solidFill>
                <a:latin typeface="微软雅黑" pitchFamily="34" charset="-122"/>
                <a:ea typeface="微软雅黑" pitchFamily="34" charset="-122"/>
              </a:rPr>
              <a:t>并非</a:t>
            </a:r>
            <a:r>
              <a:rPr lang="zh-CN" altLang="en-US" sz="2000" b="1" dirty="0">
                <a:latin typeface="微软雅黑" pitchFamily="34" charset="-122"/>
                <a:ea typeface="微软雅黑" pitchFamily="34" charset="-122"/>
              </a:rPr>
              <a:t>仅由</a:t>
            </a:r>
            <a:r>
              <a:rPr lang="en-US" altLang="zh-CN" sz="2000" b="1" dirty="0">
                <a:latin typeface="微软雅黑" pitchFamily="34" charset="-122"/>
                <a:ea typeface="微软雅黑" pitchFamily="34" charset="-122"/>
              </a:rPr>
              <a:t>13</a:t>
            </a:r>
            <a:r>
              <a:rPr lang="zh-CN" altLang="en-US" sz="2000" b="1" dirty="0">
                <a:latin typeface="微软雅黑" pitchFamily="34" charset="-122"/>
                <a:ea typeface="微软雅黑" pitchFamily="34" charset="-122"/>
              </a:rPr>
              <a:t>台机器所组成。</a:t>
            </a:r>
            <a:endParaRPr lang="en-US" altLang="zh-CN" sz="2000" b="1" dirty="0">
              <a:latin typeface="微软雅黑" pitchFamily="34" charset="-122"/>
              <a:ea typeface="微软雅黑" pitchFamily="34" charset="-122"/>
            </a:endParaRPr>
          </a:p>
        </p:txBody>
      </p:sp>
      <p:graphicFrame>
        <p:nvGraphicFramePr>
          <p:cNvPr id="2" name="表格 1"/>
          <p:cNvGraphicFramePr>
            <a:graphicFrameLocks noGrp="1"/>
          </p:cNvGraphicFramePr>
          <p:nvPr>
            <p:extLst>
              <p:ext uri="{D42A27DB-BD31-4B8C-83A1-F6EECF244321}">
                <p14:modId xmlns:p14="http://schemas.microsoft.com/office/powerpoint/2010/main" val="3136532679"/>
              </p:ext>
            </p:extLst>
          </p:nvPr>
        </p:nvGraphicFramePr>
        <p:xfrm>
          <a:off x="1112828" y="2095789"/>
          <a:ext cx="6636200" cy="2662620"/>
        </p:xfrm>
        <a:graphic>
          <a:graphicData uri="http://schemas.openxmlformats.org/drawingml/2006/table">
            <a:tbl>
              <a:tblPr firstRow="1">
                <a:tableStyleId>{B301B821-A1FF-4177-AEE7-76D212191A09}</a:tableStyleId>
              </a:tblPr>
              <a:tblGrid>
                <a:gridCol w="2216191">
                  <a:extLst>
                    <a:ext uri="{9D8B030D-6E8A-4147-A177-3AD203B41FA5}">
                      <a16:colId xmlns:a16="http://schemas.microsoft.com/office/drawing/2014/main" val="408908172"/>
                    </a:ext>
                  </a:extLst>
                </a:gridCol>
                <a:gridCol w="2216191">
                  <a:extLst>
                    <a:ext uri="{9D8B030D-6E8A-4147-A177-3AD203B41FA5}">
                      <a16:colId xmlns:a16="http://schemas.microsoft.com/office/drawing/2014/main" val="3439813314"/>
                    </a:ext>
                  </a:extLst>
                </a:gridCol>
                <a:gridCol w="2203818">
                  <a:extLst>
                    <a:ext uri="{9D8B030D-6E8A-4147-A177-3AD203B41FA5}">
                      <a16:colId xmlns:a16="http://schemas.microsoft.com/office/drawing/2014/main" val="1803728834"/>
                    </a:ext>
                  </a:extLst>
                </a:gridCol>
              </a:tblGrid>
              <a:tr h="155768">
                <a:tc>
                  <a:txBody>
                    <a:bodyPr/>
                    <a:lstStyle/>
                    <a:p>
                      <a:pPr algn="ctr" fontAlgn="b">
                        <a:lnSpc>
                          <a:spcPct val="80000"/>
                        </a:lnSpc>
                      </a:pPr>
                      <a:r>
                        <a:rPr lang="zh-CN" altLang="en-US" sz="1200" b="1" i="0" cap="all" dirty="0">
                          <a:solidFill>
                            <a:schemeClr val="lt1"/>
                          </a:solidFill>
                          <a:effectLst/>
                          <a:latin typeface="+mn-lt"/>
                        </a:rPr>
                        <a:t>域名</a:t>
                      </a:r>
                      <a:endParaRPr lang="en-US" sz="1200" b="1" i="0" cap="all" dirty="0">
                        <a:solidFill>
                          <a:schemeClr val="tx1"/>
                        </a:solidFill>
                        <a:effectLst/>
                        <a:latin typeface="+mn-lt"/>
                      </a:endParaRPr>
                    </a:p>
                  </a:txBody>
                  <a:tcPr marL="24941" marR="24941" marT="12471" marB="12471" anchor="b"/>
                </a:tc>
                <a:tc>
                  <a:txBody>
                    <a:bodyPr/>
                    <a:lstStyle/>
                    <a:p>
                      <a:pPr algn="ctr" fontAlgn="b">
                        <a:lnSpc>
                          <a:spcPct val="80000"/>
                        </a:lnSpc>
                      </a:pPr>
                      <a:r>
                        <a:rPr lang="en-US" sz="1200" cap="all" dirty="0">
                          <a:effectLst/>
                        </a:rPr>
                        <a:t>IP </a:t>
                      </a:r>
                      <a:r>
                        <a:rPr lang="zh-CN" altLang="en-US" sz="1200" cap="all" dirty="0">
                          <a:effectLst/>
                        </a:rPr>
                        <a:t>地址</a:t>
                      </a:r>
                      <a:endParaRPr lang="en-US" sz="1200" b="1" i="0" cap="all" dirty="0">
                        <a:solidFill>
                          <a:schemeClr val="tx1"/>
                        </a:solidFill>
                        <a:effectLst/>
                        <a:latin typeface="+mn-lt"/>
                      </a:endParaRPr>
                    </a:p>
                  </a:txBody>
                  <a:tcPr marL="12471" marR="24941" marT="12471" marB="12471" anchor="b"/>
                </a:tc>
                <a:tc>
                  <a:txBody>
                    <a:bodyPr/>
                    <a:lstStyle/>
                    <a:p>
                      <a:pPr algn="ctr" fontAlgn="b">
                        <a:lnSpc>
                          <a:spcPct val="80000"/>
                        </a:lnSpc>
                      </a:pPr>
                      <a:r>
                        <a:rPr lang="zh-CN" altLang="en-US" sz="1200" cap="all" dirty="0">
                          <a:effectLst/>
                        </a:rPr>
                        <a:t>运营商</a:t>
                      </a:r>
                      <a:endParaRPr lang="en-US" sz="1200" b="1" i="0" cap="all" dirty="0">
                        <a:solidFill>
                          <a:schemeClr val="tx1"/>
                        </a:solidFill>
                        <a:effectLst/>
                        <a:latin typeface="+mn-lt"/>
                      </a:endParaRPr>
                    </a:p>
                  </a:txBody>
                  <a:tcPr marL="12471" marR="24941" marT="12471" marB="12471" anchor="b"/>
                </a:tc>
                <a:extLst>
                  <a:ext uri="{0D108BD9-81ED-4DB2-BD59-A6C34878D82A}">
                    <a16:rowId xmlns:a16="http://schemas.microsoft.com/office/drawing/2014/main" val="1140239074"/>
                  </a:ext>
                </a:extLst>
              </a:tr>
              <a:tr h="155768">
                <a:tc>
                  <a:txBody>
                    <a:bodyPr/>
                    <a:lstStyle/>
                    <a:p>
                      <a:pPr fontAlgn="t">
                        <a:lnSpc>
                          <a:spcPct val="80000"/>
                        </a:lnSpc>
                      </a:pPr>
                      <a:r>
                        <a:rPr lang="en-US" sz="1200" dirty="0">
                          <a:effectLst/>
                        </a:rPr>
                        <a:t>a.root-servers.net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198.41.0.4, 2001:503:ba3e::2:30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Verisign, Inc.</a:t>
                      </a:r>
                      <a:endParaRPr lang="en-US" sz="1200" b="0" i="0" dirty="0">
                        <a:solidFill>
                          <a:schemeClr val="tx1"/>
                        </a:solidFill>
                        <a:effectLst/>
                        <a:latin typeface="+mn-lt"/>
                      </a:endParaRPr>
                    </a:p>
                  </a:txBody>
                  <a:tcPr marL="12471" marR="24941" marT="12471" marB="12471"/>
                </a:tc>
                <a:extLst>
                  <a:ext uri="{0D108BD9-81ED-4DB2-BD59-A6C34878D82A}">
                    <a16:rowId xmlns:a16="http://schemas.microsoft.com/office/drawing/2014/main" val="3799934463"/>
                  </a:ext>
                </a:extLst>
              </a:tr>
              <a:tr h="288848">
                <a:tc>
                  <a:txBody>
                    <a:bodyPr/>
                    <a:lstStyle/>
                    <a:p>
                      <a:pPr fontAlgn="t">
                        <a:lnSpc>
                          <a:spcPct val="80000"/>
                        </a:lnSpc>
                      </a:pPr>
                      <a:r>
                        <a:rPr lang="en-US" sz="1200" dirty="0">
                          <a:effectLst/>
                        </a:rPr>
                        <a:t>b.root-servers.net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199.9.14.201, 2001:500:200::b</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Southern California,</a:t>
                      </a:r>
                      <a:br>
                        <a:rPr lang="en-US" sz="1200">
                          <a:effectLst/>
                        </a:rPr>
                      </a:br>
                      <a:r>
                        <a:rPr lang="en-US" sz="1200">
                          <a:effectLst/>
                        </a:rPr>
                        <a:t>Information Sciences Institute</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810033780"/>
                  </a:ext>
                </a:extLst>
              </a:tr>
              <a:tr h="155768">
                <a:tc>
                  <a:txBody>
                    <a:bodyPr/>
                    <a:lstStyle/>
                    <a:p>
                      <a:pPr fontAlgn="t">
                        <a:lnSpc>
                          <a:spcPct val="80000"/>
                        </a:lnSpc>
                      </a:pPr>
                      <a:r>
                        <a:rPr lang="en-US" sz="1200">
                          <a:effectLst/>
                        </a:rPr>
                        <a:t>c.root-servers.net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192.33.4.12, 2001:500:2::c</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Cogent Communications</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551130435"/>
                  </a:ext>
                </a:extLst>
              </a:tr>
              <a:tr h="155768">
                <a:tc>
                  <a:txBody>
                    <a:bodyPr/>
                    <a:lstStyle/>
                    <a:p>
                      <a:pPr fontAlgn="t">
                        <a:lnSpc>
                          <a:spcPct val="80000"/>
                        </a:lnSpc>
                      </a:pPr>
                      <a:r>
                        <a:rPr lang="en-US" sz="1200" dirty="0">
                          <a:effectLst/>
                        </a:rPr>
                        <a:t>d.root-servers.net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199.7.91.13, 2001:500:2d::d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Maryland</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602981751"/>
                  </a:ext>
                </a:extLst>
              </a:tr>
              <a:tr h="155768">
                <a:tc>
                  <a:txBody>
                    <a:bodyPr/>
                    <a:lstStyle/>
                    <a:p>
                      <a:pPr fontAlgn="t">
                        <a:lnSpc>
                          <a:spcPct val="80000"/>
                        </a:lnSpc>
                      </a:pPr>
                      <a:r>
                        <a:rPr lang="en-US" sz="1200">
                          <a:effectLst/>
                        </a:rPr>
                        <a:t>e.root-servers.net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192.203.230.10, 2001:500:a8::e</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NASA (Ames Research Center)</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222640583"/>
                  </a:ext>
                </a:extLst>
              </a:tr>
              <a:tr h="155768">
                <a:tc>
                  <a:txBody>
                    <a:bodyPr/>
                    <a:lstStyle/>
                    <a:p>
                      <a:pPr fontAlgn="t">
                        <a:lnSpc>
                          <a:spcPct val="80000"/>
                        </a:lnSpc>
                      </a:pPr>
                      <a:r>
                        <a:rPr lang="en-US" sz="1200">
                          <a:effectLst/>
                        </a:rPr>
                        <a:t>f.root-servers.net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192.5.5.241, 2001:500:2f::f</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Internet Systems Consortium, Inc.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728933610"/>
                  </a:ext>
                </a:extLst>
              </a:tr>
              <a:tr h="155768">
                <a:tc>
                  <a:txBody>
                    <a:bodyPr/>
                    <a:lstStyle/>
                    <a:p>
                      <a:pPr fontAlgn="t">
                        <a:lnSpc>
                          <a:spcPct val="80000"/>
                        </a:lnSpc>
                      </a:pPr>
                      <a:r>
                        <a:rPr lang="en-US" sz="1200">
                          <a:effectLst/>
                        </a:rPr>
                        <a:t>g.root-servers.net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192.112.36.4, 2001:500:12::d0d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Department of Defense (NIC)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200553252"/>
                  </a:ext>
                </a:extLst>
              </a:tr>
              <a:tr h="155768">
                <a:tc>
                  <a:txBody>
                    <a:bodyPr/>
                    <a:lstStyle/>
                    <a:p>
                      <a:pPr fontAlgn="t">
                        <a:lnSpc>
                          <a:spcPct val="80000"/>
                        </a:lnSpc>
                      </a:pPr>
                      <a:r>
                        <a:rPr lang="en-US" sz="1200">
                          <a:effectLst/>
                        </a:rPr>
                        <a:t>h.root-servers.net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altLang="zh-CN" sz="1200">
                          <a:effectLst/>
                        </a:rPr>
                        <a:t>198.97.190.53, 2001:500:1::53</a:t>
                      </a:r>
                      <a:endParaRPr lang="en-US" altLang="zh-CN"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Army (Research Lab)</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979510661"/>
                  </a:ext>
                </a:extLst>
              </a:tr>
              <a:tr h="155768">
                <a:tc>
                  <a:txBody>
                    <a:bodyPr/>
                    <a:lstStyle/>
                    <a:p>
                      <a:pPr fontAlgn="t">
                        <a:lnSpc>
                          <a:spcPct val="80000"/>
                        </a:lnSpc>
                      </a:pPr>
                      <a:r>
                        <a:rPr lang="en-US" sz="1200">
                          <a:effectLst/>
                        </a:rPr>
                        <a:t>i.root-servers.net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192.36.148.17, 2001:7fe::53</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Netnod</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406046716"/>
                  </a:ext>
                </a:extLst>
              </a:tr>
              <a:tr h="155768">
                <a:tc>
                  <a:txBody>
                    <a:bodyPr/>
                    <a:lstStyle/>
                    <a:p>
                      <a:pPr fontAlgn="t">
                        <a:lnSpc>
                          <a:spcPct val="80000"/>
                        </a:lnSpc>
                      </a:pPr>
                      <a:r>
                        <a:rPr lang="en-US" sz="1200" dirty="0" err="1">
                          <a:effectLst/>
                        </a:rPr>
                        <a:t>j.root-servers.net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192.58.128.30, 2001:503:c27::2:30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Verisign, Inc.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3077151531"/>
                  </a:ext>
                </a:extLst>
              </a:tr>
              <a:tr h="155768">
                <a:tc>
                  <a:txBody>
                    <a:bodyPr/>
                    <a:lstStyle/>
                    <a:p>
                      <a:pPr fontAlgn="t">
                        <a:lnSpc>
                          <a:spcPct val="80000"/>
                        </a:lnSpc>
                      </a:pPr>
                      <a:r>
                        <a:rPr lang="en-US" sz="1200">
                          <a:effectLst/>
                        </a:rPr>
                        <a:t>k.root-servers.net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193.0.14.129, 2001:7fd::1</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RIPE NCC</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2109581213"/>
                  </a:ext>
                </a:extLst>
              </a:tr>
              <a:tr h="155768">
                <a:tc>
                  <a:txBody>
                    <a:bodyPr/>
                    <a:lstStyle/>
                    <a:p>
                      <a:pPr fontAlgn="t">
                        <a:lnSpc>
                          <a:spcPct val="80000"/>
                        </a:lnSpc>
                      </a:pPr>
                      <a:r>
                        <a:rPr lang="en-US" sz="1200">
                          <a:effectLst/>
                        </a:rPr>
                        <a:t>l.root-servers.net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199.7.83.42, 2001:500:9f::42</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ICANN</a:t>
                      </a:r>
                      <a:endParaRPr lang="en-US" sz="1200" b="0" i="0">
                        <a:solidFill>
                          <a:schemeClr val="tx1"/>
                        </a:solidFill>
                        <a:effectLst/>
                        <a:latin typeface="+mn-lt"/>
                      </a:endParaRPr>
                    </a:p>
                  </a:txBody>
                  <a:tcPr marL="12471" marR="24941" marT="12471" marB="12471"/>
                </a:tc>
                <a:extLst>
                  <a:ext uri="{0D108BD9-81ED-4DB2-BD59-A6C34878D82A}">
                    <a16:rowId xmlns:a16="http://schemas.microsoft.com/office/drawing/2014/main" val="1659636611"/>
                  </a:ext>
                </a:extLst>
              </a:tr>
              <a:tr h="155768">
                <a:tc>
                  <a:txBody>
                    <a:bodyPr/>
                    <a:lstStyle/>
                    <a:p>
                      <a:pPr fontAlgn="t">
                        <a:lnSpc>
                          <a:spcPct val="80000"/>
                        </a:lnSpc>
                      </a:pPr>
                      <a:r>
                        <a:rPr lang="en-US" sz="1200">
                          <a:effectLst/>
                        </a:rPr>
                        <a:t>m.root-servers.net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202.12.27.33, 2001:dc3::35</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WIDE Project</a:t>
                      </a:r>
                      <a:endParaRPr lang="en-US" sz="1200" b="0" i="0" dirty="0">
                        <a:solidFill>
                          <a:schemeClr val="tx1"/>
                        </a:solidFill>
                        <a:effectLst/>
                        <a:latin typeface="+mn-lt"/>
                      </a:endParaRPr>
                    </a:p>
                  </a:txBody>
                  <a:tcPr marL="12471" marR="24941" marT="12471" marB="12471"/>
                </a:tc>
                <a:extLst>
                  <a:ext uri="{0D108BD9-81ED-4DB2-BD59-A6C34878D82A}">
                    <a16:rowId xmlns:a16="http://schemas.microsoft.com/office/drawing/2014/main" val="2430741343"/>
                  </a:ext>
                </a:extLst>
              </a:tr>
            </a:tbl>
          </a:graphicData>
        </a:graphic>
      </p:graphicFrame>
    </p:spTree>
    <p:extLst>
      <p:ext uri="{BB962C8B-B14F-4D97-AF65-F5344CB8AC3E}">
        <p14:creationId xmlns:p14="http://schemas.microsoft.com/office/powerpoint/2010/main" val="31808481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674518" y="3612936"/>
            <a:ext cx="5175682" cy="759182"/>
          </a:xfrm>
          <a:prstGeom prst="rect">
            <a:avLst/>
          </a:prstGeom>
        </p:spPr>
        <p:txBody>
          <a:bodyPr wrap="square">
            <a:spAutoFit/>
          </a:bodyPr>
          <a:lstStyle/>
          <a:p>
            <a:pPr algn="ctr">
              <a:lnSpc>
                <a:spcPts val="2600"/>
              </a:lnSpc>
            </a:pPr>
            <a:r>
              <a:rPr lang="zh-CN" altLang="en-US" b="1" dirty="0">
                <a:latin typeface="微软雅黑" pitchFamily="34" charset="-122"/>
                <a:ea typeface="微软雅黑" pitchFamily="34" charset="-122"/>
              </a:rPr>
              <a:t>截至 </a:t>
            </a:r>
            <a:r>
              <a:rPr lang="en-US" altLang="zh-CN" b="1" dirty="0">
                <a:latin typeface="微软雅黑" pitchFamily="34" charset="-122"/>
                <a:ea typeface="微软雅黑" pitchFamily="34" charset="-122"/>
              </a:rPr>
              <a:t>2020</a:t>
            </a:r>
            <a:r>
              <a:rPr lang="zh-CN" altLang="en-US" b="1" dirty="0">
                <a:latin typeface="微软雅黑" pitchFamily="34" charset="-122"/>
                <a:ea typeface="微软雅黑" pitchFamily="34" charset="-122"/>
              </a:rPr>
              <a:t>年</a:t>
            </a:r>
            <a:r>
              <a:rPr lang="en-US" altLang="zh-CN" b="1" dirty="0">
                <a:latin typeface="微软雅黑" pitchFamily="34" charset="-122"/>
                <a:ea typeface="微软雅黑" pitchFamily="34" charset="-122"/>
              </a:rPr>
              <a:t>9</a:t>
            </a:r>
            <a:r>
              <a:rPr lang="zh-CN" altLang="en-US" b="1" dirty="0">
                <a:latin typeface="微软雅黑" pitchFamily="34" charset="-122"/>
                <a:ea typeface="微软雅黑" pitchFamily="34" charset="-122"/>
              </a:rPr>
              <a:t>月</a:t>
            </a:r>
            <a:r>
              <a:rPr lang="en-US" altLang="zh-CN" b="1" dirty="0">
                <a:latin typeface="微软雅黑" pitchFamily="34" charset="-122"/>
                <a:ea typeface="微软雅黑" pitchFamily="34" charset="-122"/>
              </a:rPr>
              <a:t>3</a:t>
            </a:r>
            <a:r>
              <a:rPr lang="zh-CN" altLang="en-US" b="1" dirty="0">
                <a:latin typeface="微软雅黑" pitchFamily="34" charset="-122"/>
                <a:ea typeface="微软雅黑" pitchFamily="34" charset="-122"/>
              </a:rPr>
              <a:t>日，全球共有 </a:t>
            </a:r>
            <a:r>
              <a:rPr lang="en-US" altLang="zh-CN" b="1" dirty="0">
                <a:latin typeface="微软雅黑" pitchFamily="34" charset="-122"/>
                <a:ea typeface="微软雅黑" pitchFamily="34" charset="-122"/>
              </a:rPr>
              <a:t>1098 </a:t>
            </a:r>
            <a:r>
              <a:rPr lang="zh-CN" altLang="en-US" b="1" dirty="0">
                <a:latin typeface="微软雅黑" pitchFamily="34" charset="-122"/>
                <a:ea typeface="微软雅黑" pitchFamily="34" charset="-122"/>
              </a:rPr>
              <a:t>个根域名服务器在运行，其中在我国的共有</a:t>
            </a:r>
            <a:r>
              <a:rPr lang="en-US" altLang="zh-CN" b="1" dirty="0">
                <a:latin typeface="微软雅黑" pitchFamily="34" charset="-122"/>
                <a:ea typeface="微软雅黑" pitchFamily="34" charset="-122"/>
              </a:rPr>
              <a:t>28</a:t>
            </a:r>
            <a:r>
              <a:rPr lang="zh-CN" altLang="en-US" b="1" dirty="0">
                <a:latin typeface="微软雅黑" pitchFamily="34" charset="-122"/>
                <a:ea typeface="微软雅黑" pitchFamily="34" charset="-122"/>
              </a:rPr>
              <a:t>个。</a:t>
            </a:r>
          </a:p>
        </p:txBody>
      </p:sp>
      <p:sp>
        <p:nvSpPr>
          <p:cNvPr id="1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根域名服务器共有 </a:t>
            </a:r>
            <a:r>
              <a:rPr lang="en-US" altLang="zh-CN" sz="2000" b="1" dirty="0">
                <a:solidFill>
                  <a:schemeClr val="bg1"/>
                </a:solidFill>
                <a:latin typeface="微软雅黑" pitchFamily="34" charset="-122"/>
                <a:ea typeface="微软雅黑" pitchFamily="34" charset="-122"/>
              </a:rPr>
              <a:t>13 </a:t>
            </a:r>
            <a:r>
              <a:rPr lang="zh-CN" altLang="en-US" sz="2000" b="1" dirty="0">
                <a:solidFill>
                  <a:schemeClr val="bg1"/>
                </a:solidFill>
                <a:latin typeface="微软雅黑" pitchFamily="34" charset="-122"/>
                <a:ea typeface="微软雅黑" pitchFamily="34" charset="-122"/>
              </a:rPr>
              <a:t>套装置</a:t>
            </a:r>
          </a:p>
        </p:txBody>
      </p:sp>
      <p:sp>
        <p:nvSpPr>
          <p:cNvPr id="7" name="矩形 6"/>
          <p:cNvSpPr/>
          <p:nvPr/>
        </p:nvSpPr>
        <p:spPr>
          <a:xfrm>
            <a:off x="560654" y="2359261"/>
            <a:ext cx="7295177" cy="938719"/>
          </a:xfrm>
          <a:prstGeom prst="rect">
            <a:avLst/>
          </a:prstGeom>
        </p:spPr>
        <p:txBody>
          <a:bodyPr wrap="square">
            <a:spAutoFit/>
          </a:bodyPr>
          <a:lstStyle/>
          <a:p>
            <a:pPr>
              <a:lnSpc>
                <a:spcPts val="2200"/>
              </a:lnSpc>
            </a:pPr>
            <a:r>
              <a:rPr lang="zh-CN" altLang="zh-CN" b="1" dirty="0">
                <a:latin typeface="微软雅黑" pitchFamily="34" charset="-122"/>
                <a:ea typeface="微软雅黑" pitchFamily="34" charset="-122"/>
              </a:rPr>
              <a:t>根域名服务器采</a:t>
            </a:r>
            <a:r>
              <a:rPr lang="zh-CN" altLang="en-US" b="1" dirty="0">
                <a:latin typeface="微软雅黑" pitchFamily="34" charset="-122"/>
                <a:ea typeface="微软雅黑" pitchFamily="34" charset="-122"/>
              </a:rPr>
              <a:t>用</a:t>
            </a:r>
            <a:r>
              <a:rPr lang="zh-CN" altLang="zh-CN" b="1" dirty="0">
                <a:solidFill>
                  <a:srgbClr val="C00000"/>
                </a:solidFill>
                <a:latin typeface="微软雅黑" pitchFamily="34" charset="-122"/>
                <a:ea typeface="微软雅黑" pitchFamily="34" charset="-122"/>
              </a:rPr>
              <a:t>任播</a:t>
            </a:r>
            <a:r>
              <a:rPr lang="en-US" altLang="zh-CN" b="1" dirty="0">
                <a:latin typeface="微软雅黑" pitchFamily="34" charset="-122"/>
                <a:ea typeface="微软雅黑" pitchFamily="34" charset="-122"/>
              </a:rPr>
              <a:t> (</a:t>
            </a:r>
            <a:r>
              <a:rPr lang="en-US" altLang="zh-CN" b="1" dirty="0" err="1">
                <a:latin typeface="微软雅黑" pitchFamily="34" charset="-122"/>
                <a:ea typeface="微软雅黑" pitchFamily="34" charset="-122"/>
              </a:rPr>
              <a:t>anycast</a:t>
            </a:r>
            <a:r>
              <a:rPr lang="en-US" altLang="zh-CN" b="1" dirty="0">
                <a:latin typeface="微软雅黑" pitchFamily="34" charset="-122"/>
                <a:ea typeface="微软雅黑" pitchFamily="34" charset="-122"/>
              </a:rPr>
              <a:t>) </a:t>
            </a:r>
            <a:r>
              <a:rPr lang="zh-CN" altLang="zh-CN" b="1" dirty="0">
                <a:latin typeface="微软雅黑" pitchFamily="34" charset="-122"/>
                <a:ea typeface="微软雅黑" pitchFamily="34" charset="-122"/>
              </a:rPr>
              <a:t>技术</a:t>
            </a:r>
            <a:r>
              <a:rPr lang="zh-CN" altLang="en-US" b="1" dirty="0">
                <a:latin typeface="微软雅黑" pitchFamily="34" charset="-122"/>
                <a:ea typeface="微软雅黑" pitchFamily="34" charset="-122"/>
              </a:rPr>
              <a:t>，</a:t>
            </a:r>
            <a:r>
              <a:rPr lang="zh-CN" altLang="zh-CN" b="1" dirty="0">
                <a:latin typeface="微软雅黑" pitchFamily="34" charset="-122"/>
                <a:ea typeface="微软雅黑" pitchFamily="34" charset="-122"/>
              </a:rPr>
              <a:t>当</a:t>
            </a:r>
            <a:r>
              <a:rPr lang="en-US" altLang="zh-CN" b="1" dirty="0">
                <a:latin typeface="微软雅黑" pitchFamily="34" charset="-122"/>
                <a:ea typeface="微软雅黑" pitchFamily="34" charset="-122"/>
              </a:rPr>
              <a:t>DNS </a:t>
            </a:r>
            <a:r>
              <a:rPr lang="zh-CN" altLang="zh-CN" b="1" dirty="0">
                <a:latin typeface="微软雅黑" pitchFamily="34" charset="-122"/>
                <a:ea typeface="微软雅黑" pitchFamily="34" charset="-122"/>
              </a:rPr>
              <a:t>客户向某个根域名服务器发出查询报文时，路由器能找到离这个</a:t>
            </a:r>
            <a:r>
              <a:rPr lang="en-US" altLang="zh-CN" b="1" dirty="0">
                <a:latin typeface="微软雅黑" pitchFamily="34" charset="-122"/>
                <a:ea typeface="微软雅黑" pitchFamily="34" charset="-122"/>
              </a:rPr>
              <a:t> DNS </a:t>
            </a:r>
            <a:r>
              <a:rPr lang="zh-CN" altLang="zh-CN" b="1" dirty="0">
                <a:latin typeface="微软雅黑" pitchFamily="34" charset="-122"/>
                <a:ea typeface="微软雅黑" pitchFamily="34" charset="-122"/>
              </a:rPr>
              <a:t>客户</a:t>
            </a:r>
            <a:r>
              <a:rPr lang="zh-CN" altLang="zh-CN" b="1" dirty="0">
                <a:solidFill>
                  <a:srgbClr val="C00000"/>
                </a:solidFill>
                <a:latin typeface="微软雅黑" pitchFamily="34" charset="-122"/>
                <a:ea typeface="微软雅黑" pitchFamily="34" charset="-122"/>
              </a:rPr>
              <a:t>最近</a:t>
            </a:r>
            <a:r>
              <a:rPr lang="zh-CN" altLang="zh-CN" b="1" dirty="0">
                <a:latin typeface="微软雅黑" pitchFamily="34" charset="-122"/>
                <a:ea typeface="微软雅黑" pitchFamily="34" charset="-122"/>
              </a:rPr>
              <a:t>的一个根域名服务器。</a:t>
            </a:r>
          </a:p>
        </p:txBody>
      </p:sp>
      <p:sp>
        <p:nvSpPr>
          <p:cNvPr id="13" name="矩形 12"/>
          <p:cNvSpPr/>
          <p:nvPr/>
        </p:nvSpPr>
        <p:spPr>
          <a:xfrm>
            <a:off x="574719" y="1197909"/>
            <a:ext cx="7401252" cy="1015663"/>
          </a:xfrm>
          <a:prstGeom prst="rect">
            <a:avLst/>
          </a:prstGeom>
        </p:spPr>
        <p:txBody>
          <a:bodyPr wrap="square">
            <a:spAutoFit/>
          </a:bodyPr>
          <a:lstStyle/>
          <a:p>
            <a:pPr>
              <a:lnSpc>
                <a:spcPts val="2200"/>
              </a:lnSpc>
              <a:spcAft>
                <a:spcPts val="600"/>
              </a:spcAft>
            </a:pPr>
            <a:r>
              <a:rPr lang="zh-CN" altLang="en-US" b="1" dirty="0">
                <a:latin typeface="微软雅黑" pitchFamily="34" charset="-122"/>
                <a:ea typeface="微软雅黑" pitchFamily="34" charset="-122"/>
              </a:rPr>
              <a:t>根域名服务器</a:t>
            </a:r>
            <a:r>
              <a:rPr lang="zh-CN" altLang="en-US" b="1" dirty="0">
                <a:solidFill>
                  <a:srgbClr val="C00000"/>
                </a:solidFill>
                <a:latin typeface="微软雅黑" pitchFamily="34" charset="-122"/>
                <a:ea typeface="微软雅黑" pitchFamily="34" charset="-122"/>
              </a:rPr>
              <a:t>分布</a:t>
            </a:r>
            <a:r>
              <a:rPr lang="zh-CN" altLang="en-US" b="1" dirty="0">
                <a:latin typeface="微软雅黑" pitchFamily="34" charset="-122"/>
                <a:ea typeface="微软雅黑" pitchFamily="34" charset="-122"/>
              </a:rPr>
              <a:t>在全世界。</a:t>
            </a:r>
            <a:endParaRPr lang="en-US" altLang="zh-CN" b="1" dirty="0">
              <a:latin typeface="微软雅黑" pitchFamily="34" charset="-122"/>
              <a:ea typeface="微软雅黑" pitchFamily="34" charset="-122"/>
            </a:endParaRPr>
          </a:p>
          <a:p>
            <a:pPr>
              <a:lnSpc>
                <a:spcPts val="2200"/>
              </a:lnSpc>
            </a:pPr>
            <a:r>
              <a:rPr lang="zh-CN" altLang="en-US" b="1" dirty="0">
                <a:latin typeface="微软雅黑" pitchFamily="34" charset="-122"/>
                <a:ea typeface="微软雅黑" pitchFamily="34" charset="-122"/>
              </a:rPr>
              <a:t>为了提供更可靠的服务，在每一个地点的根域名服务器往往由</a:t>
            </a:r>
            <a:r>
              <a:rPr lang="zh-CN" altLang="en-US" b="1" dirty="0">
                <a:solidFill>
                  <a:srgbClr val="C00000"/>
                </a:solidFill>
                <a:latin typeface="微软雅黑" pitchFamily="34" charset="-122"/>
                <a:ea typeface="微软雅黑" pitchFamily="34" charset="-122"/>
              </a:rPr>
              <a:t>多台</a:t>
            </a:r>
            <a:r>
              <a:rPr lang="zh-CN" altLang="en-US" b="1" dirty="0">
                <a:latin typeface="微软雅黑" pitchFamily="34" charset="-122"/>
                <a:ea typeface="微软雅黑" pitchFamily="34" charset="-122"/>
              </a:rPr>
              <a:t>机器组成。</a:t>
            </a:r>
          </a:p>
        </p:txBody>
      </p:sp>
    </p:spTree>
    <p:extLst>
      <p:ext uri="{BB962C8B-B14F-4D97-AF65-F5344CB8AC3E}">
        <p14:creationId xmlns:p14="http://schemas.microsoft.com/office/powerpoint/2010/main" val="27597976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根域名服务器共有 </a:t>
            </a:r>
            <a:r>
              <a:rPr lang="en-US" altLang="zh-CN" sz="2000" b="1" dirty="0">
                <a:solidFill>
                  <a:schemeClr val="bg1"/>
                </a:solidFill>
                <a:latin typeface="微软雅黑" pitchFamily="34" charset="-122"/>
                <a:ea typeface="微软雅黑" pitchFamily="34" charset="-122"/>
              </a:rPr>
              <a:t>13 </a:t>
            </a:r>
            <a:r>
              <a:rPr lang="zh-CN" altLang="en-US" sz="2000" b="1" dirty="0">
                <a:solidFill>
                  <a:schemeClr val="bg1"/>
                </a:solidFill>
                <a:latin typeface="微软雅黑" pitchFamily="34" charset="-122"/>
                <a:ea typeface="微软雅黑" pitchFamily="34" charset="-122"/>
              </a:rPr>
              <a:t>套装置</a:t>
            </a:r>
          </a:p>
        </p:txBody>
      </p:sp>
      <p:sp>
        <p:nvSpPr>
          <p:cNvPr id="10" name="对角圆角矩形 9"/>
          <p:cNvSpPr/>
          <p:nvPr/>
        </p:nvSpPr>
        <p:spPr>
          <a:xfrm>
            <a:off x="821079" y="1146582"/>
            <a:ext cx="7488420" cy="176529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68"/>
          <p:cNvSpPr>
            <a:spLocks noChangeArrowheads="1"/>
          </p:cNvSpPr>
          <p:nvPr/>
        </p:nvSpPr>
        <p:spPr bwMode="auto">
          <a:xfrm>
            <a:off x="1074198" y="1259680"/>
            <a:ext cx="7057748" cy="152862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a:solidFill>
                  <a:srgbClr val="FFFF00"/>
                </a:solidFill>
                <a:latin typeface="微软雅黑" pitchFamily="34" charset="-122"/>
                <a:ea typeface="微软雅黑" pitchFamily="34" charset="-122"/>
              </a:rPr>
              <a:t>注意：</a:t>
            </a:r>
            <a:endParaRPr lang="en-US" altLang="zh-CN" b="1" dirty="0">
              <a:solidFill>
                <a:srgbClr val="FFFF00"/>
              </a:solidFill>
              <a:latin typeface="微软雅黑" pitchFamily="34" charset="-122"/>
              <a:ea typeface="微软雅黑" pitchFamily="34" charset="-122"/>
            </a:endParaRPr>
          </a:p>
          <a:p>
            <a:pPr eaLnBrk="0" hangingPunct="0">
              <a:lnSpc>
                <a:spcPts val="2800"/>
              </a:lnSpc>
              <a:buClr>
                <a:srgbClr val="0070C0"/>
              </a:buClr>
            </a:pPr>
            <a:r>
              <a:rPr lang="zh-CN" altLang="en-US" b="1" dirty="0">
                <a:solidFill>
                  <a:schemeClr val="bg1"/>
                </a:solidFill>
                <a:latin typeface="微软雅黑" pitchFamily="34" charset="-122"/>
                <a:ea typeface="微软雅黑" pitchFamily="34" charset="-122"/>
              </a:rPr>
              <a:t>根域名服务器并</a:t>
            </a:r>
            <a:r>
              <a:rPr lang="zh-CN" altLang="en-US" b="1" dirty="0">
                <a:solidFill>
                  <a:srgbClr val="FFFF00"/>
                </a:solidFill>
                <a:latin typeface="微软雅黑" pitchFamily="34" charset="-122"/>
                <a:ea typeface="微软雅黑" pitchFamily="34" charset="-122"/>
              </a:rPr>
              <a:t>不直接</a:t>
            </a:r>
            <a:r>
              <a:rPr lang="zh-CN" altLang="en-US" b="1" dirty="0">
                <a:solidFill>
                  <a:schemeClr val="bg1"/>
                </a:solidFill>
                <a:latin typeface="微软雅黑" pitchFamily="34" charset="-122"/>
                <a:ea typeface="微软雅黑" pitchFamily="34" charset="-122"/>
              </a:rPr>
              <a:t>把域名转换成 </a:t>
            </a:r>
            <a:r>
              <a:rPr lang="en-US" altLang="zh-CN" b="1" dirty="0">
                <a:solidFill>
                  <a:schemeClr val="bg1"/>
                </a:solidFill>
                <a:latin typeface="微软雅黑" pitchFamily="34" charset="-122"/>
                <a:ea typeface="微软雅黑" pitchFamily="34" charset="-122"/>
              </a:rPr>
              <a:t>IP </a:t>
            </a:r>
            <a:r>
              <a:rPr lang="zh-CN" altLang="en-US" b="1" dirty="0">
                <a:solidFill>
                  <a:schemeClr val="bg1"/>
                </a:solidFill>
                <a:latin typeface="微软雅黑" pitchFamily="34" charset="-122"/>
                <a:ea typeface="微软雅黑" pitchFamily="34" charset="-122"/>
              </a:rPr>
              <a:t>地址（根域名服务器也没有存放这种信息），而是</a:t>
            </a:r>
            <a:r>
              <a:rPr lang="zh-CN" altLang="en-US" b="1" dirty="0">
                <a:solidFill>
                  <a:srgbClr val="FFC000"/>
                </a:solidFill>
                <a:latin typeface="微软雅黑" pitchFamily="34" charset="-122"/>
                <a:ea typeface="微软雅黑" pitchFamily="34" charset="-122"/>
              </a:rPr>
              <a:t>告诉</a:t>
            </a:r>
            <a:r>
              <a:rPr lang="zh-CN" altLang="en-US" b="1" dirty="0">
                <a:solidFill>
                  <a:srgbClr val="FFFF00"/>
                </a:solidFill>
                <a:latin typeface="微软雅黑" pitchFamily="34" charset="-122"/>
                <a:ea typeface="微软雅黑" pitchFamily="34" charset="-122"/>
              </a:rPr>
              <a:t>本地域名服务器</a:t>
            </a:r>
            <a:r>
              <a:rPr lang="zh-CN" altLang="en-US" b="1" dirty="0">
                <a:solidFill>
                  <a:schemeClr val="bg1"/>
                </a:solidFill>
                <a:latin typeface="微软雅黑" pitchFamily="34" charset="-122"/>
                <a:ea typeface="微软雅黑" pitchFamily="34" charset="-122"/>
              </a:rPr>
              <a:t>下一步应当找哪一个</a:t>
            </a:r>
            <a:r>
              <a:rPr lang="zh-CN" altLang="en-US" b="1" dirty="0">
                <a:solidFill>
                  <a:srgbClr val="FFC000"/>
                </a:solidFill>
                <a:latin typeface="微软雅黑" pitchFamily="34" charset="-122"/>
                <a:ea typeface="微软雅黑" pitchFamily="34" charset="-122"/>
              </a:rPr>
              <a:t>顶级域名服务器</a:t>
            </a:r>
            <a:r>
              <a:rPr lang="zh-CN" altLang="en-US" b="1" dirty="0">
                <a:solidFill>
                  <a:schemeClr val="bg1"/>
                </a:solidFill>
                <a:latin typeface="微软雅黑" pitchFamily="34" charset="-122"/>
                <a:ea typeface="微软雅黑" pitchFamily="34" charset="-122"/>
              </a:rPr>
              <a:t>进行查询。</a:t>
            </a:r>
          </a:p>
        </p:txBody>
      </p:sp>
    </p:spTree>
    <p:extLst>
      <p:ext uri="{BB962C8B-B14F-4D97-AF65-F5344CB8AC3E}">
        <p14:creationId xmlns:p14="http://schemas.microsoft.com/office/powerpoint/2010/main" val="31385169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98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36648" y="585484"/>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顶级域名服务器</a:t>
            </a:r>
          </a:p>
        </p:txBody>
      </p:sp>
      <p:sp>
        <p:nvSpPr>
          <p:cNvPr id="7" name="Rectangle 68"/>
          <p:cNvSpPr>
            <a:spLocks noChangeArrowheads="1"/>
          </p:cNvSpPr>
          <p:nvPr/>
        </p:nvSpPr>
        <p:spPr bwMode="auto">
          <a:xfrm>
            <a:off x="556962" y="966432"/>
            <a:ext cx="820529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顶级域名服务器（即 </a:t>
            </a:r>
            <a:r>
              <a:rPr lang="en-US" altLang="zh-CN" sz="2000" b="1" dirty="0">
                <a:solidFill>
                  <a:srgbClr val="0000FF"/>
                </a:solidFill>
                <a:latin typeface="微软雅黑" pitchFamily="34" charset="-122"/>
                <a:ea typeface="微软雅黑" pitchFamily="34" charset="-122"/>
              </a:rPr>
              <a:t>TLD </a:t>
            </a:r>
            <a:r>
              <a:rPr lang="zh-CN" altLang="en-US" sz="2000" b="1" dirty="0">
                <a:solidFill>
                  <a:srgbClr val="0000FF"/>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）负责管理在该顶级域名服务器注册的</a:t>
            </a:r>
            <a:r>
              <a:rPr lang="zh-CN" altLang="en-US" sz="2000" b="1" dirty="0">
                <a:solidFill>
                  <a:srgbClr val="0000FF"/>
                </a:solidFill>
                <a:latin typeface="微软雅黑" pitchFamily="34" charset="-122"/>
                <a:ea typeface="微软雅黑" pitchFamily="34" charset="-122"/>
              </a:rPr>
              <a:t>所有二级域名</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当收到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查询请求时，就给出相应的回答（可能是最后的结果，也可能是下一步应当找的域名服务器的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p>
        </p:txBody>
      </p:sp>
    </p:spTree>
    <p:extLst>
      <p:ext uri="{BB962C8B-B14F-4D97-AF65-F5344CB8AC3E}">
        <p14:creationId xmlns:p14="http://schemas.microsoft.com/office/powerpoint/2010/main" val="29027039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5"/>
          <p:cNvSpPr>
            <a:spLocks noChangeArrowheads="1"/>
          </p:cNvSpPr>
          <p:nvPr/>
        </p:nvSpPr>
        <p:spPr bwMode="auto">
          <a:xfrm>
            <a:off x="556963" y="6137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3" name="Rectangle 6"/>
          <p:cNvSpPr>
            <a:spLocks noChangeArrowheads="1"/>
          </p:cNvSpPr>
          <p:nvPr/>
        </p:nvSpPr>
        <p:spPr bwMode="auto">
          <a:xfrm>
            <a:off x="3436648" y="580586"/>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权限域名服务器</a:t>
            </a:r>
          </a:p>
        </p:txBody>
      </p:sp>
      <p:sp>
        <p:nvSpPr>
          <p:cNvPr id="14" name="Rectangle 68"/>
          <p:cNvSpPr>
            <a:spLocks noChangeArrowheads="1"/>
          </p:cNvSpPr>
          <p:nvPr/>
        </p:nvSpPr>
        <p:spPr bwMode="auto">
          <a:xfrm>
            <a:off x="556963" y="979290"/>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负责一个区（</a:t>
            </a:r>
            <a:r>
              <a:rPr lang="en-US" altLang="zh-CN" sz="2000" b="1" dirty="0">
                <a:latin typeface="微软雅黑" pitchFamily="34" charset="-122"/>
                <a:ea typeface="微软雅黑" pitchFamily="34" charset="-122"/>
              </a:rPr>
              <a:t>zone</a:t>
            </a:r>
            <a:r>
              <a:rPr lang="zh-CN" altLang="en-US" sz="2000" b="1" dirty="0">
                <a:latin typeface="微软雅黑" pitchFamily="34" charset="-122"/>
                <a:ea typeface="微软雅黑" pitchFamily="34" charset="-122"/>
              </a:rPr>
              <a:t>）的域名服务器。</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当一个权限域名服务器还不能给出最后的查询回答时，就会告诉发出查询请求的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客户，下一步应当找哪一个权限域名服务器。 </a:t>
            </a:r>
          </a:p>
        </p:txBody>
      </p:sp>
    </p:spTree>
    <p:extLst>
      <p:ext uri="{BB962C8B-B14F-4D97-AF65-F5344CB8AC3E}">
        <p14:creationId xmlns:p14="http://schemas.microsoft.com/office/powerpoint/2010/main" val="1764252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54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436648" y="582222"/>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本地域名服务器</a:t>
            </a:r>
          </a:p>
        </p:txBody>
      </p:sp>
      <p:sp>
        <p:nvSpPr>
          <p:cNvPr id="10" name="Rectangle 68"/>
          <p:cNvSpPr>
            <a:spLocks noChangeArrowheads="1"/>
          </p:cNvSpPr>
          <p:nvPr/>
        </p:nvSpPr>
        <p:spPr bwMode="auto">
          <a:xfrm>
            <a:off x="556963" y="972048"/>
            <a:ext cx="8048776"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非常重要。</a:t>
            </a: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当一个主机发出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查询请求时，该查询请求报文就</a:t>
            </a:r>
            <a:r>
              <a:rPr lang="zh-CN" altLang="en-US" sz="2000" b="1" dirty="0">
                <a:solidFill>
                  <a:srgbClr val="C00000"/>
                </a:solidFill>
                <a:latin typeface="微软雅黑" pitchFamily="34" charset="-122"/>
                <a:ea typeface="微软雅黑" pitchFamily="34" charset="-122"/>
              </a:rPr>
              <a:t>发送</a:t>
            </a:r>
            <a:r>
              <a:rPr lang="zh-CN" altLang="en-US" sz="2000" b="1" dirty="0">
                <a:latin typeface="微软雅黑" pitchFamily="34" charset="-122"/>
                <a:ea typeface="微软雅黑" pitchFamily="34" charset="-122"/>
              </a:rPr>
              <a:t>给本地域名服务器。</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每一个互联网服务提供者 </a:t>
            </a:r>
            <a:r>
              <a:rPr lang="en-US" altLang="zh-CN" sz="2000" b="1" dirty="0">
                <a:latin typeface="微软雅黑" pitchFamily="34" charset="-122"/>
                <a:ea typeface="微软雅黑" pitchFamily="34" charset="-122"/>
              </a:rPr>
              <a:t>ISP </a:t>
            </a:r>
            <a:r>
              <a:rPr lang="zh-CN" altLang="en-US" sz="2000" b="1" dirty="0">
                <a:latin typeface="微软雅黑" pitchFamily="34" charset="-122"/>
                <a:ea typeface="微软雅黑" pitchFamily="34" charset="-122"/>
              </a:rPr>
              <a:t>或一个大学，都可以拥有一个本地域名服务器。</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当所要查询的主机也属于同一个本地 </a:t>
            </a:r>
            <a:r>
              <a:rPr lang="en-US" altLang="zh-CN" sz="2000" b="1" dirty="0">
                <a:latin typeface="微软雅黑" pitchFamily="34" charset="-122"/>
                <a:ea typeface="微软雅黑" pitchFamily="34" charset="-122"/>
              </a:rPr>
              <a:t>ISP </a:t>
            </a:r>
            <a:r>
              <a:rPr lang="zh-CN" altLang="en-US" sz="2000" b="1" dirty="0">
                <a:latin typeface="微软雅黑" pitchFamily="34" charset="-122"/>
                <a:ea typeface="微软雅黑" pitchFamily="34" charset="-122"/>
              </a:rPr>
              <a:t>时，该本地域名服务器立即就能将所查询的主机名转换为它的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地址，而</a:t>
            </a:r>
            <a:r>
              <a:rPr lang="zh-CN" altLang="en-US" sz="2000" b="1" dirty="0">
                <a:solidFill>
                  <a:srgbClr val="C00000"/>
                </a:solidFill>
                <a:latin typeface="微软雅黑" pitchFamily="34" charset="-122"/>
                <a:ea typeface="微软雅黑" pitchFamily="34" charset="-122"/>
              </a:rPr>
              <a:t>不需要</a:t>
            </a:r>
            <a:r>
              <a:rPr lang="zh-CN" altLang="en-US" sz="2000" b="1" dirty="0">
                <a:latin typeface="微软雅黑" pitchFamily="34" charset="-122"/>
                <a:ea typeface="微软雅黑" pitchFamily="34" charset="-122"/>
              </a:rPr>
              <a:t>再去询问其他的域名服务器。</a:t>
            </a: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本地域名服务器有时也称为</a:t>
            </a:r>
            <a:r>
              <a:rPr lang="zh-CN" altLang="en-US" sz="2000" b="1" dirty="0">
                <a:solidFill>
                  <a:srgbClr val="C00000"/>
                </a:solidFill>
                <a:latin typeface="微软雅黑" pitchFamily="34" charset="-122"/>
                <a:ea typeface="微软雅黑" pitchFamily="34" charset="-122"/>
              </a:rPr>
              <a:t>默认域名服务器。</a:t>
            </a:r>
          </a:p>
        </p:txBody>
      </p:sp>
    </p:spTree>
    <p:extLst>
      <p:ext uri="{BB962C8B-B14F-4D97-AF65-F5344CB8AC3E}">
        <p14:creationId xmlns:p14="http://schemas.microsoft.com/office/powerpoint/2010/main" val="397434469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54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078377" y="582285"/>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提高域名服务器的可靠性</a:t>
            </a:r>
          </a:p>
        </p:txBody>
      </p:sp>
      <p:sp>
        <p:nvSpPr>
          <p:cNvPr id="8" name="Rectangle 68"/>
          <p:cNvSpPr>
            <a:spLocks noChangeArrowheads="1"/>
          </p:cNvSpPr>
          <p:nvPr/>
        </p:nvSpPr>
        <p:spPr bwMode="auto">
          <a:xfrm>
            <a:off x="556963" y="96323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域名服务器都把数据复制到几个域名服务器来保存，其中的一个是</a:t>
            </a:r>
            <a:r>
              <a:rPr lang="zh-CN" altLang="en-US" sz="2000" b="1" dirty="0">
                <a:solidFill>
                  <a:srgbClr val="C00000"/>
                </a:solidFill>
                <a:latin typeface="微软雅黑" pitchFamily="34" charset="-122"/>
                <a:ea typeface="微软雅黑" pitchFamily="34" charset="-122"/>
              </a:rPr>
              <a:t>主域名服务器，</a:t>
            </a:r>
            <a:r>
              <a:rPr lang="zh-CN" altLang="en-US" sz="2000" b="1" dirty="0">
                <a:latin typeface="微软雅黑" pitchFamily="34" charset="-122"/>
                <a:ea typeface="微软雅黑" pitchFamily="34" charset="-122"/>
              </a:rPr>
              <a:t>其他的是</a:t>
            </a:r>
            <a:r>
              <a:rPr lang="zh-CN" altLang="en-US" sz="2000" b="1" dirty="0">
                <a:solidFill>
                  <a:srgbClr val="C00000"/>
                </a:solidFill>
                <a:latin typeface="微软雅黑" pitchFamily="34" charset="-122"/>
                <a:ea typeface="微软雅黑" pitchFamily="34" charset="-122"/>
              </a:rPr>
              <a:t>辅助域名服务器。</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当主域名服务器出故障时，辅助域名服务器可以保证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的查询工作不会中断。</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主域名服务器</a:t>
            </a:r>
            <a:r>
              <a:rPr lang="zh-CN" altLang="en-US" sz="2000" b="1" dirty="0">
                <a:solidFill>
                  <a:srgbClr val="C00000"/>
                </a:solidFill>
                <a:latin typeface="微软雅黑" pitchFamily="34" charset="-122"/>
                <a:ea typeface="微软雅黑" pitchFamily="34" charset="-122"/>
              </a:rPr>
              <a:t>定期</a:t>
            </a:r>
            <a:r>
              <a:rPr lang="zh-CN" altLang="en-US" sz="2000" b="1" dirty="0">
                <a:latin typeface="微软雅黑" pitchFamily="34" charset="-122"/>
                <a:ea typeface="微软雅黑" pitchFamily="34" charset="-122"/>
              </a:rPr>
              <a:t>把数据复制到辅助域名服务器中，而</a:t>
            </a:r>
            <a:r>
              <a:rPr lang="zh-CN" altLang="en-US" sz="2000" b="1" dirty="0">
                <a:solidFill>
                  <a:srgbClr val="C00000"/>
                </a:solidFill>
                <a:latin typeface="微软雅黑" pitchFamily="34" charset="-122"/>
                <a:ea typeface="微软雅黑" pitchFamily="34" charset="-122"/>
              </a:rPr>
              <a:t>更改</a:t>
            </a:r>
            <a:r>
              <a:rPr lang="zh-CN" altLang="en-US" sz="2000" b="1" dirty="0">
                <a:latin typeface="微软雅黑" pitchFamily="34" charset="-122"/>
                <a:ea typeface="微软雅黑" pitchFamily="34" charset="-122"/>
              </a:rPr>
              <a:t>数据</a:t>
            </a:r>
            <a:r>
              <a:rPr lang="zh-CN" altLang="en-US" sz="2000" b="1" dirty="0">
                <a:solidFill>
                  <a:srgbClr val="C00000"/>
                </a:solidFill>
                <a:latin typeface="微软雅黑" pitchFamily="34" charset="-122"/>
                <a:ea typeface="微软雅黑" pitchFamily="34" charset="-122"/>
              </a:rPr>
              <a:t>只能</a:t>
            </a:r>
            <a:r>
              <a:rPr lang="zh-CN" altLang="en-US" sz="2000" b="1" dirty="0">
                <a:latin typeface="微软雅黑" pitchFamily="34" charset="-122"/>
                <a:ea typeface="微软雅黑" pitchFamily="34" charset="-122"/>
              </a:rPr>
              <a:t>在主域名服务器中进行，保证了数据的一致性。</a:t>
            </a:r>
          </a:p>
        </p:txBody>
      </p:sp>
    </p:spTree>
    <p:extLst>
      <p:ext uri="{BB962C8B-B14F-4D97-AF65-F5344CB8AC3E}">
        <p14:creationId xmlns:p14="http://schemas.microsoft.com/office/powerpoint/2010/main" val="15384511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7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38" y="583567"/>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域名的解析过程</a:t>
            </a:r>
          </a:p>
        </p:txBody>
      </p:sp>
      <p:graphicFrame>
        <p:nvGraphicFramePr>
          <p:cNvPr id="2" name="图示 1"/>
          <p:cNvGraphicFramePr/>
          <p:nvPr>
            <p:extLst>
              <p:ext uri="{D42A27DB-BD31-4B8C-83A1-F6EECF244321}">
                <p14:modId xmlns:p14="http://schemas.microsoft.com/office/powerpoint/2010/main" val="3102832414"/>
              </p:ext>
            </p:extLst>
          </p:nvPr>
        </p:nvGraphicFramePr>
        <p:xfrm>
          <a:off x="1417466" y="1107923"/>
          <a:ext cx="6474781" cy="28426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964266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迭代查询</a:t>
            </a: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00FF"/>
                </a:solidFill>
                <a:latin typeface="微软雅黑" pitchFamily="34" charset="-122"/>
                <a:ea typeface="微软雅黑" pitchFamily="34" charset="-122"/>
              </a:rPr>
              <a:t>顶级域名服务器</a:t>
            </a:r>
          </a:p>
          <a:p>
            <a:pPr algn="ctr" eaLnBrk="1" hangingPunct="1"/>
            <a:r>
              <a:rPr kumimoji="1" lang="en-US" altLang="zh-CN" sz="1400" b="1" dirty="0">
                <a:solidFill>
                  <a:srgbClr val="9900FF"/>
                </a:solidFill>
                <a:latin typeface="微软雅黑" pitchFamily="34" charset="-122"/>
                <a:ea typeface="微软雅黑" pitchFamily="34" charset="-122"/>
              </a:rPr>
              <a:t>dns.com</a:t>
            </a: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3300"/>
                </a:solidFill>
                <a:latin typeface="微软雅黑" pitchFamily="34" charset="-122"/>
                <a:ea typeface="微软雅黑" pitchFamily="34" charset="-122"/>
              </a:rPr>
              <a:t>权限</a:t>
            </a:r>
            <a:r>
              <a:rPr kumimoji="1" lang="zh-CN" altLang="zh-CN" sz="1400" b="1" dirty="0">
                <a:solidFill>
                  <a:srgbClr val="993300"/>
                </a:solidFill>
                <a:latin typeface="微软雅黑" pitchFamily="34" charset="-122"/>
                <a:ea typeface="微软雅黑" pitchFamily="34" charset="-122"/>
              </a:rPr>
              <a:t>域名服务</a:t>
            </a:r>
            <a:r>
              <a:rPr kumimoji="1" lang="en-US" altLang="zh-CN" sz="1400" b="1" dirty="0">
                <a:solidFill>
                  <a:srgbClr val="993300"/>
                </a:solidFill>
                <a:latin typeface="微软雅黑" pitchFamily="34" charset="-122"/>
                <a:ea typeface="微软雅黑" pitchFamily="34" charset="-122"/>
              </a:rPr>
              <a:t>dns.abc.com</a:t>
            </a: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0000FF"/>
                </a:solidFill>
                <a:latin typeface="微软雅黑" pitchFamily="34" charset="-122"/>
                <a:ea typeface="微软雅黑" pitchFamily="34" charset="-122"/>
              </a:rPr>
              <a:t>本地域名服务器</a:t>
            </a:r>
          </a:p>
          <a:p>
            <a:pPr algn="ctr" eaLnBrk="1" hangingPunct="1"/>
            <a:r>
              <a:rPr kumimoji="1" lang="en-US" altLang="zh-CN" sz="1400" b="1" dirty="0">
                <a:solidFill>
                  <a:srgbClr val="0000FF"/>
                </a:solidFill>
                <a:latin typeface="微软雅黑" pitchFamily="34" charset="-122"/>
                <a:ea typeface="微软雅黑" pitchFamily="34" charset="-122"/>
              </a:rPr>
              <a:t>dns.xyz.com</a:t>
            </a: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C00000"/>
                </a:solidFill>
                <a:latin typeface="微软雅黑" pitchFamily="34" charset="-122"/>
                <a:ea typeface="微软雅黑" pitchFamily="34" charset="-122"/>
              </a:rPr>
              <a:t>根域名服务器</a:t>
            </a:r>
          </a:p>
        </p:txBody>
      </p:sp>
      <p:grpSp>
        <p:nvGrpSpPr>
          <p:cNvPr id="19" name="Group 40"/>
          <p:cNvGrpSpPr>
            <a:grpSpLocks/>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2" name="Group 41"/>
          <p:cNvGrpSpPr>
            <a:grpSpLocks/>
          </p:cNvGrpSpPr>
          <p:nvPr/>
        </p:nvGrpSpPr>
        <p:grpSpPr bwMode="auto">
          <a:xfrm>
            <a:off x="3762814" y="1733885"/>
            <a:ext cx="367662" cy="680813"/>
            <a:chOff x="2035" y="1831"/>
            <a:chExt cx="331" cy="664"/>
          </a:xfrm>
        </p:grpSpPr>
        <p:sp>
          <p:nvSpPr>
            <p:cNvPr id="23" name="Text Box 19"/>
            <p:cNvSpPr txBox="1">
              <a:spLocks noChangeArrowheads="1"/>
            </p:cNvSpPr>
            <p:nvPr/>
          </p:nvSpPr>
          <p:spPr bwMode="auto">
            <a:xfrm flipH="1">
              <a:off x="2035"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5" name="Group 42"/>
          <p:cNvGrpSpPr>
            <a:grpSpLocks/>
          </p:cNvGrpSpPr>
          <p:nvPr/>
        </p:nvGrpSpPr>
        <p:grpSpPr bwMode="auto">
          <a:xfrm>
            <a:off x="3886112" y="1743115"/>
            <a:ext cx="1224062" cy="718750"/>
            <a:chOff x="2146" y="1840"/>
            <a:chExt cx="1102" cy="701"/>
          </a:xfrm>
        </p:grpSpPr>
        <p:sp>
          <p:nvSpPr>
            <p:cNvPr id="26" name="Text Box 14"/>
            <p:cNvSpPr txBox="1">
              <a:spLocks noChangeArrowheads="1"/>
            </p:cNvSpPr>
            <p:nvPr/>
          </p:nvSpPr>
          <p:spPr bwMode="auto">
            <a:xfrm flipH="1">
              <a:off x="2146" y="2178"/>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7" name="Line 22"/>
            <p:cNvSpPr>
              <a:spLocks noChangeShapeType="1"/>
            </p:cNvSpPr>
            <p:nvPr/>
          </p:nvSpPr>
          <p:spPr bwMode="auto">
            <a:xfrm rot="10800000" flipH="1">
              <a:off x="2213" y="1840"/>
              <a:ext cx="1035" cy="701"/>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8" name="Group 43"/>
          <p:cNvGrpSpPr>
            <a:grpSpLocks/>
          </p:cNvGrpSpPr>
          <p:nvPr/>
        </p:nvGrpSpPr>
        <p:grpSpPr bwMode="auto">
          <a:xfrm>
            <a:off x="3983859" y="1733885"/>
            <a:ext cx="1417335" cy="819231"/>
            <a:chOff x="2234" y="1831"/>
            <a:chExt cx="1276" cy="799"/>
          </a:xfrm>
        </p:grpSpPr>
        <p:sp>
          <p:nvSpPr>
            <p:cNvPr id="29" name="Text Box 13"/>
            <p:cNvSpPr txBox="1">
              <a:spLocks noChangeArrowheads="1"/>
            </p:cNvSpPr>
            <p:nvPr/>
          </p:nvSpPr>
          <p:spPr bwMode="auto">
            <a:xfrm flipH="1">
              <a:off x="3179"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30" name="Line 23"/>
            <p:cNvSpPr>
              <a:spLocks noChangeShapeType="1"/>
            </p:cNvSpPr>
            <p:nvPr/>
          </p:nvSpPr>
          <p:spPr bwMode="auto">
            <a:xfrm flipH="1">
              <a:off x="2234" y="1870"/>
              <a:ext cx="1100" cy="76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2" name="Group 45"/>
          <p:cNvGrpSpPr>
            <a:grpSpLocks/>
          </p:cNvGrpSpPr>
          <p:nvPr/>
        </p:nvGrpSpPr>
        <p:grpSpPr bwMode="auto">
          <a:xfrm>
            <a:off x="3983859" y="2436240"/>
            <a:ext cx="1119651" cy="338357"/>
            <a:chOff x="2234" y="2516"/>
            <a:chExt cx="1008" cy="330"/>
          </a:xfrm>
        </p:grpSpPr>
        <p:sp>
          <p:nvSpPr>
            <p:cNvPr id="33" name="Text Box 25"/>
            <p:cNvSpPr txBox="1">
              <a:spLocks noChangeArrowheads="1"/>
            </p:cNvSpPr>
            <p:nvPr/>
          </p:nvSpPr>
          <p:spPr bwMode="auto">
            <a:xfrm flipH="1">
              <a:off x="2275" y="2516"/>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34" name="Line 27"/>
            <p:cNvSpPr>
              <a:spLocks noChangeShapeType="1"/>
            </p:cNvSpPr>
            <p:nvPr/>
          </p:nvSpPr>
          <p:spPr bwMode="auto">
            <a:xfrm rot="16200000" flipH="1">
              <a:off x="2738" y="2283"/>
              <a:ext cx="0" cy="100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5" name="Group 46"/>
          <p:cNvGrpSpPr>
            <a:grpSpLocks/>
          </p:cNvGrpSpPr>
          <p:nvPr/>
        </p:nvGrpSpPr>
        <p:grpSpPr bwMode="auto">
          <a:xfrm>
            <a:off x="3983856" y="2768446"/>
            <a:ext cx="1186296" cy="338357"/>
            <a:chOff x="2234" y="2840"/>
            <a:chExt cx="1068" cy="330"/>
          </a:xfrm>
        </p:grpSpPr>
        <p:sp>
          <p:nvSpPr>
            <p:cNvPr id="36" name="Line 28"/>
            <p:cNvSpPr>
              <a:spLocks noChangeShapeType="1"/>
            </p:cNvSpPr>
            <p:nvPr/>
          </p:nvSpPr>
          <p:spPr bwMode="auto">
            <a:xfrm rot="5400000">
              <a:off x="2738" y="2379"/>
              <a:ext cx="0" cy="100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9"/>
            <p:cNvSpPr txBox="1">
              <a:spLocks noChangeArrowheads="1"/>
            </p:cNvSpPr>
            <p:nvPr/>
          </p:nvSpPr>
          <p:spPr bwMode="auto">
            <a:xfrm flipH="1">
              <a:off x="2971" y="284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grpSp>
      <p:grpSp>
        <p:nvGrpSpPr>
          <p:cNvPr id="39" name="Group 49"/>
          <p:cNvGrpSpPr>
            <a:grpSpLocks/>
          </p:cNvGrpSpPr>
          <p:nvPr/>
        </p:nvGrpSpPr>
        <p:grpSpPr bwMode="auto">
          <a:xfrm>
            <a:off x="3782810" y="3031942"/>
            <a:ext cx="1856087" cy="653129"/>
            <a:chOff x="2053" y="3097"/>
            <a:chExt cx="1671" cy="637"/>
          </a:xfrm>
        </p:grpSpPr>
        <p:grpSp>
          <p:nvGrpSpPr>
            <p:cNvPr id="40" name="Group 48"/>
            <p:cNvGrpSpPr>
              <a:grpSpLocks/>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43" name="Group 47"/>
              <p:cNvGrpSpPr>
                <a:grpSpLocks/>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dirty="0">
                  <a:latin typeface="微软雅黑" pitchFamily="34" charset="-122"/>
                  <a:ea typeface="微软雅黑" pitchFamily="34" charset="-122"/>
                </a:rPr>
                <a:t> 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 </a:t>
              </a: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a:latin typeface="微软雅黑" pitchFamily="34" charset="-122"/>
                <a:ea typeface="微软雅黑" pitchFamily="34" charset="-122"/>
              </a:rPr>
              <a:t>m.xyz.com </a:t>
            </a: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FF0000"/>
                </a:solidFill>
                <a:latin typeface="微软雅黑" pitchFamily="34" charset="-122"/>
                <a:ea typeface="微软雅黑" pitchFamily="34" charset="-122"/>
              </a:rPr>
              <a:t>递归查询</a:t>
            </a:r>
          </a:p>
        </p:txBody>
      </p:sp>
      <p:grpSp>
        <p:nvGrpSpPr>
          <p:cNvPr id="49" name="Group 39"/>
          <p:cNvGrpSpPr>
            <a:grpSpLocks/>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查询 </a:t>
            </a:r>
            <a:endParaRPr kumimoji="1" lang="en-US" altLang="zh-CN" sz="1200" b="1" dirty="0">
              <a:latin typeface="微软雅黑" pitchFamily="34" charset="-122"/>
              <a:ea typeface="微软雅黑" pitchFamily="34" charset="-122"/>
            </a:endParaRPr>
          </a:p>
          <a:p>
            <a:pPr algn="ctr" eaLnBrk="1" hangingPunct="1"/>
            <a:r>
              <a:rPr kumimoji="1" lang="en-US" altLang="zh-CN" sz="1200" b="1" dirty="0">
                <a:latin typeface="微软雅黑" pitchFamily="34" charset="-122"/>
                <a:ea typeface="微软雅黑" pitchFamily="34" charset="-122"/>
              </a:rPr>
              <a:t>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pic>
        <p:nvPicPr>
          <p:cNvPr id="53" name="图片 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查询请求，域名</a:t>
              </a: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查询响应，</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grpSp>
    </p:spTree>
    <p:extLst>
      <p:ext uri="{BB962C8B-B14F-4D97-AF65-F5344CB8AC3E}">
        <p14:creationId xmlns:p14="http://schemas.microsoft.com/office/powerpoint/2010/main" val="64816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25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250"/>
                            </p:stCondLst>
                            <p:childTnLst>
                              <p:par>
                                <p:cTn id="16" presetID="22" presetClass="entr" presetSubtype="1" fill="hold" nodeType="afterEffect">
                                  <p:stCondLst>
                                    <p:cond delay="500"/>
                                  </p:stCondLst>
                                  <p:childTnLst>
                                    <p:set>
                                      <p:cBhvr>
                                        <p:cTn id="17" dur="1" fill="hold">
                                          <p:stCondLst>
                                            <p:cond delay="0"/>
                                          </p:stCondLst>
                                        </p:cTn>
                                        <p:tgtEl>
                                          <p:spTgt spid="22"/>
                                        </p:tgtEl>
                                        <p:attrNameLst>
                                          <p:attrName>style.visibility</p:attrName>
                                        </p:attrNameLst>
                                      </p:cBhvr>
                                      <p:to>
                                        <p:strVal val="visible"/>
                                      </p:to>
                                    </p:set>
                                    <p:animEffect transition="in" filter="wipe(up)">
                                      <p:cBhvr>
                                        <p:cTn id="18" dur="750"/>
                                        <p:tgtEl>
                                          <p:spTgt spid="22"/>
                                        </p:tgtEl>
                                      </p:cBhvr>
                                    </p:animEffect>
                                  </p:childTnLst>
                                </p:cTn>
                              </p:par>
                            </p:childTnLst>
                          </p:cTn>
                        </p:par>
                        <p:par>
                          <p:cTn id="19" fill="hold">
                            <p:stCondLst>
                              <p:cond delay="3500"/>
                            </p:stCondLst>
                            <p:childTnLst>
                              <p:par>
                                <p:cTn id="20" presetID="22" presetClass="entr" presetSubtype="8" fill="hold" nodeType="afterEffect">
                                  <p:stCondLst>
                                    <p:cond delay="250"/>
                                  </p:stCondLst>
                                  <p:childTnLst>
                                    <p:set>
                                      <p:cBhvr>
                                        <p:cTn id="21" dur="1" fill="hold">
                                          <p:stCondLst>
                                            <p:cond delay="0"/>
                                          </p:stCondLst>
                                        </p:cTn>
                                        <p:tgtEl>
                                          <p:spTgt spid="25"/>
                                        </p:tgtEl>
                                        <p:attrNameLst>
                                          <p:attrName>style.visibility</p:attrName>
                                        </p:attrNameLst>
                                      </p:cBhvr>
                                      <p:to>
                                        <p:strVal val="visible"/>
                                      </p:to>
                                    </p:set>
                                    <p:animEffect transition="in" filter="wipe(left)">
                                      <p:cBhvr>
                                        <p:cTn id="22" dur="750"/>
                                        <p:tgtEl>
                                          <p:spTgt spid="25"/>
                                        </p:tgtEl>
                                      </p:cBhvr>
                                    </p:animEffect>
                                  </p:childTnLst>
                                </p:cTn>
                              </p:par>
                            </p:childTnLst>
                          </p:cTn>
                        </p:par>
                        <p:par>
                          <p:cTn id="23" fill="hold">
                            <p:stCondLst>
                              <p:cond delay="4500"/>
                            </p:stCondLst>
                            <p:childTnLst>
                              <p:par>
                                <p:cTn id="24" presetID="22" presetClass="entr" presetSubtype="2" fill="hold" nodeType="afterEffect">
                                  <p:stCondLst>
                                    <p:cond delay="250"/>
                                  </p:stCondLst>
                                  <p:childTnLst>
                                    <p:set>
                                      <p:cBhvr>
                                        <p:cTn id="25" dur="1" fill="hold">
                                          <p:stCondLst>
                                            <p:cond delay="0"/>
                                          </p:stCondLst>
                                        </p:cTn>
                                        <p:tgtEl>
                                          <p:spTgt spid="28"/>
                                        </p:tgtEl>
                                        <p:attrNameLst>
                                          <p:attrName>style.visibility</p:attrName>
                                        </p:attrNameLst>
                                      </p:cBhvr>
                                      <p:to>
                                        <p:strVal val="visible"/>
                                      </p:to>
                                    </p:set>
                                    <p:animEffect transition="in" filter="wipe(right)">
                                      <p:cBhvr>
                                        <p:cTn id="26" dur="750"/>
                                        <p:tgtEl>
                                          <p:spTgt spid="28"/>
                                        </p:tgtEl>
                                      </p:cBhvr>
                                    </p:animEffect>
                                  </p:childTnLst>
                                </p:cTn>
                              </p:par>
                            </p:childTnLst>
                          </p:cTn>
                        </p:par>
                        <p:par>
                          <p:cTn id="27" fill="hold">
                            <p:stCondLst>
                              <p:cond delay="5500"/>
                            </p:stCondLst>
                            <p:childTnLst>
                              <p:par>
                                <p:cTn id="28" presetID="22" presetClass="entr" presetSubtype="8" fill="hold" nodeType="afterEffect">
                                  <p:stCondLst>
                                    <p:cond delay="250"/>
                                  </p:stCondLst>
                                  <p:childTnLst>
                                    <p:set>
                                      <p:cBhvr>
                                        <p:cTn id="29" dur="1" fill="hold">
                                          <p:stCondLst>
                                            <p:cond delay="0"/>
                                          </p:stCondLst>
                                        </p:cTn>
                                        <p:tgtEl>
                                          <p:spTgt spid="32"/>
                                        </p:tgtEl>
                                        <p:attrNameLst>
                                          <p:attrName>style.visibility</p:attrName>
                                        </p:attrNameLst>
                                      </p:cBhvr>
                                      <p:to>
                                        <p:strVal val="visible"/>
                                      </p:to>
                                    </p:set>
                                    <p:animEffect transition="in" filter="wipe(left)">
                                      <p:cBhvr>
                                        <p:cTn id="30" dur="750"/>
                                        <p:tgtEl>
                                          <p:spTgt spid="32"/>
                                        </p:tgtEl>
                                      </p:cBhvr>
                                    </p:animEffect>
                                  </p:childTnLst>
                                </p:cTn>
                              </p:par>
                            </p:childTnLst>
                          </p:cTn>
                        </p:par>
                        <p:par>
                          <p:cTn id="31" fill="hold">
                            <p:stCondLst>
                              <p:cond delay="6500"/>
                            </p:stCondLst>
                            <p:childTnLst>
                              <p:par>
                                <p:cTn id="32" presetID="22" presetClass="entr" presetSubtype="2" fill="hold" nodeType="afterEffect">
                                  <p:stCondLst>
                                    <p:cond delay="250"/>
                                  </p:stCondLst>
                                  <p:childTnLst>
                                    <p:set>
                                      <p:cBhvr>
                                        <p:cTn id="33" dur="1" fill="hold">
                                          <p:stCondLst>
                                            <p:cond delay="0"/>
                                          </p:stCondLst>
                                        </p:cTn>
                                        <p:tgtEl>
                                          <p:spTgt spid="35"/>
                                        </p:tgtEl>
                                        <p:attrNameLst>
                                          <p:attrName>style.visibility</p:attrName>
                                        </p:attrNameLst>
                                      </p:cBhvr>
                                      <p:to>
                                        <p:strVal val="visible"/>
                                      </p:to>
                                    </p:set>
                                    <p:animEffect transition="in" filter="wipe(right)">
                                      <p:cBhvr>
                                        <p:cTn id="34" dur="750"/>
                                        <p:tgtEl>
                                          <p:spTgt spid="35"/>
                                        </p:tgtEl>
                                      </p:cBhvr>
                                    </p:animEffect>
                                  </p:childTnLst>
                                </p:cTn>
                              </p:par>
                            </p:childTnLst>
                          </p:cTn>
                        </p:par>
                        <p:par>
                          <p:cTn id="35" fill="hold">
                            <p:stCondLst>
                              <p:cond delay="7500"/>
                            </p:stCondLst>
                            <p:childTnLst>
                              <p:par>
                                <p:cTn id="36" presetID="22" presetClass="entr" presetSubtype="1" fill="hold" nodeType="afterEffect">
                                  <p:stCondLst>
                                    <p:cond delay="25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168146" y="582898"/>
            <a:ext cx="28264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递归查询（比较少用） </a:t>
            </a: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00FF"/>
                </a:solidFill>
                <a:latin typeface="微软雅黑" pitchFamily="34" charset="-122"/>
                <a:ea typeface="微软雅黑" pitchFamily="34" charset="-122"/>
              </a:rPr>
              <a:t>顶级域名服务器</a:t>
            </a:r>
          </a:p>
          <a:p>
            <a:pPr algn="ctr" eaLnBrk="1" hangingPunct="1"/>
            <a:r>
              <a:rPr kumimoji="1" lang="en-US" altLang="zh-CN" sz="1400" b="1" dirty="0">
                <a:solidFill>
                  <a:srgbClr val="9900FF"/>
                </a:solidFill>
                <a:latin typeface="微软雅黑" pitchFamily="34" charset="-122"/>
                <a:ea typeface="微软雅黑" pitchFamily="34" charset="-122"/>
              </a:rPr>
              <a:t>dns.com</a:t>
            </a: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993300"/>
                </a:solidFill>
                <a:latin typeface="微软雅黑" pitchFamily="34" charset="-122"/>
                <a:ea typeface="微软雅黑" pitchFamily="34" charset="-122"/>
              </a:rPr>
              <a:t>权限</a:t>
            </a:r>
            <a:r>
              <a:rPr kumimoji="1" lang="zh-CN" altLang="zh-CN" sz="1400" b="1" dirty="0">
                <a:solidFill>
                  <a:srgbClr val="993300"/>
                </a:solidFill>
                <a:latin typeface="微软雅黑" pitchFamily="34" charset="-122"/>
                <a:ea typeface="微软雅黑" pitchFamily="34" charset="-122"/>
              </a:rPr>
              <a:t>域名服务</a:t>
            </a:r>
            <a:r>
              <a:rPr kumimoji="1" lang="en-US" altLang="zh-CN" sz="1400" b="1" dirty="0">
                <a:solidFill>
                  <a:srgbClr val="993300"/>
                </a:solidFill>
                <a:latin typeface="微软雅黑" pitchFamily="34" charset="-122"/>
                <a:ea typeface="微软雅黑" pitchFamily="34" charset="-122"/>
              </a:rPr>
              <a:t>dns.abc.com</a:t>
            </a: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0000FF"/>
                </a:solidFill>
                <a:latin typeface="微软雅黑" pitchFamily="34" charset="-122"/>
                <a:ea typeface="微软雅黑" pitchFamily="34" charset="-122"/>
              </a:rPr>
              <a:t>本地域名服务器</a:t>
            </a:r>
          </a:p>
          <a:p>
            <a:pPr algn="ctr" eaLnBrk="1" hangingPunct="1"/>
            <a:r>
              <a:rPr kumimoji="1" lang="en-US" altLang="zh-CN" sz="1400" b="1" dirty="0">
                <a:solidFill>
                  <a:srgbClr val="0000FF"/>
                </a:solidFill>
                <a:latin typeface="微软雅黑" pitchFamily="34" charset="-122"/>
                <a:ea typeface="微软雅黑" pitchFamily="34" charset="-122"/>
              </a:rPr>
              <a:t>dns.xyz.com</a:t>
            </a: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C00000"/>
                </a:solidFill>
                <a:latin typeface="微软雅黑" pitchFamily="34" charset="-122"/>
                <a:ea typeface="微软雅黑" pitchFamily="34" charset="-122"/>
              </a:rPr>
              <a:t>根域名服务器</a:t>
            </a:r>
          </a:p>
        </p:txBody>
      </p:sp>
      <p:grpSp>
        <p:nvGrpSpPr>
          <p:cNvPr id="19" name="Group 40"/>
          <p:cNvGrpSpPr>
            <a:grpSpLocks/>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2" name="Group 41"/>
          <p:cNvGrpSpPr>
            <a:grpSpLocks/>
          </p:cNvGrpSpPr>
          <p:nvPr/>
        </p:nvGrpSpPr>
        <p:grpSpPr bwMode="auto">
          <a:xfrm>
            <a:off x="3762808" y="1752341"/>
            <a:ext cx="367661" cy="662357"/>
            <a:chOff x="2035" y="1849"/>
            <a:chExt cx="331" cy="646"/>
          </a:xfrm>
        </p:grpSpPr>
        <p:sp>
          <p:nvSpPr>
            <p:cNvPr id="23" name="Text Box 19"/>
            <p:cNvSpPr txBox="1">
              <a:spLocks noChangeArrowheads="1"/>
            </p:cNvSpPr>
            <p:nvPr/>
          </p:nvSpPr>
          <p:spPr bwMode="auto">
            <a:xfrm flipH="1">
              <a:off x="2035" y="184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5" name="Group 42"/>
          <p:cNvGrpSpPr>
            <a:grpSpLocks/>
          </p:cNvGrpSpPr>
          <p:nvPr/>
        </p:nvGrpSpPr>
        <p:grpSpPr bwMode="auto">
          <a:xfrm>
            <a:off x="3967275" y="1157636"/>
            <a:ext cx="1057447" cy="338354"/>
            <a:chOff x="2296" y="1719"/>
            <a:chExt cx="952" cy="330"/>
          </a:xfrm>
        </p:grpSpPr>
        <p:sp>
          <p:nvSpPr>
            <p:cNvPr id="26" name="Text Box 14"/>
            <p:cNvSpPr txBox="1">
              <a:spLocks noChangeArrowheads="1"/>
            </p:cNvSpPr>
            <p:nvPr/>
          </p:nvSpPr>
          <p:spPr bwMode="auto">
            <a:xfrm flipH="1">
              <a:off x="2296" y="171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sp>
          <p:nvSpPr>
            <p:cNvPr id="27" name="Line 22"/>
            <p:cNvSpPr>
              <a:spLocks noChangeShapeType="1"/>
            </p:cNvSpPr>
            <p:nvPr/>
          </p:nvSpPr>
          <p:spPr bwMode="auto">
            <a:xfrm rot="10800000" flipH="1">
              <a:off x="2299" y="1993"/>
              <a:ext cx="949"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28" name="Group 43"/>
          <p:cNvGrpSpPr>
            <a:grpSpLocks/>
          </p:cNvGrpSpPr>
          <p:nvPr/>
        </p:nvGrpSpPr>
        <p:grpSpPr bwMode="auto">
          <a:xfrm>
            <a:off x="3983716" y="1514726"/>
            <a:ext cx="1075219" cy="338356"/>
            <a:chOff x="2392" y="1825"/>
            <a:chExt cx="968" cy="330"/>
          </a:xfrm>
        </p:grpSpPr>
        <p:sp>
          <p:nvSpPr>
            <p:cNvPr id="29" name="Text Box 13"/>
            <p:cNvSpPr txBox="1">
              <a:spLocks noChangeArrowheads="1"/>
            </p:cNvSpPr>
            <p:nvPr/>
          </p:nvSpPr>
          <p:spPr bwMode="auto">
            <a:xfrm flipH="1">
              <a:off x="3029" y="1825"/>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sp>
          <p:nvSpPr>
            <p:cNvPr id="30" name="Line 23"/>
            <p:cNvSpPr>
              <a:spLocks noChangeShapeType="1"/>
            </p:cNvSpPr>
            <p:nvPr/>
          </p:nvSpPr>
          <p:spPr bwMode="auto">
            <a:xfrm flipH="1" flipV="1">
              <a:off x="2392" y="1869"/>
              <a:ext cx="942" cy="1"/>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2" name="Group 45"/>
          <p:cNvGrpSpPr>
            <a:grpSpLocks/>
          </p:cNvGrpSpPr>
          <p:nvPr/>
        </p:nvGrpSpPr>
        <p:grpSpPr bwMode="auto">
          <a:xfrm>
            <a:off x="5297892" y="1774626"/>
            <a:ext cx="367663" cy="620321"/>
            <a:chOff x="3144" y="2182"/>
            <a:chExt cx="331" cy="605"/>
          </a:xfrm>
        </p:grpSpPr>
        <p:sp>
          <p:nvSpPr>
            <p:cNvPr id="33" name="Text Box 25"/>
            <p:cNvSpPr txBox="1">
              <a:spLocks noChangeArrowheads="1"/>
            </p:cNvSpPr>
            <p:nvPr/>
          </p:nvSpPr>
          <p:spPr bwMode="auto">
            <a:xfrm flipH="1">
              <a:off x="3144" y="2182"/>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sp>
          <p:nvSpPr>
            <p:cNvPr id="34" name="Line 27"/>
            <p:cNvSpPr>
              <a:spLocks noChangeShapeType="1"/>
            </p:cNvSpPr>
            <p:nvPr/>
          </p:nvSpPr>
          <p:spPr bwMode="auto">
            <a:xfrm rot="16200000" flipH="1">
              <a:off x="2918" y="2495"/>
              <a:ext cx="584" cy="0"/>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nvGrpSpPr>
          <p:cNvPr id="35" name="Group 46"/>
          <p:cNvGrpSpPr>
            <a:grpSpLocks/>
          </p:cNvGrpSpPr>
          <p:nvPr/>
        </p:nvGrpSpPr>
        <p:grpSpPr bwMode="auto">
          <a:xfrm>
            <a:off x="4929644" y="1804451"/>
            <a:ext cx="367663" cy="626473"/>
            <a:chOff x="2971" y="2343"/>
            <a:chExt cx="331" cy="611"/>
          </a:xfrm>
        </p:grpSpPr>
        <p:sp>
          <p:nvSpPr>
            <p:cNvPr id="36" name="Line 28"/>
            <p:cNvSpPr>
              <a:spLocks noChangeShapeType="1"/>
            </p:cNvSpPr>
            <p:nvPr/>
          </p:nvSpPr>
          <p:spPr bwMode="auto">
            <a:xfrm rot="5400000" flipH="1" flipV="1">
              <a:off x="2974" y="2614"/>
              <a:ext cx="541" cy="0"/>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29"/>
            <p:cNvSpPr txBox="1">
              <a:spLocks noChangeArrowheads="1"/>
            </p:cNvSpPr>
            <p:nvPr/>
          </p:nvSpPr>
          <p:spPr bwMode="auto">
            <a:xfrm flipH="1">
              <a:off x="2971" y="2624"/>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600" b="1" dirty="0">
                  <a:latin typeface="微软雅黑" pitchFamily="34" charset="-122"/>
                  <a:ea typeface="微软雅黑" pitchFamily="34" charset="-122"/>
                  <a:sym typeface="Wingdings" pitchFamily="2" charset="2"/>
                </a:rPr>
                <a:t></a:t>
              </a:r>
            </a:p>
          </p:txBody>
        </p:sp>
      </p:grpSp>
      <p:grpSp>
        <p:nvGrpSpPr>
          <p:cNvPr id="39" name="Group 49"/>
          <p:cNvGrpSpPr>
            <a:grpSpLocks/>
          </p:cNvGrpSpPr>
          <p:nvPr/>
        </p:nvGrpSpPr>
        <p:grpSpPr bwMode="auto">
          <a:xfrm>
            <a:off x="3782810" y="3031942"/>
            <a:ext cx="1856087" cy="653129"/>
            <a:chOff x="2053" y="3097"/>
            <a:chExt cx="1671" cy="637"/>
          </a:xfrm>
        </p:grpSpPr>
        <p:grpSp>
          <p:nvGrpSpPr>
            <p:cNvPr id="40" name="Group 48"/>
            <p:cNvGrpSpPr>
              <a:grpSpLocks/>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grpSp>
            <p:nvGrpSpPr>
              <p:cNvPr id="43" name="Group 47"/>
              <p:cNvGrpSpPr>
                <a:grpSpLocks/>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dirty="0">
                  <a:latin typeface="微软雅黑" pitchFamily="34" charset="-122"/>
                  <a:ea typeface="微软雅黑" pitchFamily="34" charset="-122"/>
                </a:rPr>
                <a:t> 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 </a:t>
              </a: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200" b="1">
                <a:latin typeface="微软雅黑" pitchFamily="34" charset="-122"/>
                <a:ea typeface="微软雅黑" pitchFamily="34" charset="-122"/>
              </a:rPr>
              <a:t>m.xyz.com </a:t>
            </a: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FF0000"/>
                </a:solidFill>
                <a:latin typeface="微软雅黑" pitchFamily="34" charset="-122"/>
                <a:ea typeface="微软雅黑" pitchFamily="34" charset="-122"/>
              </a:rPr>
              <a:t>递归查询</a:t>
            </a:r>
          </a:p>
        </p:txBody>
      </p:sp>
      <p:grpSp>
        <p:nvGrpSpPr>
          <p:cNvPr id="49" name="Group 39"/>
          <p:cNvGrpSpPr>
            <a:grpSpLocks/>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dirty="0">
                  <a:latin typeface="微软雅黑" pitchFamily="34" charset="-122"/>
                  <a:ea typeface="微软雅黑" pitchFamily="34" charset="-122"/>
                  <a:sym typeface="Wingdings" pitchFamily="2" charset="2"/>
                </a:rPr>
                <a:t></a:t>
              </a: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查询 </a:t>
            </a:r>
            <a:endParaRPr kumimoji="1" lang="en-US" altLang="zh-CN" sz="1200" b="1" dirty="0">
              <a:latin typeface="微软雅黑" pitchFamily="34" charset="-122"/>
              <a:ea typeface="微软雅黑" pitchFamily="34" charset="-122"/>
            </a:endParaRPr>
          </a:p>
          <a:p>
            <a:pPr algn="ctr" eaLnBrk="1" hangingPunct="1"/>
            <a:r>
              <a:rPr kumimoji="1" lang="en-US" altLang="zh-CN" sz="1200" b="1" dirty="0">
                <a:latin typeface="微软雅黑" pitchFamily="34" charset="-122"/>
                <a:ea typeface="微软雅黑" pitchFamily="34" charset="-122"/>
              </a:rPr>
              <a:t>y.abc.com </a:t>
            </a:r>
            <a:r>
              <a:rPr kumimoji="1" lang="zh-CN" altLang="en-US" sz="1200" b="1" dirty="0">
                <a:latin typeface="微软雅黑" pitchFamily="34" charset="-122"/>
                <a:ea typeface="微软雅黑" pitchFamily="34" charset="-122"/>
              </a:rPr>
              <a:t>的 </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pic>
        <p:nvPicPr>
          <p:cNvPr id="53" name="图片 5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查询请求，域名</a:t>
              </a: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查询响应，</a:t>
              </a:r>
              <a:r>
                <a:rPr kumimoji="1" lang="en-US" altLang="zh-CN" sz="1200" b="1" dirty="0">
                  <a:latin typeface="微软雅黑" pitchFamily="34" charset="-122"/>
                  <a:ea typeface="微软雅黑" pitchFamily="34" charset="-122"/>
                </a:rPr>
                <a:t>IP </a:t>
              </a:r>
              <a:r>
                <a:rPr kumimoji="1" lang="zh-CN" altLang="en-US" sz="1200" b="1" dirty="0">
                  <a:latin typeface="微软雅黑" pitchFamily="34" charset="-122"/>
                  <a:ea typeface="微软雅黑" pitchFamily="34" charset="-122"/>
                </a:rPr>
                <a:t>地址</a:t>
              </a:r>
            </a:p>
          </p:txBody>
        </p:sp>
      </p:grpSp>
    </p:spTree>
    <p:extLst>
      <p:ext uri="{BB962C8B-B14F-4D97-AF65-F5344CB8AC3E}">
        <p14:creationId xmlns:p14="http://schemas.microsoft.com/office/powerpoint/2010/main" val="222548141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50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500"/>
                            </p:stCondLst>
                            <p:childTnLst>
                              <p:par>
                                <p:cTn id="16" presetID="22" presetClass="entr" presetSubtype="8"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left)">
                                      <p:cBhvr>
                                        <p:cTn id="18" dur="750"/>
                                        <p:tgtEl>
                                          <p:spTgt spid="25"/>
                                        </p:tgtEl>
                                      </p:cBhvr>
                                    </p:animEffect>
                                  </p:childTnLst>
                                </p:cTn>
                              </p:par>
                            </p:childTnLst>
                          </p:cTn>
                        </p:par>
                        <p:par>
                          <p:cTn id="19" fill="hold">
                            <p:stCondLst>
                              <p:cond delay="3250"/>
                            </p:stCondLst>
                            <p:childTnLst>
                              <p:par>
                                <p:cTn id="20" presetID="22" presetClass="entr" presetSubtype="1" fill="hold" nodeType="after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up)">
                                      <p:cBhvr>
                                        <p:cTn id="22" dur="750"/>
                                        <p:tgtEl>
                                          <p:spTgt spid="32"/>
                                        </p:tgtEl>
                                      </p:cBhvr>
                                    </p:animEffect>
                                  </p:childTnLst>
                                </p:cTn>
                              </p:par>
                            </p:childTnLst>
                          </p:cTn>
                        </p:par>
                        <p:par>
                          <p:cTn id="23" fill="hold">
                            <p:stCondLst>
                              <p:cond delay="4000"/>
                            </p:stCondLst>
                            <p:childTnLst>
                              <p:par>
                                <p:cTn id="24" presetID="22" presetClass="entr" presetSubtype="4"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down)">
                                      <p:cBhvr>
                                        <p:cTn id="26" dur="750"/>
                                        <p:tgtEl>
                                          <p:spTgt spid="35"/>
                                        </p:tgtEl>
                                      </p:cBhvr>
                                    </p:animEffect>
                                  </p:childTnLst>
                                </p:cTn>
                              </p:par>
                            </p:childTnLst>
                          </p:cTn>
                        </p:par>
                        <p:par>
                          <p:cTn id="27" fill="hold">
                            <p:stCondLst>
                              <p:cond delay="4750"/>
                            </p:stCondLst>
                            <p:childTnLst>
                              <p:par>
                                <p:cTn id="28" presetID="22" presetClass="entr" presetSubtype="2" fill="hold" nodeType="after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wipe(right)">
                                      <p:cBhvr>
                                        <p:cTn id="30" dur="750"/>
                                        <p:tgtEl>
                                          <p:spTgt spid="28"/>
                                        </p:tgtEl>
                                      </p:cBhvr>
                                    </p:animEffect>
                                  </p:childTnLst>
                                </p:cTn>
                              </p:par>
                            </p:childTnLst>
                          </p:cTn>
                        </p:par>
                        <p:par>
                          <p:cTn id="31" fill="hold">
                            <p:stCondLst>
                              <p:cond delay="5500"/>
                            </p:stCondLst>
                            <p:childTnLst>
                              <p:par>
                                <p:cTn id="32" presetID="22" presetClass="entr" presetSubtype="1"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up)">
                                      <p:cBhvr>
                                        <p:cTn id="34" dur="750"/>
                                        <p:tgtEl>
                                          <p:spTgt spid="22"/>
                                        </p:tgtEl>
                                      </p:cBhvr>
                                    </p:animEffect>
                                  </p:childTnLst>
                                </p:cTn>
                              </p:par>
                            </p:childTnLst>
                          </p:cTn>
                        </p:par>
                        <p:par>
                          <p:cTn id="35" fill="hold">
                            <p:stCondLst>
                              <p:cond delay="6250"/>
                            </p:stCondLst>
                            <p:childTnLst>
                              <p:par>
                                <p:cTn id="36" presetID="22" presetClass="entr" presetSubtype="1" fill="hold" nodeType="after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976058" y="57526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高速缓存</a:t>
            </a:r>
          </a:p>
        </p:txBody>
      </p:sp>
      <p:sp>
        <p:nvSpPr>
          <p:cNvPr id="10" name="Rectangle 68"/>
          <p:cNvSpPr>
            <a:spLocks noChangeArrowheads="1"/>
          </p:cNvSpPr>
          <p:nvPr/>
        </p:nvSpPr>
        <p:spPr bwMode="auto">
          <a:xfrm>
            <a:off x="556963" y="94413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也称为</a:t>
            </a:r>
            <a:r>
              <a:rPr lang="zh-CN" altLang="en-US" sz="2000" b="1" dirty="0">
                <a:solidFill>
                  <a:srgbClr val="C00000"/>
                </a:solidFill>
                <a:latin typeface="微软雅黑" pitchFamily="34" charset="-122"/>
                <a:ea typeface="微软雅黑" pitchFamily="34" charset="-122"/>
              </a:rPr>
              <a:t>高速缓存域名服务器。</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存放</a:t>
            </a:r>
            <a:r>
              <a:rPr lang="zh-CN" altLang="en-US" sz="2000" b="1" dirty="0">
                <a:solidFill>
                  <a:srgbClr val="C00000"/>
                </a:solidFill>
                <a:latin typeface="微软雅黑" pitchFamily="34" charset="-122"/>
                <a:ea typeface="微软雅黑" pitchFamily="34" charset="-122"/>
              </a:rPr>
              <a:t>最近用过的名字</a:t>
            </a:r>
            <a:r>
              <a:rPr lang="zh-CN" altLang="en-US" sz="2000" b="1" dirty="0">
                <a:latin typeface="微软雅黑" pitchFamily="34" charset="-122"/>
                <a:ea typeface="微软雅黑" pitchFamily="34" charset="-122"/>
              </a:rPr>
              <a:t>以及从何处获得名字映射信息的记录。</a:t>
            </a:r>
          </a:p>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作用：</a:t>
            </a:r>
            <a:r>
              <a:rPr lang="zh-CN" altLang="en-US" sz="2000" b="1" dirty="0">
                <a:latin typeface="微软雅黑" pitchFamily="34" charset="-122"/>
                <a:ea typeface="微软雅黑" pitchFamily="34" charset="-122"/>
              </a:rPr>
              <a:t>大大减轻根域名服务器的负荷，使 </a:t>
            </a:r>
            <a:r>
              <a:rPr lang="en-US" altLang="zh-CN" sz="2000" b="1" dirty="0">
                <a:latin typeface="微软雅黑" pitchFamily="34" charset="-122"/>
                <a:ea typeface="微软雅黑" pitchFamily="34" charset="-122"/>
              </a:rPr>
              <a:t>DNS </a:t>
            </a:r>
            <a:r>
              <a:rPr lang="zh-CN" altLang="en-US" sz="2000" b="1" dirty="0">
                <a:latin typeface="微软雅黑" pitchFamily="34" charset="-122"/>
                <a:ea typeface="微软雅黑" pitchFamily="34" charset="-122"/>
              </a:rPr>
              <a:t>查询请求和回答报文的数量大为减少。 </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域名服务器应为每项内容设置</a:t>
            </a:r>
            <a:r>
              <a:rPr lang="zh-CN" altLang="en-US" sz="2000" b="1" dirty="0">
                <a:solidFill>
                  <a:srgbClr val="C00000"/>
                </a:solidFill>
                <a:latin typeface="微软雅黑" pitchFamily="34" charset="-122"/>
                <a:ea typeface="微软雅黑" pitchFamily="34" charset="-122"/>
              </a:rPr>
              <a:t>计时器，</a:t>
            </a:r>
            <a:r>
              <a:rPr lang="zh-CN" altLang="en-US" sz="2000" b="1" dirty="0">
                <a:latin typeface="微软雅黑" pitchFamily="34" charset="-122"/>
                <a:ea typeface="微软雅黑" pitchFamily="34" charset="-122"/>
              </a:rPr>
              <a:t>并处理超过合理时间的项。</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当权限域名服务器回答一个查询请求时，在响应中指明绑定</a:t>
            </a:r>
            <a:r>
              <a:rPr lang="zh-CN" altLang="en-US" sz="2000" b="1" dirty="0">
                <a:solidFill>
                  <a:srgbClr val="C00000"/>
                </a:solidFill>
                <a:latin typeface="微软雅黑" pitchFamily="34" charset="-122"/>
                <a:ea typeface="微软雅黑" pitchFamily="34" charset="-122"/>
              </a:rPr>
              <a:t>有效存在的时间值。</a:t>
            </a:r>
            <a:r>
              <a:rPr lang="zh-CN" altLang="en-US" sz="2000" b="1" dirty="0">
                <a:latin typeface="微软雅黑" pitchFamily="34" charset="-122"/>
                <a:ea typeface="微软雅黑" pitchFamily="34" charset="-122"/>
              </a:rPr>
              <a:t>增加此时间值可减少网络开销，而减少此时间值可提高域名转换的准确性。 </a:t>
            </a:r>
          </a:p>
        </p:txBody>
      </p:sp>
    </p:spTree>
    <p:extLst>
      <p:ext uri="{BB962C8B-B14F-4D97-AF65-F5344CB8AC3E}">
        <p14:creationId xmlns:p14="http://schemas.microsoft.com/office/powerpoint/2010/main" val="26586558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Rectangle 9"/>
          <p:cNvSpPr>
            <a:spLocks noChangeArrowheads="1"/>
          </p:cNvSpPr>
          <p:nvPr/>
        </p:nvSpPr>
        <p:spPr bwMode="auto">
          <a:xfrm>
            <a:off x="2629135" y="133902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4" name="Rectangle 10"/>
          <p:cNvSpPr>
            <a:spLocks noChangeArrowheads="1"/>
          </p:cNvSpPr>
          <p:nvPr/>
        </p:nvSpPr>
        <p:spPr bwMode="auto">
          <a:xfrm>
            <a:off x="2629135" y="194545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5" name="Rectangle 11"/>
          <p:cNvSpPr>
            <a:spLocks noChangeArrowheads="1"/>
          </p:cNvSpPr>
          <p:nvPr/>
        </p:nvSpPr>
        <p:spPr bwMode="auto">
          <a:xfrm>
            <a:off x="2629135" y="25629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dirty="0">
              <a:solidFill>
                <a:srgbClr val="FFFFFF"/>
              </a:solidFill>
              <a:latin typeface="宋体" charset="-122"/>
            </a:endParaRPr>
          </a:p>
        </p:txBody>
      </p:sp>
      <p:sp>
        <p:nvSpPr>
          <p:cNvPr id="136" name="Line 16"/>
          <p:cNvSpPr>
            <a:spLocks noChangeShapeType="1"/>
          </p:cNvSpPr>
          <p:nvPr/>
        </p:nvSpPr>
        <p:spPr bwMode="auto">
          <a:xfrm>
            <a:off x="3637198" y="1267587"/>
            <a:ext cx="0" cy="1800225"/>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 name="Rectangle 8"/>
          <p:cNvSpPr>
            <a:spLocks noChangeArrowheads="1"/>
          </p:cNvSpPr>
          <p:nvPr/>
        </p:nvSpPr>
        <p:spPr bwMode="auto">
          <a:xfrm>
            <a:off x="2700573" y="1085025"/>
            <a:ext cx="5472113" cy="1846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6.2.1                                               FTP </a:t>
            </a:r>
            <a:r>
              <a:rPr lang="zh-CN" altLang="en-US" sz="2000" b="1" dirty="0">
                <a:solidFill>
                  <a:schemeClr val="bg1"/>
                </a:solidFill>
                <a:latin typeface="微软雅黑" pitchFamily="34" charset="-122"/>
                <a:ea typeface="微软雅黑" pitchFamily="34" charset="-122"/>
              </a:rPr>
              <a:t>概述</a:t>
            </a:r>
          </a:p>
          <a:p>
            <a:pPr eaLnBrk="0" hangingPunct="0">
              <a:lnSpc>
                <a:spcPct val="200000"/>
              </a:lnSpc>
            </a:pPr>
            <a:r>
              <a:rPr lang="en-US" altLang="zh-CN" sz="2000" b="1" dirty="0">
                <a:solidFill>
                  <a:schemeClr val="bg1"/>
                </a:solidFill>
                <a:latin typeface="微软雅黑" pitchFamily="34" charset="-122"/>
                <a:ea typeface="微软雅黑" pitchFamily="34" charset="-122"/>
              </a:rPr>
              <a:t>6.2.2                              FTP </a:t>
            </a:r>
            <a:r>
              <a:rPr lang="zh-CN" altLang="en-US" sz="2000" b="1" dirty="0">
                <a:solidFill>
                  <a:schemeClr val="bg1"/>
                </a:solidFill>
                <a:latin typeface="微软雅黑" pitchFamily="34" charset="-122"/>
                <a:ea typeface="微软雅黑" pitchFamily="34" charset="-122"/>
              </a:rPr>
              <a:t>的基本工作原理</a:t>
            </a:r>
          </a:p>
          <a:p>
            <a:pPr eaLnBrk="0" hangingPunct="0">
              <a:lnSpc>
                <a:spcPct val="200000"/>
              </a:lnSpc>
            </a:pPr>
            <a:r>
              <a:rPr lang="en-US" altLang="zh-CN" sz="2000" b="1" dirty="0">
                <a:solidFill>
                  <a:schemeClr val="bg1"/>
                </a:solidFill>
                <a:latin typeface="微软雅黑" pitchFamily="34" charset="-122"/>
                <a:ea typeface="微软雅黑" pitchFamily="34" charset="-122"/>
              </a:rPr>
              <a:t>6.2.3                         </a:t>
            </a:r>
            <a:r>
              <a:rPr lang="zh-CN" altLang="en-US" sz="2000" b="1" dirty="0">
                <a:solidFill>
                  <a:schemeClr val="bg1"/>
                </a:solidFill>
                <a:latin typeface="微软雅黑" pitchFamily="34" charset="-122"/>
                <a:ea typeface="微软雅黑" pitchFamily="34" charset="-122"/>
              </a:rPr>
              <a:t>简单文件传送协议 </a:t>
            </a:r>
            <a:r>
              <a:rPr lang="en-US" altLang="zh-CN" sz="2000" b="1" dirty="0">
                <a:solidFill>
                  <a:schemeClr val="bg1"/>
                </a:solidFill>
                <a:latin typeface="微软雅黑" pitchFamily="34" charset="-122"/>
                <a:ea typeface="微软雅黑" pitchFamily="34" charset="-122"/>
              </a:rPr>
              <a:t>TFTP</a:t>
            </a:r>
          </a:p>
        </p:txBody>
      </p:sp>
      <p:sp>
        <p:nvSpPr>
          <p:cNvPr id="144" name="Rectangle 27"/>
          <p:cNvSpPr>
            <a:spLocks noChangeArrowheads="1"/>
          </p:cNvSpPr>
          <p:nvPr/>
        </p:nvSpPr>
        <p:spPr bwMode="auto">
          <a:xfrm>
            <a:off x="639730" y="1339025"/>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53" name="Rectangle 29"/>
          <p:cNvSpPr>
            <a:spLocks noChangeArrowheads="1"/>
          </p:cNvSpPr>
          <p:nvPr/>
        </p:nvSpPr>
        <p:spPr bwMode="auto">
          <a:xfrm>
            <a:off x="648619" y="143395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a:solidFill>
                  <a:srgbClr val="FFFF00"/>
                </a:solidFill>
                <a:latin typeface="微软雅黑" pitchFamily="34" charset="-122"/>
                <a:ea typeface="微软雅黑" pitchFamily="34" charset="-122"/>
              </a:rPr>
              <a:t>6.2</a:t>
            </a:r>
          </a:p>
          <a:p>
            <a:pPr eaLnBrk="0" hangingPunct="0"/>
            <a:r>
              <a:rPr lang="zh-CN" altLang="en-US" sz="2000" b="1" dirty="0">
                <a:solidFill>
                  <a:schemeClr val="bg1"/>
                </a:solidFill>
                <a:latin typeface="微软雅黑" pitchFamily="34" charset="-122"/>
                <a:ea typeface="微软雅黑" pitchFamily="34" charset="-122"/>
              </a:rPr>
              <a:t>文件传送</a:t>
            </a:r>
            <a:endParaRPr lang="en-US" altLang="zh-CN" sz="2000" b="1" dirty="0">
              <a:solidFill>
                <a:schemeClr val="bg1"/>
              </a:solidFill>
              <a:latin typeface="微软雅黑" pitchFamily="34" charset="-122"/>
              <a:ea typeface="微软雅黑" pitchFamily="34" charset="-122"/>
            </a:endParaRPr>
          </a:p>
          <a:p>
            <a:pPr eaLnBrk="0" hangingPunct="0"/>
            <a:r>
              <a:rPr lang="zh-CN" altLang="en-US" sz="2000" b="1" dirty="0">
                <a:solidFill>
                  <a:schemeClr val="bg1"/>
                </a:solidFill>
                <a:latin typeface="微软雅黑" pitchFamily="34" charset="-122"/>
                <a:ea typeface="微软雅黑" pitchFamily="34" charset="-122"/>
              </a:rPr>
              <a:t>协议</a:t>
            </a:r>
            <a:endParaRPr lang="zh-CN" altLang="fr-FR" sz="2000" b="1"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933607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0986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378052" y="576735"/>
            <a:ext cx="23878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6.2.1  FTP </a:t>
            </a:r>
            <a:r>
              <a:rPr lang="zh-CN" altLang="en-US" sz="2400" b="1" dirty="0">
                <a:solidFill>
                  <a:schemeClr val="bg1"/>
                </a:solidFill>
                <a:latin typeface="微软雅黑" pitchFamily="34" charset="-122"/>
                <a:ea typeface="微软雅黑" pitchFamily="34" charset="-122"/>
              </a:rPr>
              <a:t>概述</a:t>
            </a:r>
          </a:p>
        </p:txBody>
      </p:sp>
      <p:sp>
        <p:nvSpPr>
          <p:cNvPr id="10" name="Rectangle 8"/>
          <p:cNvSpPr>
            <a:spLocks noChangeArrowheads="1"/>
          </p:cNvSpPr>
          <p:nvPr/>
        </p:nvSpPr>
        <p:spPr bwMode="auto">
          <a:xfrm>
            <a:off x="545143" y="1050319"/>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文件传送协议 </a:t>
            </a:r>
            <a:r>
              <a:rPr lang="en-US" altLang="zh-CN" sz="2000" b="1" dirty="0">
                <a:solidFill>
                  <a:srgbClr val="C00000"/>
                </a:solidFill>
                <a:latin typeface="微软雅黑" pitchFamily="34" charset="-122"/>
                <a:ea typeface="微软雅黑" pitchFamily="34" charset="-122"/>
              </a:rPr>
              <a:t>FTP </a:t>
            </a:r>
            <a:r>
              <a:rPr lang="en-US" altLang="zh-CN" sz="2000" b="1" dirty="0">
                <a:latin typeface="微软雅黑" pitchFamily="34" charset="-122"/>
                <a:ea typeface="微软雅黑" pitchFamily="34" charset="-122"/>
              </a:rPr>
              <a:t>(File Transfer Protocol) </a:t>
            </a:r>
            <a:r>
              <a:rPr lang="zh-CN" altLang="en-US" sz="2000" b="1" dirty="0">
                <a:latin typeface="微软雅黑" pitchFamily="34" charset="-122"/>
                <a:ea typeface="微软雅黑" pitchFamily="34" charset="-122"/>
              </a:rPr>
              <a:t>是互联网上使用得最广泛的文件传送协议。</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提供</a:t>
            </a:r>
            <a:r>
              <a:rPr lang="zh-CN" altLang="en-US" sz="2000" b="1" dirty="0">
                <a:solidFill>
                  <a:srgbClr val="C00000"/>
                </a:solidFill>
                <a:latin typeface="微软雅黑" pitchFamily="34" charset="-122"/>
                <a:ea typeface="微软雅黑" pitchFamily="34" charset="-122"/>
              </a:rPr>
              <a:t>交互式</a:t>
            </a:r>
            <a:r>
              <a:rPr lang="zh-CN" altLang="en-US" sz="2000" b="1" dirty="0">
                <a:latin typeface="微软雅黑" pitchFamily="34" charset="-122"/>
                <a:ea typeface="微软雅黑" pitchFamily="34" charset="-122"/>
              </a:rPr>
              <a:t>的访问，允许客户指明文件的类型与格式，并允许文件具有存取</a:t>
            </a:r>
            <a:r>
              <a:rPr lang="zh-CN" altLang="en-US" sz="2000" b="1" dirty="0">
                <a:solidFill>
                  <a:srgbClr val="C00000"/>
                </a:solidFill>
                <a:latin typeface="微软雅黑" pitchFamily="34" charset="-122"/>
                <a:ea typeface="微软雅黑" pitchFamily="34" charset="-122"/>
              </a:rPr>
              <a:t>权限。</a:t>
            </a:r>
          </a:p>
          <a:p>
            <a:pPr marL="285750" indent="-28575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屏蔽</a:t>
            </a:r>
            <a:r>
              <a:rPr lang="zh-CN" altLang="en-US" sz="2000" b="1" dirty="0">
                <a:latin typeface="微软雅黑" pitchFamily="34" charset="-122"/>
                <a:ea typeface="微软雅黑" pitchFamily="34" charset="-122"/>
              </a:rPr>
              <a:t>了各计算机系统的细节，因而适合于在</a:t>
            </a:r>
            <a:r>
              <a:rPr lang="zh-CN" altLang="en-US" sz="2000" b="1" dirty="0">
                <a:solidFill>
                  <a:srgbClr val="C00000"/>
                </a:solidFill>
                <a:latin typeface="微软雅黑" pitchFamily="34" charset="-122"/>
                <a:ea typeface="微软雅黑" pitchFamily="34" charset="-122"/>
              </a:rPr>
              <a:t>异构</a:t>
            </a:r>
            <a:r>
              <a:rPr lang="zh-CN" altLang="en-US" sz="2000" b="1" dirty="0">
                <a:latin typeface="微软雅黑" pitchFamily="34" charset="-122"/>
                <a:ea typeface="微软雅黑" pitchFamily="34" charset="-122"/>
              </a:rPr>
              <a:t>网络中</a:t>
            </a:r>
            <a:r>
              <a:rPr lang="zh-CN" altLang="en-US" sz="2000" b="1" dirty="0">
                <a:solidFill>
                  <a:srgbClr val="C00000"/>
                </a:solidFill>
                <a:latin typeface="微软雅黑" pitchFamily="34" charset="-122"/>
                <a:ea typeface="微软雅黑" pitchFamily="34" charset="-122"/>
              </a:rPr>
              <a:t>任意</a:t>
            </a:r>
            <a:r>
              <a:rPr lang="zh-CN" altLang="en-US" sz="2000" b="1" dirty="0">
                <a:latin typeface="微软雅黑" pitchFamily="34" charset="-122"/>
                <a:ea typeface="微软雅黑" pitchFamily="34" charset="-122"/>
              </a:rPr>
              <a:t>计算机之间传送文件。</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a:t>
            </a:r>
            <a:r>
              <a:rPr lang="zh-CN" altLang="en-US" sz="2000" b="1" dirty="0">
                <a:solidFill>
                  <a:srgbClr val="0000FF"/>
                </a:solidFill>
                <a:latin typeface="微软雅黑" pitchFamily="34" charset="-122"/>
                <a:ea typeface="微软雅黑" pitchFamily="34" charset="-122"/>
              </a:rPr>
              <a:t>文件共享协议</a:t>
            </a:r>
            <a:r>
              <a:rPr lang="zh-CN" altLang="en-US" sz="2000" b="1" dirty="0">
                <a:latin typeface="微软雅黑" pitchFamily="34" charset="-122"/>
                <a:ea typeface="微软雅黑" pitchFamily="34" charset="-122"/>
              </a:rPr>
              <a:t>的一个大类。</a:t>
            </a:r>
            <a:r>
              <a:rPr lang="zh-CN" altLang="en-US" sz="2000" b="1" dirty="0">
                <a:solidFill>
                  <a:srgbClr val="0000FF"/>
                </a:solidFill>
                <a:latin typeface="微软雅黑" pitchFamily="34" charset="-122"/>
                <a:ea typeface="微软雅黑" pitchFamily="34" charset="-122"/>
              </a:rPr>
              <a:t> </a:t>
            </a:r>
          </a:p>
        </p:txBody>
      </p:sp>
    </p:spTree>
    <p:extLst>
      <p:ext uri="{BB962C8B-B14F-4D97-AF65-F5344CB8AC3E}">
        <p14:creationId xmlns:p14="http://schemas.microsoft.com/office/powerpoint/2010/main" val="1063549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5"/>
          <p:cNvSpPr>
            <a:spLocks noChangeArrowheads="1"/>
          </p:cNvSpPr>
          <p:nvPr/>
        </p:nvSpPr>
        <p:spPr bwMode="auto">
          <a:xfrm>
            <a:off x="556963" y="61246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719577" y="579258"/>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文件共享协议</a:t>
            </a:r>
          </a:p>
        </p:txBody>
      </p:sp>
      <p:sp>
        <p:nvSpPr>
          <p:cNvPr id="30" name="Rectangle 68"/>
          <p:cNvSpPr>
            <a:spLocks noChangeArrowheads="1"/>
          </p:cNvSpPr>
          <p:nvPr/>
        </p:nvSpPr>
        <p:spPr bwMode="auto">
          <a:xfrm>
            <a:off x="556963" y="977962"/>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文件传送协议：</a:t>
            </a:r>
            <a:r>
              <a:rPr lang="en-US" altLang="zh-CN" sz="2000" b="1" dirty="0">
                <a:latin typeface="微软雅黑" pitchFamily="34" charset="-122"/>
                <a:ea typeface="微软雅黑" pitchFamily="34" charset="-122"/>
              </a:rPr>
              <a:t>FTP</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等。</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复制整个文件。对文件副本进行访问。</a:t>
            </a:r>
            <a:endParaRPr lang="en-US" altLang="zh-CN" sz="2000" b="1" dirty="0">
              <a:latin typeface="微软雅黑" pitchFamily="34" charset="-122"/>
              <a:ea typeface="微软雅黑" pitchFamily="34" charset="-122"/>
            </a:endParaRPr>
          </a:p>
          <a:p>
            <a:pPr marL="985838" lvl="2" indent="-342900">
              <a:lnSpc>
                <a:spcPts val="2800"/>
              </a:lnSpc>
              <a:buClr>
                <a:schemeClr val="accent6">
                  <a:lumMod val="50000"/>
                </a:schemeClr>
              </a:buClr>
              <a:buSzPct val="75000"/>
              <a:buFont typeface="Wingdings" panose="05000000000000000000" pitchFamily="2" charset="2"/>
              <a:buChar char="p"/>
            </a:pPr>
            <a:r>
              <a:rPr lang="zh-CN" altLang="en-US" b="1" dirty="0">
                <a:latin typeface="微软雅黑" pitchFamily="34" charset="-122"/>
                <a:ea typeface="微软雅黑" pitchFamily="34" charset="-122"/>
              </a:rPr>
              <a:t>若要存取一个文件，就必须先获得一个本地文件副本。</a:t>
            </a:r>
            <a:endParaRPr lang="en-US" altLang="zh-CN" b="1" dirty="0">
              <a:latin typeface="微软雅黑" pitchFamily="34" charset="-122"/>
              <a:ea typeface="微软雅黑" pitchFamily="34" charset="-122"/>
            </a:endParaRPr>
          </a:p>
          <a:p>
            <a:pPr marL="985838" lvl="2" indent="-342900">
              <a:lnSpc>
                <a:spcPts val="2800"/>
              </a:lnSpc>
              <a:buClr>
                <a:schemeClr val="accent6">
                  <a:lumMod val="50000"/>
                </a:schemeClr>
              </a:buClr>
              <a:buSzPct val="75000"/>
              <a:buFont typeface="Wingdings" panose="05000000000000000000" pitchFamily="2" charset="2"/>
              <a:buChar char="p"/>
            </a:pPr>
            <a:r>
              <a:rPr lang="zh-CN" altLang="en-US" b="1" dirty="0">
                <a:latin typeface="微软雅黑" pitchFamily="34" charset="-122"/>
                <a:ea typeface="微软雅黑" pitchFamily="34" charset="-122"/>
              </a:rPr>
              <a:t>若要修改文件，只能对文件副本进行修改，然后再将修改后的文件副本传回到原节点。</a:t>
            </a:r>
            <a:endParaRPr lang="en-US" altLang="zh-CN"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联机访问 </a:t>
            </a:r>
            <a:r>
              <a:rPr lang="en-US" altLang="zh-CN" sz="2000" b="1" dirty="0">
                <a:solidFill>
                  <a:srgbClr val="C00000"/>
                </a:solidFill>
                <a:latin typeface="微软雅黑" pitchFamily="34" charset="-122"/>
                <a:ea typeface="微软雅黑" pitchFamily="34" charset="-122"/>
              </a:rPr>
              <a:t>(on-line access) </a:t>
            </a:r>
            <a:r>
              <a:rPr lang="zh-CN" altLang="en-US" sz="2000" b="1" dirty="0">
                <a:solidFill>
                  <a:srgbClr val="C00000"/>
                </a:solidFill>
                <a:latin typeface="微软雅黑" pitchFamily="34" charset="-122"/>
                <a:ea typeface="微软雅黑" pitchFamily="34" charset="-122"/>
              </a:rPr>
              <a:t>协议：</a:t>
            </a:r>
            <a:r>
              <a:rPr lang="en-US" altLang="zh-CN" sz="2000" b="1" dirty="0">
                <a:latin typeface="微软雅黑" pitchFamily="34" charset="-122"/>
                <a:ea typeface="微软雅黑" pitchFamily="34" charset="-122"/>
              </a:rPr>
              <a:t>NFS </a:t>
            </a:r>
            <a:r>
              <a:rPr lang="zh-CN" altLang="en-US" sz="2000" b="1" dirty="0">
                <a:latin typeface="微软雅黑" pitchFamily="34" charset="-122"/>
                <a:ea typeface="微软雅黑" pitchFamily="34" charset="-122"/>
              </a:rPr>
              <a:t>等。</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允许同时对一个文件进行存取。</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远地共享文件访问，如同对本地文件的访问一样。</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透明存取，不需要对该应用程序作明显的改动。</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由操作系统负责。</a:t>
            </a:r>
            <a:endParaRPr lang="en-US" altLang="zh-CN" sz="2000" b="1" dirty="0">
              <a:solidFill>
                <a:srgbClr val="0000FF"/>
              </a:solidFill>
              <a:latin typeface="微软雅黑" pitchFamily="34" charset="-122"/>
              <a:ea typeface="微软雅黑" pitchFamily="34" charset="-122"/>
            </a:endParaRPr>
          </a:p>
        </p:txBody>
      </p:sp>
    </p:spTree>
    <p:extLst>
      <p:ext uri="{BB962C8B-B14F-4D97-AF65-F5344CB8AC3E}">
        <p14:creationId xmlns:p14="http://schemas.microsoft.com/office/powerpoint/2010/main" val="16808732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220"/>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08611" y="568949"/>
            <a:ext cx="39267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6.2.2  FTP </a:t>
            </a:r>
            <a:r>
              <a:rPr lang="zh-CN" altLang="en-US" sz="2400" b="1" dirty="0">
                <a:solidFill>
                  <a:schemeClr val="bg1"/>
                </a:solidFill>
                <a:latin typeface="微软雅黑" pitchFamily="34" charset="-122"/>
                <a:ea typeface="微软雅黑" pitchFamily="34" charset="-122"/>
              </a:rPr>
              <a:t>的基本工作原理</a:t>
            </a:r>
          </a:p>
        </p:txBody>
      </p:sp>
      <p:sp>
        <p:nvSpPr>
          <p:cNvPr id="7" name="Rectangle 8"/>
          <p:cNvSpPr>
            <a:spLocks noChangeArrowheads="1"/>
          </p:cNvSpPr>
          <p:nvPr/>
        </p:nvSpPr>
        <p:spPr bwMode="auto">
          <a:xfrm>
            <a:off x="545143" y="999941"/>
            <a:ext cx="7665003"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3300"/>
              </a:lnSpc>
              <a:buClr>
                <a:srgbClr val="0070C0"/>
              </a:buClr>
            </a:pPr>
            <a:r>
              <a:rPr lang="zh-CN" altLang="en-US" sz="2000" b="1" dirty="0">
                <a:latin typeface="微软雅黑" pitchFamily="34" charset="-122"/>
                <a:ea typeface="微软雅黑" pitchFamily="34" charset="-122"/>
              </a:rPr>
              <a:t>网络环境下复制文件的</a:t>
            </a:r>
            <a:r>
              <a:rPr lang="zh-CN" altLang="en-US" sz="2000" b="1" dirty="0">
                <a:solidFill>
                  <a:srgbClr val="C00000"/>
                </a:solidFill>
                <a:latin typeface="微软雅黑" pitchFamily="34" charset="-122"/>
                <a:ea typeface="微软雅黑" pitchFamily="34" charset="-122"/>
              </a:rPr>
              <a:t>复杂性：</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计算机存储数据的格式不同。</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文件的目录结构和文件命名的规定不同。</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对于相同的文件存取功能，操作系统使用的命令不同。</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访问控制方法不同。 </a:t>
            </a:r>
          </a:p>
        </p:txBody>
      </p:sp>
    </p:spTree>
    <p:extLst>
      <p:ext uri="{BB962C8B-B14F-4D97-AF65-F5344CB8AC3E}">
        <p14:creationId xmlns:p14="http://schemas.microsoft.com/office/powerpoint/2010/main" val="136005291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692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1" name="Rectangle 6"/>
          <p:cNvSpPr>
            <a:spLocks noChangeArrowheads="1"/>
          </p:cNvSpPr>
          <p:nvPr/>
        </p:nvSpPr>
        <p:spPr bwMode="auto">
          <a:xfrm>
            <a:off x="3956791" y="583717"/>
            <a:ext cx="1249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FTP </a:t>
            </a:r>
            <a:r>
              <a:rPr lang="zh-CN" altLang="en-US" sz="2000" b="1" dirty="0">
                <a:solidFill>
                  <a:schemeClr val="bg1"/>
                </a:solidFill>
                <a:latin typeface="微软雅黑" pitchFamily="34" charset="-122"/>
                <a:ea typeface="微软雅黑" pitchFamily="34" charset="-122"/>
              </a:rPr>
              <a:t>特点</a:t>
            </a:r>
          </a:p>
        </p:txBody>
      </p:sp>
      <p:sp>
        <p:nvSpPr>
          <p:cNvPr id="12" name="Rectangle 68"/>
          <p:cNvSpPr>
            <a:spLocks noChangeArrowheads="1"/>
          </p:cNvSpPr>
          <p:nvPr/>
        </p:nvSpPr>
        <p:spPr bwMode="auto">
          <a:xfrm>
            <a:off x="556963" y="973543"/>
            <a:ext cx="8048776"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只提供文件传送的一些</a:t>
            </a:r>
            <a:r>
              <a:rPr lang="zh-CN" altLang="en-US" sz="2000" b="1" dirty="0">
                <a:solidFill>
                  <a:srgbClr val="C00000"/>
                </a:solidFill>
                <a:latin typeface="微软雅黑" pitchFamily="34" charset="-122"/>
                <a:ea typeface="微软雅黑" pitchFamily="34" charset="-122"/>
              </a:rPr>
              <a:t>基本服务，</a:t>
            </a:r>
            <a:r>
              <a:rPr lang="zh-CN" altLang="en-US" sz="2000" b="1" dirty="0">
                <a:latin typeface="微软雅黑" pitchFamily="34" charset="-122"/>
                <a:ea typeface="微软雅黑" pitchFamily="34" charset="-122"/>
              </a:rPr>
              <a:t>它使用 </a:t>
            </a:r>
            <a:r>
              <a:rPr lang="en-US" altLang="zh-CN" sz="2000" b="1" dirty="0">
                <a:solidFill>
                  <a:srgbClr val="C00000"/>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可靠的运输服务。</a:t>
            </a:r>
          </a:p>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主要功能：</a:t>
            </a:r>
            <a:r>
              <a:rPr lang="zh-CN" altLang="en-US" sz="2000" b="1" dirty="0">
                <a:latin typeface="微软雅黑" pitchFamily="34" charset="-122"/>
                <a:ea typeface="微软雅黑" pitchFamily="34" charset="-122"/>
              </a:rPr>
              <a:t>减少或消除在不同操作系统下处理文件的不兼容性。</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客户服务器方式。</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FTP </a:t>
            </a:r>
            <a:r>
              <a:rPr lang="zh-CN" altLang="en-US" sz="2000" b="1" dirty="0">
                <a:latin typeface="微软雅黑" pitchFamily="34" charset="-122"/>
                <a:ea typeface="微软雅黑" pitchFamily="34" charset="-122"/>
              </a:rPr>
              <a:t>服务器进程可</a:t>
            </a:r>
            <a:r>
              <a:rPr lang="zh-CN" altLang="en-US" sz="2000" b="1" dirty="0">
                <a:solidFill>
                  <a:srgbClr val="C00000"/>
                </a:solidFill>
                <a:latin typeface="微软雅黑" pitchFamily="34" charset="-122"/>
                <a:ea typeface="微软雅黑" pitchFamily="34" charset="-122"/>
              </a:rPr>
              <a:t>同时</a:t>
            </a:r>
            <a:r>
              <a:rPr lang="zh-CN" altLang="en-US" sz="2000" b="1" dirty="0">
                <a:latin typeface="微软雅黑" pitchFamily="34" charset="-122"/>
                <a:ea typeface="微软雅黑" pitchFamily="34" charset="-122"/>
              </a:rPr>
              <a:t>为多个客户进程提供服务。</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FTP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服务器进程</a:t>
            </a:r>
            <a:r>
              <a:rPr lang="zh-CN" altLang="en-US" sz="2000" b="1" dirty="0">
                <a:latin typeface="微软雅黑" pitchFamily="34" charset="-122"/>
                <a:ea typeface="微软雅黑" pitchFamily="34" charset="-122"/>
              </a:rPr>
              <a:t>由两大部分组成：</a:t>
            </a:r>
            <a:endParaRPr lang="en-US" altLang="zh-CN" sz="2000" b="1" dirty="0">
              <a:latin typeface="微软雅黑" pitchFamily="34" charset="-122"/>
              <a:ea typeface="微软雅黑" pitchFamily="34" charset="-122"/>
            </a:endParaRPr>
          </a:p>
          <a:p>
            <a:pPr marL="985838" lvl="2" indent="-342900">
              <a:lnSpc>
                <a:spcPts val="2800"/>
              </a:lnSpc>
              <a:buClr>
                <a:schemeClr val="accent6">
                  <a:lumMod val="50000"/>
                </a:schemeClr>
              </a:buClr>
              <a:buSzPct val="75000"/>
              <a:buFont typeface="Wingdings" panose="05000000000000000000" pitchFamily="2" charset="2"/>
              <a:buChar char="p"/>
            </a:pPr>
            <a:r>
              <a:rPr lang="zh-CN" altLang="en-US" b="1" dirty="0">
                <a:solidFill>
                  <a:srgbClr val="0000FF"/>
                </a:solidFill>
                <a:latin typeface="微软雅黑" pitchFamily="34" charset="-122"/>
                <a:ea typeface="微软雅黑" pitchFamily="34" charset="-122"/>
              </a:rPr>
              <a:t>一个主进程，</a:t>
            </a:r>
            <a:r>
              <a:rPr lang="zh-CN" altLang="en-US" b="1" dirty="0">
                <a:latin typeface="微软雅黑" pitchFamily="34" charset="-122"/>
                <a:ea typeface="微软雅黑" pitchFamily="34" charset="-122"/>
              </a:rPr>
              <a:t>负责接受新的请求；</a:t>
            </a:r>
            <a:endParaRPr lang="en-US" altLang="zh-CN" b="1" dirty="0">
              <a:latin typeface="微软雅黑" pitchFamily="34" charset="-122"/>
              <a:ea typeface="微软雅黑" pitchFamily="34" charset="-122"/>
            </a:endParaRPr>
          </a:p>
          <a:p>
            <a:pPr marL="985838" lvl="2" indent="-342900">
              <a:lnSpc>
                <a:spcPts val="2800"/>
              </a:lnSpc>
              <a:buClr>
                <a:schemeClr val="accent6">
                  <a:lumMod val="50000"/>
                </a:schemeClr>
              </a:buClr>
              <a:buSzPct val="75000"/>
              <a:buFont typeface="Wingdings" panose="05000000000000000000" pitchFamily="2" charset="2"/>
              <a:buChar char="p"/>
            </a:pPr>
            <a:r>
              <a:rPr lang="zh-CN" altLang="en-US" b="1" dirty="0">
                <a:solidFill>
                  <a:srgbClr val="0000FF"/>
                </a:solidFill>
                <a:latin typeface="微软雅黑" pitchFamily="34" charset="-122"/>
                <a:ea typeface="微软雅黑" pitchFamily="34" charset="-122"/>
              </a:rPr>
              <a:t>若干个从属进程，</a:t>
            </a:r>
            <a:r>
              <a:rPr lang="zh-CN" altLang="en-US" b="1" dirty="0">
                <a:latin typeface="微软雅黑" pitchFamily="34" charset="-122"/>
                <a:ea typeface="微软雅黑" pitchFamily="34" charset="-122"/>
              </a:rPr>
              <a:t>负责处理单个请求。</a:t>
            </a:r>
          </a:p>
        </p:txBody>
      </p:sp>
    </p:spTree>
    <p:extLst>
      <p:ext uri="{BB962C8B-B14F-4D97-AF65-F5344CB8AC3E}">
        <p14:creationId xmlns:p14="http://schemas.microsoft.com/office/powerpoint/2010/main" val="37887187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AutoShape 5"/>
          <p:cNvSpPr>
            <a:spLocks noChangeArrowheads="1"/>
          </p:cNvSpPr>
          <p:nvPr/>
        </p:nvSpPr>
        <p:spPr bwMode="auto">
          <a:xfrm>
            <a:off x="556963" y="6091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 name="Rectangle 6"/>
          <p:cNvSpPr>
            <a:spLocks noChangeArrowheads="1"/>
          </p:cNvSpPr>
          <p:nvPr/>
        </p:nvSpPr>
        <p:spPr bwMode="auto">
          <a:xfrm>
            <a:off x="3187350" y="575896"/>
            <a:ext cx="2788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FTP </a:t>
            </a:r>
            <a:r>
              <a:rPr lang="zh-CN" altLang="en-US" sz="2000" b="1" dirty="0">
                <a:solidFill>
                  <a:schemeClr val="bg1"/>
                </a:solidFill>
                <a:latin typeface="微软雅黑" pitchFamily="34" charset="-122"/>
                <a:ea typeface="微软雅黑" pitchFamily="34" charset="-122"/>
              </a:rPr>
              <a:t>主进程的工作步骤</a:t>
            </a:r>
          </a:p>
        </p:txBody>
      </p:sp>
      <p:sp>
        <p:nvSpPr>
          <p:cNvPr id="16" name="Rectangle 68"/>
          <p:cNvSpPr>
            <a:spLocks noChangeArrowheads="1"/>
          </p:cNvSpPr>
          <p:nvPr/>
        </p:nvSpPr>
        <p:spPr bwMode="auto">
          <a:xfrm>
            <a:off x="556962" y="965722"/>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打开熟知端口（端口号为 </a:t>
            </a:r>
            <a:r>
              <a:rPr lang="en-US" altLang="zh-CN" sz="2000" b="1" dirty="0">
                <a:latin typeface="微软雅黑" pitchFamily="34" charset="-122"/>
                <a:ea typeface="微软雅黑" pitchFamily="34" charset="-122"/>
              </a:rPr>
              <a:t>21</a:t>
            </a:r>
            <a:r>
              <a:rPr lang="zh-CN" altLang="en-US" sz="2000" b="1" dirty="0">
                <a:latin typeface="微软雅黑" pitchFamily="34" charset="-122"/>
                <a:ea typeface="微软雅黑" pitchFamily="34" charset="-122"/>
              </a:rPr>
              <a:t>），使客户进程能够连接上。</a:t>
            </a: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等待客户进程发出连接请求。</a:t>
            </a: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启动从属进程来处理客户进程发来的请求。从属进程对客户进程的请求处理完毕后即终止，但从属进程在运行期间根据需要还可能创建其他一些子进程。</a:t>
            </a: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回到等待状态，继续接受其他客户进程发来的请求。主进程与从属进程的处理是并发地进行。 </a:t>
            </a:r>
          </a:p>
        </p:txBody>
      </p:sp>
    </p:spTree>
    <p:extLst>
      <p:ext uri="{BB962C8B-B14F-4D97-AF65-F5344CB8AC3E}">
        <p14:creationId xmlns:p14="http://schemas.microsoft.com/office/powerpoint/2010/main" val="38255378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1294396" y="582898"/>
            <a:ext cx="65739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FTP </a:t>
            </a:r>
            <a:r>
              <a:rPr lang="zh-CN" altLang="en-US" sz="2000" b="1" dirty="0">
                <a:solidFill>
                  <a:schemeClr val="bg1"/>
                </a:solidFill>
                <a:latin typeface="微软雅黑" pitchFamily="34" charset="-122"/>
                <a:ea typeface="微软雅黑" pitchFamily="34" charset="-122"/>
              </a:rPr>
              <a:t>客户和服务器之间的两个从属进程和两个 </a:t>
            </a:r>
            <a:r>
              <a:rPr lang="en-US" altLang="zh-CN" sz="2000" b="1" dirty="0">
                <a:solidFill>
                  <a:schemeClr val="bg1"/>
                </a:solidFill>
                <a:latin typeface="微软雅黑" pitchFamily="34" charset="-122"/>
                <a:ea typeface="微软雅黑" pitchFamily="34" charset="-122"/>
              </a:rPr>
              <a:t>TCP </a:t>
            </a:r>
            <a:r>
              <a:rPr lang="zh-CN" altLang="en-US" sz="2000" b="1" dirty="0">
                <a:solidFill>
                  <a:schemeClr val="bg1"/>
                </a:solidFill>
                <a:latin typeface="微软雅黑" pitchFamily="34" charset="-122"/>
                <a:ea typeface="微软雅黑" pitchFamily="34" charset="-122"/>
              </a:rPr>
              <a:t>连接</a:t>
            </a: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控制进程</a:t>
              </a:r>
            </a:p>
          </p:txBody>
        </p:sp>
        <p:grpSp>
          <p:nvGrpSpPr>
            <p:cNvPr id="62" name="Group 84"/>
            <p:cNvGrpSpPr>
              <a:grpSpLocks/>
            </p:cNvGrpSpPr>
            <p:nvPr/>
          </p:nvGrpSpPr>
          <p:grpSpPr bwMode="auto">
            <a:xfrm>
              <a:off x="317184" y="2008906"/>
              <a:ext cx="820341" cy="1204912"/>
              <a:chOff x="480" y="1395"/>
              <a:chExt cx="511" cy="728"/>
            </a:xfrm>
          </p:grpSpPr>
          <p:grpSp>
            <p:nvGrpSpPr>
              <p:cNvPr id="63" name="Group 85"/>
              <p:cNvGrpSpPr>
                <a:grpSpLocks/>
              </p:cNvGrpSpPr>
              <p:nvPr/>
            </p:nvGrpSpPr>
            <p:grpSpPr bwMode="auto">
              <a:xfrm>
                <a:off x="717" y="1446"/>
                <a:ext cx="274" cy="237"/>
                <a:chOff x="717" y="1446"/>
                <a:chExt cx="274" cy="237"/>
              </a:xfrm>
            </p:grpSpPr>
            <p:sp>
              <p:nvSpPr>
                <p:cNvPr id="88" name="Arc 86"/>
                <p:cNvSpPr>
                  <a:spLocks/>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Arc 87"/>
                <p:cNvSpPr>
                  <a:spLocks/>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0" name="Freeform 88"/>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Freeform 89"/>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94" name="Freeform 92"/>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93"/>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94"/>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95"/>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96"/>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97"/>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2" name="Freeform 100"/>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101"/>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102"/>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103"/>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104"/>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105"/>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0" name="Freeform 108"/>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1" name="Freeform 109"/>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12" name="Freeform 110"/>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3" name="Freeform 111"/>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sp>
            <p:nvSpPr>
              <p:cNvPr id="64" name="Freeform 114"/>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15"/>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16"/>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17"/>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18"/>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19"/>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20"/>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1" name="Freeform 121"/>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2"/>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3"/>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24"/>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25"/>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26"/>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27"/>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28"/>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9" name="Freeform 129"/>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0" name="Freeform 130"/>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Freeform 131"/>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2" name="Freeform 132"/>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Freeform 133"/>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4" name="Freeform 134"/>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5" name="Freeform 135"/>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6" name="Freeform 136"/>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Freeform 137"/>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FTP </a:t>
              </a:r>
              <a:r>
                <a:rPr kumimoji="1" lang="zh-CN" altLang="en-US" sz="1400" b="1" dirty="0">
                  <a:latin typeface="微软雅黑" pitchFamily="34" charset="-122"/>
                  <a:ea typeface="微软雅黑" pitchFamily="34" charset="-122"/>
                </a:rPr>
                <a:t>客户端</a:t>
              </a: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FTP </a:t>
              </a:r>
              <a:r>
                <a:rPr kumimoji="1" lang="zh-CN" altLang="en-US" sz="1400" b="1" dirty="0">
                  <a:latin typeface="微软雅黑" pitchFamily="34" charset="-122"/>
                  <a:ea typeface="微软雅黑" pitchFamily="34" charset="-122"/>
                </a:rPr>
                <a:t>服务器端</a:t>
              </a: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aphicFrame>
          <p:nvGraphicFramePr>
            <p:cNvPr id="126" name="Object 148"/>
            <p:cNvGraphicFramePr>
              <a:graphicFrameLocks noChangeAspect="1"/>
            </p:cNvGraphicFramePr>
            <p:nvPr>
              <p:extLst>
                <p:ext uri="{D42A27DB-BD31-4B8C-83A1-F6EECF244321}">
                  <p14:modId xmlns:p14="http://schemas.microsoft.com/office/powerpoint/2010/main" val="2097526836"/>
                </p:ext>
              </p:extLst>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4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1995" y="2658193"/>
                          <a:ext cx="2369873" cy="17462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互联网</a:t>
              </a: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rgbClr val="0000FF"/>
                  </a:solidFill>
                  <a:latin typeface="微软雅黑" pitchFamily="34" charset="-122"/>
                  <a:ea typeface="微软雅黑" pitchFamily="34" charset="-122"/>
                </a:rPr>
                <a:t>TCP </a:t>
              </a:r>
              <a:r>
                <a:rPr kumimoji="1" lang="zh-CN" altLang="en-US" sz="1400" b="1" dirty="0">
                  <a:solidFill>
                    <a:srgbClr val="0000FF"/>
                  </a:solidFill>
                  <a:latin typeface="微软雅黑" pitchFamily="34" charset="-122"/>
                  <a:ea typeface="微软雅黑" pitchFamily="34" charset="-122"/>
                </a:rPr>
                <a:t>控制连接</a:t>
              </a: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rgbClr val="CC00CC"/>
                  </a:solidFill>
                  <a:latin typeface="微软雅黑" pitchFamily="34" charset="-122"/>
                  <a:ea typeface="微软雅黑" pitchFamily="34" charset="-122"/>
                </a:rPr>
                <a:t>TCP </a:t>
              </a:r>
              <a:r>
                <a:rPr kumimoji="1" lang="zh-CN" altLang="en-US" sz="1400" b="1" dirty="0">
                  <a:solidFill>
                    <a:srgbClr val="CC00CC"/>
                  </a:solidFill>
                  <a:latin typeface="微软雅黑" pitchFamily="34" charset="-122"/>
                  <a:ea typeface="微软雅黑" pitchFamily="34" charset="-122"/>
                </a:rPr>
                <a:t>数据连接</a:t>
              </a: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用户界面</a:t>
              </a: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headEnd/>
              <a:tailEnd/>
            </a:ln>
            <a:effectLst/>
          </p:spPr>
          <p:txBody>
            <a:bodyPr wrap="none" anchor="ctr"/>
            <a:lstStyle/>
            <a:p>
              <a:pPr algn="ctr" eaLnBrk="1" hangingPunct="1"/>
              <a:r>
                <a:rPr kumimoji="1" lang="zh-CN" altLang="en-US" sz="1200" b="1">
                  <a:latin typeface="微软雅黑" pitchFamily="34" charset="-122"/>
                  <a:ea typeface="微软雅黑" pitchFamily="34" charset="-122"/>
                </a:rPr>
                <a:t>控制进程</a:t>
              </a: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headEnd/>
              <a:tailEnd/>
            </a:ln>
            <a:effectLst/>
          </p:spPr>
          <p:txBody>
            <a:bodyPr wrap="none" anchor="ctr"/>
            <a:lstStyle/>
            <a:p>
              <a:pPr algn="ctr" eaLnBrk="1" hangingPunct="1"/>
              <a:r>
                <a:rPr kumimoji="1" lang="zh-CN" altLang="en-US" sz="1200" b="1">
                  <a:latin typeface="微软雅黑" pitchFamily="34" charset="-122"/>
                  <a:ea typeface="微软雅黑" pitchFamily="34" charset="-122"/>
                </a:rPr>
                <a:t>数据传送</a:t>
              </a:r>
            </a:p>
            <a:p>
              <a:pPr algn="ctr" eaLnBrk="1" hangingPunct="1"/>
              <a:r>
                <a:rPr kumimoji="1" lang="zh-CN" altLang="en-US" sz="1200" b="1">
                  <a:latin typeface="微软雅黑" pitchFamily="34" charset="-122"/>
                  <a:ea typeface="微软雅黑" pitchFamily="34" charset="-122"/>
                </a:rPr>
                <a:t>进程</a:t>
              </a: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数据传送</a:t>
              </a:r>
            </a:p>
            <a:p>
              <a:pPr algn="ctr" eaLnBrk="1" hangingPunct="1"/>
              <a:r>
                <a:rPr kumimoji="1" lang="zh-CN" altLang="en-US" sz="1200" b="1" dirty="0">
                  <a:latin typeface="微软雅黑" pitchFamily="34" charset="-122"/>
                  <a:ea typeface="微软雅黑" pitchFamily="34" charset="-122"/>
                </a:rPr>
                <a:t>进程</a:t>
              </a: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b="1" dirty="0">
                <a:latin typeface="微软雅黑" pitchFamily="34" charset="-122"/>
                <a:ea typeface="微软雅黑"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b="1" dirty="0">
                <a:latin typeface="微软雅黑" pitchFamily="34" charset="-122"/>
                <a:ea typeface="微软雅黑" pitchFamily="34" charset="-122"/>
              </a:endParaRPr>
            </a:p>
          </p:txBody>
        </p:sp>
      </p:gr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在整个会话期间一直保持打开，</a:t>
              </a:r>
              <a:endParaRPr lang="en-US" altLang="zh-CN" sz="1200" b="1" dirty="0">
                <a:latin typeface="微软雅黑" panose="020B0503020204020204" pitchFamily="34" charset="-122"/>
                <a:ea typeface="微软雅黑" panose="020B0503020204020204" pitchFamily="34" charset="-122"/>
              </a:endParaRPr>
            </a:p>
            <a:p>
              <a:r>
                <a:rPr lang="zh-CN" altLang="en-US" sz="1200" b="1" dirty="0">
                  <a:latin typeface="微软雅黑" panose="020B0503020204020204" pitchFamily="34" charset="-122"/>
                  <a:ea typeface="微软雅黑" panose="020B0503020204020204" pitchFamily="34" charset="-122"/>
                </a:rPr>
                <a:t>传输 </a:t>
              </a:r>
              <a:r>
                <a:rPr lang="en-US" altLang="zh-CN" sz="1200" b="1" dirty="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客户发出的传送请求。</a:t>
              </a: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收到客户连接请求后有主进程创建。</a:t>
              </a: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endParaRPr lang="en-US" altLang="zh-CN" sz="1200" b="1" dirty="0">
                <a:latin typeface="微软雅黑" panose="020B0503020204020204" pitchFamily="34" charset="-122"/>
                <a:ea typeface="微软雅黑" panose="020B0503020204020204" pitchFamily="34" charset="-122"/>
              </a:endParaRPr>
            </a:p>
            <a:p>
              <a:r>
                <a:rPr lang="zh-CN" altLang="en-US" sz="1200" b="1" dirty="0">
                  <a:latin typeface="微软雅黑" panose="020B0503020204020204" pitchFamily="34" charset="-122"/>
                  <a:ea typeface="微软雅黑" panose="020B0503020204020204" pitchFamily="34" charset="-122"/>
                </a:rPr>
                <a:t>实际完成文件的传送。传送完毕后关闭。</a:t>
              </a: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动态创建。传输文件。传送完毕后释放。</a:t>
              </a:r>
              <a:endParaRPr lang="en-US" altLang="zh-CN" sz="1200" b="1" dirty="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1188650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2930870" y="582898"/>
            <a:ext cx="3300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FTP </a:t>
            </a:r>
            <a:r>
              <a:rPr lang="zh-CN" altLang="en-US" sz="2000" b="1" dirty="0">
                <a:solidFill>
                  <a:schemeClr val="bg1"/>
                </a:solidFill>
                <a:latin typeface="微软雅黑" pitchFamily="34" charset="-122"/>
                <a:ea typeface="微软雅黑" pitchFamily="34" charset="-122"/>
              </a:rPr>
              <a:t>使用两个不同的端口号</a:t>
            </a: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控制进程</a:t>
              </a:r>
            </a:p>
          </p:txBody>
        </p:sp>
        <p:grpSp>
          <p:nvGrpSpPr>
            <p:cNvPr id="62" name="Group 84"/>
            <p:cNvGrpSpPr>
              <a:grpSpLocks/>
            </p:cNvGrpSpPr>
            <p:nvPr/>
          </p:nvGrpSpPr>
          <p:grpSpPr bwMode="auto">
            <a:xfrm>
              <a:off x="317184" y="2008906"/>
              <a:ext cx="820341" cy="1204912"/>
              <a:chOff x="480" y="1395"/>
              <a:chExt cx="511" cy="728"/>
            </a:xfrm>
          </p:grpSpPr>
          <p:grpSp>
            <p:nvGrpSpPr>
              <p:cNvPr id="63" name="Group 85"/>
              <p:cNvGrpSpPr>
                <a:grpSpLocks/>
              </p:cNvGrpSpPr>
              <p:nvPr/>
            </p:nvGrpSpPr>
            <p:grpSpPr bwMode="auto">
              <a:xfrm>
                <a:off x="717" y="1446"/>
                <a:ext cx="274" cy="237"/>
                <a:chOff x="717" y="1446"/>
                <a:chExt cx="274" cy="237"/>
              </a:xfrm>
            </p:grpSpPr>
            <p:sp>
              <p:nvSpPr>
                <p:cNvPr id="88" name="Arc 86"/>
                <p:cNvSpPr>
                  <a:spLocks/>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Arc 87"/>
                <p:cNvSpPr>
                  <a:spLocks/>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0" name="Freeform 88"/>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Freeform 89"/>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94" name="Freeform 92"/>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93"/>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94"/>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95"/>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96"/>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97"/>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2" name="Freeform 100"/>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101"/>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102"/>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103"/>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104"/>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105"/>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0" name="Freeform 108"/>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1" name="Freeform 109"/>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12" name="Freeform 110"/>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3" name="Freeform 111"/>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sp>
            <p:nvSpPr>
              <p:cNvPr id="64" name="Freeform 114"/>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15"/>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16"/>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17"/>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18"/>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19"/>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20"/>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1" name="Freeform 121"/>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2"/>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3"/>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24"/>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25"/>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26"/>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27"/>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28"/>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9" name="Freeform 129"/>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0" name="Freeform 130"/>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Freeform 131"/>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2" name="Freeform 132"/>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3" name="Freeform 133"/>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4" name="Freeform 134"/>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5" name="Freeform 135"/>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sp>
            <p:nvSpPr>
              <p:cNvPr id="86" name="Freeform 136"/>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Freeform 137"/>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headEnd/>
                <a:tailEnd/>
              </a:ln>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FTP </a:t>
              </a:r>
              <a:r>
                <a:rPr kumimoji="1" lang="zh-CN" altLang="en-US" sz="1400" b="1" dirty="0">
                  <a:latin typeface="微软雅黑" pitchFamily="34" charset="-122"/>
                  <a:ea typeface="微软雅黑" pitchFamily="34" charset="-122"/>
                </a:rPr>
                <a:t>客户端</a:t>
              </a: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FTP </a:t>
              </a:r>
              <a:r>
                <a:rPr kumimoji="1" lang="zh-CN" altLang="en-US" sz="1400" b="1" dirty="0">
                  <a:latin typeface="微软雅黑" pitchFamily="34" charset="-122"/>
                  <a:ea typeface="微软雅黑" pitchFamily="34" charset="-122"/>
                </a:rPr>
                <a:t>服务器端</a:t>
              </a: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aphicFrame>
          <p:nvGraphicFramePr>
            <p:cNvPr id="126" name="Object 148"/>
            <p:cNvGraphicFramePr>
              <a:graphicFrameLocks noChangeAspect="1"/>
            </p:cNvGraphicFramePr>
            <p:nvPr>
              <p:extLst>
                <p:ext uri="{D42A27DB-BD31-4B8C-83A1-F6EECF244321}">
                  <p14:modId xmlns:p14="http://schemas.microsoft.com/office/powerpoint/2010/main" val="2097526836"/>
                </p:ext>
              </p:extLst>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1995" y="2658193"/>
                          <a:ext cx="2369873" cy="17462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互联网</a:t>
              </a: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rgbClr val="0000FF"/>
                  </a:solidFill>
                  <a:latin typeface="微软雅黑" pitchFamily="34" charset="-122"/>
                  <a:ea typeface="微软雅黑" pitchFamily="34" charset="-122"/>
                </a:rPr>
                <a:t>TCP </a:t>
              </a:r>
              <a:r>
                <a:rPr kumimoji="1" lang="zh-CN" altLang="en-US" sz="1400" b="1" dirty="0">
                  <a:solidFill>
                    <a:srgbClr val="0000FF"/>
                  </a:solidFill>
                  <a:latin typeface="微软雅黑" pitchFamily="34" charset="-122"/>
                  <a:ea typeface="微软雅黑" pitchFamily="34" charset="-122"/>
                </a:rPr>
                <a:t>控制连接</a:t>
              </a: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rgbClr val="CC00CC"/>
                  </a:solidFill>
                  <a:latin typeface="微软雅黑" pitchFamily="34" charset="-122"/>
                  <a:ea typeface="微软雅黑" pitchFamily="34" charset="-122"/>
                </a:rPr>
                <a:t>TCP </a:t>
              </a:r>
              <a:r>
                <a:rPr kumimoji="1" lang="zh-CN" altLang="en-US" sz="1400" b="1" dirty="0">
                  <a:solidFill>
                    <a:srgbClr val="CC00CC"/>
                  </a:solidFill>
                  <a:latin typeface="微软雅黑" pitchFamily="34" charset="-122"/>
                  <a:ea typeface="微软雅黑" pitchFamily="34" charset="-122"/>
                </a:rPr>
                <a:t>数据连接</a:t>
              </a: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用户界面</a:t>
              </a: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headEnd/>
              <a:tailEnd/>
            </a:ln>
            <a:effectLst/>
          </p:spPr>
          <p:txBody>
            <a:bodyPr wrap="none" anchor="ctr"/>
            <a:lstStyle/>
            <a:p>
              <a:pPr algn="ctr" eaLnBrk="1" hangingPunct="1"/>
              <a:r>
                <a:rPr kumimoji="1" lang="zh-CN" altLang="en-US" sz="1200" b="1">
                  <a:latin typeface="微软雅黑" pitchFamily="34" charset="-122"/>
                  <a:ea typeface="微软雅黑" pitchFamily="34" charset="-122"/>
                </a:rPr>
                <a:t>控制进程</a:t>
              </a: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headEnd/>
              <a:tailEnd/>
            </a:ln>
            <a:effectLst/>
          </p:spPr>
          <p:txBody>
            <a:bodyPr wrap="none" anchor="ctr"/>
            <a:lstStyle/>
            <a:p>
              <a:pPr algn="ctr" eaLnBrk="1" hangingPunct="1"/>
              <a:r>
                <a:rPr kumimoji="1" lang="zh-CN" altLang="en-US" sz="1200" b="1">
                  <a:latin typeface="微软雅黑" pitchFamily="34" charset="-122"/>
                  <a:ea typeface="微软雅黑" pitchFamily="34" charset="-122"/>
                </a:rPr>
                <a:t>数据传送</a:t>
              </a:r>
            </a:p>
            <a:p>
              <a:pPr algn="ctr" eaLnBrk="1" hangingPunct="1"/>
              <a:r>
                <a:rPr kumimoji="1" lang="zh-CN" altLang="en-US" sz="1200" b="1">
                  <a:latin typeface="微软雅黑" pitchFamily="34" charset="-122"/>
                  <a:ea typeface="微软雅黑" pitchFamily="34" charset="-122"/>
                </a:rPr>
                <a:t>进程</a:t>
              </a: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headEnd/>
              <a:tailEnd/>
            </a:ln>
            <a:effectLst/>
          </p:spPr>
          <p:txBody>
            <a:bodyPr wrap="none" anchor="ctr"/>
            <a:lstStyle/>
            <a:p>
              <a:pPr algn="ctr" eaLnBrk="1" hangingPunct="1"/>
              <a:r>
                <a:rPr kumimoji="1" lang="zh-CN" altLang="en-US" sz="1200" b="1" dirty="0">
                  <a:latin typeface="微软雅黑" pitchFamily="34" charset="-122"/>
                  <a:ea typeface="微软雅黑" pitchFamily="34" charset="-122"/>
                </a:rPr>
                <a:t>数据传送</a:t>
              </a:r>
            </a:p>
            <a:p>
              <a:pPr algn="ctr" eaLnBrk="1" hangingPunct="1"/>
              <a:r>
                <a:rPr kumimoji="1" lang="zh-CN" altLang="en-US" sz="1200" b="1" dirty="0">
                  <a:latin typeface="微软雅黑" pitchFamily="34" charset="-122"/>
                  <a:ea typeface="微软雅黑" pitchFamily="34" charset="-122"/>
                </a:rPr>
                <a:t>进程</a:t>
              </a: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b="1" dirty="0">
                <a:latin typeface="微软雅黑" pitchFamily="34" charset="-122"/>
                <a:ea typeface="微软雅黑"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headEnd/>
              <a:tailEnd/>
            </a:ln>
            <a:effectLst/>
          </p:spPr>
          <p:txBody>
            <a:bodyPr wrap="none" anchor="ctr"/>
            <a:lstStyle/>
            <a:p>
              <a:pPr algn="ctr" eaLnBrk="1" hangingPunct="1"/>
              <a:endParaRPr kumimoji="1" lang="zh-CN" altLang="en-US" sz="1200" b="1" dirty="0">
                <a:latin typeface="微软雅黑" pitchFamily="34" charset="-122"/>
                <a:ea typeface="微软雅黑" pitchFamily="34" charset="-122"/>
              </a:endParaRPr>
            </a:p>
          </p:txBody>
        </p:sp>
      </p:grpSp>
      <p:sp>
        <p:nvSpPr>
          <p:cNvPr id="3" name="矩形 2"/>
          <p:cNvSpPr/>
          <p:nvPr/>
        </p:nvSpPr>
        <p:spPr>
          <a:xfrm>
            <a:off x="5758298" y="2102452"/>
            <a:ext cx="437940" cy="338554"/>
          </a:xfrm>
          <a:prstGeom prst="rect">
            <a:avLst/>
          </a:prstGeom>
        </p:spPr>
        <p:txBody>
          <a:bodyPr wrap="none">
            <a:spAutoFit/>
          </a:bodyPr>
          <a:lstStyle/>
          <a:p>
            <a:r>
              <a:rPr lang="en-US" altLang="zh-CN" sz="1600" b="1" dirty="0">
                <a:solidFill>
                  <a:srgbClr val="C00000"/>
                </a:solidFill>
                <a:latin typeface="微软雅黑" pitchFamily="34" charset="-122"/>
                <a:ea typeface="微软雅黑" pitchFamily="34" charset="-122"/>
              </a:rPr>
              <a:t>21</a:t>
            </a:r>
            <a:endParaRPr lang="zh-CN" altLang="en-US" sz="1600" dirty="0">
              <a:solidFill>
                <a:srgbClr val="C00000"/>
              </a:solidFill>
            </a:endParaRPr>
          </a:p>
        </p:txBody>
      </p:sp>
      <p:sp>
        <p:nvSpPr>
          <p:cNvPr id="142" name="矩形 141"/>
          <p:cNvSpPr/>
          <p:nvPr/>
        </p:nvSpPr>
        <p:spPr>
          <a:xfrm>
            <a:off x="5758298" y="2759387"/>
            <a:ext cx="437940" cy="338554"/>
          </a:xfrm>
          <a:prstGeom prst="rect">
            <a:avLst/>
          </a:prstGeom>
        </p:spPr>
        <p:txBody>
          <a:bodyPr wrap="none">
            <a:spAutoFit/>
          </a:bodyPr>
          <a:lstStyle/>
          <a:p>
            <a:r>
              <a:rPr lang="en-US" altLang="zh-CN" sz="1600" b="1" dirty="0">
                <a:solidFill>
                  <a:srgbClr val="C00000"/>
                </a:solidFill>
                <a:latin typeface="微软雅黑" pitchFamily="34" charset="-122"/>
                <a:ea typeface="微软雅黑" pitchFamily="34" charset="-122"/>
              </a:rPr>
              <a:t>20</a:t>
            </a:r>
            <a:endParaRPr lang="zh-CN" altLang="en-US" sz="1600" dirty="0">
              <a:solidFill>
                <a:srgbClr val="C00000"/>
              </a:solidFill>
            </a:endParaRPr>
          </a:p>
        </p:txBody>
      </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在整个会话期间一直保持打开。</a:t>
              </a:r>
              <a:endParaRPr lang="en-US" altLang="zh-CN" sz="1200" b="1" dirty="0">
                <a:latin typeface="微软雅黑" panose="020B0503020204020204" pitchFamily="34" charset="-122"/>
                <a:ea typeface="微软雅黑" panose="020B0503020204020204" pitchFamily="34" charset="-122"/>
              </a:endParaRPr>
            </a:p>
            <a:p>
              <a:r>
                <a:rPr lang="zh-CN" altLang="en-US" sz="1200" b="1" dirty="0">
                  <a:latin typeface="微软雅黑" panose="020B0503020204020204" pitchFamily="34" charset="-122"/>
                  <a:ea typeface="微软雅黑" panose="020B0503020204020204" pitchFamily="34" charset="-122"/>
                </a:rPr>
                <a:t>传输 </a:t>
              </a:r>
              <a:r>
                <a:rPr lang="en-US" altLang="zh-CN" sz="1200" b="1" dirty="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客户发出的传送请求。</a:t>
              </a: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收到客户连接请求后有主进程创建。</a:t>
              </a: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endParaRPr lang="en-US" altLang="zh-CN" sz="1200" b="1" dirty="0">
                <a:latin typeface="微软雅黑" panose="020B0503020204020204" pitchFamily="34" charset="-122"/>
                <a:ea typeface="微软雅黑" panose="020B0503020204020204" pitchFamily="34" charset="-122"/>
              </a:endParaRPr>
            </a:p>
            <a:p>
              <a:r>
                <a:rPr lang="zh-CN" altLang="en-US" sz="1200" b="1" dirty="0">
                  <a:latin typeface="微软雅黑" panose="020B0503020204020204" pitchFamily="34" charset="-122"/>
                  <a:ea typeface="微软雅黑" panose="020B0503020204020204" pitchFamily="34" charset="-122"/>
                </a:rPr>
                <a:t>实际完成文件的传送。传送完毕后关闭。</a:t>
              </a: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动态创建。传输文件。传送完毕后释放。</a:t>
              </a:r>
              <a:endParaRPr lang="en-US" altLang="zh-CN" sz="1200" b="1" dirty="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5206649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AutoShape 5"/>
          <p:cNvSpPr>
            <a:spLocks noChangeArrowheads="1"/>
          </p:cNvSpPr>
          <p:nvPr/>
        </p:nvSpPr>
        <p:spPr bwMode="auto">
          <a:xfrm>
            <a:off x="556963" y="6100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5" name="Rectangle 6"/>
          <p:cNvSpPr>
            <a:spLocks noChangeArrowheads="1"/>
          </p:cNvSpPr>
          <p:nvPr/>
        </p:nvSpPr>
        <p:spPr bwMode="auto">
          <a:xfrm>
            <a:off x="3553571" y="576811"/>
            <a:ext cx="20555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NFS </a:t>
            </a:r>
            <a:r>
              <a:rPr lang="zh-CN" altLang="en-US" sz="2000" b="1" dirty="0">
                <a:solidFill>
                  <a:schemeClr val="bg1"/>
                </a:solidFill>
                <a:latin typeface="微软雅黑" pitchFamily="34" charset="-122"/>
                <a:ea typeface="微软雅黑" pitchFamily="34" charset="-122"/>
              </a:rPr>
              <a:t>采用的思路</a:t>
            </a:r>
          </a:p>
        </p:txBody>
      </p:sp>
      <p:sp>
        <p:nvSpPr>
          <p:cNvPr id="76" name="Rectangle 68"/>
          <p:cNvSpPr>
            <a:spLocks noChangeArrowheads="1"/>
          </p:cNvSpPr>
          <p:nvPr/>
        </p:nvSpPr>
        <p:spPr bwMode="auto">
          <a:xfrm>
            <a:off x="556963" y="963445"/>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FTP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并非对所有的数据传输都是最佳的：</a:t>
            </a:r>
            <a:r>
              <a:rPr lang="zh-CN" altLang="en-US" sz="2000" b="1" dirty="0">
                <a:solidFill>
                  <a:srgbClr val="C00000"/>
                </a:solidFill>
                <a:latin typeface="微软雅黑" pitchFamily="34" charset="-122"/>
                <a:ea typeface="微软雅黑" pitchFamily="34" charset="-122"/>
              </a:rPr>
              <a:t>仅能访问副本。</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NFS </a:t>
            </a:r>
            <a:r>
              <a:rPr lang="zh-CN" altLang="en-US" sz="2000" b="1" dirty="0">
                <a:latin typeface="微软雅黑" pitchFamily="34" charset="-122"/>
                <a:ea typeface="微软雅黑" pitchFamily="34" charset="-122"/>
              </a:rPr>
              <a:t>允许应用进程打开一个远地文件，并能在该文件的某一个特定的位置上开始读写数据。</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NFS </a:t>
            </a:r>
            <a:r>
              <a:rPr lang="zh-CN" altLang="en-US" sz="2000" b="1" dirty="0">
                <a:latin typeface="微软雅黑" pitchFamily="34" charset="-122"/>
                <a:ea typeface="微软雅黑" pitchFamily="34" charset="-122"/>
              </a:rPr>
              <a:t>可使用户只复制一个大文件中的一个很小的片段，而不需要复制整个大文件。</a:t>
            </a:r>
          </a:p>
          <a:p>
            <a:pPr marL="285750" indent="-28575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NFS </a:t>
            </a:r>
            <a:r>
              <a:rPr lang="zh-CN" altLang="en-US" sz="2000" b="1" dirty="0">
                <a:solidFill>
                  <a:srgbClr val="0000FF"/>
                </a:solidFill>
                <a:latin typeface="微软雅黑" pitchFamily="34" charset="-122"/>
                <a:ea typeface="微软雅黑" pitchFamily="34" charset="-122"/>
              </a:rPr>
              <a:t>在网络上传送的只是少量的修改数据。 </a:t>
            </a:r>
          </a:p>
        </p:txBody>
      </p:sp>
    </p:spTree>
    <p:extLst>
      <p:ext uri="{BB962C8B-B14F-4D97-AF65-F5344CB8AC3E}">
        <p14:creationId xmlns:p14="http://schemas.microsoft.com/office/powerpoint/2010/main" val="19433642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17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58543" y="568904"/>
            <a:ext cx="442691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6.2.3  </a:t>
            </a:r>
            <a:r>
              <a:rPr lang="zh-CN" altLang="en-US" sz="2400" b="1" dirty="0">
                <a:solidFill>
                  <a:schemeClr val="bg1"/>
                </a:solidFill>
                <a:latin typeface="微软雅黑" pitchFamily="34" charset="-122"/>
                <a:ea typeface="微软雅黑" pitchFamily="34" charset="-122"/>
              </a:rPr>
              <a:t>简单文件传送协议 </a:t>
            </a:r>
            <a:r>
              <a:rPr lang="en-US" altLang="zh-CN" sz="2400" b="1" dirty="0">
                <a:solidFill>
                  <a:schemeClr val="bg1"/>
                </a:solidFill>
                <a:latin typeface="微软雅黑" pitchFamily="34" charset="-122"/>
                <a:ea typeface="微软雅黑" pitchFamily="34" charset="-122"/>
              </a:rPr>
              <a:t>TFTP</a:t>
            </a:r>
            <a:endParaRPr lang="zh-CN" altLang="en-US" sz="2400" b="1" dirty="0">
              <a:solidFill>
                <a:schemeClr val="bg1"/>
              </a:solidFill>
              <a:latin typeface="微软雅黑" pitchFamily="34" charset="-122"/>
              <a:ea typeface="微软雅黑" pitchFamily="34" charset="-122"/>
            </a:endParaRPr>
          </a:p>
        </p:txBody>
      </p:sp>
      <p:sp>
        <p:nvSpPr>
          <p:cNvPr id="7" name="Rectangle 8"/>
          <p:cNvSpPr>
            <a:spLocks noChangeArrowheads="1"/>
          </p:cNvSpPr>
          <p:nvPr/>
        </p:nvSpPr>
        <p:spPr bwMode="auto">
          <a:xfrm>
            <a:off x="545143" y="1005912"/>
            <a:ext cx="8190484" cy="2964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TFTP</a:t>
            </a:r>
            <a:r>
              <a:rPr lang="en-US" altLang="zh-CN" sz="2000" b="1" dirty="0">
                <a:latin typeface="微软雅黑" pitchFamily="34" charset="-122"/>
                <a:ea typeface="微软雅黑" pitchFamily="34" charset="-122"/>
              </a:rPr>
              <a:t> (Trivial File Transfer Protocol) </a:t>
            </a:r>
            <a:r>
              <a:rPr lang="zh-CN" altLang="en-US" sz="2000" b="1" dirty="0">
                <a:latin typeface="微软雅黑" pitchFamily="34" charset="-122"/>
                <a:ea typeface="微软雅黑" pitchFamily="34" charset="-122"/>
              </a:rPr>
              <a:t>是一个很小且易于实现的文件传送协议。</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客户服务器方式</a:t>
            </a:r>
            <a:r>
              <a:rPr lang="zh-CN" altLang="en-US" sz="2000" b="1" dirty="0">
                <a:latin typeface="微软雅黑" pitchFamily="34" charset="-122"/>
                <a:ea typeface="微软雅黑" pitchFamily="34" charset="-122"/>
              </a:rPr>
              <a:t>和使用 </a:t>
            </a:r>
            <a:r>
              <a:rPr lang="en-US" altLang="zh-CN" sz="2000" b="1" dirty="0">
                <a:solidFill>
                  <a:srgbClr val="C00000"/>
                </a:solidFill>
                <a:latin typeface="微软雅黑" pitchFamily="34" charset="-122"/>
                <a:ea typeface="微软雅黑" pitchFamily="34" charset="-122"/>
              </a:rPr>
              <a:t>UDP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数据报，因此 </a:t>
            </a: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需要有自己的差错改正措施。</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只支持文件传输，</a:t>
            </a:r>
            <a:r>
              <a:rPr lang="zh-CN" altLang="en-US" sz="2000" b="1" dirty="0">
                <a:solidFill>
                  <a:srgbClr val="C00000"/>
                </a:solidFill>
                <a:latin typeface="微软雅黑" pitchFamily="34" charset="-122"/>
                <a:ea typeface="微软雅黑" pitchFamily="34" charset="-122"/>
              </a:rPr>
              <a:t>不支持交互。</a:t>
            </a:r>
          </a:p>
          <a:p>
            <a:pPr marL="285750" indent="-28575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没有庞大的命令集，没有列目录的功能，也不能对用户进行身份鉴别。</a:t>
            </a:r>
            <a:endParaRPr lang="en-US" altLang="zh-CN" sz="2000" b="1" dirty="0">
              <a:latin typeface="微软雅黑" pitchFamily="34" charset="-122"/>
              <a:ea typeface="微软雅黑" pitchFamily="34" charset="-122"/>
            </a:endParaRPr>
          </a:p>
          <a:p>
            <a:pPr marL="285750" indent="-28575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优点：</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1</a:t>
            </a:r>
            <a:r>
              <a:rPr lang="zh-CN" altLang="en-US" sz="2000" b="1" dirty="0">
                <a:latin typeface="微软雅黑" pitchFamily="34" charset="-122"/>
                <a:ea typeface="微软雅黑" pitchFamily="34" charset="-122"/>
              </a:rPr>
              <a:t>）可用于 </a:t>
            </a:r>
            <a:r>
              <a:rPr lang="en-US" altLang="zh-CN" sz="2000" b="1" dirty="0">
                <a:latin typeface="微软雅黑" pitchFamily="34" charset="-122"/>
                <a:ea typeface="微软雅黑" pitchFamily="34" charset="-122"/>
              </a:rPr>
              <a:t>UDP </a:t>
            </a:r>
            <a:r>
              <a:rPr lang="zh-CN" altLang="en-US" sz="2000" b="1" dirty="0">
                <a:latin typeface="微软雅黑" pitchFamily="34" charset="-122"/>
                <a:ea typeface="微软雅黑" pitchFamily="34" charset="-122"/>
              </a:rPr>
              <a:t>环境；（</a:t>
            </a:r>
            <a:r>
              <a:rPr lang="en-US" altLang="zh-CN" sz="2000" b="1" dirty="0">
                <a:latin typeface="微软雅黑" pitchFamily="34" charset="-122"/>
                <a:ea typeface="微软雅黑" pitchFamily="34" charset="-122"/>
              </a:rPr>
              <a:t>2</a:t>
            </a:r>
            <a:r>
              <a:rPr lang="zh-CN" altLang="en-US" sz="2000" b="1" dirty="0">
                <a:latin typeface="微软雅黑" pitchFamily="34" charset="-122"/>
                <a:ea typeface="微软雅黑" pitchFamily="34" charset="-122"/>
              </a:rPr>
              <a:t>）代码所占的内存较小。 </a:t>
            </a:r>
          </a:p>
        </p:txBody>
      </p:sp>
    </p:spTree>
    <p:extLst>
      <p:ext uri="{BB962C8B-B14F-4D97-AF65-F5344CB8AC3E}">
        <p14:creationId xmlns:p14="http://schemas.microsoft.com/office/powerpoint/2010/main" val="42789788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9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91920" y="575736"/>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TFTP </a:t>
            </a:r>
            <a:r>
              <a:rPr lang="zh-CN" altLang="en-US" sz="2000" b="1" dirty="0">
                <a:solidFill>
                  <a:schemeClr val="bg1"/>
                </a:solidFill>
                <a:latin typeface="微软雅黑" pitchFamily="34" charset="-122"/>
                <a:ea typeface="微软雅黑" pitchFamily="34" charset="-122"/>
              </a:rPr>
              <a:t>的主要特点</a:t>
            </a:r>
          </a:p>
        </p:txBody>
      </p:sp>
      <p:sp>
        <p:nvSpPr>
          <p:cNvPr id="7" name="Rectangle 68"/>
          <p:cNvSpPr>
            <a:spLocks noChangeArrowheads="1"/>
          </p:cNvSpPr>
          <p:nvPr/>
        </p:nvSpPr>
        <p:spPr bwMode="auto">
          <a:xfrm>
            <a:off x="556963" y="96556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每次传送的数据报文中有 </a:t>
            </a:r>
            <a:r>
              <a:rPr lang="en-US" altLang="zh-CN" sz="2000" b="1" dirty="0">
                <a:latin typeface="微软雅黑" pitchFamily="34" charset="-122"/>
                <a:ea typeface="微软雅黑" pitchFamily="34" charset="-122"/>
              </a:rPr>
              <a:t>512 </a:t>
            </a:r>
            <a:r>
              <a:rPr lang="zh-CN" altLang="en-US" sz="2000" b="1" dirty="0">
                <a:latin typeface="微软雅黑" pitchFamily="34" charset="-122"/>
                <a:ea typeface="微软雅黑" pitchFamily="34" charset="-122"/>
              </a:rPr>
              <a:t>字节的数据，但最后一次可不足 </a:t>
            </a:r>
            <a:r>
              <a:rPr lang="en-US" altLang="zh-CN" sz="2000" b="1" dirty="0">
                <a:latin typeface="微软雅黑" pitchFamily="34" charset="-122"/>
                <a:ea typeface="微软雅黑" pitchFamily="34" charset="-122"/>
              </a:rPr>
              <a:t>512 </a:t>
            </a:r>
            <a:r>
              <a:rPr lang="zh-CN" altLang="en-US" sz="2000" b="1" dirty="0">
                <a:latin typeface="微软雅黑" pitchFamily="34" charset="-122"/>
                <a:ea typeface="微软雅黑" pitchFamily="34" charset="-122"/>
              </a:rPr>
              <a:t>字节。</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数据报文按序编号，从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开始。</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支持 </a:t>
            </a:r>
            <a:r>
              <a:rPr lang="en-US" altLang="zh-CN" sz="2000" b="1" dirty="0">
                <a:latin typeface="微软雅黑" pitchFamily="34" charset="-122"/>
                <a:ea typeface="微软雅黑" pitchFamily="34" charset="-122"/>
              </a:rPr>
              <a:t>ASCII </a:t>
            </a:r>
            <a:r>
              <a:rPr lang="zh-CN" altLang="en-US" sz="2000" b="1" dirty="0">
                <a:latin typeface="微软雅黑" pitchFamily="34" charset="-122"/>
                <a:ea typeface="微软雅黑" pitchFamily="34" charset="-122"/>
              </a:rPr>
              <a:t>码或二进制传送。</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可对文件进行读或写。</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使用很简单的首部。 </a:t>
            </a:r>
          </a:p>
        </p:txBody>
      </p:sp>
    </p:spTree>
    <p:extLst>
      <p:ext uri="{BB962C8B-B14F-4D97-AF65-F5344CB8AC3E}">
        <p14:creationId xmlns:p14="http://schemas.microsoft.com/office/powerpoint/2010/main" val="2400969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6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722479" y="575411"/>
            <a:ext cx="37177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TFTP </a:t>
            </a:r>
            <a:r>
              <a:rPr lang="zh-CN" altLang="en-US" sz="2000" b="1" dirty="0">
                <a:solidFill>
                  <a:schemeClr val="bg1"/>
                </a:solidFill>
                <a:latin typeface="微软雅黑" pitchFamily="34" charset="-122"/>
                <a:ea typeface="微软雅黑" pitchFamily="34" charset="-122"/>
              </a:rPr>
              <a:t>的工作很像停止等待协议</a:t>
            </a:r>
          </a:p>
        </p:txBody>
      </p:sp>
      <p:sp>
        <p:nvSpPr>
          <p:cNvPr id="7" name="Rectangle 68"/>
          <p:cNvSpPr>
            <a:spLocks noChangeArrowheads="1"/>
          </p:cNvSpPr>
          <p:nvPr/>
        </p:nvSpPr>
        <p:spPr bwMode="auto">
          <a:xfrm>
            <a:off x="556962" y="965237"/>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发送完一个文件块后就等待对方的确认，确认时应指明所确认的块编号。</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发完数据后在规定时间内收不到确认就要重发数据 </a:t>
            </a:r>
            <a:r>
              <a:rPr lang="en-US" altLang="zh-CN" sz="2000" b="1" dirty="0">
                <a:latin typeface="微软雅黑" pitchFamily="34" charset="-122"/>
                <a:ea typeface="微软雅黑" pitchFamily="34" charset="-122"/>
              </a:rPr>
              <a:t>PDU</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发送确认 </a:t>
            </a:r>
            <a:r>
              <a:rPr lang="en-US" altLang="zh-CN" sz="2000" b="1" dirty="0">
                <a:latin typeface="微软雅黑" pitchFamily="34" charset="-122"/>
                <a:ea typeface="微软雅黑" pitchFamily="34" charset="-122"/>
              </a:rPr>
              <a:t>PDU </a:t>
            </a:r>
            <a:r>
              <a:rPr lang="zh-CN" altLang="en-US" sz="2000" b="1" dirty="0">
                <a:latin typeface="微软雅黑" pitchFamily="34" charset="-122"/>
                <a:ea typeface="微软雅黑" pitchFamily="34" charset="-122"/>
              </a:rPr>
              <a:t>的一方若在规定时间内未收到下一个文件块，需重发确认 </a:t>
            </a:r>
            <a:r>
              <a:rPr lang="en-US" altLang="zh-CN" sz="2000" b="1" dirty="0">
                <a:latin typeface="微软雅黑" pitchFamily="34" charset="-122"/>
                <a:ea typeface="微软雅黑" pitchFamily="34" charset="-122"/>
              </a:rPr>
              <a:t>PDU</a:t>
            </a:r>
            <a:r>
              <a:rPr lang="zh-CN" altLang="en-US" sz="2000" b="1" dirty="0">
                <a:latin typeface="微软雅黑" pitchFamily="34" charset="-122"/>
                <a:ea typeface="微软雅黑" pitchFamily="34" charset="-122"/>
              </a:rPr>
              <a:t>，保证文件的传送不致因某一个数据报的丢失而告失败。 </a:t>
            </a:r>
          </a:p>
        </p:txBody>
      </p:sp>
    </p:spTree>
    <p:extLst>
      <p:ext uri="{BB962C8B-B14F-4D97-AF65-F5344CB8AC3E}">
        <p14:creationId xmlns:p14="http://schemas.microsoft.com/office/powerpoint/2010/main" val="3967746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AutoShape 5"/>
          <p:cNvSpPr>
            <a:spLocks noChangeArrowheads="1"/>
          </p:cNvSpPr>
          <p:nvPr/>
        </p:nvSpPr>
        <p:spPr bwMode="auto">
          <a:xfrm>
            <a:off x="556963" y="6166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491922" y="583454"/>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TFTP </a:t>
            </a:r>
            <a:r>
              <a:rPr lang="zh-CN" altLang="en-US" sz="2000" b="1" dirty="0">
                <a:solidFill>
                  <a:schemeClr val="bg1"/>
                </a:solidFill>
                <a:latin typeface="微软雅黑" pitchFamily="34" charset="-122"/>
                <a:ea typeface="微软雅黑" pitchFamily="34" charset="-122"/>
              </a:rPr>
              <a:t>的工作过程</a:t>
            </a:r>
          </a:p>
        </p:txBody>
      </p:sp>
      <p:sp>
        <p:nvSpPr>
          <p:cNvPr id="40" name="Rectangle 68"/>
          <p:cNvSpPr>
            <a:spLocks noChangeArrowheads="1"/>
          </p:cNvSpPr>
          <p:nvPr/>
        </p:nvSpPr>
        <p:spPr bwMode="auto">
          <a:xfrm>
            <a:off x="556962" y="964402"/>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开始工作时，</a:t>
            </a: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客户进程发送一个读请求或写请求报文给 </a:t>
            </a: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服务器进程，其 </a:t>
            </a:r>
            <a:r>
              <a:rPr lang="en-US" altLang="zh-CN" sz="2000" b="1" dirty="0">
                <a:latin typeface="微软雅黑" pitchFamily="34" charset="-122"/>
                <a:ea typeface="微软雅黑" pitchFamily="34" charset="-122"/>
              </a:rPr>
              <a:t>UDP </a:t>
            </a:r>
            <a:r>
              <a:rPr lang="zh-CN" altLang="en-US" sz="2000" b="1" dirty="0">
                <a:latin typeface="微软雅黑" pitchFamily="34" charset="-122"/>
                <a:ea typeface="微软雅黑" pitchFamily="34" charset="-122"/>
              </a:rPr>
              <a:t>熟知端口号码为 </a:t>
            </a:r>
            <a:r>
              <a:rPr lang="en-US" altLang="zh-CN" sz="2000" b="1" dirty="0">
                <a:solidFill>
                  <a:srgbClr val="C00000"/>
                </a:solidFill>
                <a:latin typeface="微软雅黑" pitchFamily="34" charset="-122"/>
                <a:ea typeface="微软雅黑" pitchFamily="34" charset="-122"/>
              </a:rPr>
              <a:t>69</a:t>
            </a:r>
            <a:r>
              <a:rPr lang="zh-CN" altLang="en-US" sz="2000" b="1" dirty="0">
                <a:solidFill>
                  <a:srgbClr val="C00000"/>
                </a:solidFill>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服务器进程选择一个新的端口和 </a:t>
            </a:r>
            <a:r>
              <a:rPr lang="en-US" altLang="zh-CN" sz="2000" b="1" dirty="0">
                <a:latin typeface="微软雅黑" pitchFamily="34" charset="-122"/>
                <a:ea typeface="微软雅黑" pitchFamily="34" charset="-122"/>
              </a:rPr>
              <a:t>TFTP </a:t>
            </a:r>
            <a:r>
              <a:rPr lang="zh-CN" altLang="en-US" sz="2000" b="1" dirty="0">
                <a:latin typeface="微软雅黑" pitchFamily="34" charset="-122"/>
                <a:ea typeface="微软雅黑" pitchFamily="34" charset="-122"/>
              </a:rPr>
              <a:t>客户进程进行通信。</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若文件长度恰好为 </a:t>
            </a:r>
            <a:r>
              <a:rPr lang="en-US" altLang="zh-CN" sz="2000" b="1" dirty="0">
                <a:latin typeface="微软雅黑" pitchFamily="34" charset="-122"/>
                <a:ea typeface="微软雅黑" pitchFamily="34" charset="-122"/>
              </a:rPr>
              <a:t>512 </a:t>
            </a:r>
            <a:r>
              <a:rPr lang="zh-CN" altLang="en-US" sz="2000" b="1" dirty="0">
                <a:latin typeface="微软雅黑" pitchFamily="34" charset="-122"/>
                <a:ea typeface="微软雅黑" pitchFamily="34" charset="-122"/>
              </a:rPr>
              <a:t>字节的整数倍，则在文件传送完毕后，还必须在</a:t>
            </a:r>
            <a:r>
              <a:rPr lang="zh-CN" altLang="en-US" sz="2000" b="1" dirty="0">
                <a:solidFill>
                  <a:srgbClr val="C00000"/>
                </a:solidFill>
                <a:latin typeface="微软雅黑" pitchFamily="34" charset="-122"/>
                <a:ea typeface="微软雅黑" pitchFamily="34" charset="-122"/>
              </a:rPr>
              <a:t>最后</a:t>
            </a:r>
            <a:r>
              <a:rPr lang="zh-CN" altLang="en-US" sz="2000" b="1" dirty="0">
                <a:latin typeface="微软雅黑" pitchFamily="34" charset="-122"/>
                <a:ea typeface="微软雅黑" pitchFamily="34" charset="-122"/>
              </a:rPr>
              <a:t>发送一个只含首部而无数据的数据报文。</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若文件长度不是 </a:t>
            </a:r>
            <a:r>
              <a:rPr lang="en-US" altLang="zh-CN" sz="2000" b="1" dirty="0">
                <a:latin typeface="微软雅黑" pitchFamily="34" charset="-122"/>
                <a:ea typeface="微软雅黑" pitchFamily="34" charset="-122"/>
              </a:rPr>
              <a:t>512 </a:t>
            </a:r>
            <a:r>
              <a:rPr lang="zh-CN" altLang="en-US" sz="2000" b="1" dirty="0">
                <a:latin typeface="微软雅黑" pitchFamily="34" charset="-122"/>
                <a:ea typeface="微软雅黑" pitchFamily="34" charset="-122"/>
              </a:rPr>
              <a:t>字节的整数倍，则最后传送数据报文的数据字段一定不满 </a:t>
            </a:r>
            <a:r>
              <a:rPr lang="en-US" altLang="zh-CN" sz="2000" b="1" dirty="0">
                <a:latin typeface="微软雅黑" pitchFamily="34" charset="-122"/>
                <a:ea typeface="微软雅黑" pitchFamily="34" charset="-122"/>
              </a:rPr>
              <a:t>512 </a:t>
            </a:r>
            <a:r>
              <a:rPr lang="zh-CN" altLang="en-US" sz="2000" b="1" dirty="0">
                <a:latin typeface="微软雅黑" pitchFamily="34" charset="-122"/>
                <a:ea typeface="微软雅黑" pitchFamily="34" charset="-122"/>
              </a:rPr>
              <a:t>字节，作为文件结束的标志。</a:t>
            </a:r>
          </a:p>
        </p:txBody>
      </p:sp>
    </p:spTree>
    <p:extLst>
      <p:ext uri="{BB962C8B-B14F-4D97-AF65-F5344CB8AC3E}">
        <p14:creationId xmlns:p14="http://schemas.microsoft.com/office/powerpoint/2010/main" val="37347355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68"/>
          <p:cNvSpPr>
            <a:spLocks noChangeArrowheads="1"/>
          </p:cNvSpPr>
          <p:nvPr/>
        </p:nvSpPr>
        <p:spPr bwMode="auto">
          <a:xfrm>
            <a:off x="545144" y="1003068"/>
            <a:ext cx="80537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是一个简单的远程终端协议，是互联网的正式标准。</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允许用户在其所在地通过 </a:t>
            </a:r>
            <a:r>
              <a:rPr lang="en-US" altLang="zh-CN" sz="2000" b="1" dirty="0">
                <a:solidFill>
                  <a:srgbClr val="C00000"/>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连接注册（即登录）到</a:t>
            </a:r>
            <a:r>
              <a:rPr lang="zh-CN" altLang="en-US" sz="2000" b="1" dirty="0">
                <a:solidFill>
                  <a:srgbClr val="C00000"/>
                </a:solidFill>
                <a:latin typeface="微软雅黑" pitchFamily="34" charset="-122"/>
                <a:ea typeface="微软雅黑" pitchFamily="34" charset="-122"/>
              </a:rPr>
              <a:t>远地</a:t>
            </a:r>
            <a:r>
              <a:rPr lang="zh-CN" altLang="en-US" sz="2000" b="1" dirty="0">
                <a:latin typeface="微软雅黑" pitchFamily="34" charset="-122"/>
                <a:ea typeface="微软雅黑" pitchFamily="34" charset="-122"/>
              </a:rPr>
              <a:t>的另一个主机上（使用主机名或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能将用户的击键传到远地主机，同时也能将远地主机的输出通过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连接返回到用户屏幕。</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服务是</a:t>
            </a:r>
            <a:r>
              <a:rPr lang="zh-CN" altLang="en-US" sz="2000" b="1" dirty="0">
                <a:solidFill>
                  <a:srgbClr val="C00000"/>
                </a:solidFill>
                <a:latin typeface="微软雅黑" pitchFamily="34" charset="-122"/>
                <a:ea typeface="微软雅黑" pitchFamily="34" charset="-122"/>
              </a:rPr>
              <a:t>透明</a:t>
            </a:r>
            <a:r>
              <a:rPr lang="zh-CN" altLang="en-US" sz="2000" b="1" dirty="0">
                <a:latin typeface="微软雅黑" pitchFamily="34" charset="-122"/>
                <a:ea typeface="微软雅黑" pitchFamily="34" charset="-122"/>
              </a:rPr>
              <a:t>的。</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又称为</a:t>
            </a:r>
            <a:r>
              <a:rPr lang="zh-CN" altLang="en-US" sz="2000" b="1" dirty="0">
                <a:solidFill>
                  <a:srgbClr val="C00000"/>
                </a:solidFill>
                <a:latin typeface="微软雅黑" pitchFamily="34" charset="-122"/>
                <a:ea typeface="微软雅黑" pitchFamily="34" charset="-122"/>
              </a:rPr>
              <a:t>终端仿真协议。 </a:t>
            </a:r>
          </a:p>
        </p:txBody>
      </p:sp>
      <p:sp>
        <p:nvSpPr>
          <p:cNvPr id="5" name="AutoShape 5"/>
          <p:cNvSpPr>
            <a:spLocks noChangeArrowheads="1"/>
          </p:cNvSpPr>
          <p:nvPr/>
        </p:nvSpPr>
        <p:spPr bwMode="auto">
          <a:xfrm>
            <a:off x="545144" y="616103"/>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601334" y="573832"/>
            <a:ext cx="39413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6.3  </a:t>
            </a:r>
            <a:r>
              <a:rPr lang="zh-CN" altLang="en-US" sz="2400" b="1" dirty="0">
                <a:solidFill>
                  <a:schemeClr val="bg1"/>
                </a:solidFill>
                <a:latin typeface="微软雅黑" pitchFamily="34" charset="-122"/>
                <a:ea typeface="微软雅黑" pitchFamily="34" charset="-122"/>
              </a:rPr>
              <a:t>远程终端协议 </a:t>
            </a:r>
            <a:r>
              <a:rPr lang="en-US" altLang="zh-CN" sz="2400" b="1" dirty="0">
                <a:solidFill>
                  <a:schemeClr val="bg1"/>
                </a:solidFill>
                <a:latin typeface="微软雅黑" pitchFamily="34" charset="-122"/>
                <a:ea typeface="微软雅黑" pitchFamily="34" charset="-122"/>
              </a:rPr>
              <a:t>TELNET</a:t>
            </a:r>
          </a:p>
        </p:txBody>
      </p:sp>
    </p:spTree>
    <p:extLst>
      <p:ext uri="{BB962C8B-B14F-4D97-AF65-F5344CB8AC3E}">
        <p14:creationId xmlns:p14="http://schemas.microsoft.com/office/powerpoint/2010/main" val="10931879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AutoShape 5"/>
          <p:cNvSpPr>
            <a:spLocks noChangeArrowheads="1"/>
          </p:cNvSpPr>
          <p:nvPr/>
        </p:nvSpPr>
        <p:spPr bwMode="auto">
          <a:xfrm>
            <a:off x="556963" y="6107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8" name="Rectangle 6"/>
          <p:cNvSpPr>
            <a:spLocks noChangeArrowheads="1"/>
          </p:cNvSpPr>
          <p:nvPr/>
        </p:nvSpPr>
        <p:spPr bwMode="auto">
          <a:xfrm>
            <a:off x="2676634" y="577503"/>
            <a:ext cx="3809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TELNET </a:t>
            </a:r>
            <a:r>
              <a:rPr lang="zh-CN" altLang="en-US" sz="2000" b="1" dirty="0">
                <a:solidFill>
                  <a:schemeClr val="bg1"/>
                </a:solidFill>
                <a:latin typeface="微软雅黑" pitchFamily="34" charset="-122"/>
                <a:ea typeface="微软雅黑" pitchFamily="34" charset="-122"/>
              </a:rPr>
              <a:t>使用客户 </a:t>
            </a:r>
            <a:r>
              <a:rPr lang="en-US" altLang="zh-CN" sz="2000" b="1" dirty="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服务器方式</a:t>
            </a:r>
          </a:p>
        </p:txBody>
      </p:sp>
      <p:sp>
        <p:nvSpPr>
          <p:cNvPr id="79" name="Rectangle 68"/>
          <p:cNvSpPr>
            <a:spLocks noChangeArrowheads="1"/>
          </p:cNvSpPr>
          <p:nvPr/>
        </p:nvSpPr>
        <p:spPr bwMode="auto">
          <a:xfrm>
            <a:off x="483810" y="976207"/>
            <a:ext cx="8193262"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在本地系统运行 </a:t>
            </a:r>
            <a:r>
              <a:rPr lang="en-US" altLang="zh-CN" sz="2000" b="1" dirty="0">
                <a:latin typeface="微软雅黑" pitchFamily="34" charset="-122"/>
                <a:ea typeface="微软雅黑" pitchFamily="34" charset="-122"/>
              </a:rPr>
              <a:t>TELNET </a:t>
            </a:r>
            <a:r>
              <a:rPr lang="zh-CN" altLang="en-US" sz="2000" b="1" dirty="0">
                <a:solidFill>
                  <a:srgbClr val="C00000"/>
                </a:solidFill>
                <a:latin typeface="微软雅黑" pitchFamily="34" charset="-122"/>
                <a:ea typeface="微软雅黑" pitchFamily="34" charset="-122"/>
              </a:rPr>
              <a:t>客户进程，</a:t>
            </a:r>
            <a:r>
              <a:rPr lang="zh-CN" altLang="en-US" sz="2000" b="1" dirty="0">
                <a:latin typeface="微软雅黑" pitchFamily="34" charset="-122"/>
                <a:ea typeface="微软雅黑" pitchFamily="34" charset="-122"/>
              </a:rPr>
              <a:t>而在远地主机则运行 </a:t>
            </a:r>
            <a:r>
              <a:rPr lang="en-US" altLang="zh-CN" sz="2000" b="1" dirty="0">
                <a:latin typeface="微软雅黑" pitchFamily="34" charset="-122"/>
                <a:ea typeface="微软雅黑" pitchFamily="34" charset="-122"/>
              </a:rPr>
              <a:t>TELNET </a:t>
            </a:r>
            <a:r>
              <a:rPr lang="zh-CN" altLang="en-US" sz="2000" b="1" dirty="0">
                <a:solidFill>
                  <a:srgbClr val="C00000"/>
                </a:solidFill>
                <a:latin typeface="微软雅黑" pitchFamily="34" charset="-122"/>
                <a:ea typeface="微软雅黑" pitchFamily="34" charset="-122"/>
              </a:rPr>
              <a:t>服务器进程。</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服务器中的</a:t>
            </a:r>
            <a:r>
              <a:rPr lang="zh-CN" altLang="en-US" sz="2000" b="1" dirty="0">
                <a:solidFill>
                  <a:srgbClr val="C00000"/>
                </a:solidFill>
                <a:latin typeface="微软雅黑" pitchFamily="34" charset="-122"/>
                <a:ea typeface="微软雅黑" pitchFamily="34" charset="-122"/>
              </a:rPr>
              <a:t>主进程</a:t>
            </a:r>
            <a:r>
              <a:rPr lang="zh-CN" altLang="en-US" sz="2000" b="1" dirty="0">
                <a:latin typeface="微软雅黑" pitchFamily="34" charset="-122"/>
                <a:ea typeface="微软雅黑" pitchFamily="34" charset="-122"/>
              </a:rPr>
              <a:t>等待新的请求，产生</a:t>
            </a:r>
            <a:r>
              <a:rPr lang="zh-CN" altLang="en-US" sz="2000" b="1" dirty="0">
                <a:solidFill>
                  <a:srgbClr val="C00000"/>
                </a:solidFill>
                <a:latin typeface="微软雅黑" pitchFamily="34" charset="-122"/>
                <a:ea typeface="微软雅黑" pitchFamily="34" charset="-122"/>
              </a:rPr>
              <a:t>从属进程</a:t>
            </a:r>
            <a:r>
              <a:rPr lang="zh-CN" altLang="en-US" sz="2000" b="1" dirty="0">
                <a:latin typeface="微软雅黑" pitchFamily="34" charset="-122"/>
                <a:ea typeface="微软雅黑" pitchFamily="34" charset="-122"/>
              </a:rPr>
              <a:t>来处理每一个连接。 </a:t>
            </a:r>
          </a:p>
        </p:txBody>
      </p:sp>
    </p:spTree>
    <p:extLst>
      <p:ext uri="{BB962C8B-B14F-4D97-AF65-F5344CB8AC3E}">
        <p14:creationId xmlns:p14="http://schemas.microsoft.com/office/powerpoint/2010/main" val="40339827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圆角矩形 24"/>
          <p:cNvSpPr/>
          <p:nvPr/>
        </p:nvSpPr>
        <p:spPr>
          <a:xfrm>
            <a:off x="556963" y="983008"/>
            <a:ext cx="8048776" cy="24970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 name="Group 190"/>
          <p:cNvGrpSpPr>
            <a:grpSpLocks noChangeAspect="1"/>
          </p:cNvGrpSpPr>
          <p:nvPr/>
        </p:nvGrpSpPr>
        <p:grpSpPr bwMode="auto">
          <a:xfrm>
            <a:off x="1638459" y="1489622"/>
            <a:ext cx="1465666" cy="1328224"/>
            <a:chOff x="667" y="1712"/>
            <a:chExt cx="1269" cy="1150"/>
          </a:xfrm>
        </p:grpSpPr>
        <p:sp>
          <p:nvSpPr>
            <p:cNvPr id="46" name="AutoShape 189"/>
            <p:cNvSpPr>
              <a:spLocks noChangeAspect="1" noChangeArrowheads="1" noTextEdit="1"/>
            </p:cNvSpPr>
            <p:nvPr/>
          </p:nvSpPr>
          <p:spPr bwMode="auto">
            <a:xfrm>
              <a:off x="667" y="1712"/>
              <a:ext cx="1269" cy="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9" name="Group 199"/>
            <p:cNvGrpSpPr>
              <a:grpSpLocks/>
            </p:cNvGrpSpPr>
            <p:nvPr/>
          </p:nvGrpSpPr>
          <p:grpSpPr bwMode="auto">
            <a:xfrm>
              <a:off x="880" y="1752"/>
              <a:ext cx="854" cy="749"/>
              <a:chOff x="880" y="1752"/>
              <a:chExt cx="854" cy="749"/>
            </a:xfrm>
          </p:grpSpPr>
          <p:sp>
            <p:nvSpPr>
              <p:cNvPr id="60" name="Freeform 195"/>
              <p:cNvSpPr>
                <a:spLocks/>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96"/>
              <p:cNvSpPr>
                <a:spLocks/>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AutoShape 198"/>
              <p:cNvSpPr>
                <a:spLocks noChangeArrowheads="1"/>
              </p:cNvSpPr>
              <p:nvPr/>
            </p:nvSpPr>
            <p:spPr bwMode="auto">
              <a:xfrm>
                <a:off x="916" y="1939"/>
                <a:ext cx="771" cy="562"/>
              </a:xfrm>
              <a:prstGeom prst="roundRect">
                <a:avLst>
                  <a:gd name="adj" fmla="val 16667"/>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8" name="Group 210"/>
            <p:cNvGrpSpPr>
              <a:grpSpLocks/>
            </p:cNvGrpSpPr>
            <p:nvPr/>
          </p:nvGrpSpPr>
          <p:grpSpPr bwMode="auto">
            <a:xfrm>
              <a:off x="667" y="1712"/>
              <a:ext cx="1245" cy="1110"/>
              <a:chOff x="667" y="1712"/>
              <a:chExt cx="1245" cy="1110"/>
            </a:xfrm>
          </p:grpSpPr>
          <p:grpSp>
            <p:nvGrpSpPr>
              <p:cNvPr id="49" name="Group 204"/>
              <p:cNvGrpSpPr>
                <a:grpSpLocks/>
              </p:cNvGrpSpPr>
              <p:nvPr/>
            </p:nvGrpSpPr>
            <p:grpSpPr bwMode="auto">
              <a:xfrm>
                <a:off x="667" y="2621"/>
                <a:ext cx="1245" cy="201"/>
                <a:chOff x="667" y="2621"/>
                <a:chExt cx="1245" cy="201"/>
              </a:xfrm>
            </p:grpSpPr>
            <p:sp>
              <p:nvSpPr>
                <p:cNvPr id="55" name="Freeform 201"/>
                <p:cNvSpPr>
                  <a:spLocks/>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02"/>
                <p:cNvSpPr>
                  <a:spLocks/>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Rectangle 203"/>
                <p:cNvSpPr>
                  <a:spLocks noChangeArrowheads="1"/>
                </p:cNvSpPr>
                <p:nvPr/>
              </p:nvSpPr>
              <p:spPr bwMode="auto">
                <a:xfrm>
                  <a:off x="679" y="2755"/>
                  <a:ext cx="1221" cy="67"/>
                </a:xfrm>
                <a:prstGeom prst="rect">
                  <a:avLst/>
                </a:prstGeom>
                <a:solidFill>
                  <a:schemeClr val="tx2">
                    <a:lumMod val="40000"/>
                    <a:lumOff val="60000"/>
                  </a:schemeClr>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endParaRPr lang="zh-CN" altLang="en-US"/>
                </a:p>
              </p:txBody>
            </p:sp>
          </p:grpSp>
          <p:grpSp>
            <p:nvGrpSpPr>
              <p:cNvPr id="50" name="Group 209"/>
              <p:cNvGrpSpPr>
                <a:grpSpLocks/>
              </p:cNvGrpSpPr>
              <p:nvPr/>
            </p:nvGrpSpPr>
            <p:grpSpPr bwMode="auto">
              <a:xfrm>
                <a:off x="809" y="1712"/>
                <a:ext cx="949" cy="856"/>
                <a:chOff x="809" y="1712"/>
                <a:chExt cx="949" cy="856"/>
              </a:xfrm>
            </p:grpSpPr>
            <p:sp>
              <p:nvSpPr>
                <p:cNvPr id="51" name="Freeform 205"/>
                <p:cNvSpPr>
                  <a:spLocks/>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06"/>
                <p:cNvSpPr>
                  <a:spLocks/>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0066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3" name="AutoShape 207"/>
                <p:cNvSpPr>
                  <a:spLocks noChangeArrowheads="1"/>
                </p:cNvSpPr>
                <p:nvPr/>
              </p:nvSpPr>
              <p:spPr bwMode="auto">
                <a:xfrm>
                  <a:off x="809" y="1806"/>
                  <a:ext cx="949" cy="762"/>
                </a:xfrm>
                <a:prstGeom prst="roundRect">
                  <a:avLst>
                    <a:gd name="adj" fmla="val 16667"/>
                  </a:avLst>
                </a:prstGeom>
                <a:solidFill>
                  <a:schemeClr val="tx2">
                    <a:lumMod val="40000"/>
                    <a:lumOff val="60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54" name="AutoShape 208"/>
                <p:cNvSpPr>
                  <a:spLocks noChangeArrowheads="1"/>
                </p:cNvSpPr>
                <p:nvPr/>
              </p:nvSpPr>
              <p:spPr bwMode="auto">
                <a:xfrm>
                  <a:off x="892" y="1899"/>
                  <a:ext cx="771" cy="562"/>
                </a:xfrm>
                <a:prstGeom prst="roundRect">
                  <a:avLst>
                    <a:gd name="adj" fmla="val 16667"/>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grpSp>
        <p:nvGrpSpPr>
          <p:cNvPr id="3" name="Group 166"/>
          <p:cNvGrpSpPr>
            <a:grpSpLocks noChangeAspect="1"/>
          </p:cNvGrpSpPr>
          <p:nvPr/>
        </p:nvGrpSpPr>
        <p:grpSpPr bwMode="auto">
          <a:xfrm>
            <a:off x="6123095" y="1429056"/>
            <a:ext cx="1585335" cy="1628850"/>
            <a:chOff x="4710" y="1652"/>
            <a:chExt cx="1348" cy="1385"/>
          </a:xfrm>
        </p:grpSpPr>
        <p:sp>
          <p:nvSpPr>
            <p:cNvPr id="4" name="AutoShape 165"/>
            <p:cNvSpPr>
              <a:spLocks noChangeAspect="1" noChangeArrowheads="1" noTextEdit="1"/>
            </p:cNvSpPr>
            <p:nvPr/>
          </p:nvSpPr>
          <p:spPr bwMode="auto">
            <a:xfrm>
              <a:off x="4710" y="1652"/>
              <a:ext cx="1348" cy="1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Rectangle 167"/>
            <p:cNvSpPr>
              <a:spLocks noChangeArrowheads="1"/>
            </p:cNvSpPr>
            <p:nvPr/>
          </p:nvSpPr>
          <p:spPr bwMode="auto">
            <a:xfrm>
              <a:off x="4717" y="2573"/>
              <a:ext cx="1200" cy="25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Rectangle 168"/>
            <p:cNvSpPr>
              <a:spLocks noChangeArrowheads="1"/>
            </p:cNvSpPr>
            <p:nvPr/>
          </p:nvSpPr>
          <p:spPr bwMode="auto">
            <a:xfrm>
              <a:off x="4717" y="2573"/>
              <a:ext cx="1200" cy="251"/>
            </a:xfrm>
            <a:prstGeom prst="rect">
              <a:avLst/>
            </a:prstGeom>
            <a:solidFill>
              <a:schemeClr val="tx2">
                <a:lumMod val="20000"/>
                <a:lumOff val="80000"/>
              </a:schemeClr>
            </a:solidFill>
            <a:ln w="9525">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7" name="Freeform 169"/>
            <p:cNvSpPr>
              <a:spLocks/>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70"/>
            <p:cNvSpPr>
              <a:spLocks/>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chemeClr val="tx2">
                <a:lumMod val="40000"/>
                <a:lumOff val="60000"/>
              </a:schemeClr>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9" name="Line 171"/>
            <p:cNvSpPr>
              <a:spLocks noChangeShapeType="1"/>
            </p:cNvSpPr>
            <p:nvPr/>
          </p:nvSpPr>
          <p:spPr bwMode="auto">
            <a:xfrm flipH="1">
              <a:off x="5562" y="2687"/>
              <a:ext cx="288" cy="1"/>
            </a:xfrm>
            <a:prstGeom prst="line">
              <a:avLst/>
            </a:prstGeom>
            <a:noFill/>
            <a:ln w="2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72"/>
            <p:cNvSpPr>
              <a:spLocks/>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3"/>
            <p:cNvSpPr>
              <a:spLocks/>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0066FF"/>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74"/>
            <p:cNvSpPr>
              <a:spLocks/>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75"/>
            <p:cNvSpPr>
              <a:spLocks/>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chemeClr val="tx2">
                <a:lumMod val="40000"/>
                <a:lumOff val="60000"/>
              </a:schemeClr>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76"/>
            <p:cNvSpPr>
              <a:spLocks/>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7"/>
            <p:cNvSpPr>
              <a:spLocks/>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0066FF"/>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6" name="Rectangle 178"/>
            <p:cNvSpPr>
              <a:spLocks noChangeArrowheads="1"/>
            </p:cNvSpPr>
            <p:nvPr/>
          </p:nvSpPr>
          <p:spPr bwMode="auto">
            <a:xfrm>
              <a:off x="4723" y="2984"/>
              <a:ext cx="926" cy="3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79"/>
            <p:cNvSpPr>
              <a:spLocks noChangeArrowheads="1"/>
            </p:cNvSpPr>
            <p:nvPr/>
          </p:nvSpPr>
          <p:spPr bwMode="auto">
            <a:xfrm>
              <a:off x="4723" y="2984"/>
              <a:ext cx="926" cy="38"/>
            </a:xfrm>
            <a:prstGeom prst="rect">
              <a:avLst/>
            </a:prstGeom>
            <a:solidFill>
              <a:schemeClr val="tx2">
                <a:lumMod val="20000"/>
                <a:lumOff val="80000"/>
              </a:schemeClr>
            </a:solidFill>
            <a:ln w="9525">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8" name="Freeform 180"/>
            <p:cNvSpPr>
              <a:spLocks/>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1"/>
            <p:cNvSpPr>
              <a:spLocks/>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w="7">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182"/>
            <p:cNvSpPr>
              <a:spLocks/>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3"/>
            <p:cNvSpPr>
              <a:spLocks/>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chemeClr val="tx2">
                <a:lumMod val="40000"/>
                <a:lumOff val="60000"/>
              </a:schemeClr>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2" name="Rectangle 184"/>
            <p:cNvSpPr>
              <a:spLocks noChangeArrowheads="1"/>
            </p:cNvSpPr>
            <p:nvPr/>
          </p:nvSpPr>
          <p:spPr bwMode="auto">
            <a:xfrm>
              <a:off x="4891" y="1759"/>
              <a:ext cx="859" cy="768"/>
            </a:xfrm>
            <a:prstGeom prst="rect">
              <a:avLst/>
            </a:prstGeom>
            <a:solidFill>
              <a:schemeClr val="tx2">
                <a:lumMod val="20000"/>
                <a:lumOff val="80000"/>
              </a:schemeClr>
            </a:solidFill>
            <a:ln w="9525">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3" name="Rectangle 185"/>
            <p:cNvSpPr>
              <a:spLocks noChangeArrowheads="1"/>
            </p:cNvSpPr>
            <p:nvPr/>
          </p:nvSpPr>
          <p:spPr bwMode="auto">
            <a:xfrm>
              <a:off x="4965" y="1857"/>
              <a:ext cx="711" cy="594"/>
            </a:xfrm>
            <a:prstGeom prst="rect">
              <a:avLst/>
            </a:prstGeom>
            <a:solidFill>
              <a:srgbClr val="FFFFFF"/>
            </a:solidFill>
            <a:ln w="7">
              <a:solidFill>
                <a:srgbClr val="494936"/>
              </a:solidFill>
              <a:prstDash val="solid"/>
              <a:miter lim="800000"/>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24" name="Freeform 186"/>
            <p:cNvSpPr>
              <a:spLocks/>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87"/>
            <p:cNvSpPr>
              <a:spLocks/>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0066FF"/>
            </a:solidFill>
            <a:ln w="952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zh-CN" altLang="en-US"/>
            </a:p>
          </p:txBody>
        </p:sp>
      </p:grpSp>
      <p:sp>
        <p:nvSpPr>
          <p:cNvPr id="27"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2282807" y="582898"/>
            <a:ext cx="45970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TELNET </a:t>
            </a:r>
            <a:r>
              <a:rPr lang="zh-CN" altLang="en-US" sz="2000" b="1" dirty="0">
                <a:solidFill>
                  <a:schemeClr val="bg1"/>
                </a:solidFill>
                <a:latin typeface="微软雅黑" pitchFamily="34" charset="-122"/>
                <a:ea typeface="微软雅黑" pitchFamily="34" charset="-122"/>
              </a:rPr>
              <a:t>使用网络虚拟终端 </a:t>
            </a:r>
            <a:r>
              <a:rPr lang="en-US" altLang="zh-CN" sz="2000" b="1" dirty="0">
                <a:solidFill>
                  <a:schemeClr val="bg1"/>
                </a:solidFill>
                <a:latin typeface="微软雅黑" pitchFamily="34" charset="-122"/>
                <a:ea typeface="微软雅黑" pitchFamily="34" charset="-122"/>
              </a:rPr>
              <a:t>NVT </a:t>
            </a:r>
            <a:r>
              <a:rPr lang="zh-CN" altLang="en-US" sz="2000" b="1" dirty="0">
                <a:solidFill>
                  <a:schemeClr val="bg1"/>
                </a:solidFill>
                <a:latin typeface="微软雅黑" pitchFamily="34" charset="-122"/>
                <a:ea typeface="微软雅黑" pitchFamily="34" charset="-122"/>
              </a:rPr>
              <a:t>格式 </a:t>
            </a:r>
          </a:p>
        </p:txBody>
      </p:sp>
      <p:grpSp>
        <p:nvGrpSpPr>
          <p:cNvPr id="2" name="组合 1"/>
          <p:cNvGrpSpPr/>
          <p:nvPr/>
        </p:nvGrpSpPr>
        <p:grpSpPr>
          <a:xfrm>
            <a:off x="1982751" y="1086994"/>
            <a:ext cx="5591078" cy="2253511"/>
            <a:chOff x="1486342" y="2116880"/>
            <a:chExt cx="7963375" cy="3209672"/>
          </a:xfrm>
        </p:grpSpPr>
        <p:graphicFrame>
          <p:nvGraphicFramePr>
            <p:cNvPr id="29" name="Object 5"/>
            <p:cNvGraphicFramePr>
              <a:graphicFrameLocks noChangeAspect="1"/>
            </p:cNvGraphicFramePr>
            <p:nvPr>
              <p:extLst>
                <p:ext uri="{D42A27DB-BD31-4B8C-83A1-F6EECF244321}">
                  <p14:modId xmlns:p14="http://schemas.microsoft.com/office/powerpoint/2010/main" val="4091474331"/>
                </p:ext>
              </p:extLst>
            </p:nvPr>
          </p:nvGraphicFramePr>
          <p:xfrm>
            <a:off x="3308432" y="2518048"/>
            <a:ext cx="3625321" cy="2297113"/>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28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8432" y="2518048"/>
                          <a:ext cx="3625321" cy="229711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0" name="Text Box 6"/>
            <p:cNvSpPr txBox="1">
              <a:spLocks noChangeArrowheads="1"/>
            </p:cNvSpPr>
            <p:nvPr/>
          </p:nvSpPr>
          <p:spPr bwMode="auto">
            <a:xfrm>
              <a:off x="4708819" y="2217876"/>
              <a:ext cx="920570"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互联网</a:t>
              </a:r>
            </a:p>
          </p:txBody>
        </p:sp>
        <p:sp>
          <p:nvSpPr>
            <p:cNvPr id="33" name="Text Box 9"/>
            <p:cNvSpPr txBox="1">
              <a:spLocks noChangeArrowheads="1"/>
            </p:cNvSpPr>
            <p:nvPr/>
          </p:nvSpPr>
          <p:spPr bwMode="auto">
            <a:xfrm>
              <a:off x="4447128" y="3085220"/>
              <a:ext cx="1339849"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99"/>
                  </a:solidFill>
                  <a:latin typeface="微软雅黑" pitchFamily="34" charset="-122"/>
                  <a:ea typeface="微软雅黑" pitchFamily="34" charset="-122"/>
                </a:rPr>
                <a:t>TCP </a:t>
              </a:r>
              <a:r>
                <a:rPr kumimoji="1" lang="zh-CN" altLang="en-US" sz="1400" b="1" dirty="0">
                  <a:solidFill>
                    <a:srgbClr val="000099"/>
                  </a:solidFill>
                  <a:latin typeface="微软雅黑" pitchFamily="34" charset="-122"/>
                  <a:ea typeface="微软雅黑" pitchFamily="34" charset="-122"/>
                </a:rPr>
                <a:t>连接</a:t>
              </a:r>
            </a:p>
          </p:txBody>
        </p:sp>
        <p:sp>
          <p:nvSpPr>
            <p:cNvPr id="34" name="Text Box 10"/>
            <p:cNvSpPr txBox="1">
              <a:spLocks noChangeArrowheads="1"/>
            </p:cNvSpPr>
            <p:nvPr/>
          </p:nvSpPr>
          <p:spPr bwMode="auto">
            <a:xfrm>
              <a:off x="1486342" y="2242834"/>
              <a:ext cx="986781"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客户端</a:t>
              </a:r>
            </a:p>
          </p:txBody>
        </p:sp>
        <p:sp>
          <p:nvSpPr>
            <p:cNvPr id="35" name="Text Box 11"/>
            <p:cNvSpPr txBox="1">
              <a:spLocks noChangeArrowheads="1"/>
            </p:cNvSpPr>
            <p:nvPr/>
          </p:nvSpPr>
          <p:spPr bwMode="auto">
            <a:xfrm>
              <a:off x="7836881" y="2116880"/>
              <a:ext cx="1205965"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latin typeface="微软雅黑" pitchFamily="34" charset="-122"/>
                  <a:ea typeface="微软雅黑" pitchFamily="34" charset="-122"/>
                </a:rPr>
                <a:t> </a:t>
              </a:r>
              <a:r>
                <a:rPr kumimoji="1" lang="zh-CN" altLang="en-US" sz="1200" b="1" dirty="0">
                  <a:latin typeface="微软雅黑" pitchFamily="34" charset="-122"/>
                  <a:ea typeface="微软雅黑" pitchFamily="34" charset="-122"/>
                </a:rPr>
                <a:t>服务器端</a:t>
              </a:r>
            </a:p>
          </p:txBody>
        </p:sp>
        <p:sp>
          <p:nvSpPr>
            <p:cNvPr id="36" name="Text Box 13"/>
            <p:cNvSpPr txBox="1">
              <a:spLocks noChangeArrowheads="1"/>
            </p:cNvSpPr>
            <p:nvPr/>
          </p:nvSpPr>
          <p:spPr bwMode="auto">
            <a:xfrm>
              <a:off x="6809930" y="4888185"/>
              <a:ext cx="2639787"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99"/>
                  </a:solidFill>
                  <a:latin typeface="微软雅黑" pitchFamily="34" charset="-122"/>
                  <a:ea typeface="微软雅黑" pitchFamily="34" charset="-122"/>
                </a:rPr>
                <a:t> </a:t>
              </a:r>
              <a:r>
                <a:rPr kumimoji="1" lang="zh-CN" altLang="en-US" sz="1400" b="1" dirty="0">
                  <a:solidFill>
                    <a:srgbClr val="000099"/>
                  </a:solidFill>
                  <a:latin typeface="微软雅黑" pitchFamily="34" charset="-122"/>
                  <a:ea typeface="微软雅黑" pitchFamily="34" charset="-122"/>
                </a:rPr>
                <a:t>使用服务器端的格式</a:t>
              </a:r>
            </a:p>
          </p:txBody>
        </p:sp>
        <p:sp>
          <p:nvSpPr>
            <p:cNvPr id="37" name="Text Box 14"/>
            <p:cNvSpPr txBox="1">
              <a:spLocks noChangeArrowheads="1"/>
            </p:cNvSpPr>
            <p:nvPr/>
          </p:nvSpPr>
          <p:spPr bwMode="auto">
            <a:xfrm>
              <a:off x="4077198" y="4888185"/>
              <a:ext cx="2076670"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99"/>
                  </a:solidFill>
                  <a:latin typeface="微软雅黑" pitchFamily="34" charset="-122"/>
                  <a:ea typeface="微软雅黑" pitchFamily="34" charset="-122"/>
                </a:rPr>
                <a:t> </a:t>
              </a:r>
              <a:r>
                <a:rPr kumimoji="1" lang="zh-CN" altLang="en-US" sz="1400" b="1" dirty="0">
                  <a:solidFill>
                    <a:srgbClr val="000099"/>
                  </a:solidFill>
                  <a:latin typeface="微软雅黑" pitchFamily="34" charset="-122"/>
                  <a:ea typeface="微软雅黑" pitchFamily="34" charset="-122"/>
                </a:rPr>
                <a:t>使用 </a:t>
              </a:r>
              <a:r>
                <a:rPr kumimoji="1" lang="en-US" altLang="zh-CN" sz="1400" b="1" dirty="0">
                  <a:solidFill>
                    <a:srgbClr val="000099"/>
                  </a:solidFill>
                  <a:latin typeface="微软雅黑" pitchFamily="34" charset="-122"/>
                  <a:ea typeface="微软雅黑" pitchFamily="34" charset="-122"/>
                </a:rPr>
                <a:t>NVT </a:t>
              </a:r>
              <a:r>
                <a:rPr kumimoji="1" lang="zh-CN" altLang="en-US" sz="1400" b="1" dirty="0">
                  <a:solidFill>
                    <a:srgbClr val="000099"/>
                  </a:solidFill>
                  <a:latin typeface="微软雅黑" pitchFamily="34" charset="-122"/>
                  <a:ea typeface="微软雅黑" pitchFamily="34" charset="-122"/>
                </a:rPr>
                <a:t>格式</a:t>
              </a:r>
            </a:p>
          </p:txBody>
        </p:sp>
        <p:sp>
          <p:nvSpPr>
            <p:cNvPr id="38" name="Line 15"/>
            <p:cNvSpPr>
              <a:spLocks noChangeShapeType="1"/>
            </p:cNvSpPr>
            <p:nvPr/>
          </p:nvSpPr>
          <p:spPr bwMode="auto">
            <a:xfrm flipV="1">
              <a:off x="1643674" y="3867422"/>
              <a:ext cx="357717" cy="1081088"/>
            </a:xfrm>
            <a:prstGeom prst="line">
              <a:avLst/>
            </a:prstGeom>
            <a:noFill/>
            <a:ln w="19050">
              <a:solidFill>
                <a:srgbClr val="0066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39" name="Line 16"/>
            <p:cNvSpPr>
              <a:spLocks noChangeShapeType="1"/>
            </p:cNvSpPr>
            <p:nvPr/>
          </p:nvSpPr>
          <p:spPr bwMode="auto">
            <a:xfrm flipH="1" flipV="1">
              <a:off x="5086697" y="3622947"/>
              <a:ext cx="6879" cy="1277938"/>
            </a:xfrm>
            <a:prstGeom prst="line">
              <a:avLst/>
            </a:prstGeom>
            <a:noFill/>
            <a:ln w="19050">
              <a:solidFill>
                <a:srgbClr val="0066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0" name="Line 17"/>
            <p:cNvSpPr>
              <a:spLocks noChangeShapeType="1"/>
            </p:cNvSpPr>
            <p:nvPr/>
          </p:nvSpPr>
          <p:spPr bwMode="auto">
            <a:xfrm flipV="1">
              <a:off x="8129824" y="3813445"/>
              <a:ext cx="272632" cy="1135063"/>
            </a:xfrm>
            <a:prstGeom prst="line">
              <a:avLst/>
            </a:prstGeom>
            <a:noFill/>
            <a:ln w="19050">
              <a:solidFill>
                <a:srgbClr val="0066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itchFamily="34" charset="-122"/>
                <a:ea typeface="微软雅黑" pitchFamily="34" charset="-122"/>
              </a:endParaRPr>
            </a:p>
          </p:txBody>
        </p:sp>
        <p:sp>
          <p:nvSpPr>
            <p:cNvPr id="41" name="Oval 18"/>
            <p:cNvSpPr>
              <a:spLocks noChangeArrowheads="1"/>
            </p:cNvSpPr>
            <p:nvPr/>
          </p:nvSpPr>
          <p:spPr bwMode="auto">
            <a:xfrm>
              <a:off x="1526728" y="3051447"/>
              <a:ext cx="1006078" cy="833438"/>
            </a:xfrm>
            <a:prstGeom prst="ellipse">
              <a:avLst/>
            </a:prstGeom>
            <a:solidFill>
              <a:srgbClr val="0000FF"/>
            </a:solidFill>
            <a:ln w="12700">
              <a:solidFill>
                <a:schemeClr val="tx1"/>
              </a:solidFill>
              <a:round/>
              <a:headEnd/>
              <a:tailEnd/>
            </a:ln>
            <a:effec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客户</a:t>
              </a:r>
            </a:p>
          </p:txBody>
        </p:sp>
        <p:sp>
          <p:nvSpPr>
            <p:cNvPr id="42" name="Oval 19"/>
            <p:cNvSpPr>
              <a:spLocks noChangeArrowheads="1"/>
            </p:cNvSpPr>
            <p:nvPr/>
          </p:nvSpPr>
          <p:spPr bwMode="auto">
            <a:xfrm>
              <a:off x="7855562" y="3051447"/>
              <a:ext cx="1131623" cy="833438"/>
            </a:xfrm>
            <a:prstGeom prst="ellipse">
              <a:avLst/>
            </a:prstGeom>
            <a:solidFill>
              <a:srgbClr val="CC00CC"/>
            </a:solidFill>
            <a:ln w="12700">
              <a:solidFill>
                <a:schemeClr val="tx1"/>
              </a:solidFill>
              <a:round/>
              <a:headEnd/>
              <a:tailEnd/>
            </a:ln>
            <a:effec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服务器</a:t>
              </a:r>
            </a:p>
          </p:txBody>
        </p:sp>
        <p:sp>
          <p:nvSpPr>
            <p:cNvPr id="43" name="AutoShape 20"/>
            <p:cNvSpPr>
              <a:spLocks noChangeArrowheads="1"/>
            </p:cNvSpPr>
            <p:nvPr/>
          </p:nvSpPr>
          <p:spPr bwMode="auto">
            <a:xfrm>
              <a:off x="2596439" y="3458572"/>
              <a:ext cx="5279761" cy="194468"/>
            </a:xfrm>
            <a:prstGeom prst="leftRightArrow">
              <a:avLst>
                <a:gd name="adj1" fmla="val 61111"/>
                <a:gd name="adj2" fmla="val 202172"/>
              </a:avLst>
            </a:prstGeom>
            <a:solidFill>
              <a:srgbClr val="00B0F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itchFamily="34" charset="-122"/>
                <a:ea typeface="微软雅黑" pitchFamily="34" charset="-122"/>
              </a:endParaRPr>
            </a:p>
          </p:txBody>
        </p:sp>
      </p:grpSp>
      <p:sp>
        <p:nvSpPr>
          <p:cNvPr id="44" name="Text Box 12"/>
          <p:cNvSpPr txBox="1">
            <a:spLocks noChangeArrowheads="1"/>
          </p:cNvSpPr>
          <p:nvPr/>
        </p:nvSpPr>
        <p:spPr bwMode="auto">
          <a:xfrm>
            <a:off x="1245960" y="3041642"/>
            <a:ext cx="16738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99"/>
                </a:solidFill>
                <a:latin typeface="微软雅黑" pitchFamily="34" charset="-122"/>
                <a:ea typeface="微软雅黑" pitchFamily="34" charset="-122"/>
              </a:rPr>
              <a:t> </a:t>
            </a:r>
            <a:r>
              <a:rPr kumimoji="1" lang="zh-CN" altLang="en-US" sz="1400" b="1" dirty="0">
                <a:solidFill>
                  <a:srgbClr val="000099"/>
                </a:solidFill>
                <a:latin typeface="微软雅黑" pitchFamily="34" charset="-122"/>
                <a:ea typeface="微软雅黑" pitchFamily="34" charset="-122"/>
              </a:rPr>
              <a:t>使用客户端的格式</a:t>
            </a:r>
          </a:p>
        </p:txBody>
      </p:sp>
      <p:sp>
        <p:nvSpPr>
          <p:cNvPr id="31" name="矩形 30"/>
          <p:cNvSpPr/>
          <p:nvPr/>
        </p:nvSpPr>
        <p:spPr>
          <a:xfrm>
            <a:off x="1402672" y="3488071"/>
            <a:ext cx="6587231" cy="759182"/>
          </a:xfrm>
          <a:prstGeom prst="rect">
            <a:avLst/>
          </a:prstGeom>
        </p:spPr>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TELNET </a:t>
            </a:r>
            <a:r>
              <a:rPr lang="zh-CN" altLang="en-US" b="1" dirty="0">
                <a:latin typeface="微软雅黑" panose="020B0503020204020204" pitchFamily="34" charset="-122"/>
                <a:ea typeface="微软雅黑" panose="020B0503020204020204" pitchFamily="34" charset="-122"/>
              </a:rPr>
              <a:t>的</a:t>
            </a:r>
            <a:r>
              <a:rPr lang="zh-CN" altLang="en-US" b="1" dirty="0">
                <a:solidFill>
                  <a:srgbClr val="C00000"/>
                </a:solidFill>
                <a:latin typeface="微软雅黑" panose="020B0503020204020204" pitchFamily="34" charset="-122"/>
                <a:ea typeface="微软雅黑" panose="020B0503020204020204" pitchFamily="34" charset="-122"/>
              </a:rPr>
              <a:t>选项协商 </a:t>
            </a:r>
            <a:r>
              <a:rPr lang="en-US" altLang="zh-CN" b="1" dirty="0">
                <a:latin typeface="微软雅黑" panose="020B0503020204020204" pitchFamily="34" charset="-122"/>
                <a:ea typeface="微软雅黑" panose="020B0503020204020204" pitchFamily="34" charset="-122"/>
              </a:rPr>
              <a:t>(Option Negotiation) </a:t>
            </a:r>
            <a:r>
              <a:rPr lang="zh-CN" altLang="en-US" b="1" dirty="0">
                <a:latin typeface="微软雅黑" panose="020B0503020204020204" pitchFamily="34" charset="-122"/>
                <a:ea typeface="微软雅黑" panose="020B0503020204020204" pitchFamily="34" charset="-122"/>
              </a:rPr>
              <a:t>使客户和服务器可商定使用更多的终端功能，协商的双方是平等的。</a:t>
            </a:r>
          </a:p>
        </p:txBody>
      </p:sp>
    </p:spTree>
    <p:extLst>
      <p:ext uri="{BB962C8B-B14F-4D97-AF65-F5344CB8AC3E}">
        <p14:creationId xmlns:p14="http://schemas.microsoft.com/office/powerpoint/2010/main" val="32038366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606" y="581772"/>
            <a:ext cx="52615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NVT </a:t>
            </a:r>
            <a:r>
              <a:rPr lang="zh-CN" altLang="en-US" sz="2000" b="1" dirty="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Network Virtual Terminal </a:t>
            </a:r>
            <a:r>
              <a:rPr lang="zh-CN" altLang="en-US" sz="2000" b="1" dirty="0">
                <a:solidFill>
                  <a:schemeClr val="bg1"/>
                </a:solidFill>
                <a:latin typeface="微软雅黑" pitchFamily="34" charset="-122"/>
                <a:ea typeface="微软雅黑" pitchFamily="34" charset="-122"/>
              </a:rPr>
              <a:t>）格式 </a:t>
            </a:r>
          </a:p>
        </p:txBody>
      </p:sp>
      <p:sp>
        <p:nvSpPr>
          <p:cNvPr id="5" name="Text Box 10"/>
          <p:cNvSpPr txBox="1">
            <a:spLocks noChangeArrowheads="1"/>
          </p:cNvSpPr>
          <p:nvPr/>
        </p:nvSpPr>
        <p:spPr bwMode="auto">
          <a:xfrm>
            <a:off x="468186" y="1091690"/>
            <a:ext cx="28761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rPr>
              <a:t> </a:t>
            </a:r>
            <a:r>
              <a:rPr kumimoji="1" lang="zh-CN" altLang="en-US" sz="1800" b="1" dirty="0">
                <a:solidFill>
                  <a:srgbClr val="C00000"/>
                </a:solidFill>
                <a:latin typeface="微软雅黑" pitchFamily="34" charset="-122"/>
                <a:ea typeface="微软雅黑" pitchFamily="34" charset="-122"/>
              </a:rPr>
              <a:t>两个字符集：</a:t>
            </a:r>
            <a:r>
              <a:rPr kumimoji="1" lang="zh-CN" altLang="en-US" sz="1800" b="1" dirty="0">
                <a:latin typeface="微软雅黑" pitchFamily="34" charset="-122"/>
                <a:ea typeface="微软雅黑" pitchFamily="34" charset="-122"/>
              </a:rPr>
              <a:t>数据，控制</a:t>
            </a:r>
          </a:p>
        </p:txBody>
      </p:sp>
      <p:grpSp>
        <p:nvGrpSpPr>
          <p:cNvPr id="29" name="组合 28"/>
          <p:cNvGrpSpPr/>
          <p:nvPr/>
        </p:nvGrpSpPr>
        <p:grpSpPr>
          <a:xfrm>
            <a:off x="468186" y="2948796"/>
            <a:ext cx="3810851" cy="443884"/>
            <a:chOff x="563382" y="2675753"/>
            <a:chExt cx="3775329" cy="443884"/>
          </a:xfrm>
        </p:grpSpPr>
        <p:sp>
          <p:nvSpPr>
            <p:cNvPr id="7" name="Text Box 10"/>
            <p:cNvSpPr txBox="1">
              <a:spLocks noChangeArrowheads="1"/>
            </p:cNvSpPr>
            <p:nvPr/>
          </p:nvSpPr>
          <p:spPr bwMode="auto">
            <a:xfrm>
              <a:off x="563382" y="2675753"/>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rPr>
                <a:t> </a:t>
              </a:r>
              <a:r>
                <a:rPr kumimoji="1" lang="zh-CN" altLang="en-US" sz="1800" b="1" dirty="0">
                  <a:latin typeface="微软雅黑" pitchFamily="34" charset="-122"/>
                  <a:ea typeface="微软雅黑" pitchFamily="34" charset="-122"/>
                </a:rPr>
                <a:t>控制字符：</a:t>
              </a:r>
            </a:p>
          </p:txBody>
        </p:sp>
        <p:grpSp>
          <p:nvGrpSpPr>
            <p:cNvPr id="17" name="组合 16"/>
            <p:cNvGrpSpPr/>
            <p:nvPr/>
          </p:nvGrpSpPr>
          <p:grpSpPr>
            <a:xfrm>
              <a:off x="1995017" y="2675753"/>
              <a:ext cx="2343694" cy="443884"/>
              <a:chOff x="1526959" y="2041864"/>
              <a:chExt cx="2343694" cy="443884"/>
            </a:xfrm>
          </p:grpSpPr>
          <p:sp>
            <p:nvSpPr>
              <p:cNvPr id="18" name="矩形 17"/>
              <p:cNvSpPr/>
              <p:nvPr/>
            </p:nvSpPr>
            <p:spPr>
              <a:xfrm>
                <a:off x="1526959" y="2041864"/>
                <a:ext cx="292963" cy="443884"/>
              </a:xfrm>
              <a:prstGeom prst="rect">
                <a:avLst/>
              </a:prstGeom>
              <a:solidFill>
                <a:srgbClr val="00B0F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1</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4" name="矩形 2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grpSp>
      <p:grpSp>
        <p:nvGrpSpPr>
          <p:cNvPr id="28" name="组合 27"/>
          <p:cNvGrpSpPr/>
          <p:nvPr/>
        </p:nvGrpSpPr>
        <p:grpSpPr>
          <a:xfrm>
            <a:off x="468186" y="1570830"/>
            <a:ext cx="3810853" cy="969848"/>
            <a:chOff x="563382" y="1448707"/>
            <a:chExt cx="3775331" cy="969848"/>
          </a:xfrm>
        </p:grpSpPr>
        <p:sp>
          <p:nvSpPr>
            <p:cNvPr id="6" name="Text Box 10"/>
            <p:cNvSpPr txBox="1">
              <a:spLocks noChangeArrowheads="1"/>
            </p:cNvSpPr>
            <p:nvPr/>
          </p:nvSpPr>
          <p:spPr bwMode="auto">
            <a:xfrm>
              <a:off x="563382" y="2004991"/>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rPr>
                <a:t> </a:t>
              </a:r>
              <a:r>
                <a:rPr kumimoji="1" lang="zh-CN" altLang="en-US" sz="1800" b="1" dirty="0">
                  <a:latin typeface="微软雅黑" pitchFamily="34" charset="-122"/>
                  <a:ea typeface="微软雅黑" pitchFamily="34" charset="-122"/>
                </a:rPr>
                <a:t>数据字符：</a:t>
              </a:r>
            </a:p>
          </p:txBody>
        </p:sp>
        <p:grpSp>
          <p:nvGrpSpPr>
            <p:cNvPr id="16" name="组合 15"/>
            <p:cNvGrpSpPr/>
            <p:nvPr/>
          </p:nvGrpSpPr>
          <p:grpSpPr>
            <a:xfrm>
              <a:off x="1995017" y="1974671"/>
              <a:ext cx="2343694" cy="443884"/>
              <a:chOff x="1526959" y="2041864"/>
              <a:chExt cx="2343694" cy="443884"/>
            </a:xfrm>
          </p:grpSpPr>
          <p:sp>
            <p:nvSpPr>
              <p:cNvPr id="8" name="矩形 7"/>
              <p:cNvSpPr/>
              <p:nvPr/>
            </p:nvSpPr>
            <p:spPr>
              <a:xfrm>
                <a:off x="1526959" y="2041864"/>
                <a:ext cx="292963" cy="443884"/>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a:solidFill>
                      <a:schemeClr val="tx1"/>
                    </a:solidFill>
                    <a:latin typeface="微软雅黑" panose="020B0503020204020204" pitchFamily="34" charset="-122"/>
                    <a:ea typeface="微软雅黑" panose="020B0503020204020204" pitchFamily="34" charset="-122"/>
                  </a:rPr>
                  <a:t>0</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0" name="矩形 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1" name="矩形 1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2" name="矩形 1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3" name="矩形 1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4" name="矩形 1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sp>
          <p:nvSpPr>
            <p:cNvPr id="26" name="右大括号 25"/>
            <p:cNvSpPr/>
            <p:nvPr/>
          </p:nvSpPr>
          <p:spPr>
            <a:xfrm rot="16200000">
              <a:off x="3213418" y="801163"/>
              <a:ext cx="199855" cy="2050734"/>
            </a:xfrm>
            <a:prstGeom prst="rightBrace">
              <a:avLst>
                <a:gd name="adj1" fmla="val 38636"/>
                <a:gd name="adj2" fmla="val 50000"/>
              </a:avLst>
            </a:prstGeom>
            <a:ln w="1905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ln w="19050">
                  <a:solidFill>
                    <a:schemeClr val="tx1"/>
                  </a:solidFill>
                </a:ln>
              </a:endParaRPr>
            </a:p>
          </p:txBody>
        </p:sp>
        <p:sp>
          <p:nvSpPr>
            <p:cNvPr id="27" name="Text Box 10"/>
            <p:cNvSpPr txBox="1">
              <a:spLocks noChangeArrowheads="1"/>
            </p:cNvSpPr>
            <p:nvPr/>
          </p:nvSpPr>
          <p:spPr bwMode="auto">
            <a:xfrm>
              <a:off x="2466849" y="1448707"/>
              <a:ext cx="168026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latin typeface="微软雅黑" pitchFamily="34" charset="-122"/>
                  <a:ea typeface="微软雅黑" pitchFamily="34" charset="-122"/>
                </a:rPr>
                <a:t>标准 </a:t>
              </a:r>
              <a:r>
                <a:rPr kumimoji="1" lang="en-US" altLang="zh-CN" sz="1600" b="1" dirty="0">
                  <a:latin typeface="微软雅黑" pitchFamily="34" charset="-122"/>
                  <a:ea typeface="微软雅黑" pitchFamily="34" charset="-122"/>
                </a:rPr>
                <a:t>ASCII </a:t>
              </a:r>
              <a:r>
                <a:rPr kumimoji="1" lang="zh-CN" altLang="en-US" sz="1600" b="1" dirty="0">
                  <a:latin typeface="微软雅黑" pitchFamily="34" charset="-122"/>
                  <a:ea typeface="微软雅黑" pitchFamily="34" charset="-122"/>
                </a:rPr>
                <a:t>字符</a:t>
              </a:r>
            </a:p>
          </p:txBody>
        </p:sp>
      </p:grpSp>
      <p:sp>
        <p:nvSpPr>
          <p:cNvPr id="30" name="矩形 29"/>
          <p:cNvSpPr/>
          <p:nvPr/>
        </p:nvSpPr>
        <p:spPr>
          <a:xfrm>
            <a:off x="4528083" y="966612"/>
            <a:ext cx="3866334" cy="3554819"/>
          </a:xfrm>
          <a:prstGeom prst="rect">
            <a:avLst/>
          </a:prstGeom>
        </p:spPr>
        <p:txBody>
          <a:bodyPr wrap="square">
            <a:spAutoFit/>
          </a:bodyPr>
          <a:lstStyle/>
          <a:p>
            <a:pPr marL="285750" indent="-28575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客户端把用户的击键和命令转换成 </a:t>
            </a:r>
            <a:r>
              <a:rPr lang="en-US" altLang="zh-CN" b="1" dirty="0">
                <a:latin typeface="微软雅黑" pitchFamily="34" charset="-122"/>
                <a:ea typeface="微软雅黑" pitchFamily="34" charset="-122"/>
              </a:rPr>
              <a:t>NVT </a:t>
            </a:r>
            <a:r>
              <a:rPr lang="zh-CN" altLang="en-US" b="1" dirty="0">
                <a:latin typeface="微软雅黑" pitchFamily="34" charset="-122"/>
                <a:ea typeface="微软雅黑" pitchFamily="34" charset="-122"/>
              </a:rPr>
              <a:t>格式，并送交服务器。</a:t>
            </a:r>
          </a:p>
          <a:p>
            <a:pPr marL="285750" indent="-28575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服务器端把收到的数据和命令，从 </a:t>
            </a:r>
            <a:r>
              <a:rPr lang="en-US" altLang="zh-CN" b="1" dirty="0">
                <a:latin typeface="微软雅黑" pitchFamily="34" charset="-122"/>
                <a:ea typeface="微软雅黑" pitchFamily="34" charset="-122"/>
              </a:rPr>
              <a:t>NVT </a:t>
            </a:r>
            <a:r>
              <a:rPr lang="zh-CN" altLang="en-US" b="1" dirty="0">
                <a:latin typeface="微软雅黑" pitchFamily="34" charset="-122"/>
                <a:ea typeface="微软雅黑" pitchFamily="34" charset="-122"/>
              </a:rPr>
              <a:t>格式转换成远地系统所需的格式。</a:t>
            </a:r>
          </a:p>
          <a:p>
            <a:pPr marL="285750" indent="-28575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rPr>
              <a:t>向客户返回数据时，服务器把远地系统的格式转换为 </a:t>
            </a:r>
            <a:r>
              <a:rPr lang="en-US" altLang="zh-CN" b="1" dirty="0">
                <a:latin typeface="微软雅黑" pitchFamily="34" charset="-122"/>
                <a:ea typeface="微软雅黑" pitchFamily="34" charset="-122"/>
              </a:rPr>
              <a:t>NVT </a:t>
            </a:r>
            <a:r>
              <a:rPr lang="zh-CN" altLang="en-US" b="1" dirty="0">
                <a:latin typeface="微软雅黑" pitchFamily="34" charset="-122"/>
                <a:ea typeface="微软雅黑" pitchFamily="34" charset="-122"/>
              </a:rPr>
              <a:t>格式，本地客户再从 </a:t>
            </a:r>
            <a:r>
              <a:rPr lang="en-US" altLang="zh-CN" b="1" dirty="0">
                <a:latin typeface="微软雅黑" pitchFamily="34" charset="-122"/>
                <a:ea typeface="微软雅黑" pitchFamily="34" charset="-122"/>
              </a:rPr>
              <a:t>NVT </a:t>
            </a:r>
            <a:r>
              <a:rPr lang="zh-CN" altLang="en-US" b="1" dirty="0">
                <a:latin typeface="微软雅黑" pitchFamily="34" charset="-122"/>
                <a:ea typeface="微软雅黑" pitchFamily="34" charset="-122"/>
              </a:rPr>
              <a:t>格式转换到本地系统所需的格式。 </a:t>
            </a:r>
          </a:p>
        </p:txBody>
      </p:sp>
    </p:spTree>
    <p:extLst>
      <p:ext uri="{BB962C8B-B14F-4D97-AF65-F5344CB8AC3E}">
        <p14:creationId xmlns:p14="http://schemas.microsoft.com/office/powerpoint/2010/main" val="30077901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Rectangle 9"/>
          <p:cNvSpPr>
            <a:spLocks noChangeArrowheads="1"/>
          </p:cNvSpPr>
          <p:nvPr/>
        </p:nvSpPr>
        <p:spPr bwMode="auto">
          <a:xfrm>
            <a:off x="2629135" y="365005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7" name="Rectangle 10"/>
          <p:cNvSpPr>
            <a:spLocks noChangeArrowheads="1"/>
          </p:cNvSpPr>
          <p:nvPr/>
        </p:nvSpPr>
        <p:spPr bwMode="auto">
          <a:xfrm>
            <a:off x="2629135" y="319150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4" name="Rectangle 9"/>
          <p:cNvSpPr>
            <a:spLocks noChangeArrowheads="1"/>
          </p:cNvSpPr>
          <p:nvPr/>
        </p:nvSpPr>
        <p:spPr bwMode="auto">
          <a:xfrm>
            <a:off x="2629135" y="274056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5" name="Rectangle 10"/>
          <p:cNvSpPr>
            <a:spLocks noChangeArrowheads="1"/>
          </p:cNvSpPr>
          <p:nvPr/>
        </p:nvSpPr>
        <p:spPr bwMode="auto">
          <a:xfrm>
            <a:off x="2629135" y="228201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6" name="Rectangle 9"/>
          <p:cNvSpPr>
            <a:spLocks noChangeArrowheads="1"/>
          </p:cNvSpPr>
          <p:nvPr/>
        </p:nvSpPr>
        <p:spPr bwMode="auto">
          <a:xfrm>
            <a:off x="2629135" y="18263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7" name="Rectangle 9"/>
          <p:cNvSpPr>
            <a:spLocks noChangeArrowheads="1"/>
          </p:cNvSpPr>
          <p:nvPr/>
        </p:nvSpPr>
        <p:spPr bwMode="auto">
          <a:xfrm>
            <a:off x="2629135" y="90400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9" name="Rectangle 10"/>
          <p:cNvSpPr>
            <a:spLocks noChangeArrowheads="1"/>
          </p:cNvSpPr>
          <p:nvPr/>
        </p:nvSpPr>
        <p:spPr bwMode="auto">
          <a:xfrm>
            <a:off x="2629135" y="136775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0" name="Line 16"/>
          <p:cNvSpPr>
            <a:spLocks noChangeShapeType="1"/>
          </p:cNvSpPr>
          <p:nvPr/>
        </p:nvSpPr>
        <p:spPr bwMode="auto">
          <a:xfrm>
            <a:off x="3637198" y="832562"/>
            <a:ext cx="0" cy="3357124"/>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 name="Rectangle 27"/>
          <p:cNvSpPr>
            <a:spLocks noChangeArrowheads="1"/>
          </p:cNvSpPr>
          <p:nvPr/>
        </p:nvSpPr>
        <p:spPr bwMode="auto">
          <a:xfrm>
            <a:off x="639730" y="90400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3" name="Rectangle 29"/>
          <p:cNvSpPr>
            <a:spLocks noChangeArrowheads="1"/>
          </p:cNvSpPr>
          <p:nvPr/>
        </p:nvSpPr>
        <p:spPr bwMode="auto">
          <a:xfrm>
            <a:off x="648619" y="99893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6.4</a:t>
            </a:r>
          </a:p>
          <a:p>
            <a:pPr eaLnBrk="0" hangingPunct="0"/>
            <a:r>
              <a:rPr lang="zh-CN" altLang="en-US" sz="2000" b="1" dirty="0">
                <a:solidFill>
                  <a:schemeClr val="bg1"/>
                </a:solidFill>
                <a:latin typeface="微软雅黑" pitchFamily="34" charset="-122"/>
                <a:ea typeface="微软雅黑" pitchFamily="34" charset="-122"/>
              </a:rPr>
              <a:t>万维网 </a:t>
            </a:r>
            <a:r>
              <a:rPr lang="en-US" altLang="zh-CN" sz="2000" b="1" dirty="0">
                <a:solidFill>
                  <a:schemeClr val="bg1"/>
                </a:solidFill>
                <a:latin typeface="微软雅黑" pitchFamily="34" charset="-122"/>
                <a:ea typeface="微软雅黑" pitchFamily="34" charset="-122"/>
              </a:rPr>
              <a:t>WWW</a:t>
            </a:r>
            <a:endParaRPr lang="zh-CN" altLang="fr-FR" sz="2000" b="1" dirty="0">
              <a:solidFill>
                <a:schemeClr val="bg1"/>
              </a:solidFill>
              <a:latin typeface="微软雅黑" pitchFamily="34" charset="-122"/>
              <a:ea typeface="微软雅黑" pitchFamily="34" charset="-122"/>
            </a:endParaRPr>
          </a:p>
        </p:txBody>
      </p:sp>
      <p:sp>
        <p:nvSpPr>
          <p:cNvPr id="68" name="Rectangle 8"/>
          <p:cNvSpPr>
            <a:spLocks noChangeArrowheads="1"/>
          </p:cNvSpPr>
          <p:nvPr/>
        </p:nvSpPr>
        <p:spPr bwMode="auto">
          <a:xfrm>
            <a:off x="2700573" y="779699"/>
            <a:ext cx="5756006" cy="3323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itchFamily="34" charset="-122"/>
                <a:ea typeface="微软雅黑" pitchFamily="34" charset="-122"/>
              </a:rPr>
              <a:t>6.4.1                                               </a:t>
            </a:r>
            <a:r>
              <a:rPr lang="zh-CN" altLang="en-US" sz="2000" b="1" dirty="0">
                <a:solidFill>
                  <a:schemeClr val="bg1"/>
                </a:solidFill>
                <a:latin typeface="微软雅黑" pitchFamily="34" charset="-122"/>
                <a:ea typeface="微软雅黑" pitchFamily="34" charset="-122"/>
              </a:rPr>
              <a:t>万维网概述</a:t>
            </a:r>
          </a:p>
          <a:p>
            <a:pPr eaLnBrk="0" hangingPunct="0">
              <a:lnSpc>
                <a:spcPct val="150000"/>
              </a:lnSpc>
            </a:pPr>
            <a:r>
              <a:rPr lang="en-US" altLang="zh-CN" sz="2000" b="1" dirty="0">
                <a:solidFill>
                  <a:schemeClr val="bg1"/>
                </a:solidFill>
                <a:latin typeface="微软雅黑" pitchFamily="34" charset="-122"/>
                <a:ea typeface="微软雅黑" pitchFamily="34" charset="-122"/>
              </a:rPr>
              <a:t>6.4.2                                 </a:t>
            </a:r>
            <a:r>
              <a:rPr lang="zh-CN" altLang="en-US" sz="2000" b="1" dirty="0">
                <a:solidFill>
                  <a:schemeClr val="bg1"/>
                </a:solidFill>
                <a:latin typeface="微软雅黑" pitchFamily="34" charset="-122"/>
                <a:ea typeface="微软雅黑" pitchFamily="34" charset="-122"/>
              </a:rPr>
              <a:t>统一资源定位符 </a:t>
            </a:r>
            <a:r>
              <a:rPr lang="en-US" altLang="zh-CN" sz="2000" b="1" dirty="0">
                <a:solidFill>
                  <a:schemeClr val="bg1"/>
                </a:solidFill>
                <a:latin typeface="微软雅黑" pitchFamily="34" charset="-122"/>
                <a:ea typeface="微软雅黑" pitchFamily="34" charset="-122"/>
              </a:rPr>
              <a:t>URL</a:t>
            </a:r>
          </a:p>
          <a:p>
            <a:pPr eaLnBrk="0" hangingPunct="0">
              <a:lnSpc>
                <a:spcPct val="150000"/>
              </a:lnSpc>
            </a:pPr>
            <a:r>
              <a:rPr lang="en-US" altLang="zh-CN" sz="2000" b="1" dirty="0">
                <a:solidFill>
                  <a:schemeClr val="bg1"/>
                </a:solidFill>
                <a:latin typeface="微软雅黑" pitchFamily="34" charset="-122"/>
                <a:ea typeface="微软雅黑" pitchFamily="34" charset="-122"/>
              </a:rPr>
              <a:t>6.4.3                              </a:t>
            </a:r>
            <a:r>
              <a:rPr lang="zh-CN" altLang="en-US" sz="2000" b="1" dirty="0">
                <a:solidFill>
                  <a:schemeClr val="bg1"/>
                </a:solidFill>
                <a:latin typeface="微软雅黑" pitchFamily="34" charset="-122"/>
                <a:ea typeface="微软雅黑" pitchFamily="34" charset="-122"/>
              </a:rPr>
              <a:t>超文本传送协议 </a:t>
            </a:r>
            <a:r>
              <a:rPr lang="en-US" altLang="zh-CN" sz="2000" b="1" dirty="0">
                <a:solidFill>
                  <a:schemeClr val="bg1"/>
                </a:solidFill>
                <a:latin typeface="微软雅黑" pitchFamily="34" charset="-122"/>
                <a:ea typeface="微软雅黑" pitchFamily="34" charset="-122"/>
              </a:rPr>
              <a:t>HTTP</a:t>
            </a:r>
          </a:p>
          <a:p>
            <a:pPr eaLnBrk="0" hangingPunct="0">
              <a:lnSpc>
                <a:spcPct val="150000"/>
              </a:lnSpc>
            </a:pPr>
            <a:r>
              <a:rPr lang="en-US" altLang="zh-CN" sz="2000" b="1" dirty="0">
                <a:solidFill>
                  <a:schemeClr val="bg1"/>
                </a:solidFill>
                <a:latin typeface="微软雅黑" pitchFamily="34" charset="-122"/>
                <a:ea typeface="微软雅黑" pitchFamily="34" charset="-122"/>
              </a:rPr>
              <a:t>6.4.4                                           </a:t>
            </a:r>
            <a:r>
              <a:rPr lang="zh-CN" altLang="en-US" sz="2000" b="1" dirty="0">
                <a:solidFill>
                  <a:schemeClr val="bg1"/>
                </a:solidFill>
                <a:latin typeface="微软雅黑" pitchFamily="34" charset="-122"/>
                <a:ea typeface="微软雅黑" pitchFamily="34" charset="-122"/>
              </a:rPr>
              <a:t>万维网的文档</a:t>
            </a:r>
          </a:p>
          <a:p>
            <a:pPr eaLnBrk="0" hangingPunct="0">
              <a:lnSpc>
                <a:spcPct val="150000"/>
              </a:lnSpc>
            </a:pPr>
            <a:r>
              <a:rPr lang="en-US" altLang="zh-CN" sz="2000" b="1" dirty="0">
                <a:solidFill>
                  <a:schemeClr val="bg1"/>
                </a:solidFill>
                <a:latin typeface="微软雅黑" pitchFamily="34" charset="-122"/>
                <a:ea typeface="微软雅黑" pitchFamily="34" charset="-122"/>
              </a:rPr>
              <a:t>6.4.5                              </a:t>
            </a:r>
            <a:r>
              <a:rPr lang="zh-CN" altLang="en-US" sz="2000" b="1" dirty="0">
                <a:solidFill>
                  <a:schemeClr val="bg1"/>
                </a:solidFill>
                <a:latin typeface="微软雅黑" pitchFamily="34" charset="-122"/>
                <a:ea typeface="微软雅黑" pitchFamily="34" charset="-122"/>
              </a:rPr>
              <a:t>万维网的信息检索系统</a:t>
            </a:r>
          </a:p>
          <a:p>
            <a:pPr eaLnBrk="0" hangingPunct="0">
              <a:lnSpc>
                <a:spcPct val="150000"/>
              </a:lnSpc>
            </a:pPr>
            <a:r>
              <a:rPr lang="en-US" altLang="zh-CN" sz="2000" b="1" dirty="0">
                <a:solidFill>
                  <a:schemeClr val="bg1"/>
                </a:solidFill>
                <a:latin typeface="微软雅黑" pitchFamily="34" charset="-122"/>
                <a:ea typeface="微软雅黑" pitchFamily="34" charset="-122"/>
              </a:rPr>
              <a:t>6.4.6                                               </a:t>
            </a:r>
            <a:r>
              <a:rPr lang="zh-CN" altLang="en-US" sz="2000" b="1" dirty="0">
                <a:solidFill>
                  <a:schemeClr val="bg1"/>
                </a:solidFill>
                <a:latin typeface="微软雅黑" pitchFamily="34" charset="-122"/>
                <a:ea typeface="微软雅黑" pitchFamily="34" charset="-122"/>
              </a:rPr>
              <a:t>博客和微博</a:t>
            </a:r>
          </a:p>
          <a:p>
            <a:pPr eaLnBrk="0" hangingPunct="0">
              <a:lnSpc>
                <a:spcPct val="150000"/>
              </a:lnSpc>
            </a:pPr>
            <a:r>
              <a:rPr lang="en-US" altLang="zh-CN" sz="2000" b="1" dirty="0">
                <a:solidFill>
                  <a:schemeClr val="bg1"/>
                </a:solidFill>
                <a:latin typeface="微软雅黑" pitchFamily="34" charset="-122"/>
                <a:ea typeface="微软雅黑" pitchFamily="34" charset="-122"/>
              </a:rPr>
              <a:t>6.4.7                                                  </a:t>
            </a:r>
            <a:r>
              <a:rPr lang="zh-CN" altLang="en-US" sz="2000" b="1" dirty="0">
                <a:solidFill>
                  <a:schemeClr val="bg1"/>
                </a:solidFill>
                <a:latin typeface="微软雅黑" pitchFamily="34" charset="-122"/>
                <a:ea typeface="微软雅黑" pitchFamily="34" charset="-122"/>
              </a:rPr>
              <a:t>社交网站</a:t>
            </a:r>
          </a:p>
        </p:txBody>
      </p:sp>
    </p:spTree>
    <p:extLst>
      <p:ext uri="{BB962C8B-B14F-4D97-AF65-F5344CB8AC3E}">
        <p14:creationId xmlns:p14="http://schemas.microsoft.com/office/powerpoint/2010/main" val="1303989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10" name="Rectangle 6"/>
          <p:cNvSpPr>
            <a:spLocks noChangeArrowheads="1"/>
          </p:cNvSpPr>
          <p:nvPr/>
        </p:nvSpPr>
        <p:spPr bwMode="auto">
          <a:xfrm>
            <a:off x="3449740" y="605359"/>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6.4.1  </a:t>
            </a:r>
            <a:r>
              <a:rPr lang="zh-CN" altLang="en-US" sz="2000" b="1" dirty="0">
                <a:solidFill>
                  <a:schemeClr val="bg1"/>
                </a:solidFill>
                <a:latin typeface="微软雅黑" pitchFamily="34" charset="-122"/>
                <a:ea typeface="微软雅黑" pitchFamily="34" charset="-122"/>
              </a:rPr>
              <a:t>万维网概述</a:t>
            </a:r>
          </a:p>
        </p:txBody>
      </p:sp>
      <p:sp>
        <p:nvSpPr>
          <p:cNvPr id="111" name="Rectangle 8"/>
          <p:cNvSpPr>
            <a:spLocks noChangeArrowheads="1"/>
          </p:cNvSpPr>
          <p:nvPr/>
        </p:nvSpPr>
        <p:spPr bwMode="auto">
          <a:xfrm>
            <a:off x="556963" y="1115519"/>
            <a:ext cx="804877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itchFamily="2" charset="2"/>
              <a:buChar char="l"/>
            </a:pPr>
            <a:r>
              <a:rPr lang="zh-CN" altLang="en-US" sz="2000" b="1" dirty="0">
                <a:solidFill>
                  <a:srgbClr val="C00000"/>
                </a:solidFill>
                <a:highlight>
                  <a:srgbClr val="FFFF00"/>
                </a:highlight>
                <a:latin typeface="微软雅黑" pitchFamily="34" charset="-122"/>
                <a:ea typeface="微软雅黑" pitchFamily="34" charset="-122"/>
              </a:rPr>
              <a:t>万维网 </a:t>
            </a:r>
            <a:r>
              <a:rPr lang="en-US" altLang="zh-CN" sz="2000" b="1" dirty="0">
                <a:solidFill>
                  <a:srgbClr val="C00000"/>
                </a:solidFill>
                <a:highlight>
                  <a:srgbClr val="FFFF00"/>
                </a:highlight>
                <a:latin typeface="微软雅黑" pitchFamily="34" charset="-122"/>
                <a:ea typeface="微软雅黑" pitchFamily="34" charset="-122"/>
              </a:rPr>
              <a:t>WWW </a:t>
            </a:r>
            <a:r>
              <a:rPr lang="en-US" altLang="zh-CN" sz="2000" b="1" dirty="0">
                <a:highlight>
                  <a:srgbClr val="FFFF00"/>
                </a:highlight>
                <a:latin typeface="微软雅黑" pitchFamily="34" charset="-122"/>
                <a:ea typeface="微软雅黑" pitchFamily="34" charset="-122"/>
              </a:rPr>
              <a:t>(World Wide Web) </a:t>
            </a:r>
            <a:r>
              <a:rPr lang="zh-CN" altLang="en-US" sz="2000" b="1" dirty="0">
                <a:highlight>
                  <a:srgbClr val="FFFF00"/>
                </a:highlight>
                <a:latin typeface="微软雅黑" pitchFamily="34" charset="-122"/>
                <a:ea typeface="微软雅黑" pitchFamily="34" charset="-122"/>
              </a:rPr>
              <a:t>并非某种特殊的计算机网络。</a:t>
            </a:r>
          </a:p>
          <a:p>
            <a:pPr marL="285750" indent="-285750">
              <a:lnSpc>
                <a:spcPts val="33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万维网是一个大规模的、联机式的</a:t>
            </a:r>
            <a:r>
              <a:rPr lang="zh-CN" altLang="en-US" sz="2000" b="1" dirty="0">
                <a:solidFill>
                  <a:srgbClr val="0000FF"/>
                </a:solidFill>
                <a:highlight>
                  <a:srgbClr val="FFFF00"/>
                </a:highlight>
                <a:latin typeface="微软雅黑" pitchFamily="34" charset="-122"/>
                <a:ea typeface="微软雅黑" pitchFamily="34" charset="-122"/>
              </a:rPr>
              <a:t>信息储藏所</a:t>
            </a:r>
            <a:r>
              <a:rPr lang="zh-CN" altLang="en-US" sz="2000" b="1" dirty="0">
                <a:latin typeface="微软雅黑" pitchFamily="34" charset="-122"/>
                <a:ea typeface="微软雅黑" pitchFamily="34" charset="-122"/>
              </a:rPr>
              <a:t>。</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万维网用链接的方法能非常方便地从互联网上的一个站点访问另一个站点，从而主动地按需获取丰富的信息。</a:t>
            </a:r>
          </a:p>
          <a:p>
            <a:pPr marL="285750" indent="-28575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这种访问方式称为“</a:t>
            </a:r>
            <a:r>
              <a:rPr lang="zh-CN" altLang="en-US" sz="2000" b="1" dirty="0">
                <a:solidFill>
                  <a:srgbClr val="C00000"/>
                </a:solidFill>
                <a:latin typeface="微软雅黑" pitchFamily="34" charset="-122"/>
                <a:ea typeface="微软雅黑" pitchFamily="34" charset="-122"/>
              </a:rPr>
              <a:t>链接</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9275337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圆角矩形 13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Text Box 5"/>
          <p:cNvSpPr txBox="1">
            <a:spLocks noChangeArrowheads="1"/>
          </p:cNvSpPr>
          <p:nvPr/>
        </p:nvSpPr>
        <p:spPr bwMode="auto">
          <a:xfrm>
            <a:off x="3191972" y="2554344"/>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39" name="Text Box 6"/>
          <p:cNvSpPr txBox="1">
            <a:spLocks noChangeArrowheads="1"/>
          </p:cNvSpPr>
          <p:nvPr/>
        </p:nvSpPr>
        <p:spPr bwMode="auto">
          <a:xfrm>
            <a:off x="1675400" y="110212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sp>
        <p:nvSpPr>
          <p:cNvPr id="140" name="Text Box 7"/>
          <p:cNvSpPr txBox="1">
            <a:spLocks noChangeArrowheads="1"/>
          </p:cNvSpPr>
          <p:nvPr/>
        </p:nvSpPr>
        <p:spPr bwMode="auto">
          <a:xfrm>
            <a:off x="4167703" y="101682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41" name="Text Box 8"/>
          <p:cNvSpPr txBox="1">
            <a:spLocks noChangeArrowheads="1"/>
          </p:cNvSpPr>
          <p:nvPr/>
        </p:nvSpPr>
        <p:spPr bwMode="auto">
          <a:xfrm>
            <a:off x="5575858" y="2502032"/>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63" name="Text Box 9"/>
          <p:cNvSpPr txBox="1">
            <a:spLocks noChangeArrowheads="1"/>
          </p:cNvSpPr>
          <p:nvPr/>
        </p:nvSpPr>
        <p:spPr bwMode="auto">
          <a:xfrm>
            <a:off x="6838642" y="1132825"/>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a:solidFill>
                  <a:srgbClr val="009900"/>
                </a:solidFill>
                <a:latin typeface="微软雅黑" pitchFamily="34" charset="-122"/>
                <a:ea typeface="微软雅黑" pitchFamily="34" charset="-122"/>
                <a:sym typeface="Wingdings" pitchFamily="2" charset="2"/>
              </a:rPr>
              <a:t></a:t>
            </a:r>
            <a:endParaRPr kumimoji="1" lang="en-US" altLang="zh-CN" sz="6000" b="1">
              <a:solidFill>
                <a:srgbClr val="009900"/>
              </a:solidFill>
              <a:latin typeface="微软雅黑" pitchFamily="34" charset="-122"/>
              <a:ea typeface="微软雅黑" pitchFamily="34" charset="-122"/>
            </a:endParaRPr>
          </a:p>
        </p:txBody>
      </p:sp>
      <p:sp>
        <p:nvSpPr>
          <p:cNvPr id="174" name="Text Box 11"/>
          <p:cNvSpPr txBox="1">
            <a:spLocks noChangeArrowheads="1"/>
          </p:cNvSpPr>
          <p:nvPr/>
        </p:nvSpPr>
        <p:spPr bwMode="auto">
          <a:xfrm>
            <a:off x="1708527" y="2384317"/>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A</a:t>
            </a:r>
          </a:p>
        </p:txBody>
      </p:sp>
      <p:sp>
        <p:nvSpPr>
          <p:cNvPr id="179" name="Text Box 16"/>
          <p:cNvSpPr txBox="1">
            <a:spLocks noChangeArrowheads="1"/>
          </p:cNvSpPr>
          <p:nvPr/>
        </p:nvSpPr>
        <p:spPr bwMode="auto">
          <a:xfrm>
            <a:off x="6897913" y="2418894"/>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a:t>
            </a:r>
          </a:p>
          <a:p>
            <a:pPr eaLnBrk="1" hangingPunct="1"/>
            <a:r>
              <a:rPr kumimoji="1" lang="zh-CN" altLang="en-US" sz="1200" b="1" dirty="0">
                <a:latin typeface="微软雅黑" pitchFamily="34" charset="-122"/>
                <a:ea typeface="微软雅黑" pitchFamily="34" charset="-122"/>
              </a:rPr>
              <a:t>站点 </a:t>
            </a:r>
            <a:r>
              <a:rPr kumimoji="1" lang="en-US" altLang="zh-CN" sz="1200" b="1" dirty="0">
                <a:latin typeface="微软雅黑" pitchFamily="34" charset="-122"/>
                <a:ea typeface="微软雅黑" pitchFamily="34" charset="-122"/>
              </a:rPr>
              <a:t>C</a:t>
            </a:r>
          </a:p>
        </p:txBody>
      </p:sp>
      <p:sp>
        <p:nvSpPr>
          <p:cNvPr id="180" name="Text Box 17"/>
          <p:cNvSpPr txBox="1">
            <a:spLocks noChangeArrowheads="1"/>
          </p:cNvSpPr>
          <p:nvPr/>
        </p:nvSpPr>
        <p:spPr bwMode="auto">
          <a:xfrm>
            <a:off x="5409096" y="3764500"/>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E</a:t>
            </a:r>
          </a:p>
        </p:txBody>
      </p:sp>
      <p:sp>
        <p:nvSpPr>
          <p:cNvPr id="181" name="Text Box 18"/>
          <p:cNvSpPr txBox="1">
            <a:spLocks noChangeArrowheads="1"/>
          </p:cNvSpPr>
          <p:nvPr/>
        </p:nvSpPr>
        <p:spPr bwMode="auto">
          <a:xfrm>
            <a:off x="3003803" y="3818654"/>
            <a:ext cx="112242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万维网站点 </a:t>
            </a:r>
            <a:r>
              <a:rPr kumimoji="1" lang="en-US" altLang="zh-CN" sz="1200" b="1" dirty="0">
                <a:latin typeface="微软雅黑" pitchFamily="34" charset="-122"/>
                <a:ea typeface="微软雅黑" pitchFamily="34" charset="-122"/>
              </a:rPr>
              <a:t>D</a:t>
            </a:r>
          </a:p>
        </p:txBody>
      </p:sp>
      <p:sp>
        <p:nvSpPr>
          <p:cNvPr id="182" name="Text Box 19"/>
          <p:cNvSpPr txBox="1">
            <a:spLocks noChangeArrowheads="1"/>
          </p:cNvSpPr>
          <p:nvPr/>
        </p:nvSpPr>
        <p:spPr bwMode="auto">
          <a:xfrm>
            <a:off x="3992573" y="2262793"/>
            <a:ext cx="11063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万维网站点 </a:t>
            </a:r>
            <a:r>
              <a:rPr kumimoji="1" lang="en-US" altLang="zh-CN" sz="1200" b="1">
                <a:latin typeface="微软雅黑" pitchFamily="34" charset="-122"/>
                <a:ea typeface="微软雅黑" pitchFamily="34" charset="-122"/>
              </a:rPr>
              <a:t>B</a:t>
            </a:r>
          </a:p>
        </p:txBody>
      </p:sp>
      <p:grpSp>
        <p:nvGrpSpPr>
          <p:cNvPr id="183" name="Group 53"/>
          <p:cNvGrpSpPr>
            <a:grpSpLocks/>
          </p:cNvGrpSpPr>
          <p:nvPr/>
        </p:nvGrpSpPr>
        <p:grpSpPr bwMode="auto">
          <a:xfrm>
            <a:off x="2087328" y="1192347"/>
            <a:ext cx="2344463" cy="358225"/>
            <a:chOff x="833" y="1417"/>
            <a:chExt cx="1903" cy="315"/>
          </a:xfrm>
        </p:grpSpPr>
        <p:sp>
          <p:nvSpPr>
            <p:cNvPr id="184" name="Line 25"/>
            <p:cNvSpPr>
              <a:spLocks noChangeShapeType="1"/>
            </p:cNvSpPr>
            <p:nvPr/>
          </p:nvSpPr>
          <p:spPr bwMode="auto">
            <a:xfrm flipV="1">
              <a:off x="833" y="1564"/>
              <a:ext cx="1903" cy="168"/>
            </a:xfrm>
            <a:prstGeom prst="line">
              <a:avLst/>
            </a:prstGeom>
            <a:noFill/>
            <a:ln w="38100">
              <a:solidFill>
                <a:srgbClr val="CC00CC"/>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5" name="Text Box 26"/>
            <p:cNvSpPr txBox="1">
              <a:spLocks noChangeArrowheads="1"/>
            </p:cNvSpPr>
            <p:nvPr/>
          </p:nvSpPr>
          <p:spPr bwMode="auto">
            <a:xfrm rot="21377422">
              <a:off x="1550" y="1417"/>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6" name="Group 55"/>
          <p:cNvGrpSpPr>
            <a:grpSpLocks/>
          </p:cNvGrpSpPr>
          <p:nvPr/>
        </p:nvGrpSpPr>
        <p:grpSpPr bwMode="auto">
          <a:xfrm>
            <a:off x="3495485" y="1602872"/>
            <a:ext cx="845140" cy="1299839"/>
            <a:chOff x="1976" y="1778"/>
            <a:chExt cx="686" cy="1143"/>
          </a:xfrm>
        </p:grpSpPr>
        <p:sp>
          <p:nvSpPr>
            <p:cNvPr id="187" name="Line 22"/>
            <p:cNvSpPr>
              <a:spLocks noChangeShapeType="1"/>
            </p:cNvSpPr>
            <p:nvPr/>
          </p:nvSpPr>
          <p:spPr bwMode="auto">
            <a:xfrm flipH="1">
              <a:off x="1976" y="1778"/>
              <a:ext cx="686"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88" name="Text Box 27"/>
            <p:cNvSpPr txBox="1">
              <a:spLocks noChangeArrowheads="1"/>
            </p:cNvSpPr>
            <p:nvPr/>
          </p:nvSpPr>
          <p:spPr bwMode="auto">
            <a:xfrm rot="18143965">
              <a:off x="2090" y="1960"/>
              <a:ext cx="568"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89" name="Group 54"/>
          <p:cNvGrpSpPr>
            <a:grpSpLocks/>
          </p:cNvGrpSpPr>
          <p:nvPr/>
        </p:nvGrpSpPr>
        <p:grpSpPr bwMode="auto">
          <a:xfrm>
            <a:off x="2130448" y="1725689"/>
            <a:ext cx="3737837" cy="1457910"/>
            <a:chOff x="868" y="1886"/>
            <a:chExt cx="3034" cy="1282"/>
          </a:xfrm>
        </p:grpSpPr>
        <p:sp>
          <p:nvSpPr>
            <p:cNvPr id="190" name="Line 20"/>
            <p:cNvSpPr>
              <a:spLocks noChangeShapeType="1"/>
            </p:cNvSpPr>
            <p:nvPr/>
          </p:nvSpPr>
          <p:spPr bwMode="auto">
            <a:xfrm>
              <a:off x="868" y="1886"/>
              <a:ext cx="3034" cy="1282"/>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1" name="Text Box 28"/>
            <p:cNvSpPr txBox="1">
              <a:spLocks noChangeArrowheads="1"/>
            </p:cNvSpPr>
            <p:nvPr/>
          </p:nvSpPr>
          <p:spPr bwMode="auto">
            <a:xfrm rot="1357240">
              <a:off x="1504" y="2030"/>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2" name="Group 58"/>
          <p:cNvGrpSpPr>
            <a:grpSpLocks/>
          </p:cNvGrpSpPr>
          <p:nvPr/>
        </p:nvGrpSpPr>
        <p:grpSpPr bwMode="auto">
          <a:xfrm>
            <a:off x="3691370" y="1725689"/>
            <a:ext cx="3379329" cy="1486341"/>
            <a:chOff x="2135" y="1886"/>
            <a:chExt cx="2743" cy="1307"/>
          </a:xfrm>
        </p:grpSpPr>
        <p:sp>
          <p:nvSpPr>
            <p:cNvPr id="193" name="Line 21"/>
            <p:cNvSpPr>
              <a:spLocks noChangeShapeType="1"/>
            </p:cNvSpPr>
            <p:nvPr/>
          </p:nvSpPr>
          <p:spPr bwMode="auto">
            <a:xfrm flipV="1">
              <a:off x="2135" y="1886"/>
              <a:ext cx="2743" cy="1307"/>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4" name="Text Box 29"/>
            <p:cNvSpPr txBox="1">
              <a:spLocks noChangeArrowheads="1"/>
            </p:cNvSpPr>
            <p:nvPr/>
          </p:nvSpPr>
          <p:spPr bwMode="auto">
            <a:xfrm rot="20118828">
              <a:off x="3664" y="209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5" name="Group 57"/>
          <p:cNvGrpSpPr>
            <a:grpSpLocks/>
          </p:cNvGrpSpPr>
          <p:nvPr/>
        </p:nvGrpSpPr>
        <p:grpSpPr bwMode="auto">
          <a:xfrm>
            <a:off x="1935794" y="1788235"/>
            <a:ext cx="1495627" cy="1299837"/>
            <a:chOff x="710" y="1941"/>
            <a:chExt cx="1214" cy="1143"/>
          </a:xfrm>
        </p:grpSpPr>
        <p:sp>
          <p:nvSpPr>
            <p:cNvPr id="196" name="Line 24"/>
            <p:cNvSpPr>
              <a:spLocks noChangeShapeType="1"/>
            </p:cNvSpPr>
            <p:nvPr/>
          </p:nvSpPr>
          <p:spPr bwMode="auto">
            <a:xfrm flipH="1" flipV="1">
              <a:off x="710" y="1941"/>
              <a:ext cx="1214" cy="1143"/>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197" name="Text Box 30"/>
            <p:cNvSpPr txBox="1">
              <a:spLocks noChangeArrowheads="1"/>
            </p:cNvSpPr>
            <p:nvPr/>
          </p:nvSpPr>
          <p:spPr bwMode="auto">
            <a:xfrm rot="2570439">
              <a:off x="1202" y="2383"/>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198" name="Group 56"/>
          <p:cNvGrpSpPr>
            <a:grpSpLocks/>
          </p:cNvGrpSpPr>
          <p:nvPr/>
        </p:nvGrpSpPr>
        <p:grpSpPr bwMode="auto">
          <a:xfrm>
            <a:off x="4600574" y="1788235"/>
            <a:ext cx="1170384" cy="1114471"/>
            <a:chOff x="2873" y="1941"/>
            <a:chExt cx="950" cy="980"/>
          </a:xfrm>
        </p:grpSpPr>
        <p:sp>
          <p:nvSpPr>
            <p:cNvPr id="199" name="Line 23"/>
            <p:cNvSpPr>
              <a:spLocks noChangeShapeType="1"/>
            </p:cNvSpPr>
            <p:nvPr/>
          </p:nvSpPr>
          <p:spPr bwMode="auto">
            <a:xfrm>
              <a:off x="2873" y="1941"/>
              <a:ext cx="950" cy="980"/>
            </a:xfrm>
            <a:prstGeom prst="line">
              <a:avLst/>
            </a:prstGeom>
            <a:noFill/>
            <a:ln w="38100">
              <a:solidFill>
                <a:srgbClr val="CC00CC"/>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itchFamily="34" charset="-122"/>
                <a:ea typeface="微软雅黑" pitchFamily="34" charset="-122"/>
              </a:endParaRPr>
            </a:p>
          </p:txBody>
        </p:sp>
        <p:sp>
          <p:nvSpPr>
            <p:cNvPr id="200" name="Text Box 31"/>
            <p:cNvSpPr txBox="1">
              <a:spLocks noChangeArrowheads="1"/>
            </p:cNvSpPr>
            <p:nvPr/>
          </p:nvSpPr>
          <p:spPr bwMode="auto">
            <a:xfrm rot="2686426">
              <a:off x="3064" y="211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rgbClr val="0000FF"/>
                  </a:solidFill>
                  <a:latin typeface="微软雅黑" pitchFamily="34" charset="-122"/>
                  <a:ea typeface="微软雅黑" pitchFamily="34" charset="-122"/>
                </a:rPr>
                <a:t>链接到</a:t>
              </a:r>
            </a:p>
          </p:txBody>
        </p:sp>
      </p:grpSp>
      <p:grpSp>
        <p:nvGrpSpPr>
          <p:cNvPr id="201" name="Group 34"/>
          <p:cNvGrpSpPr>
            <a:grpSpLocks/>
          </p:cNvGrpSpPr>
          <p:nvPr/>
        </p:nvGrpSpPr>
        <p:grpSpPr bwMode="auto">
          <a:xfrm>
            <a:off x="4262172" y="1333100"/>
            <a:ext cx="322607" cy="277280"/>
            <a:chOff x="806" y="3124"/>
            <a:chExt cx="237" cy="214"/>
          </a:xfrm>
        </p:grpSpPr>
        <p:sp>
          <p:nvSpPr>
            <p:cNvPr id="202"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3"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000099"/>
                  </a:solidFill>
                  <a:latin typeface="微软雅黑" pitchFamily="34" charset="-122"/>
                  <a:ea typeface="微软雅黑" pitchFamily="34" charset="-122"/>
                  <a:sym typeface="Wingdings" pitchFamily="2" charset="2"/>
                </a:rPr>
                <a:t></a:t>
              </a:r>
            </a:p>
          </p:txBody>
        </p:sp>
      </p:grpSp>
      <p:grpSp>
        <p:nvGrpSpPr>
          <p:cNvPr id="204" name="Group 37"/>
          <p:cNvGrpSpPr>
            <a:grpSpLocks/>
          </p:cNvGrpSpPr>
          <p:nvPr/>
        </p:nvGrpSpPr>
        <p:grpSpPr bwMode="auto">
          <a:xfrm>
            <a:off x="3477635" y="3116986"/>
            <a:ext cx="323170" cy="277280"/>
            <a:chOff x="800" y="3198"/>
            <a:chExt cx="239" cy="214"/>
          </a:xfrm>
        </p:grpSpPr>
        <p:sp>
          <p:nvSpPr>
            <p:cNvPr id="205"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6" name="Text Box 39"/>
            <p:cNvSpPr txBox="1">
              <a:spLocks noChangeArrowheads="1"/>
            </p:cNvSpPr>
            <p:nvPr/>
          </p:nvSpPr>
          <p:spPr bwMode="auto">
            <a:xfrm>
              <a:off x="800" y="3198"/>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07" name="Group 40"/>
          <p:cNvGrpSpPr>
            <a:grpSpLocks/>
          </p:cNvGrpSpPr>
          <p:nvPr/>
        </p:nvGrpSpPr>
        <p:grpSpPr bwMode="auto">
          <a:xfrm>
            <a:off x="1864300" y="1409229"/>
            <a:ext cx="323170" cy="277280"/>
            <a:chOff x="796" y="3199"/>
            <a:chExt cx="239" cy="214"/>
          </a:xfrm>
        </p:grpSpPr>
        <p:sp>
          <p:nvSpPr>
            <p:cNvPr id="20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09"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0" name="Group 43"/>
          <p:cNvGrpSpPr>
            <a:grpSpLocks/>
          </p:cNvGrpSpPr>
          <p:nvPr/>
        </p:nvGrpSpPr>
        <p:grpSpPr bwMode="auto">
          <a:xfrm>
            <a:off x="1922182" y="1565735"/>
            <a:ext cx="322607" cy="277611"/>
            <a:chOff x="796" y="3199"/>
            <a:chExt cx="237" cy="215"/>
          </a:xfrm>
        </p:grpSpPr>
        <p:sp>
          <p:nvSpPr>
            <p:cNvPr id="211"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2"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3" name="Group 46"/>
          <p:cNvGrpSpPr>
            <a:grpSpLocks/>
          </p:cNvGrpSpPr>
          <p:nvPr/>
        </p:nvGrpSpPr>
        <p:grpSpPr bwMode="auto">
          <a:xfrm>
            <a:off x="4365895" y="1585219"/>
            <a:ext cx="323170" cy="277611"/>
            <a:chOff x="800" y="3194"/>
            <a:chExt cx="239" cy="215"/>
          </a:xfrm>
        </p:grpSpPr>
        <p:sp>
          <p:nvSpPr>
            <p:cNvPr id="21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5"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grpSp>
        <p:nvGrpSpPr>
          <p:cNvPr id="216" name="Group 49"/>
          <p:cNvGrpSpPr>
            <a:grpSpLocks/>
          </p:cNvGrpSpPr>
          <p:nvPr/>
        </p:nvGrpSpPr>
        <p:grpSpPr bwMode="auto">
          <a:xfrm>
            <a:off x="3298308" y="2994169"/>
            <a:ext cx="322607" cy="277280"/>
            <a:chOff x="796" y="3199"/>
            <a:chExt cx="237" cy="214"/>
          </a:xfrm>
        </p:grpSpPr>
        <p:sp>
          <p:nvSpPr>
            <p:cNvPr id="217"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itchFamily="34" charset="-122"/>
                <a:ea typeface="微软雅黑" pitchFamily="34" charset="-122"/>
              </a:endParaRPr>
            </a:p>
          </p:txBody>
        </p:sp>
        <p:sp>
          <p:nvSpPr>
            <p:cNvPr id="218" name="Text Box 51"/>
            <p:cNvSpPr txBox="1">
              <a:spLocks noChangeArrowheads="1"/>
            </p:cNvSpPr>
            <p:nvPr/>
          </p:nvSpPr>
          <p:spPr bwMode="auto">
            <a:xfrm>
              <a:off x="796" y="3199"/>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99"/>
                  </a:solidFill>
                  <a:latin typeface="微软雅黑" pitchFamily="34" charset="-122"/>
                  <a:ea typeface="微软雅黑" pitchFamily="34" charset="-122"/>
                  <a:sym typeface="Wingdings" pitchFamily="2" charset="2"/>
                </a:rPr>
                <a:t></a:t>
              </a:r>
            </a:p>
          </p:txBody>
        </p:sp>
      </p:grpSp>
      <p:pic>
        <p:nvPicPr>
          <p:cNvPr id="219"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08281" y="3351137"/>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3968" y="18253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234" y="19550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697515" y="3299257"/>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56" name="Rectangle 6"/>
          <p:cNvSpPr>
            <a:spLocks noChangeArrowheads="1"/>
          </p:cNvSpPr>
          <p:nvPr/>
        </p:nvSpPr>
        <p:spPr bwMode="auto">
          <a:xfrm>
            <a:off x="3449740" y="605358"/>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6.4.1  </a:t>
            </a:r>
            <a:r>
              <a:rPr lang="zh-CN" altLang="en-US" sz="2000" b="1" dirty="0">
                <a:solidFill>
                  <a:schemeClr val="bg1"/>
                </a:solidFill>
                <a:latin typeface="微软雅黑" pitchFamily="34" charset="-122"/>
                <a:ea typeface="微软雅黑" pitchFamily="34" charset="-122"/>
              </a:rPr>
              <a:t>万维网概述</a:t>
            </a:r>
          </a:p>
        </p:txBody>
      </p:sp>
      <p:sp>
        <p:nvSpPr>
          <p:cNvPr id="2" name="矩形 1"/>
          <p:cNvSpPr/>
          <p:nvPr/>
        </p:nvSpPr>
        <p:spPr>
          <a:xfrm>
            <a:off x="660953" y="2999098"/>
            <a:ext cx="2504428" cy="1220847"/>
          </a:xfrm>
          <a:prstGeom prst="rect">
            <a:avLst/>
          </a:prstGeom>
        </p:spPr>
        <p:txBody>
          <a:bodyPr wrap="square">
            <a:spAutoFit/>
          </a:bodyPr>
          <a:lstStyle/>
          <a:p>
            <a:pPr>
              <a:lnSpc>
                <a:spcPts val="2200"/>
              </a:lnSpc>
            </a:pPr>
            <a:r>
              <a:rPr lang="zh-CN" altLang="en-US" sz="1400" b="1" dirty="0">
                <a:solidFill>
                  <a:srgbClr val="000099"/>
                </a:solidFill>
                <a:latin typeface="微软雅黑" panose="020B0503020204020204" pitchFamily="34" charset="-122"/>
                <a:ea typeface="微软雅黑" panose="020B0503020204020204" pitchFamily="34" charset="-122"/>
              </a:rPr>
              <a:t>万维网 </a:t>
            </a:r>
            <a:r>
              <a:rPr lang="en-US" altLang="zh-CN" sz="1400" b="1" dirty="0">
                <a:solidFill>
                  <a:srgbClr val="000099"/>
                </a:solidFill>
                <a:latin typeface="微软雅黑" panose="020B0503020204020204" pitchFamily="34" charset="-122"/>
                <a:ea typeface="微软雅黑" panose="020B0503020204020204" pitchFamily="34" charset="-122"/>
              </a:rPr>
              <a:t>WWW (World Wide Web) </a:t>
            </a:r>
            <a:r>
              <a:rPr lang="zh-CN" altLang="en-US" sz="1400" b="1" dirty="0">
                <a:solidFill>
                  <a:srgbClr val="000099"/>
                </a:solidFill>
                <a:latin typeface="微软雅黑" panose="020B0503020204020204" pitchFamily="34" charset="-122"/>
                <a:ea typeface="微软雅黑" panose="020B0503020204020204" pitchFamily="34" charset="-122"/>
              </a:rPr>
              <a:t>是一个大规模的、联机式的信息储藏所，并非某种特殊的计算机网络。</a:t>
            </a:r>
          </a:p>
        </p:txBody>
      </p:sp>
      <p:sp>
        <p:nvSpPr>
          <p:cNvPr id="3" name="矩形 2"/>
          <p:cNvSpPr/>
          <p:nvPr/>
        </p:nvSpPr>
        <p:spPr>
          <a:xfrm>
            <a:off x="6605246" y="3278713"/>
            <a:ext cx="1792760" cy="656590"/>
          </a:xfrm>
          <a:prstGeom prst="rect">
            <a:avLst/>
          </a:prstGeom>
          <a:noFill/>
        </p:spPr>
        <p:txBody>
          <a:bodyPr wrap="square">
            <a:spAutoFit/>
          </a:bodyPr>
          <a:lstStyle/>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访问方法：链接。</a:t>
            </a:r>
            <a:endParaRPr lang="en-US" altLang="zh-CN" sz="1400" b="1" dirty="0">
              <a:solidFill>
                <a:srgbClr val="C00000"/>
              </a:solidFill>
              <a:latin typeface="微软雅黑" panose="020B0503020204020204" pitchFamily="34" charset="-122"/>
              <a:ea typeface="微软雅黑" panose="020B0503020204020204" pitchFamily="34" charset="-122"/>
            </a:endParaRPr>
          </a:p>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提供分布式服务。</a:t>
            </a:r>
          </a:p>
        </p:txBody>
      </p:sp>
    </p:spTree>
    <p:extLst>
      <p:ext uri="{BB962C8B-B14F-4D97-AF65-F5344CB8AC3E}">
        <p14:creationId xmlns:p14="http://schemas.microsoft.com/office/powerpoint/2010/main" val="2598170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wipe(left)">
                                      <p:cBhvr>
                                        <p:cTn id="7" dur="1500"/>
                                        <p:tgtEl>
                                          <p:spTgt spid="183"/>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89"/>
                                        </p:tgtEl>
                                        <p:attrNameLst>
                                          <p:attrName>style.visibility</p:attrName>
                                        </p:attrNameLst>
                                      </p:cBhvr>
                                      <p:to>
                                        <p:strVal val="visible"/>
                                      </p:to>
                                    </p:set>
                                    <p:animEffect transition="in" filter="wipe(left)">
                                      <p:cBhvr>
                                        <p:cTn id="11" dur="1500"/>
                                        <p:tgtEl>
                                          <p:spTgt spid="189"/>
                                        </p:tgtEl>
                                      </p:cBhvr>
                                    </p:animEffect>
                                  </p:childTnLst>
                                </p:cTn>
                              </p:par>
                            </p:childTnLst>
                          </p:cTn>
                        </p:par>
                        <p:par>
                          <p:cTn id="12" fill="hold">
                            <p:stCondLst>
                              <p:cond delay="3000"/>
                            </p:stCondLst>
                            <p:childTnLst>
                              <p:par>
                                <p:cTn id="13" presetID="22" presetClass="entr" presetSubtype="1" fill="hold" nodeType="after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up)">
                                      <p:cBhvr>
                                        <p:cTn id="15" dur="1500"/>
                                        <p:tgtEl>
                                          <p:spTgt spid="186"/>
                                        </p:tgtEl>
                                      </p:cBhvr>
                                    </p:animEffect>
                                  </p:childTnLst>
                                </p:cTn>
                              </p:par>
                            </p:childTnLst>
                          </p:cTn>
                        </p:par>
                        <p:par>
                          <p:cTn id="16" fill="hold">
                            <p:stCondLst>
                              <p:cond delay="4500"/>
                            </p:stCondLst>
                            <p:childTnLst>
                              <p:par>
                                <p:cTn id="17" presetID="22" presetClass="entr" presetSubtype="1" fill="hold"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up)">
                                      <p:cBhvr>
                                        <p:cTn id="19" dur="1500"/>
                                        <p:tgtEl>
                                          <p:spTgt spid="198"/>
                                        </p:tgtEl>
                                      </p:cBhvr>
                                    </p:animEffect>
                                  </p:childTnLst>
                                </p:cTn>
                              </p:par>
                            </p:childTnLst>
                          </p:cTn>
                        </p:par>
                        <p:par>
                          <p:cTn id="20" fill="hold">
                            <p:stCondLst>
                              <p:cond delay="6000"/>
                            </p:stCondLst>
                            <p:childTnLst>
                              <p:par>
                                <p:cTn id="21" presetID="22" presetClass="entr" presetSubtype="2" fill="hold" nodeType="afterEffect">
                                  <p:stCondLst>
                                    <p:cond delay="0"/>
                                  </p:stCondLst>
                                  <p:childTnLst>
                                    <p:set>
                                      <p:cBhvr>
                                        <p:cTn id="22" dur="1" fill="hold">
                                          <p:stCondLst>
                                            <p:cond delay="0"/>
                                          </p:stCondLst>
                                        </p:cTn>
                                        <p:tgtEl>
                                          <p:spTgt spid="195"/>
                                        </p:tgtEl>
                                        <p:attrNameLst>
                                          <p:attrName>style.visibility</p:attrName>
                                        </p:attrNameLst>
                                      </p:cBhvr>
                                      <p:to>
                                        <p:strVal val="visible"/>
                                      </p:to>
                                    </p:set>
                                    <p:animEffect transition="in" filter="wipe(right)">
                                      <p:cBhvr>
                                        <p:cTn id="23" dur="1500"/>
                                        <p:tgtEl>
                                          <p:spTgt spid="195"/>
                                        </p:tgtEl>
                                      </p:cBhvr>
                                    </p:animEffect>
                                  </p:childTnLst>
                                </p:cTn>
                              </p:par>
                            </p:childTnLst>
                          </p:cTn>
                        </p:par>
                        <p:par>
                          <p:cTn id="24" fill="hold">
                            <p:stCondLst>
                              <p:cond delay="7500"/>
                            </p:stCondLst>
                            <p:childTnLst>
                              <p:par>
                                <p:cTn id="25" presetID="22" presetClass="entr" presetSubtype="8" fill="hold" nodeType="afterEffect">
                                  <p:stCondLst>
                                    <p:cond delay="0"/>
                                  </p:stCondLst>
                                  <p:childTnLst>
                                    <p:set>
                                      <p:cBhvr>
                                        <p:cTn id="26" dur="1" fill="hold">
                                          <p:stCondLst>
                                            <p:cond delay="0"/>
                                          </p:stCondLst>
                                        </p:cTn>
                                        <p:tgtEl>
                                          <p:spTgt spid="192"/>
                                        </p:tgtEl>
                                        <p:attrNameLst>
                                          <p:attrName>style.visibility</p:attrName>
                                        </p:attrNameLst>
                                      </p:cBhvr>
                                      <p:to>
                                        <p:strVal val="visible"/>
                                      </p:to>
                                    </p:set>
                                    <p:animEffect transition="in" filter="wipe(left)">
                                      <p:cBhvr>
                                        <p:cTn id="27" dur="1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8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346" y="585636"/>
            <a:ext cx="540924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zh-CN" altLang="en-US" sz="2000" b="1" dirty="0">
                <a:solidFill>
                  <a:schemeClr val="bg1"/>
                </a:solidFill>
                <a:latin typeface="微软雅黑" pitchFamily="34" charset="-122"/>
                <a:ea typeface="微软雅黑" pitchFamily="34" charset="-122"/>
              </a:rPr>
              <a:t>万维网是分布式超媒体 </a:t>
            </a:r>
            <a:r>
              <a:rPr lang="en-US" altLang="zh-CN" sz="2000" b="1" dirty="0">
                <a:solidFill>
                  <a:schemeClr val="bg1"/>
                </a:solidFill>
                <a:latin typeface="微软雅黑" pitchFamily="34" charset="-122"/>
                <a:ea typeface="微软雅黑" pitchFamily="34" charset="-122"/>
              </a:rPr>
              <a:t>(hypermedia) </a:t>
            </a:r>
            <a:r>
              <a:rPr lang="zh-CN" altLang="en-US" sz="2000" b="1" dirty="0">
                <a:solidFill>
                  <a:schemeClr val="bg1"/>
                </a:solidFill>
                <a:latin typeface="微软雅黑" pitchFamily="34" charset="-122"/>
                <a:ea typeface="微软雅黑" pitchFamily="34" charset="-122"/>
              </a:rPr>
              <a:t>系统</a:t>
            </a:r>
          </a:p>
        </p:txBody>
      </p:sp>
      <p:sp>
        <p:nvSpPr>
          <p:cNvPr id="4" name="Rectangle 68"/>
          <p:cNvSpPr>
            <a:spLocks noChangeArrowheads="1"/>
          </p:cNvSpPr>
          <p:nvPr/>
        </p:nvSpPr>
        <p:spPr bwMode="auto">
          <a:xfrm>
            <a:off x="556963" y="981148"/>
            <a:ext cx="8048776" cy="336245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超文本</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(hypertext) </a:t>
            </a:r>
            <a:r>
              <a:rPr lang="zh-CN" altLang="en-US" sz="2000" b="1" dirty="0">
                <a:latin typeface="微软雅黑" pitchFamily="34" charset="-122"/>
                <a:ea typeface="微软雅黑" pitchFamily="34" charset="-122"/>
              </a:rPr>
              <a:t>系统的</a:t>
            </a:r>
            <a:r>
              <a:rPr lang="zh-CN" altLang="en-US" sz="2000" b="1" dirty="0">
                <a:solidFill>
                  <a:srgbClr val="C00000"/>
                </a:solidFill>
                <a:latin typeface="微软雅黑" pitchFamily="34" charset="-122"/>
                <a:ea typeface="微软雅黑" pitchFamily="34" charset="-122"/>
              </a:rPr>
              <a:t>扩充。</a:t>
            </a: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超文本：</a:t>
            </a:r>
            <a:r>
              <a:rPr lang="zh-CN" altLang="en-US" sz="2000" b="1" dirty="0">
                <a:latin typeface="微软雅黑" pitchFamily="34" charset="-122"/>
                <a:ea typeface="微软雅黑" pitchFamily="34" charset="-122"/>
              </a:rPr>
              <a:t>由多个信息源</a:t>
            </a:r>
            <a:r>
              <a:rPr lang="zh-CN" altLang="en-US" sz="2000" b="1" dirty="0">
                <a:solidFill>
                  <a:srgbClr val="0000FF"/>
                </a:solidFill>
                <a:latin typeface="微软雅黑" pitchFamily="34" charset="-122"/>
                <a:ea typeface="微软雅黑" pitchFamily="34" charset="-122"/>
              </a:rPr>
              <a:t>链接</a:t>
            </a:r>
            <a:r>
              <a:rPr lang="zh-CN" altLang="en-US" sz="2000" b="1" dirty="0">
                <a:latin typeface="微软雅黑" pitchFamily="34" charset="-122"/>
                <a:ea typeface="微软雅黑" pitchFamily="34" charset="-122"/>
              </a:rPr>
              <a:t>成。</a:t>
            </a:r>
            <a:r>
              <a:rPr lang="zh-CN" altLang="en-US" sz="2000" b="1" dirty="0">
                <a:solidFill>
                  <a:srgbClr val="0000FF"/>
                </a:solidFill>
                <a:latin typeface="微软雅黑" pitchFamily="34" charset="-122"/>
                <a:ea typeface="微软雅黑" pitchFamily="34" charset="-122"/>
              </a:rPr>
              <a:t>是万维网的基础。</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超媒体与超文本的</a:t>
            </a:r>
            <a:r>
              <a:rPr lang="zh-CN" altLang="en-US" sz="2000" b="1" dirty="0">
                <a:solidFill>
                  <a:srgbClr val="C00000"/>
                </a:solidFill>
                <a:latin typeface="微软雅黑" pitchFamily="34" charset="-122"/>
                <a:ea typeface="微软雅黑" pitchFamily="34" charset="-122"/>
              </a:rPr>
              <a:t>区别：</a:t>
            </a:r>
            <a:r>
              <a:rPr lang="zh-CN" altLang="en-US" sz="2000" b="1" dirty="0">
                <a:solidFill>
                  <a:srgbClr val="0000FF"/>
                </a:solidFill>
                <a:latin typeface="微软雅黑" pitchFamily="34" charset="-122"/>
                <a:ea typeface="微软雅黑" pitchFamily="34" charset="-122"/>
              </a:rPr>
              <a:t>文档内容不同。</a:t>
            </a:r>
            <a:endParaRPr lang="en-US" altLang="zh-CN" sz="2000" b="1" dirty="0">
              <a:solidFill>
                <a:srgbClr val="0000FF"/>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超文本文档仅包含文本信息。</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超媒体文档还包含其他信息，如图形、图像、声音、动画，甚至活动视频图像等。</a:t>
            </a:r>
            <a:endParaRPr lang="en-US" altLang="zh-CN" sz="2000" b="1" dirty="0">
              <a:latin typeface="微软雅黑" pitchFamily="34" charset="-122"/>
              <a:ea typeface="微软雅黑" pitchFamily="34" charset="-122"/>
            </a:endParaRPr>
          </a:p>
          <a:p>
            <a:pPr marL="285750" lvl="1" indent="-285750" eaLnBrk="0" hangingPunct="0">
              <a:lnSpc>
                <a:spcPts val="3300"/>
              </a:lnSpc>
              <a:buClr>
                <a:srgbClr val="0070C0"/>
              </a:buClr>
              <a:buSzPct val="85000"/>
              <a:buFont typeface="Wingdings" pitchFamily="2" charset="2"/>
              <a:buChar char="l"/>
            </a:pPr>
            <a:r>
              <a:rPr lang="zh-CN" altLang="en-US" sz="2000" b="1" dirty="0">
                <a:solidFill>
                  <a:srgbClr val="C00000"/>
                </a:solidFill>
                <a:latin typeface="微软雅黑" pitchFamily="34" charset="-122"/>
                <a:ea typeface="微软雅黑" pitchFamily="34" charset="-122"/>
              </a:rPr>
              <a:t>分布式系统</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信息分布在整个互联网上。每台主机上的文档都独立进行管理。</a:t>
            </a:r>
          </a:p>
        </p:txBody>
      </p:sp>
    </p:spTree>
    <p:extLst>
      <p:ext uri="{BB962C8B-B14F-4D97-AF65-F5344CB8AC3E}">
        <p14:creationId xmlns:p14="http://schemas.microsoft.com/office/powerpoint/2010/main" val="24101201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70739" y="588772"/>
            <a:ext cx="2621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    万维网的工作方式</a:t>
            </a:r>
          </a:p>
        </p:txBody>
      </p:sp>
      <p:sp>
        <p:nvSpPr>
          <p:cNvPr id="4" name="Rectangle 68"/>
          <p:cNvSpPr>
            <a:spLocks noChangeArrowheads="1"/>
          </p:cNvSpPr>
          <p:nvPr/>
        </p:nvSpPr>
        <p:spPr bwMode="auto">
          <a:xfrm>
            <a:off x="556962" y="987476"/>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以</a:t>
            </a:r>
            <a:r>
              <a:rPr lang="zh-CN" altLang="en-US" sz="2000" b="1" dirty="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方式工作。</a:t>
            </a: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客户程序：</a:t>
            </a:r>
            <a:r>
              <a:rPr lang="zh-CN" altLang="en-US" sz="2000" b="1" dirty="0">
                <a:solidFill>
                  <a:srgbClr val="0000FF"/>
                </a:solidFill>
                <a:latin typeface="微软雅黑" pitchFamily="34" charset="-122"/>
                <a:ea typeface="微软雅黑" pitchFamily="34" charset="-122"/>
              </a:rPr>
              <a:t>浏览器。</a:t>
            </a:r>
            <a:endParaRPr lang="en-US" altLang="zh-CN" sz="2000" b="1" dirty="0">
              <a:solidFill>
                <a:srgbClr val="0000FF"/>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服务器程序：</a:t>
            </a:r>
            <a:r>
              <a:rPr lang="zh-CN" altLang="en-US" sz="2000" b="1" dirty="0">
                <a:latin typeface="微软雅黑" pitchFamily="34" charset="-122"/>
                <a:ea typeface="微软雅黑" pitchFamily="34" charset="-122"/>
              </a:rPr>
              <a:t>在万维网文档所驻留的主机上运行。这个计算机也称为</a:t>
            </a:r>
            <a:r>
              <a:rPr lang="zh-CN" altLang="en-US" sz="2000" b="1" dirty="0">
                <a:solidFill>
                  <a:srgbClr val="0000FF"/>
                </a:solidFill>
                <a:latin typeface="微软雅黑" pitchFamily="34" charset="-122"/>
                <a:ea typeface="微软雅黑" pitchFamily="34" charset="-122"/>
              </a:rPr>
              <a:t>万维网服务器。</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客户程序向服务器程序发出请求，服务器程序向客户程序送回客户所要的</a:t>
            </a:r>
            <a:r>
              <a:rPr lang="zh-CN" altLang="en-US" sz="2000" b="1" dirty="0">
                <a:solidFill>
                  <a:srgbClr val="C00000"/>
                </a:solidFill>
                <a:latin typeface="微软雅黑" pitchFamily="34" charset="-122"/>
                <a:ea typeface="微软雅黑" pitchFamily="34" charset="-122"/>
              </a:rPr>
              <a:t>万维网文档。</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在一个客户程序主窗口上显示出的万维网文档称为</a:t>
            </a:r>
            <a:r>
              <a:rPr lang="zh-CN" altLang="en-US" sz="2000" b="1" dirty="0">
                <a:solidFill>
                  <a:srgbClr val="C00000"/>
                </a:solidFill>
                <a:latin typeface="微软雅黑" pitchFamily="34" charset="-122"/>
                <a:ea typeface="微软雅黑" pitchFamily="34" charset="-122"/>
              </a:rPr>
              <a:t>页面</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(page)</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7472700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28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89600"/>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万维网必须解决的问题（</a:t>
            </a:r>
            <a:r>
              <a:rPr lang="en-US" altLang="zh-CN" sz="2000" b="1" dirty="0">
                <a:solidFill>
                  <a:schemeClr val="bg1"/>
                </a:solidFill>
                <a:latin typeface="微软雅黑" pitchFamily="34" charset="-122"/>
                <a:ea typeface="微软雅黑" pitchFamily="34" charset="-122"/>
              </a:rPr>
              <a:t>1/2</a:t>
            </a:r>
            <a:r>
              <a:rPr lang="zh-CN" altLang="en-US" sz="2000" b="1" dirty="0">
                <a:solidFill>
                  <a:schemeClr val="bg1"/>
                </a:solidFill>
                <a:latin typeface="微软雅黑" pitchFamily="34" charset="-122"/>
                <a:ea typeface="微软雅黑" pitchFamily="34" charset="-122"/>
              </a:rPr>
              <a:t>）</a:t>
            </a:r>
          </a:p>
        </p:txBody>
      </p:sp>
      <p:sp>
        <p:nvSpPr>
          <p:cNvPr id="4" name="Rectangle 68"/>
          <p:cNvSpPr>
            <a:spLocks noChangeArrowheads="1"/>
          </p:cNvSpPr>
          <p:nvPr/>
        </p:nvSpPr>
        <p:spPr bwMode="auto">
          <a:xfrm>
            <a:off x="556964" y="988304"/>
            <a:ext cx="8048775"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itchFamily="34" charset="-122"/>
                <a:ea typeface="微软雅黑" pitchFamily="34" charset="-122"/>
              </a:rPr>
              <a:t>(1) </a:t>
            </a:r>
            <a:r>
              <a:rPr lang="zh-CN" altLang="en-US" sz="2000" b="1" dirty="0">
                <a:latin typeface="微软雅黑" pitchFamily="34" charset="-122"/>
                <a:ea typeface="微软雅黑" pitchFamily="34" charset="-122"/>
              </a:rPr>
              <a:t>怎样</a:t>
            </a:r>
            <a:r>
              <a:rPr lang="zh-CN" altLang="en-US" sz="2000" b="1" dirty="0">
                <a:solidFill>
                  <a:srgbClr val="C00000"/>
                </a:solidFill>
                <a:latin typeface="微软雅黑" pitchFamily="34" charset="-122"/>
                <a:ea typeface="微软雅黑" pitchFamily="34" charset="-122"/>
              </a:rPr>
              <a:t>标志</a:t>
            </a:r>
            <a:r>
              <a:rPr lang="zh-CN" altLang="en-US" sz="2000" b="1" dirty="0">
                <a:latin typeface="微软雅黑" pitchFamily="34" charset="-122"/>
                <a:ea typeface="微软雅黑" pitchFamily="34" charset="-122"/>
              </a:rPr>
              <a:t>分布在整个互联网上的万维网文档？ </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统一资源定位符 </a:t>
            </a:r>
            <a:r>
              <a:rPr lang="en-US" altLang="zh-CN" sz="2000" b="1" dirty="0">
                <a:solidFill>
                  <a:srgbClr val="C00000"/>
                </a:solidFill>
                <a:latin typeface="微软雅黑" pitchFamily="34" charset="-122"/>
                <a:ea typeface="微软雅黑" pitchFamily="34" charset="-122"/>
              </a:rPr>
              <a:t>URL </a:t>
            </a:r>
            <a:r>
              <a:rPr lang="en-US" altLang="zh-CN" sz="2000" b="1" dirty="0">
                <a:latin typeface="微软雅黑" pitchFamily="34" charset="-122"/>
                <a:ea typeface="微软雅黑" pitchFamily="34" charset="-122"/>
              </a:rPr>
              <a:t>(Uniform Resource Locator) </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使每一个文档在整个互联网的范围内具有</a:t>
            </a:r>
            <a:r>
              <a:rPr lang="zh-CN" altLang="en-US" sz="2000" b="1" dirty="0">
                <a:solidFill>
                  <a:srgbClr val="0000FF"/>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的标识符 </a:t>
            </a: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eaLnBrk="0" hangingPunct="0">
              <a:lnSpc>
                <a:spcPts val="3300"/>
              </a:lnSpc>
              <a:buClr>
                <a:srgbClr val="0070C0"/>
              </a:buClr>
            </a:pPr>
            <a:r>
              <a:rPr lang="en-US" altLang="zh-CN" sz="2000" b="1" dirty="0">
                <a:solidFill>
                  <a:srgbClr val="9900CC"/>
                </a:solidFill>
                <a:latin typeface="微软雅黑" pitchFamily="34" charset="-122"/>
                <a:ea typeface="微软雅黑" pitchFamily="34" charset="-122"/>
              </a:rPr>
              <a:t>(2) </a:t>
            </a:r>
            <a:r>
              <a:rPr lang="zh-CN" altLang="en-US" sz="2000" b="1" dirty="0">
                <a:latin typeface="微软雅黑" pitchFamily="34" charset="-122"/>
                <a:ea typeface="微软雅黑" pitchFamily="34" charset="-122"/>
              </a:rPr>
              <a:t>用什么</a:t>
            </a:r>
            <a:r>
              <a:rPr lang="zh-CN" altLang="en-US" sz="2000" b="1" dirty="0">
                <a:solidFill>
                  <a:srgbClr val="C00000"/>
                </a:solidFill>
                <a:latin typeface="微软雅黑" pitchFamily="34" charset="-122"/>
                <a:ea typeface="微软雅黑" pitchFamily="34" charset="-122"/>
              </a:rPr>
              <a:t>协议</a:t>
            </a:r>
            <a:r>
              <a:rPr lang="zh-CN" altLang="en-US" sz="2000" b="1" dirty="0">
                <a:latin typeface="微软雅黑" pitchFamily="34" charset="-122"/>
                <a:ea typeface="微软雅黑" pitchFamily="34" charset="-122"/>
              </a:rPr>
              <a:t>来实现万维网上的各种链接？ </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超文本传送协议 </a:t>
            </a:r>
            <a:r>
              <a:rPr lang="en-US" altLang="zh-CN" sz="2000" b="1" dirty="0">
                <a:solidFill>
                  <a:srgbClr val="C00000"/>
                </a:solidFill>
                <a:latin typeface="微软雅黑" pitchFamily="34" charset="-122"/>
                <a:ea typeface="微软雅黑" pitchFamily="34" charset="-122"/>
              </a:rPr>
              <a:t>HTTP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HyperText</a:t>
            </a:r>
            <a:r>
              <a:rPr lang="en-US" altLang="zh-CN" sz="2000" b="1" dirty="0">
                <a:latin typeface="微软雅黑" pitchFamily="34" charset="-122"/>
                <a:ea typeface="微软雅黑" pitchFamily="34" charset="-122"/>
              </a:rPr>
              <a:t> Transfer Protocol)</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是一个应用层协议，使用 </a:t>
            </a:r>
            <a:r>
              <a:rPr lang="en-US" altLang="zh-CN" sz="2000" b="1" dirty="0">
                <a:solidFill>
                  <a:srgbClr val="0000FF"/>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连接进行可靠的传送。 </a:t>
            </a:r>
          </a:p>
        </p:txBody>
      </p:sp>
    </p:spTree>
    <p:extLst>
      <p:ext uri="{BB962C8B-B14F-4D97-AF65-F5344CB8AC3E}">
        <p14:creationId xmlns:p14="http://schemas.microsoft.com/office/powerpoint/2010/main" val="27184637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46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97133"/>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万维网必须解决的问题（</a:t>
            </a:r>
            <a:r>
              <a:rPr lang="en-US" altLang="zh-CN" sz="2000" b="1" dirty="0">
                <a:solidFill>
                  <a:schemeClr val="bg1"/>
                </a:solidFill>
                <a:latin typeface="微软雅黑" pitchFamily="34" charset="-122"/>
                <a:ea typeface="微软雅黑" pitchFamily="34" charset="-122"/>
              </a:rPr>
              <a:t>2/2</a:t>
            </a:r>
            <a:r>
              <a:rPr lang="zh-CN" altLang="en-US" sz="2000" b="1" dirty="0">
                <a:solidFill>
                  <a:schemeClr val="bg1"/>
                </a:solidFill>
                <a:latin typeface="微软雅黑" pitchFamily="34" charset="-122"/>
                <a:ea typeface="微软雅黑" pitchFamily="34" charset="-122"/>
              </a:rPr>
              <a:t>）</a:t>
            </a:r>
          </a:p>
        </p:txBody>
      </p:sp>
      <p:sp>
        <p:nvSpPr>
          <p:cNvPr id="4" name="Rectangle 68"/>
          <p:cNvSpPr>
            <a:spLocks noChangeArrowheads="1"/>
          </p:cNvSpPr>
          <p:nvPr/>
        </p:nvSpPr>
        <p:spPr bwMode="auto">
          <a:xfrm>
            <a:off x="556963" y="97808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itchFamily="34" charset="-122"/>
                <a:ea typeface="微软雅黑" pitchFamily="34" charset="-122"/>
              </a:rPr>
              <a:t>(3) </a:t>
            </a:r>
            <a:r>
              <a:rPr lang="zh-CN" altLang="en-US" sz="2000" b="1" dirty="0">
                <a:latin typeface="微软雅黑" pitchFamily="34" charset="-122"/>
                <a:ea typeface="微软雅黑" pitchFamily="34" charset="-122"/>
              </a:rPr>
              <a:t>怎样使不同作者</a:t>
            </a:r>
            <a:r>
              <a:rPr lang="zh-CN" altLang="en-US" sz="2000" b="1" dirty="0">
                <a:solidFill>
                  <a:srgbClr val="C00000"/>
                </a:solidFill>
                <a:latin typeface="微软雅黑" pitchFamily="34" charset="-122"/>
                <a:ea typeface="微软雅黑" pitchFamily="34" charset="-122"/>
              </a:rPr>
              <a:t>创作</a:t>
            </a:r>
            <a:r>
              <a:rPr lang="zh-CN" altLang="en-US" sz="2000" b="1" dirty="0">
                <a:latin typeface="微软雅黑" pitchFamily="34" charset="-122"/>
                <a:ea typeface="微软雅黑" pitchFamily="34" charset="-122"/>
              </a:rPr>
              <a:t>的不同风格的万维网文档都能在互联网上的各种主机上</a:t>
            </a:r>
            <a:r>
              <a:rPr lang="zh-CN" altLang="en-US" sz="2000" b="1" dirty="0">
                <a:solidFill>
                  <a:srgbClr val="C00000"/>
                </a:solidFill>
                <a:latin typeface="微软雅黑" pitchFamily="34" charset="-122"/>
                <a:ea typeface="微软雅黑" pitchFamily="34" charset="-122"/>
              </a:rPr>
              <a:t>显示</a:t>
            </a:r>
            <a:r>
              <a:rPr lang="zh-CN" altLang="en-US" sz="2000" b="1" dirty="0">
                <a:latin typeface="微软雅黑" pitchFamily="34" charset="-122"/>
                <a:ea typeface="微软雅黑" pitchFamily="34" charset="-122"/>
              </a:rPr>
              <a:t>出来，同时使用户清楚地知道在什么地方存在着</a:t>
            </a:r>
            <a:r>
              <a:rPr lang="zh-CN" altLang="en-US" sz="2000" b="1" dirty="0">
                <a:solidFill>
                  <a:srgbClr val="C00000"/>
                </a:solidFill>
                <a:latin typeface="微软雅黑" pitchFamily="34" charset="-122"/>
                <a:ea typeface="微软雅黑" pitchFamily="34" charset="-122"/>
              </a:rPr>
              <a:t>链接</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超文本标记语言 </a:t>
            </a:r>
            <a:r>
              <a:rPr lang="en-US" altLang="zh-CN" sz="2000" b="1" dirty="0">
                <a:solidFill>
                  <a:srgbClr val="C00000"/>
                </a:solidFill>
                <a:latin typeface="微软雅黑" pitchFamily="34" charset="-122"/>
                <a:ea typeface="微软雅黑" pitchFamily="34" charset="-122"/>
              </a:rPr>
              <a:t>HTML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HyperText</a:t>
            </a:r>
            <a:r>
              <a:rPr lang="en-US" altLang="zh-CN" sz="2000" b="1" dirty="0">
                <a:latin typeface="微软雅黑" pitchFamily="34" charset="-122"/>
                <a:ea typeface="微软雅黑" pitchFamily="34" charset="-122"/>
              </a:rPr>
              <a:t> Markup Language)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eaLnBrk="0" hangingPunct="0">
              <a:lnSpc>
                <a:spcPts val="3300"/>
              </a:lnSpc>
              <a:buClr>
                <a:srgbClr val="0070C0"/>
              </a:buClr>
            </a:pPr>
            <a:r>
              <a:rPr lang="en-US" altLang="zh-CN" sz="2000" b="1" dirty="0">
                <a:solidFill>
                  <a:srgbClr val="9900CC"/>
                </a:solidFill>
                <a:latin typeface="微软雅黑" pitchFamily="34" charset="-122"/>
                <a:ea typeface="微软雅黑" pitchFamily="34" charset="-122"/>
              </a:rPr>
              <a:t>(4) </a:t>
            </a:r>
            <a:r>
              <a:rPr lang="zh-CN" altLang="en-US" sz="2000" b="1" dirty="0">
                <a:latin typeface="微软雅黑" pitchFamily="34" charset="-122"/>
                <a:ea typeface="微软雅黑" pitchFamily="34" charset="-122"/>
              </a:rPr>
              <a:t>怎样使用户能够很方便地</a:t>
            </a:r>
            <a:r>
              <a:rPr lang="zh-CN" altLang="en-US" sz="2000" b="1" dirty="0">
                <a:solidFill>
                  <a:srgbClr val="C00000"/>
                </a:solidFill>
                <a:latin typeface="微软雅黑" pitchFamily="34" charset="-122"/>
                <a:ea typeface="微软雅黑" pitchFamily="34" charset="-122"/>
              </a:rPr>
              <a:t>找到</a:t>
            </a:r>
            <a:r>
              <a:rPr lang="zh-CN" altLang="en-US" sz="2000" b="1" dirty="0">
                <a:latin typeface="微软雅黑" pitchFamily="34" charset="-122"/>
                <a:ea typeface="微软雅黑" pitchFamily="34" charset="-122"/>
              </a:rPr>
              <a:t>所需的信息？ </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使用各种的</a:t>
            </a:r>
            <a:r>
              <a:rPr lang="zh-CN" altLang="en-US" sz="2000" b="1" dirty="0">
                <a:solidFill>
                  <a:srgbClr val="C00000"/>
                </a:solidFill>
                <a:latin typeface="微软雅黑" pitchFamily="34" charset="-122"/>
                <a:ea typeface="微软雅黑" pitchFamily="34" charset="-122"/>
              </a:rPr>
              <a:t>搜索工具</a:t>
            </a:r>
            <a:r>
              <a:rPr lang="zh-CN" altLang="en-US" sz="2000" b="1" dirty="0">
                <a:latin typeface="微软雅黑" pitchFamily="34" charset="-122"/>
                <a:ea typeface="微软雅黑" pitchFamily="34" charset="-122"/>
              </a:rPr>
              <a:t>（即</a:t>
            </a:r>
            <a:r>
              <a:rPr lang="zh-CN" altLang="en-US" sz="2000" b="1" dirty="0">
                <a:solidFill>
                  <a:srgbClr val="0000FF"/>
                </a:solidFill>
                <a:latin typeface="微软雅黑" pitchFamily="34" charset="-122"/>
                <a:ea typeface="微软雅黑" pitchFamily="34" charset="-122"/>
              </a:rPr>
              <a:t>搜索引擎</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103384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455938" y="3566680"/>
            <a:ext cx="6507332" cy="93429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261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82516" y="570345"/>
            <a:ext cx="39789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6.4.2  </a:t>
            </a:r>
            <a:r>
              <a:rPr lang="zh-CN" altLang="en-US" sz="2400" b="1" dirty="0">
                <a:highlight>
                  <a:srgbClr val="FFFF00"/>
                </a:highlight>
                <a:latin typeface="微软雅黑" pitchFamily="34" charset="-122"/>
                <a:ea typeface="微软雅黑" pitchFamily="34" charset="-122"/>
              </a:rPr>
              <a:t>统一资源定位符 </a:t>
            </a:r>
            <a:r>
              <a:rPr lang="en-US" altLang="zh-CN" sz="2400" b="1" dirty="0">
                <a:highlight>
                  <a:srgbClr val="FFFF00"/>
                </a:highlight>
                <a:latin typeface="微软雅黑" pitchFamily="34" charset="-122"/>
                <a:ea typeface="微软雅黑" pitchFamily="34" charset="-122"/>
              </a:rPr>
              <a:t>URL</a:t>
            </a:r>
            <a:endParaRPr lang="zh-CN" altLang="en-US" sz="2400" b="1" dirty="0">
              <a:highlight>
                <a:srgbClr val="FFFF00"/>
              </a:highlight>
              <a:latin typeface="微软雅黑" pitchFamily="34" charset="-122"/>
              <a:ea typeface="微软雅黑" pitchFamily="34" charset="-122"/>
            </a:endParaRPr>
          </a:p>
        </p:txBody>
      </p:sp>
      <p:sp>
        <p:nvSpPr>
          <p:cNvPr id="7" name="Rectangle 68"/>
          <p:cNvSpPr>
            <a:spLocks noChangeArrowheads="1"/>
          </p:cNvSpPr>
          <p:nvPr/>
        </p:nvSpPr>
        <p:spPr bwMode="auto">
          <a:xfrm>
            <a:off x="556962" y="1012135"/>
            <a:ext cx="8152031" cy="25545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是对互联网上资源的位置和访问方法的一种</a:t>
            </a:r>
            <a:r>
              <a:rPr lang="zh-CN" altLang="en-US" sz="2000" b="1" dirty="0">
                <a:solidFill>
                  <a:srgbClr val="C00000"/>
                </a:solidFill>
                <a:latin typeface="微软雅黑" pitchFamily="34" charset="-122"/>
                <a:ea typeface="微软雅黑" pitchFamily="34" charset="-122"/>
              </a:rPr>
              <a:t>简洁表示。</a:t>
            </a: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给资源的位置提供一种</a:t>
            </a:r>
            <a:r>
              <a:rPr lang="zh-CN" altLang="en-US" sz="2000" b="1" dirty="0">
                <a:solidFill>
                  <a:srgbClr val="C00000"/>
                </a:solidFill>
                <a:latin typeface="微软雅黑" pitchFamily="34" charset="-122"/>
                <a:ea typeface="微软雅黑" pitchFamily="34" charset="-122"/>
              </a:rPr>
              <a:t>抽象</a:t>
            </a:r>
            <a:r>
              <a:rPr lang="zh-CN" altLang="en-US" sz="2000" b="1" dirty="0">
                <a:latin typeface="微软雅黑" pitchFamily="34" charset="-122"/>
                <a:ea typeface="微软雅黑" pitchFamily="34" charset="-122"/>
              </a:rPr>
              <a:t>的识别方法，并用这种方法给</a:t>
            </a:r>
            <a:r>
              <a:rPr lang="zh-CN" altLang="en-US" sz="2000" b="1" dirty="0">
                <a:solidFill>
                  <a:srgbClr val="C00000"/>
                </a:solidFill>
                <a:latin typeface="微软雅黑" pitchFamily="34" charset="-122"/>
                <a:ea typeface="微软雅黑" pitchFamily="34" charset="-122"/>
              </a:rPr>
              <a:t>资源定位。</a:t>
            </a: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实际上就是在互联网上的</a:t>
            </a:r>
            <a:r>
              <a:rPr lang="zh-CN" altLang="en-US" sz="2000" b="1" dirty="0">
                <a:solidFill>
                  <a:srgbClr val="C00000"/>
                </a:solidFill>
                <a:latin typeface="微软雅黑" pitchFamily="34" charset="-122"/>
                <a:ea typeface="微软雅黑" pitchFamily="34" charset="-122"/>
              </a:rPr>
              <a:t>资源的地址。</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显然，互联网上的所有资源，都有一个</a:t>
            </a:r>
            <a:r>
              <a:rPr lang="zh-CN" altLang="en-US" sz="2000" b="1" dirty="0">
                <a:solidFill>
                  <a:srgbClr val="C00000"/>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确定的</a:t>
            </a: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资源：</a:t>
            </a:r>
            <a:r>
              <a:rPr lang="zh-CN" altLang="en-US" sz="2000" b="1" dirty="0">
                <a:latin typeface="微软雅黑" pitchFamily="34" charset="-122"/>
                <a:ea typeface="微软雅黑" pitchFamily="34" charset="-122"/>
              </a:rPr>
              <a:t>指在互联网上可以被访问的任何对象，包括文件目录、文件、文档、图像、声音等，以及与互联网相连的</a:t>
            </a:r>
            <a:r>
              <a:rPr lang="zh-CN" altLang="en-US" sz="2000" b="1" dirty="0">
                <a:solidFill>
                  <a:srgbClr val="C00000"/>
                </a:solidFill>
                <a:latin typeface="微软雅黑" pitchFamily="34" charset="-122"/>
                <a:ea typeface="微软雅黑" pitchFamily="34" charset="-122"/>
              </a:rPr>
              <a:t>任何形式</a:t>
            </a:r>
            <a:r>
              <a:rPr lang="zh-CN" altLang="en-US" sz="2000" b="1" dirty="0">
                <a:latin typeface="微软雅黑" pitchFamily="34" charset="-122"/>
                <a:ea typeface="微软雅黑" pitchFamily="34" charset="-122"/>
              </a:rPr>
              <a:t>的数据。</a:t>
            </a:r>
            <a:endParaRPr lang="en-US" altLang="zh-CN" sz="2000" b="1" dirty="0">
              <a:latin typeface="微软雅黑" pitchFamily="34" charset="-122"/>
              <a:ea typeface="微软雅黑" pitchFamily="34" charset="-122"/>
            </a:endParaRPr>
          </a:p>
        </p:txBody>
      </p:sp>
      <p:sp>
        <p:nvSpPr>
          <p:cNvPr id="4" name="矩形 3"/>
          <p:cNvSpPr/>
          <p:nvPr/>
        </p:nvSpPr>
        <p:spPr>
          <a:xfrm>
            <a:off x="1655685" y="3664334"/>
            <a:ext cx="6121154" cy="730777"/>
          </a:xfrm>
          <a:prstGeom prst="rect">
            <a:avLst/>
          </a:prstGeom>
        </p:spPr>
        <p:txBody>
          <a:bodyPr wrap="square">
            <a:spAutoFit/>
          </a:bodyPr>
          <a:lstStyle/>
          <a:p>
            <a:pPr>
              <a:lnSpc>
                <a:spcPts val="2600"/>
              </a:lnSpc>
            </a:pPr>
            <a:r>
              <a:rPr lang="en-US" altLang="zh-CN" b="1" dirty="0">
                <a:solidFill>
                  <a:schemeClr val="bg1"/>
                </a:solidFill>
                <a:latin typeface="微软雅黑" panose="020B0503020204020204" pitchFamily="34" charset="-122"/>
                <a:ea typeface="微软雅黑" panose="020B0503020204020204" pitchFamily="34" charset="-122"/>
              </a:rPr>
              <a:t>URL </a:t>
            </a:r>
            <a:r>
              <a:rPr lang="zh-CN" altLang="en-US" b="1" dirty="0">
                <a:solidFill>
                  <a:schemeClr val="bg1"/>
                </a:solidFill>
                <a:latin typeface="微软雅黑" panose="020B0503020204020204" pitchFamily="34" charset="-122"/>
                <a:ea typeface="微软雅黑" panose="020B0503020204020204" pitchFamily="34" charset="-122"/>
              </a:rPr>
              <a:t>相当于一个文件名在网络范围的扩展。因此，</a:t>
            </a:r>
            <a:r>
              <a:rPr lang="en-US" altLang="zh-CN" b="1" dirty="0">
                <a:solidFill>
                  <a:schemeClr val="bg1"/>
                </a:solidFill>
                <a:latin typeface="微软雅黑" panose="020B0503020204020204" pitchFamily="34" charset="-122"/>
                <a:ea typeface="微软雅黑" panose="020B0503020204020204" pitchFamily="34" charset="-122"/>
              </a:rPr>
              <a:t>URL </a:t>
            </a:r>
            <a:r>
              <a:rPr lang="zh-CN" altLang="en-US" b="1" dirty="0">
                <a:solidFill>
                  <a:schemeClr val="bg1"/>
                </a:solidFill>
                <a:latin typeface="微软雅黑" panose="020B0503020204020204" pitchFamily="34" charset="-122"/>
                <a:ea typeface="微软雅黑" panose="020B0503020204020204" pitchFamily="34" charset="-122"/>
              </a:rPr>
              <a:t>是与互联网相连的机器上的任何可访问对象的一个指针。</a:t>
            </a:r>
          </a:p>
        </p:txBody>
      </p:sp>
    </p:spTree>
    <p:extLst>
      <p:ext uri="{BB962C8B-B14F-4D97-AF65-F5344CB8AC3E}">
        <p14:creationId xmlns:p14="http://schemas.microsoft.com/office/powerpoint/2010/main" val="9090690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由以冒号（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）隔开的两大部分组成，对字符大写或小写没有要求。</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一般形式：</a:t>
            </a: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highlight>
                  <a:srgbClr val="FFFF00"/>
                </a:highlight>
                <a:latin typeface="微软雅黑" pitchFamily="34" charset="-122"/>
                <a:ea typeface="微软雅黑" pitchFamily="34" charset="-122"/>
              </a:rPr>
              <a:t>&lt;</a:t>
            </a:r>
            <a:r>
              <a:rPr lang="zh-CN" altLang="en-US" sz="1800" b="1" dirty="0">
                <a:highlight>
                  <a:srgbClr val="FFFF00"/>
                </a:highlight>
                <a:latin typeface="微软雅黑" pitchFamily="34" charset="-122"/>
                <a:ea typeface="微软雅黑" pitchFamily="34" charset="-122"/>
              </a:rPr>
              <a:t>协议</a:t>
            </a:r>
            <a:r>
              <a:rPr lang="en-US" altLang="zh-CN" sz="1800" b="1" dirty="0">
                <a:highlight>
                  <a:srgbClr val="FFFF00"/>
                </a:highlight>
                <a:latin typeface="微软雅黑" pitchFamily="34" charset="-122"/>
                <a:ea typeface="微软雅黑" pitchFamily="34" charset="-122"/>
              </a:rPr>
              <a:t>&gt;://&lt;</a:t>
            </a:r>
            <a:r>
              <a:rPr lang="zh-CN" altLang="en-US" sz="1800" b="1" dirty="0">
                <a:highlight>
                  <a:srgbClr val="FFFF00"/>
                </a:highlight>
                <a:latin typeface="微软雅黑" pitchFamily="34" charset="-122"/>
                <a:ea typeface="微软雅黑" pitchFamily="34" charset="-122"/>
              </a:rPr>
              <a:t>主机</a:t>
            </a:r>
            <a:r>
              <a:rPr lang="en-US" altLang="zh-CN" sz="1800" b="1" dirty="0">
                <a:highlight>
                  <a:srgbClr val="FFFF00"/>
                </a:highlight>
                <a:latin typeface="微软雅黑" pitchFamily="34" charset="-122"/>
                <a:ea typeface="微软雅黑" pitchFamily="34" charset="-122"/>
              </a:rPr>
              <a:t>&gt;:&lt;</a:t>
            </a:r>
            <a:r>
              <a:rPr lang="zh-CN" altLang="en-US" sz="1800" b="1" dirty="0">
                <a:highlight>
                  <a:srgbClr val="FFFF00"/>
                </a:highlight>
                <a:latin typeface="微软雅黑" pitchFamily="34" charset="-122"/>
                <a:ea typeface="微软雅黑" pitchFamily="34" charset="-122"/>
              </a:rPr>
              <a:t>端口</a:t>
            </a:r>
            <a:r>
              <a:rPr lang="en-US" altLang="zh-CN" sz="1800" b="1" dirty="0">
                <a:highlight>
                  <a:srgbClr val="FFFF00"/>
                </a:highlight>
                <a:latin typeface="微软雅黑" pitchFamily="34" charset="-122"/>
                <a:ea typeface="微软雅黑" pitchFamily="34" charset="-122"/>
              </a:rPr>
              <a:t>&gt;/&lt;</a:t>
            </a:r>
            <a:r>
              <a:rPr lang="zh-CN" altLang="en-US" sz="1800" b="1" dirty="0">
                <a:highlight>
                  <a:srgbClr val="FFFF00"/>
                </a:highlight>
                <a:latin typeface="微软雅黑" pitchFamily="34" charset="-122"/>
                <a:ea typeface="微软雅黑" pitchFamily="34" charset="-122"/>
              </a:rPr>
              <a:t>路径</a:t>
            </a:r>
            <a:r>
              <a:rPr lang="en-US" altLang="zh-CN" sz="1800" b="1" dirty="0">
                <a:highlight>
                  <a:srgbClr val="FFFF00"/>
                </a:highlight>
                <a:latin typeface="微软雅黑" pitchFamily="34" charset="-122"/>
                <a:ea typeface="微软雅黑" pitchFamily="34" charset="-122"/>
              </a:rPr>
              <a:t>&gt; </a:t>
            </a:r>
          </a:p>
        </p:txBody>
      </p:sp>
      <p:grpSp>
        <p:nvGrpSpPr>
          <p:cNvPr id="11" name="Group 31"/>
          <p:cNvGrpSpPr>
            <a:grpSpLocks/>
          </p:cNvGrpSpPr>
          <p:nvPr/>
        </p:nvGrpSpPr>
        <p:grpSpPr bwMode="auto">
          <a:xfrm>
            <a:off x="2664707" y="2461614"/>
            <a:ext cx="4502625" cy="1319983"/>
            <a:chOff x="1519" y="2568"/>
            <a:chExt cx="4213" cy="1338"/>
          </a:xfrm>
        </p:grpSpPr>
        <p:sp>
          <p:nvSpPr>
            <p:cNvPr id="12" name="Line 26"/>
            <p:cNvSpPr>
              <a:spLocks noChangeShapeType="1"/>
            </p:cNvSpPr>
            <p:nvPr/>
          </p:nvSpPr>
          <p:spPr bwMode="auto">
            <a:xfrm>
              <a:off x="1519" y="2568"/>
              <a:ext cx="657"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3" name="Freeform 27"/>
            <p:cNvSpPr>
              <a:spLocks/>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4" name="AutoShape 28"/>
            <p:cNvSpPr>
              <a:spLocks/>
            </p:cNvSpPr>
            <p:nvPr/>
          </p:nvSpPr>
          <p:spPr bwMode="auto">
            <a:xfrm>
              <a:off x="2176" y="2841"/>
              <a:ext cx="82" cy="907"/>
            </a:xfrm>
            <a:prstGeom prst="leftBrace">
              <a:avLst>
                <a:gd name="adj1" fmla="val 92175"/>
                <a:gd name="adj2" fmla="val 50000"/>
              </a:avLst>
            </a:prstGeom>
            <a:noFill/>
            <a:ln w="28575">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solidFill>
                  <a:srgbClr val="000099"/>
                </a:solidFill>
                <a:latin typeface="微软雅黑" pitchFamily="34" charset="-122"/>
                <a:ea typeface="微软雅黑" pitchFamily="34" charset="-122"/>
              </a:endParaRPr>
            </a:p>
          </p:txBody>
        </p:sp>
        <p:sp>
          <p:nvSpPr>
            <p:cNvPr id="15" name="Text Box 29"/>
            <p:cNvSpPr txBox="1">
              <a:spLocks noChangeArrowheads="1"/>
            </p:cNvSpPr>
            <p:nvPr/>
          </p:nvSpPr>
          <p:spPr bwMode="auto">
            <a:xfrm>
              <a:off x="2328" y="2598"/>
              <a:ext cx="3404" cy="1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50000"/>
                </a:lnSpc>
              </a:pPr>
              <a:r>
                <a:rPr lang="en-US" altLang="zh-CN" sz="1800" b="1" dirty="0">
                  <a:solidFill>
                    <a:srgbClr val="000099"/>
                  </a:solidFill>
                  <a:latin typeface="微软雅黑" pitchFamily="34" charset="-122"/>
                  <a:ea typeface="微软雅黑" pitchFamily="34" charset="-122"/>
                </a:rPr>
                <a:t>ftp —— </a:t>
              </a:r>
              <a:r>
                <a:rPr lang="zh-CN" altLang="en-US" sz="1800" b="1" dirty="0">
                  <a:solidFill>
                    <a:srgbClr val="0000FF"/>
                  </a:solidFill>
                  <a:latin typeface="微软雅黑" pitchFamily="34" charset="-122"/>
                  <a:ea typeface="微软雅黑" pitchFamily="34" charset="-122"/>
                </a:rPr>
                <a:t>文件传送协议 </a:t>
              </a:r>
              <a:r>
                <a:rPr lang="en-US" altLang="zh-CN" sz="1800" b="1" dirty="0">
                  <a:solidFill>
                    <a:srgbClr val="0000FF"/>
                  </a:solidFill>
                  <a:latin typeface="微软雅黑" pitchFamily="34" charset="-122"/>
                  <a:ea typeface="微软雅黑" pitchFamily="34" charset="-122"/>
                </a:rPr>
                <a:t>FTP</a:t>
              </a:r>
            </a:p>
            <a:p>
              <a:pPr eaLnBrk="1" hangingPunct="1">
                <a:lnSpc>
                  <a:spcPct val="150000"/>
                </a:lnSpc>
              </a:pPr>
              <a:r>
                <a:rPr lang="en-US" altLang="zh-CN" sz="1800" b="1" dirty="0">
                  <a:solidFill>
                    <a:srgbClr val="000099"/>
                  </a:solidFill>
                  <a:latin typeface="微软雅黑" pitchFamily="34" charset="-122"/>
                  <a:ea typeface="微软雅黑" pitchFamily="34" charset="-122"/>
                </a:rPr>
                <a:t>http —— </a:t>
              </a:r>
              <a:r>
                <a:rPr lang="zh-CN" altLang="en-US" sz="1800" b="1" dirty="0">
                  <a:solidFill>
                    <a:srgbClr val="0000FF"/>
                  </a:solidFill>
                  <a:latin typeface="微软雅黑" pitchFamily="34" charset="-122"/>
                  <a:ea typeface="微软雅黑" pitchFamily="34" charset="-122"/>
                </a:rPr>
                <a:t>超文本传送协议 </a:t>
              </a:r>
              <a:r>
                <a:rPr lang="en-US" altLang="zh-CN" sz="1800" b="1" dirty="0">
                  <a:solidFill>
                    <a:srgbClr val="0000FF"/>
                  </a:solidFill>
                  <a:latin typeface="微软雅黑" pitchFamily="34" charset="-122"/>
                  <a:ea typeface="微软雅黑" pitchFamily="34" charset="-122"/>
                </a:rPr>
                <a:t>HTTP</a:t>
              </a:r>
            </a:p>
            <a:p>
              <a:pPr eaLnBrk="1" hangingPunct="1">
                <a:lnSpc>
                  <a:spcPct val="150000"/>
                </a:lnSpc>
              </a:pPr>
              <a:r>
                <a:rPr lang="en-US" altLang="zh-CN" sz="1800" b="1" dirty="0">
                  <a:solidFill>
                    <a:srgbClr val="000099"/>
                  </a:solidFill>
                  <a:latin typeface="微软雅黑" pitchFamily="34" charset="-122"/>
                  <a:ea typeface="微软雅黑" pitchFamily="34" charset="-122"/>
                </a:rPr>
                <a:t>News —— </a:t>
              </a:r>
              <a:r>
                <a:rPr lang="en-US" altLang="zh-CN" sz="1800" b="1" dirty="0">
                  <a:solidFill>
                    <a:srgbClr val="0000FF"/>
                  </a:solidFill>
                  <a:latin typeface="微软雅黑" pitchFamily="34" charset="-122"/>
                  <a:ea typeface="微软雅黑" pitchFamily="34" charset="-122"/>
                </a:rPr>
                <a:t>USENET </a:t>
              </a:r>
              <a:r>
                <a:rPr lang="zh-CN" altLang="en-US" sz="1800" b="1" dirty="0">
                  <a:solidFill>
                    <a:srgbClr val="0000FF"/>
                  </a:solidFill>
                  <a:latin typeface="微软雅黑" pitchFamily="34" charset="-122"/>
                  <a:ea typeface="微软雅黑" pitchFamily="34" charset="-122"/>
                </a:rPr>
                <a:t>新闻</a:t>
              </a:r>
            </a:p>
          </p:txBody>
        </p:sp>
      </p:grpSp>
    </p:spTree>
    <p:extLst>
      <p:ext uri="{BB962C8B-B14F-4D97-AF65-F5344CB8AC3E}">
        <p14:creationId xmlns:p14="http://schemas.microsoft.com/office/powerpoint/2010/main" val="3005833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由以冒号（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）隔开的两大部分组成，对字符大写或小写没有要求。</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一般形式：</a:t>
            </a: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主机</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6" name="Group 31"/>
          <p:cNvGrpSpPr>
            <a:grpSpLocks/>
          </p:cNvGrpSpPr>
          <p:nvPr/>
        </p:nvGrpSpPr>
        <p:grpSpPr bwMode="auto">
          <a:xfrm>
            <a:off x="3356099" y="2462962"/>
            <a:ext cx="1917338" cy="896766"/>
            <a:chOff x="1619" y="2568"/>
            <a:chExt cx="1794" cy="909"/>
          </a:xfrm>
        </p:grpSpPr>
        <p:sp>
          <p:nvSpPr>
            <p:cNvPr id="17" name="Line 26"/>
            <p:cNvSpPr>
              <a:spLocks noChangeShapeType="1"/>
            </p:cNvSpPr>
            <p:nvPr/>
          </p:nvSpPr>
          <p:spPr bwMode="auto">
            <a:xfrm>
              <a:off x="1619" y="2568"/>
              <a:ext cx="315"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Freeform 27"/>
            <p:cNvSpPr>
              <a:spLocks/>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9" name="Text Box 29"/>
            <p:cNvSpPr txBox="1">
              <a:spLocks noChangeArrowheads="1"/>
            </p:cNvSpPr>
            <p:nvPr/>
          </p:nvSpPr>
          <p:spPr bwMode="auto">
            <a:xfrm>
              <a:off x="2160" y="3103"/>
              <a:ext cx="1253" cy="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rgbClr val="000099"/>
                  </a:solidFill>
                  <a:latin typeface="微软雅黑" pitchFamily="34" charset="-122"/>
                  <a:ea typeface="微软雅黑" pitchFamily="34" charset="-122"/>
                </a:rPr>
                <a:t>规定的格式</a:t>
              </a:r>
            </a:p>
          </p:txBody>
        </p:sp>
      </p:grpSp>
    </p:spTree>
    <p:extLst>
      <p:ext uri="{BB962C8B-B14F-4D97-AF65-F5344CB8AC3E}">
        <p14:creationId xmlns:p14="http://schemas.microsoft.com/office/powerpoint/2010/main" val="27601295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由以冒号（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）隔开的两大部分组成，对字符大写或小写没有要求。</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一般形式：</a:t>
            </a: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主机</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1" name="Group 31"/>
          <p:cNvGrpSpPr>
            <a:grpSpLocks/>
          </p:cNvGrpSpPr>
          <p:nvPr/>
        </p:nvGrpSpPr>
        <p:grpSpPr bwMode="auto">
          <a:xfrm>
            <a:off x="3748368" y="2462962"/>
            <a:ext cx="3776963" cy="1273622"/>
            <a:chOff x="1899" y="2568"/>
            <a:chExt cx="3534" cy="1291"/>
          </a:xfrm>
        </p:grpSpPr>
        <p:sp>
          <p:nvSpPr>
            <p:cNvPr id="12" name="Line 26"/>
            <p:cNvSpPr>
              <a:spLocks noChangeShapeType="1"/>
            </p:cNvSpPr>
            <p:nvPr/>
          </p:nvSpPr>
          <p:spPr bwMode="auto">
            <a:xfrm>
              <a:off x="1899" y="2568"/>
              <a:ext cx="64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3" name="Freeform 27"/>
            <p:cNvSpPr>
              <a:spLocks/>
            </p:cNvSpPr>
            <p:nvPr/>
          </p:nvSpPr>
          <p:spPr bwMode="auto">
            <a:xfrm>
              <a:off x="2246"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4" name="Text Box 29"/>
            <p:cNvSpPr txBox="1">
              <a:spLocks noChangeArrowheads="1"/>
            </p:cNvSpPr>
            <p:nvPr/>
          </p:nvSpPr>
          <p:spPr bwMode="auto">
            <a:xfrm>
              <a:off x="2595" y="2923"/>
              <a:ext cx="2838" cy="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rgbClr val="000099"/>
                  </a:solidFill>
                  <a:latin typeface="微软雅黑" pitchFamily="34" charset="-122"/>
                  <a:ea typeface="微软雅黑" pitchFamily="34" charset="-122"/>
                </a:rPr>
                <a:t>存放资源的主机在互联网中的域名，也可以是用点分十进制的 </a:t>
              </a:r>
              <a:r>
                <a:rPr lang="en-US" altLang="zh-CN" sz="1800" b="1" dirty="0">
                  <a:solidFill>
                    <a:srgbClr val="000099"/>
                  </a:solidFill>
                  <a:latin typeface="微软雅黑" pitchFamily="34" charset="-122"/>
                  <a:ea typeface="微软雅黑" pitchFamily="34" charset="-122"/>
                </a:rPr>
                <a:t>IP </a:t>
              </a:r>
              <a:r>
                <a:rPr lang="zh-CN" altLang="en-US" sz="1800" b="1" dirty="0">
                  <a:solidFill>
                    <a:srgbClr val="000099"/>
                  </a:solidFill>
                  <a:latin typeface="微软雅黑" pitchFamily="34" charset="-122"/>
                  <a:ea typeface="微软雅黑" pitchFamily="34" charset="-122"/>
                </a:rPr>
                <a:t>地址。</a:t>
              </a:r>
            </a:p>
          </p:txBody>
        </p:sp>
      </p:grpSp>
    </p:spTree>
    <p:extLst>
      <p:ext uri="{BB962C8B-B14F-4D97-AF65-F5344CB8AC3E}">
        <p14:creationId xmlns:p14="http://schemas.microsoft.com/office/powerpoint/2010/main" val="28733412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由以冒号（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）隔开的两大部分组成，对字符大写或小写没有要求。</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一般形式：</a:t>
            </a: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主机</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5" name="Group 31"/>
          <p:cNvGrpSpPr>
            <a:grpSpLocks/>
          </p:cNvGrpSpPr>
          <p:nvPr/>
        </p:nvGrpSpPr>
        <p:grpSpPr bwMode="auto">
          <a:xfrm>
            <a:off x="4593834" y="2462962"/>
            <a:ext cx="2730656" cy="1173984"/>
            <a:chOff x="1467" y="2568"/>
            <a:chExt cx="2555" cy="1190"/>
          </a:xfrm>
        </p:grpSpPr>
        <p:sp>
          <p:nvSpPr>
            <p:cNvPr id="16" name="Line 26"/>
            <p:cNvSpPr>
              <a:spLocks noChangeShapeType="1"/>
            </p:cNvSpPr>
            <p:nvPr/>
          </p:nvSpPr>
          <p:spPr bwMode="auto">
            <a:xfrm>
              <a:off x="1467" y="2568"/>
              <a:ext cx="70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7" name="Freeform 27"/>
            <p:cNvSpPr>
              <a:spLocks/>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Text Box 29"/>
            <p:cNvSpPr txBox="1">
              <a:spLocks noChangeArrowheads="1"/>
            </p:cNvSpPr>
            <p:nvPr/>
          </p:nvSpPr>
          <p:spPr bwMode="auto">
            <a:xfrm>
              <a:off x="2169" y="3103"/>
              <a:ext cx="1853" cy="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rgbClr val="000099"/>
                  </a:solidFill>
                  <a:latin typeface="微软雅黑" pitchFamily="34" charset="-122"/>
                  <a:ea typeface="微软雅黑" pitchFamily="34" charset="-122"/>
                </a:rPr>
                <a:t>端口号。省略时使用默认端口号。</a:t>
              </a:r>
            </a:p>
          </p:txBody>
        </p:sp>
      </p:grpSp>
    </p:spTree>
    <p:extLst>
      <p:ext uri="{BB962C8B-B14F-4D97-AF65-F5344CB8AC3E}">
        <p14:creationId xmlns:p14="http://schemas.microsoft.com/office/powerpoint/2010/main" val="16604628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URL </a:t>
            </a:r>
            <a:r>
              <a:rPr lang="zh-CN" altLang="en-US" sz="2000" b="1" dirty="0">
                <a:solidFill>
                  <a:schemeClr val="bg1"/>
                </a:solidFill>
                <a:latin typeface="微软雅黑" pitchFamily="34" charset="-122"/>
                <a:ea typeface="微软雅黑" pitchFamily="34" charset="-122"/>
              </a:rPr>
              <a:t>的格式</a:t>
            </a: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由以冒号（</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）隔开的两大部分组成，对字符大写或小写没有要求。</a:t>
            </a:r>
          </a:p>
          <a:p>
            <a:pPr marL="285750" indent="-28575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一般形式：</a:t>
            </a: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800" b="1" dirty="0">
                <a:solidFill>
                  <a:schemeClr val="bg1"/>
                </a:solidFill>
                <a:latin typeface="微软雅黑" pitchFamily="34" charset="-122"/>
                <a:ea typeface="微软雅黑" pitchFamily="34" charset="-122"/>
              </a:rPr>
              <a:t>&lt;</a:t>
            </a:r>
            <a:r>
              <a:rPr lang="zh-CN" altLang="en-US" sz="1800" b="1" dirty="0">
                <a:solidFill>
                  <a:schemeClr val="bg1"/>
                </a:solidFill>
                <a:latin typeface="微软雅黑" pitchFamily="34" charset="-122"/>
                <a:ea typeface="微软雅黑" pitchFamily="34" charset="-122"/>
              </a:rPr>
              <a:t>协议</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主机</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端口</a:t>
            </a:r>
            <a:r>
              <a:rPr lang="en-US" altLang="zh-CN" sz="1800" b="1" dirty="0">
                <a:solidFill>
                  <a:schemeClr val="bg1"/>
                </a:solidFill>
                <a:latin typeface="微软雅黑" pitchFamily="34" charset="-122"/>
                <a:ea typeface="微软雅黑" pitchFamily="34" charset="-122"/>
              </a:rPr>
              <a:t>&gt;/&lt;</a:t>
            </a:r>
            <a:r>
              <a:rPr lang="zh-CN" altLang="en-US" sz="1800" b="1" dirty="0">
                <a:solidFill>
                  <a:schemeClr val="bg1"/>
                </a:solidFill>
                <a:latin typeface="微软雅黑" pitchFamily="34" charset="-122"/>
                <a:ea typeface="微软雅黑" pitchFamily="34" charset="-122"/>
              </a:rPr>
              <a:t>路径</a:t>
            </a:r>
            <a:r>
              <a:rPr lang="en-US" altLang="zh-CN" sz="1800" b="1" dirty="0">
                <a:solidFill>
                  <a:schemeClr val="bg1"/>
                </a:solidFill>
                <a:latin typeface="微软雅黑" pitchFamily="34" charset="-122"/>
                <a:ea typeface="微软雅黑" pitchFamily="34" charset="-122"/>
              </a:rPr>
              <a:t>&gt; </a:t>
            </a:r>
          </a:p>
        </p:txBody>
      </p:sp>
      <p:grpSp>
        <p:nvGrpSpPr>
          <p:cNvPr id="15" name="Group 31"/>
          <p:cNvGrpSpPr>
            <a:grpSpLocks/>
          </p:cNvGrpSpPr>
          <p:nvPr/>
        </p:nvGrpSpPr>
        <p:grpSpPr bwMode="auto">
          <a:xfrm>
            <a:off x="5511255" y="2462961"/>
            <a:ext cx="2940131" cy="1402861"/>
            <a:chOff x="1467" y="2568"/>
            <a:chExt cx="2751" cy="1422"/>
          </a:xfrm>
        </p:grpSpPr>
        <p:sp>
          <p:nvSpPr>
            <p:cNvPr id="16" name="Line 26"/>
            <p:cNvSpPr>
              <a:spLocks noChangeShapeType="1"/>
            </p:cNvSpPr>
            <p:nvPr/>
          </p:nvSpPr>
          <p:spPr bwMode="auto">
            <a:xfrm>
              <a:off x="1467" y="2568"/>
              <a:ext cx="702"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7" name="Freeform 27"/>
            <p:cNvSpPr>
              <a:spLocks/>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sp>
          <p:nvSpPr>
            <p:cNvPr id="18" name="Text Box 29"/>
            <p:cNvSpPr txBox="1">
              <a:spLocks noChangeArrowheads="1"/>
            </p:cNvSpPr>
            <p:nvPr/>
          </p:nvSpPr>
          <p:spPr bwMode="auto">
            <a:xfrm>
              <a:off x="2169" y="2649"/>
              <a:ext cx="2049" cy="1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a:solidFill>
                    <a:srgbClr val="000099"/>
                  </a:solidFill>
                  <a:latin typeface="微软雅黑" pitchFamily="34" charset="-122"/>
                  <a:ea typeface="微软雅黑" pitchFamily="34" charset="-122"/>
                </a:rPr>
                <a:t>资源所在目录位置。区分大小写。省略时使用所定义的默认路径。后面可能还有一些选项。</a:t>
              </a:r>
            </a:p>
          </p:txBody>
        </p:sp>
      </p:grpSp>
    </p:spTree>
    <p:extLst>
      <p:ext uri="{BB962C8B-B14F-4D97-AF65-F5344CB8AC3E}">
        <p14:creationId xmlns:p14="http://schemas.microsoft.com/office/powerpoint/2010/main" val="35363976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56963" y="1010569"/>
            <a:ext cx="8048776" cy="34371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56963" y="6104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22360" y="577248"/>
            <a:ext cx="27179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highlight>
                  <a:srgbClr val="FFFF00"/>
                </a:highlight>
                <a:latin typeface="微软雅黑" pitchFamily="34" charset="-122"/>
                <a:ea typeface="微软雅黑" pitchFamily="34" charset="-122"/>
              </a:rPr>
              <a:t>使用 </a:t>
            </a:r>
            <a:r>
              <a:rPr lang="en-US" altLang="zh-CN" sz="2000" b="1" dirty="0">
                <a:highlight>
                  <a:srgbClr val="FFFF00"/>
                </a:highlight>
                <a:latin typeface="微软雅黑" pitchFamily="34" charset="-122"/>
                <a:ea typeface="微软雅黑" pitchFamily="34" charset="-122"/>
              </a:rPr>
              <a:t>HTTP </a:t>
            </a:r>
            <a:r>
              <a:rPr lang="zh-CN" altLang="en-US" sz="2000" b="1" dirty="0">
                <a:highlight>
                  <a:srgbClr val="FFFF00"/>
                </a:highlight>
                <a:latin typeface="微软雅黑" pitchFamily="34" charset="-122"/>
                <a:ea typeface="微软雅黑" pitchFamily="34" charset="-122"/>
              </a:rPr>
              <a:t>的 </a:t>
            </a:r>
            <a:r>
              <a:rPr lang="en-US" altLang="zh-CN" sz="2000" b="1" dirty="0">
                <a:highlight>
                  <a:srgbClr val="FFFF00"/>
                </a:highlight>
                <a:latin typeface="微软雅黑" pitchFamily="34" charset="-122"/>
                <a:ea typeface="微软雅黑" pitchFamily="34" charset="-122"/>
              </a:rPr>
              <a:t>URL</a:t>
            </a:r>
            <a:endParaRPr lang="zh-CN" altLang="en-US" sz="2000" b="1" dirty="0">
              <a:highlight>
                <a:srgbClr val="FFFF00"/>
              </a:highlight>
              <a:latin typeface="微软雅黑" pitchFamily="34" charset="-122"/>
              <a:ea typeface="微软雅黑" pitchFamily="34" charset="-122"/>
            </a:endParaRPr>
          </a:p>
        </p:txBody>
      </p:sp>
      <p:sp>
        <p:nvSpPr>
          <p:cNvPr id="2" name="矩形 1"/>
          <p:cNvSpPr/>
          <p:nvPr/>
        </p:nvSpPr>
        <p:spPr>
          <a:xfrm>
            <a:off x="2427331" y="2390985"/>
            <a:ext cx="3650358" cy="369332"/>
          </a:xfrm>
          <a:prstGeom prst="rect">
            <a:avLst/>
          </a:prstGeom>
          <a:solidFill>
            <a:srgbClr val="0000FF"/>
          </a:solidFill>
        </p:spPr>
        <p:txBody>
          <a:bodyPr wrap="none">
            <a:spAutoFit/>
          </a:bodyPr>
          <a:lstStyle/>
          <a:p>
            <a:pPr algn="ctr" eaLnBrk="0" hangingPunct="0">
              <a:buClr>
                <a:srgbClr val="0070C0"/>
              </a:buClr>
            </a:pPr>
            <a:r>
              <a:rPr lang="en-US" altLang="zh-CN" b="1" dirty="0">
                <a:solidFill>
                  <a:schemeClr val="bg1"/>
                </a:solidFill>
                <a:latin typeface="微软雅黑" pitchFamily="34" charset="-122"/>
                <a:ea typeface="微软雅黑" pitchFamily="34" charset="-122"/>
              </a:rPr>
              <a:t>http://&lt;</a:t>
            </a:r>
            <a:r>
              <a:rPr lang="zh-CN" altLang="en-US" b="1" dirty="0">
                <a:solidFill>
                  <a:schemeClr val="bg1"/>
                </a:solidFill>
                <a:latin typeface="微软雅黑" pitchFamily="34" charset="-122"/>
                <a:ea typeface="微软雅黑" pitchFamily="34" charset="-122"/>
              </a:rPr>
              <a:t>主机</a:t>
            </a:r>
            <a:r>
              <a:rPr lang="en-US" altLang="zh-CN" b="1" dirty="0">
                <a:solidFill>
                  <a:schemeClr val="bg1"/>
                </a:solidFill>
                <a:latin typeface="微软雅黑" pitchFamily="34" charset="-122"/>
                <a:ea typeface="微软雅黑" pitchFamily="34" charset="-122"/>
              </a:rPr>
              <a:t>&gt;:&lt;</a:t>
            </a:r>
            <a:r>
              <a:rPr lang="zh-CN" altLang="en-US" b="1" dirty="0">
                <a:solidFill>
                  <a:schemeClr val="bg1"/>
                </a:solidFill>
                <a:latin typeface="微软雅黑" pitchFamily="34" charset="-122"/>
                <a:ea typeface="微软雅黑" pitchFamily="34" charset="-122"/>
              </a:rPr>
              <a:t>端口</a:t>
            </a:r>
            <a:r>
              <a:rPr lang="en-US" altLang="zh-CN" b="1" dirty="0">
                <a:solidFill>
                  <a:schemeClr val="bg1"/>
                </a:solidFill>
                <a:latin typeface="微软雅黑" pitchFamily="34" charset="-122"/>
                <a:ea typeface="微软雅黑" pitchFamily="34" charset="-122"/>
              </a:rPr>
              <a:t>&gt;/&lt;</a:t>
            </a:r>
            <a:r>
              <a:rPr lang="zh-CN" altLang="en-US" b="1" dirty="0">
                <a:solidFill>
                  <a:schemeClr val="bg1"/>
                </a:solidFill>
                <a:latin typeface="微软雅黑" pitchFamily="34" charset="-122"/>
                <a:ea typeface="微软雅黑" pitchFamily="34" charset="-122"/>
              </a:rPr>
              <a:t>路径</a:t>
            </a:r>
            <a:r>
              <a:rPr lang="en-US" altLang="zh-CN" b="1" dirty="0">
                <a:solidFill>
                  <a:schemeClr val="bg1"/>
                </a:solidFill>
                <a:latin typeface="微软雅黑" pitchFamily="34" charset="-122"/>
                <a:ea typeface="微软雅黑" pitchFamily="34" charset="-122"/>
              </a:rPr>
              <a:t>&gt; </a:t>
            </a:r>
          </a:p>
        </p:txBody>
      </p:sp>
      <p:grpSp>
        <p:nvGrpSpPr>
          <p:cNvPr id="12" name="Group 9"/>
          <p:cNvGrpSpPr>
            <a:grpSpLocks/>
          </p:cNvGrpSpPr>
          <p:nvPr/>
        </p:nvGrpSpPr>
        <p:grpSpPr bwMode="auto">
          <a:xfrm>
            <a:off x="2458569" y="1029707"/>
            <a:ext cx="1899003" cy="1758800"/>
            <a:chOff x="1134" y="529"/>
            <a:chExt cx="1491" cy="1496"/>
          </a:xfrm>
        </p:grpSpPr>
        <p:grpSp>
          <p:nvGrpSpPr>
            <p:cNvPr id="13" name="Group 5"/>
            <p:cNvGrpSpPr>
              <a:grpSpLocks/>
            </p:cNvGrpSpPr>
            <p:nvPr/>
          </p:nvGrpSpPr>
          <p:grpSpPr bwMode="auto">
            <a:xfrm>
              <a:off x="1134" y="817"/>
              <a:ext cx="443" cy="1208"/>
              <a:chOff x="1140" y="723"/>
              <a:chExt cx="325" cy="1208"/>
            </a:xfrm>
          </p:grpSpPr>
          <p:sp>
            <p:nvSpPr>
              <p:cNvPr id="15" name="Rectangle 6"/>
              <p:cNvSpPr>
                <a:spLocks noChangeArrowheads="1"/>
              </p:cNvSpPr>
              <p:nvPr/>
            </p:nvSpPr>
            <p:spPr bwMode="auto">
              <a:xfrm>
                <a:off x="1140" y="1570"/>
                <a:ext cx="325"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16" name="Line 7"/>
              <p:cNvSpPr>
                <a:spLocks noChangeShapeType="1"/>
              </p:cNvSpPr>
              <p:nvPr/>
            </p:nvSpPr>
            <p:spPr bwMode="auto">
              <a:xfrm flipV="1">
                <a:off x="1303" y="723"/>
                <a:ext cx="0" cy="847"/>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14" name="Text Box 8"/>
            <p:cNvSpPr txBox="1">
              <a:spLocks noChangeArrowheads="1"/>
            </p:cNvSpPr>
            <p:nvPr/>
          </p:nvSpPr>
          <p:spPr bwMode="auto">
            <a:xfrm>
              <a:off x="1136" y="529"/>
              <a:ext cx="1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99"/>
                  </a:solidFill>
                  <a:latin typeface="微软雅黑" pitchFamily="34" charset="-122"/>
                  <a:ea typeface="微软雅黑" pitchFamily="34" charset="-122"/>
                </a:rPr>
                <a:t>使用 </a:t>
              </a:r>
              <a:r>
                <a:rPr lang="en-US" altLang="zh-CN" sz="1600" b="1" dirty="0">
                  <a:solidFill>
                    <a:srgbClr val="000099"/>
                  </a:solidFill>
                  <a:latin typeface="微软雅黑" pitchFamily="34" charset="-122"/>
                  <a:ea typeface="微软雅黑" pitchFamily="34" charset="-122"/>
                </a:rPr>
                <a:t>HTTP </a:t>
              </a:r>
              <a:r>
                <a:rPr lang="zh-CN" altLang="en-US" sz="1600" b="1" dirty="0">
                  <a:solidFill>
                    <a:srgbClr val="000099"/>
                  </a:solidFill>
                  <a:latin typeface="微软雅黑" pitchFamily="34" charset="-122"/>
                  <a:ea typeface="微软雅黑" pitchFamily="34" charset="-122"/>
                </a:rPr>
                <a:t>协议。</a:t>
              </a:r>
            </a:p>
          </p:txBody>
        </p:sp>
      </p:grpSp>
      <p:grpSp>
        <p:nvGrpSpPr>
          <p:cNvPr id="17" name="组合 16"/>
          <p:cNvGrpSpPr/>
          <p:nvPr/>
        </p:nvGrpSpPr>
        <p:grpSpPr>
          <a:xfrm>
            <a:off x="897028" y="3736373"/>
            <a:ext cx="7436338" cy="711340"/>
            <a:chOff x="265563" y="3877237"/>
            <a:chExt cx="10483512" cy="1002823"/>
          </a:xfrm>
        </p:grpSpPr>
        <p:sp>
          <p:nvSpPr>
            <p:cNvPr id="18" name="矩形 17"/>
            <p:cNvSpPr/>
            <p:nvPr/>
          </p:nvSpPr>
          <p:spPr>
            <a:xfrm>
              <a:off x="265563" y="3877237"/>
              <a:ext cx="10483512" cy="433894"/>
            </a:xfrm>
            <a:prstGeom prst="rect">
              <a:avLst/>
            </a:prstGeom>
          </p:spPr>
          <p:txBody>
            <a:bodyPr wrap="square">
              <a:spAutoFit/>
            </a:bodyPr>
            <a:lstStyle/>
            <a:p>
              <a:r>
                <a:rPr lang="en-US" altLang="zh-CN" sz="1400" b="1" dirty="0">
                  <a:highlight>
                    <a:srgbClr val="FFFF00"/>
                  </a:highlight>
                  <a:latin typeface="微软雅黑" pitchFamily="34" charset="-122"/>
                  <a:ea typeface="微软雅黑" pitchFamily="34" charset="-122"/>
                  <a:cs typeface="Times New Roman" pitchFamily="18" charset="0"/>
                </a:rPr>
                <a:t>http://www.tsinghua.edu.cn/publish/newthu/newthu_cnt/faculties/index.html</a:t>
              </a:r>
              <a:endParaRPr lang="zh-CN" altLang="zh-CN" sz="1400" b="1" dirty="0">
                <a:highlight>
                  <a:srgbClr val="FFFF00"/>
                </a:highlight>
                <a:latin typeface="微软雅黑" pitchFamily="34" charset="-122"/>
                <a:ea typeface="微软雅黑" pitchFamily="34" charset="-122"/>
                <a:cs typeface="Times New Roman" pitchFamily="18" charset="0"/>
              </a:endParaRPr>
            </a:p>
          </p:txBody>
        </p:sp>
        <p:sp>
          <p:nvSpPr>
            <p:cNvPr id="19" name="左大括号 18"/>
            <p:cNvSpPr/>
            <p:nvPr/>
          </p:nvSpPr>
          <p:spPr>
            <a:xfrm rot="16200000">
              <a:off x="2463162" y="3024028"/>
              <a:ext cx="165502" cy="2592000"/>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itchFamily="34" charset="-122"/>
                <a:ea typeface="微软雅黑" pitchFamily="34" charset="-122"/>
              </a:endParaRPr>
            </a:p>
          </p:txBody>
        </p:sp>
        <p:sp>
          <p:nvSpPr>
            <p:cNvPr id="20" name="左大括号 19"/>
            <p:cNvSpPr/>
            <p:nvPr/>
          </p:nvSpPr>
          <p:spPr>
            <a:xfrm rot="16200000">
              <a:off x="7059606" y="1234436"/>
              <a:ext cx="165505" cy="6171181"/>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itchFamily="34" charset="-122"/>
                <a:ea typeface="微软雅黑" pitchFamily="34" charset="-122"/>
              </a:endParaRPr>
            </a:p>
          </p:txBody>
        </p:sp>
        <p:sp>
          <p:nvSpPr>
            <p:cNvPr id="21" name="TextBox 17"/>
            <p:cNvSpPr txBox="1"/>
            <p:nvPr/>
          </p:nvSpPr>
          <p:spPr>
            <a:xfrm>
              <a:off x="1830183" y="4402778"/>
              <a:ext cx="1417385" cy="477282"/>
            </a:xfrm>
            <a:prstGeom prst="rect">
              <a:avLst/>
            </a:prstGeom>
            <a:noFill/>
          </p:spPr>
          <p:txBody>
            <a:bodyPr wrap="none" rtlCol="0">
              <a:spAutoFit/>
            </a:bodyPr>
            <a:lstStyle/>
            <a:p>
              <a:r>
                <a:rPr lang="zh-CN" altLang="en-US" sz="1600" b="1" dirty="0">
                  <a:solidFill>
                    <a:srgbClr val="0000FF"/>
                  </a:solidFill>
                  <a:latin typeface="微软雅黑" pitchFamily="34" charset="-122"/>
                  <a:ea typeface="微软雅黑" pitchFamily="34" charset="-122"/>
                </a:rPr>
                <a:t>主机域名</a:t>
              </a:r>
            </a:p>
          </p:txBody>
        </p:sp>
        <p:sp>
          <p:nvSpPr>
            <p:cNvPr id="22" name="TextBox 18"/>
            <p:cNvSpPr txBox="1"/>
            <p:nvPr/>
          </p:nvSpPr>
          <p:spPr>
            <a:xfrm>
              <a:off x="6559571" y="4402777"/>
              <a:ext cx="1469070" cy="477282"/>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r>
                <a:rPr lang="zh-CN" altLang="en-US" sz="1600" dirty="0">
                  <a:solidFill>
                    <a:srgbClr val="0000FF"/>
                  </a:solidFill>
                  <a:latin typeface="微软雅黑" pitchFamily="34" charset="-122"/>
                  <a:ea typeface="微软雅黑" pitchFamily="34" charset="-122"/>
                </a:rPr>
                <a:t>路径名</a:t>
              </a:r>
            </a:p>
          </p:txBody>
        </p:sp>
      </p:grpSp>
      <p:grpSp>
        <p:nvGrpSpPr>
          <p:cNvPr id="28" name="Group 9"/>
          <p:cNvGrpSpPr>
            <a:grpSpLocks/>
          </p:cNvGrpSpPr>
          <p:nvPr/>
        </p:nvGrpSpPr>
        <p:grpSpPr bwMode="auto">
          <a:xfrm>
            <a:off x="2920865" y="1322749"/>
            <a:ext cx="1416291" cy="1466052"/>
            <a:chOff x="1207" y="782"/>
            <a:chExt cx="1112" cy="1247"/>
          </a:xfrm>
        </p:grpSpPr>
        <p:grpSp>
          <p:nvGrpSpPr>
            <p:cNvPr id="29" name="Group 5"/>
            <p:cNvGrpSpPr>
              <a:grpSpLocks/>
            </p:cNvGrpSpPr>
            <p:nvPr/>
          </p:nvGrpSpPr>
          <p:grpSpPr bwMode="auto">
            <a:xfrm>
              <a:off x="1289" y="1046"/>
              <a:ext cx="248" cy="983"/>
              <a:chOff x="1254" y="952"/>
              <a:chExt cx="182" cy="983"/>
            </a:xfrm>
          </p:grpSpPr>
          <p:sp>
            <p:nvSpPr>
              <p:cNvPr id="31" name="Rectangle 6"/>
              <p:cNvSpPr>
                <a:spLocks noChangeArrowheads="1"/>
              </p:cNvSpPr>
              <p:nvPr/>
            </p:nvSpPr>
            <p:spPr bwMode="auto">
              <a:xfrm>
                <a:off x="1254" y="1574"/>
                <a:ext cx="182"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32" name="Line 7"/>
              <p:cNvSpPr>
                <a:spLocks noChangeShapeType="1"/>
              </p:cNvSpPr>
              <p:nvPr/>
            </p:nvSpPr>
            <p:spPr bwMode="auto">
              <a:xfrm flipV="1">
                <a:off x="1343" y="952"/>
                <a:ext cx="0" cy="613"/>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30" name="Text Box 8"/>
            <p:cNvSpPr txBox="1">
              <a:spLocks noChangeArrowheads="1"/>
            </p:cNvSpPr>
            <p:nvPr/>
          </p:nvSpPr>
          <p:spPr bwMode="auto">
            <a:xfrm>
              <a:off x="1207" y="782"/>
              <a:ext cx="11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a:solidFill>
                    <a:srgbClr val="000099"/>
                  </a:solidFill>
                  <a:latin typeface="微软雅黑" pitchFamily="34" charset="-122"/>
                  <a:ea typeface="微软雅黑" pitchFamily="34" charset="-122"/>
                </a:rPr>
                <a:t>规定的格式。</a:t>
              </a:r>
            </a:p>
          </p:txBody>
        </p:sp>
      </p:grpSp>
      <p:grpSp>
        <p:nvGrpSpPr>
          <p:cNvPr id="33" name="Group 9"/>
          <p:cNvGrpSpPr>
            <a:grpSpLocks/>
          </p:cNvGrpSpPr>
          <p:nvPr/>
        </p:nvGrpSpPr>
        <p:grpSpPr bwMode="auto">
          <a:xfrm>
            <a:off x="3341090" y="1632850"/>
            <a:ext cx="2151185" cy="1155683"/>
            <a:chOff x="1102" y="1036"/>
            <a:chExt cx="1689" cy="983"/>
          </a:xfrm>
        </p:grpSpPr>
        <p:grpSp>
          <p:nvGrpSpPr>
            <p:cNvPr id="34" name="Group 5"/>
            <p:cNvGrpSpPr>
              <a:grpSpLocks/>
            </p:cNvGrpSpPr>
            <p:nvPr/>
          </p:nvGrpSpPr>
          <p:grpSpPr bwMode="auto">
            <a:xfrm>
              <a:off x="1105" y="1303"/>
              <a:ext cx="583" cy="716"/>
              <a:chOff x="1119" y="1209"/>
              <a:chExt cx="428" cy="716"/>
            </a:xfrm>
          </p:grpSpPr>
          <p:sp>
            <p:nvSpPr>
              <p:cNvPr id="36" name="Rectangle 6"/>
              <p:cNvSpPr>
                <a:spLocks noChangeArrowheads="1"/>
              </p:cNvSpPr>
              <p:nvPr/>
            </p:nvSpPr>
            <p:spPr bwMode="auto">
              <a:xfrm>
                <a:off x="1119" y="1564"/>
                <a:ext cx="428" cy="361"/>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37" name="Line 7"/>
              <p:cNvSpPr>
                <a:spLocks noChangeShapeType="1"/>
              </p:cNvSpPr>
              <p:nvPr/>
            </p:nvSpPr>
            <p:spPr bwMode="auto">
              <a:xfrm flipV="1">
                <a:off x="1338" y="1209"/>
                <a:ext cx="0" cy="355"/>
              </a:xfrm>
              <a:prstGeom prst="line">
                <a:avLst/>
              </a:prstGeom>
              <a:noFill/>
              <a:ln w="38100">
                <a:solidFill>
                  <a:srgbClr val="CC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35" name="Text Box 8"/>
            <p:cNvSpPr txBox="1">
              <a:spLocks noChangeArrowheads="1"/>
            </p:cNvSpPr>
            <p:nvPr/>
          </p:nvSpPr>
          <p:spPr bwMode="auto">
            <a:xfrm>
              <a:off x="1102" y="1036"/>
              <a:ext cx="16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a:solidFill>
                    <a:srgbClr val="000099"/>
                  </a:solidFill>
                  <a:latin typeface="微软雅黑" pitchFamily="34" charset="-122"/>
                  <a:ea typeface="微软雅黑" pitchFamily="34" charset="-122"/>
                </a:rPr>
                <a:t>主机域名或 </a:t>
              </a:r>
              <a:r>
                <a:rPr lang="en-US" altLang="zh-CN" sz="1600" b="1" dirty="0">
                  <a:solidFill>
                    <a:srgbClr val="000099"/>
                  </a:solidFill>
                  <a:latin typeface="微软雅黑" pitchFamily="34" charset="-122"/>
                  <a:ea typeface="微软雅黑" pitchFamily="34" charset="-122"/>
                </a:rPr>
                <a:t>IP </a:t>
              </a:r>
              <a:r>
                <a:rPr lang="zh-CN" altLang="en-US" sz="1600" b="1" dirty="0">
                  <a:solidFill>
                    <a:srgbClr val="000099"/>
                  </a:solidFill>
                  <a:latin typeface="微软雅黑" pitchFamily="34" charset="-122"/>
                  <a:ea typeface="微软雅黑" pitchFamily="34" charset="-122"/>
                </a:rPr>
                <a:t>地址。</a:t>
              </a:r>
            </a:p>
          </p:txBody>
        </p:sp>
      </p:grpSp>
      <p:grpSp>
        <p:nvGrpSpPr>
          <p:cNvPr id="38" name="Group 9"/>
          <p:cNvGrpSpPr>
            <a:grpSpLocks/>
          </p:cNvGrpSpPr>
          <p:nvPr/>
        </p:nvGrpSpPr>
        <p:grpSpPr bwMode="auto">
          <a:xfrm>
            <a:off x="4162931" y="1937876"/>
            <a:ext cx="3585306" cy="851184"/>
            <a:chOff x="1058" y="1303"/>
            <a:chExt cx="2815" cy="724"/>
          </a:xfrm>
        </p:grpSpPr>
        <p:grpSp>
          <p:nvGrpSpPr>
            <p:cNvPr id="39" name="Group 5"/>
            <p:cNvGrpSpPr>
              <a:grpSpLocks/>
            </p:cNvGrpSpPr>
            <p:nvPr/>
          </p:nvGrpSpPr>
          <p:grpSpPr bwMode="auto">
            <a:xfrm>
              <a:off x="1108" y="1507"/>
              <a:ext cx="568" cy="520"/>
              <a:chOff x="1120" y="1413"/>
              <a:chExt cx="417" cy="520"/>
            </a:xfrm>
          </p:grpSpPr>
          <p:sp>
            <p:nvSpPr>
              <p:cNvPr id="41" name="Rectangle 6"/>
              <p:cNvSpPr>
                <a:spLocks noChangeArrowheads="1"/>
              </p:cNvSpPr>
              <p:nvPr/>
            </p:nvSpPr>
            <p:spPr bwMode="auto">
              <a:xfrm>
                <a:off x="1120" y="1572"/>
                <a:ext cx="417" cy="361"/>
              </a:xfrm>
              <a:prstGeom prst="rect">
                <a:avLst/>
              </a:prstGeom>
              <a:noFill/>
              <a:ln w="38100">
                <a:solidFill>
                  <a:schemeClr val="accent6">
                    <a:lumMod val="7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42" name="Line 7"/>
              <p:cNvSpPr>
                <a:spLocks noChangeShapeType="1"/>
              </p:cNvSpPr>
              <p:nvPr/>
            </p:nvSpPr>
            <p:spPr bwMode="auto">
              <a:xfrm flipV="1">
                <a:off x="1338" y="1413"/>
                <a:ext cx="0" cy="159"/>
              </a:xfrm>
              <a:prstGeom prst="line">
                <a:avLst/>
              </a:prstGeom>
              <a:noFill/>
              <a:ln w="38100">
                <a:solidFill>
                  <a:schemeClr val="accent6">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40" name="Text Box 8"/>
            <p:cNvSpPr txBox="1">
              <a:spLocks noChangeArrowheads="1"/>
            </p:cNvSpPr>
            <p:nvPr/>
          </p:nvSpPr>
          <p:spPr bwMode="auto">
            <a:xfrm>
              <a:off x="1058" y="1303"/>
              <a:ext cx="28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en-US" altLang="zh-CN" sz="1600" b="1" dirty="0">
                  <a:solidFill>
                    <a:srgbClr val="000099"/>
                  </a:solidFill>
                  <a:latin typeface="微软雅黑" pitchFamily="34" charset="-122"/>
                  <a:ea typeface="微软雅黑" pitchFamily="34" charset="-122"/>
                </a:rPr>
                <a:t>HTTP </a:t>
              </a:r>
              <a:r>
                <a:rPr lang="zh-CN" altLang="en-US" sz="1600" b="1" dirty="0">
                  <a:solidFill>
                    <a:srgbClr val="000099"/>
                  </a:solidFill>
                  <a:latin typeface="微软雅黑" pitchFamily="34" charset="-122"/>
                  <a:ea typeface="微软雅黑" pitchFamily="34" charset="-122"/>
                </a:rPr>
                <a:t>的默认端口号是 </a:t>
              </a:r>
              <a:r>
                <a:rPr lang="en-US" altLang="zh-CN" sz="1600" b="1" dirty="0">
                  <a:solidFill>
                    <a:srgbClr val="000099"/>
                  </a:solidFill>
                  <a:latin typeface="微软雅黑" pitchFamily="34" charset="-122"/>
                  <a:ea typeface="微软雅黑" pitchFamily="34" charset="-122"/>
                </a:rPr>
                <a:t>80</a:t>
              </a:r>
              <a:r>
                <a:rPr lang="zh-CN" altLang="en-US" sz="1600" b="1" dirty="0">
                  <a:solidFill>
                    <a:srgbClr val="000099"/>
                  </a:solidFill>
                  <a:latin typeface="微软雅黑" pitchFamily="34" charset="-122"/>
                  <a:ea typeface="微软雅黑" pitchFamily="34" charset="-122"/>
                </a:rPr>
                <a:t>，可省略。</a:t>
              </a:r>
            </a:p>
          </p:txBody>
        </p:sp>
      </p:grpSp>
      <p:grpSp>
        <p:nvGrpSpPr>
          <p:cNvPr id="43" name="Group 9"/>
          <p:cNvGrpSpPr>
            <a:grpSpLocks/>
          </p:cNvGrpSpPr>
          <p:nvPr/>
        </p:nvGrpSpPr>
        <p:grpSpPr bwMode="auto">
          <a:xfrm>
            <a:off x="3809948" y="2364507"/>
            <a:ext cx="3949568" cy="1390817"/>
            <a:chOff x="915" y="1658"/>
            <a:chExt cx="3101" cy="1183"/>
          </a:xfrm>
        </p:grpSpPr>
        <p:grpSp>
          <p:nvGrpSpPr>
            <p:cNvPr id="44" name="Group 5"/>
            <p:cNvGrpSpPr>
              <a:grpSpLocks/>
            </p:cNvGrpSpPr>
            <p:nvPr/>
          </p:nvGrpSpPr>
          <p:grpSpPr bwMode="auto">
            <a:xfrm>
              <a:off x="1818" y="1658"/>
              <a:ext cx="582" cy="528"/>
              <a:chOff x="1646" y="1564"/>
              <a:chExt cx="428" cy="528"/>
            </a:xfrm>
          </p:grpSpPr>
          <p:sp>
            <p:nvSpPr>
              <p:cNvPr id="46" name="Rectangle 6"/>
              <p:cNvSpPr>
                <a:spLocks noChangeArrowheads="1"/>
              </p:cNvSpPr>
              <p:nvPr/>
            </p:nvSpPr>
            <p:spPr bwMode="auto">
              <a:xfrm>
                <a:off x="1646" y="1564"/>
                <a:ext cx="428" cy="360"/>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itchFamily="34" charset="-122"/>
                  <a:ea typeface="微软雅黑" pitchFamily="34" charset="-122"/>
                </a:endParaRPr>
              </a:p>
            </p:txBody>
          </p:sp>
          <p:sp>
            <p:nvSpPr>
              <p:cNvPr id="47" name="Line 7"/>
              <p:cNvSpPr>
                <a:spLocks noChangeShapeType="1"/>
              </p:cNvSpPr>
              <p:nvPr/>
            </p:nvSpPr>
            <p:spPr bwMode="auto">
              <a:xfrm flipV="1">
                <a:off x="1846" y="1933"/>
                <a:ext cx="0" cy="159"/>
              </a:xfrm>
              <a:prstGeom prst="line">
                <a:avLst/>
              </a:prstGeom>
              <a:noFill/>
              <a:ln w="38100">
                <a:solidFill>
                  <a:srgbClr val="CC00CC"/>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itchFamily="34" charset="-122"/>
                  <a:ea typeface="微软雅黑" pitchFamily="34" charset="-122"/>
                </a:endParaRPr>
              </a:p>
            </p:txBody>
          </p:sp>
        </p:grpSp>
        <p:sp>
          <p:nvSpPr>
            <p:cNvPr id="45" name="Text Box 8"/>
            <p:cNvSpPr txBox="1">
              <a:spLocks noChangeArrowheads="1"/>
            </p:cNvSpPr>
            <p:nvPr/>
          </p:nvSpPr>
          <p:spPr bwMode="auto">
            <a:xfrm>
              <a:off x="915" y="2134"/>
              <a:ext cx="3101" cy="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600" b="1" dirty="0">
                  <a:solidFill>
                    <a:srgbClr val="000099"/>
                  </a:solidFill>
                  <a:latin typeface="微软雅黑" pitchFamily="34" charset="-122"/>
                  <a:ea typeface="微软雅黑" pitchFamily="34" charset="-122"/>
                </a:rPr>
                <a:t>省略时指到互联网上的某个主页 </a:t>
              </a:r>
              <a:r>
                <a:rPr lang="en-US" altLang="zh-CN" sz="1600" b="1" dirty="0">
                  <a:solidFill>
                    <a:srgbClr val="000099"/>
                  </a:solidFill>
                  <a:latin typeface="微软雅黑" pitchFamily="34" charset="-122"/>
                  <a:ea typeface="微软雅黑" pitchFamily="34" charset="-122"/>
                </a:rPr>
                <a:t>(home page)</a:t>
              </a:r>
              <a:r>
                <a:rPr lang="zh-CN" altLang="en-US" sz="1600" b="1" dirty="0">
                  <a:solidFill>
                    <a:srgbClr val="000099"/>
                  </a:solidFill>
                  <a:latin typeface="微软雅黑" pitchFamily="34" charset="-122"/>
                  <a:ea typeface="微软雅黑" pitchFamily="34" charset="-122"/>
                </a:rPr>
                <a:t>。更复杂一些的路径是指向层次结构的从属页面。</a:t>
              </a:r>
            </a:p>
          </p:txBody>
        </p:sp>
      </p:grpSp>
    </p:spTree>
    <p:extLst>
      <p:ext uri="{BB962C8B-B14F-4D97-AF65-F5344CB8AC3E}">
        <p14:creationId xmlns:p14="http://schemas.microsoft.com/office/powerpoint/2010/main" val="2383991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down)">
                                      <p:cBhvr>
                                        <p:cTn id="11" dur="1000"/>
                                        <p:tgtEl>
                                          <p:spTgt spid="28"/>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down)">
                                      <p:cBhvr>
                                        <p:cTn id="15" dur="1000"/>
                                        <p:tgtEl>
                                          <p:spTgt spid="33"/>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1000"/>
                                        <p:tgtEl>
                                          <p:spTgt spid="38"/>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up)">
                                      <p:cBhvr>
                                        <p:cTn id="23"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166833" y="3144096"/>
            <a:ext cx="6911847"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AutoShape 5"/>
          <p:cNvSpPr>
            <a:spLocks noChangeArrowheads="1"/>
          </p:cNvSpPr>
          <p:nvPr/>
        </p:nvSpPr>
        <p:spPr bwMode="auto">
          <a:xfrm>
            <a:off x="556963" y="61264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2470274" y="570371"/>
            <a:ext cx="42034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6.4.3  </a:t>
            </a:r>
            <a:r>
              <a:rPr lang="zh-CN" altLang="en-US" sz="2400" b="1" dirty="0">
                <a:solidFill>
                  <a:schemeClr val="bg1"/>
                </a:solidFill>
                <a:latin typeface="微软雅黑" pitchFamily="34" charset="-122"/>
                <a:ea typeface="微软雅黑" pitchFamily="34" charset="-122"/>
              </a:rPr>
              <a:t>超文本传送协议 </a:t>
            </a:r>
            <a:r>
              <a:rPr lang="en-US" altLang="zh-CN" sz="2400" b="1" dirty="0">
                <a:solidFill>
                  <a:schemeClr val="bg1"/>
                </a:solidFill>
                <a:latin typeface="微软雅黑" pitchFamily="34" charset="-122"/>
                <a:ea typeface="微软雅黑" pitchFamily="34" charset="-122"/>
              </a:rPr>
              <a:t>HTTP</a:t>
            </a:r>
            <a:endParaRPr lang="zh-CN" altLang="en-US" sz="2400" b="1" dirty="0">
              <a:solidFill>
                <a:schemeClr val="bg1"/>
              </a:solidFill>
              <a:latin typeface="微软雅黑" pitchFamily="34" charset="-122"/>
              <a:ea typeface="微软雅黑" pitchFamily="34" charset="-122"/>
            </a:endParaRPr>
          </a:p>
        </p:txBody>
      </p:sp>
      <p:sp>
        <p:nvSpPr>
          <p:cNvPr id="15" name="Rectangle 68"/>
          <p:cNvSpPr>
            <a:spLocks noChangeArrowheads="1"/>
          </p:cNvSpPr>
          <p:nvPr/>
        </p:nvSpPr>
        <p:spPr bwMode="auto">
          <a:xfrm>
            <a:off x="648070" y="1005402"/>
            <a:ext cx="7957669"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面向事务</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(transaction-oriented) </a:t>
            </a:r>
            <a:r>
              <a:rPr lang="zh-CN" altLang="en-US" sz="2000" b="1" dirty="0">
                <a:latin typeface="微软雅黑" pitchFamily="34" charset="-122"/>
                <a:ea typeface="微软雅黑" pitchFamily="34" charset="-122"/>
              </a:rPr>
              <a:t>应用层协议。</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solidFill>
                  <a:srgbClr val="C00000"/>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连接进行可靠的传送。</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定义了浏览器与万维网服务器通信的格式和规则。</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是万维网上能够</a:t>
            </a:r>
            <a:r>
              <a:rPr lang="zh-CN" altLang="en-US" sz="2000" b="1" dirty="0">
                <a:solidFill>
                  <a:srgbClr val="C00000"/>
                </a:solidFill>
                <a:latin typeface="微软雅黑" pitchFamily="34" charset="-122"/>
                <a:ea typeface="微软雅黑" pitchFamily="34" charset="-122"/>
              </a:rPr>
              <a:t>可靠地交换文件</a:t>
            </a:r>
            <a:r>
              <a:rPr lang="zh-CN" altLang="en-US" sz="2000" b="1" dirty="0">
                <a:latin typeface="微软雅黑" pitchFamily="34" charset="-122"/>
                <a:ea typeface="微软雅黑" pitchFamily="34" charset="-122"/>
              </a:rPr>
              <a:t>（包括文本、声音、图像等各种多媒体文件）的重要基础。</a:t>
            </a:r>
            <a:endParaRPr lang="en-US" altLang="zh-CN" sz="2000" b="1" dirty="0">
              <a:latin typeface="微软雅黑" pitchFamily="34" charset="-122"/>
              <a:ea typeface="微软雅黑" pitchFamily="34" charset="-122"/>
            </a:endParaRPr>
          </a:p>
        </p:txBody>
      </p:sp>
      <p:sp>
        <p:nvSpPr>
          <p:cNvPr id="2" name="矩形 1"/>
          <p:cNvSpPr/>
          <p:nvPr/>
        </p:nvSpPr>
        <p:spPr>
          <a:xfrm>
            <a:off x="1322774" y="3268300"/>
            <a:ext cx="6755906" cy="759182"/>
          </a:xfrm>
          <a:prstGeom prst="rect">
            <a:avLst/>
          </a:prstGeom>
        </p:spPr>
        <p:txBody>
          <a:bodyPr wrap="square">
            <a:spAutoFit/>
          </a:bodyPr>
          <a:lstStyle/>
          <a:p>
            <a:pPr eaLnBrk="0" hangingPunct="0">
              <a:lnSpc>
                <a:spcPts val="2600"/>
              </a:lnSpc>
              <a:buClr>
                <a:srgbClr val="0070C0"/>
              </a:buClr>
            </a:pPr>
            <a:r>
              <a:rPr lang="en-US" altLang="zh-CN" b="1" dirty="0">
                <a:solidFill>
                  <a:schemeClr val="bg1"/>
                </a:solidFill>
                <a:latin typeface="微软雅黑" pitchFamily="34" charset="-122"/>
                <a:ea typeface="微软雅黑" pitchFamily="34" charset="-122"/>
              </a:rPr>
              <a:t>HTTP </a:t>
            </a:r>
            <a:r>
              <a:rPr lang="zh-CN" altLang="en-US" b="1" dirty="0">
                <a:solidFill>
                  <a:schemeClr val="bg1"/>
                </a:solidFill>
                <a:latin typeface="微软雅黑" pitchFamily="34" charset="-122"/>
                <a:ea typeface="微软雅黑" pitchFamily="34" charset="-122"/>
              </a:rPr>
              <a:t>不仅传送完成超文本跳转所必需的信息，而且也传送任何可从互联网上得到的信息，如文本、超文本、声音和图像等。</a:t>
            </a:r>
          </a:p>
        </p:txBody>
      </p:sp>
    </p:spTree>
    <p:extLst>
      <p:ext uri="{BB962C8B-B14F-4D97-AF65-F5344CB8AC3E}">
        <p14:creationId xmlns:p14="http://schemas.microsoft.com/office/powerpoint/2010/main" val="5622565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HTTP </a:t>
            </a:r>
            <a:r>
              <a:rPr lang="zh-CN" altLang="en-US" sz="2000" b="1" dirty="0">
                <a:solidFill>
                  <a:schemeClr val="bg1"/>
                </a:solidFill>
                <a:latin typeface="微软雅黑" pitchFamily="34" charset="-122"/>
                <a:ea typeface="微软雅黑" pitchFamily="34" charset="-122"/>
              </a:rPr>
              <a:t>的操作过程</a:t>
            </a: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67456"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2186228"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6742049" y="1906021"/>
            <a:ext cx="723275" cy="10156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pic>
        <p:nvPicPr>
          <p:cNvPr id="16" name="图片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16149" y="1342814"/>
            <a:ext cx="808942" cy="1132519"/>
          </a:xfrm>
          <a:prstGeom prst="rect">
            <a:avLst/>
          </a:prstGeom>
        </p:spPr>
      </p:pic>
      <p:graphicFrame>
        <p:nvGraphicFramePr>
          <p:cNvPr id="17" name="Object 66"/>
          <p:cNvGraphicFramePr>
            <a:graphicFrameLocks noChangeAspect="1"/>
          </p:cNvGraphicFramePr>
          <p:nvPr>
            <p:extLst>
              <p:ext uri="{D42A27DB-BD31-4B8C-83A1-F6EECF244321}">
                <p14:modId xmlns:p14="http://schemas.microsoft.com/office/powerpoint/2010/main" val="1425683830"/>
              </p:ext>
            </p:extLst>
          </p:nvPr>
        </p:nvGraphicFramePr>
        <p:xfrm>
          <a:off x="3478498" y="2050412"/>
          <a:ext cx="2148903" cy="873047"/>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78498"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8" name="Freeform 70"/>
          <p:cNvSpPr>
            <a:spLocks/>
          </p:cNvSpPr>
          <p:nvPr/>
        </p:nvSpPr>
        <p:spPr bwMode="auto">
          <a:xfrm>
            <a:off x="5374535"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19" name="Freeform 71"/>
          <p:cNvSpPr>
            <a:spLocks/>
          </p:cNvSpPr>
          <p:nvPr/>
        </p:nvSpPr>
        <p:spPr bwMode="auto">
          <a:xfrm>
            <a:off x="2436996"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0" name="Rectangle 72"/>
          <p:cNvSpPr>
            <a:spLocks noChangeArrowheads="1"/>
          </p:cNvSpPr>
          <p:nvPr/>
        </p:nvSpPr>
        <p:spPr bwMode="auto">
          <a:xfrm>
            <a:off x="4205471"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互联网</a:t>
            </a:r>
          </a:p>
        </p:txBody>
      </p:sp>
      <p:sp>
        <p:nvSpPr>
          <p:cNvPr id="21" name="Rectangle 73"/>
          <p:cNvSpPr>
            <a:spLocks noChangeArrowheads="1"/>
          </p:cNvSpPr>
          <p:nvPr/>
        </p:nvSpPr>
        <p:spPr bwMode="auto">
          <a:xfrm>
            <a:off x="5411168"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itchFamily="34" charset="-122"/>
                <a:ea typeface="微软雅黑" pitchFamily="34" charset="-122"/>
              </a:rPr>
              <a:t>服务器</a:t>
            </a:r>
          </a:p>
          <a:p>
            <a:pPr algn="ctr">
              <a:lnSpc>
                <a:spcPct val="80000"/>
              </a:lnSpc>
            </a:pPr>
            <a:r>
              <a:rPr kumimoji="1" lang="en-US" altLang="zh-CN" sz="1050" b="1" dirty="0">
                <a:latin typeface="微软雅黑" pitchFamily="34" charset="-122"/>
                <a:ea typeface="微软雅黑" pitchFamily="34" charset="-122"/>
              </a:rPr>
              <a:t>www.tsinghua.edu.cn</a:t>
            </a:r>
          </a:p>
        </p:txBody>
      </p:sp>
      <p:sp>
        <p:nvSpPr>
          <p:cNvPr id="22" name="Rectangle 74"/>
          <p:cNvSpPr>
            <a:spLocks noChangeArrowheads="1"/>
          </p:cNvSpPr>
          <p:nvPr/>
        </p:nvSpPr>
        <p:spPr bwMode="auto">
          <a:xfrm>
            <a:off x="3592402"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a:solidFill>
                  <a:srgbClr val="000099"/>
                </a:solidFill>
                <a:latin typeface="微软雅黑" pitchFamily="34" charset="-122"/>
                <a:ea typeface="微软雅黑" pitchFamily="34" charset="-122"/>
              </a:rPr>
              <a:t>链接到</a:t>
            </a:r>
            <a:r>
              <a:rPr kumimoji="1" lang="en-US" altLang="zh-CN" sz="1050" b="1" dirty="0">
                <a:solidFill>
                  <a:srgbClr val="000099"/>
                </a:solidFill>
                <a:latin typeface="微软雅黑" pitchFamily="34" charset="-122"/>
                <a:ea typeface="微软雅黑" pitchFamily="34" charset="-122"/>
              </a:rPr>
              <a:t> URL </a:t>
            </a:r>
            <a:r>
              <a:rPr kumimoji="1" lang="zh-CN" altLang="en-US" sz="1050" b="1" dirty="0">
                <a:solidFill>
                  <a:srgbClr val="000099"/>
                </a:solidFill>
                <a:latin typeface="微软雅黑" pitchFamily="34" charset="-122"/>
                <a:ea typeface="微软雅黑" pitchFamily="34" charset="-122"/>
              </a:rPr>
              <a:t>的超链</a:t>
            </a:r>
          </a:p>
        </p:txBody>
      </p:sp>
      <p:sp>
        <p:nvSpPr>
          <p:cNvPr id="23" name="Rectangle 75"/>
          <p:cNvSpPr>
            <a:spLocks noChangeArrowheads="1"/>
          </p:cNvSpPr>
          <p:nvPr/>
        </p:nvSpPr>
        <p:spPr bwMode="auto">
          <a:xfrm>
            <a:off x="3785483"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使用此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sp>
        <p:nvSpPr>
          <p:cNvPr id="24" name="Rectangle 76"/>
          <p:cNvSpPr>
            <a:spLocks noChangeArrowheads="1"/>
          </p:cNvSpPr>
          <p:nvPr/>
        </p:nvSpPr>
        <p:spPr bwMode="auto">
          <a:xfrm>
            <a:off x="2877471"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浏览器</a:t>
            </a:r>
          </a:p>
          <a:p>
            <a:pPr>
              <a:lnSpc>
                <a:spcPct val="90000"/>
              </a:lnSpc>
            </a:pPr>
            <a:r>
              <a:rPr kumimoji="1" lang="zh-CN" altLang="en-US" sz="1050" b="1" dirty="0">
                <a:solidFill>
                  <a:srgbClr val="000099"/>
                </a:solidFill>
                <a:latin typeface="微软雅黑" pitchFamily="34" charset="-122"/>
                <a:ea typeface="微软雅黑" pitchFamily="34" charset="-122"/>
              </a:rPr>
              <a:t> 程序</a:t>
            </a:r>
          </a:p>
        </p:txBody>
      </p:sp>
      <p:sp>
        <p:nvSpPr>
          <p:cNvPr id="25" name="Rectangle 77"/>
          <p:cNvSpPr>
            <a:spLocks noChangeArrowheads="1"/>
          </p:cNvSpPr>
          <p:nvPr/>
        </p:nvSpPr>
        <p:spPr bwMode="auto">
          <a:xfrm>
            <a:off x="4626444"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服务器程序</a:t>
            </a:r>
            <a:endParaRPr kumimoji="1" lang="en-US" altLang="zh-CN" sz="1050" b="1" dirty="0">
              <a:solidFill>
                <a:srgbClr val="000099"/>
              </a:solidFill>
              <a:latin typeface="微软雅黑" pitchFamily="34" charset="-122"/>
              <a:ea typeface="微软雅黑" pitchFamily="34" charset="-122"/>
            </a:endParaRPr>
          </a:p>
          <a:p>
            <a:pPr>
              <a:lnSpc>
                <a:spcPct val="90000"/>
              </a:lnSpc>
            </a:pPr>
            <a:r>
              <a:rPr kumimoji="1" lang="zh-CN" altLang="en-US" sz="1050" b="1" dirty="0">
                <a:solidFill>
                  <a:srgbClr val="000099"/>
                </a:solidFill>
                <a:latin typeface="微软雅黑" pitchFamily="34" charset="-122"/>
                <a:ea typeface="微软雅黑" pitchFamily="34" charset="-122"/>
              </a:rPr>
              <a:t>监听</a:t>
            </a:r>
            <a:r>
              <a:rPr kumimoji="1" lang="en-US" altLang="zh-CN" sz="1050" b="1" dirty="0">
                <a:solidFill>
                  <a:srgbClr val="000099"/>
                </a:solidFill>
                <a:latin typeface="微软雅黑" pitchFamily="34" charset="-122"/>
                <a:ea typeface="微软雅黑" pitchFamily="34" charset="-122"/>
              </a:rPr>
              <a:t>TCP </a:t>
            </a:r>
            <a:r>
              <a:rPr kumimoji="1" lang="zh-CN" altLang="en-US" sz="1050" b="1" dirty="0">
                <a:solidFill>
                  <a:srgbClr val="000099"/>
                </a:solidFill>
                <a:latin typeface="微软雅黑" pitchFamily="34" charset="-122"/>
                <a:ea typeface="微软雅黑" pitchFamily="34" charset="-122"/>
              </a:rPr>
              <a:t>端口</a:t>
            </a:r>
            <a:r>
              <a:rPr kumimoji="1" lang="en-US" altLang="zh-CN" sz="1050" b="1" dirty="0">
                <a:solidFill>
                  <a:srgbClr val="000099"/>
                </a:solidFill>
                <a:latin typeface="微软雅黑" pitchFamily="34" charset="-122"/>
                <a:ea typeface="微软雅黑" pitchFamily="34" charset="-122"/>
              </a:rPr>
              <a:t>80</a:t>
            </a:r>
            <a:endParaRPr kumimoji="1" lang="zh-CN" altLang="en-US" sz="1050" b="1" dirty="0">
              <a:solidFill>
                <a:srgbClr val="000099"/>
              </a:solidFill>
              <a:latin typeface="微软雅黑" pitchFamily="34" charset="-122"/>
              <a:ea typeface="微软雅黑" pitchFamily="34" charset="-122"/>
            </a:endParaRPr>
          </a:p>
        </p:txBody>
      </p:sp>
      <p:sp>
        <p:nvSpPr>
          <p:cNvPr id="26" name="Rectangle 78"/>
          <p:cNvSpPr>
            <a:spLocks noChangeArrowheads="1"/>
          </p:cNvSpPr>
          <p:nvPr/>
        </p:nvSpPr>
        <p:spPr bwMode="auto">
          <a:xfrm>
            <a:off x="3803474"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itchFamily="34" charset="-122"/>
                <a:ea typeface="微软雅黑" pitchFamily="34" charset="-122"/>
              </a:rPr>
              <a:t>HTTP</a:t>
            </a:r>
          </a:p>
        </p:txBody>
      </p:sp>
      <p:sp>
        <p:nvSpPr>
          <p:cNvPr id="27" name="Rectangle 79"/>
          <p:cNvSpPr>
            <a:spLocks noChangeArrowheads="1"/>
          </p:cNvSpPr>
          <p:nvPr/>
        </p:nvSpPr>
        <p:spPr bwMode="auto">
          <a:xfrm>
            <a:off x="2852104"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itchFamily="34" charset="-122"/>
                <a:ea typeface="微软雅黑" pitchFamily="34" charset="-122"/>
              </a:rPr>
              <a:t>客户</a:t>
            </a:r>
          </a:p>
        </p:txBody>
      </p:sp>
      <p:sp>
        <p:nvSpPr>
          <p:cNvPr id="28" name="Freeform 81"/>
          <p:cNvSpPr>
            <a:spLocks/>
          </p:cNvSpPr>
          <p:nvPr/>
        </p:nvSpPr>
        <p:spPr bwMode="auto">
          <a:xfrm>
            <a:off x="2897353"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9" name="Rectangle 82"/>
          <p:cNvSpPr>
            <a:spLocks noChangeArrowheads="1"/>
          </p:cNvSpPr>
          <p:nvPr/>
        </p:nvSpPr>
        <p:spPr bwMode="auto">
          <a:xfrm>
            <a:off x="2138861"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清华大学</a:t>
            </a:r>
          </a:p>
          <a:p>
            <a:r>
              <a:rPr kumimoji="1" lang="zh-CN" altLang="en-US" sz="1050" b="1" dirty="0">
                <a:latin typeface="微软雅黑" pitchFamily="34" charset="-122"/>
                <a:ea typeface="微软雅黑" pitchFamily="34" charset="-122"/>
              </a:rPr>
              <a:t>院系设置</a:t>
            </a:r>
          </a:p>
        </p:txBody>
      </p:sp>
      <p:sp>
        <p:nvSpPr>
          <p:cNvPr id="30" name="Line 83"/>
          <p:cNvSpPr>
            <a:spLocks noChangeShapeType="1"/>
          </p:cNvSpPr>
          <p:nvPr/>
        </p:nvSpPr>
        <p:spPr bwMode="auto">
          <a:xfrm>
            <a:off x="2186229" y="1950360"/>
            <a:ext cx="665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1" name="Oval 84"/>
          <p:cNvSpPr>
            <a:spLocks noChangeArrowheads="1"/>
          </p:cNvSpPr>
          <p:nvPr/>
        </p:nvSpPr>
        <p:spPr bwMode="auto">
          <a:xfrm>
            <a:off x="2353708" y="1978958"/>
            <a:ext cx="331829"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2" name="Line 85"/>
          <p:cNvSpPr>
            <a:spLocks noChangeShapeType="1"/>
          </p:cNvSpPr>
          <p:nvPr/>
        </p:nvSpPr>
        <p:spPr bwMode="auto">
          <a:xfrm>
            <a:off x="5752623" y="1871871"/>
            <a:ext cx="284805"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3" name="Line 86"/>
          <p:cNvSpPr>
            <a:spLocks noChangeShapeType="1"/>
          </p:cNvSpPr>
          <p:nvPr/>
        </p:nvSpPr>
        <p:spPr bwMode="auto">
          <a:xfrm flipH="1">
            <a:off x="2629236" y="1871870"/>
            <a:ext cx="306600"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4" name="Oval 87"/>
          <p:cNvSpPr>
            <a:spLocks noChangeArrowheads="1"/>
          </p:cNvSpPr>
          <p:nvPr/>
        </p:nvSpPr>
        <p:spPr bwMode="auto">
          <a:xfrm>
            <a:off x="5989516" y="1959503"/>
            <a:ext cx="332716"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5" name="Freeform 88"/>
          <p:cNvSpPr>
            <a:spLocks/>
          </p:cNvSpPr>
          <p:nvPr/>
        </p:nvSpPr>
        <p:spPr bwMode="auto">
          <a:xfrm>
            <a:off x="2579668"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6" name="Line 89"/>
          <p:cNvSpPr>
            <a:spLocks noChangeShapeType="1"/>
          </p:cNvSpPr>
          <p:nvPr/>
        </p:nvSpPr>
        <p:spPr bwMode="auto">
          <a:xfrm flipV="1">
            <a:off x="2685536"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7" name="Line 90"/>
          <p:cNvSpPr>
            <a:spLocks noChangeShapeType="1"/>
          </p:cNvSpPr>
          <p:nvPr/>
        </p:nvSpPr>
        <p:spPr bwMode="auto">
          <a:xfrm rot="16200000" flipH="1">
            <a:off x="6268111" y="2054438"/>
            <a:ext cx="149057" cy="108244"/>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8" name="Freeform 91"/>
          <p:cNvSpPr>
            <a:spLocks/>
          </p:cNvSpPr>
          <p:nvPr/>
        </p:nvSpPr>
        <p:spPr bwMode="auto">
          <a:xfrm rot="216073">
            <a:off x="2782982"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9" name="Line 92"/>
          <p:cNvSpPr>
            <a:spLocks noChangeShapeType="1"/>
          </p:cNvSpPr>
          <p:nvPr/>
        </p:nvSpPr>
        <p:spPr bwMode="auto">
          <a:xfrm>
            <a:off x="3087223"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0" name="Line 93"/>
          <p:cNvSpPr>
            <a:spLocks noChangeShapeType="1"/>
          </p:cNvSpPr>
          <p:nvPr/>
        </p:nvSpPr>
        <p:spPr bwMode="auto">
          <a:xfrm>
            <a:off x="5961891"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1" name="Group 116"/>
          <p:cNvGrpSpPr>
            <a:grpSpLocks/>
          </p:cNvGrpSpPr>
          <p:nvPr/>
        </p:nvGrpSpPr>
        <p:grpSpPr bwMode="auto">
          <a:xfrm>
            <a:off x="3087223"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建立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sp>
        <p:nvSpPr>
          <p:cNvPr id="44" name="Line 108"/>
          <p:cNvSpPr>
            <a:spLocks noChangeShapeType="1"/>
          </p:cNvSpPr>
          <p:nvPr/>
        </p:nvSpPr>
        <p:spPr bwMode="auto">
          <a:xfrm>
            <a:off x="6544941" y="2237276"/>
            <a:ext cx="289241" cy="82718"/>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5" name="AutoShape 111"/>
          <p:cNvSpPr>
            <a:spLocks noChangeArrowheads="1"/>
          </p:cNvSpPr>
          <p:nvPr/>
        </p:nvSpPr>
        <p:spPr bwMode="auto">
          <a:xfrm>
            <a:off x="6233509" y="2151967"/>
            <a:ext cx="332716" cy="130220"/>
          </a:xfrm>
          <a:prstGeom prst="can">
            <a:avLst>
              <a:gd name="adj" fmla="val 39583"/>
            </a:avLst>
          </a:prstGeom>
          <a:solidFill>
            <a:srgbClr val="FF00FF"/>
          </a:solidFill>
          <a:ln w="9525">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grpSp>
        <p:nvGrpSpPr>
          <p:cNvPr id="46" name="Group 117"/>
          <p:cNvGrpSpPr>
            <a:grpSpLocks/>
          </p:cNvGrpSpPr>
          <p:nvPr/>
        </p:nvGrpSpPr>
        <p:grpSpPr bwMode="auto">
          <a:xfrm>
            <a:off x="2349926"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8" name="Group 95"/>
            <p:cNvGrpSpPr>
              <a:grpSpLocks/>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请求报文</a:t>
                </a: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浏览器</a:t>
              </a:r>
              <a:endParaRPr kumimoji="1" lang="en-US" altLang="zh-CN" sz="1050" b="1" dirty="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发出</a:t>
              </a:r>
              <a:r>
                <a:rPr kumimoji="1" lang="zh-CN" altLang="en-US" sz="1050" b="1" dirty="0">
                  <a:solidFill>
                    <a:srgbClr val="000099"/>
                  </a:solidFill>
                  <a:latin typeface="微软雅黑" pitchFamily="34" charset="-122"/>
                  <a:ea typeface="微软雅黑" pitchFamily="34" charset="-122"/>
                </a:rPr>
                <a:t>请求</a:t>
              </a:r>
            </a:p>
          </p:txBody>
        </p:sp>
      </p:grpSp>
      <p:grpSp>
        <p:nvGrpSpPr>
          <p:cNvPr id="52" name="Group 120"/>
          <p:cNvGrpSpPr>
            <a:grpSpLocks/>
          </p:cNvGrpSpPr>
          <p:nvPr/>
        </p:nvGrpSpPr>
        <p:grpSpPr bwMode="auto">
          <a:xfrm>
            <a:off x="3087223"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释放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grpSp>
        <p:nvGrpSpPr>
          <p:cNvPr id="55" name="组合 54"/>
          <p:cNvGrpSpPr/>
          <p:nvPr/>
        </p:nvGrpSpPr>
        <p:grpSpPr>
          <a:xfrm>
            <a:off x="3099929"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服务器</a:t>
              </a:r>
              <a:endParaRPr kumimoji="1" lang="en-US" altLang="zh-CN" sz="1050" b="1" dirty="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返回</a:t>
              </a:r>
              <a:r>
                <a:rPr kumimoji="1" lang="zh-CN" altLang="en-US" sz="1050" b="1" dirty="0">
                  <a:solidFill>
                    <a:srgbClr val="000099"/>
                  </a:solidFill>
                  <a:latin typeface="微软雅黑" pitchFamily="34" charset="-122"/>
                  <a:ea typeface="微软雅黑" pitchFamily="34" charset="-122"/>
                </a:rPr>
                <a:t>响应</a:t>
              </a: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itchFamily="34" charset="-122"/>
                  <a:ea typeface="微软雅黑" pitchFamily="34" charset="-122"/>
                  <a:sym typeface="Wingdings" pitchFamily="2" charset="2"/>
                </a:rPr>
                <a:t></a:t>
              </a:r>
              <a:endParaRPr lang="zh-CN" altLang="en-US" sz="4000" dirty="0">
                <a:solidFill>
                  <a:srgbClr val="009900"/>
                </a:solidFill>
                <a:latin typeface="微软雅黑" pitchFamily="34" charset="-122"/>
                <a:ea typeface="微软雅黑" pitchFamily="34" charset="-122"/>
              </a:endParaRPr>
            </a:p>
          </p:txBody>
        </p:sp>
        <p:grpSp>
          <p:nvGrpSpPr>
            <p:cNvPr id="60" name="Group 99"/>
            <p:cNvGrpSpPr>
              <a:grpSpLocks/>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响应报文</a:t>
                </a:r>
              </a:p>
            </p:txBody>
          </p:sp>
        </p:grpSp>
      </p:grpSp>
    </p:spTree>
    <p:extLst>
      <p:ext uri="{BB962C8B-B14F-4D97-AF65-F5344CB8AC3E}">
        <p14:creationId xmlns:p14="http://schemas.microsoft.com/office/powerpoint/2010/main" val="11065725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500" fill="hold"/>
                                        <p:tgtEl>
                                          <p:spTgt spid="41"/>
                                        </p:tgtEl>
                                        <p:attrNameLst>
                                          <p:attrName>style.visibility</p:attrName>
                                        </p:attrNameLst>
                                      </p:cBhvr>
                                      <p:tavLst>
                                        <p:tav tm="0">
                                          <p:val>
                                            <p:strVal val="hidden"/>
                                          </p:val>
                                        </p:tav>
                                        <p:tav tm="50000">
                                          <p:val>
                                            <p:strVal val="visible"/>
                                          </p:val>
                                        </p:tav>
                                      </p:tavLst>
                                    </p:anim>
                                  </p:childTnLst>
                                </p:cTn>
                              </p:par>
                            </p:childTnLst>
                          </p:cTn>
                        </p:par>
                        <p:par>
                          <p:cTn id="7" fill="hold">
                            <p:stCondLst>
                              <p:cond delay="2000"/>
                            </p:stCondLst>
                            <p:childTnLst>
                              <p:par>
                                <p:cTn id="8" presetID="22" presetClass="entr" presetSubtype="8" fill="hold" nodeType="afterEffect">
                                  <p:stCondLst>
                                    <p:cond delay="500"/>
                                  </p:stCondLst>
                                  <p:childTnLst>
                                    <p:set>
                                      <p:cBhvr>
                                        <p:cTn id="9" dur="1" fill="hold">
                                          <p:stCondLst>
                                            <p:cond delay="0"/>
                                          </p:stCondLst>
                                        </p:cTn>
                                        <p:tgtEl>
                                          <p:spTgt spid="46"/>
                                        </p:tgtEl>
                                        <p:attrNameLst>
                                          <p:attrName>style.visibility</p:attrName>
                                        </p:attrNameLst>
                                      </p:cBhvr>
                                      <p:to>
                                        <p:strVal val="visible"/>
                                      </p:to>
                                    </p:set>
                                    <p:animEffect transition="in" filter="wipe(left)">
                                      <p:cBhvr>
                                        <p:cTn id="10" dur="2000"/>
                                        <p:tgtEl>
                                          <p:spTgt spid="46"/>
                                        </p:tgtEl>
                                      </p:cBhvr>
                                    </p:animEffect>
                                  </p:childTnLst>
                                </p:cTn>
                              </p:par>
                            </p:childTnLst>
                          </p:cTn>
                        </p:par>
                        <p:par>
                          <p:cTn id="11" fill="hold">
                            <p:stCondLst>
                              <p:cond delay="4500"/>
                            </p:stCondLst>
                            <p:childTnLst>
                              <p:par>
                                <p:cTn id="12" presetID="22" presetClass="entr" presetSubtype="2"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right)">
                                      <p:cBhvr>
                                        <p:cTn id="14" dur="2000"/>
                                        <p:tgtEl>
                                          <p:spTgt spid="55"/>
                                        </p:tgtEl>
                                      </p:cBhvr>
                                    </p:animEffect>
                                  </p:childTnLst>
                                </p:cTn>
                              </p:par>
                            </p:childTnLst>
                          </p:cTn>
                        </p:par>
                        <p:par>
                          <p:cTn id="15" fill="hold">
                            <p:stCondLst>
                              <p:cond delay="6500"/>
                            </p:stCondLst>
                            <p:childTnLst>
                              <p:par>
                                <p:cTn id="16" presetID="1" presetClass="entr" presetSubtype="0" fill="hold" nodeType="afterEffect">
                                  <p:stCondLst>
                                    <p:cond delay="500"/>
                                  </p:stCondLst>
                                  <p:childTnLst>
                                    <p:set>
                                      <p:cBhvr>
                                        <p:cTn id="17" dur="1" fill="hold">
                                          <p:stCondLst>
                                            <p:cond delay="0"/>
                                          </p:stCondLst>
                                        </p:cTn>
                                        <p:tgtEl>
                                          <p:spTgt spid="52"/>
                                        </p:tgtEl>
                                        <p:attrNameLst>
                                          <p:attrName>style.visibility</p:attrName>
                                        </p:attrNameLst>
                                      </p:cBhvr>
                                      <p:to>
                                        <p:strVal val="visible"/>
                                      </p:to>
                                    </p:set>
                                  </p:childTnLst>
                                </p:cTn>
                              </p:par>
                            </p:childTnLst>
                          </p:cTn>
                        </p:par>
                        <p:par>
                          <p:cTn id="18" fill="hold">
                            <p:stCondLst>
                              <p:cond delay="7000"/>
                            </p:stCondLst>
                            <p:childTnLst>
                              <p:par>
                                <p:cTn id="19" presetID="35" presetClass="emph" presetSubtype="0" repeatCount="3000" fill="hold" nodeType="afterEffect">
                                  <p:stCondLst>
                                    <p:cond delay="0"/>
                                  </p:stCondLst>
                                  <p:childTnLst>
                                    <p:anim calcmode="discrete" valueType="str">
                                      <p:cBhvr>
                                        <p:cTn id="20" dur="5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HTTP </a:t>
            </a:r>
            <a:r>
              <a:rPr lang="zh-CN" altLang="en-US" sz="2000" b="1" dirty="0">
                <a:solidFill>
                  <a:schemeClr val="bg1"/>
                </a:solidFill>
                <a:latin typeface="微软雅黑" pitchFamily="34" charset="-122"/>
                <a:ea typeface="微软雅黑" pitchFamily="34" charset="-122"/>
              </a:rPr>
              <a:t>的操作过程</a:t>
            </a: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6827"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925599"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5481420" y="1906021"/>
            <a:ext cx="723275" cy="10156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6000" b="1" dirty="0">
                <a:solidFill>
                  <a:srgbClr val="009900"/>
                </a:solidFill>
                <a:latin typeface="微软雅黑" pitchFamily="34" charset="-122"/>
                <a:ea typeface="微软雅黑" pitchFamily="34" charset="-122"/>
                <a:sym typeface="Wingdings" pitchFamily="2" charset="2"/>
              </a:rPr>
              <a:t></a:t>
            </a:r>
            <a:endParaRPr kumimoji="1" lang="en-US" altLang="zh-CN" sz="6000" b="1" dirty="0">
              <a:solidFill>
                <a:srgbClr val="009900"/>
              </a:solidFill>
              <a:latin typeface="微软雅黑" pitchFamily="34" charset="-122"/>
              <a:ea typeface="微软雅黑" pitchFamily="34" charset="-122"/>
            </a:endParaRPr>
          </a:p>
        </p:txBody>
      </p:sp>
      <p:pic>
        <p:nvPicPr>
          <p:cNvPr id="16" name="图片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55520" y="1342814"/>
            <a:ext cx="808942" cy="1132519"/>
          </a:xfrm>
          <a:prstGeom prst="rect">
            <a:avLst/>
          </a:prstGeom>
        </p:spPr>
      </p:pic>
      <p:graphicFrame>
        <p:nvGraphicFramePr>
          <p:cNvPr id="17" name="Object 66"/>
          <p:cNvGraphicFramePr>
            <a:graphicFrameLocks noChangeAspect="1"/>
          </p:cNvGraphicFramePr>
          <p:nvPr>
            <p:extLst>
              <p:ext uri="{D42A27DB-BD31-4B8C-83A1-F6EECF244321}">
                <p14:modId xmlns:p14="http://schemas.microsoft.com/office/powerpoint/2010/main" val="2214520532"/>
              </p:ext>
            </p:extLst>
          </p:nvPr>
        </p:nvGraphicFramePr>
        <p:xfrm>
          <a:off x="2217869" y="2050412"/>
          <a:ext cx="2148903" cy="873047"/>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17869" y="2050412"/>
                        <a:ext cx="2148903" cy="87304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8" name="Freeform 70"/>
          <p:cNvSpPr>
            <a:spLocks/>
          </p:cNvSpPr>
          <p:nvPr/>
        </p:nvSpPr>
        <p:spPr bwMode="auto">
          <a:xfrm>
            <a:off x="4113906"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19" name="Freeform 71"/>
          <p:cNvSpPr>
            <a:spLocks/>
          </p:cNvSpPr>
          <p:nvPr/>
        </p:nvSpPr>
        <p:spPr bwMode="auto">
          <a:xfrm>
            <a:off x="1176367"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0" name="Rectangle 72"/>
          <p:cNvSpPr>
            <a:spLocks noChangeArrowheads="1"/>
          </p:cNvSpPr>
          <p:nvPr/>
        </p:nvSpPr>
        <p:spPr bwMode="auto">
          <a:xfrm>
            <a:off x="2944842"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互联网</a:t>
            </a:r>
          </a:p>
        </p:txBody>
      </p:sp>
      <p:sp>
        <p:nvSpPr>
          <p:cNvPr id="21" name="Rectangle 73"/>
          <p:cNvSpPr>
            <a:spLocks noChangeArrowheads="1"/>
          </p:cNvSpPr>
          <p:nvPr/>
        </p:nvSpPr>
        <p:spPr bwMode="auto">
          <a:xfrm>
            <a:off x="4150539"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itchFamily="34" charset="-122"/>
                <a:ea typeface="微软雅黑" pitchFamily="34" charset="-122"/>
              </a:rPr>
              <a:t>服务器</a:t>
            </a:r>
          </a:p>
          <a:p>
            <a:pPr algn="ctr">
              <a:lnSpc>
                <a:spcPct val="80000"/>
              </a:lnSpc>
            </a:pPr>
            <a:r>
              <a:rPr kumimoji="1" lang="en-US" altLang="zh-CN" sz="1050" b="1" dirty="0">
                <a:latin typeface="微软雅黑" pitchFamily="34" charset="-122"/>
                <a:ea typeface="微软雅黑" pitchFamily="34" charset="-122"/>
              </a:rPr>
              <a:t>www.tsinghua.edu.cn</a:t>
            </a:r>
          </a:p>
        </p:txBody>
      </p:sp>
      <p:sp>
        <p:nvSpPr>
          <p:cNvPr id="22" name="Rectangle 74"/>
          <p:cNvSpPr>
            <a:spLocks noChangeArrowheads="1"/>
          </p:cNvSpPr>
          <p:nvPr/>
        </p:nvSpPr>
        <p:spPr bwMode="auto">
          <a:xfrm>
            <a:off x="2331773"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a:solidFill>
                  <a:srgbClr val="000099"/>
                </a:solidFill>
                <a:latin typeface="微软雅黑" pitchFamily="34" charset="-122"/>
                <a:ea typeface="微软雅黑" pitchFamily="34" charset="-122"/>
              </a:rPr>
              <a:t>链接到</a:t>
            </a:r>
            <a:r>
              <a:rPr kumimoji="1" lang="en-US" altLang="zh-CN" sz="1050" b="1" dirty="0">
                <a:solidFill>
                  <a:srgbClr val="000099"/>
                </a:solidFill>
                <a:latin typeface="微软雅黑" pitchFamily="34" charset="-122"/>
                <a:ea typeface="微软雅黑" pitchFamily="34" charset="-122"/>
              </a:rPr>
              <a:t> URL </a:t>
            </a:r>
            <a:r>
              <a:rPr kumimoji="1" lang="zh-CN" altLang="en-US" sz="1050" b="1" dirty="0">
                <a:solidFill>
                  <a:srgbClr val="000099"/>
                </a:solidFill>
                <a:latin typeface="微软雅黑" pitchFamily="34" charset="-122"/>
                <a:ea typeface="微软雅黑" pitchFamily="34" charset="-122"/>
              </a:rPr>
              <a:t>的超链</a:t>
            </a:r>
          </a:p>
        </p:txBody>
      </p:sp>
      <p:sp>
        <p:nvSpPr>
          <p:cNvPr id="23" name="Rectangle 75"/>
          <p:cNvSpPr>
            <a:spLocks noChangeArrowheads="1"/>
          </p:cNvSpPr>
          <p:nvPr/>
        </p:nvSpPr>
        <p:spPr bwMode="auto">
          <a:xfrm>
            <a:off x="2524854"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使用此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sp>
        <p:nvSpPr>
          <p:cNvPr id="24" name="Rectangle 76"/>
          <p:cNvSpPr>
            <a:spLocks noChangeArrowheads="1"/>
          </p:cNvSpPr>
          <p:nvPr/>
        </p:nvSpPr>
        <p:spPr bwMode="auto">
          <a:xfrm>
            <a:off x="1616842"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浏览器</a:t>
            </a:r>
          </a:p>
          <a:p>
            <a:pPr>
              <a:lnSpc>
                <a:spcPct val="90000"/>
              </a:lnSpc>
            </a:pPr>
            <a:r>
              <a:rPr kumimoji="1" lang="zh-CN" altLang="en-US" sz="1050" b="1" dirty="0">
                <a:solidFill>
                  <a:srgbClr val="000099"/>
                </a:solidFill>
                <a:latin typeface="微软雅黑" pitchFamily="34" charset="-122"/>
                <a:ea typeface="微软雅黑" pitchFamily="34" charset="-122"/>
              </a:rPr>
              <a:t> 程序</a:t>
            </a:r>
          </a:p>
        </p:txBody>
      </p:sp>
      <p:sp>
        <p:nvSpPr>
          <p:cNvPr id="25" name="Rectangle 77"/>
          <p:cNvSpPr>
            <a:spLocks noChangeArrowheads="1"/>
          </p:cNvSpPr>
          <p:nvPr/>
        </p:nvSpPr>
        <p:spPr bwMode="auto">
          <a:xfrm>
            <a:off x="3365815"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a:solidFill>
                  <a:srgbClr val="000099"/>
                </a:solidFill>
                <a:latin typeface="微软雅黑" pitchFamily="34" charset="-122"/>
                <a:ea typeface="微软雅黑" pitchFamily="34" charset="-122"/>
              </a:rPr>
              <a:t>服务器程序</a:t>
            </a:r>
            <a:endParaRPr kumimoji="1" lang="en-US" altLang="zh-CN" sz="1050" b="1" dirty="0">
              <a:solidFill>
                <a:srgbClr val="000099"/>
              </a:solidFill>
              <a:latin typeface="微软雅黑" pitchFamily="34" charset="-122"/>
              <a:ea typeface="微软雅黑" pitchFamily="34" charset="-122"/>
            </a:endParaRPr>
          </a:p>
          <a:p>
            <a:pPr>
              <a:lnSpc>
                <a:spcPct val="90000"/>
              </a:lnSpc>
            </a:pPr>
            <a:r>
              <a:rPr kumimoji="1" lang="zh-CN" altLang="en-US" sz="1050" b="1" dirty="0">
                <a:solidFill>
                  <a:srgbClr val="000099"/>
                </a:solidFill>
                <a:latin typeface="微软雅黑" pitchFamily="34" charset="-122"/>
                <a:ea typeface="微软雅黑" pitchFamily="34" charset="-122"/>
              </a:rPr>
              <a:t>监听</a:t>
            </a:r>
            <a:r>
              <a:rPr kumimoji="1" lang="en-US" altLang="zh-CN" sz="1050" b="1" dirty="0">
                <a:solidFill>
                  <a:srgbClr val="000099"/>
                </a:solidFill>
                <a:latin typeface="微软雅黑" pitchFamily="34" charset="-122"/>
                <a:ea typeface="微软雅黑" pitchFamily="34" charset="-122"/>
              </a:rPr>
              <a:t>TCP </a:t>
            </a:r>
            <a:r>
              <a:rPr kumimoji="1" lang="zh-CN" altLang="en-US" sz="1050" b="1" dirty="0">
                <a:solidFill>
                  <a:srgbClr val="000099"/>
                </a:solidFill>
                <a:latin typeface="微软雅黑" pitchFamily="34" charset="-122"/>
                <a:ea typeface="微软雅黑" pitchFamily="34" charset="-122"/>
              </a:rPr>
              <a:t>端口</a:t>
            </a:r>
            <a:r>
              <a:rPr kumimoji="1" lang="en-US" altLang="zh-CN" sz="1050" b="1" dirty="0">
                <a:solidFill>
                  <a:srgbClr val="000099"/>
                </a:solidFill>
                <a:latin typeface="微软雅黑" pitchFamily="34" charset="-122"/>
                <a:ea typeface="微软雅黑" pitchFamily="34" charset="-122"/>
              </a:rPr>
              <a:t>80</a:t>
            </a:r>
            <a:endParaRPr kumimoji="1" lang="zh-CN" altLang="en-US" sz="1050" b="1" dirty="0">
              <a:solidFill>
                <a:srgbClr val="000099"/>
              </a:solidFill>
              <a:latin typeface="微软雅黑" pitchFamily="34" charset="-122"/>
              <a:ea typeface="微软雅黑" pitchFamily="34" charset="-122"/>
            </a:endParaRPr>
          </a:p>
        </p:txBody>
      </p:sp>
      <p:sp>
        <p:nvSpPr>
          <p:cNvPr id="26" name="Rectangle 78"/>
          <p:cNvSpPr>
            <a:spLocks noChangeArrowheads="1"/>
          </p:cNvSpPr>
          <p:nvPr/>
        </p:nvSpPr>
        <p:spPr bwMode="auto">
          <a:xfrm>
            <a:off x="2542845"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itchFamily="34" charset="-122"/>
                <a:ea typeface="微软雅黑" pitchFamily="34" charset="-122"/>
              </a:rPr>
              <a:t>HTTP</a:t>
            </a:r>
          </a:p>
        </p:txBody>
      </p:sp>
      <p:sp>
        <p:nvSpPr>
          <p:cNvPr id="27" name="Rectangle 79"/>
          <p:cNvSpPr>
            <a:spLocks noChangeArrowheads="1"/>
          </p:cNvSpPr>
          <p:nvPr/>
        </p:nvSpPr>
        <p:spPr bwMode="auto">
          <a:xfrm>
            <a:off x="1591475"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itchFamily="34" charset="-122"/>
                <a:ea typeface="微软雅黑" pitchFamily="34" charset="-122"/>
              </a:rPr>
              <a:t>客户</a:t>
            </a:r>
          </a:p>
        </p:txBody>
      </p:sp>
      <p:sp>
        <p:nvSpPr>
          <p:cNvPr id="28" name="Freeform 81"/>
          <p:cNvSpPr>
            <a:spLocks/>
          </p:cNvSpPr>
          <p:nvPr/>
        </p:nvSpPr>
        <p:spPr bwMode="auto">
          <a:xfrm>
            <a:off x="1636724"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29" name="Rectangle 82"/>
          <p:cNvSpPr>
            <a:spLocks noChangeArrowheads="1"/>
          </p:cNvSpPr>
          <p:nvPr/>
        </p:nvSpPr>
        <p:spPr bwMode="auto">
          <a:xfrm>
            <a:off x="878232"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itchFamily="34" charset="-122"/>
                <a:ea typeface="微软雅黑" pitchFamily="34" charset="-122"/>
              </a:rPr>
              <a:t>清华大学</a:t>
            </a:r>
          </a:p>
          <a:p>
            <a:r>
              <a:rPr kumimoji="1" lang="zh-CN" altLang="en-US" sz="1050" b="1" dirty="0">
                <a:latin typeface="微软雅黑" pitchFamily="34" charset="-122"/>
                <a:ea typeface="微软雅黑" pitchFamily="34" charset="-122"/>
              </a:rPr>
              <a:t>院系设置</a:t>
            </a:r>
          </a:p>
        </p:txBody>
      </p:sp>
      <p:sp>
        <p:nvSpPr>
          <p:cNvPr id="30" name="Line 83"/>
          <p:cNvSpPr>
            <a:spLocks noChangeShapeType="1"/>
          </p:cNvSpPr>
          <p:nvPr/>
        </p:nvSpPr>
        <p:spPr bwMode="auto">
          <a:xfrm>
            <a:off x="925600" y="1950360"/>
            <a:ext cx="665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1" name="Oval 84"/>
          <p:cNvSpPr>
            <a:spLocks noChangeArrowheads="1"/>
          </p:cNvSpPr>
          <p:nvPr/>
        </p:nvSpPr>
        <p:spPr bwMode="auto">
          <a:xfrm>
            <a:off x="1093079" y="1978958"/>
            <a:ext cx="331829"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2" name="Line 85"/>
          <p:cNvSpPr>
            <a:spLocks noChangeShapeType="1"/>
          </p:cNvSpPr>
          <p:nvPr/>
        </p:nvSpPr>
        <p:spPr bwMode="auto">
          <a:xfrm>
            <a:off x="4491994" y="1871871"/>
            <a:ext cx="284805"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3" name="Line 86"/>
          <p:cNvSpPr>
            <a:spLocks noChangeShapeType="1"/>
          </p:cNvSpPr>
          <p:nvPr/>
        </p:nvSpPr>
        <p:spPr bwMode="auto">
          <a:xfrm flipH="1">
            <a:off x="1368607" y="1871870"/>
            <a:ext cx="306600" cy="131039"/>
          </a:xfrm>
          <a:prstGeom prst="line">
            <a:avLst/>
          </a:prstGeom>
          <a:noFill/>
          <a:ln w="28575">
            <a:solidFill>
              <a:srgbClr val="CC00CC"/>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4" name="Oval 87"/>
          <p:cNvSpPr>
            <a:spLocks noChangeArrowheads="1"/>
          </p:cNvSpPr>
          <p:nvPr/>
        </p:nvSpPr>
        <p:spPr bwMode="auto">
          <a:xfrm>
            <a:off x="4728887" y="1959503"/>
            <a:ext cx="332716" cy="130220"/>
          </a:xfrm>
          <a:prstGeom prst="ellipse">
            <a:avLst/>
          </a:prstGeom>
          <a:solidFill>
            <a:srgbClr val="00FFCC"/>
          </a:solidFill>
          <a:ln w="12700">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35" name="Freeform 88"/>
          <p:cNvSpPr>
            <a:spLocks/>
          </p:cNvSpPr>
          <p:nvPr/>
        </p:nvSpPr>
        <p:spPr bwMode="auto">
          <a:xfrm>
            <a:off x="1319039"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6" name="Line 89"/>
          <p:cNvSpPr>
            <a:spLocks noChangeShapeType="1"/>
          </p:cNvSpPr>
          <p:nvPr/>
        </p:nvSpPr>
        <p:spPr bwMode="auto">
          <a:xfrm flipV="1">
            <a:off x="1424907"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7" name="Line 90"/>
          <p:cNvSpPr>
            <a:spLocks noChangeShapeType="1"/>
          </p:cNvSpPr>
          <p:nvPr/>
        </p:nvSpPr>
        <p:spPr bwMode="auto">
          <a:xfrm rot="16200000" flipH="1">
            <a:off x="5007482" y="2054438"/>
            <a:ext cx="149057" cy="108244"/>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8" name="Freeform 91"/>
          <p:cNvSpPr>
            <a:spLocks/>
          </p:cNvSpPr>
          <p:nvPr/>
        </p:nvSpPr>
        <p:spPr bwMode="auto">
          <a:xfrm rot="216073">
            <a:off x="1522353"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itchFamily="34" charset="-122"/>
              <a:ea typeface="微软雅黑" pitchFamily="34" charset="-122"/>
            </a:endParaRPr>
          </a:p>
        </p:txBody>
      </p:sp>
      <p:sp>
        <p:nvSpPr>
          <p:cNvPr id="39" name="Line 92"/>
          <p:cNvSpPr>
            <a:spLocks noChangeShapeType="1"/>
          </p:cNvSpPr>
          <p:nvPr/>
        </p:nvSpPr>
        <p:spPr bwMode="auto">
          <a:xfrm>
            <a:off x="1826594"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0" name="Line 93"/>
          <p:cNvSpPr>
            <a:spLocks noChangeShapeType="1"/>
          </p:cNvSpPr>
          <p:nvPr/>
        </p:nvSpPr>
        <p:spPr bwMode="auto">
          <a:xfrm>
            <a:off x="4701262" y="2680217"/>
            <a:ext cx="0" cy="1540528"/>
          </a:xfrm>
          <a:prstGeom prst="line">
            <a:avLst/>
          </a:prstGeom>
          <a:noFill/>
          <a:ln w="19050">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1" name="Group 116"/>
          <p:cNvGrpSpPr>
            <a:grpSpLocks/>
          </p:cNvGrpSpPr>
          <p:nvPr/>
        </p:nvGrpSpPr>
        <p:grpSpPr bwMode="auto">
          <a:xfrm>
            <a:off x="1826594"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建立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sp>
        <p:nvSpPr>
          <p:cNvPr id="44" name="Line 108"/>
          <p:cNvSpPr>
            <a:spLocks noChangeShapeType="1"/>
          </p:cNvSpPr>
          <p:nvPr/>
        </p:nvSpPr>
        <p:spPr bwMode="auto">
          <a:xfrm>
            <a:off x="5284312" y="2237276"/>
            <a:ext cx="289241" cy="82718"/>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45" name="AutoShape 111"/>
          <p:cNvSpPr>
            <a:spLocks noChangeArrowheads="1"/>
          </p:cNvSpPr>
          <p:nvPr/>
        </p:nvSpPr>
        <p:spPr bwMode="auto">
          <a:xfrm>
            <a:off x="4972880" y="2151967"/>
            <a:ext cx="332716" cy="130220"/>
          </a:xfrm>
          <a:prstGeom prst="can">
            <a:avLst>
              <a:gd name="adj" fmla="val 39583"/>
            </a:avLst>
          </a:prstGeom>
          <a:solidFill>
            <a:srgbClr val="FF00FF"/>
          </a:solidFill>
          <a:ln w="9525">
            <a:solidFill>
              <a:schemeClr val="tx1"/>
            </a:solidFill>
            <a:round/>
            <a:headEnd/>
            <a:tailEnd/>
          </a:ln>
          <a:effec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grpSp>
        <p:nvGrpSpPr>
          <p:cNvPr id="46" name="Group 117"/>
          <p:cNvGrpSpPr>
            <a:grpSpLocks/>
          </p:cNvGrpSpPr>
          <p:nvPr/>
        </p:nvGrpSpPr>
        <p:grpSpPr bwMode="auto">
          <a:xfrm>
            <a:off x="1089297"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grpSp>
          <p:nvGrpSpPr>
            <p:cNvPr id="48" name="Group 95"/>
            <p:cNvGrpSpPr>
              <a:grpSpLocks/>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请求报文</a:t>
                </a: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浏览器</a:t>
              </a:r>
              <a:endParaRPr kumimoji="1" lang="en-US" altLang="zh-CN" sz="1050" b="1" dirty="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发出</a:t>
              </a:r>
              <a:r>
                <a:rPr kumimoji="1" lang="zh-CN" altLang="en-US" sz="1050" b="1" dirty="0">
                  <a:solidFill>
                    <a:srgbClr val="000099"/>
                  </a:solidFill>
                  <a:latin typeface="微软雅黑" pitchFamily="34" charset="-122"/>
                  <a:ea typeface="微软雅黑" pitchFamily="34" charset="-122"/>
                </a:rPr>
                <a:t>请求</a:t>
              </a:r>
            </a:p>
          </p:txBody>
        </p:sp>
      </p:grpSp>
      <p:grpSp>
        <p:nvGrpSpPr>
          <p:cNvPr id="52" name="Group 120"/>
          <p:cNvGrpSpPr>
            <a:grpSpLocks/>
          </p:cNvGrpSpPr>
          <p:nvPr/>
        </p:nvGrpSpPr>
        <p:grpSpPr bwMode="auto">
          <a:xfrm>
            <a:off x="1826594"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itchFamily="34" charset="-122"/>
                <a:ea typeface="微软雅黑"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050" b="1" dirty="0">
                  <a:latin typeface="微软雅黑" pitchFamily="34" charset="-122"/>
                  <a:ea typeface="微软雅黑" pitchFamily="34" charset="-122"/>
                </a:rPr>
                <a:t>释放 </a:t>
              </a:r>
              <a:r>
                <a:rPr kumimoji="1" lang="en-US" altLang="zh-CN" sz="1050" b="1" dirty="0">
                  <a:latin typeface="微软雅黑" pitchFamily="34" charset="-122"/>
                  <a:ea typeface="微软雅黑" pitchFamily="34" charset="-122"/>
                </a:rPr>
                <a:t>TCP </a:t>
              </a:r>
              <a:r>
                <a:rPr kumimoji="1" lang="zh-CN" altLang="en-US" sz="1050" b="1" dirty="0">
                  <a:latin typeface="微软雅黑" pitchFamily="34" charset="-122"/>
                  <a:ea typeface="微软雅黑" pitchFamily="34" charset="-122"/>
                </a:rPr>
                <a:t>连接</a:t>
              </a:r>
            </a:p>
          </p:txBody>
        </p:sp>
      </p:grpSp>
      <p:grpSp>
        <p:nvGrpSpPr>
          <p:cNvPr id="55" name="组合 54"/>
          <p:cNvGrpSpPr/>
          <p:nvPr/>
        </p:nvGrpSpPr>
        <p:grpSpPr>
          <a:xfrm>
            <a:off x="1839300"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itchFamily="34" charset="-122"/>
                <a:ea typeface="微软雅黑"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服务器</a:t>
              </a:r>
              <a:endParaRPr kumimoji="1" lang="en-US" altLang="zh-CN" sz="1050" b="1" dirty="0">
                <a:solidFill>
                  <a:srgbClr val="000099"/>
                </a:solidFill>
                <a:latin typeface="微软雅黑" pitchFamily="34" charset="-122"/>
                <a:ea typeface="微软雅黑" pitchFamily="34" charset="-122"/>
                <a:sym typeface="Wingdings" pitchFamily="2" charset="2"/>
              </a:endParaRPr>
            </a:p>
            <a:p>
              <a:pPr algn="ctr" eaLnBrk="1" hangingPunct="1"/>
              <a:r>
                <a:rPr kumimoji="1" lang="zh-CN" altLang="en-US" sz="1050" b="1" dirty="0">
                  <a:solidFill>
                    <a:srgbClr val="000099"/>
                  </a:solidFill>
                  <a:latin typeface="微软雅黑" pitchFamily="34" charset="-122"/>
                  <a:ea typeface="微软雅黑" pitchFamily="34" charset="-122"/>
                  <a:sym typeface="Wingdings" pitchFamily="2" charset="2"/>
                </a:rPr>
                <a:t>返回</a:t>
              </a:r>
              <a:r>
                <a:rPr kumimoji="1" lang="zh-CN" altLang="en-US" sz="1050" b="1" dirty="0">
                  <a:solidFill>
                    <a:srgbClr val="000099"/>
                  </a:solidFill>
                  <a:latin typeface="微软雅黑" pitchFamily="34" charset="-122"/>
                  <a:ea typeface="微软雅黑" pitchFamily="34" charset="-122"/>
                </a:rPr>
                <a:t>响应</a:t>
              </a: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itchFamily="34" charset="-122"/>
                  <a:ea typeface="微软雅黑" pitchFamily="34" charset="-122"/>
                  <a:sym typeface="Wingdings" pitchFamily="2" charset="2"/>
                </a:rPr>
                <a:t></a:t>
              </a:r>
              <a:endParaRPr lang="zh-CN" altLang="en-US" sz="4000" dirty="0">
                <a:solidFill>
                  <a:srgbClr val="009900"/>
                </a:solidFill>
                <a:latin typeface="微软雅黑" pitchFamily="34" charset="-122"/>
                <a:ea typeface="微软雅黑" pitchFamily="34" charset="-122"/>
              </a:endParaRPr>
            </a:p>
          </p:txBody>
        </p:sp>
        <p:grpSp>
          <p:nvGrpSpPr>
            <p:cNvPr id="60" name="Group 99"/>
            <p:cNvGrpSpPr>
              <a:grpSpLocks/>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itchFamily="34" charset="-122"/>
                  <a:ea typeface="微软雅黑"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itchFamily="34" charset="-122"/>
                    <a:ea typeface="微软雅黑" pitchFamily="34" charset="-122"/>
                  </a:rPr>
                  <a:t>HTTP </a:t>
                </a:r>
                <a:r>
                  <a:rPr kumimoji="1" lang="zh-CN" altLang="en-US" sz="1050" b="1" dirty="0">
                    <a:latin typeface="微软雅黑" pitchFamily="34" charset="-122"/>
                    <a:ea typeface="微软雅黑" pitchFamily="34" charset="-122"/>
                  </a:rPr>
                  <a:t>响应报文</a:t>
                </a:r>
              </a:p>
            </p:txBody>
          </p:sp>
        </p:grpSp>
      </p:grpSp>
      <p:sp>
        <p:nvSpPr>
          <p:cNvPr id="2" name="矩形 1"/>
          <p:cNvSpPr/>
          <p:nvPr/>
        </p:nvSpPr>
        <p:spPr>
          <a:xfrm>
            <a:off x="5341898" y="2711817"/>
            <a:ext cx="3148428" cy="1477328"/>
          </a:xfrm>
          <a:prstGeom prst="rect">
            <a:avLst/>
          </a:prstGeom>
          <a:solidFill>
            <a:schemeClr val="bg1"/>
          </a:solidFill>
        </p:spPr>
        <p:txBody>
          <a:bodyPr wrap="square">
            <a:spAutoFit/>
          </a:bodyPr>
          <a:lstStyle/>
          <a:p>
            <a:pPr>
              <a:lnSpc>
                <a:spcPts val="1800"/>
              </a:lnSpc>
            </a:pPr>
            <a:r>
              <a:rPr lang="en-US" altLang="zh-CN" sz="1400" b="1" dirty="0">
                <a:solidFill>
                  <a:srgbClr val="0000FF"/>
                </a:solidFill>
                <a:latin typeface="微软雅黑" panose="020B0503020204020204" pitchFamily="34" charset="-122"/>
                <a:ea typeface="微软雅黑" panose="020B0503020204020204" pitchFamily="34" charset="-122"/>
              </a:rPr>
              <a:t>HTTP </a:t>
            </a:r>
            <a:r>
              <a:rPr lang="zh-CN" altLang="en-US" sz="1400" b="1" dirty="0">
                <a:solidFill>
                  <a:srgbClr val="0000FF"/>
                </a:solidFill>
                <a:latin typeface="微软雅黑" panose="020B0503020204020204" pitchFamily="34" charset="-122"/>
                <a:ea typeface="微软雅黑" panose="020B0503020204020204" pitchFamily="34" charset="-122"/>
              </a:rPr>
              <a:t>规定：</a:t>
            </a:r>
            <a:r>
              <a:rPr lang="zh-CN" altLang="en-US" sz="1400" b="1" dirty="0">
                <a:latin typeface="微软雅黑" panose="020B0503020204020204" pitchFamily="34" charset="-122"/>
                <a:ea typeface="微软雅黑" panose="020B0503020204020204" pitchFamily="34" charset="-122"/>
              </a:rPr>
              <a:t>在 </a:t>
            </a: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客户与 </a:t>
            </a: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服务器之间的每次交互，都由一个 </a:t>
            </a:r>
            <a:r>
              <a:rPr lang="en-US" altLang="zh-CN" sz="1400" b="1" dirty="0">
                <a:solidFill>
                  <a:srgbClr val="C00000"/>
                </a:solidFill>
                <a:latin typeface="微软雅黑" panose="020B0503020204020204" pitchFamily="34" charset="-122"/>
                <a:ea typeface="微软雅黑" panose="020B0503020204020204" pitchFamily="34" charset="-122"/>
              </a:rPr>
              <a:t>ASCII</a:t>
            </a: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码串构成的</a:t>
            </a:r>
            <a:r>
              <a:rPr lang="zh-CN" altLang="en-US" sz="1400" b="1" dirty="0">
                <a:solidFill>
                  <a:srgbClr val="C00000"/>
                </a:solidFill>
                <a:latin typeface="微软雅黑" panose="020B0503020204020204" pitchFamily="34" charset="-122"/>
                <a:ea typeface="微软雅黑" panose="020B0503020204020204" pitchFamily="34" charset="-122"/>
              </a:rPr>
              <a:t>请求</a:t>
            </a:r>
            <a:r>
              <a:rPr lang="zh-CN" altLang="en-US" sz="1400" b="1" dirty="0">
                <a:latin typeface="微软雅黑" panose="020B0503020204020204" pitchFamily="34" charset="-122"/>
                <a:ea typeface="微软雅黑" panose="020B0503020204020204" pitchFamily="34" charset="-122"/>
              </a:rPr>
              <a:t>和一个类似的通用互联网扩充，即“类</a:t>
            </a:r>
            <a:r>
              <a:rPr lang="en-US" altLang="zh-CN" sz="1400" b="1" dirty="0">
                <a:latin typeface="微软雅黑" panose="020B0503020204020204" pitchFamily="34" charset="-122"/>
                <a:ea typeface="微软雅黑" panose="020B0503020204020204" pitchFamily="34" charset="-122"/>
              </a:rPr>
              <a:t>MIME (MIME-like)”</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响应</a:t>
            </a:r>
            <a:r>
              <a:rPr lang="zh-CN" altLang="en-US" sz="1400" b="1" dirty="0">
                <a:latin typeface="微软雅黑" panose="020B0503020204020204" pitchFamily="34" charset="-122"/>
                <a:ea typeface="微软雅黑" panose="020B0503020204020204" pitchFamily="34" charset="-122"/>
              </a:rPr>
              <a:t>组成。</a:t>
            </a: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报文通常都使用 </a:t>
            </a:r>
            <a:r>
              <a:rPr lang="en-US" altLang="zh-CN" sz="1400" b="1" dirty="0">
                <a:latin typeface="微软雅黑" panose="020B0503020204020204" pitchFamily="34" charset="-122"/>
                <a:ea typeface="微软雅黑" panose="020B0503020204020204" pitchFamily="34" charset="-122"/>
              </a:rPr>
              <a:t>TCP </a:t>
            </a:r>
            <a:r>
              <a:rPr lang="zh-CN" altLang="en-US" sz="1400" b="1" dirty="0">
                <a:latin typeface="微软雅黑" panose="020B0503020204020204" pitchFamily="34" charset="-122"/>
                <a:ea typeface="微软雅黑" panose="020B0503020204020204" pitchFamily="34" charset="-122"/>
              </a:rPr>
              <a:t>连接传送。</a:t>
            </a:r>
          </a:p>
        </p:txBody>
      </p:sp>
    </p:spTree>
    <p:extLst>
      <p:ext uri="{BB962C8B-B14F-4D97-AF65-F5344CB8AC3E}">
        <p14:creationId xmlns:p14="http://schemas.microsoft.com/office/powerpoint/2010/main" val="9176373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4" y="934452"/>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在浏览器的地址窗口中</a:t>
            </a:r>
            <a:r>
              <a:rPr lang="zh-CN" altLang="en-US" sz="2000" b="1" dirty="0">
                <a:solidFill>
                  <a:srgbClr val="C00000"/>
                </a:solidFill>
                <a:latin typeface="微软雅黑" pitchFamily="34" charset="-122"/>
                <a:ea typeface="微软雅黑" pitchFamily="34" charset="-122"/>
              </a:rPr>
              <a:t>键入</a:t>
            </a:r>
            <a:r>
              <a:rPr lang="zh-CN" altLang="en-US" sz="2000" b="1" dirty="0">
                <a:latin typeface="微软雅黑" pitchFamily="34" charset="-122"/>
                <a:ea typeface="微软雅黑" pitchFamily="34" charset="-122"/>
              </a:rPr>
              <a:t>所要找的页面的 </a:t>
            </a:r>
            <a:r>
              <a:rPr lang="en-US" altLang="zh-CN" sz="2000" b="1" dirty="0">
                <a:latin typeface="微软雅黑" pitchFamily="34" charset="-122"/>
                <a:ea typeface="微软雅黑" pitchFamily="34" charset="-122"/>
              </a:rPr>
              <a:t>URL</a:t>
            </a:r>
            <a:r>
              <a:rPr lang="zh-CN" altLang="en-US" sz="2000" b="1" dirty="0">
                <a:latin typeface="微软雅黑" pitchFamily="34" charset="-122"/>
                <a:ea typeface="微软雅黑" pitchFamily="34" charset="-122"/>
              </a:rPr>
              <a:t>。</a:t>
            </a: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在某一个页面中用鼠标</a:t>
            </a:r>
            <a:r>
              <a:rPr lang="zh-CN" altLang="en-US" sz="2000" b="1" dirty="0">
                <a:solidFill>
                  <a:srgbClr val="C00000"/>
                </a:solidFill>
                <a:latin typeface="微软雅黑" pitchFamily="34" charset="-122"/>
                <a:ea typeface="微软雅黑" pitchFamily="34" charset="-122"/>
              </a:rPr>
              <a:t>点击</a:t>
            </a:r>
            <a:r>
              <a:rPr lang="zh-CN" altLang="en-US" sz="2000" b="1" dirty="0">
                <a:latin typeface="微软雅黑" pitchFamily="34" charset="-122"/>
                <a:ea typeface="微软雅黑" pitchFamily="34" charset="-122"/>
              </a:rPr>
              <a:t>一个可选部分，这时浏览器会自动在互联网上找到所要链接的页面。</a:t>
            </a:r>
          </a:p>
        </p:txBody>
      </p:sp>
      <p:sp>
        <p:nvSpPr>
          <p:cNvPr id="11" name="AutoShape 5"/>
          <p:cNvSpPr>
            <a:spLocks noChangeArrowheads="1"/>
          </p:cNvSpPr>
          <p:nvPr/>
        </p:nvSpPr>
        <p:spPr bwMode="auto">
          <a:xfrm>
            <a:off x="556963" y="616887"/>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5503"/>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用户浏览页面的两种方法</a:t>
            </a:r>
          </a:p>
        </p:txBody>
      </p:sp>
    </p:spTree>
    <p:extLst>
      <p:ext uri="{BB962C8B-B14F-4D97-AF65-F5344CB8AC3E}">
        <p14:creationId xmlns:p14="http://schemas.microsoft.com/office/powerpoint/2010/main" val="29891138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8"/>
          <p:cNvSpPr>
            <a:spLocks noChangeArrowheads="1"/>
          </p:cNvSpPr>
          <p:nvPr/>
        </p:nvSpPr>
        <p:spPr bwMode="auto">
          <a:xfrm>
            <a:off x="556963" y="934358"/>
            <a:ext cx="8210901"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使用了面向连接的 </a:t>
            </a:r>
            <a:r>
              <a:rPr lang="en-US" altLang="zh-CN" sz="2000" b="1" dirty="0">
                <a:solidFill>
                  <a:srgbClr val="C00000"/>
                </a:solidFill>
                <a:latin typeface="微软雅黑" pitchFamily="34" charset="-122"/>
                <a:ea typeface="微软雅黑" pitchFamily="34" charset="-122"/>
              </a:rPr>
              <a:t>TCP</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作为运输层协议，保证了数据的可靠传输。</a:t>
            </a:r>
            <a:endParaRPr lang="en-US" altLang="zh-CN" sz="2000" b="1" dirty="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协议本身也是</a:t>
            </a:r>
            <a:r>
              <a:rPr lang="zh-CN" altLang="en-US" sz="2000" b="1" dirty="0">
                <a:solidFill>
                  <a:srgbClr val="C00000"/>
                </a:solidFill>
                <a:latin typeface="微软雅黑" pitchFamily="34" charset="-122"/>
                <a:ea typeface="微软雅黑" pitchFamily="34" charset="-122"/>
              </a:rPr>
              <a:t>无连接的。</a:t>
            </a:r>
          </a:p>
          <a:p>
            <a:pPr marL="285750" indent="-28575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是</a:t>
            </a:r>
            <a:r>
              <a:rPr lang="zh-CN" altLang="en-US" sz="2000" b="1" dirty="0">
                <a:solidFill>
                  <a:srgbClr val="C00000"/>
                </a:solidFill>
                <a:latin typeface="微软雅黑" pitchFamily="34" charset="-122"/>
                <a:ea typeface="微软雅黑" pitchFamily="34" charset="-122"/>
              </a:rPr>
              <a:t>无状态的 </a:t>
            </a:r>
            <a:r>
              <a:rPr lang="en-US" altLang="zh-CN" sz="2000" b="1" dirty="0">
                <a:latin typeface="微软雅黑" pitchFamily="34" charset="-122"/>
                <a:ea typeface="微软雅黑" pitchFamily="34" charset="-122"/>
              </a:rPr>
              <a:t>(stateless)</a:t>
            </a:r>
            <a:r>
              <a:rPr lang="zh-CN" altLang="en-US" sz="2000" b="1" dirty="0">
                <a:latin typeface="微软雅黑" pitchFamily="34" charset="-122"/>
                <a:ea typeface="微软雅黑" pitchFamily="34" charset="-122"/>
              </a:rPr>
              <a:t>，简化了服务器的设计，使服务器更容易支持大量并发的 </a:t>
            </a: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 </a:t>
            </a:r>
          </a:p>
        </p:txBody>
      </p:sp>
      <p:sp>
        <p:nvSpPr>
          <p:cNvPr id="8" name="AutoShape 5"/>
          <p:cNvSpPr>
            <a:spLocks noChangeArrowheads="1"/>
          </p:cNvSpPr>
          <p:nvPr/>
        </p:nvSpPr>
        <p:spPr bwMode="auto">
          <a:xfrm>
            <a:off x="556963" y="614243"/>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矩形 8"/>
          <p:cNvSpPr/>
          <p:nvPr/>
        </p:nvSpPr>
        <p:spPr>
          <a:xfrm>
            <a:off x="645268" y="572003"/>
            <a:ext cx="224830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的主要特点</a:t>
            </a:r>
          </a:p>
        </p:txBody>
      </p:sp>
    </p:spTree>
    <p:extLst>
      <p:ext uri="{BB962C8B-B14F-4D97-AF65-F5344CB8AC3E}">
        <p14:creationId xmlns:p14="http://schemas.microsoft.com/office/powerpoint/2010/main" val="37707661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959415"/>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Line 20"/>
          <p:cNvSpPr>
            <a:spLocks noChangeShapeType="1"/>
          </p:cNvSpPr>
          <p:nvPr/>
        </p:nvSpPr>
        <p:spPr bwMode="auto">
          <a:xfrm flipH="1">
            <a:off x="2620467" y="2668649"/>
            <a:ext cx="3270" cy="615774"/>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7" name="Rectangle 25"/>
          <p:cNvSpPr>
            <a:spLocks noChangeArrowheads="1"/>
          </p:cNvSpPr>
          <p:nvPr/>
        </p:nvSpPr>
        <p:spPr bwMode="auto">
          <a:xfrm>
            <a:off x="2437344" y="2892018"/>
            <a:ext cx="355344" cy="1730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58" name="Text Box 26"/>
          <p:cNvSpPr txBox="1">
            <a:spLocks noChangeArrowheads="1"/>
          </p:cNvSpPr>
          <p:nvPr/>
        </p:nvSpPr>
        <p:spPr bwMode="auto">
          <a:xfrm>
            <a:off x="2377389" y="2850538"/>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RTT</a:t>
            </a:r>
          </a:p>
        </p:txBody>
      </p:sp>
      <p:sp>
        <p:nvSpPr>
          <p:cNvPr id="59" name="Line 19"/>
          <p:cNvSpPr>
            <a:spLocks noChangeShapeType="1"/>
          </p:cNvSpPr>
          <p:nvPr/>
        </p:nvSpPr>
        <p:spPr bwMode="auto">
          <a:xfrm flipH="1">
            <a:off x="2623736" y="2049857"/>
            <a:ext cx="4360" cy="614768"/>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0" name="Rectangle 22"/>
          <p:cNvSpPr>
            <a:spLocks noChangeArrowheads="1"/>
          </p:cNvSpPr>
          <p:nvPr/>
        </p:nvSpPr>
        <p:spPr bwMode="auto">
          <a:xfrm>
            <a:off x="2437344" y="2289324"/>
            <a:ext cx="355344" cy="17406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61" name="Text Box 23"/>
          <p:cNvSpPr txBox="1">
            <a:spLocks noChangeArrowheads="1"/>
          </p:cNvSpPr>
          <p:nvPr/>
        </p:nvSpPr>
        <p:spPr bwMode="auto">
          <a:xfrm>
            <a:off x="2380769" y="2246727"/>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RTT</a:t>
            </a:r>
          </a:p>
        </p:txBody>
      </p:sp>
      <p:sp>
        <p:nvSpPr>
          <p:cNvPr id="62" name="Freeform 4"/>
          <p:cNvSpPr>
            <a:spLocks/>
          </p:cNvSpPr>
          <p:nvPr/>
        </p:nvSpPr>
        <p:spPr bwMode="auto">
          <a:xfrm>
            <a:off x="2804679" y="2985591"/>
            <a:ext cx="2196376" cy="519182"/>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rgbClr val="0099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4" name="Rectangle 6"/>
          <p:cNvSpPr>
            <a:spLocks noChangeArrowheads="1"/>
          </p:cNvSpPr>
          <p:nvPr/>
        </p:nvSpPr>
        <p:spPr bwMode="auto">
          <a:xfrm>
            <a:off x="4388354" y="1110772"/>
            <a:ext cx="1106073" cy="237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200" b="1" dirty="0">
                <a:latin typeface="微软雅黑" pitchFamily="34" charset="-122"/>
                <a:ea typeface="微软雅黑" pitchFamily="34" charset="-122"/>
              </a:rPr>
              <a:t>万维网服务器</a:t>
            </a:r>
          </a:p>
        </p:txBody>
      </p:sp>
      <p:sp>
        <p:nvSpPr>
          <p:cNvPr id="65" name="Rectangle 7"/>
          <p:cNvSpPr>
            <a:spLocks noChangeArrowheads="1"/>
          </p:cNvSpPr>
          <p:nvPr/>
        </p:nvSpPr>
        <p:spPr bwMode="auto">
          <a:xfrm>
            <a:off x="2354504" y="115906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67" name="Line 9"/>
          <p:cNvSpPr>
            <a:spLocks noChangeShapeType="1"/>
          </p:cNvSpPr>
          <p:nvPr/>
        </p:nvSpPr>
        <p:spPr bwMode="auto">
          <a:xfrm>
            <a:off x="2805768" y="2000555"/>
            <a:ext cx="0" cy="1893606"/>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8" name="Text Box 10"/>
          <p:cNvSpPr txBox="1">
            <a:spLocks noChangeArrowheads="1"/>
          </p:cNvSpPr>
          <p:nvPr/>
        </p:nvSpPr>
        <p:spPr bwMode="auto">
          <a:xfrm>
            <a:off x="1078774" y="1921067"/>
            <a:ext cx="1352677"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chemeClr val="bg1"/>
                </a:solidFill>
                <a:latin typeface="微软雅黑" pitchFamily="34" charset="-122"/>
                <a:ea typeface="微软雅黑" pitchFamily="34" charset="-122"/>
              </a:rPr>
              <a:t>发起 </a:t>
            </a:r>
            <a:r>
              <a:rPr kumimoji="1" lang="en-US" altLang="zh-CN" sz="1400" b="1" dirty="0">
                <a:solidFill>
                  <a:schemeClr val="bg1"/>
                </a:solidFill>
                <a:latin typeface="微软雅黑" pitchFamily="34" charset="-122"/>
                <a:ea typeface="微软雅黑" pitchFamily="34" charset="-122"/>
              </a:rPr>
              <a:t>TCP </a:t>
            </a:r>
            <a:r>
              <a:rPr kumimoji="1" lang="zh-CN" altLang="en-US" sz="1400" b="1" dirty="0">
                <a:solidFill>
                  <a:schemeClr val="bg1"/>
                </a:solidFill>
                <a:latin typeface="微软雅黑" pitchFamily="34" charset="-122"/>
                <a:ea typeface="微软雅黑" pitchFamily="34" charset="-122"/>
              </a:rPr>
              <a:t>连接</a:t>
            </a:r>
          </a:p>
        </p:txBody>
      </p:sp>
      <p:sp>
        <p:nvSpPr>
          <p:cNvPr id="69" name="Text Box 11"/>
          <p:cNvSpPr txBox="1">
            <a:spLocks noChangeArrowheads="1"/>
          </p:cNvSpPr>
          <p:nvPr/>
        </p:nvSpPr>
        <p:spPr bwMode="auto">
          <a:xfrm>
            <a:off x="981440" y="2517725"/>
            <a:ext cx="1450011"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sp>
        <p:nvSpPr>
          <p:cNvPr id="70" name="Line 12"/>
          <p:cNvSpPr>
            <a:spLocks noChangeShapeType="1"/>
          </p:cNvSpPr>
          <p:nvPr/>
        </p:nvSpPr>
        <p:spPr bwMode="auto">
          <a:xfrm>
            <a:off x="2805768" y="2049856"/>
            <a:ext cx="2196375" cy="287764"/>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1" name="Line 13"/>
          <p:cNvSpPr>
            <a:spLocks noChangeShapeType="1"/>
          </p:cNvSpPr>
          <p:nvPr/>
        </p:nvSpPr>
        <p:spPr bwMode="auto">
          <a:xfrm flipH="1">
            <a:off x="2798139" y="2364787"/>
            <a:ext cx="2196376" cy="288770"/>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2" name="Line 14"/>
          <p:cNvSpPr>
            <a:spLocks noChangeShapeType="1"/>
          </p:cNvSpPr>
          <p:nvPr/>
        </p:nvSpPr>
        <p:spPr bwMode="auto">
          <a:xfrm>
            <a:off x="2805768" y="2680724"/>
            <a:ext cx="2196375" cy="287764"/>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3" name="Line 15"/>
          <p:cNvSpPr>
            <a:spLocks noChangeShapeType="1"/>
          </p:cNvSpPr>
          <p:nvPr/>
        </p:nvSpPr>
        <p:spPr bwMode="auto">
          <a:xfrm>
            <a:off x="2510375" y="2049856"/>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Line 16"/>
          <p:cNvSpPr>
            <a:spLocks noChangeShapeType="1"/>
          </p:cNvSpPr>
          <p:nvPr/>
        </p:nvSpPr>
        <p:spPr bwMode="auto">
          <a:xfrm>
            <a:off x="2514735" y="2664624"/>
            <a:ext cx="295394"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5" name="Line 17"/>
          <p:cNvSpPr>
            <a:spLocks noChangeShapeType="1"/>
          </p:cNvSpPr>
          <p:nvPr/>
        </p:nvSpPr>
        <p:spPr bwMode="auto">
          <a:xfrm>
            <a:off x="2502745" y="3506785"/>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6" name="Line 18"/>
          <p:cNvSpPr>
            <a:spLocks noChangeShapeType="1"/>
          </p:cNvSpPr>
          <p:nvPr/>
        </p:nvSpPr>
        <p:spPr bwMode="auto">
          <a:xfrm>
            <a:off x="2502745" y="3276374"/>
            <a:ext cx="295393" cy="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7" name="Text Box 27"/>
          <p:cNvSpPr txBox="1">
            <a:spLocks noChangeArrowheads="1"/>
          </p:cNvSpPr>
          <p:nvPr/>
        </p:nvSpPr>
        <p:spPr bwMode="auto">
          <a:xfrm>
            <a:off x="5249291" y="2932603"/>
            <a:ext cx="1441419"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chemeClr val="bg1"/>
                </a:solidFill>
                <a:latin typeface="微软雅黑" pitchFamily="34" charset="-122"/>
                <a:ea typeface="微软雅黑" pitchFamily="34" charset="-122"/>
              </a:rPr>
              <a:t>传输文档的时间</a:t>
            </a:r>
          </a:p>
        </p:txBody>
      </p:sp>
      <p:sp>
        <p:nvSpPr>
          <p:cNvPr id="78" name="Text Box 28"/>
          <p:cNvSpPr txBox="1">
            <a:spLocks noChangeArrowheads="1"/>
          </p:cNvSpPr>
          <p:nvPr/>
        </p:nvSpPr>
        <p:spPr bwMode="auto">
          <a:xfrm>
            <a:off x="1169568" y="3381016"/>
            <a:ext cx="1261883" cy="30777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chemeClr val="bg1"/>
                </a:solidFill>
                <a:latin typeface="微软雅黑" pitchFamily="34" charset="-122"/>
                <a:ea typeface="微软雅黑" pitchFamily="34" charset="-122"/>
              </a:rPr>
              <a:t>整个文档收到</a:t>
            </a:r>
          </a:p>
        </p:txBody>
      </p:sp>
      <p:sp>
        <p:nvSpPr>
          <p:cNvPr id="79" name="AutoShape 29"/>
          <p:cNvSpPr>
            <a:spLocks noChangeArrowheads="1"/>
          </p:cNvSpPr>
          <p:nvPr/>
        </p:nvSpPr>
        <p:spPr bwMode="auto">
          <a:xfrm rot="21154273">
            <a:off x="3620008" y="3155634"/>
            <a:ext cx="652918" cy="173061"/>
          </a:xfrm>
          <a:prstGeom prst="leftArrow">
            <a:avLst>
              <a:gd name="adj1" fmla="val 50000"/>
              <a:gd name="adj2" fmla="val 87064"/>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80" name="Line 30"/>
          <p:cNvSpPr>
            <a:spLocks noChangeShapeType="1"/>
          </p:cNvSpPr>
          <p:nvPr/>
        </p:nvSpPr>
        <p:spPr bwMode="auto">
          <a:xfrm>
            <a:off x="4995603" y="1997535"/>
            <a:ext cx="0" cy="1892600"/>
          </a:xfrm>
          <a:prstGeom prst="line">
            <a:avLst/>
          </a:prstGeom>
          <a:noFill/>
          <a:ln w="1270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1" name="Text Box 31"/>
          <p:cNvSpPr txBox="1">
            <a:spLocks noChangeArrowheads="1"/>
          </p:cNvSpPr>
          <p:nvPr/>
        </p:nvSpPr>
        <p:spPr bwMode="auto">
          <a:xfrm>
            <a:off x="2594306"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时间</a:t>
            </a:r>
          </a:p>
        </p:txBody>
      </p:sp>
      <p:sp>
        <p:nvSpPr>
          <p:cNvPr id="82" name="Text Box 32"/>
          <p:cNvSpPr txBox="1">
            <a:spLocks noChangeArrowheads="1"/>
          </p:cNvSpPr>
          <p:nvPr/>
        </p:nvSpPr>
        <p:spPr bwMode="auto">
          <a:xfrm>
            <a:off x="4778692"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时间</a:t>
            </a:r>
          </a:p>
        </p:txBody>
      </p:sp>
      <p:sp>
        <p:nvSpPr>
          <p:cNvPr id="83" name="Text Box 33"/>
          <p:cNvSpPr txBox="1">
            <a:spLocks noChangeArrowheads="1"/>
          </p:cNvSpPr>
          <p:nvPr/>
        </p:nvSpPr>
        <p:spPr bwMode="auto">
          <a:xfrm rot="21159151">
            <a:off x="3227947" y="3335620"/>
            <a:ext cx="14500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solidFill>
                  <a:srgbClr val="0000FF"/>
                </a:solidFill>
                <a:latin typeface="微软雅黑" pitchFamily="34" charset="-122"/>
                <a:ea typeface="微软雅黑" pitchFamily="34" charset="-122"/>
              </a:rPr>
              <a:t>HTTP </a:t>
            </a:r>
            <a:r>
              <a:rPr kumimoji="1" lang="zh-CN" altLang="en-US" sz="1400" b="1" dirty="0">
                <a:solidFill>
                  <a:srgbClr val="0000FF"/>
                </a:solidFill>
                <a:latin typeface="微软雅黑" pitchFamily="34" charset="-122"/>
                <a:ea typeface="微软雅黑" pitchFamily="34" charset="-122"/>
              </a:rPr>
              <a:t>响应报文</a:t>
            </a:r>
          </a:p>
        </p:txBody>
      </p:sp>
      <p:sp>
        <p:nvSpPr>
          <p:cNvPr id="84" name="AutoShape 34"/>
          <p:cNvSpPr>
            <a:spLocks/>
          </p:cNvSpPr>
          <p:nvPr/>
        </p:nvSpPr>
        <p:spPr bwMode="auto">
          <a:xfrm>
            <a:off x="5027214" y="2972512"/>
            <a:ext cx="59950" cy="231418"/>
          </a:xfrm>
          <a:prstGeom prst="rightBracket">
            <a:avLst>
              <a:gd name="adj" fmla="val 34849"/>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85" name="Line 35"/>
          <p:cNvSpPr>
            <a:spLocks noChangeShapeType="1"/>
          </p:cNvSpPr>
          <p:nvPr/>
        </p:nvSpPr>
        <p:spPr bwMode="auto">
          <a:xfrm>
            <a:off x="5087164" y="3088220"/>
            <a:ext cx="16212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87" name="图片 8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737706" y="1333637"/>
            <a:ext cx="511585" cy="716219"/>
          </a:xfrm>
          <a:prstGeom prst="rect">
            <a:avLst/>
          </a:prstGeom>
        </p:spPr>
      </p:pic>
      <p:pic>
        <p:nvPicPr>
          <p:cNvPr id="8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84110" y="1397534"/>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89"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矩形 89"/>
          <p:cNvSpPr/>
          <p:nvPr/>
        </p:nvSpPr>
        <p:spPr>
          <a:xfrm>
            <a:off x="645268" y="569908"/>
            <a:ext cx="377539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请求一个万维网文档所需的时间</a:t>
            </a:r>
          </a:p>
        </p:txBody>
      </p:sp>
      <p:sp>
        <p:nvSpPr>
          <p:cNvPr id="3" name="矩形 2"/>
          <p:cNvSpPr/>
          <p:nvPr/>
        </p:nvSpPr>
        <p:spPr>
          <a:xfrm>
            <a:off x="5332431" y="1461642"/>
            <a:ext cx="3107597" cy="1374735"/>
          </a:xfrm>
          <a:prstGeom prst="rect">
            <a:avLst/>
          </a:prstGeom>
          <a:solidFill>
            <a:schemeClr val="bg1"/>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所需的时间 </a:t>
            </a:r>
            <a:r>
              <a:rPr lang="en-US" altLang="zh-CN" sz="1400" b="1" dirty="0">
                <a:latin typeface="微软雅黑" panose="020B0503020204020204" pitchFamily="34" charset="-122"/>
                <a:ea typeface="微软雅黑" panose="020B0503020204020204" pitchFamily="34" charset="-122"/>
              </a:rPr>
              <a:t>&gt;= </a:t>
            </a:r>
          </a:p>
          <a:p>
            <a:pPr>
              <a:lnSpc>
                <a:spcPts val="2000"/>
              </a:lnSpc>
            </a:pPr>
            <a:r>
              <a:rPr lang="en-US" altLang="zh-CN" sz="1400" b="1" dirty="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（三报文握手建立 </a:t>
            </a:r>
            <a:r>
              <a:rPr lang="en-US" altLang="zh-CN" sz="1400" b="1" dirty="0">
                <a:latin typeface="微软雅黑" panose="020B0503020204020204" pitchFamily="34" charset="-122"/>
                <a:ea typeface="微软雅黑" panose="020B0503020204020204" pitchFamily="34" charset="-122"/>
              </a:rPr>
              <a:t>TCP </a:t>
            </a:r>
            <a:r>
              <a:rPr lang="zh-CN" altLang="en-US" sz="1400" b="1" dirty="0">
                <a:latin typeface="微软雅黑" panose="020B0503020204020204" pitchFamily="34" charset="-122"/>
                <a:ea typeface="微软雅黑" panose="020B0503020204020204" pitchFamily="34" charset="-122"/>
              </a:rPr>
              <a:t>连接）</a:t>
            </a:r>
            <a:r>
              <a:rPr lang="en-US" altLang="zh-CN" sz="1400" b="1" dirty="0">
                <a:latin typeface="微软雅黑" panose="020B0503020204020204" pitchFamily="34" charset="-122"/>
                <a:ea typeface="微软雅黑" panose="020B0503020204020204" pitchFamily="34" charset="-122"/>
              </a:rPr>
              <a:t> </a:t>
            </a:r>
          </a:p>
          <a:p>
            <a:pPr>
              <a:lnSpc>
                <a:spcPts val="2000"/>
              </a:lnSpc>
            </a:pPr>
            <a:r>
              <a:rPr lang="en-US" altLang="zh-CN" sz="1400" b="1" dirty="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（请求和接收文档）</a:t>
            </a:r>
            <a:endParaRPr lang="en-US" altLang="zh-CN" sz="1400" b="1" dirty="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文档的传输时间</a:t>
            </a:r>
            <a:endParaRPr lang="en-US" altLang="zh-CN" sz="1400" b="1" dirty="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2 RTT +</a:t>
            </a:r>
            <a:r>
              <a:rPr lang="zh-CN" altLang="en-US" sz="1400" b="1" dirty="0">
                <a:latin typeface="微软雅黑" panose="020B0503020204020204" pitchFamily="34" charset="-122"/>
                <a:ea typeface="微软雅黑" panose="020B0503020204020204" pitchFamily="34" charset="-122"/>
              </a:rPr>
              <a:t>文档的传输时间</a:t>
            </a:r>
            <a:endParaRPr lang="zh-CN" altLang="en-US" sz="1400" dirty="0"/>
          </a:p>
        </p:txBody>
      </p:sp>
    </p:spTree>
    <p:extLst>
      <p:ext uri="{BB962C8B-B14F-4D97-AF65-F5344CB8AC3E}">
        <p14:creationId xmlns:p14="http://schemas.microsoft.com/office/powerpoint/2010/main" val="8471199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29731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每请求一个文档就要有两倍 </a:t>
            </a:r>
            <a:r>
              <a:rPr lang="en-US" altLang="zh-CN" sz="2000" b="1" dirty="0">
                <a:latin typeface="微软雅黑" pitchFamily="34" charset="-122"/>
                <a:ea typeface="微软雅黑" pitchFamily="34" charset="-122"/>
              </a:rPr>
              <a:t>RTT </a:t>
            </a:r>
            <a:r>
              <a:rPr lang="zh-CN" altLang="en-US" sz="2000" b="1" dirty="0">
                <a:latin typeface="微软雅黑" pitchFamily="34" charset="-122"/>
                <a:ea typeface="微软雅黑" pitchFamily="34" charset="-122"/>
              </a:rPr>
              <a:t>的开销。</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客户和服务器每一次建立新的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连接都要分配缓存和变量。</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这种</a:t>
            </a:r>
            <a:r>
              <a:rPr lang="zh-CN" altLang="en-US" sz="2000" b="1" dirty="0">
                <a:solidFill>
                  <a:srgbClr val="C00000"/>
                </a:solidFill>
                <a:latin typeface="微软雅黑" pitchFamily="34" charset="-122"/>
                <a:ea typeface="微软雅黑" pitchFamily="34" charset="-122"/>
              </a:rPr>
              <a:t>非持续连接</a:t>
            </a:r>
            <a:r>
              <a:rPr lang="zh-CN" altLang="en-US" sz="2000" b="1" dirty="0">
                <a:latin typeface="微软雅黑" pitchFamily="34" charset="-122"/>
                <a:ea typeface="微软雅黑" pitchFamily="34" charset="-122"/>
              </a:rPr>
              <a:t>使服务器的负担很重。</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9908"/>
            <a:ext cx="335117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HTTP/1.0 </a:t>
            </a:r>
            <a:r>
              <a:rPr lang="zh-CN" altLang="en-US" sz="2000" b="1" dirty="0">
                <a:latin typeface="微软雅黑" pitchFamily="34" charset="-122"/>
                <a:ea typeface="微软雅黑" pitchFamily="34" charset="-122"/>
              </a:rPr>
              <a:t>的主要缺点</a:t>
            </a:r>
          </a:p>
        </p:txBody>
      </p:sp>
      <p:sp>
        <p:nvSpPr>
          <p:cNvPr id="7" name="Text Box 4"/>
          <p:cNvSpPr txBox="1">
            <a:spLocks noChangeArrowheads="1"/>
          </p:cNvSpPr>
          <p:nvPr/>
        </p:nvSpPr>
        <p:spPr bwMode="auto">
          <a:xfrm>
            <a:off x="6908190" y="1122804"/>
            <a:ext cx="2026123" cy="2067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nSpc>
                <a:spcPts val="2200"/>
              </a:lnSpc>
            </a:pPr>
            <a:r>
              <a:rPr lang="zh-CN" altLang="en-US" sz="1600" b="1" dirty="0">
                <a:latin typeface="微软雅黑" panose="020B0503020204020204" pitchFamily="34" charset="-122"/>
                <a:ea typeface="微软雅黑" panose="020B0503020204020204" pitchFamily="34" charset="-122"/>
              </a:rPr>
              <a:t>假设一个主页</a:t>
            </a:r>
            <a:r>
              <a:rPr lang="en-US" altLang="zh-CN" sz="1600" b="1" dirty="0">
                <a:latin typeface="微软雅黑" panose="020B0503020204020204" pitchFamily="34" charset="-122"/>
                <a:ea typeface="微软雅黑" panose="020B0503020204020204" pitchFamily="34" charset="-122"/>
              </a:rPr>
              <a:t>page.html </a:t>
            </a:r>
            <a:r>
              <a:rPr lang="zh-CN" altLang="en-US" sz="1600" b="1" dirty="0">
                <a:latin typeface="微软雅黑" panose="020B0503020204020204" pitchFamily="34" charset="-122"/>
                <a:ea typeface="微软雅黑" panose="020B0503020204020204" pitchFamily="34" charset="-122"/>
              </a:rPr>
              <a:t>上有 </a:t>
            </a:r>
            <a:r>
              <a:rPr lang="en-US" altLang="zh-CN" sz="1600" b="1" dirty="0">
                <a:latin typeface="微软雅黑" panose="020B0503020204020204" pitchFamily="34" charset="-122"/>
                <a:ea typeface="微软雅黑" panose="020B0503020204020204" pitchFamily="34" charset="-122"/>
              </a:rPr>
              <a:t>10 </a:t>
            </a:r>
            <a:r>
              <a:rPr lang="zh-CN" altLang="en-US" sz="1600" b="1" dirty="0">
                <a:latin typeface="微软雅黑" panose="020B0503020204020204" pitchFamily="34" charset="-122"/>
                <a:ea typeface="微软雅黑" panose="020B0503020204020204" pitchFamily="34" charset="-122"/>
              </a:rPr>
              <a:t>个链接的图片：</a:t>
            </a:r>
            <a:r>
              <a:rPr lang="en-US" altLang="zh-CN" sz="1600" b="1" dirty="0">
                <a:latin typeface="微软雅黑" panose="020B0503020204020204" pitchFamily="34" charset="-122"/>
                <a:ea typeface="微软雅黑" panose="020B0503020204020204" pitchFamily="34" charset="-122"/>
              </a:rPr>
              <a:t>page1.jpg, page2.jpg, page3.jpg,</a:t>
            </a:r>
          </a:p>
          <a:p>
            <a:pPr>
              <a:lnSpc>
                <a:spcPts val="2200"/>
              </a:lnSpc>
            </a:pPr>
            <a:r>
              <a:rPr lang="en-US" altLang="zh-CN" sz="1600" b="1" dirty="0">
                <a:latin typeface="微软雅黑" panose="020B0503020204020204" pitchFamily="34" charset="-122"/>
                <a:ea typeface="微软雅黑" panose="020B0503020204020204" pitchFamily="34" charset="-122"/>
              </a:rPr>
              <a:t>…</a:t>
            </a:r>
          </a:p>
        </p:txBody>
      </p:sp>
      <p:sp>
        <p:nvSpPr>
          <p:cNvPr id="8" name="Line 5"/>
          <p:cNvSpPr>
            <a:spLocks noChangeShapeType="1"/>
          </p:cNvSpPr>
          <p:nvPr/>
        </p:nvSpPr>
        <p:spPr bwMode="auto">
          <a:xfrm>
            <a:off x="4715307" y="1281829"/>
            <a:ext cx="6384" cy="3260286"/>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Line 6"/>
          <p:cNvSpPr>
            <a:spLocks noChangeShapeType="1"/>
          </p:cNvSpPr>
          <p:nvPr/>
        </p:nvSpPr>
        <p:spPr bwMode="auto">
          <a:xfrm flipH="1">
            <a:off x="5835636" y="1277495"/>
            <a:ext cx="12767" cy="3267871"/>
          </a:xfrm>
          <a:prstGeom prst="line">
            <a:avLst/>
          </a:prstGeom>
          <a:noFill/>
          <a:ln w="12700">
            <a:solidFill>
              <a:schemeClr val="tx1"/>
            </a:solidFill>
            <a:prstDash val="solid"/>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2" name="组合 51"/>
          <p:cNvGrpSpPr/>
          <p:nvPr/>
        </p:nvGrpSpPr>
        <p:grpSpPr>
          <a:xfrm>
            <a:off x="3338004" y="1266224"/>
            <a:ext cx="3595617" cy="1578522"/>
            <a:chOff x="3338004" y="1266224"/>
            <a:chExt cx="3595617" cy="1578522"/>
          </a:xfrm>
        </p:grpSpPr>
        <p:sp>
          <p:nvSpPr>
            <p:cNvPr id="18" name="Text Box 12"/>
            <p:cNvSpPr txBox="1">
              <a:spLocks noChangeArrowheads="1"/>
            </p:cNvSpPr>
            <p:nvPr/>
          </p:nvSpPr>
          <p:spPr bwMode="auto">
            <a:xfrm>
              <a:off x="5902120" y="2198103"/>
              <a:ext cx="10315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传输 </a:t>
              </a:r>
              <a:r>
                <a:rPr lang="en-US" altLang="zh-CN" sz="1200" b="1" dirty="0">
                  <a:solidFill>
                    <a:srgbClr val="0000CC"/>
                  </a:solidFill>
                  <a:latin typeface="微软雅黑" panose="020B0503020204020204" pitchFamily="34" charset="-122"/>
                  <a:ea typeface="微软雅黑" panose="020B0503020204020204" pitchFamily="34" charset="-122"/>
                </a:rPr>
                <a:t>page.html </a:t>
              </a:r>
              <a:r>
                <a:rPr lang="zh-CN" altLang="en-US" sz="1200" b="1" dirty="0">
                  <a:solidFill>
                    <a:srgbClr val="0000CC"/>
                  </a:solidFill>
                  <a:latin typeface="微软雅黑" panose="020B0503020204020204" pitchFamily="34" charset="-122"/>
                  <a:ea typeface="微软雅黑" panose="020B0503020204020204" pitchFamily="34" charset="-122"/>
                </a:rPr>
                <a:t>的时间</a:t>
              </a:r>
            </a:p>
          </p:txBody>
        </p:sp>
        <p:grpSp>
          <p:nvGrpSpPr>
            <p:cNvPr id="3" name="组合 2"/>
            <p:cNvGrpSpPr/>
            <p:nvPr/>
          </p:nvGrpSpPr>
          <p:grpSpPr>
            <a:xfrm>
              <a:off x="3338004" y="1266224"/>
              <a:ext cx="2613601" cy="1578522"/>
              <a:chOff x="3338004" y="1266224"/>
              <a:chExt cx="2613601" cy="1578522"/>
            </a:xfrm>
          </p:grpSpPr>
          <p:sp>
            <p:nvSpPr>
              <p:cNvPr id="13" name="Line 7"/>
              <p:cNvSpPr>
                <a:spLocks noChangeShapeType="1"/>
              </p:cNvSpPr>
              <p:nvPr/>
            </p:nvSpPr>
            <p:spPr bwMode="auto">
              <a:xfrm>
                <a:off x="4724883" y="1440021"/>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8"/>
              <p:cNvSpPr>
                <a:spLocks noChangeShapeType="1"/>
              </p:cNvSpPr>
              <p:nvPr/>
            </p:nvSpPr>
            <p:spPr bwMode="auto">
              <a:xfrm flipH="1">
                <a:off x="4715307" y="1739071"/>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
              <p:cNvSpPr>
                <a:spLocks noChangeShapeType="1"/>
              </p:cNvSpPr>
              <p:nvPr/>
            </p:nvSpPr>
            <p:spPr bwMode="auto">
              <a:xfrm>
                <a:off x="4720627" y="2085794"/>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10"/>
              <p:cNvSpPr>
                <a:spLocks noChangeShapeType="1"/>
              </p:cNvSpPr>
              <p:nvPr/>
            </p:nvSpPr>
            <p:spPr bwMode="auto">
              <a:xfrm flipH="1">
                <a:off x="4731266" y="2432938"/>
                <a:ext cx="1121392" cy="258959"/>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AutoShape 11"/>
              <p:cNvSpPr>
                <a:spLocks/>
              </p:cNvSpPr>
              <p:nvPr/>
            </p:nvSpPr>
            <p:spPr bwMode="auto">
              <a:xfrm>
                <a:off x="5901600" y="2366634"/>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 name="Text Box 14"/>
              <p:cNvSpPr txBox="1">
                <a:spLocks noChangeArrowheads="1"/>
              </p:cNvSpPr>
              <p:nvPr/>
            </p:nvSpPr>
            <p:spPr bwMode="auto">
              <a:xfrm>
                <a:off x="3338004" y="1266224"/>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sp>
            <p:nvSpPr>
              <p:cNvPr id="20" name="Text Box 17"/>
              <p:cNvSpPr txBox="1">
                <a:spLocks noChangeArrowheads="1"/>
              </p:cNvSpPr>
              <p:nvPr/>
            </p:nvSpPr>
            <p:spPr bwMode="auto">
              <a:xfrm>
                <a:off x="4738206" y="1926570"/>
                <a:ext cx="1097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solidFill>
                      <a:srgbClr val="C00000"/>
                    </a:solidFill>
                    <a:latin typeface="微软雅黑" panose="020B0503020204020204" pitchFamily="34" charset="-122"/>
                    <a:ea typeface="微软雅黑" panose="020B0503020204020204" pitchFamily="34" charset="-122"/>
                  </a:rPr>
                  <a:t>GET page.html</a:t>
                </a:r>
              </a:p>
            </p:txBody>
          </p:sp>
          <p:sp>
            <p:nvSpPr>
              <p:cNvPr id="21" name="Text Box 21"/>
              <p:cNvSpPr txBox="1">
                <a:spLocks noChangeArrowheads="1"/>
              </p:cNvSpPr>
              <p:nvPr/>
            </p:nvSpPr>
            <p:spPr bwMode="auto">
              <a:xfrm>
                <a:off x="3751375" y="2567747"/>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t>收到文档</a:t>
                </a:r>
              </a:p>
            </p:txBody>
          </p:sp>
          <p:sp>
            <p:nvSpPr>
              <p:cNvPr id="24" name="Line 13"/>
              <p:cNvSpPr>
                <a:spLocks noChangeShapeType="1"/>
              </p:cNvSpPr>
              <p:nvPr/>
            </p:nvSpPr>
            <p:spPr bwMode="auto">
              <a:xfrm>
                <a:off x="4453578" y="1422685"/>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AutoShape 15"/>
              <p:cNvSpPr>
                <a:spLocks/>
              </p:cNvSpPr>
              <p:nvPr/>
            </p:nvSpPr>
            <p:spPr bwMode="auto">
              <a:xfrm>
                <a:off x="4544013" y="1457357"/>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Text Box 16"/>
              <p:cNvSpPr txBox="1">
                <a:spLocks noChangeArrowheads="1"/>
              </p:cNvSpPr>
              <p:nvPr/>
            </p:nvSpPr>
            <p:spPr bwMode="auto">
              <a:xfrm>
                <a:off x="4115245" y="159604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27" name="AutoShape 18"/>
              <p:cNvSpPr>
                <a:spLocks/>
              </p:cNvSpPr>
              <p:nvPr/>
            </p:nvSpPr>
            <p:spPr bwMode="auto">
              <a:xfrm>
                <a:off x="4548268" y="2078210"/>
                <a:ext cx="86179" cy="54825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19"/>
              <p:cNvSpPr txBox="1">
                <a:spLocks noChangeArrowheads="1"/>
              </p:cNvSpPr>
              <p:nvPr/>
            </p:nvSpPr>
            <p:spPr bwMode="auto">
              <a:xfrm>
                <a:off x="4128013" y="222556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29" name="Line 20"/>
              <p:cNvSpPr>
                <a:spLocks noChangeShapeType="1"/>
              </p:cNvSpPr>
              <p:nvPr/>
            </p:nvSpPr>
            <p:spPr bwMode="auto">
              <a:xfrm flipH="1">
                <a:off x="4494007" y="2733070"/>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23"/>
              <p:cNvSpPr>
                <a:spLocks noChangeShapeType="1"/>
              </p:cNvSpPr>
              <p:nvPr/>
            </p:nvSpPr>
            <p:spPr bwMode="auto">
              <a:xfrm flipH="1">
                <a:off x="4480176" y="2077126"/>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grpSp>
        <p:nvGrpSpPr>
          <p:cNvPr id="53" name="组合 52"/>
          <p:cNvGrpSpPr/>
          <p:nvPr/>
        </p:nvGrpSpPr>
        <p:grpSpPr>
          <a:xfrm>
            <a:off x="5253660" y="4257392"/>
            <a:ext cx="68093" cy="273778"/>
            <a:chOff x="5253660" y="4257392"/>
            <a:chExt cx="68093" cy="273778"/>
          </a:xfrm>
        </p:grpSpPr>
        <p:sp>
          <p:nvSpPr>
            <p:cNvPr id="37"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8"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9"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360550" y="2749191"/>
            <a:ext cx="3547641" cy="1507486"/>
            <a:chOff x="3360550" y="2749191"/>
            <a:chExt cx="3547641" cy="1507486"/>
          </a:xfrm>
        </p:grpSpPr>
        <p:grpSp>
          <p:nvGrpSpPr>
            <p:cNvPr id="4" name="组合 3"/>
            <p:cNvGrpSpPr/>
            <p:nvPr/>
          </p:nvGrpSpPr>
          <p:grpSpPr>
            <a:xfrm>
              <a:off x="3751375" y="2885392"/>
              <a:ext cx="3156816" cy="1371285"/>
              <a:chOff x="3751375" y="2841002"/>
              <a:chExt cx="3156816" cy="1371285"/>
            </a:xfrm>
          </p:grpSpPr>
          <p:sp>
            <p:nvSpPr>
              <p:cNvPr id="22" name="Line 22"/>
              <p:cNvSpPr>
                <a:spLocks noChangeShapeType="1"/>
              </p:cNvSpPr>
              <p:nvPr/>
            </p:nvSpPr>
            <p:spPr bwMode="auto">
              <a:xfrm>
                <a:off x="4723818" y="2843169"/>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24"/>
              <p:cNvSpPr>
                <a:spLocks noChangeShapeType="1"/>
              </p:cNvSpPr>
              <p:nvPr/>
            </p:nvSpPr>
            <p:spPr bwMode="auto">
              <a:xfrm flipH="1">
                <a:off x="4695092" y="3143302"/>
                <a:ext cx="1121392" cy="275212"/>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Line 25"/>
              <p:cNvSpPr>
                <a:spLocks noChangeShapeType="1"/>
              </p:cNvSpPr>
              <p:nvPr/>
            </p:nvSpPr>
            <p:spPr bwMode="auto">
              <a:xfrm>
                <a:off x="4716371" y="3466188"/>
                <a:ext cx="1128840" cy="266544"/>
              </a:xfrm>
              <a:prstGeom prst="line">
                <a:avLst/>
              </a:prstGeom>
              <a:noFill/>
              <a:ln w="19050">
                <a:solidFill>
                  <a:srgbClr val="99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3" name="Line 26"/>
              <p:cNvSpPr>
                <a:spLocks noChangeShapeType="1"/>
              </p:cNvSpPr>
              <p:nvPr/>
            </p:nvSpPr>
            <p:spPr bwMode="auto">
              <a:xfrm flipH="1">
                <a:off x="4704667" y="3785824"/>
                <a:ext cx="1121392" cy="258960"/>
              </a:xfrm>
              <a:prstGeom prst="line">
                <a:avLst/>
              </a:prstGeom>
              <a:noFill/>
              <a:ln w="127000">
                <a:solidFill>
                  <a:srgbClr val="00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27"/>
              <p:cNvSpPr txBox="1">
                <a:spLocks noChangeArrowheads="1"/>
              </p:cNvSpPr>
              <p:nvPr/>
            </p:nvSpPr>
            <p:spPr bwMode="auto">
              <a:xfrm>
                <a:off x="4741906" y="3285853"/>
                <a:ext cx="1078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C00000"/>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en-US" altLang="zh-CN" dirty="0"/>
                  <a:t>GET page1.jpg</a:t>
                </a:r>
              </a:p>
            </p:txBody>
          </p:sp>
          <p:sp>
            <p:nvSpPr>
              <p:cNvPr id="35" name="Text Box 28"/>
              <p:cNvSpPr txBox="1">
                <a:spLocks noChangeArrowheads="1"/>
              </p:cNvSpPr>
              <p:nvPr/>
            </p:nvSpPr>
            <p:spPr bwMode="auto">
              <a:xfrm>
                <a:off x="5902121" y="3550702"/>
                <a:ext cx="100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t>传输 </a:t>
                </a:r>
                <a:r>
                  <a:rPr lang="en-US" altLang="zh-CN" dirty="0"/>
                  <a:t>page1.jpg</a:t>
                </a:r>
              </a:p>
              <a:p>
                <a:r>
                  <a:rPr lang="zh-CN" altLang="en-US" dirty="0"/>
                  <a:t>的时间</a:t>
                </a:r>
              </a:p>
            </p:txBody>
          </p:sp>
          <p:sp>
            <p:nvSpPr>
              <p:cNvPr id="36" name="AutoShape 29"/>
              <p:cNvSpPr>
                <a:spLocks/>
              </p:cNvSpPr>
              <p:nvPr/>
            </p:nvSpPr>
            <p:spPr bwMode="auto">
              <a:xfrm>
                <a:off x="5875001" y="3735982"/>
                <a:ext cx="50005" cy="124604"/>
              </a:xfrm>
              <a:prstGeom prst="rightBrace">
                <a:avLst>
                  <a:gd name="adj1" fmla="val 2039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3"/>
              <p:cNvSpPr>
                <a:spLocks noChangeShapeType="1"/>
              </p:cNvSpPr>
              <p:nvPr/>
            </p:nvSpPr>
            <p:spPr bwMode="auto">
              <a:xfrm>
                <a:off x="4453578" y="2841002"/>
                <a:ext cx="261729"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15"/>
              <p:cNvSpPr>
                <a:spLocks/>
              </p:cNvSpPr>
              <p:nvPr/>
            </p:nvSpPr>
            <p:spPr bwMode="auto">
              <a:xfrm>
                <a:off x="4544013" y="2875659"/>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Text Box 16"/>
              <p:cNvSpPr txBox="1">
                <a:spLocks noChangeArrowheads="1"/>
              </p:cNvSpPr>
              <p:nvPr/>
            </p:nvSpPr>
            <p:spPr bwMode="auto">
              <a:xfrm>
                <a:off x="4115245" y="301428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44" name="AutoShape 18"/>
              <p:cNvSpPr>
                <a:spLocks/>
              </p:cNvSpPr>
              <p:nvPr/>
            </p:nvSpPr>
            <p:spPr bwMode="auto">
              <a:xfrm>
                <a:off x="4548268" y="3444768"/>
                <a:ext cx="86179" cy="548017"/>
              </a:xfrm>
              <a:prstGeom prst="leftBrace">
                <a:avLst>
                  <a:gd name="adj1" fmla="val 5205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Text Box 19"/>
              <p:cNvSpPr txBox="1">
                <a:spLocks noChangeArrowheads="1"/>
              </p:cNvSpPr>
              <p:nvPr/>
            </p:nvSpPr>
            <p:spPr bwMode="auto">
              <a:xfrm>
                <a:off x="4128013" y="3592061"/>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a:latin typeface="微软雅黑" panose="020B0503020204020204" pitchFamily="34" charset="-122"/>
                    <a:ea typeface="微软雅黑" panose="020B0503020204020204" pitchFamily="34" charset="-122"/>
                  </a:rPr>
                  <a:t>RTT</a:t>
                </a:r>
              </a:p>
            </p:txBody>
          </p:sp>
          <p:sp>
            <p:nvSpPr>
              <p:cNvPr id="47" name="Line 23"/>
              <p:cNvSpPr>
                <a:spLocks noChangeShapeType="1"/>
              </p:cNvSpPr>
              <p:nvPr/>
            </p:nvSpPr>
            <p:spPr bwMode="auto">
              <a:xfrm flipH="1">
                <a:off x="4480176" y="3443685"/>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Text Box 21"/>
              <p:cNvSpPr txBox="1">
                <a:spLocks noChangeArrowheads="1"/>
              </p:cNvSpPr>
              <p:nvPr/>
            </p:nvSpPr>
            <p:spPr bwMode="auto">
              <a:xfrm>
                <a:off x="3751375" y="3935288"/>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itchFamily="34" charset="0"/>
                    <a:ea typeface="黑体" pitchFamily="2" charset="-122"/>
                  </a:defRPr>
                </a:lvl2pPr>
                <a:lvl3pPr marL="1143000" indent="-228600">
                  <a:defRPr>
                    <a:latin typeface="Tahoma" pitchFamily="34" charset="0"/>
                    <a:ea typeface="黑体" pitchFamily="2" charset="-122"/>
                  </a:defRPr>
                </a:lvl3pPr>
                <a:lvl4pPr marL="1600200" indent="-228600">
                  <a:defRPr>
                    <a:latin typeface="Tahoma" pitchFamily="34" charset="0"/>
                    <a:ea typeface="黑体" pitchFamily="2" charset="-122"/>
                  </a:defRPr>
                </a:lvl4pPr>
                <a:lvl5pPr marL="2057400" indent="-228600">
                  <a:defRPr>
                    <a:latin typeface="Tahoma" pitchFamily="34" charset="0"/>
                    <a:ea typeface="黑体" pitchFamily="2" charset="-122"/>
                  </a:defRPr>
                </a:lvl5pPr>
                <a:lvl6pPr marL="2514600" indent="-228600" eaLnBrk="0" fontAlgn="base" hangingPunct="0">
                  <a:spcBef>
                    <a:spcPct val="0"/>
                  </a:spcBef>
                  <a:spcAft>
                    <a:spcPct val="0"/>
                  </a:spcAft>
                  <a:defRPr>
                    <a:latin typeface="Tahoma" pitchFamily="34" charset="0"/>
                    <a:ea typeface="黑体" pitchFamily="2" charset="-122"/>
                  </a:defRPr>
                </a:lvl6pPr>
                <a:lvl7pPr marL="2971800" indent="-228600" eaLnBrk="0" fontAlgn="base" hangingPunct="0">
                  <a:spcBef>
                    <a:spcPct val="0"/>
                  </a:spcBef>
                  <a:spcAft>
                    <a:spcPct val="0"/>
                  </a:spcAft>
                  <a:defRPr>
                    <a:latin typeface="Tahoma" pitchFamily="34" charset="0"/>
                    <a:ea typeface="黑体" pitchFamily="2" charset="-122"/>
                  </a:defRPr>
                </a:lvl7pPr>
                <a:lvl8pPr marL="3429000" indent="-228600" eaLnBrk="0" fontAlgn="base" hangingPunct="0">
                  <a:spcBef>
                    <a:spcPct val="0"/>
                  </a:spcBef>
                  <a:spcAft>
                    <a:spcPct val="0"/>
                  </a:spcAft>
                  <a:defRPr>
                    <a:latin typeface="Tahoma" pitchFamily="34" charset="0"/>
                    <a:ea typeface="黑体" pitchFamily="2" charset="-122"/>
                  </a:defRPr>
                </a:lvl8pPr>
                <a:lvl9pPr marL="3886200" indent="-228600" eaLnBrk="0" fontAlgn="base" hangingPunct="0">
                  <a:spcBef>
                    <a:spcPct val="0"/>
                  </a:spcBef>
                  <a:spcAft>
                    <a:spcPct val="0"/>
                  </a:spcAft>
                  <a:defRPr>
                    <a:latin typeface="Tahoma" pitchFamily="34" charset="0"/>
                    <a:ea typeface="黑体" pitchFamily="2" charset="-122"/>
                  </a:defRPr>
                </a:lvl9pPr>
              </a:lstStyle>
              <a:p>
                <a:r>
                  <a:rPr lang="zh-CN" altLang="en-US" dirty="0"/>
                  <a:t>收到文档</a:t>
                </a:r>
              </a:p>
            </p:txBody>
          </p:sp>
          <p:sp>
            <p:nvSpPr>
              <p:cNvPr id="49" name="Line 20"/>
              <p:cNvSpPr>
                <a:spLocks noChangeShapeType="1"/>
              </p:cNvSpPr>
              <p:nvPr/>
            </p:nvSpPr>
            <p:spPr bwMode="auto">
              <a:xfrm flipH="1">
                <a:off x="4494007" y="4100611"/>
                <a:ext cx="229811" cy="10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0" name="Text Box 14"/>
            <p:cNvSpPr txBox="1">
              <a:spLocks noChangeArrowheads="1"/>
            </p:cNvSpPr>
            <p:nvPr/>
          </p:nvSpPr>
          <p:spPr bwMode="auto">
            <a:xfrm>
              <a:off x="3360550" y="2749191"/>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4" name="Rectangle 6"/>
          <p:cNvSpPr>
            <a:spLocks noChangeArrowheads="1"/>
          </p:cNvSpPr>
          <p:nvPr/>
        </p:nvSpPr>
        <p:spPr bwMode="auto">
          <a:xfrm>
            <a:off x="5358745" y="1016583"/>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55" name="Rectangle 7"/>
          <p:cNvSpPr>
            <a:spLocks noChangeArrowheads="1"/>
          </p:cNvSpPr>
          <p:nvPr/>
        </p:nvSpPr>
        <p:spPr bwMode="auto">
          <a:xfrm>
            <a:off x="4239214" y="1016583"/>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sp>
        <p:nvSpPr>
          <p:cNvPr id="56" name="矩形 55"/>
          <p:cNvSpPr/>
          <p:nvPr/>
        </p:nvSpPr>
        <p:spPr>
          <a:xfrm>
            <a:off x="6828676" y="3251849"/>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所需的时间 </a:t>
            </a:r>
            <a:r>
              <a:rPr lang="en-US" altLang="zh-CN" sz="1400" b="1" dirty="0">
                <a:latin typeface="微软雅黑" panose="020B0503020204020204" pitchFamily="34" charset="-122"/>
                <a:ea typeface="微软雅黑" panose="020B0503020204020204" pitchFamily="34" charset="-122"/>
              </a:rPr>
              <a:t>&gt;= </a:t>
            </a:r>
          </a:p>
          <a:p>
            <a:pPr>
              <a:lnSpc>
                <a:spcPts val="2000"/>
              </a:lnSpc>
            </a:pPr>
            <a:r>
              <a:rPr lang="en-US" altLang="zh-CN" sz="1400" b="1" dirty="0">
                <a:latin typeface="微软雅黑" panose="020B0503020204020204" pitchFamily="34" charset="-122"/>
                <a:ea typeface="微软雅黑" panose="020B0503020204020204" pitchFamily="34" charset="-122"/>
              </a:rPr>
              <a:t>   22 RTT </a:t>
            </a:r>
          </a:p>
          <a:p>
            <a:pPr>
              <a:lnSpc>
                <a:spcPts val="2000"/>
              </a:lnSpc>
            </a:pPr>
            <a:r>
              <a:rPr lang="en-US" altLang="zh-CN" sz="1400" b="1" dirty="0">
                <a:latin typeface="微软雅黑" panose="020B0503020204020204" pitchFamily="34" charset="-122"/>
                <a:ea typeface="微软雅黑" panose="020B0503020204020204" pitchFamily="34" charset="-122"/>
              </a:rPr>
              <a:t>+ 11 </a:t>
            </a:r>
            <a:r>
              <a:rPr lang="zh-CN" altLang="en-US" sz="1400" b="1" dirty="0">
                <a:latin typeface="微软雅黑" panose="020B0503020204020204" pitchFamily="34" charset="-122"/>
                <a:ea typeface="微软雅黑" panose="020B0503020204020204" pitchFamily="34" charset="-122"/>
              </a:rPr>
              <a:t>个文档的传输时间</a:t>
            </a:r>
            <a:endParaRPr lang="zh-CN" altLang="en-US" sz="1400" dirty="0"/>
          </a:p>
        </p:txBody>
      </p:sp>
    </p:spTree>
    <p:extLst>
      <p:ext uri="{BB962C8B-B14F-4D97-AF65-F5344CB8AC3E}">
        <p14:creationId xmlns:p14="http://schemas.microsoft.com/office/powerpoint/2010/main" val="17148635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up)">
                                      <p:cBhvr>
                                        <p:cTn id="7" dur="10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wipe(up)">
                                      <p:cBhvr>
                                        <p:cTn id="12" dur="1000"/>
                                        <p:tgtEl>
                                          <p:spTgt spid="51"/>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up)">
                                      <p:cBhvr>
                                        <p:cTn id="16" dur="1000"/>
                                        <p:tgtEl>
                                          <p:spTgt spid="5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持续连接</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persistent connection</a:t>
            </a:r>
            <a:r>
              <a:rPr lang="zh-CN" altLang="en-US" sz="2000" b="1" dirty="0">
                <a:latin typeface="微软雅黑" pitchFamily="34" charset="-122"/>
                <a:ea typeface="微软雅黑" pitchFamily="34" charset="-122"/>
              </a:rPr>
              <a:t>）：服务器在发送响应后仍然在一段时间内</a:t>
            </a:r>
            <a:r>
              <a:rPr lang="zh-CN" altLang="en-US" sz="2000" b="1" dirty="0">
                <a:solidFill>
                  <a:srgbClr val="0000FF"/>
                </a:solidFill>
                <a:latin typeface="微软雅黑" pitchFamily="34" charset="-122"/>
                <a:ea typeface="微软雅黑" pitchFamily="34" charset="-122"/>
              </a:rPr>
              <a:t>保持</a:t>
            </a:r>
            <a:r>
              <a:rPr lang="zh-CN" altLang="en-US" sz="2000" b="1" dirty="0">
                <a:latin typeface="微软雅黑" pitchFamily="34" charset="-122"/>
                <a:ea typeface="微软雅黑" pitchFamily="34" charset="-122"/>
              </a:rPr>
              <a:t>这条连接（不释放），使同一个客户（浏览器）和该服务器可以继续在这条连接上传送后续的 </a:t>
            </a: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请求报文和响应报文。</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只要文档都在同一个服务器上，就可以继续使用该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两种工作方式：</a:t>
            </a:r>
            <a:endParaRPr lang="en-US" altLang="zh-CN" sz="2000" b="1" dirty="0">
              <a:solidFill>
                <a:srgbClr val="0000FF"/>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非流水线方式 </a:t>
            </a:r>
            <a:r>
              <a:rPr lang="en-US" altLang="zh-CN" sz="2000" b="1" dirty="0">
                <a:latin typeface="微软雅黑" pitchFamily="34" charset="-122"/>
                <a:ea typeface="微软雅黑" pitchFamily="34" charset="-122"/>
              </a:rPr>
              <a:t>(without pipelining)</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流水线方式 </a:t>
            </a:r>
            <a:r>
              <a:rPr lang="en-US" altLang="zh-CN" sz="2000" b="1" dirty="0">
                <a:latin typeface="微软雅黑" pitchFamily="34" charset="-122"/>
                <a:ea typeface="微软雅黑" pitchFamily="34" charset="-122"/>
              </a:rPr>
              <a:t>(with pipelining)</a:t>
            </a:r>
            <a:r>
              <a:rPr lang="zh-CN" altLang="en-US" sz="2000" b="1" dirty="0">
                <a:latin typeface="微软雅黑" pitchFamily="34" charset="-122"/>
                <a:ea typeface="微软雅黑" pitchFamily="34" charset="-122"/>
              </a:rPr>
              <a:t>。</a:t>
            </a: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68459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HTTP/1.1 </a:t>
            </a:r>
            <a:r>
              <a:rPr lang="zh-CN" altLang="en-US" sz="2000" b="1" dirty="0">
                <a:latin typeface="微软雅黑" pitchFamily="34" charset="-122"/>
                <a:ea typeface="微软雅黑" pitchFamily="34" charset="-122"/>
              </a:rPr>
              <a:t>使用</a:t>
            </a:r>
            <a:r>
              <a:rPr lang="zh-CN" altLang="en-US" sz="2000" b="1" dirty="0">
                <a:solidFill>
                  <a:srgbClr val="0000CC"/>
                </a:solidFill>
                <a:latin typeface="微软雅黑" pitchFamily="34" charset="-122"/>
                <a:ea typeface="微软雅黑" pitchFamily="34" charset="-122"/>
              </a:rPr>
              <a:t>持续连接</a:t>
            </a:r>
          </a:p>
        </p:txBody>
      </p:sp>
    </p:spTree>
    <p:extLst>
      <p:ext uri="{BB962C8B-B14F-4D97-AF65-F5344CB8AC3E}">
        <p14:creationId xmlns:p14="http://schemas.microsoft.com/office/powerpoint/2010/main" val="293352230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客户在收到前一个响应</a:t>
            </a:r>
            <a:r>
              <a:rPr lang="zh-CN" altLang="en-US" sz="2000" b="1" dirty="0">
                <a:solidFill>
                  <a:srgbClr val="C00000"/>
                </a:solidFill>
                <a:latin typeface="微软雅黑" pitchFamily="34" charset="-122"/>
                <a:ea typeface="微软雅黑" pitchFamily="34" charset="-122"/>
              </a:rPr>
              <a:t>之后</a:t>
            </a:r>
            <a:r>
              <a:rPr lang="zh-CN" altLang="en-US" sz="2000" b="1" dirty="0">
                <a:latin typeface="微软雅黑" pitchFamily="34" charset="-122"/>
                <a:ea typeface="微软雅黑" pitchFamily="34" charset="-122"/>
              </a:rPr>
              <a:t>才能发出下一个请求。</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缺点：</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连接空闲状态。</a:t>
            </a: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8289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持续连接：非流水线方式 </a:t>
            </a: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grpSp>
        <p:nvGrpSpPr>
          <p:cNvPr id="54" name="组合 53"/>
          <p:cNvGrpSpPr/>
          <p:nvPr/>
        </p:nvGrpSpPr>
        <p:grpSpPr>
          <a:xfrm>
            <a:off x="3775648" y="1248914"/>
            <a:ext cx="2769774" cy="861437"/>
            <a:chOff x="3775648" y="1248914"/>
            <a:chExt cx="2769774" cy="861437"/>
          </a:xfrm>
        </p:grpSpPr>
        <p:grpSp>
          <p:nvGrpSpPr>
            <p:cNvPr id="49" name="组合 48"/>
            <p:cNvGrpSpPr/>
            <p:nvPr/>
          </p:nvGrpSpPr>
          <p:grpSpPr>
            <a:xfrm>
              <a:off x="5016247" y="1762124"/>
              <a:ext cx="1503604" cy="348227"/>
              <a:chOff x="5442383" y="1762124"/>
              <a:chExt cx="1503604" cy="348227"/>
            </a:xfrm>
          </p:grpSpPr>
          <p:sp>
            <p:nvSpPr>
              <p:cNvPr id="26" name="Rectangle 21"/>
              <p:cNvSpPr>
                <a:spLocks noChangeArrowheads="1"/>
              </p:cNvSpPr>
              <p:nvPr/>
            </p:nvSpPr>
            <p:spPr bwMode="auto">
              <a:xfrm rot="21230751">
                <a:off x="5442383" y="1762124"/>
                <a:ext cx="1503604" cy="348227"/>
              </a:xfrm>
              <a:prstGeom prst="rect">
                <a:avLst/>
              </a:prstGeom>
              <a:solidFill>
                <a:srgbClr val="009900"/>
              </a:solidFill>
              <a:ln w="9525">
                <a:noFill/>
                <a:miter lim="800000"/>
                <a:headEnd/>
                <a:tailEnd/>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grpSp>
      <p:grpSp>
        <p:nvGrpSpPr>
          <p:cNvPr id="44" name="组合 43"/>
          <p:cNvGrpSpPr/>
          <p:nvPr/>
        </p:nvGrpSpPr>
        <p:grpSpPr>
          <a:xfrm>
            <a:off x="5700971" y="36092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3" name="矩形 52"/>
          <p:cNvSpPr/>
          <p:nvPr/>
        </p:nvSpPr>
        <p:spPr>
          <a:xfrm>
            <a:off x="6661084" y="1881928"/>
            <a:ext cx="2105638" cy="1631216"/>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所需的时间 </a:t>
            </a:r>
            <a:r>
              <a:rPr lang="en-US" altLang="zh-CN" sz="1400" b="1" dirty="0">
                <a:latin typeface="微软雅黑" panose="020B0503020204020204" pitchFamily="34" charset="-122"/>
                <a:ea typeface="微软雅黑" panose="020B0503020204020204" pitchFamily="34" charset="-122"/>
              </a:rPr>
              <a:t>&gt;= </a:t>
            </a:r>
          </a:p>
          <a:p>
            <a:pPr>
              <a:lnSpc>
                <a:spcPts val="2000"/>
              </a:lnSpc>
            </a:pPr>
            <a:r>
              <a:rPr lang="en-US" altLang="zh-CN" sz="1400" b="1" dirty="0">
                <a:latin typeface="微软雅黑" panose="020B0503020204020204" pitchFamily="34" charset="-122"/>
                <a:ea typeface="微软雅黑" panose="020B0503020204020204" pitchFamily="34" charset="-122"/>
              </a:rPr>
              <a:t>   2 RTT </a:t>
            </a:r>
          </a:p>
          <a:p>
            <a:pPr>
              <a:lnSpc>
                <a:spcPts val="2000"/>
              </a:lnSpc>
            </a:pPr>
            <a:r>
              <a:rPr lang="en-US" altLang="zh-CN" sz="1400" b="1" dirty="0">
                <a:latin typeface="微软雅黑" panose="020B0503020204020204" pitchFamily="34" charset="-122"/>
                <a:ea typeface="微软雅黑" panose="020B0503020204020204" pitchFamily="34" charset="-122"/>
              </a:rPr>
              <a:t>+ page.html </a:t>
            </a:r>
            <a:r>
              <a:rPr lang="zh-CN" altLang="en-US" sz="1400" b="1" dirty="0">
                <a:latin typeface="微软雅黑" panose="020B0503020204020204" pitchFamily="34" charset="-122"/>
                <a:ea typeface="微软雅黑" panose="020B0503020204020204" pitchFamily="34" charset="-122"/>
              </a:rPr>
              <a:t>传输时间</a:t>
            </a:r>
            <a:endParaRPr lang="en-US" altLang="zh-CN" sz="1400" b="1" dirty="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+ 10 RTT</a:t>
            </a:r>
          </a:p>
          <a:p>
            <a:pPr>
              <a:lnSpc>
                <a:spcPts val="2000"/>
              </a:lnSpc>
            </a:pPr>
            <a:r>
              <a:rPr lang="en-US" altLang="zh-CN" sz="1400" b="1" dirty="0">
                <a:latin typeface="微软雅黑" panose="020B0503020204020204" pitchFamily="34" charset="-122"/>
                <a:ea typeface="微软雅黑" panose="020B0503020204020204" pitchFamily="34" charset="-122"/>
              </a:rPr>
              <a:t>+ 10 </a:t>
            </a:r>
            <a:r>
              <a:rPr lang="zh-CN" altLang="en-US" sz="1400" b="1" dirty="0">
                <a:latin typeface="微软雅黑" panose="020B0503020204020204" pitchFamily="34" charset="-122"/>
                <a:ea typeface="微软雅黑" panose="020B0503020204020204" pitchFamily="34" charset="-122"/>
              </a:rPr>
              <a:t>个文档的传输时间</a:t>
            </a:r>
            <a:endParaRPr lang="en-US" altLang="zh-CN" sz="1400" b="1" dirty="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a:t>
            </a:r>
            <a:r>
              <a:rPr lang="zh-CN" altLang="en-US" sz="1400" b="1" dirty="0">
                <a:latin typeface="微软雅黑" panose="020B0503020204020204" pitchFamily="34" charset="-122"/>
                <a:ea typeface="微软雅黑" panose="020B0503020204020204" pitchFamily="34" charset="-122"/>
              </a:rPr>
              <a:t>空闲时间</a:t>
            </a:r>
            <a:endParaRPr lang="zh-CN" altLang="en-US" sz="1400" dirty="0"/>
          </a:p>
        </p:txBody>
      </p:sp>
      <p:grpSp>
        <p:nvGrpSpPr>
          <p:cNvPr id="63" name="组合 62"/>
          <p:cNvGrpSpPr/>
          <p:nvPr/>
        </p:nvGrpSpPr>
        <p:grpSpPr>
          <a:xfrm>
            <a:off x="4308273" y="2070235"/>
            <a:ext cx="2203727" cy="807585"/>
            <a:chOff x="4308273" y="2070235"/>
            <a:chExt cx="2203727" cy="807585"/>
          </a:xfrm>
        </p:grpSpPr>
        <p:grpSp>
          <p:nvGrpSpPr>
            <p:cNvPr id="50" name="组合 49"/>
            <p:cNvGrpSpPr/>
            <p:nvPr/>
          </p:nvGrpSpPr>
          <p:grpSpPr>
            <a:xfrm>
              <a:off x="4308273" y="2070235"/>
              <a:ext cx="2201256" cy="723594"/>
              <a:chOff x="4734409" y="1919309"/>
              <a:chExt cx="2201256" cy="723594"/>
            </a:xfrm>
          </p:grpSpPr>
          <p:grpSp>
            <p:nvGrpSpPr>
              <p:cNvPr id="31" name="Group 26"/>
              <p:cNvGrpSpPr>
                <a:grpSpLocks/>
              </p:cNvGrpSpPr>
              <p:nvPr/>
            </p:nvGrpSpPr>
            <p:grpSpPr bwMode="auto">
              <a:xfrm>
                <a:off x="5443288" y="2294674"/>
                <a:ext cx="1492377" cy="348229"/>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sp>
            <p:nvSpPr>
              <p:cNvPr id="32" name="Text Box 29"/>
              <p:cNvSpPr txBox="1">
                <a:spLocks noChangeArrowheads="1"/>
              </p:cNvSpPr>
              <p:nvPr/>
            </p:nvSpPr>
            <p:spPr bwMode="auto">
              <a:xfrm>
                <a:off x="4734409" y="191930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226133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58" name="直接连接符 57"/>
            <p:cNvCxnSpPr/>
            <p:nvPr/>
          </p:nvCxnSpPr>
          <p:spPr>
            <a:xfrm>
              <a:off x="4785064" y="2223945"/>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785064" y="2877820"/>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flipV="1">
              <a:off x="4986740" y="2175669"/>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grpSp>
        <p:nvGrpSpPr>
          <p:cNvPr id="64" name="组合 63"/>
          <p:cNvGrpSpPr/>
          <p:nvPr/>
        </p:nvGrpSpPr>
        <p:grpSpPr>
          <a:xfrm>
            <a:off x="4308273" y="2735353"/>
            <a:ext cx="2210259" cy="742899"/>
            <a:chOff x="4308273" y="2735353"/>
            <a:chExt cx="2210259" cy="742899"/>
          </a:xfrm>
        </p:grpSpPr>
        <p:grpSp>
          <p:nvGrpSpPr>
            <p:cNvPr id="51" name="组合 50"/>
            <p:cNvGrpSpPr/>
            <p:nvPr/>
          </p:nvGrpSpPr>
          <p:grpSpPr>
            <a:xfrm>
              <a:off x="4308273" y="2735353"/>
              <a:ext cx="2210259" cy="742899"/>
              <a:chOff x="4734409" y="2531159"/>
              <a:chExt cx="2210259" cy="742899"/>
            </a:xfrm>
          </p:grpSpPr>
          <p:grpSp>
            <p:nvGrpSpPr>
              <p:cNvPr id="36" name="Group 31"/>
              <p:cNvGrpSpPr>
                <a:grpSpLocks/>
              </p:cNvGrpSpPr>
              <p:nvPr/>
            </p:nvGrpSpPr>
            <p:grpSpPr bwMode="auto">
              <a:xfrm>
                <a:off x="5440713" y="2925831"/>
                <a:ext cx="1503955" cy="348227"/>
                <a:chOff x="1145" y="3634"/>
                <a:chExt cx="1169" cy="384"/>
              </a:xfrm>
            </p:grpSpPr>
            <p:sp>
              <p:nvSpPr>
                <p:cNvPr id="38" name="Rectangle 32"/>
                <p:cNvSpPr>
                  <a:spLocks noChangeArrowheads="1"/>
                </p:cNvSpPr>
                <p:nvPr/>
              </p:nvSpPr>
              <p:spPr bwMode="auto">
                <a:xfrm rot="21347042">
                  <a:off x="1145" y="3634"/>
                  <a:ext cx="1169"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734409" y="253115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6" name="Line 18"/>
            <p:cNvSpPr>
              <a:spLocks noChangeShapeType="1"/>
            </p:cNvSpPr>
            <p:nvPr/>
          </p:nvSpPr>
          <p:spPr bwMode="auto">
            <a:xfrm>
              <a:off x="4977710" y="2935942"/>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62" name="直接连接符 61"/>
            <p:cNvCxnSpPr/>
            <p:nvPr/>
          </p:nvCxnSpPr>
          <p:spPr>
            <a:xfrm flipV="1">
              <a:off x="4986740" y="2815624"/>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p14="http://schemas.microsoft.com/office/powerpoint/2010/main" val="29236775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up)">
                                      <p:cBhvr>
                                        <p:cTn id="7" dur="10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wipe(up)">
                                      <p:cBhvr>
                                        <p:cTn id="12" dur="10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1000"/>
                                        <p:tgtEl>
                                          <p:spTgt spid="64"/>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wipe(up)">
                                      <p:cBhvr>
                                        <p:cTn id="21" dur="1000"/>
                                        <p:tgtEl>
                                          <p:spTgt spid="4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wipe(up)">
                                      <p:cBhvr>
                                        <p:cTn id="26" dur="1000"/>
                                        <p:tgtEl>
                                          <p:spTgt spid="5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客户在收到响应报文</a:t>
            </a:r>
            <a:r>
              <a:rPr lang="zh-CN" altLang="en-US" sz="2000" b="1" dirty="0">
                <a:solidFill>
                  <a:srgbClr val="C00000"/>
                </a:solidFill>
                <a:latin typeface="微软雅黑" pitchFamily="34" charset="-122"/>
                <a:ea typeface="微软雅黑" pitchFamily="34" charset="-122"/>
              </a:rPr>
              <a:t>之前</a:t>
            </a:r>
            <a:r>
              <a:rPr lang="zh-CN" altLang="en-US" sz="2000" b="1" dirty="0">
                <a:latin typeface="微软雅黑" pitchFamily="34" charset="-122"/>
                <a:ea typeface="微软雅黑" pitchFamily="34" charset="-122"/>
              </a:rPr>
              <a:t>就能够接着发送新的请求报文。</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连续的多个请求报文到达服务器后，服务器就可连续发回响应报文。</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下载效率提高。</a:t>
            </a: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282641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持续连接：流水线方式 </a:t>
            </a: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万维网服务器</a:t>
            </a: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itchFamily="34" charset="-122"/>
                <a:ea typeface="微软雅黑" pitchFamily="34" charset="-122"/>
              </a:rPr>
              <a:t>万维网客户</a:t>
            </a:r>
          </a:p>
        </p:txBody>
      </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p>
          </p:txBody>
        </p:sp>
      </p:grpSp>
      <p:sp>
        <p:nvSpPr>
          <p:cNvPr id="53" name="矩形 52"/>
          <p:cNvSpPr/>
          <p:nvPr/>
        </p:nvSpPr>
        <p:spPr>
          <a:xfrm>
            <a:off x="6661084" y="1881928"/>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所需的时间 </a:t>
            </a:r>
            <a:r>
              <a:rPr lang="en-US" altLang="zh-CN" sz="1400" b="1" dirty="0">
                <a:latin typeface="微软雅黑" panose="020B0503020204020204" pitchFamily="34" charset="-122"/>
                <a:ea typeface="微软雅黑" panose="020B0503020204020204" pitchFamily="34" charset="-122"/>
              </a:rPr>
              <a:t>&gt;= </a:t>
            </a:r>
          </a:p>
          <a:p>
            <a:pPr>
              <a:lnSpc>
                <a:spcPts val="2000"/>
              </a:lnSpc>
            </a:pPr>
            <a:r>
              <a:rPr lang="en-US" altLang="zh-CN" sz="1400" b="1" dirty="0">
                <a:latin typeface="微软雅黑" panose="020B0503020204020204" pitchFamily="34" charset="-122"/>
                <a:ea typeface="微软雅黑" panose="020B0503020204020204" pitchFamily="34" charset="-122"/>
              </a:rPr>
              <a:t>   1 RTT </a:t>
            </a:r>
          </a:p>
          <a:p>
            <a:pPr>
              <a:lnSpc>
                <a:spcPts val="2000"/>
              </a:lnSpc>
            </a:pPr>
            <a:r>
              <a:rPr lang="en-US" altLang="zh-CN" sz="1400" b="1" dirty="0">
                <a:latin typeface="微软雅黑" panose="020B0503020204020204" pitchFamily="34" charset="-122"/>
                <a:ea typeface="微软雅黑" panose="020B0503020204020204" pitchFamily="34" charset="-122"/>
              </a:rPr>
              <a:t>+ 11 </a:t>
            </a:r>
            <a:r>
              <a:rPr lang="zh-CN" altLang="en-US" sz="1400" b="1" dirty="0">
                <a:latin typeface="微软雅黑" panose="020B0503020204020204" pitchFamily="34" charset="-122"/>
                <a:ea typeface="微软雅黑" panose="020B0503020204020204" pitchFamily="34" charset="-122"/>
              </a:rPr>
              <a:t>个文档的传输时间</a:t>
            </a:r>
            <a:endParaRPr lang="en-US" altLang="zh-CN" sz="1400" b="1" dirty="0">
              <a:latin typeface="微软雅黑" panose="020B0503020204020204" pitchFamily="34" charset="-122"/>
              <a:ea typeface="微软雅黑" panose="020B0503020204020204" pitchFamily="34" charset="-122"/>
            </a:endParaRPr>
          </a:p>
        </p:txBody>
      </p:sp>
      <p:grpSp>
        <p:nvGrpSpPr>
          <p:cNvPr id="8" name="组合 7"/>
          <p:cNvGrpSpPr/>
          <p:nvPr/>
        </p:nvGrpSpPr>
        <p:grpSpPr>
          <a:xfrm>
            <a:off x="4381085" y="1589855"/>
            <a:ext cx="2130915" cy="913826"/>
            <a:chOff x="4381085" y="1589855"/>
            <a:chExt cx="2130915" cy="913826"/>
          </a:xfrm>
        </p:grpSpPr>
        <p:grpSp>
          <p:nvGrpSpPr>
            <p:cNvPr id="44" name="组合 43"/>
            <p:cNvGrpSpPr/>
            <p:nvPr/>
          </p:nvGrpSpPr>
          <p:grpSpPr>
            <a:xfrm>
              <a:off x="5700971" y="19229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1694559"/>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18"/>
            <p:cNvSpPr>
              <a:spLocks noChangeShapeType="1"/>
            </p:cNvSpPr>
            <p:nvPr/>
          </p:nvSpPr>
          <p:spPr bwMode="auto">
            <a:xfrm>
              <a:off x="4977710" y="1809694"/>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AutoShape 15"/>
            <p:cNvSpPr>
              <a:spLocks/>
            </p:cNvSpPr>
            <p:nvPr/>
          </p:nvSpPr>
          <p:spPr bwMode="auto">
            <a:xfrm>
              <a:off x="4827118" y="1589855"/>
              <a:ext cx="101751" cy="893911"/>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Text Box 16"/>
            <p:cNvSpPr txBox="1">
              <a:spLocks noChangeArrowheads="1"/>
            </p:cNvSpPr>
            <p:nvPr/>
          </p:nvSpPr>
          <p:spPr bwMode="auto">
            <a:xfrm>
              <a:off x="4381085" y="1878640"/>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200" b="1" dirty="0">
                  <a:latin typeface="微软雅黑" panose="020B0503020204020204" pitchFamily="34" charset="-122"/>
                  <a:ea typeface="微软雅黑" panose="020B0503020204020204" pitchFamily="34" charset="-122"/>
                </a:rPr>
                <a:t>RTT</a:t>
              </a:r>
            </a:p>
          </p:txBody>
        </p:sp>
        <p:sp>
          <p:nvSpPr>
            <p:cNvPr id="65" name="Line 23"/>
            <p:cNvSpPr>
              <a:spLocks noChangeShapeType="1"/>
            </p:cNvSpPr>
            <p:nvPr/>
          </p:nvSpPr>
          <p:spPr bwMode="auto">
            <a:xfrm flipH="1">
              <a:off x="4763281" y="2502598"/>
              <a:ext cx="229811" cy="10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6" name="Line 18"/>
            <p:cNvSpPr>
              <a:spLocks noChangeShapeType="1"/>
            </p:cNvSpPr>
            <p:nvPr/>
          </p:nvSpPr>
          <p:spPr bwMode="auto">
            <a:xfrm>
              <a:off x="4977710" y="2252651"/>
              <a:ext cx="1534290" cy="8705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 name="组合 8"/>
          <p:cNvGrpSpPr/>
          <p:nvPr/>
        </p:nvGrpSpPr>
        <p:grpSpPr>
          <a:xfrm>
            <a:off x="3852846" y="2462391"/>
            <a:ext cx="2666067" cy="1002573"/>
            <a:chOff x="3852846" y="2462391"/>
            <a:chExt cx="2666067" cy="1002573"/>
          </a:xfrm>
        </p:grpSpPr>
        <p:grpSp>
          <p:nvGrpSpPr>
            <p:cNvPr id="49" name="组合 48"/>
            <p:cNvGrpSpPr/>
            <p:nvPr/>
          </p:nvGrpSpPr>
          <p:grpSpPr>
            <a:xfrm>
              <a:off x="5007753" y="2462391"/>
              <a:ext cx="1503604" cy="315710"/>
              <a:chOff x="5442383" y="1762124"/>
              <a:chExt cx="1503604" cy="348227"/>
            </a:xfrm>
          </p:grpSpPr>
          <p:sp>
            <p:nvSpPr>
              <p:cNvPr id="26" name="Rectangle 21"/>
              <p:cNvSpPr>
                <a:spLocks noChangeArrowheads="1"/>
              </p:cNvSpPr>
              <p:nvPr/>
            </p:nvSpPr>
            <p:spPr bwMode="auto">
              <a:xfrm rot="21373145">
                <a:off x="5442383" y="1762124"/>
                <a:ext cx="1503604" cy="348227"/>
              </a:xfrm>
              <a:prstGeom prst="rect">
                <a:avLst/>
              </a:prstGeom>
              <a:solidFill>
                <a:srgbClr val="009900"/>
              </a:solidFill>
              <a:ln w="9525">
                <a:noFill/>
                <a:miter lim="800000"/>
                <a:headEnd/>
                <a:tailEnd/>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31" name="Group 26"/>
            <p:cNvGrpSpPr>
              <a:grpSpLocks/>
            </p:cNvGrpSpPr>
            <p:nvPr/>
          </p:nvGrpSpPr>
          <p:grpSpPr bwMode="auto">
            <a:xfrm>
              <a:off x="5017533" y="2782838"/>
              <a:ext cx="1492377" cy="315712"/>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grpSp>
          <p:nvGrpSpPr>
            <p:cNvPr id="36" name="Group 31"/>
            <p:cNvGrpSpPr>
              <a:grpSpLocks/>
            </p:cNvGrpSpPr>
            <p:nvPr/>
          </p:nvGrpSpPr>
          <p:grpSpPr bwMode="auto">
            <a:xfrm>
              <a:off x="5014958" y="3094398"/>
              <a:ext cx="1503955" cy="315710"/>
              <a:chOff x="1145" y="3634"/>
              <a:chExt cx="1169" cy="384"/>
            </a:xfrm>
            <a:solidFill>
              <a:schemeClr val="accent6">
                <a:lumMod val="60000"/>
                <a:lumOff val="40000"/>
              </a:schemeClr>
            </a:solidFill>
          </p:grpSpPr>
          <p:sp>
            <p:nvSpPr>
              <p:cNvPr id="38" name="Rectangle 32"/>
              <p:cNvSpPr>
                <a:spLocks noChangeArrowheads="1"/>
              </p:cNvSpPr>
              <p:nvPr/>
            </p:nvSpPr>
            <p:spPr bwMode="auto">
              <a:xfrm rot="21347042">
                <a:off x="1145" y="3634"/>
                <a:ext cx="1169" cy="384"/>
              </a:xfrm>
              <a:prstGeom prst="rect">
                <a:avLst/>
              </a:prstGeom>
              <a:grp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67" name="AutoShape 15"/>
            <p:cNvSpPr>
              <a:spLocks/>
            </p:cNvSpPr>
            <p:nvPr/>
          </p:nvSpPr>
          <p:spPr bwMode="auto">
            <a:xfrm>
              <a:off x="4827118" y="2530936"/>
              <a:ext cx="105522" cy="934028"/>
            </a:xfrm>
            <a:prstGeom prst="leftBrace">
              <a:avLst>
                <a:gd name="adj1" fmla="val 5205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9" name="Text Box 12"/>
            <p:cNvSpPr txBox="1">
              <a:spLocks noChangeArrowheads="1"/>
            </p:cNvSpPr>
            <p:nvPr/>
          </p:nvSpPr>
          <p:spPr bwMode="auto">
            <a:xfrm>
              <a:off x="3852846" y="2757571"/>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200" b="1" dirty="0">
                  <a:solidFill>
                    <a:srgbClr val="0000CC"/>
                  </a:solidFill>
                  <a:latin typeface="微软雅黑" panose="020B0503020204020204" pitchFamily="34" charset="-122"/>
                  <a:ea typeface="微软雅黑" panose="020B0503020204020204" pitchFamily="34" charset="-122"/>
                </a:rPr>
                <a:t>传输文档的时间</a:t>
              </a:r>
            </a:p>
          </p:txBody>
        </p:sp>
      </p:grpSp>
    </p:spTree>
    <p:extLst>
      <p:ext uri="{BB962C8B-B14F-4D97-AF65-F5344CB8AC3E}">
        <p14:creationId xmlns:p14="http://schemas.microsoft.com/office/powerpoint/2010/main" val="2345929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1000"/>
                                        <p:tgtEl>
                                          <p:spTgt spid="8"/>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1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up)">
                                      <p:cBhvr>
                                        <p:cTn id="20" dur="10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是协议 </a:t>
            </a:r>
            <a:r>
              <a:rPr lang="en-US" altLang="zh-CN" sz="2000" b="1" dirty="0">
                <a:latin typeface="微软雅黑" pitchFamily="34" charset="-122"/>
                <a:ea typeface="微软雅黑" pitchFamily="34" charset="-122"/>
              </a:rPr>
              <a:t>HTTP/1.1 </a:t>
            </a:r>
            <a:r>
              <a:rPr lang="zh-CN" altLang="en-US" sz="2000" b="1" dirty="0">
                <a:latin typeface="微软雅黑" pitchFamily="34" charset="-122"/>
                <a:ea typeface="微软雅黑" pitchFamily="34" charset="-122"/>
              </a:rPr>
              <a:t>的升级版本。</a:t>
            </a:r>
            <a:endParaRPr lang="en-US" altLang="zh-CN" sz="2000" b="1" dirty="0">
              <a:latin typeface="微软雅黑" pitchFamily="34" charset="-122"/>
              <a:ea typeface="微软雅黑"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服务器可以并行发回响应（使用同一个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允许客户复用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连接进行多个请求。</a:t>
            </a:r>
            <a:endParaRPr lang="en-US" altLang="zh-CN" sz="2000" b="1" dirty="0">
              <a:latin typeface="微软雅黑" pitchFamily="34" charset="-122"/>
              <a:ea typeface="微软雅黑"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把所有的报文都划分为许多较小的二进制编码的帧，并采用了新的压缩算法，不发送重复的首部字段，大大减小了首部的开销，提高了传输效率。</a:t>
            </a:r>
            <a:endParaRPr lang="en-US" altLang="zh-CN" sz="2000" b="1" dirty="0">
              <a:latin typeface="微软雅黑" pitchFamily="34" charset="-122"/>
              <a:ea typeface="微软雅黑"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itchFamily="34" charset="-122"/>
                <a:ea typeface="微软雅黑" pitchFamily="34" charset="-122"/>
              </a:rPr>
              <a:t>向后兼容。</a:t>
            </a:r>
            <a:endParaRPr lang="en-US" altLang="zh-CN" sz="2000" b="1" dirty="0">
              <a:latin typeface="微软雅黑" pitchFamily="34" charset="-122"/>
              <a:ea typeface="微软雅黑"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175939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协议 </a:t>
            </a:r>
            <a:r>
              <a:rPr lang="en-US" altLang="zh-CN" sz="2000" b="1" dirty="0">
                <a:latin typeface="微软雅黑" pitchFamily="34" charset="-122"/>
                <a:ea typeface="微软雅黑" pitchFamily="34" charset="-122"/>
              </a:rPr>
              <a:t>HTTP/2</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27545526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58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693129" y="572603"/>
            <a:ext cx="17764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代理服务器</a:t>
            </a:r>
          </a:p>
        </p:txBody>
      </p:sp>
      <p:sp>
        <p:nvSpPr>
          <p:cNvPr id="10" name="Rectangle 68"/>
          <p:cNvSpPr>
            <a:spLocks noChangeArrowheads="1"/>
          </p:cNvSpPr>
          <p:nvPr/>
        </p:nvSpPr>
        <p:spPr bwMode="auto">
          <a:xfrm>
            <a:off x="483810" y="966904"/>
            <a:ext cx="8206233"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代理服务器 </a:t>
            </a:r>
            <a:r>
              <a:rPr lang="en-US" altLang="zh-CN" sz="2000" b="1" dirty="0">
                <a:latin typeface="微软雅黑" pitchFamily="34" charset="-122"/>
                <a:ea typeface="微软雅黑" pitchFamily="34" charset="-122"/>
              </a:rPr>
              <a:t>(proxy server) </a:t>
            </a:r>
            <a:r>
              <a:rPr lang="zh-CN" altLang="en-US" sz="2000" b="1" dirty="0">
                <a:latin typeface="微软雅黑" pitchFamily="34" charset="-122"/>
                <a:ea typeface="微软雅黑" pitchFamily="34" charset="-122"/>
              </a:rPr>
              <a:t>又称为</a:t>
            </a:r>
            <a:r>
              <a:rPr lang="zh-CN" altLang="en-US" sz="2000" b="1" dirty="0">
                <a:solidFill>
                  <a:srgbClr val="0000FF"/>
                </a:solidFill>
                <a:latin typeface="微软雅黑" pitchFamily="34" charset="-122"/>
                <a:ea typeface="微软雅黑" pitchFamily="34" charset="-122"/>
              </a:rPr>
              <a:t>万维网高速缓存 </a:t>
            </a:r>
            <a:r>
              <a:rPr lang="en-US" altLang="zh-CN" sz="2000" b="1" dirty="0">
                <a:latin typeface="微软雅黑" pitchFamily="34" charset="-122"/>
                <a:ea typeface="微软雅黑" pitchFamily="34" charset="-122"/>
              </a:rPr>
              <a:t>(Web cache)</a:t>
            </a:r>
            <a:r>
              <a:rPr lang="zh-CN" altLang="en-US" sz="2000" b="1" dirty="0">
                <a:latin typeface="微软雅黑" pitchFamily="34" charset="-122"/>
                <a:ea typeface="微软雅黑" pitchFamily="34" charset="-122"/>
              </a:rPr>
              <a:t>，它代表浏览器发出 </a:t>
            </a:r>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使用高速缓存可</a:t>
            </a:r>
            <a:r>
              <a:rPr lang="zh-CN" altLang="en-US" sz="2000" b="1" dirty="0">
                <a:solidFill>
                  <a:srgbClr val="C00000"/>
                </a:solidFill>
                <a:latin typeface="微软雅黑" pitchFamily="34" charset="-122"/>
                <a:ea typeface="微软雅黑" pitchFamily="34" charset="-122"/>
              </a:rPr>
              <a:t>减少</a:t>
            </a:r>
            <a:r>
              <a:rPr lang="zh-CN" altLang="en-US" sz="2000" b="1" dirty="0">
                <a:latin typeface="微软雅黑" pitchFamily="34" charset="-122"/>
                <a:ea typeface="微软雅黑" pitchFamily="34" charset="-122"/>
              </a:rPr>
              <a:t>访问互联网服务器的</a:t>
            </a:r>
            <a:r>
              <a:rPr lang="zh-CN" altLang="en-US" sz="2000" b="1" dirty="0">
                <a:solidFill>
                  <a:srgbClr val="C00000"/>
                </a:solidFill>
                <a:latin typeface="微软雅黑" pitchFamily="34" charset="-122"/>
                <a:ea typeface="微软雅黑" pitchFamily="34" charset="-122"/>
              </a:rPr>
              <a:t>时延。</a:t>
            </a:r>
          </a:p>
        </p:txBody>
      </p:sp>
    </p:spTree>
    <p:extLst>
      <p:ext uri="{BB962C8B-B14F-4D97-AF65-F5344CB8AC3E}">
        <p14:creationId xmlns:p14="http://schemas.microsoft.com/office/powerpoint/2010/main" val="15836431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2" name="Group 1504"/>
          <p:cNvGrpSpPr>
            <a:grpSpLocks/>
          </p:cNvGrpSpPr>
          <p:nvPr/>
        </p:nvGrpSpPr>
        <p:grpSpPr bwMode="auto">
          <a:xfrm>
            <a:off x="697569"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3" name="Group 1505"/>
            <p:cNvGrpSpPr>
              <a:grpSpLocks/>
            </p:cNvGrpSpPr>
            <p:nvPr/>
          </p:nvGrpSpPr>
          <p:grpSpPr bwMode="auto">
            <a:xfrm>
              <a:off x="109" y="1226"/>
              <a:ext cx="2516" cy="1675"/>
              <a:chOff x="109" y="1226"/>
              <a:chExt cx="2516" cy="1675"/>
            </a:xfrm>
            <a:grpFill/>
          </p:grpSpPr>
          <p:grpSp>
            <p:nvGrpSpPr>
              <p:cNvPr id="135" name="Group 1506"/>
              <p:cNvGrpSpPr>
                <a:grpSpLocks/>
              </p:cNvGrpSpPr>
              <p:nvPr/>
            </p:nvGrpSpPr>
            <p:grpSpPr bwMode="auto">
              <a:xfrm>
                <a:off x="109" y="1226"/>
                <a:ext cx="2516" cy="1675"/>
                <a:chOff x="109" y="1226"/>
                <a:chExt cx="2516" cy="1675"/>
              </a:xfrm>
              <a:grpFill/>
            </p:grpSpPr>
            <p:sp>
              <p:nvSpPr>
                <p:cNvPr id="137"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8"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9"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0"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1"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2"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3"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4"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6"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51886"/>
            <a:ext cx="283122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不使用高速缓存的情况</a:t>
            </a:r>
          </a:p>
        </p:txBody>
      </p:sp>
      <p:graphicFrame>
        <p:nvGraphicFramePr>
          <p:cNvPr id="31" name="Object 44"/>
          <p:cNvGraphicFramePr>
            <a:graphicFrameLocks noChangeAspect="1"/>
          </p:cNvGraphicFramePr>
          <p:nvPr>
            <p:extLst>
              <p:ext uri="{D42A27DB-BD31-4B8C-83A1-F6EECF244321}">
                <p14:modId xmlns:p14="http://schemas.microsoft.com/office/powerpoint/2010/main" val="978434530"/>
              </p:ext>
            </p:extLst>
          </p:nvPr>
        </p:nvGraphicFramePr>
        <p:xfrm>
          <a:off x="6185200" y="2209150"/>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85200" y="2209150"/>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790053" y="2673908"/>
            <a:ext cx="2154462" cy="0"/>
          </a:xfrm>
          <a:prstGeom prst="line">
            <a:avLst/>
          </a:prstGeom>
          <a:noFill/>
          <a:ln w="3810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46"/>
          <p:cNvSpPr>
            <a:spLocks noChangeShapeType="1"/>
          </p:cNvSpPr>
          <p:nvPr/>
        </p:nvSpPr>
        <p:spPr bwMode="auto">
          <a:xfrm>
            <a:off x="7119321" y="3095434"/>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47"/>
          <p:cNvSpPr>
            <a:spLocks noChangeShapeType="1"/>
          </p:cNvSpPr>
          <p:nvPr/>
        </p:nvSpPr>
        <p:spPr bwMode="auto">
          <a:xfrm>
            <a:off x="7439368" y="2864856"/>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48"/>
          <p:cNvSpPr>
            <a:spLocks noChangeShapeType="1"/>
          </p:cNvSpPr>
          <p:nvPr/>
        </p:nvSpPr>
        <p:spPr bwMode="auto">
          <a:xfrm flipV="1">
            <a:off x="7464087" y="2301622"/>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49"/>
          <p:cNvSpPr>
            <a:spLocks noChangeShapeType="1"/>
          </p:cNvSpPr>
          <p:nvPr/>
        </p:nvSpPr>
        <p:spPr bwMode="auto">
          <a:xfrm flipV="1">
            <a:off x="7093301" y="1790027"/>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2"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Line 119"/>
          <p:cNvSpPr>
            <a:spLocks noChangeShapeType="1"/>
          </p:cNvSpPr>
          <p:nvPr/>
        </p:nvSpPr>
        <p:spPr bwMode="auto">
          <a:xfrm>
            <a:off x="2416194" y="2667905"/>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106" name="Group 120"/>
          <p:cNvGrpSpPr>
            <a:grpSpLocks/>
          </p:cNvGrpSpPr>
          <p:nvPr/>
        </p:nvGrpSpPr>
        <p:grpSpPr bwMode="auto">
          <a:xfrm>
            <a:off x="3483017" y="2506981"/>
            <a:ext cx="477468" cy="309839"/>
            <a:chOff x="2154" y="3033"/>
            <a:chExt cx="309" cy="192"/>
          </a:xfrm>
        </p:grpSpPr>
        <p:sp>
          <p:nvSpPr>
            <p:cNvPr id="107"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8"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9"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0"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111" name="Group 125"/>
            <p:cNvGrpSpPr>
              <a:grpSpLocks/>
            </p:cNvGrpSpPr>
            <p:nvPr/>
          </p:nvGrpSpPr>
          <p:grpSpPr bwMode="auto">
            <a:xfrm>
              <a:off x="2201" y="3046"/>
              <a:ext cx="214" cy="86"/>
              <a:chOff x="2201" y="3046"/>
              <a:chExt cx="214" cy="86"/>
            </a:xfrm>
          </p:grpSpPr>
          <p:grpSp>
            <p:nvGrpSpPr>
              <p:cNvPr id="114" name="Group 126"/>
              <p:cNvGrpSpPr>
                <a:grpSpLocks/>
              </p:cNvGrpSpPr>
              <p:nvPr/>
            </p:nvGrpSpPr>
            <p:grpSpPr bwMode="auto">
              <a:xfrm>
                <a:off x="2201" y="3046"/>
                <a:ext cx="212" cy="84"/>
                <a:chOff x="2201" y="3046"/>
                <a:chExt cx="212" cy="84"/>
              </a:xfrm>
            </p:grpSpPr>
            <p:sp>
              <p:nvSpPr>
                <p:cNvPr id="124"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5"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6"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7"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8"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9"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0"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1"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115" name="Group 135"/>
              <p:cNvGrpSpPr>
                <a:grpSpLocks/>
              </p:cNvGrpSpPr>
              <p:nvPr/>
            </p:nvGrpSpPr>
            <p:grpSpPr bwMode="auto">
              <a:xfrm>
                <a:off x="2203" y="3048"/>
                <a:ext cx="212" cy="84"/>
                <a:chOff x="2203" y="3048"/>
                <a:chExt cx="212" cy="84"/>
              </a:xfrm>
            </p:grpSpPr>
            <p:sp>
              <p:nvSpPr>
                <p:cNvPr id="116"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7"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8"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9"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0"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1"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2"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23"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112"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13"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40" name="Rectangle 254"/>
          <p:cNvSpPr>
            <a:spLocks noChangeArrowheads="1"/>
          </p:cNvSpPr>
          <p:nvPr/>
        </p:nvSpPr>
        <p:spPr bwMode="auto">
          <a:xfrm>
            <a:off x="2626957" y="1864485"/>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41" name="Rectangle 255"/>
          <p:cNvSpPr>
            <a:spLocks noChangeArrowheads="1"/>
          </p:cNvSpPr>
          <p:nvPr/>
        </p:nvSpPr>
        <p:spPr bwMode="auto">
          <a:xfrm>
            <a:off x="2668104" y="1546706"/>
            <a:ext cx="7342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263" name="Rectangle 279"/>
          <p:cNvSpPr>
            <a:spLocks noChangeArrowheads="1"/>
          </p:cNvSpPr>
          <p:nvPr/>
        </p:nvSpPr>
        <p:spPr bwMode="auto">
          <a:xfrm>
            <a:off x="6603463" y="1564493"/>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latin typeface="微软雅黑" pitchFamily="34" charset="-122"/>
                <a:ea typeface="微软雅黑" pitchFamily="34" charset="-122"/>
              </a:rPr>
              <a:t>源点服务器</a:t>
            </a:r>
          </a:p>
        </p:txBody>
      </p:sp>
      <p:sp>
        <p:nvSpPr>
          <p:cNvPr id="264" name="Rectangle 280"/>
          <p:cNvSpPr>
            <a:spLocks noChangeArrowheads="1"/>
          </p:cNvSpPr>
          <p:nvPr/>
        </p:nvSpPr>
        <p:spPr bwMode="auto">
          <a:xfrm>
            <a:off x="4168645" y="2346056"/>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5" name="Rectangle 281"/>
          <p:cNvSpPr>
            <a:spLocks noChangeArrowheads="1"/>
          </p:cNvSpPr>
          <p:nvPr/>
        </p:nvSpPr>
        <p:spPr bwMode="auto">
          <a:xfrm>
            <a:off x="4728140" y="2400097"/>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266" name="Group 282"/>
          <p:cNvGrpSpPr>
            <a:grpSpLocks/>
          </p:cNvGrpSpPr>
          <p:nvPr/>
        </p:nvGrpSpPr>
        <p:grpSpPr bwMode="auto">
          <a:xfrm>
            <a:off x="5783191" y="2506981"/>
            <a:ext cx="477468" cy="309839"/>
            <a:chOff x="3202" y="3033"/>
            <a:chExt cx="309" cy="192"/>
          </a:xfrm>
        </p:grpSpPr>
        <p:sp>
          <p:nvSpPr>
            <p:cNvPr id="267"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8"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9"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70"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71" name="Group 287"/>
            <p:cNvGrpSpPr>
              <a:grpSpLocks/>
            </p:cNvGrpSpPr>
            <p:nvPr/>
          </p:nvGrpSpPr>
          <p:grpSpPr bwMode="auto">
            <a:xfrm>
              <a:off x="3249" y="3046"/>
              <a:ext cx="214" cy="86"/>
              <a:chOff x="3249" y="3046"/>
              <a:chExt cx="214" cy="86"/>
            </a:xfrm>
          </p:grpSpPr>
          <p:grpSp>
            <p:nvGrpSpPr>
              <p:cNvPr id="274" name="Group 288"/>
              <p:cNvGrpSpPr>
                <a:grpSpLocks/>
              </p:cNvGrpSpPr>
              <p:nvPr/>
            </p:nvGrpSpPr>
            <p:grpSpPr bwMode="auto">
              <a:xfrm>
                <a:off x="3249" y="3046"/>
                <a:ext cx="212" cy="84"/>
                <a:chOff x="3249" y="3046"/>
                <a:chExt cx="212" cy="84"/>
              </a:xfrm>
            </p:grpSpPr>
            <p:sp>
              <p:nvSpPr>
                <p:cNvPr id="284"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5"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6"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7"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8"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9"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0"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91"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75" name="Group 297"/>
              <p:cNvGrpSpPr>
                <a:grpSpLocks/>
              </p:cNvGrpSpPr>
              <p:nvPr/>
            </p:nvGrpSpPr>
            <p:grpSpPr bwMode="auto">
              <a:xfrm>
                <a:off x="3251" y="3048"/>
                <a:ext cx="212" cy="84"/>
                <a:chOff x="3251" y="3048"/>
                <a:chExt cx="212" cy="84"/>
              </a:xfrm>
            </p:grpSpPr>
            <p:sp>
              <p:nvSpPr>
                <p:cNvPr id="276"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7"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8"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9"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0"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1"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2"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83"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72"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73"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92" name="Rectangle 308"/>
          <p:cNvSpPr>
            <a:spLocks noChangeArrowheads="1"/>
          </p:cNvSpPr>
          <p:nvPr/>
        </p:nvSpPr>
        <p:spPr bwMode="auto">
          <a:xfrm>
            <a:off x="6269767" y="2156310"/>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3" name="Rectangle 309"/>
          <p:cNvSpPr>
            <a:spLocks noChangeArrowheads="1"/>
          </p:cNvSpPr>
          <p:nvPr/>
        </p:nvSpPr>
        <p:spPr bwMode="auto">
          <a:xfrm>
            <a:off x="6652101" y="2597050"/>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294" name="Rectangle 310"/>
          <p:cNvSpPr>
            <a:spLocks noChangeArrowheads="1"/>
          </p:cNvSpPr>
          <p:nvPr/>
        </p:nvSpPr>
        <p:spPr bwMode="auto">
          <a:xfrm>
            <a:off x="3748421" y="2229566"/>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5" name="Rectangle 311"/>
          <p:cNvSpPr>
            <a:spLocks noChangeArrowheads="1"/>
          </p:cNvSpPr>
          <p:nvPr/>
        </p:nvSpPr>
        <p:spPr bwMode="auto">
          <a:xfrm>
            <a:off x="3047180" y="2813216"/>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97" name="Rectangle 313"/>
          <p:cNvSpPr>
            <a:spLocks noChangeArrowheads="1"/>
          </p:cNvSpPr>
          <p:nvPr/>
        </p:nvSpPr>
        <p:spPr bwMode="auto">
          <a:xfrm>
            <a:off x="1078421" y="2396014"/>
            <a:ext cx="5506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sp>
        <p:nvSpPr>
          <p:cNvPr id="298" name="Rectangle 314"/>
          <p:cNvSpPr>
            <a:spLocks noChangeArrowheads="1"/>
          </p:cNvSpPr>
          <p:nvPr/>
        </p:nvSpPr>
        <p:spPr bwMode="auto">
          <a:xfrm>
            <a:off x="3744519" y="22499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299" name="Rectangle 315"/>
          <p:cNvSpPr>
            <a:spLocks noChangeArrowheads="1"/>
          </p:cNvSpPr>
          <p:nvPr/>
        </p:nvSpPr>
        <p:spPr bwMode="auto">
          <a:xfrm>
            <a:off x="5892475" y="22511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grpSp>
        <p:nvGrpSpPr>
          <p:cNvPr id="301" name="Group 327"/>
          <p:cNvGrpSpPr>
            <a:grpSpLocks/>
          </p:cNvGrpSpPr>
          <p:nvPr/>
        </p:nvGrpSpPr>
        <p:grpSpPr bwMode="auto">
          <a:xfrm>
            <a:off x="4607080" y="1243238"/>
            <a:ext cx="1386867" cy="816364"/>
            <a:chOff x="2981" y="1888"/>
            <a:chExt cx="1066" cy="452"/>
          </a:xfrm>
        </p:grpSpPr>
        <p:sp>
          <p:nvSpPr>
            <p:cNvPr id="302" name="AutoShape 318"/>
            <p:cNvSpPr>
              <a:spLocks noChangeArrowheads="1"/>
            </p:cNvSpPr>
            <p:nvPr/>
          </p:nvSpPr>
          <p:spPr bwMode="auto">
            <a:xfrm>
              <a:off x="2981" y="1888"/>
              <a:ext cx="1066" cy="452"/>
            </a:xfrm>
            <a:prstGeom prst="wedgeRoundRectCallout">
              <a:avLst>
                <a:gd name="adj1" fmla="val -71127"/>
                <a:gd name="adj2" fmla="val 121631"/>
                <a:gd name="adj3" fmla="val 16667"/>
              </a:avLst>
            </a:prstGeom>
            <a:solidFill>
              <a:srgbClr val="66FF66"/>
            </a:solidFill>
            <a:ln w="9525">
              <a:solidFill>
                <a:schemeClr val="tx1"/>
              </a:solidFill>
              <a:miter lim="800000"/>
              <a:headEnd/>
              <a:tailEnd/>
            </a:ln>
            <a:effectLst/>
          </p:spPr>
          <p:txBody>
            <a:bodyPr/>
            <a:lstStyle/>
            <a:p>
              <a:pPr algn="ctr" eaLnBrk="1" hangingPunct="1"/>
              <a:endParaRPr kumimoji="1" lang="zh-CN" altLang="zh-CN" sz="1400" b="1">
                <a:solidFill>
                  <a:srgbClr val="000099"/>
                </a:solidFill>
                <a:latin typeface="微软雅黑" pitchFamily="34" charset="-122"/>
                <a:ea typeface="微软雅黑" pitchFamily="34" charset="-122"/>
              </a:endParaRPr>
            </a:p>
          </p:txBody>
        </p:sp>
        <p:sp>
          <p:nvSpPr>
            <p:cNvPr id="303" name="Rectangle 319"/>
            <p:cNvSpPr>
              <a:spLocks noChangeArrowheads="1"/>
            </p:cNvSpPr>
            <p:nvPr/>
          </p:nvSpPr>
          <p:spPr bwMode="auto">
            <a:xfrm>
              <a:off x="3086" y="1936"/>
              <a:ext cx="867"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400" b="1" dirty="0">
                  <a:latin typeface="微软雅黑" pitchFamily="34" charset="-122"/>
                  <a:ea typeface="微软雅黑" pitchFamily="34" charset="-122"/>
                </a:rPr>
                <a:t>这条链路通信量很大，导致时延增加。</a:t>
              </a:r>
            </a:p>
          </p:txBody>
        </p:sp>
      </p:grpSp>
      <p:pic>
        <p:nvPicPr>
          <p:cNvPr id="312" name="图片 31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555184" y="1298671"/>
            <a:ext cx="441076" cy="617506"/>
          </a:xfrm>
          <a:prstGeom prst="rect">
            <a:avLst/>
          </a:prstGeom>
        </p:spPr>
      </p:pic>
      <p:pic>
        <p:nvPicPr>
          <p:cNvPr id="314"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5"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6"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7" name="Picture 197" descr="jisuanj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8" name="图片 3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12360" y="1961158"/>
            <a:ext cx="441076" cy="617506"/>
          </a:xfrm>
          <a:prstGeom prst="rect">
            <a:avLst/>
          </a:prstGeom>
        </p:spPr>
      </p:pic>
      <p:pic>
        <p:nvPicPr>
          <p:cNvPr id="319" name="图片 3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12360" y="2681238"/>
            <a:ext cx="441076" cy="617506"/>
          </a:xfrm>
          <a:prstGeom prst="rect">
            <a:avLst/>
          </a:prstGeom>
        </p:spPr>
      </p:pic>
      <p:pic>
        <p:nvPicPr>
          <p:cNvPr id="320" name="图片 31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555184" y="3257302"/>
            <a:ext cx="441076" cy="617506"/>
          </a:xfrm>
          <a:prstGeom prst="rect">
            <a:avLst/>
          </a:prstGeom>
        </p:spPr>
      </p:pic>
      <p:sp>
        <p:nvSpPr>
          <p:cNvPr id="300" name="Freeform 316"/>
          <p:cNvSpPr>
            <a:spLocks/>
          </p:cNvSpPr>
          <p:nvPr/>
        </p:nvSpPr>
        <p:spPr bwMode="auto">
          <a:xfrm>
            <a:off x="3832987" y="1866886"/>
            <a:ext cx="3801532" cy="879078"/>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38100"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4" name="Freeform 320"/>
          <p:cNvSpPr>
            <a:spLocks/>
          </p:cNvSpPr>
          <p:nvPr/>
        </p:nvSpPr>
        <p:spPr bwMode="auto">
          <a:xfrm>
            <a:off x="1938726" y="1746794"/>
            <a:ext cx="1615846" cy="877877"/>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5" name="Freeform 321"/>
          <p:cNvSpPr>
            <a:spLocks/>
          </p:cNvSpPr>
          <p:nvPr/>
        </p:nvSpPr>
        <p:spPr bwMode="auto">
          <a:xfrm>
            <a:off x="2079234" y="2332845"/>
            <a:ext cx="1403783" cy="36628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6" name="Freeform 322"/>
          <p:cNvSpPr>
            <a:spLocks/>
          </p:cNvSpPr>
          <p:nvPr/>
        </p:nvSpPr>
        <p:spPr bwMode="auto">
          <a:xfrm>
            <a:off x="1437840" y="2741160"/>
            <a:ext cx="2079004" cy="28822"/>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07" name="Freeform 323"/>
          <p:cNvSpPr>
            <a:spLocks/>
          </p:cNvSpPr>
          <p:nvPr/>
        </p:nvSpPr>
        <p:spPr bwMode="auto">
          <a:xfrm>
            <a:off x="1938725" y="2794001"/>
            <a:ext cx="1628856" cy="489978"/>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308" name="Group 330"/>
          <p:cNvGrpSpPr>
            <a:grpSpLocks/>
          </p:cNvGrpSpPr>
          <p:nvPr/>
        </p:nvGrpSpPr>
        <p:grpSpPr bwMode="auto">
          <a:xfrm>
            <a:off x="4257114" y="2677477"/>
            <a:ext cx="1621051" cy="1008780"/>
            <a:chOff x="2712" y="2750"/>
            <a:chExt cx="1246" cy="840"/>
          </a:xfrm>
        </p:grpSpPr>
        <p:sp>
          <p:nvSpPr>
            <p:cNvPr id="309" name="Text Box 328"/>
            <p:cNvSpPr txBox="1">
              <a:spLocks noChangeArrowheads="1"/>
            </p:cNvSpPr>
            <p:nvPr/>
          </p:nvSpPr>
          <p:spPr bwMode="auto">
            <a:xfrm>
              <a:off x="2712" y="3154"/>
              <a:ext cx="1246" cy="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000099"/>
                  </a:solidFill>
                  <a:latin typeface="微软雅黑" pitchFamily="34" charset="-122"/>
                  <a:ea typeface="微软雅黑" pitchFamily="34" charset="-122"/>
                </a:rPr>
                <a:t>所有万维网通信量</a:t>
              </a:r>
            </a:p>
            <a:p>
              <a:pPr algn="ctr" eaLnBrk="1" hangingPunct="1"/>
              <a:r>
                <a:rPr lang="zh-CN" altLang="en-US" sz="1400" b="1" dirty="0">
                  <a:solidFill>
                    <a:srgbClr val="000099"/>
                  </a:solidFill>
                  <a:latin typeface="微软雅黑" pitchFamily="34" charset="-122"/>
                  <a:ea typeface="微软雅黑" pitchFamily="34" charset="-122"/>
                </a:rPr>
                <a:t>都经过这条链路</a:t>
              </a:r>
            </a:p>
          </p:txBody>
        </p:sp>
        <p:sp>
          <p:nvSpPr>
            <p:cNvPr id="310" name="Line 329"/>
            <p:cNvSpPr>
              <a:spLocks noChangeShapeType="1"/>
            </p:cNvSpPr>
            <p:nvPr/>
          </p:nvSpPr>
          <p:spPr bwMode="auto">
            <a:xfrm flipV="1">
              <a:off x="3334" y="2750"/>
              <a:ext cx="0" cy="402"/>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grpSp>
    </p:spTree>
    <p:extLst>
      <p:ext uri="{BB962C8B-B14F-4D97-AF65-F5344CB8AC3E}">
        <p14:creationId xmlns:p14="http://schemas.microsoft.com/office/powerpoint/2010/main" val="362035047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500"/>
                                  </p:stCondLst>
                                  <p:childTnLst>
                                    <p:set>
                                      <p:cBhvr>
                                        <p:cTn id="9" dur="1" fill="hold">
                                          <p:stCondLst>
                                            <p:cond delay="0"/>
                                          </p:stCondLst>
                                        </p:cTn>
                                        <p:tgtEl>
                                          <p:spTgt spid="301"/>
                                        </p:tgtEl>
                                        <p:attrNameLst>
                                          <p:attrName>style.visibility</p:attrName>
                                        </p:attrNameLst>
                                      </p:cBhvr>
                                      <p:to>
                                        <p:strVal val="visible"/>
                                      </p:to>
                                    </p:set>
                                  </p:childTnLst>
                                </p:cTn>
                              </p:par>
                            </p:childTnLst>
                          </p:cTn>
                        </p:par>
                        <p:par>
                          <p:cTn id="10" fill="hold">
                            <p:stCondLst>
                              <p:cond delay="500"/>
                            </p:stCondLst>
                            <p:childTnLst>
                              <p:par>
                                <p:cTn id="11" presetID="35" presetClass="emph" presetSubtype="0" repeatCount="4000" fill="hold" nodeType="afterEffect">
                                  <p:stCondLst>
                                    <p:cond delay="0"/>
                                  </p:stCondLst>
                                  <p:childTnLst>
                                    <p:anim calcmode="discrete" valueType="str">
                                      <p:cBhvr>
                                        <p:cTn id="12" dur="500" fill="hold"/>
                                        <p:tgtEl>
                                          <p:spTgt spid="3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0"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1" name="Group 1505"/>
            <p:cNvGrpSpPr>
              <a:grpSpLocks/>
            </p:cNvGrpSpPr>
            <p:nvPr/>
          </p:nvGrpSpPr>
          <p:grpSpPr bwMode="auto">
            <a:xfrm>
              <a:off x="109" y="1226"/>
              <a:ext cx="2516" cy="1675"/>
              <a:chOff x="109" y="1226"/>
              <a:chExt cx="2516" cy="1675"/>
            </a:xfrm>
            <a:grpFill/>
          </p:grpSpPr>
          <p:grpSp>
            <p:nvGrpSpPr>
              <p:cNvPr id="123" name="Group 1506"/>
              <p:cNvGrpSpPr>
                <a:grpSpLocks/>
              </p:cNvGrpSpPr>
              <p:nvPr/>
            </p:nvGrpSpPr>
            <p:grpSpPr bwMode="auto">
              <a:xfrm>
                <a:off x="109" y="1226"/>
                <a:ext cx="2516" cy="1675"/>
                <a:chOff x="109" y="1226"/>
                <a:chExt cx="2516" cy="1675"/>
              </a:xfrm>
              <a:grpFill/>
            </p:grpSpPr>
            <p:sp>
              <p:nvSpPr>
                <p:cNvPr id="125"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1"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2"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3"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4"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4"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2"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7"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8"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9"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0"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4"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5"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4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48"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4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1"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 name="矩形 9"/>
          <p:cNvSpPr/>
          <p:nvPr/>
        </p:nvSpPr>
        <p:spPr>
          <a:xfrm>
            <a:off x="645268" y="551886"/>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使用高速缓存的情况</a:t>
            </a:r>
          </a:p>
        </p:txBody>
      </p:sp>
      <p:graphicFrame>
        <p:nvGraphicFramePr>
          <p:cNvPr id="31" name="Object 44"/>
          <p:cNvGraphicFramePr>
            <a:graphicFrameLocks noChangeAspect="1"/>
          </p:cNvGraphicFramePr>
          <p:nvPr>
            <p:extLst>
              <p:ext uri="{D42A27DB-BD31-4B8C-83A1-F6EECF244321}">
                <p14:modId xmlns:p14="http://schemas.microsoft.com/office/powerpoint/2010/main" val="938288180"/>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3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3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43" name="Group 120"/>
          <p:cNvGrpSpPr>
            <a:grpSpLocks/>
          </p:cNvGrpSpPr>
          <p:nvPr/>
        </p:nvGrpSpPr>
        <p:grpSpPr bwMode="auto">
          <a:xfrm>
            <a:off x="3321527" y="2753930"/>
            <a:ext cx="477468" cy="309839"/>
            <a:chOff x="2154" y="3033"/>
            <a:chExt cx="309" cy="192"/>
          </a:xfrm>
        </p:grpSpPr>
        <p:sp>
          <p:nvSpPr>
            <p:cNvPr id="4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4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48" name="Group 125"/>
            <p:cNvGrpSpPr>
              <a:grpSpLocks/>
            </p:cNvGrpSpPr>
            <p:nvPr/>
          </p:nvGrpSpPr>
          <p:grpSpPr bwMode="auto">
            <a:xfrm>
              <a:off x="2201" y="3046"/>
              <a:ext cx="214" cy="86"/>
              <a:chOff x="2201" y="3046"/>
              <a:chExt cx="214" cy="86"/>
            </a:xfrm>
          </p:grpSpPr>
          <p:grpSp>
            <p:nvGrpSpPr>
              <p:cNvPr id="51" name="Group 126"/>
              <p:cNvGrpSpPr>
                <a:grpSpLocks/>
              </p:cNvGrpSpPr>
              <p:nvPr/>
            </p:nvGrpSpPr>
            <p:grpSpPr bwMode="auto">
              <a:xfrm>
                <a:off x="2201" y="3046"/>
                <a:ext cx="212" cy="84"/>
                <a:chOff x="2201" y="3046"/>
                <a:chExt cx="212" cy="84"/>
              </a:xfrm>
            </p:grpSpPr>
            <p:sp>
              <p:nvSpPr>
                <p:cNvPr id="6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52" name="Group 135"/>
              <p:cNvGrpSpPr>
                <a:grpSpLocks/>
              </p:cNvGrpSpPr>
              <p:nvPr/>
            </p:nvGrpSpPr>
            <p:grpSpPr bwMode="auto">
              <a:xfrm>
                <a:off x="2203" y="3048"/>
                <a:ext cx="212" cy="84"/>
                <a:chOff x="2203" y="3048"/>
                <a:chExt cx="212" cy="84"/>
              </a:xfrm>
            </p:grpSpPr>
            <p:sp>
              <p:nvSpPr>
                <p:cNvPr id="5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4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5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69" name="Rectangle 254"/>
          <p:cNvSpPr>
            <a:spLocks noChangeArrowheads="1"/>
          </p:cNvSpPr>
          <p:nvPr/>
        </p:nvSpPr>
        <p:spPr bwMode="auto">
          <a:xfrm>
            <a:off x="2513605" y="2079127"/>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1"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7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74" name="Group 282"/>
          <p:cNvGrpSpPr>
            <a:grpSpLocks/>
          </p:cNvGrpSpPr>
          <p:nvPr/>
        </p:nvGrpSpPr>
        <p:grpSpPr bwMode="auto">
          <a:xfrm>
            <a:off x="5669839" y="2721623"/>
            <a:ext cx="477468" cy="309839"/>
            <a:chOff x="3202" y="3033"/>
            <a:chExt cx="309" cy="192"/>
          </a:xfrm>
        </p:grpSpPr>
        <p:sp>
          <p:nvSpPr>
            <p:cNvPr id="7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7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79" name="Group 287"/>
            <p:cNvGrpSpPr>
              <a:grpSpLocks/>
            </p:cNvGrpSpPr>
            <p:nvPr/>
          </p:nvGrpSpPr>
          <p:grpSpPr bwMode="auto">
            <a:xfrm>
              <a:off x="3249" y="3046"/>
              <a:ext cx="214" cy="86"/>
              <a:chOff x="3249" y="3046"/>
              <a:chExt cx="214" cy="86"/>
            </a:xfrm>
          </p:grpSpPr>
          <p:grpSp>
            <p:nvGrpSpPr>
              <p:cNvPr id="82" name="Group 288"/>
              <p:cNvGrpSpPr>
                <a:grpSpLocks/>
              </p:cNvGrpSpPr>
              <p:nvPr/>
            </p:nvGrpSpPr>
            <p:grpSpPr bwMode="auto">
              <a:xfrm>
                <a:off x="3249" y="3046"/>
                <a:ext cx="212" cy="84"/>
                <a:chOff x="3249" y="3046"/>
                <a:chExt cx="212" cy="84"/>
              </a:xfrm>
            </p:grpSpPr>
            <p:sp>
              <p:nvSpPr>
                <p:cNvPr id="9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83" name="Group 297"/>
              <p:cNvGrpSpPr>
                <a:grpSpLocks/>
              </p:cNvGrpSpPr>
              <p:nvPr/>
            </p:nvGrpSpPr>
            <p:grpSpPr bwMode="auto">
              <a:xfrm>
                <a:off x="3251" y="3048"/>
                <a:ext cx="212" cy="84"/>
                <a:chOff x="3251" y="3048"/>
                <a:chExt cx="212" cy="84"/>
              </a:xfrm>
            </p:grpSpPr>
            <p:sp>
              <p:nvSpPr>
                <p:cNvPr id="8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8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8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0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02"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3" name="Rectangle 311"/>
          <p:cNvSpPr>
            <a:spLocks noChangeArrowheads="1"/>
          </p:cNvSpPr>
          <p:nvPr/>
        </p:nvSpPr>
        <p:spPr bwMode="auto">
          <a:xfrm>
            <a:off x="2933828" y="3027858"/>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0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0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12" name="图片 11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17" name="图片 11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18" name="图片 1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19" name="图片 11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pic>
        <p:nvPicPr>
          <p:cNvPr id="128" name="图片 1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2"/>
            <a:ext cx="441076" cy="617506"/>
          </a:xfrm>
          <a:prstGeom prst="rect">
            <a:avLst/>
          </a:prstGeom>
        </p:spPr>
      </p:pic>
      <p:cxnSp>
        <p:nvCxnSpPr>
          <p:cNvPr id="3" name="直接箭头连接符 2"/>
          <p:cNvCxnSpPr/>
          <p:nvPr/>
        </p:nvCxnSpPr>
        <p:spPr>
          <a:xfrm>
            <a:off x="1825374" y="1963801"/>
            <a:ext cx="1034974" cy="1620917"/>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接箭头连接符 128"/>
          <p:cNvCxnSpPr/>
          <p:nvPr/>
        </p:nvCxnSpPr>
        <p:spPr>
          <a:xfrm>
            <a:off x="1825374" y="2560698"/>
            <a:ext cx="881176" cy="1024020"/>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直接箭头连接符 129"/>
          <p:cNvCxnSpPr/>
          <p:nvPr/>
        </p:nvCxnSpPr>
        <p:spPr>
          <a:xfrm>
            <a:off x="1290296" y="2967888"/>
            <a:ext cx="1483088" cy="740362"/>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接箭头连接符 134"/>
          <p:cNvCxnSpPr/>
          <p:nvPr/>
        </p:nvCxnSpPr>
        <p:spPr>
          <a:xfrm>
            <a:off x="1775935" y="3573454"/>
            <a:ext cx="952317" cy="269593"/>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itchFamily="34" charset="-122"/>
                <a:ea typeface="微软雅黑" pitchFamily="34" charset="-122"/>
              </a:rPr>
              <a:t>(1) </a:t>
            </a:r>
            <a:r>
              <a:rPr kumimoji="1" lang="zh-CN" altLang="en-US" sz="1400" b="1" dirty="0">
                <a:latin typeface="微软雅黑" pitchFamily="34" charset="-122"/>
                <a:ea typeface="微软雅黑" pitchFamily="34" charset="-122"/>
              </a:rPr>
              <a:t>浏览器访问互联网的服务器时，先与校园网的高速缓存建立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连接，并向高速缓存发出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请求报文。</a:t>
            </a:r>
          </a:p>
        </p:txBody>
      </p:sp>
      <p:sp>
        <p:nvSpPr>
          <p:cNvPr id="143"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校园网的高速缓存</a:t>
            </a:r>
          </a:p>
          <a:p>
            <a:pPr algn="ctr"/>
            <a:r>
              <a:rPr lang="zh-CN" altLang="en-US" sz="1400" b="1" dirty="0">
                <a:solidFill>
                  <a:srgbClr val="000099"/>
                </a:solidFill>
                <a:latin typeface="微软雅黑" pitchFamily="34" charset="-122"/>
                <a:ea typeface="微软雅黑" pitchFamily="34" charset="-122"/>
              </a:rPr>
              <a:t>（代理服务器）</a:t>
            </a:r>
          </a:p>
        </p:txBody>
      </p:sp>
      <p:cxnSp>
        <p:nvCxnSpPr>
          <p:cNvPr id="147" name="直接箭头连接符 146"/>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6398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000"/>
                                        <p:tgtEl>
                                          <p:spTgt spid="3"/>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129"/>
                                        </p:tgtEl>
                                        <p:attrNameLst>
                                          <p:attrName>style.visibility</p:attrName>
                                        </p:attrNameLst>
                                      </p:cBhvr>
                                      <p:to>
                                        <p:strVal val="visible"/>
                                      </p:to>
                                    </p:set>
                                    <p:animEffect transition="in" filter="wipe(up)">
                                      <p:cBhvr>
                                        <p:cTn id="11" dur="2000"/>
                                        <p:tgtEl>
                                          <p:spTgt spid="129"/>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130"/>
                                        </p:tgtEl>
                                        <p:attrNameLst>
                                          <p:attrName>style.visibility</p:attrName>
                                        </p:attrNameLst>
                                      </p:cBhvr>
                                      <p:to>
                                        <p:strVal val="visible"/>
                                      </p:to>
                                    </p:set>
                                    <p:animEffect transition="in" filter="wipe(up)">
                                      <p:cBhvr>
                                        <p:cTn id="15" dur="2000"/>
                                        <p:tgtEl>
                                          <p:spTgt spid="130"/>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35"/>
                                        </p:tgtEl>
                                        <p:attrNameLst>
                                          <p:attrName>style.visibility</p:attrName>
                                        </p:attrNameLst>
                                      </p:cBhvr>
                                      <p:to>
                                        <p:strVal val="visible"/>
                                      </p:to>
                                    </p:set>
                                    <p:animEffect transition="in" filter="wipe(up)">
                                      <p:cBhvr>
                                        <p:cTn id="19" dur="20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圆角矩形 114"/>
          <p:cNvSpPr/>
          <p:nvPr/>
        </p:nvSpPr>
        <p:spPr>
          <a:xfrm>
            <a:off x="556963" y="950538"/>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9"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0" name="Group 1505"/>
            <p:cNvGrpSpPr>
              <a:grpSpLocks/>
            </p:cNvGrpSpPr>
            <p:nvPr/>
          </p:nvGrpSpPr>
          <p:grpSpPr bwMode="auto">
            <a:xfrm>
              <a:off x="109" y="1226"/>
              <a:ext cx="2516" cy="1675"/>
              <a:chOff x="109" y="1226"/>
              <a:chExt cx="2516" cy="1675"/>
            </a:xfrm>
            <a:grpFill/>
          </p:grpSpPr>
          <p:grpSp>
            <p:nvGrpSpPr>
              <p:cNvPr id="122" name="Group 1506"/>
              <p:cNvGrpSpPr>
                <a:grpSpLocks/>
              </p:cNvGrpSpPr>
              <p:nvPr/>
            </p:nvGrpSpPr>
            <p:grpSpPr bwMode="auto">
              <a:xfrm>
                <a:off x="109" y="1226"/>
                <a:ext cx="2516" cy="1675"/>
                <a:chOff x="109" y="1226"/>
                <a:chExt cx="2516" cy="1675"/>
              </a:xfrm>
              <a:grpFill/>
            </p:grpSpPr>
            <p:sp>
              <p:nvSpPr>
                <p:cNvPr id="124"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5"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8"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9"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0"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3"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1"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1"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2"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3"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4"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5"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6"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37"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38"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39"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4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4"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45"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90"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矩形 190"/>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使用高速缓存的情况</a:t>
            </a:r>
          </a:p>
        </p:txBody>
      </p:sp>
      <p:graphicFrame>
        <p:nvGraphicFramePr>
          <p:cNvPr id="192" name="Object 44"/>
          <p:cNvGraphicFramePr>
            <a:graphicFrameLocks noChangeAspect="1"/>
          </p:cNvGraphicFramePr>
          <p:nvPr>
            <p:extLst>
              <p:ext uri="{D42A27DB-BD31-4B8C-83A1-F6EECF244321}">
                <p14:modId xmlns:p14="http://schemas.microsoft.com/office/powerpoint/2010/main" val="3667047836"/>
              </p:ext>
            </p:extLst>
          </p:nvPr>
        </p:nvGraphicFramePr>
        <p:xfrm>
          <a:off x="6071848" y="2423794"/>
          <a:ext cx="1509164" cy="951134"/>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2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1848" y="2423794"/>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93" name="Line 45"/>
          <p:cNvSpPr>
            <a:spLocks noChangeShapeType="1"/>
          </p:cNvSpPr>
          <p:nvPr/>
        </p:nvSpPr>
        <p:spPr bwMode="auto">
          <a:xfrm>
            <a:off x="3676701" y="2888552"/>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4" name="Line 46"/>
          <p:cNvSpPr>
            <a:spLocks noChangeShapeType="1"/>
          </p:cNvSpPr>
          <p:nvPr/>
        </p:nvSpPr>
        <p:spPr bwMode="auto">
          <a:xfrm>
            <a:off x="7005969" y="3310078"/>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5" name="Line 47"/>
          <p:cNvSpPr>
            <a:spLocks noChangeShapeType="1"/>
          </p:cNvSpPr>
          <p:nvPr/>
        </p:nvSpPr>
        <p:spPr bwMode="auto">
          <a:xfrm>
            <a:off x="7326016" y="3079500"/>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6" name="Line 48"/>
          <p:cNvSpPr>
            <a:spLocks noChangeShapeType="1"/>
          </p:cNvSpPr>
          <p:nvPr/>
        </p:nvSpPr>
        <p:spPr bwMode="auto">
          <a:xfrm flipV="1">
            <a:off x="7350735" y="2516266"/>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97" name="Line 49"/>
          <p:cNvSpPr>
            <a:spLocks noChangeShapeType="1"/>
          </p:cNvSpPr>
          <p:nvPr/>
        </p:nvSpPr>
        <p:spPr bwMode="auto">
          <a:xfrm flipV="1">
            <a:off x="6979949" y="2004671"/>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204" name="Group 120"/>
          <p:cNvGrpSpPr>
            <a:grpSpLocks/>
          </p:cNvGrpSpPr>
          <p:nvPr/>
        </p:nvGrpSpPr>
        <p:grpSpPr bwMode="auto">
          <a:xfrm>
            <a:off x="3321527" y="2753932"/>
            <a:ext cx="477468" cy="309839"/>
            <a:chOff x="2154" y="3033"/>
            <a:chExt cx="309" cy="192"/>
          </a:xfrm>
        </p:grpSpPr>
        <p:sp>
          <p:nvSpPr>
            <p:cNvPr id="205"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6"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7"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08"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09" name="Group 125"/>
            <p:cNvGrpSpPr>
              <a:grpSpLocks/>
            </p:cNvGrpSpPr>
            <p:nvPr/>
          </p:nvGrpSpPr>
          <p:grpSpPr bwMode="auto">
            <a:xfrm>
              <a:off x="2201" y="3046"/>
              <a:ext cx="214" cy="86"/>
              <a:chOff x="2201" y="3046"/>
              <a:chExt cx="214" cy="86"/>
            </a:xfrm>
          </p:grpSpPr>
          <p:grpSp>
            <p:nvGrpSpPr>
              <p:cNvPr id="212" name="Group 126"/>
              <p:cNvGrpSpPr>
                <a:grpSpLocks/>
              </p:cNvGrpSpPr>
              <p:nvPr/>
            </p:nvGrpSpPr>
            <p:grpSpPr bwMode="auto">
              <a:xfrm>
                <a:off x="2201" y="3046"/>
                <a:ext cx="212" cy="84"/>
                <a:chOff x="2201" y="3046"/>
                <a:chExt cx="212" cy="84"/>
              </a:xfrm>
            </p:grpSpPr>
            <p:sp>
              <p:nvSpPr>
                <p:cNvPr id="222"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3"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4"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5"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6"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7"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8"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9"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13" name="Group 135"/>
              <p:cNvGrpSpPr>
                <a:grpSpLocks/>
              </p:cNvGrpSpPr>
              <p:nvPr/>
            </p:nvGrpSpPr>
            <p:grpSpPr bwMode="auto">
              <a:xfrm>
                <a:off x="2203" y="3048"/>
                <a:ext cx="212" cy="84"/>
                <a:chOff x="2203" y="3048"/>
                <a:chExt cx="212" cy="84"/>
              </a:xfrm>
            </p:grpSpPr>
            <p:sp>
              <p:nvSpPr>
                <p:cNvPr id="214"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5"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6"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7"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8"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9"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0"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21"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10"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11"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30"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3" name="Rectangle 280"/>
          <p:cNvSpPr>
            <a:spLocks noChangeArrowheads="1"/>
          </p:cNvSpPr>
          <p:nvPr/>
        </p:nvSpPr>
        <p:spPr bwMode="auto">
          <a:xfrm>
            <a:off x="4055293" y="2560700"/>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4" name="Rectangle 281"/>
          <p:cNvSpPr>
            <a:spLocks noChangeArrowheads="1"/>
          </p:cNvSpPr>
          <p:nvPr/>
        </p:nvSpPr>
        <p:spPr bwMode="auto">
          <a:xfrm>
            <a:off x="4374843" y="2614741"/>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235" name="Group 282"/>
          <p:cNvGrpSpPr>
            <a:grpSpLocks/>
          </p:cNvGrpSpPr>
          <p:nvPr/>
        </p:nvGrpSpPr>
        <p:grpSpPr bwMode="auto">
          <a:xfrm>
            <a:off x="5669839" y="2721625"/>
            <a:ext cx="477468" cy="309839"/>
            <a:chOff x="3202" y="3033"/>
            <a:chExt cx="309" cy="192"/>
          </a:xfrm>
        </p:grpSpPr>
        <p:sp>
          <p:nvSpPr>
            <p:cNvPr id="236"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7"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8"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39"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240" name="Group 287"/>
            <p:cNvGrpSpPr>
              <a:grpSpLocks/>
            </p:cNvGrpSpPr>
            <p:nvPr/>
          </p:nvGrpSpPr>
          <p:grpSpPr bwMode="auto">
            <a:xfrm>
              <a:off x="3249" y="3046"/>
              <a:ext cx="214" cy="86"/>
              <a:chOff x="3249" y="3046"/>
              <a:chExt cx="214" cy="86"/>
            </a:xfrm>
          </p:grpSpPr>
          <p:grpSp>
            <p:nvGrpSpPr>
              <p:cNvPr id="243" name="Group 288"/>
              <p:cNvGrpSpPr>
                <a:grpSpLocks/>
              </p:cNvGrpSpPr>
              <p:nvPr/>
            </p:nvGrpSpPr>
            <p:grpSpPr bwMode="auto">
              <a:xfrm>
                <a:off x="3249" y="3046"/>
                <a:ext cx="212" cy="84"/>
                <a:chOff x="3249" y="3046"/>
                <a:chExt cx="212" cy="84"/>
              </a:xfrm>
            </p:grpSpPr>
            <p:sp>
              <p:nvSpPr>
                <p:cNvPr id="253"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4"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5"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6"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7"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8"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9"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60"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244" name="Group 297"/>
              <p:cNvGrpSpPr>
                <a:grpSpLocks/>
              </p:cNvGrpSpPr>
              <p:nvPr/>
            </p:nvGrpSpPr>
            <p:grpSpPr bwMode="auto">
              <a:xfrm>
                <a:off x="3251" y="3048"/>
                <a:ext cx="212" cy="84"/>
                <a:chOff x="3251" y="3048"/>
                <a:chExt cx="212" cy="84"/>
              </a:xfrm>
            </p:grpSpPr>
            <p:sp>
              <p:nvSpPr>
                <p:cNvPr id="245"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6"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7"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8"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9"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0"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1"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52"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241"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242"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261" name="Rectangle 308"/>
          <p:cNvSpPr>
            <a:spLocks noChangeArrowheads="1"/>
          </p:cNvSpPr>
          <p:nvPr/>
        </p:nvSpPr>
        <p:spPr bwMode="auto">
          <a:xfrm>
            <a:off x="6156415" y="2370954"/>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2" name="Rectangle 309"/>
          <p:cNvSpPr>
            <a:spLocks noChangeArrowheads="1"/>
          </p:cNvSpPr>
          <p:nvPr/>
        </p:nvSpPr>
        <p:spPr bwMode="auto">
          <a:xfrm>
            <a:off x="6538749" y="2811694"/>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263" name="Rectangle 310"/>
          <p:cNvSpPr>
            <a:spLocks noChangeArrowheads="1"/>
          </p:cNvSpPr>
          <p:nvPr/>
        </p:nvSpPr>
        <p:spPr bwMode="auto">
          <a:xfrm>
            <a:off x="3635069" y="2444210"/>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4"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267" name="Rectangle 314"/>
          <p:cNvSpPr>
            <a:spLocks noChangeArrowheads="1"/>
          </p:cNvSpPr>
          <p:nvPr/>
        </p:nvSpPr>
        <p:spPr bwMode="auto">
          <a:xfrm>
            <a:off x="3631167" y="24646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268" name="Rectangle 315"/>
          <p:cNvSpPr>
            <a:spLocks noChangeArrowheads="1"/>
          </p:cNvSpPr>
          <p:nvPr/>
        </p:nvSpPr>
        <p:spPr bwMode="auto">
          <a:xfrm>
            <a:off x="5779123" y="24658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269" name="图片 26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1513315"/>
            <a:ext cx="441076" cy="617506"/>
          </a:xfrm>
          <a:prstGeom prst="rect">
            <a:avLst/>
          </a:prstGeom>
        </p:spPr>
      </p:pic>
      <p:pic>
        <p:nvPicPr>
          <p:cNvPr id="274" name="图片 27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175802"/>
            <a:ext cx="441076" cy="617506"/>
          </a:xfrm>
          <a:prstGeom prst="rect">
            <a:avLst/>
          </a:prstGeom>
        </p:spPr>
      </p:pic>
      <p:pic>
        <p:nvPicPr>
          <p:cNvPr id="275" name="图片 27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699008" y="2895882"/>
            <a:ext cx="441076" cy="617506"/>
          </a:xfrm>
          <a:prstGeom prst="rect">
            <a:avLst/>
          </a:prstGeom>
        </p:spPr>
      </p:pic>
      <p:pic>
        <p:nvPicPr>
          <p:cNvPr id="276" name="图片 27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441832" y="3471946"/>
            <a:ext cx="441076" cy="617506"/>
          </a:xfrm>
          <a:prstGeom prst="rect">
            <a:avLst/>
          </a:prstGeom>
        </p:spPr>
      </p:pic>
      <p:pic>
        <p:nvPicPr>
          <p:cNvPr id="277" name="图片 27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cxnSp>
        <p:nvCxnSpPr>
          <p:cNvPr id="278" name="直接箭头连接符 277"/>
          <p:cNvCxnSpPr/>
          <p:nvPr/>
        </p:nvCxnSpPr>
        <p:spPr>
          <a:xfrm>
            <a:off x="1825374" y="1963803"/>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接箭头连接符 278"/>
          <p:cNvCxnSpPr/>
          <p:nvPr/>
        </p:nvCxnSpPr>
        <p:spPr>
          <a:xfrm>
            <a:off x="1825374" y="2560700"/>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接箭头连接符 279"/>
          <p:cNvCxnSpPr/>
          <p:nvPr/>
        </p:nvCxnSpPr>
        <p:spPr>
          <a:xfrm>
            <a:off x="1290296" y="2967890"/>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接箭头连接符 280"/>
          <p:cNvCxnSpPr/>
          <p:nvPr/>
        </p:nvCxnSpPr>
        <p:spPr>
          <a:xfrm>
            <a:off x="1775935" y="3573456"/>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83" name="Text Box 328"/>
          <p:cNvSpPr txBox="1">
            <a:spLocks noChangeArrowheads="1"/>
          </p:cNvSpPr>
          <p:nvPr/>
        </p:nvSpPr>
        <p:spPr bwMode="auto">
          <a:xfrm>
            <a:off x="3761576" y="3548617"/>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校园网的高速缓存</a:t>
            </a:r>
          </a:p>
          <a:p>
            <a:pPr algn="ctr"/>
            <a:r>
              <a:rPr lang="zh-CN" altLang="en-US" sz="1400" b="1" dirty="0">
                <a:solidFill>
                  <a:srgbClr val="000099"/>
                </a:solidFill>
                <a:latin typeface="微软雅黑" pitchFamily="34" charset="-122"/>
                <a:ea typeface="微软雅黑" pitchFamily="34" charset="-122"/>
              </a:rPr>
              <a:t>（代理服务器）</a:t>
            </a:r>
          </a:p>
        </p:txBody>
      </p:sp>
      <p:cxnSp>
        <p:nvCxnSpPr>
          <p:cNvPr id="284" name="直接箭头连接符 283"/>
          <p:cNvCxnSpPr/>
          <p:nvPr/>
        </p:nvCxnSpPr>
        <p:spPr>
          <a:xfrm flipH="1">
            <a:off x="2977610" y="3708252"/>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6" name="矩形 145"/>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itchFamily="34" charset="-122"/>
                <a:ea typeface="微软雅黑" pitchFamily="34" charset="-122"/>
              </a:rPr>
              <a:t>(2) </a:t>
            </a:r>
            <a:r>
              <a:rPr kumimoji="1" lang="zh-CN" altLang="en-US" sz="1400" b="1" dirty="0">
                <a:latin typeface="微软雅黑" pitchFamily="34" charset="-122"/>
                <a:ea typeface="微软雅黑" pitchFamily="34" charset="-122"/>
              </a:rPr>
              <a:t>若高速缓存已经存放了所请求的对象，则将此对象放入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响应报文中返回给浏览器。</a:t>
            </a:r>
          </a:p>
        </p:txBody>
      </p:sp>
    </p:spTree>
    <p:extLst>
      <p:ext uri="{BB962C8B-B14F-4D97-AF65-F5344CB8AC3E}">
        <p14:creationId xmlns:p14="http://schemas.microsoft.com/office/powerpoint/2010/main" val="12860475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78"/>
                                        </p:tgtEl>
                                        <p:attrNameLst>
                                          <p:attrName>style.visibility</p:attrName>
                                        </p:attrNameLst>
                                      </p:cBhvr>
                                      <p:to>
                                        <p:strVal val="visible"/>
                                      </p:to>
                                    </p:set>
                                    <p:animEffect transition="in" filter="wipe(down)">
                                      <p:cBhvr>
                                        <p:cTn id="7" dur="2000"/>
                                        <p:tgtEl>
                                          <p:spTgt spid="278"/>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279"/>
                                        </p:tgtEl>
                                        <p:attrNameLst>
                                          <p:attrName>style.visibility</p:attrName>
                                        </p:attrNameLst>
                                      </p:cBhvr>
                                      <p:to>
                                        <p:strVal val="visible"/>
                                      </p:to>
                                    </p:set>
                                    <p:animEffect transition="in" filter="wipe(down)">
                                      <p:cBhvr>
                                        <p:cTn id="11" dur="2000"/>
                                        <p:tgtEl>
                                          <p:spTgt spid="279"/>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280"/>
                                        </p:tgtEl>
                                        <p:attrNameLst>
                                          <p:attrName>style.visibility</p:attrName>
                                        </p:attrNameLst>
                                      </p:cBhvr>
                                      <p:to>
                                        <p:strVal val="visible"/>
                                      </p:to>
                                    </p:set>
                                    <p:animEffect transition="in" filter="wipe(down)">
                                      <p:cBhvr>
                                        <p:cTn id="15" dur="2000"/>
                                        <p:tgtEl>
                                          <p:spTgt spid="280"/>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281"/>
                                        </p:tgtEl>
                                        <p:attrNameLst>
                                          <p:attrName>style.visibility</p:attrName>
                                        </p:attrNameLst>
                                      </p:cBhvr>
                                      <p:to>
                                        <p:strVal val="visible"/>
                                      </p:to>
                                    </p:set>
                                    <p:animEffect transition="in" filter="wipe(down)">
                                      <p:cBhvr>
                                        <p:cTn id="19" dur="20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20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校园网的高速缓存</a:t>
            </a:r>
          </a:p>
          <a:p>
            <a:pPr algn="ctr"/>
            <a:r>
              <a:rPr lang="zh-CN" altLang="en-US" sz="1400" b="1" dirty="0">
                <a:solidFill>
                  <a:srgbClr val="000099"/>
                </a:solidFill>
                <a:latin typeface="微软雅黑" pitchFamily="34" charset="-122"/>
                <a:ea typeface="微软雅黑" pitchFamily="34" charset="-122"/>
              </a:rPr>
              <a:t>（代理服务器）</a:t>
            </a: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Freeform 325"/>
          <p:cNvSpPr>
            <a:spLocks/>
          </p:cNvSpPr>
          <p:nvPr/>
        </p:nvSpPr>
        <p:spPr bwMode="auto">
          <a:xfrm>
            <a:off x="2860347" y="1930663"/>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使用高速缓存的情况</a:t>
            </a:r>
          </a:p>
        </p:txBody>
      </p:sp>
      <p:sp>
        <p:nvSpPr>
          <p:cNvPr id="171" name="矩形 170"/>
          <p:cNvSpPr/>
          <p:nvPr/>
        </p:nvSpPr>
        <p:spPr>
          <a:xfrm>
            <a:off x="3322933" y="1058794"/>
            <a:ext cx="3469578"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itchFamily="34" charset="-122"/>
                <a:ea typeface="微软雅黑" pitchFamily="34" charset="-122"/>
              </a:rPr>
              <a:t>(3) </a:t>
            </a:r>
            <a:r>
              <a:rPr kumimoji="1" lang="zh-CN" altLang="en-US" sz="1400" b="1" dirty="0">
                <a:latin typeface="微软雅黑" pitchFamily="34" charset="-122"/>
                <a:ea typeface="微软雅黑" pitchFamily="34" charset="-122"/>
              </a:rPr>
              <a:t>若未存放，高速缓存就代表浏览器与互联网上的源点服务器建立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连接，并发送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请求报文。</a:t>
            </a:r>
          </a:p>
        </p:txBody>
      </p:sp>
    </p:spTree>
    <p:extLst>
      <p:ext uri="{BB962C8B-B14F-4D97-AF65-F5344CB8AC3E}">
        <p14:creationId xmlns:p14="http://schemas.microsoft.com/office/powerpoint/2010/main" val="39463205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4"/>
                                        </p:tgtEl>
                                        <p:attrNameLst>
                                          <p:attrName>style.visibility</p:attrName>
                                        </p:attrNameLst>
                                      </p:cBhvr>
                                      <p:to>
                                        <p:strVal val="visible"/>
                                      </p:to>
                                    </p:set>
                                    <p:animEffect transition="in" filter="wipe(left)">
                                      <p:cBhvr>
                                        <p:cTn id="7" dur="2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校园网的高速缓存</a:t>
            </a:r>
          </a:p>
          <a:p>
            <a:pPr algn="ctr"/>
            <a:r>
              <a:rPr lang="zh-CN" altLang="en-US" sz="1400" b="1" dirty="0">
                <a:solidFill>
                  <a:srgbClr val="000099"/>
                </a:solidFill>
                <a:latin typeface="微软雅黑" pitchFamily="34" charset="-122"/>
                <a:ea typeface="微软雅黑" pitchFamily="34" charset="-122"/>
              </a:rPr>
              <a:t>（代理服务器）</a:t>
            </a: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使用高速缓存的情况</a:t>
            </a:r>
          </a:p>
        </p:txBody>
      </p:sp>
      <p:sp>
        <p:nvSpPr>
          <p:cNvPr id="171" name="矩形 170"/>
          <p:cNvSpPr/>
          <p:nvPr/>
        </p:nvSpPr>
        <p:spPr>
          <a:xfrm>
            <a:off x="3322933" y="1058794"/>
            <a:ext cx="3215816"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itchFamily="34" charset="-122"/>
                <a:ea typeface="微软雅黑" pitchFamily="34" charset="-122"/>
              </a:rPr>
              <a:t>(4) </a:t>
            </a:r>
            <a:r>
              <a:rPr kumimoji="1" lang="zh-CN" altLang="en-US" sz="1400" b="1" dirty="0">
                <a:latin typeface="微软雅黑" pitchFamily="34" charset="-122"/>
                <a:ea typeface="微软雅黑" pitchFamily="34" charset="-122"/>
              </a:rPr>
              <a:t>源点服务器将所请求的对象放在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响应报文中返回给校园网的高速缓存。</a:t>
            </a:r>
          </a:p>
        </p:txBody>
      </p:sp>
      <p:sp>
        <p:nvSpPr>
          <p:cNvPr id="112" name="Freeform 325"/>
          <p:cNvSpPr>
            <a:spLocks/>
          </p:cNvSpPr>
          <p:nvPr/>
        </p:nvSpPr>
        <p:spPr bwMode="auto">
          <a:xfrm>
            <a:off x="2860347" y="2037199"/>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12569842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wipe(right)">
                                      <p:cBhvr>
                                        <p:cTn id="7"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a:grpSpLocks/>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a:grpSpLocks/>
            </p:cNvGrpSpPr>
            <p:nvPr/>
          </p:nvGrpSpPr>
          <p:grpSpPr bwMode="auto">
            <a:xfrm>
              <a:off x="109" y="1226"/>
              <a:ext cx="2516" cy="1675"/>
              <a:chOff x="109" y="1226"/>
              <a:chExt cx="2516" cy="1675"/>
            </a:xfrm>
            <a:grpFill/>
          </p:grpSpPr>
          <p:grpSp>
            <p:nvGrpSpPr>
              <p:cNvPr id="140" name="Group 1506"/>
              <p:cNvGrpSpPr>
                <a:grpSpLocks/>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a:spLocks/>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itchFamily="34" charset="-122"/>
                <a:ea typeface="微软雅黑" pitchFamily="34" charset="-122"/>
              </a:rPr>
              <a:t>校园网</a:t>
            </a: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itchFamily="34" charset="-122"/>
                <a:ea typeface="微软雅黑" pitchFamily="34" charset="-122"/>
              </a:rPr>
              <a:t>浏览器</a:t>
            </a:r>
          </a:p>
        </p:txBody>
      </p:sp>
      <p:pic>
        <p:nvPicPr>
          <p:cNvPr id="16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itchFamily="34" charset="-122"/>
                <a:ea typeface="微软雅黑" pitchFamily="34" charset="-122"/>
              </a:rPr>
              <a:t>源点服务器</a:t>
            </a: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pic>
        <p:nvPicPr>
          <p:cNvPr id="170" name="图片 1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extLst>
              <p:ext uri="{D42A27DB-BD31-4B8C-83A1-F6EECF244321}">
                <p14:modId xmlns:p14="http://schemas.microsoft.com/office/powerpoint/2010/main" val="1367370087"/>
              </p:ext>
            </p:extLst>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71848" y="2423792"/>
                        <a:ext cx="1509164" cy="951134"/>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nvGrpSpPr>
          <p:cNvPr id="53" name="Group 120"/>
          <p:cNvGrpSpPr>
            <a:grpSpLocks/>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58" name="Group 125"/>
            <p:cNvGrpSpPr>
              <a:grpSpLocks/>
            </p:cNvGrpSpPr>
            <p:nvPr/>
          </p:nvGrpSpPr>
          <p:grpSpPr bwMode="auto">
            <a:xfrm>
              <a:off x="2201" y="3046"/>
              <a:ext cx="214" cy="86"/>
              <a:chOff x="2201" y="3046"/>
              <a:chExt cx="214" cy="86"/>
            </a:xfrm>
          </p:grpSpPr>
          <p:grpSp>
            <p:nvGrpSpPr>
              <p:cNvPr id="61" name="Group 126"/>
              <p:cNvGrpSpPr>
                <a:grpSpLocks/>
              </p:cNvGrpSpPr>
              <p:nvPr/>
            </p:nvGrpSpPr>
            <p:grpSpPr bwMode="auto">
              <a:xfrm>
                <a:off x="2201" y="3046"/>
                <a:ext cx="212" cy="84"/>
                <a:chOff x="2201" y="3046"/>
                <a:chExt cx="212" cy="84"/>
              </a:xfrm>
            </p:grpSpPr>
            <p:sp>
              <p:nvSpPr>
                <p:cNvPr id="71"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2"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3"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4"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5"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6"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7"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8"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62" name="Group 135"/>
              <p:cNvGrpSpPr>
                <a:grpSpLocks/>
              </p:cNvGrpSpPr>
              <p:nvPr/>
            </p:nvGrpSpPr>
            <p:grpSpPr bwMode="auto">
              <a:xfrm>
                <a:off x="2203" y="3048"/>
                <a:ext cx="212" cy="84"/>
                <a:chOff x="2203" y="3048"/>
                <a:chExt cx="212" cy="84"/>
              </a:xfrm>
            </p:grpSpPr>
            <p:sp>
              <p:nvSpPr>
                <p:cNvPr id="63"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4"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5"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6"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7"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8"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9"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70"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itchFamily="34" charset="-122"/>
                <a:ea typeface="微软雅黑" pitchFamily="34" charset="-122"/>
              </a:rPr>
              <a:t>2 Mbit/s</a:t>
            </a:r>
          </a:p>
        </p:txBody>
      </p:sp>
      <p:grpSp>
        <p:nvGrpSpPr>
          <p:cNvPr id="84" name="Group 282"/>
          <p:cNvGrpSpPr>
            <a:grpSpLocks/>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sz="1400" b="1">
                <a:solidFill>
                  <a:srgbClr val="000099"/>
                </a:solidFill>
                <a:latin typeface="微软雅黑" pitchFamily="34" charset="-122"/>
                <a:ea typeface="微软雅黑" pitchFamily="34" charset="-122"/>
              </a:endParaRPr>
            </a:p>
          </p:txBody>
        </p:sp>
        <p:grpSp>
          <p:nvGrpSpPr>
            <p:cNvPr id="89" name="Group 287"/>
            <p:cNvGrpSpPr>
              <a:grpSpLocks/>
            </p:cNvGrpSpPr>
            <p:nvPr/>
          </p:nvGrpSpPr>
          <p:grpSpPr bwMode="auto">
            <a:xfrm>
              <a:off x="3249" y="3046"/>
              <a:ext cx="214" cy="86"/>
              <a:chOff x="3249" y="3046"/>
              <a:chExt cx="214" cy="86"/>
            </a:xfrm>
          </p:grpSpPr>
          <p:grpSp>
            <p:nvGrpSpPr>
              <p:cNvPr id="92" name="Group 288"/>
              <p:cNvGrpSpPr>
                <a:grpSpLocks/>
              </p:cNvGrpSpPr>
              <p:nvPr/>
            </p:nvGrpSpPr>
            <p:grpSpPr bwMode="auto">
              <a:xfrm>
                <a:off x="3249" y="3046"/>
                <a:ext cx="212" cy="84"/>
                <a:chOff x="3249" y="3046"/>
                <a:chExt cx="212" cy="84"/>
              </a:xfrm>
            </p:grpSpPr>
            <p:sp>
              <p:nvSpPr>
                <p:cNvPr id="102"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3"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4"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5"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6"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7"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8"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9"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nvGrpSpPr>
              <p:cNvPr id="93" name="Group 297"/>
              <p:cNvGrpSpPr>
                <a:grpSpLocks/>
              </p:cNvGrpSpPr>
              <p:nvPr/>
            </p:nvGrpSpPr>
            <p:grpSpPr bwMode="auto">
              <a:xfrm>
                <a:off x="3251" y="3048"/>
                <a:ext cx="212" cy="84"/>
                <a:chOff x="3251" y="3048"/>
                <a:chExt cx="212" cy="84"/>
              </a:xfrm>
            </p:grpSpPr>
            <p:sp>
              <p:nvSpPr>
                <p:cNvPr id="94"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5"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6"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7"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8"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9"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0"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101"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solidFill>
                      <a:srgbClr val="000099"/>
                    </a:solidFill>
                    <a:latin typeface="微软雅黑" pitchFamily="34" charset="-122"/>
                    <a:ea typeface="微软雅黑"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itchFamily="34" charset="-122"/>
                <a:ea typeface="微软雅黑"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itchFamily="34" charset="-122"/>
                <a:ea typeface="微软雅黑" pitchFamily="34" charset="-122"/>
              </a:rPr>
              <a:t>互联网</a:t>
            </a: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itchFamily="34" charset="-122"/>
              <a:ea typeface="微软雅黑"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1</a:t>
            </a: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itchFamily="34" charset="-122"/>
                <a:ea typeface="微软雅黑" pitchFamily="34" charset="-122"/>
              </a:rPr>
              <a:t>R</a:t>
            </a:r>
            <a:r>
              <a:rPr kumimoji="1" lang="en-US" altLang="zh-CN" sz="1400" b="1" baseline="-25000">
                <a:solidFill>
                  <a:srgbClr val="000099"/>
                </a:solidFill>
                <a:latin typeface="微软雅黑" pitchFamily="34" charset="-122"/>
                <a:ea typeface="微软雅黑" pitchFamily="34" charset="-122"/>
              </a:rPr>
              <a:t>2</a:t>
            </a:r>
          </a:p>
        </p:txBody>
      </p:sp>
      <p:pic>
        <p:nvPicPr>
          <p:cNvPr id="128" name="图片 12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lang="zh-CN" altLang="en-US" sz="1400" b="1" dirty="0">
                <a:solidFill>
                  <a:srgbClr val="000099"/>
                </a:solidFill>
                <a:latin typeface="微软雅黑" pitchFamily="34" charset="-122"/>
                <a:ea typeface="微软雅黑" pitchFamily="34" charset="-122"/>
              </a:rPr>
              <a:t>校园网的高速缓存</a:t>
            </a:r>
          </a:p>
          <a:p>
            <a:pPr algn="ctr"/>
            <a:r>
              <a:rPr lang="zh-CN" altLang="en-US" sz="1400" b="1" dirty="0">
                <a:solidFill>
                  <a:srgbClr val="000099"/>
                </a:solidFill>
                <a:latin typeface="微软雅黑" pitchFamily="34" charset="-122"/>
                <a:ea typeface="微软雅黑" pitchFamily="34" charset="-122"/>
              </a:rPr>
              <a:t>（代理服务器）</a:t>
            </a: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使用高速缓存的情况</a:t>
            </a:r>
          </a:p>
        </p:txBody>
      </p:sp>
      <p:sp>
        <p:nvSpPr>
          <p:cNvPr id="171" name="矩形 170"/>
          <p:cNvSpPr/>
          <p:nvPr/>
        </p:nvSpPr>
        <p:spPr>
          <a:xfrm>
            <a:off x="3322932" y="1058794"/>
            <a:ext cx="3563345" cy="954107"/>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itchFamily="34" charset="-122"/>
                <a:ea typeface="微软雅黑" pitchFamily="34" charset="-122"/>
              </a:rPr>
              <a:t>(5) </a:t>
            </a:r>
            <a:r>
              <a:rPr kumimoji="1" lang="zh-CN" altLang="en-US" sz="1400" b="1" dirty="0">
                <a:latin typeface="微软雅黑" pitchFamily="34" charset="-122"/>
                <a:ea typeface="微软雅黑" pitchFamily="34" charset="-122"/>
              </a:rPr>
              <a:t>高速缓存收到对象后，先复制到本地存储器中（留待以后用），然后将该对象放在 </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响应报文中，通过已建立的 </a:t>
            </a:r>
            <a:r>
              <a:rPr kumimoji="1" lang="en-US" altLang="zh-CN" sz="1400" b="1" dirty="0">
                <a:latin typeface="微软雅黑" pitchFamily="34" charset="-122"/>
                <a:ea typeface="微软雅黑" pitchFamily="34" charset="-122"/>
              </a:rPr>
              <a:t>TCP </a:t>
            </a:r>
            <a:r>
              <a:rPr kumimoji="1" lang="zh-CN" altLang="en-US" sz="1400" b="1" dirty="0">
                <a:latin typeface="微软雅黑" pitchFamily="34" charset="-122"/>
                <a:ea typeface="微软雅黑" pitchFamily="34" charset="-122"/>
              </a:rPr>
              <a:t>连接，返回给请求该对象的浏览器。</a:t>
            </a:r>
          </a:p>
        </p:txBody>
      </p:sp>
      <p:cxnSp>
        <p:nvCxnSpPr>
          <p:cNvPr id="113" name="直接箭头连接符 112"/>
          <p:cNvCxnSpPr/>
          <p:nvPr/>
        </p:nvCxnSpPr>
        <p:spPr>
          <a:xfrm>
            <a:off x="1825374" y="1963801"/>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箭头连接符 113"/>
          <p:cNvCxnSpPr/>
          <p:nvPr/>
        </p:nvCxnSpPr>
        <p:spPr>
          <a:xfrm>
            <a:off x="1825374" y="2560698"/>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a:xfrm>
            <a:off x="1290296" y="2967888"/>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a:xfrm>
            <a:off x="1775935" y="3573454"/>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43020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down)">
                                      <p:cBhvr>
                                        <p:cTn id="7" dur="2000"/>
                                        <p:tgtEl>
                                          <p:spTgt spid="113"/>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down)">
                                      <p:cBhvr>
                                        <p:cTn id="11" dur="2000"/>
                                        <p:tgtEl>
                                          <p:spTgt spid="114"/>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wipe(down)">
                                      <p:cBhvr>
                                        <p:cTn id="15" dur="2000"/>
                                        <p:tgtEl>
                                          <p:spTgt spid="115"/>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down)">
                                      <p:cBhvr>
                                        <p:cTn id="19" dur="2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03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64037" y="567122"/>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HTTP </a:t>
            </a:r>
            <a:r>
              <a:rPr lang="zh-CN" altLang="en-US" sz="2000" b="1" dirty="0">
                <a:solidFill>
                  <a:schemeClr val="bg1"/>
                </a:solidFill>
                <a:latin typeface="微软雅黑" pitchFamily="34" charset="-122"/>
                <a:ea typeface="微软雅黑" pitchFamily="34" charset="-122"/>
              </a:rPr>
              <a:t>的报文结构</a:t>
            </a:r>
          </a:p>
        </p:txBody>
      </p:sp>
      <p:sp>
        <p:nvSpPr>
          <p:cNvPr id="10" name="Rectangle 68"/>
          <p:cNvSpPr>
            <a:spLocks noChangeArrowheads="1"/>
          </p:cNvSpPr>
          <p:nvPr/>
        </p:nvSpPr>
        <p:spPr bwMode="auto">
          <a:xfrm>
            <a:off x="556964" y="961423"/>
            <a:ext cx="8048775"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a:solidFill>
                  <a:srgbClr val="0000FF"/>
                </a:solidFill>
                <a:latin typeface="微软雅黑" pitchFamily="34" charset="-122"/>
                <a:ea typeface="微软雅黑" pitchFamily="34" charset="-122"/>
              </a:rPr>
              <a:t>两类报文：</a:t>
            </a:r>
          </a:p>
          <a:p>
            <a:pPr marL="285750" indent="-28575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请求报文：</a:t>
            </a:r>
            <a:r>
              <a:rPr lang="zh-CN" altLang="en-US" b="1" dirty="0">
                <a:latin typeface="微软雅黑" pitchFamily="34" charset="-122"/>
                <a:ea typeface="微软雅黑" pitchFamily="34" charset="-122"/>
              </a:rPr>
              <a:t>从客户向服务器的请求。</a:t>
            </a:r>
          </a:p>
          <a:p>
            <a:pPr marL="285750" indent="-28575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响应报文：</a:t>
            </a:r>
            <a:r>
              <a:rPr lang="zh-CN" altLang="en-US" b="1" dirty="0">
                <a:latin typeface="微软雅黑" pitchFamily="34" charset="-122"/>
                <a:ea typeface="微软雅黑" pitchFamily="34" charset="-122"/>
              </a:rPr>
              <a:t>从服务器到客户的回答。</a:t>
            </a:r>
          </a:p>
          <a:p>
            <a:pPr marL="285750" indent="-28575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由于 </a:t>
            </a: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是面向正文的 </a:t>
            </a:r>
            <a:r>
              <a:rPr lang="en-US" altLang="zh-CN" b="1" dirty="0">
                <a:latin typeface="微软雅黑" pitchFamily="34" charset="-122"/>
                <a:ea typeface="微软雅黑" pitchFamily="34" charset="-122"/>
              </a:rPr>
              <a:t>(text-oriented)</a:t>
            </a:r>
            <a:r>
              <a:rPr lang="zh-CN" altLang="en-US" b="1" dirty="0">
                <a:latin typeface="微软雅黑" pitchFamily="34" charset="-122"/>
                <a:ea typeface="微软雅黑" pitchFamily="34" charset="-122"/>
              </a:rPr>
              <a:t>，因此报文中每一个字段的值都是一些 </a:t>
            </a:r>
            <a:r>
              <a:rPr lang="en-US" altLang="zh-CN" b="1" dirty="0">
                <a:solidFill>
                  <a:srgbClr val="C00000"/>
                </a:solidFill>
                <a:latin typeface="微软雅黑" pitchFamily="34" charset="-122"/>
                <a:ea typeface="微软雅黑" pitchFamily="34" charset="-122"/>
              </a:rPr>
              <a:t>ASCII </a:t>
            </a:r>
            <a:r>
              <a:rPr lang="zh-CN" altLang="en-US" b="1" dirty="0">
                <a:solidFill>
                  <a:srgbClr val="C00000"/>
                </a:solidFill>
                <a:latin typeface="微软雅黑" pitchFamily="34" charset="-122"/>
                <a:ea typeface="微软雅黑" pitchFamily="34" charset="-122"/>
              </a:rPr>
              <a:t>码串，</a:t>
            </a:r>
            <a:r>
              <a:rPr lang="zh-CN" altLang="en-US" b="1" dirty="0">
                <a:latin typeface="微软雅黑" pitchFamily="34" charset="-122"/>
                <a:ea typeface="微软雅黑" pitchFamily="34" charset="-122"/>
              </a:rPr>
              <a:t>每个字段的</a:t>
            </a:r>
            <a:r>
              <a:rPr lang="zh-CN" altLang="en-US" b="1" dirty="0">
                <a:solidFill>
                  <a:srgbClr val="C00000"/>
                </a:solidFill>
                <a:latin typeface="微软雅黑" pitchFamily="34" charset="-122"/>
                <a:ea typeface="微软雅黑" pitchFamily="34" charset="-122"/>
              </a:rPr>
              <a:t>长度都是不确定的。</a:t>
            </a:r>
            <a:endParaRPr lang="en-US" altLang="zh-CN" b="1" dirty="0">
              <a:solidFill>
                <a:srgbClr val="C00000"/>
              </a:solidFill>
              <a:latin typeface="微软雅黑" pitchFamily="34" charset="-122"/>
              <a:ea typeface="微软雅黑" pitchFamily="34" charset="-122"/>
            </a:endParaRPr>
          </a:p>
          <a:p>
            <a:pPr eaLnBrk="0" hangingPunct="0">
              <a:lnSpc>
                <a:spcPts val="2800"/>
              </a:lnSpc>
              <a:buClr>
                <a:srgbClr val="0070C0"/>
              </a:buClr>
            </a:pPr>
            <a:r>
              <a:rPr lang="zh-CN" altLang="en-US" b="1" dirty="0">
                <a:solidFill>
                  <a:srgbClr val="0000FF"/>
                </a:solidFill>
                <a:latin typeface="微软雅黑" pitchFamily="34" charset="-122"/>
                <a:ea typeface="微软雅黑" pitchFamily="34" charset="-122"/>
              </a:rPr>
              <a:t>三个组成部分：</a:t>
            </a:r>
            <a:endParaRPr lang="en-US" altLang="zh-CN" b="1" dirty="0">
              <a:solidFill>
                <a:srgbClr val="0000FF"/>
              </a:solidFill>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开始行：</a:t>
            </a:r>
            <a:r>
              <a:rPr lang="zh-CN" altLang="en-US" b="1" dirty="0">
                <a:latin typeface="微软雅黑" pitchFamily="34" charset="-122"/>
                <a:ea typeface="微软雅黑" pitchFamily="34" charset="-122"/>
              </a:rPr>
              <a:t>用于区分是请求报文还是响应报文。</a:t>
            </a:r>
            <a:endParaRPr lang="en-US" altLang="zh-CN"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首部行：</a:t>
            </a:r>
            <a:r>
              <a:rPr lang="zh-CN" altLang="en-US" b="1" dirty="0">
                <a:latin typeface="微软雅黑" pitchFamily="34" charset="-122"/>
                <a:ea typeface="微软雅黑" pitchFamily="34" charset="-122"/>
              </a:rPr>
              <a:t>说明浏览器、服务器或报文主体的一些信息。可以有多行，也可以不使用。</a:t>
            </a:r>
            <a:endParaRPr lang="en-US" altLang="zh-CN"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实体主体：</a:t>
            </a:r>
            <a:r>
              <a:rPr lang="zh-CN" altLang="en-US" b="1" dirty="0">
                <a:latin typeface="微软雅黑" pitchFamily="34" charset="-122"/>
                <a:ea typeface="微软雅黑" pitchFamily="34" charset="-122"/>
              </a:rPr>
              <a:t>请求报文中一般不用，响应报文中也可能没有该字段。</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25801003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41"/>
          <p:cNvSpPr txBox="1">
            <a:spLocks noChangeArrowheads="1"/>
          </p:cNvSpPr>
          <p:nvPr/>
        </p:nvSpPr>
        <p:spPr bwMode="auto">
          <a:xfrm>
            <a:off x="3802295" y="1414998"/>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3" name="Text Box 58"/>
          <p:cNvSpPr txBox="1">
            <a:spLocks noChangeArrowheads="1"/>
          </p:cNvSpPr>
          <p:nvPr/>
        </p:nvSpPr>
        <p:spPr bwMode="auto">
          <a:xfrm>
            <a:off x="3809577" y="2796426"/>
            <a:ext cx="126188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chemeClr val="bg1"/>
                </a:solidFill>
                <a:latin typeface="微软雅黑" pitchFamily="34" charset="-122"/>
                <a:ea typeface="微软雅黑" pitchFamily="34" charset="-122"/>
              </a:rPr>
              <a:t>实体主体</a:t>
            </a:r>
          </a:p>
          <a:p>
            <a:pPr algn="ctr" eaLnBrk="1" hangingPunct="1"/>
            <a:r>
              <a:rPr kumimoji="1" lang="zh-CN" altLang="en-US" sz="1400" b="1" dirty="0">
                <a:solidFill>
                  <a:schemeClr val="bg1"/>
                </a:solidFill>
                <a:latin typeface="微软雅黑" pitchFamily="34" charset="-122"/>
                <a:ea typeface="微软雅黑" pitchFamily="34" charset="-122"/>
              </a:rPr>
              <a:t>（通常不用）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grpSp>
        <p:nvGrpSpPr>
          <p:cNvPr id="201" name="Group 134"/>
          <p:cNvGrpSpPr>
            <a:grpSpLocks/>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请求行</a:t>
              </a: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6" name="矩形 205"/>
          <p:cNvSpPr/>
          <p:nvPr/>
        </p:nvSpPr>
        <p:spPr>
          <a:xfrm>
            <a:off x="1346773" y="3552318"/>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pitchFamily="34" charset="-122"/>
                <a:ea typeface="微软雅黑" pitchFamily="34" charset="-122"/>
              </a:rPr>
              <a:t>在请求报文中，开始行是请求行。</a:t>
            </a:r>
          </a:p>
        </p:txBody>
      </p:sp>
    </p:spTree>
    <p:extLst>
      <p:ext uri="{BB962C8B-B14F-4D97-AF65-F5344CB8AC3E}">
        <p14:creationId xmlns:p14="http://schemas.microsoft.com/office/powerpoint/2010/main" val="10830772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pitchFamily="34" charset="-122"/>
                <a:ea typeface="微软雅黑" pitchFamily="34" charset="-122"/>
              </a:rPr>
              <a:t>实体主体</a:t>
            </a: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7" name="Rectangle 132"/>
          <p:cNvSpPr>
            <a:spLocks noChangeArrowheads="1"/>
          </p:cNvSpPr>
          <p:nvPr/>
        </p:nvSpPr>
        <p:spPr bwMode="auto">
          <a:xfrm>
            <a:off x="2622487" y="1393059"/>
            <a:ext cx="1029240"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pitchFamily="34" charset="-122"/>
                <a:ea typeface="微软雅黑" pitchFamily="34" charset="-122"/>
              </a:rPr>
              <a:t>方法：对所请求的对象进行的操作，实际上就是一些命令。</a:t>
            </a:r>
            <a:endParaRPr kumimoji="1" lang="en-US" altLang="zh-CN" sz="1400" b="1" dirty="0">
              <a:latin typeface="微软雅黑" pitchFamily="34" charset="-122"/>
              <a:ea typeface="微软雅黑" pitchFamily="34" charset="-122"/>
            </a:endParaRPr>
          </a:p>
          <a:p>
            <a:pPr>
              <a:lnSpc>
                <a:spcPts val="2000"/>
              </a:lnSpc>
            </a:pPr>
            <a:r>
              <a:rPr kumimoji="1" lang="zh-CN" altLang="en-US" sz="1400" b="1" dirty="0">
                <a:latin typeface="微软雅黑" pitchFamily="34" charset="-122"/>
                <a:ea typeface="微软雅黑" pitchFamily="34" charset="-122"/>
              </a:rPr>
              <a:t>请求报文的类型是由它所采用的方法决定的。 </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2564869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矩形 2"/>
          <p:cNvSpPr/>
          <p:nvPr/>
        </p:nvSpPr>
        <p:spPr>
          <a:xfrm>
            <a:off x="645268" y="560764"/>
            <a:ext cx="327423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请求报文的一些方法</a:t>
            </a:r>
          </a:p>
        </p:txBody>
      </p:sp>
      <p:graphicFrame>
        <p:nvGraphicFramePr>
          <p:cNvPr id="7" name="图示 6"/>
          <p:cNvGraphicFramePr/>
          <p:nvPr>
            <p:extLst>
              <p:ext uri="{D42A27DB-BD31-4B8C-83A1-F6EECF244321}">
                <p14:modId xmlns:p14="http://schemas.microsoft.com/office/powerpoint/2010/main" val="2459573070"/>
              </p:ext>
            </p:extLst>
          </p:nvPr>
        </p:nvGraphicFramePr>
        <p:xfrm>
          <a:off x="556963" y="981296"/>
          <a:ext cx="8048776" cy="324251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9" name="直接连接符 8"/>
          <p:cNvCxnSpPr/>
          <p:nvPr/>
        </p:nvCxnSpPr>
        <p:spPr>
          <a:xfrm>
            <a:off x="3060406" y="960874"/>
            <a:ext cx="0" cy="338600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25673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pitchFamily="34" charset="-122"/>
                <a:ea typeface="微软雅黑" pitchFamily="34" charset="-122"/>
              </a:rPr>
              <a:t>实体主体</a:t>
            </a: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en-US" altLang="zh-CN" sz="1400" b="1" dirty="0">
                <a:latin typeface="微软雅黑" pitchFamily="34" charset="-122"/>
                <a:ea typeface="微软雅黑" pitchFamily="34" charset="-122"/>
              </a:rPr>
              <a:t>URL</a:t>
            </a:r>
            <a:r>
              <a:rPr kumimoji="1" lang="zh-CN" altLang="en-US" sz="1400" b="1" dirty="0">
                <a:latin typeface="微软雅黑" pitchFamily="34" charset="-122"/>
                <a:ea typeface="微软雅黑" pitchFamily="34" charset="-122"/>
              </a:rPr>
              <a:t>：所请求的资源的 </a:t>
            </a:r>
            <a:r>
              <a:rPr kumimoji="1" lang="en-US" altLang="zh-CN" sz="1400" b="1" dirty="0">
                <a:latin typeface="微软雅黑" pitchFamily="34" charset="-122"/>
                <a:ea typeface="微软雅黑" pitchFamily="34" charset="-122"/>
              </a:rPr>
              <a:t>URL</a:t>
            </a:r>
            <a:r>
              <a:rPr kumimoji="1" lang="zh-CN" altLang="en-US" sz="1400" b="1" dirty="0">
                <a:latin typeface="微软雅黑" pitchFamily="34" charset="-122"/>
                <a:ea typeface="微软雅黑" pitchFamily="34" charset="-122"/>
              </a:rPr>
              <a:t>。</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3" name="Rectangle 132"/>
          <p:cNvSpPr>
            <a:spLocks noChangeArrowheads="1"/>
          </p:cNvSpPr>
          <p:nvPr/>
        </p:nvSpPr>
        <p:spPr bwMode="auto">
          <a:xfrm>
            <a:off x="3592182" y="1395872"/>
            <a:ext cx="1006775"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30322497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latin typeface="微软雅黑" pitchFamily="34" charset="-122"/>
                <a:ea typeface="微软雅黑" pitchFamily="34" charset="-122"/>
              </a:rPr>
              <a:t>方   法</a:t>
            </a: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URL</a:t>
            </a: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版   本</a:t>
            </a: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chemeClr val="bg1"/>
                </a:solidFill>
                <a:latin typeface="微软雅黑" pitchFamily="34" charset="-122"/>
                <a:ea typeface="微软雅黑" pitchFamily="34" charset="-122"/>
              </a:rPr>
              <a:t>实体主体</a:t>
            </a:r>
          </a:p>
          <a:p>
            <a:pPr algn="ctr" eaLnBrk="1" hangingPunct="1"/>
            <a:r>
              <a:rPr kumimoji="1" lang="zh-CN" altLang="en-US" sz="1200" b="1" dirty="0">
                <a:solidFill>
                  <a:schemeClr val="bg1"/>
                </a:solidFill>
                <a:latin typeface="微软雅黑" pitchFamily="34" charset="-122"/>
                <a:ea typeface="微软雅黑" pitchFamily="34" charset="-122"/>
              </a:rPr>
              <a:t>（通常不用）</a:t>
            </a: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pitchFamily="34" charset="-122"/>
                <a:ea typeface="微软雅黑" pitchFamily="34" charset="-122"/>
              </a:rPr>
              <a:t>版本：</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的版本。</a:t>
            </a: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的报文结构（请求报文）</a:t>
            </a: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请求行</a:t>
            </a: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7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4" name="Rectangle 132"/>
          <p:cNvSpPr>
            <a:spLocks noChangeArrowheads="1"/>
          </p:cNvSpPr>
          <p:nvPr/>
        </p:nvSpPr>
        <p:spPr bwMode="auto">
          <a:xfrm>
            <a:off x="4555129" y="1395872"/>
            <a:ext cx="948557" cy="328794"/>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17580547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25047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请求报文举例</a:t>
            </a:r>
          </a:p>
        </p:txBody>
      </p:sp>
      <p:sp>
        <p:nvSpPr>
          <p:cNvPr id="2" name="矩形 1"/>
          <p:cNvSpPr/>
          <p:nvPr/>
        </p:nvSpPr>
        <p:spPr>
          <a:xfrm>
            <a:off x="1615736" y="1012260"/>
            <a:ext cx="3400148" cy="2092881"/>
          </a:xfrm>
          <a:prstGeom prst="rect">
            <a:avLst/>
          </a:prstGeom>
        </p:spPr>
        <p:txBody>
          <a:bodyPr wrap="square">
            <a:spAutoFit/>
          </a:bodyPr>
          <a:lstStyle/>
          <a:p>
            <a:pPr>
              <a:lnSpc>
                <a:spcPts val="2600"/>
              </a:lnSpc>
              <a:spcAft>
                <a:spcPts val="0"/>
              </a:spcAft>
            </a:pPr>
            <a:r>
              <a:rPr lang="en-US" altLang="zh-CN" b="1" kern="500" dirty="0">
                <a:solidFill>
                  <a:srgbClr val="C00000"/>
                </a:solidFill>
                <a:cs typeface="Times New Roman" panose="02020603050405020304" pitchFamily="18" charset="0"/>
              </a:rPr>
              <a:t>GET /</a:t>
            </a:r>
            <a:r>
              <a:rPr lang="en-US" altLang="zh-CN" b="1" kern="500" dirty="0" err="1">
                <a:solidFill>
                  <a:srgbClr val="C00000"/>
                </a:solidFill>
                <a:cs typeface="Times New Roman" panose="02020603050405020304" pitchFamily="18" charset="0"/>
              </a:rPr>
              <a:t>dir</a:t>
            </a:r>
            <a:r>
              <a:rPr lang="en-US" altLang="zh-CN" b="1" kern="500" dirty="0">
                <a:solidFill>
                  <a:srgbClr val="C00000"/>
                </a:solidFill>
                <a:cs typeface="Times New Roman" panose="02020603050405020304" pitchFamily="18" charset="0"/>
              </a:rPr>
              <a:t>/index.htm HTTP/1.1</a:t>
            </a:r>
          </a:p>
          <a:p>
            <a:pPr>
              <a:lnSpc>
                <a:spcPts val="2600"/>
              </a:lnSpc>
              <a:spcAft>
                <a:spcPts val="0"/>
              </a:spcAft>
            </a:pPr>
            <a:r>
              <a:rPr lang="en-US" altLang="zh-CN" b="1" kern="500" dirty="0">
                <a:solidFill>
                  <a:srgbClr val="000099"/>
                </a:solidFill>
                <a:cs typeface="Times New Roman" panose="02020603050405020304" pitchFamily="18" charset="0"/>
              </a:rPr>
              <a:t>Host: www.xyz.edu.cn</a:t>
            </a:r>
          </a:p>
          <a:p>
            <a:pPr>
              <a:lnSpc>
                <a:spcPts val="2600"/>
              </a:lnSpc>
              <a:spcAft>
                <a:spcPts val="0"/>
              </a:spcAft>
            </a:pPr>
            <a:r>
              <a:rPr lang="en-US" altLang="zh-CN" b="1" kern="500" dirty="0">
                <a:solidFill>
                  <a:srgbClr val="000099"/>
                </a:solidFill>
                <a:cs typeface="Times New Roman" panose="02020603050405020304" pitchFamily="18" charset="0"/>
              </a:rPr>
              <a:t>Connection: close</a:t>
            </a:r>
          </a:p>
          <a:p>
            <a:pPr>
              <a:lnSpc>
                <a:spcPts val="2600"/>
              </a:lnSpc>
              <a:spcAft>
                <a:spcPts val="0"/>
              </a:spcAft>
            </a:pPr>
            <a:r>
              <a:rPr lang="en-US" altLang="zh-CN" b="1" kern="500" dirty="0">
                <a:solidFill>
                  <a:srgbClr val="000099"/>
                </a:solidFill>
                <a:cs typeface="Times New Roman" panose="02020603050405020304" pitchFamily="18" charset="0"/>
              </a:rPr>
              <a:t>User-Agent: Mozilla/5.0</a:t>
            </a:r>
          </a:p>
          <a:p>
            <a:pPr>
              <a:lnSpc>
                <a:spcPts val="2600"/>
              </a:lnSpc>
              <a:spcAft>
                <a:spcPts val="0"/>
              </a:spcAft>
            </a:pPr>
            <a:r>
              <a:rPr lang="en-US" altLang="zh-CN" b="1" kern="500" dirty="0">
                <a:solidFill>
                  <a:srgbClr val="000099"/>
                </a:solidFill>
                <a:cs typeface="Times New Roman" panose="02020603050405020304" pitchFamily="18" charset="0"/>
              </a:rPr>
              <a:t>Accept-Language: </a:t>
            </a:r>
            <a:r>
              <a:rPr lang="en-US" altLang="zh-CN" b="1" kern="500" dirty="0" err="1">
                <a:solidFill>
                  <a:srgbClr val="000099"/>
                </a:solidFill>
                <a:cs typeface="Times New Roman" panose="02020603050405020304" pitchFamily="18" charset="0"/>
              </a:rPr>
              <a:t>cn</a:t>
            </a:r>
            <a:endParaRPr lang="en-US" altLang="zh-CN" b="1" kern="500" dirty="0">
              <a:solidFill>
                <a:srgbClr val="000099"/>
              </a:solidFill>
              <a:cs typeface="Times New Roman" panose="02020603050405020304" pitchFamily="18" charset="0"/>
            </a:endParaRPr>
          </a:p>
          <a:p>
            <a:pPr>
              <a:lnSpc>
                <a:spcPts val="2600"/>
              </a:lnSpc>
              <a:spcAft>
                <a:spcPts val="0"/>
              </a:spcAft>
            </a:pPr>
            <a:r>
              <a:rPr lang="en-US" altLang="zh-CN" b="1" kern="500" dirty="0">
                <a:solidFill>
                  <a:schemeClr val="tx1">
                    <a:lumMod val="95000"/>
                    <a:lumOff val="5000"/>
                  </a:schemeClr>
                </a:solidFill>
                <a:cs typeface="Times New Roman" panose="02020603050405020304" pitchFamily="18" charset="0"/>
              </a:rPr>
              <a:t>CRLF</a:t>
            </a:r>
          </a:p>
        </p:txBody>
      </p:sp>
      <p:sp>
        <p:nvSpPr>
          <p:cNvPr id="3" name="矩形 2"/>
          <p:cNvSpPr/>
          <p:nvPr/>
        </p:nvSpPr>
        <p:spPr>
          <a:xfrm>
            <a:off x="4898150" y="1056648"/>
            <a:ext cx="1685077"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使用了相对 </a:t>
            </a:r>
            <a:r>
              <a:rPr lang="en-US" altLang="zh-CN" sz="1600" b="1" dirty="0">
                <a:latin typeface="微软雅黑" panose="020B0503020204020204" pitchFamily="34" charset="-122"/>
                <a:ea typeface="微软雅黑" panose="020B0503020204020204" pitchFamily="34" charset="-122"/>
              </a:rPr>
              <a:t>URL</a:t>
            </a:r>
            <a:endParaRPr lang="zh-CN" altLang="en-US" sz="1600" b="1" dirty="0">
              <a:latin typeface="微软雅黑" panose="020B0503020204020204" pitchFamily="34" charset="-122"/>
              <a:ea typeface="微软雅黑" panose="020B0503020204020204" pitchFamily="34" charset="-122"/>
            </a:endParaRPr>
          </a:p>
        </p:txBody>
      </p:sp>
      <p:sp>
        <p:nvSpPr>
          <p:cNvPr id="63" name="Text Box 133"/>
          <p:cNvSpPr txBox="1">
            <a:spLocks noChangeArrowheads="1"/>
          </p:cNvSpPr>
          <p:nvPr/>
        </p:nvSpPr>
        <p:spPr bwMode="auto">
          <a:xfrm>
            <a:off x="759679" y="1087150"/>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请求行</a:t>
            </a:r>
          </a:p>
        </p:txBody>
      </p:sp>
      <p:sp>
        <p:nvSpPr>
          <p:cNvPr id="65" name="Text Box 47"/>
          <p:cNvSpPr txBox="1">
            <a:spLocks noChangeArrowheads="1"/>
          </p:cNvSpPr>
          <p:nvPr/>
        </p:nvSpPr>
        <p:spPr bwMode="auto">
          <a:xfrm>
            <a:off x="745412" y="185097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66" name="AutoShape 56"/>
          <p:cNvSpPr>
            <a:spLocks/>
          </p:cNvSpPr>
          <p:nvPr/>
        </p:nvSpPr>
        <p:spPr bwMode="auto">
          <a:xfrm flipH="1">
            <a:off x="1433175" y="1474518"/>
            <a:ext cx="167949" cy="114439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2" name="矩形 71"/>
          <p:cNvSpPr/>
          <p:nvPr/>
        </p:nvSpPr>
        <p:spPr>
          <a:xfrm>
            <a:off x="4898150" y="1396606"/>
            <a:ext cx="285206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首部行开始。给出主机的域名</a:t>
            </a:r>
          </a:p>
        </p:txBody>
      </p:sp>
      <p:sp>
        <p:nvSpPr>
          <p:cNvPr id="73" name="矩形 72"/>
          <p:cNvSpPr/>
          <p:nvPr/>
        </p:nvSpPr>
        <p:spPr>
          <a:xfrm>
            <a:off x="4898150" y="1712542"/>
            <a:ext cx="3877985"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告诉服务器发送完请求的文档后释放连接</a:t>
            </a:r>
          </a:p>
        </p:txBody>
      </p:sp>
      <p:sp>
        <p:nvSpPr>
          <p:cNvPr id="74" name="矩形 73"/>
          <p:cNvSpPr/>
          <p:nvPr/>
        </p:nvSpPr>
        <p:spPr>
          <a:xfrm>
            <a:off x="4898150" y="2052500"/>
            <a:ext cx="3627596"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表明用户代理使用火狐浏览器 </a:t>
            </a:r>
            <a:r>
              <a:rPr lang="en-US" altLang="zh-CN" sz="1600" b="1" dirty="0">
                <a:latin typeface="微软雅黑" panose="020B0503020204020204" pitchFamily="34" charset="-122"/>
                <a:ea typeface="微软雅黑" panose="020B0503020204020204" pitchFamily="34" charset="-122"/>
              </a:rPr>
              <a:t>Firefox</a:t>
            </a:r>
            <a:endParaRPr lang="zh-CN" altLang="en-US" sz="1600" b="1" dirty="0">
              <a:latin typeface="微软雅黑" panose="020B0503020204020204" pitchFamily="34" charset="-122"/>
              <a:ea typeface="微软雅黑" panose="020B0503020204020204" pitchFamily="34" charset="-122"/>
            </a:endParaRPr>
          </a:p>
        </p:txBody>
      </p:sp>
      <p:sp>
        <p:nvSpPr>
          <p:cNvPr id="75" name="矩形 74"/>
          <p:cNvSpPr/>
          <p:nvPr/>
        </p:nvSpPr>
        <p:spPr>
          <a:xfrm>
            <a:off x="4898150" y="2396862"/>
            <a:ext cx="3672800"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表示用户希望优先得到中文版本的文档</a:t>
            </a:r>
          </a:p>
        </p:txBody>
      </p:sp>
      <p:sp>
        <p:nvSpPr>
          <p:cNvPr id="76" name="矩形 75"/>
          <p:cNvSpPr/>
          <p:nvPr/>
        </p:nvSpPr>
        <p:spPr>
          <a:xfrm>
            <a:off x="4898150" y="2736820"/>
            <a:ext cx="2646878"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请求报文的最后一行为空行</a:t>
            </a:r>
          </a:p>
        </p:txBody>
      </p:sp>
      <p:sp>
        <p:nvSpPr>
          <p:cNvPr id="77" name="矩形 76"/>
          <p:cNvSpPr/>
          <p:nvPr/>
        </p:nvSpPr>
        <p:spPr>
          <a:xfrm>
            <a:off x="4898150" y="3071423"/>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没有实体主体</a:t>
            </a:r>
          </a:p>
        </p:txBody>
      </p:sp>
    </p:spTree>
    <p:extLst>
      <p:ext uri="{BB962C8B-B14F-4D97-AF65-F5344CB8AC3E}">
        <p14:creationId xmlns:p14="http://schemas.microsoft.com/office/powerpoint/2010/main" val="14364683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xEl>
                                              <p:pRg st="0" end="0"/>
                                            </p:txEl>
                                          </p:spTgt>
                                        </p:tgtEl>
                                        <p:attrNameLst>
                                          <p:attrName>style.visibility</p:attrName>
                                        </p:attrNameLst>
                                      </p:cBhvr>
                                      <p:to>
                                        <p:strVal val="visible"/>
                                      </p:to>
                                    </p:set>
                                    <p:animEffect transition="in" filter="fade">
                                      <p:cBhvr>
                                        <p:cTn id="12" dur="1000"/>
                                        <p:tgtEl>
                                          <p:spTgt spid="7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3">
                                            <p:txEl>
                                              <p:pRg st="0" end="0"/>
                                            </p:txEl>
                                          </p:spTgt>
                                        </p:tgtEl>
                                        <p:attrNameLst>
                                          <p:attrName>style.visibility</p:attrName>
                                        </p:attrNameLst>
                                      </p:cBhvr>
                                      <p:to>
                                        <p:strVal val="visible"/>
                                      </p:to>
                                    </p:set>
                                    <p:animEffect transition="in" filter="fade">
                                      <p:cBhvr>
                                        <p:cTn id="17" dur="1000"/>
                                        <p:tgtEl>
                                          <p:spTgt spid="7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4">
                                            <p:txEl>
                                              <p:pRg st="0" end="0"/>
                                            </p:txEl>
                                          </p:spTgt>
                                        </p:tgtEl>
                                        <p:attrNameLst>
                                          <p:attrName>style.visibility</p:attrName>
                                        </p:attrNameLst>
                                      </p:cBhvr>
                                      <p:to>
                                        <p:strVal val="visible"/>
                                      </p:to>
                                    </p:set>
                                    <p:animEffect transition="in" filter="fade">
                                      <p:cBhvr>
                                        <p:cTn id="22" dur="1000"/>
                                        <p:tgtEl>
                                          <p:spTgt spid="74">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5">
                                            <p:txEl>
                                              <p:pRg st="0" end="0"/>
                                            </p:txEl>
                                          </p:spTgt>
                                        </p:tgtEl>
                                        <p:attrNameLst>
                                          <p:attrName>style.visibility</p:attrName>
                                        </p:attrNameLst>
                                      </p:cBhvr>
                                      <p:to>
                                        <p:strVal val="visible"/>
                                      </p:to>
                                    </p:set>
                                    <p:animEffect transition="in" filter="fade">
                                      <p:cBhvr>
                                        <p:cTn id="27" dur="1000"/>
                                        <p:tgtEl>
                                          <p:spTgt spid="75">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6">
                                            <p:txEl>
                                              <p:pRg st="0" end="0"/>
                                            </p:txEl>
                                          </p:spTgt>
                                        </p:tgtEl>
                                        <p:attrNameLst>
                                          <p:attrName>style.visibility</p:attrName>
                                        </p:attrNameLst>
                                      </p:cBhvr>
                                      <p:to>
                                        <p:strVal val="visible"/>
                                      </p:to>
                                    </p:set>
                                    <p:animEffect transition="in" filter="fade">
                                      <p:cBhvr>
                                        <p:cTn id="32" dur="1000"/>
                                        <p:tgtEl>
                                          <p:spTgt spid="7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7">
                                            <p:txEl>
                                              <p:pRg st="0" end="0"/>
                                            </p:txEl>
                                          </p:spTgt>
                                        </p:tgtEl>
                                        <p:attrNameLst>
                                          <p:attrName>style.visibility</p:attrName>
                                        </p:attrNameLst>
                                      </p:cBhvr>
                                      <p:to>
                                        <p:strVal val="visible"/>
                                      </p:to>
                                    </p:set>
                                    <p:animEffect transition="in" filter="fade">
                                      <p:cBhvr>
                                        <p:cTn id="37" dur="1000"/>
                                        <p:tgtEl>
                                          <p:spTgt spid="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2" grpId="0" build="p"/>
      <p:bldP spid="73" grpId="0" build="p"/>
      <p:bldP spid="74" grpId="0" build="p"/>
      <p:bldP spid="75" grpId="0" build="p"/>
      <p:bldP spid="76" grpId="0" build="p"/>
      <p:bldP spid="77" grpId="0" build="p"/>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HTTP </a:t>
            </a:r>
            <a:r>
              <a:rPr lang="zh-CN" altLang="en-US" sz="2000" b="1" dirty="0">
                <a:latin typeface="微软雅黑" pitchFamily="34" charset="-122"/>
                <a:ea typeface="微软雅黑" pitchFamily="34" charset="-122"/>
              </a:rPr>
              <a:t>的报文结构（响应报文）</a:t>
            </a: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版   本</a:t>
            </a: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8" name="Text Box 41"/>
          <p:cNvSpPr txBox="1">
            <a:spLocks noChangeArrowheads="1"/>
          </p:cNvSpPr>
          <p:nvPr/>
        </p:nvSpPr>
        <p:spPr bwMode="auto">
          <a:xfrm>
            <a:off x="3802295" y="1414998"/>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状态码</a:t>
            </a: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200" b="1" dirty="0">
                <a:latin typeface="微软雅黑" pitchFamily="34" charset="-122"/>
                <a:ea typeface="微软雅黑" pitchFamily="34" charset="-122"/>
              </a:rPr>
              <a:t>短   语</a:t>
            </a: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首部行</a:t>
            </a: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chemeClr val="bg1"/>
                </a:solidFill>
                <a:latin typeface="微软雅黑" pitchFamily="34" charset="-122"/>
                <a:ea typeface="微软雅黑" pitchFamily="34" charset="-122"/>
              </a:rPr>
              <a:t>:</a:t>
            </a: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首部字段名</a:t>
            </a: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dirty="0">
                <a:solidFill>
                  <a:schemeClr val="bg1"/>
                </a:solidFill>
                <a:latin typeface="微软雅黑" pitchFamily="34" charset="-122"/>
                <a:ea typeface="微软雅黑" pitchFamily="34" charset="-122"/>
              </a:rPr>
              <a:t>值</a:t>
            </a: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latin typeface="微软雅黑" pitchFamily="34" charset="-122"/>
                <a:ea typeface="微软雅黑" pitchFamily="34" charset="-122"/>
              </a:rPr>
              <a:t>…</a:t>
            </a:r>
          </a:p>
        </p:txBody>
      </p:sp>
      <p:sp>
        <p:nvSpPr>
          <p:cNvPr id="181" name="AutoShape 56"/>
          <p:cNvSpPr>
            <a:spLocks/>
          </p:cNvSpPr>
          <p:nvPr/>
        </p:nvSpPr>
        <p:spPr bwMode="auto">
          <a:xfrm flipH="1">
            <a:off x="2545337" y="1722010"/>
            <a:ext cx="157309" cy="76545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83" name="Text Box 58"/>
          <p:cNvSpPr txBox="1">
            <a:spLocks noChangeArrowheads="1"/>
          </p:cNvSpPr>
          <p:nvPr/>
        </p:nvSpPr>
        <p:spPr bwMode="auto">
          <a:xfrm>
            <a:off x="3450505" y="2796426"/>
            <a:ext cx="198002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chemeClr val="bg1"/>
                </a:solidFill>
                <a:latin typeface="微软雅黑" pitchFamily="34" charset="-122"/>
                <a:ea typeface="微软雅黑" pitchFamily="34" charset="-122"/>
              </a:rPr>
              <a:t>实体主体</a:t>
            </a:r>
          </a:p>
          <a:p>
            <a:pPr algn="ctr"/>
            <a:r>
              <a:rPr kumimoji="1" lang="zh-CN" altLang="en-US" sz="1400" b="1" dirty="0">
                <a:solidFill>
                  <a:schemeClr val="bg1"/>
                </a:solidFill>
                <a:latin typeface="微软雅黑" pitchFamily="34" charset="-122"/>
                <a:ea typeface="微软雅黑" pitchFamily="34" charset="-122"/>
              </a:rPr>
              <a:t>（有些响应报文不用）</a:t>
            </a: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空格</a:t>
            </a: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200" b="1">
                <a:latin typeface="微软雅黑" pitchFamily="34" charset="-122"/>
                <a:ea typeface="微软雅黑" pitchFamily="34" charset="-122"/>
              </a:rPr>
              <a:t>回车换行</a:t>
            </a: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grpSp>
        <p:nvGrpSpPr>
          <p:cNvPr id="201" name="Group 134"/>
          <p:cNvGrpSpPr>
            <a:grpSpLocks/>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dirty="0">
                  <a:latin typeface="微软雅黑" pitchFamily="34" charset="-122"/>
                  <a:ea typeface="微软雅黑" pitchFamily="34" charset="-122"/>
                </a:rPr>
                <a:t>状态行</a:t>
              </a: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a:solidFill>
                  <a:srgbClr val="FFFF00"/>
                </a:solidFill>
                <a:latin typeface="微软雅黑" pitchFamily="34" charset="-122"/>
                <a:ea typeface="微软雅黑" pitchFamily="34" charset="-122"/>
              </a:rPr>
              <a:t>CRLF</a:t>
            </a: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FFFF00"/>
                </a:solidFill>
                <a:latin typeface="微软雅黑" pitchFamily="34" charset="-122"/>
                <a:ea typeface="微软雅黑" pitchFamily="34" charset="-122"/>
              </a:rPr>
              <a:t>CRLF</a:t>
            </a:r>
          </a:p>
        </p:txBody>
      </p:sp>
      <p:sp>
        <p:nvSpPr>
          <p:cNvPr id="206" name="矩形 205"/>
          <p:cNvSpPr/>
          <p:nvPr/>
        </p:nvSpPr>
        <p:spPr>
          <a:xfrm>
            <a:off x="1346773" y="3454660"/>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a:latin typeface="微软雅黑" pitchFamily="34" charset="-122"/>
                <a:ea typeface="微软雅黑" pitchFamily="34" charset="-122"/>
              </a:rPr>
              <a:t>在响应报文中，开始行是状态行。</a:t>
            </a:r>
            <a:endParaRPr kumimoji="1" lang="en-US" altLang="zh-CN" sz="1400" b="1" dirty="0">
              <a:latin typeface="微软雅黑" pitchFamily="34" charset="-122"/>
              <a:ea typeface="微软雅黑" pitchFamily="34" charset="-122"/>
            </a:endParaRPr>
          </a:p>
          <a:p>
            <a:pPr>
              <a:lnSpc>
                <a:spcPts val="2000"/>
              </a:lnSpc>
            </a:pPr>
            <a:r>
              <a:rPr kumimoji="1" lang="zh-CN" altLang="en-US" sz="1400" b="1" dirty="0">
                <a:latin typeface="微软雅黑" pitchFamily="34" charset="-122"/>
                <a:ea typeface="微软雅黑" pitchFamily="34" charset="-122"/>
              </a:rPr>
              <a:t>版本：</a:t>
            </a:r>
            <a:r>
              <a:rPr kumimoji="1" lang="en-US" altLang="zh-CN" sz="1400" b="1" dirty="0">
                <a:latin typeface="微软雅黑" pitchFamily="34" charset="-122"/>
                <a:ea typeface="微软雅黑" pitchFamily="34" charset="-122"/>
              </a:rPr>
              <a:t>HTTP </a:t>
            </a:r>
            <a:r>
              <a:rPr kumimoji="1" lang="zh-CN" altLang="en-US" sz="1400" b="1" dirty="0">
                <a:latin typeface="微软雅黑" pitchFamily="34" charset="-122"/>
                <a:ea typeface="微软雅黑" pitchFamily="34" charset="-122"/>
              </a:rPr>
              <a:t>的版本。状态码：服务器操作完成的状态。短语：解释状态码。</a:t>
            </a:r>
          </a:p>
        </p:txBody>
      </p:sp>
    </p:spTree>
    <p:extLst>
      <p:ext uri="{BB962C8B-B14F-4D97-AF65-F5344CB8AC3E}">
        <p14:creationId xmlns:p14="http://schemas.microsoft.com/office/powerpoint/2010/main" val="18269397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9132"/>
            <a:ext cx="8081200"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1xx </a:t>
            </a:r>
            <a:r>
              <a:rPr lang="zh-CN" altLang="en-US" sz="2000" b="1" dirty="0">
                <a:solidFill>
                  <a:srgbClr val="0000FF"/>
                </a:solidFill>
                <a:latin typeface="微软雅黑" pitchFamily="34" charset="-122"/>
                <a:ea typeface="微软雅黑" pitchFamily="34" charset="-122"/>
              </a:rPr>
              <a:t>表示通知信息</a:t>
            </a:r>
            <a:r>
              <a:rPr lang="zh-CN" altLang="en-US" sz="2000" b="1" dirty="0">
                <a:latin typeface="微软雅黑" pitchFamily="34" charset="-122"/>
                <a:ea typeface="微软雅黑" pitchFamily="34" charset="-122"/>
              </a:rPr>
              <a:t>，如请求收到了或正在进行处理。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2xx </a:t>
            </a:r>
            <a:r>
              <a:rPr lang="zh-CN" altLang="en-US" sz="2000" b="1" dirty="0">
                <a:solidFill>
                  <a:srgbClr val="0000FF"/>
                </a:solidFill>
                <a:latin typeface="微软雅黑" pitchFamily="34" charset="-122"/>
                <a:ea typeface="微软雅黑" pitchFamily="34" charset="-122"/>
              </a:rPr>
              <a:t>表示成功</a:t>
            </a:r>
            <a:r>
              <a:rPr lang="zh-CN" altLang="en-US" sz="2000" b="1" dirty="0">
                <a:latin typeface="微软雅黑" pitchFamily="34" charset="-122"/>
                <a:ea typeface="微软雅黑" pitchFamily="34" charset="-122"/>
              </a:rPr>
              <a:t>，如接受或知道了。</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3xx </a:t>
            </a:r>
            <a:r>
              <a:rPr lang="zh-CN" altLang="en-US" sz="2000" b="1" dirty="0">
                <a:solidFill>
                  <a:srgbClr val="0000FF"/>
                </a:solidFill>
                <a:latin typeface="微软雅黑" pitchFamily="34" charset="-122"/>
                <a:ea typeface="微软雅黑" pitchFamily="34" charset="-122"/>
              </a:rPr>
              <a:t>表示重定向</a:t>
            </a:r>
            <a:r>
              <a:rPr lang="zh-CN" altLang="en-US" sz="2000" b="1" dirty="0">
                <a:latin typeface="微软雅黑" pitchFamily="34" charset="-122"/>
                <a:ea typeface="微软雅黑" pitchFamily="34" charset="-122"/>
              </a:rPr>
              <a:t>，表示要完成请求还必须采取进一步的行动。</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4xx </a:t>
            </a:r>
            <a:r>
              <a:rPr lang="zh-CN" altLang="en-US" sz="2000" b="1" dirty="0">
                <a:solidFill>
                  <a:srgbClr val="0000FF"/>
                </a:solidFill>
                <a:latin typeface="微软雅黑" pitchFamily="34" charset="-122"/>
                <a:ea typeface="微软雅黑" pitchFamily="34" charset="-122"/>
              </a:rPr>
              <a:t>表示客户的差错</a:t>
            </a:r>
            <a:r>
              <a:rPr lang="zh-CN" altLang="en-US" sz="2000" b="1" dirty="0">
                <a:latin typeface="微软雅黑" pitchFamily="34" charset="-122"/>
                <a:ea typeface="微软雅黑" pitchFamily="34" charset="-122"/>
              </a:rPr>
              <a:t>，如请求中有错误的语法或不能完成。</a:t>
            </a:r>
          </a:p>
          <a:p>
            <a:pPr marL="285750" indent="-285750" eaLnBrk="0" hangingPunct="0">
              <a:lnSpc>
                <a:spcPts val="30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5xx </a:t>
            </a:r>
            <a:r>
              <a:rPr lang="zh-CN" altLang="en-US" sz="2000" b="1" dirty="0">
                <a:solidFill>
                  <a:srgbClr val="0000FF"/>
                </a:solidFill>
                <a:latin typeface="微软雅黑" pitchFamily="34" charset="-122"/>
                <a:ea typeface="微软雅黑" pitchFamily="34" charset="-122"/>
              </a:rPr>
              <a:t>表示服务器的差错</a:t>
            </a:r>
            <a:r>
              <a:rPr lang="zh-CN" altLang="en-US" sz="2000" b="1" dirty="0">
                <a:latin typeface="微软雅黑" pitchFamily="34" charset="-122"/>
                <a:ea typeface="微软雅黑" pitchFamily="34" charset="-122"/>
              </a:rPr>
              <a:t>，如服务器失效无法完成请求。</a:t>
            </a:r>
          </a:p>
        </p:txBody>
      </p:sp>
      <p:sp>
        <p:nvSpPr>
          <p:cNvPr id="3" name="AutoShape 5"/>
          <p:cNvSpPr>
            <a:spLocks noChangeArrowheads="1"/>
          </p:cNvSpPr>
          <p:nvPr/>
        </p:nvSpPr>
        <p:spPr bwMode="auto">
          <a:xfrm>
            <a:off x="556963" y="61328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2756"/>
            <a:ext cx="41905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状态码：都是三位数字，分为</a:t>
            </a:r>
            <a:r>
              <a:rPr lang="en-US" altLang="zh-CN" sz="2000" b="1" dirty="0">
                <a:latin typeface="微软雅黑" pitchFamily="34" charset="-122"/>
                <a:ea typeface="微软雅黑" pitchFamily="34" charset="-122"/>
              </a:rPr>
              <a:t>5</a:t>
            </a:r>
            <a:r>
              <a:rPr lang="zh-CN" altLang="en-US" sz="2000" b="1" dirty="0">
                <a:latin typeface="微软雅黑" pitchFamily="34" charset="-122"/>
                <a:ea typeface="微软雅黑" pitchFamily="34" charset="-122"/>
              </a:rPr>
              <a:t>大类</a:t>
            </a:r>
          </a:p>
        </p:txBody>
      </p:sp>
      <p:sp>
        <p:nvSpPr>
          <p:cNvPr id="5" name="矩形 4"/>
          <p:cNvSpPr/>
          <p:nvPr/>
        </p:nvSpPr>
        <p:spPr>
          <a:xfrm>
            <a:off x="834501" y="2916840"/>
            <a:ext cx="6951216" cy="1426031"/>
          </a:xfrm>
          <a:prstGeom prst="rect">
            <a:avLst/>
          </a:prstGeom>
        </p:spPr>
        <p:txBody>
          <a:bodyPr wrap="square">
            <a:spAutoFit/>
          </a:bodyPr>
          <a:lstStyle/>
          <a:p>
            <a:pPr algn="just">
              <a:lnSpc>
                <a:spcPts val="2600"/>
              </a:lnSpc>
              <a:spcAft>
                <a:spcPts val="0"/>
              </a:spcAft>
            </a:pPr>
            <a:r>
              <a:rPr lang="zh-CN" altLang="zh-CN" b="1" kern="500" dirty="0">
                <a:latin typeface="微软雅黑" panose="020B0503020204020204" pitchFamily="34" charset="-122"/>
                <a:ea typeface="微软雅黑" panose="020B0503020204020204" pitchFamily="34" charset="-122"/>
              </a:rPr>
              <a:t>响应报文中常见到的三种状态行</a:t>
            </a:r>
            <a:r>
              <a:rPr lang="zh-CN" altLang="en-US" b="1" kern="500" dirty="0">
                <a:latin typeface="微软雅黑" panose="020B0503020204020204" pitchFamily="34" charset="-122"/>
                <a:ea typeface="微软雅黑" panose="020B0503020204020204" pitchFamily="34" charset="-122"/>
              </a:rPr>
              <a:t>：</a:t>
            </a:r>
            <a:endParaRPr lang="zh-CN" altLang="zh-CN" b="1" kern="500" dirty="0">
              <a:latin typeface="微软雅黑" panose="020B0503020204020204" pitchFamily="34" charset="-122"/>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HTTP/1.1 202 Accepted</a:t>
            </a:r>
            <a:r>
              <a:rPr lang="en-US" altLang="zh-CN" b="1" kern="500" dirty="0">
                <a:ea typeface="微软雅黑" panose="020B0503020204020204" pitchFamily="34" charset="-122"/>
                <a:cs typeface="Times New Roman" panose="02020603050405020304" pitchFamily="18" charset="0"/>
              </a:rPr>
              <a:t>		</a:t>
            </a:r>
            <a:r>
              <a:rPr lang="zh-CN" altLang="zh-CN" b="1" kern="500" dirty="0">
                <a:ea typeface="微软雅黑" panose="020B0503020204020204" pitchFamily="34" charset="-122"/>
              </a:rPr>
              <a:t>接受</a:t>
            </a: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HTTP/1.1 400 Bad Request</a:t>
            </a:r>
            <a:r>
              <a:rPr lang="en-US" altLang="zh-CN" b="1" kern="500" dirty="0">
                <a:ea typeface="微软雅黑" panose="020B0503020204020204" pitchFamily="34" charset="-122"/>
                <a:cs typeface="Times New Roman" panose="02020603050405020304" pitchFamily="18" charset="0"/>
              </a:rPr>
              <a:t>		</a:t>
            </a:r>
            <a:r>
              <a:rPr lang="zh-CN" altLang="zh-CN" b="1" kern="500" dirty="0">
                <a:ea typeface="微软雅黑" panose="020B0503020204020204" pitchFamily="34" charset="-122"/>
              </a:rPr>
              <a:t>错误的请求</a:t>
            </a: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Http/1.1 404 Not Found</a:t>
            </a:r>
            <a:r>
              <a:rPr lang="en-US" altLang="zh-CN" b="1" kern="500" dirty="0">
                <a:ea typeface="微软雅黑" panose="020B0503020204020204" pitchFamily="34" charset="-122"/>
                <a:cs typeface="Times New Roman" panose="02020603050405020304" pitchFamily="18" charset="0"/>
              </a:rPr>
              <a:t>		</a:t>
            </a:r>
            <a:r>
              <a:rPr lang="zh-CN" altLang="zh-CN" b="1" kern="500" dirty="0">
                <a:ea typeface="微软雅黑" panose="020B0503020204020204" pitchFamily="34" charset="-122"/>
              </a:rPr>
              <a:t>找不到</a:t>
            </a:r>
          </a:p>
        </p:txBody>
      </p:sp>
    </p:spTree>
    <p:extLst>
      <p:ext uri="{BB962C8B-B14F-4D97-AF65-F5344CB8AC3E}">
        <p14:creationId xmlns:p14="http://schemas.microsoft.com/office/powerpoint/2010/main" val="17636566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圆角矩形 57"/>
          <p:cNvSpPr/>
          <p:nvPr/>
        </p:nvSpPr>
        <p:spPr>
          <a:xfrm>
            <a:off x="556963" y="1354861"/>
            <a:ext cx="8048775" cy="326152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59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95447" y="572714"/>
            <a:ext cx="35718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highlight>
                  <a:srgbClr val="FFFF00"/>
                </a:highlight>
                <a:latin typeface="微软雅黑" pitchFamily="34" charset="-122"/>
                <a:ea typeface="微软雅黑" pitchFamily="34" charset="-122"/>
              </a:rPr>
              <a:t>4. </a:t>
            </a:r>
            <a:r>
              <a:rPr lang="zh-CN" altLang="en-US" sz="2000" b="1" dirty="0">
                <a:highlight>
                  <a:srgbClr val="FFFF00"/>
                </a:highlight>
                <a:latin typeface="微软雅黑" pitchFamily="34" charset="-122"/>
                <a:ea typeface="微软雅黑" pitchFamily="34" charset="-122"/>
              </a:rPr>
              <a:t>在服务器上存放用户的信息</a:t>
            </a:r>
          </a:p>
        </p:txBody>
      </p:sp>
      <p:sp>
        <p:nvSpPr>
          <p:cNvPr id="4" name="Rectangle 68"/>
          <p:cNvSpPr>
            <a:spLocks noChangeArrowheads="1"/>
          </p:cNvSpPr>
          <p:nvPr/>
        </p:nvSpPr>
        <p:spPr bwMode="auto">
          <a:xfrm>
            <a:off x="556963" y="967015"/>
            <a:ext cx="8048776" cy="4165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b="1" dirty="0">
                <a:highlight>
                  <a:srgbClr val="FFFF00"/>
                </a:highlight>
                <a:latin typeface="微软雅黑" pitchFamily="34" charset="-122"/>
                <a:ea typeface="微软雅黑" pitchFamily="34" charset="-122"/>
              </a:rPr>
              <a:t>万维网使用 </a:t>
            </a:r>
            <a:r>
              <a:rPr lang="en-US" altLang="zh-CN" b="1" dirty="0">
                <a:solidFill>
                  <a:srgbClr val="C00000"/>
                </a:solidFill>
                <a:highlight>
                  <a:srgbClr val="FFFF00"/>
                </a:highlight>
                <a:latin typeface="微软雅黑" pitchFamily="34" charset="-122"/>
                <a:ea typeface="微软雅黑" pitchFamily="34" charset="-122"/>
              </a:rPr>
              <a:t>Cookie</a:t>
            </a:r>
            <a:r>
              <a:rPr lang="en-US" altLang="zh-CN" b="1" dirty="0">
                <a:highlight>
                  <a:srgbClr val="FFFF00"/>
                </a:highlight>
                <a:latin typeface="微软雅黑" pitchFamily="34" charset="-122"/>
                <a:ea typeface="微软雅黑" pitchFamily="34" charset="-122"/>
              </a:rPr>
              <a:t> </a:t>
            </a:r>
            <a:r>
              <a:rPr lang="zh-CN" altLang="en-US" b="1" dirty="0">
                <a:highlight>
                  <a:srgbClr val="FFFF00"/>
                </a:highlight>
                <a:latin typeface="微软雅黑" pitchFamily="34" charset="-122"/>
                <a:ea typeface="微软雅黑" pitchFamily="34" charset="-122"/>
              </a:rPr>
              <a:t>跟踪在 </a:t>
            </a:r>
            <a:r>
              <a:rPr lang="en-US" altLang="zh-CN" b="1" dirty="0">
                <a:highlight>
                  <a:srgbClr val="FFFF00"/>
                </a:highlight>
                <a:latin typeface="微软雅黑" pitchFamily="34" charset="-122"/>
                <a:ea typeface="微软雅黑" pitchFamily="34" charset="-122"/>
              </a:rPr>
              <a:t>HTTP </a:t>
            </a:r>
            <a:r>
              <a:rPr lang="zh-CN" altLang="en-US" b="1" dirty="0">
                <a:highlight>
                  <a:srgbClr val="FFFF00"/>
                </a:highlight>
                <a:latin typeface="微软雅黑" pitchFamily="34" charset="-122"/>
                <a:ea typeface="微软雅黑" pitchFamily="34" charset="-122"/>
              </a:rPr>
              <a:t>服务器和客户之间传递的</a:t>
            </a:r>
            <a:r>
              <a:rPr lang="zh-CN" altLang="en-US" b="1" dirty="0">
                <a:solidFill>
                  <a:srgbClr val="C00000"/>
                </a:solidFill>
                <a:highlight>
                  <a:srgbClr val="FFFF00"/>
                </a:highlight>
                <a:latin typeface="微软雅黑" pitchFamily="34" charset="-122"/>
                <a:ea typeface="微软雅黑" pitchFamily="34" charset="-122"/>
              </a:rPr>
              <a:t>状态</a:t>
            </a:r>
            <a:r>
              <a:rPr lang="zh-CN" altLang="en-US" b="1" dirty="0">
                <a:highlight>
                  <a:srgbClr val="FFFF00"/>
                </a:highlight>
                <a:latin typeface="微软雅黑" pitchFamily="34" charset="-122"/>
                <a:ea typeface="微软雅黑" pitchFamily="34" charset="-122"/>
              </a:rPr>
              <a:t>信息</a:t>
            </a:r>
            <a:r>
              <a:rPr lang="zh-CN" altLang="en-US" b="1" dirty="0">
                <a:latin typeface="微软雅黑" pitchFamily="34" charset="-122"/>
                <a:ea typeface="微软雅黑" pitchFamily="34" charset="-122"/>
              </a:rPr>
              <a:t>。</a:t>
            </a:r>
          </a:p>
        </p:txBody>
      </p:sp>
      <p:grpSp>
        <p:nvGrpSpPr>
          <p:cNvPr id="7" name="Group 5"/>
          <p:cNvGrpSpPr>
            <a:grpSpLocks/>
          </p:cNvGrpSpPr>
          <p:nvPr/>
        </p:nvGrpSpPr>
        <p:grpSpPr bwMode="auto">
          <a:xfrm>
            <a:off x="2353913" y="3239298"/>
            <a:ext cx="2956331" cy="318744"/>
            <a:chOff x="1285" y="2720"/>
            <a:chExt cx="2219" cy="340"/>
          </a:xfrm>
        </p:grpSpPr>
        <p:sp>
          <p:nvSpPr>
            <p:cNvPr id="8" name="Line 6"/>
            <p:cNvSpPr>
              <a:spLocks noChangeShapeType="1"/>
            </p:cNvSpPr>
            <p:nvPr/>
          </p:nvSpPr>
          <p:spPr bwMode="auto">
            <a:xfrm flipH="1">
              <a:off x="1285" y="2720"/>
              <a:ext cx="2219" cy="19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1" name="Text Box 9"/>
            <p:cNvSpPr txBox="1">
              <a:spLocks noChangeArrowheads="1"/>
            </p:cNvSpPr>
            <p:nvPr/>
          </p:nvSpPr>
          <p:spPr bwMode="auto">
            <a:xfrm>
              <a:off x="1456" y="2732"/>
              <a:ext cx="1532"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p>
          </p:txBody>
        </p:sp>
      </p:grpSp>
      <p:grpSp>
        <p:nvGrpSpPr>
          <p:cNvPr id="12" name="Group 10"/>
          <p:cNvGrpSpPr>
            <a:grpSpLocks/>
          </p:cNvGrpSpPr>
          <p:nvPr/>
        </p:nvGrpSpPr>
        <p:grpSpPr bwMode="auto">
          <a:xfrm>
            <a:off x="2354415" y="4152257"/>
            <a:ext cx="2944341" cy="348742"/>
            <a:chOff x="1365" y="3581"/>
            <a:chExt cx="2210" cy="372"/>
          </a:xfrm>
        </p:grpSpPr>
        <p:sp>
          <p:nvSpPr>
            <p:cNvPr id="13" name="Line 11"/>
            <p:cNvSpPr>
              <a:spLocks noChangeShapeType="1"/>
            </p:cNvSpPr>
            <p:nvPr/>
          </p:nvSpPr>
          <p:spPr bwMode="auto">
            <a:xfrm flipH="1">
              <a:off x="1365" y="3581"/>
              <a:ext cx="2210" cy="293"/>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1545" y="3625"/>
              <a:ext cx="1522"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p>
          </p:txBody>
        </p:sp>
      </p:grpSp>
      <p:sp>
        <p:nvSpPr>
          <p:cNvPr id="17" name="Text Box 15"/>
          <p:cNvSpPr txBox="1">
            <a:spLocks noChangeArrowheads="1"/>
          </p:cNvSpPr>
          <p:nvPr/>
        </p:nvSpPr>
        <p:spPr bwMode="auto">
          <a:xfrm>
            <a:off x="1138081" y="2169376"/>
            <a:ext cx="127055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400" b="1" dirty="0">
                <a:latin typeface="微软雅黑" panose="020B0503020204020204" pitchFamily="34" charset="-122"/>
                <a:ea typeface="微软雅黑" panose="020B0503020204020204" pitchFamily="34" charset="-122"/>
              </a:rPr>
              <a:t>cookie file</a:t>
            </a:r>
          </a:p>
        </p:txBody>
      </p:sp>
      <p:grpSp>
        <p:nvGrpSpPr>
          <p:cNvPr id="19" name="Group 17"/>
          <p:cNvGrpSpPr>
            <a:grpSpLocks/>
          </p:cNvGrpSpPr>
          <p:nvPr/>
        </p:nvGrpSpPr>
        <p:grpSpPr bwMode="auto">
          <a:xfrm>
            <a:off x="2325178" y="2776921"/>
            <a:ext cx="5145616" cy="535302"/>
            <a:chOff x="1392" y="2261"/>
            <a:chExt cx="3555" cy="571"/>
          </a:xfrm>
        </p:grpSpPr>
        <p:sp>
          <p:nvSpPr>
            <p:cNvPr id="20" name="Line 18"/>
            <p:cNvSpPr>
              <a:spLocks noChangeShapeType="1"/>
            </p:cNvSpPr>
            <p:nvPr/>
          </p:nvSpPr>
          <p:spPr bwMode="auto">
            <a:xfrm>
              <a:off x="1392" y="2357"/>
              <a:ext cx="2082" cy="24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1562" y="2261"/>
              <a:ext cx="1417" cy="46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80000"/>
                </a:lnSpc>
              </a:pP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a:p>
              <a:pPr algn="ctr">
                <a:lnSpc>
                  <a:spcPct val="80000"/>
                </a:lnSpc>
              </a:pPr>
              <a:r>
                <a:rPr lang="en-US" altLang="zh-CN" sz="1400" b="1" dirty="0">
                  <a:solidFill>
                    <a:srgbClr val="0000FF"/>
                  </a:solidFill>
                  <a:latin typeface="微软雅黑" panose="020B0503020204020204" pitchFamily="34" charset="-122"/>
                  <a:ea typeface="微软雅黑" panose="020B0503020204020204" pitchFamily="34" charset="-122"/>
                </a:rPr>
                <a:t>cookie: ad42</a:t>
              </a:r>
            </a:p>
          </p:txBody>
        </p:sp>
        <p:sp>
          <p:nvSpPr>
            <p:cNvPr id="22" name="Text Box 20"/>
            <p:cNvSpPr txBox="1">
              <a:spLocks noChangeArrowheads="1"/>
            </p:cNvSpPr>
            <p:nvPr/>
          </p:nvSpPr>
          <p:spPr bwMode="auto">
            <a:xfrm>
              <a:off x="3508" y="2504"/>
              <a:ext cx="411"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处理</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3" name="Line 21"/>
            <p:cNvSpPr>
              <a:spLocks noChangeShapeType="1"/>
            </p:cNvSpPr>
            <p:nvPr/>
          </p:nvSpPr>
          <p:spPr bwMode="auto">
            <a:xfrm flipV="1">
              <a:off x="3967" y="2439"/>
              <a:ext cx="980" cy="228"/>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4252" y="2400"/>
              <a:ext cx="34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latin typeface="微软雅黑" panose="020B0503020204020204" pitchFamily="34" charset="-122"/>
                  <a:ea typeface="微软雅黑" panose="020B0503020204020204" pitchFamily="34" charset="-122"/>
                </a:rPr>
                <a:t>访问</a:t>
              </a:r>
              <a:endParaRPr lang="en-US" altLang="zh-CN" sz="1200" b="1" dirty="0">
                <a:latin typeface="微软雅黑" panose="020B0503020204020204" pitchFamily="34" charset="-122"/>
                <a:ea typeface="微软雅黑" panose="020B0503020204020204" pitchFamily="34" charset="-122"/>
              </a:endParaRPr>
            </a:p>
          </p:txBody>
        </p:sp>
      </p:grpSp>
      <p:grpSp>
        <p:nvGrpSpPr>
          <p:cNvPr id="27" name="Group 25"/>
          <p:cNvGrpSpPr>
            <a:grpSpLocks/>
          </p:cNvGrpSpPr>
          <p:nvPr/>
        </p:nvGrpSpPr>
        <p:grpSpPr bwMode="auto">
          <a:xfrm>
            <a:off x="1119464" y="1723191"/>
            <a:ext cx="1139100" cy="455616"/>
            <a:chOff x="527" y="1047"/>
            <a:chExt cx="855" cy="486"/>
          </a:xfrm>
        </p:grpSpPr>
        <p:sp>
          <p:nvSpPr>
            <p:cNvPr id="28" name="AutoShape 26"/>
            <p:cNvSpPr>
              <a:spLocks noChangeArrowheads="1"/>
            </p:cNvSpPr>
            <p:nvPr/>
          </p:nvSpPr>
          <p:spPr bwMode="auto">
            <a:xfrm>
              <a:off x="527" y="1047"/>
              <a:ext cx="855"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7"/>
            <p:cNvSpPr txBox="1">
              <a:spLocks noChangeArrowheads="1"/>
            </p:cNvSpPr>
            <p:nvPr/>
          </p:nvSpPr>
          <p:spPr bwMode="auto">
            <a:xfrm>
              <a:off x="560" y="1134"/>
              <a:ext cx="751"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solidFill>
                    <a:schemeClr val="bg1"/>
                  </a:solidFill>
                  <a:latin typeface="微软雅黑" panose="020B0503020204020204" pitchFamily="34" charset="-122"/>
                  <a:ea typeface="微软雅黑" panose="020B0503020204020204" pitchFamily="34" charset="-122"/>
                </a:rPr>
                <a:t>JD 1234</a:t>
              </a:r>
            </a:p>
          </p:txBody>
        </p:sp>
      </p:grpSp>
      <p:sp>
        <p:nvSpPr>
          <p:cNvPr id="30" name="AutoShape 28"/>
          <p:cNvSpPr>
            <a:spLocks noChangeArrowheads="1"/>
          </p:cNvSpPr>
          <p:nvPr/>
        </p:nvSpPr>
        <p:spPr bwMode="auto">
          <a:xfrm>
            <a:off x="7565597" y="2623173"/>
            <a:ext cx="544020" cy="516595"/>
          </a:xfrm>
          <a:prstGeom prst="can">
            <a:avLst>
              <a:gd name="adj" fmla="val 39157"/>
            </a:avLst>
          </a:prstGeom>
          <a:solidFill>
            <a:srgbClr val="00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9"/>
          <p:cNvGrpSpPr>
            <a:grpSpLocks/>
          </p:cNvGrpSpPr>
          <p:nvPr/>
        </p:nvGrpSpPr>
        <p:grpSpPr bwMode="auto">
          <a:xfrm>
            <a:off x="2243909" y="1837564"/>
            <a:ext cx="5407917" cy="996543"/>
            <a:chOff x="1386" y="1259"/>
            <a:chExt cx="3719" cy="1063"/>
          </a:xfrm>
        </p:grpSpPr>
        <p:sp>
          <p:nvSpPr>
            <p:cNvPr id="32" name="Line 30"/>
            <p:cNvSpPr>
              <a:spLocks noChangeShapeType="1"/>
            </p:cNvSpPr>
            <p:nvPr/>
          </p:nvSpPr>
          <p:spPr bwMode="auto">
            <a:xfrm>
              <a:off x="1386" y="1364"/>
              <a:ext cx="2109" cy="20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Text Box 31"/>
            <p:cNvSpPr txBox="1">
              <a:spLocks noChangeArrowheads="1"/>
            </p:cNvSpPr>
            <p:nvPr/>
          </p:nvSpPr>
          <p:spPr bwMode="auto">
            <a:xfrm>
              <a:off x="1627" y="1259"/>
              <a:ext cx="1381" cy="3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p:txBody>
        </p:sp>
        <p:sp>
          <p:nvSpPr>
            <p:cNvPr id="34" name="Text Box 32"/>
            <p:cNvSpPr txBox="1">
              <a:spLocks noChangeArrowheads="1"/>
            </p:cNvSpPr>
            <p:nvPr/>
          </p:nvSpPr>
          <p:spPr bwMode="auto">
            <a:xfrm>
              <a:off x="3467" y="1364"/>
              <a:ext cx="982" cy="6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b="1" dirty="0">
                  <a:solidFill>
                    <a:srgbClr val="0000FF"/>
                  </a:solidFill>
                  <a:latin typeface="微软雅黑" panose="020B0503020204020204" pitchFamily="34" charset="-122"/>
                  <a:ea typeface="微软雅黑" panose="020B0503020204020204" pitchFamily="34" charset="-122"/>
                </a:rPr>
                <a:t>JD </a:t>
              </a:r>
              <a:r>
                <a:rPr lang="zh-CN" altLang="en-US" sz="1200" b="1" dirty="0">
                  <a:solidFill>
                    <a:srgbClr val="0000FF"/>
                  </a:solidFill>
                  <a:latin typeface="微软雅黑" panose="020B0503020204020204" pitchFamily="34" charset="-122"/>
                  <a:ea typeface="微软雅黑" panose="020B0503020204020204" pitchFamily="34" charset="-122"/>
                </a:rPr>
                <a:t>服务器为用户创建</a:t>
              </a:r>
              <a:r>
                <a:rPr lang="zh-CN" altLang="en-US" sz="1200" b="1" dirty="0">
                  <a:solidFill>
                    <a:srgbClr val="C00000"/>
                  </a:solidFill>
                  <a:latin typeface="微软雅黑" panose="020B0503020204020204" pitchFamily="34" charset="-122"/>
                  <a:ea typeface="微软雅黑" panose="020B0503020204020204" pitchFamily="34" charset="-122"/>
                </a:rPr>
                <a:t>唯一</a:t>
              </a:r>
              <a:r>
                <a:rPr lang="zh-CN" altLang="en-US" sz="1200" b="1" dirty="0">
                  <a:solidFill>
                    <a:srgbClr val="0000FF"/>
                  </a:solidFill>
                  <a:latin typeface="微软雅黑" panose="020B0503020204020204" pitchFamily="34" charset="-122"/>
                  <a:ea typeface="微软雅黑" panose="020B0503020204020204" pitchFamily="34" charset="-122"/>
                </a:rPr>
                <a:t>识别码</a:t>
              </a:r>
              <a:r>
                <a:rPr lang="en-US" altLang="zh-CN" sz="1200" b="1" dirty="0">
                  <a:solidFill>
                    <a:srgbClr val="0000FF"/>
                  </a:solidFill>
                  <a:latin typeface="微软雅黑" panose="020B0503020204020204" pitchFamily="34" charset="-122"/>
                  <a:ea typeface="微软雅黑" panose="020B0503020204020204" pitchFamily="34" charset="-122"/>
                </a:rPr>
                <a:t>ad42</a:t>
              </a:r>
            </a:p>
          </p:txBody>
        </p:sp>
        <p:grpSp>
          <p:nvGrpSpPr>
            <p:cNvPr id="35" name="Group 33"/>
            <p:cNvGrpSpPr>
              <a:grpSpLocks/>
            </p:cNvGrpSpPr>
            <p:nvPr/>
          </p:nvGrpSpPr>
          <p:grpSpPr bwMode="auto">
            <a:xfrm>
              <a:off x="4195" y="1723"/>
              <a:ext cx="910" cy="599"/>
              <a:chOff x="4195" y="1633"/>
              <a:chExt cx="910" cy="599"/>
            </a:xfrm>
          </p:grpSpPr>
          <p:sp>
            <p:nvSpPr>
              <p:cNvPr id="36" name="Line 34"/>
              <p:cNvSpPr>
                <a:spLocks noChangeShapeType="1"/>
              </p:cNvSpPr>
              <p:nvPr/>
            </p:nvSpPr>
            <p:spPr bwMode="auto">
              <a:xfrm>
                <a:off x="4407" y="1633"/>
                <a:ext cx="574" cy="59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Text Box 36"/>
              <p:cNvSpPr txBox="1">
                <a:spLocks noChangeArrowheads="1"/>
              </p:cNvSpPr>
              <p:nvPr/>
            </p:nvSpPr>
            <p:spPr bwMode="auto">
              <a:xfrm>
                <a:off x="4195" y="1796"/>
                <a:ext cx="910" cy="248"/>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75000"/>
                  </a:lnSpc>
                </a:pPr>
                <a:r>
                  <a:rPr lang="zh-CN" altLang="en-US" sz="1200" b="1" dirty="0">
                    <a:latin typeface="微软雅黑" panose="020B0503020204020204" pitchFamily="34" charset="-122"/>
                    <a:ea typeface="微软雅黑" panose="020B0503020204020204" pitchFamily="34" charset="-122"/>
                  </a:rPr>
                  <a:t>产生一个项目</a:t>
                </a:r>
                <a:endParaRPr lang="en-US" altLang="zh-CN" sz="1200" b="1" dirty="0">
                  <a:latin typeface="微软雅黑" panose="020B0503020204020204" pitchFamily="34" charset="-122"/>
                  <a:ea typeface="微软雅黑" panose="020B0503020204020204" pitchFamily="34" charset="-122"/>
                </a:endParaRPr>
              </a:p>
            </p:txBody>
          </p:sp>
        </p:grpSp>
      </p:grpSp>
      <p:grpSp>
        <p:nvGrpSpPr>
          <p:cNvPr id="39" name="Group 37"/>
          <p:cNvGrpSpPr>
            <a:grpSpLocks/>
          </p:cNvGrpSpPr>
          <p:nvPr/>
        </p:nvGrpSpPr>
        <p:grpSpPr bwMode="auto">
          <a:xfrm>
            <a:off x="1139448" y="2213269"/>
            <a:ext cx="4130071" cy="754672"/>
            <a:chOff x="195" y="1584"/>
            <a:chExt cx="3100" cy="805"/>
          </a:xfrm>
        </p:grpSpPr>
        <p:sp>
          <p:nvSpPr>
            <p:cNvPr id="40" name="Line 38"/>
            <p:cNvSpPr>
              <a:spLocks noChangeShapeType="1"/>
            </p:cNvSpPr>
            <p:nvPr/>
          </p:nvSpPr>
          <p:spPr bwMode="auto">
            <a:xfrm flipH="1">
              <a:off x="1057" y="1683"/>
              <a:ext cx="2238" cy="406"/>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Text Box 39"/>
            <p:cNvSpPr txBox="1">
              <a:spLocks noChangeArrowheads="1"/>
            </p:cNvSpPr>
            <p:nvPr/>
          </p:nvSpPr>
          <p:spPr bwMode="auto">
            <a:xfrm>
              <a:off x="1271" y="1584"/>
              <a:ext cx="1523" cy="55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a:t>
              </a:r>
              <a:r>
                <a:rPr lang="en-US" altLang="zh-CN" sz="1400" b="1" dirty="0">
                  <a:latin typeface="微软雅黑" panose="020B0503020204020204" pitchFamily="34" charset="-122"/>
                  <a:ea typeface="微软雅黑" panose="020B0503020204020204" pitchFamily="34" charset="-122"/>
                </a:rPr>
                <a:t> </a:t>
              </a:r>
            </a:p>
            <a:p>
              <a:pPr algn="ctr"/>
              <a:r>
                <a:rPr lang="en-US" altLang="zh-CN" sz="1400" b="1" dirty="0">
                  <a:solidFill>
                    <a:srgbClr val="0000FF"/>
                  </a:solidFill>
                  <a:latin typeface="微软雅黑" panose="020B0503020204020204" pitchFamily="34" charset="-122"/>
                  <a:ea typeface="微软雅黑" panose="020B0503020204020204" pitchFamily="34" charset="-122"/>
                </a:rPr>
                <a:t>set-cookie: ad42 </a:t>
              </a:r>
            </a:p>
          </p:txBody>
        </p:sp>
        <p:grpSp>
          <p:nvGrpSpPr>
            <p:cNvPr id="42" name="Group 40"/>
            <p:cNvGrpSpPr>
              <a:grpSpLocks/>
            </p:cNvGrpSpPr>
            <p:nvPr/>
          </p:nvGrpSpPr>
          <p:grpSpPr bwMode="auto">
            <a:xfrm>
              <a:off x="195" y="1836"/>
              <a:ext cx="829" cy="553"/>
              <a:chOff x="420" y="1746"/>
              <a:chExt cx="829" cy="553"/>
            </a:xfrm>
          </p:grpSpPr>
          <p:sp>
            <p:nvSpPr>
              <p:cNvPr id="43" name="AutoShape 41"/>
              <p:cNvSpPr>
                <a:spLocks noChangeArrowheads="1"/>
              </p:cNvSpPr>
              <p:nvPr/>
            </p:nvSpPr>
            <p:spPr bwMode="auto">
              <a:xfrm>
                <a:off x="420" y="1746"/>
                <a:ext cx="829"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4" name="Text Box 42"/>
              <p:cNvSpPr txBox="1">
                <a:spLocks noChangeArrowheads="1"/>
              </p:cNvSpPr>
              <p:nvPr/>
            </p:nvSpPr>
            <p:spPr bwMode="auto">
              <a:xfrm>
                <a:off x="455" y="1807"/>
                <a:ext cx="763"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b="1" dirty="0">
                    <a:solidFill>
                      <a:schemeClr val="bg1"/>
                    </a:solidFill>
                    <a:latin typeface="微软雅黑" panose="020B0503020204020204" pitchFamily="34" charset="-122"/>
                    <a:ea typeface="微软雅黑" panose="020B0503020204020204" pitchFamily="34" charset="-122"/>
                  </a:rPr>
                  <a:t>JD 1234</a:t>
                </a:r>
              </a:p>
              <a:p>
                <a:pPr algn="ctr"/>
                <a:r>
                  <a:rPr lang="en-US" altLang="zh-CN" sz="1200" b="1" dirty="0">
                    <a:solidFill>
                      <a:schemeClr val="bg1"/>
                    </a:solidFill>
                    <a:latin typeface="微软雅黑" panose="020B0503020204020204" pitchFamily="34" charset="-122"/>
                    <a:ea typeface="微软雅黑" panose="020B0503020204020204" pitchFamily="34" charset="-122"/>
                  </a:rPr>
                  <a:t>ad42</a:t>
                </a:r>
              </a:p>
            </p:txBody>
          </p:sp>
        </p:grpSp>
      </p:grpSp>
      <p:grpSp>
        <p:nvGrpSpPr>
          <p:cNvPr id="45" name="Group 43"/>
          <p:cNvGrpSpPr>
            <a:grpSpLocks/>
          </p:cNvGrpSpPr>
          <p:nvPr/>
        </p:nvGrpSpPr>
        <p:grpSpPr bwMode="auto">
          <a:xfrm>
            <a:off x="2332972" y="3071515"/>
            <a:ext cx="5171915" cy="1143727"/>
            <a:chOff x="1374" y="2480"/>
            <a:chExt cx="3882" cy="1220"/>
          </a:xfrm>
        </p:grpSpPr>
        <p:sp>
          <p:nvSpPr>
            <p:cNvPr id="46" name="Line 44"/>
            <p:cNvSpPr>
              <a:spLocks noChangeShapeType="1"/>
            </p:cNvSpPr>
            <p:nvPr/>
          </p:nvSpPr>
          <p:spPr bwMode="auto">
            <a:xfrm>
              <a:off x="1374" y="3293"/>
              <a:ext cx="2235" cy="15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7" name="Text Box 45"/>
            <p:cNvSpPr txBox="1">
              <a:spLocks noChangeArrowheads="1"/>
            </p:cNvSpPr>
            <p:nvPr/>
          </p:nvSpPr>
          <p:spPr bwMode="auto">
            <a:xfrm>
              <a:off x="1561" y="3171"/>
              <a:ext cx="1531" cy="466"/>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lnSpc>
                  <a:spcPct val="80000"/>
                </a:lnSpc>
              </a:pP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p>
            <a:p>
              <a:pPr algn="ctr">
                <a:lnSpc>
                  <a:spcPct val="80000"/>
                </a:lnSpc>
              </a:pPr>
              <a:r>
                <a:rPr lang="en-US" altLang="zh-CN" sz="1400" b="1" dirty="0">
                  <a:latin typeface="微软雅黑" panose="020B0503020204020204" pitchFamily="34" charset="-122"/>
                  <a:ea typeface="微软雅黑" panose="020B0503020204020204" pitchFamily="34" charset="-122"/>
                </a:rPr>
                <a:t>cookie: ad42</a:t>
              </a:r>
            </a:p>
          </p:txBody>
        </p:sp>
        <p:sp>
          <p:nvSpPr>
            <p:cNvPr id="48" name="Text Box 46"/>
            <p:cNvSpPr txBox="1">
              <a:spLocks noChangeArrowheads="1"/>
            </p:cNvSpPr>
            <p:nvPr/>
          </p:nvSpPr>
          <p:spPr bwMode="auto">
            <a:xfrm>
              <a:off x="3706" y="3372"/>
              <a:ext cx="408"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处理</a:t>
              </a:r>
            </a:p>
          </p:txBody>
        </p:sp>
        <p:sp>
          <p:nvSpPr>
            <p:cNvPr id="49" name="Line 47"/>
            <p:cNvSpPr>
              <a:spLocks noChangeShapeType="1"/>
            </p:cNvSpPr>
            <p:nvPr/>
          </p:nvSpPr>
          <p:spPr bwMode="auto">
            <a:xfrm flipV="1">
              <a:off x="4211" y="2480"/>
              <a:ext cx="1045" cy="971"/>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0" name="Text Box 48"/>
            <p:cNvSpPr txBox="1">
              <a:spLocks noChangeArrowheads="1"/>
            </p:cNvSpPr>
            <p:nvPr/>
          </p:nvSpPr>
          <p:spPr bwMode="auto">
            <a:xfrm>
              <a:off x="4494" y="2844"/>
              <a:ext cx="37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200" b="1" dirty="0">
                  <a:latin typeface="微软雅黑" panose="020B0503020204020204" pitchFamily="34" charset="-122"/>
                  <a:ea typeface="微软雅黑" panose="020B0503020204020204" pitchFamily="34" charset="-122"/>
                </a:rPr>
                <a:t>访问</a:t>
              </a:r>
            </a:p>
          </p:txBody>
        </p:sp>
      </p:grpSp>
      <p:grpSp>
        <p:nvGrpSpPr>
          <p:cNvPr id="59" name="组合 58"/>
          <p:cNvGrpSpPr/>
          <p:nvPr/>
        </p:nvGrpSpPr>
        <p:grpSpPr>
          <a:xfrm>
            <a:off x="777810" y="3396225"/>
            <a:ext cx="1613074" cy="816038"/>
            <a:chOff x="777810" y="3396225"/>
            <a:chExt cx="1613074" cy="816038"/>
          </a:xfrm>
        </p:grpSpPr>
        <p:sp>
          <p:nvSpPr>
            <p:cNvPr id="18" name="Text Box 16"/>
            <p:cNvSpPr txBox="1">
              <a:spLocks noChangeArrowheads="1"/>
            </p:cNvSpPr>
            <p:nvPr/>
          </p:nvSpPr>
          <p:spPr bwMode="auto">
            <a:xfrm>
              <a:off x="777810" y="339622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zh-CN" altLang="en-US" sz="1400" b="1" dirty="0">
                  <a:latin typeface="微软雅黑" panose="020B0503020204020204" pitchFamily="34" charset="-122"/>
                  <a:ea typeface="微软雅黑" panose="020B0503020204020204" pitchFamily="34" charset="-122"/>
                </a:rPr>
                <a:t>几天后</a:t>
              </a:r>
              <a:endParaRPr lang="en-US" altLang="zh-CN" sz="1400" b="1" dirty="0">
                <a:latin typeface="微软雅黑" panose="020B0503020204020204" pitchFamily="34" charset="-122"/>
                <a:ea typeface="微软雅黑" panose="020B0503020204020204" pitchFamily="34" charset="-122"/>
              </a:endParaRPr>
            </a:p>
          </p:txBody>
        </p:sp>
        <p:grpSp>
          <p:nvGrpSpPr>
            <p:cNvPr id="51" name="Group 49"/>
            <p:cNvGrpSpPr>
              <a:grpSpLocks/>
            </p:cNvGrpSpPr>
            <p:nvPr/>
          </p:nvGrpSpPr>
          <p:grpSpPr bwMode="auto">
            <a:xfrm>
              <a:off x="1053274" y="3696648"/>
              <a:ext cx="1337610" cy="515615"/>
              <a:chOff x="666" y="1746"/>
              <a:chExt cx="1004" cy="550"/>
            </a:xfrm>
          </p:grpSpPr>
          <p:sp>
            <p:nvSpPr>
              <p:cNvPr id="52" name="AutoShape 50"/>
              <p:cNvSpPr>
                <a:spLocks noChangeArrowheads="1"/>
              </p:cNvSpPr>
              <p:nvPr/>
            </p:nvSpPr>
            <p:spPr bwMode="auto">
              <a:xfrm>
                <a:off x="735" y="1746"/>
                <a:ext cx="829" cy="486"/>
              </a:xfrm>
              <a:prstGeom prst="can">
                <a:avLst>
                  <a:gd name="adj" fmla="val 25000"/>
                </a:avLst>
              </a:prstGeom>
              <a:solidFill>
                <a:srgbClr val="0000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3" name="Text Box 51"/>
              <p:cNvSpPr txBox="1">
                <a:spLocks noChangeArrowheads="1"/>
              </p:cNvSpPr>
              <p:nvPr/>
            </p:nvSpPr>
            <p:spPr bwMode="auto">
              <a:xfrm>
                <a:off x="666" y="1804"/>
                <a:ext cx="1004"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en-US" altLang="zh-CN" sz="1200" b="1" dirty="0">
                    <a:solidFill>
                      <a:schemeClr val="bg1"/>
                    </a:solidFill>
                    <a:latin typeface="微软雅黑" panose="020B0503020204020204" pitchFamily="34" charset="-122"/>
                    <a:ea typeface="微软雅黑" panose="020B0503020204020204" pitchFamily="34" charset="-122"/>
                  </a:rPr>
                  <a:t>JD 1234</a:t>
                </a:r>
              </a:p>
              <a:p>
                <a:pPr algn="ctr"/>
                <a:r>
                  <a:rPr lang="en-US" altLang="zh-CN" sz="1200" b="1" dirty="0">
                    <a:solidFill>
                      <a:schemeClr val="bg1"/>
                    </a:solidFill>
                    <a:latin typeface="微软雅黑" panose="020B0503020204020204" pitchFamily="34" charset="-122"/>
                    <a:ea typeface="微软雅黑" panose="020B0503020204020204" pitchFamily="34" charset="-122"/>
                  </a:rPr>
                  <a:t>ad42</a:t>
                </a:r>
              </a:p>
            </p:txBody>
          </p:sp>
        </p:grpSp>
      </p:grpSp>
      <p:sp>
        <p:nvSpPr>
          <p:cNvPr id="54" name="Text Box 52"/>
          <p:cNvSpPr txBox="1">
            <a:spLocks noChangeArrowheads="1"/>
          </p:cNvSpPr>
          <p:nvPr/>
        </p:nvSpPr>
        <p:spPr bwMode="auto">
          <a:xfrm>
            <a:off x="7504887" y="3158476"/>
            <a:ext cx="723275" cy="523220"/>
          </a:xfrm>
          <a:prstGeom prst="rect">
            <a:avLst/>
          </a:prstGeom>
          <a:noFill/>
          <a:ln>
            <a:noFill/>
          </a:ln>
          <a:effec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solidFill>
                  <a:srgbClr val="C00000"/>
                </a:solidFill>
                <a:latin typeface="微软雅黑" panose="020B0503020204020204" pitchFamily="34" charset="-122"/>
                <a:ea typeface="微软雅黑" panose="020B0503020204020204" pitchFamily="34" charset="-122"/>
              </a:rPr>
              <a:t>后台</a:t>
            </a:r>
            <a:endParaRPr lang="en-US" altLang="zh-CN" sz="1400" b="1" dirty="0">
              <a:solidFill>
                <a:srgbClr val="C00000"/>
              </a:solidFill>
              <a:latin typeface="微软雅黑" panose="020B0503020204020204" pitchFamily="34" charset="-122"/>
              <a:ea typeface="微软雅黑" panose="020B0503020204020204" pitchFamily="34" charset="-122"/>
            </a:endParaRPr>
          </a:p>
          <a:p>
            <a:pPr algn="ctr"/>
            <a:r>
              <a:rPr lang="zh-CN" altLang="en-US" sz="1400" b="1" dirty="0">
                <a:solidFill>
                  <a:srgbClr val="C00000"/>
                </a:solidFill>
                <a:latin typeface="微软雅黑" panose="020B0503020204020204" pitchFamily="34" charset="-122"/>
                <a:ea typeface="微软雅黑" panose="020B0503020204020204" pitchFamily="34" charset="-122"/>
              </a:rPr>
              <a:t>数据库</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56" name="Rectangle 6"/>
          <p:cNvSpPr>
            <a:spLocks noChangeArrowheads="1"/>
          </p:cNvSpPr>
          <p:nvPr/>
        </p:nvSpPr>
        <p:spPr bwMode="auto">
          <a:xfrm>
            <a:off x="5592513" y="1399786"/>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服务器</a:t>
            </a:r>
          </a:p>
        </p:txBody>
      </p:sp>
      <p:sp>
        <p:nvSpPr>
          <p:cNvPr id="57" name="Rectangle 7"/>
          <p:cNvSpPr>
            <a:spLocks noChangeArrowheads="1"/>
          </p:cNvSpPr>
          <p:nvPr/>
        </p:nvSpPr>
        <p:spPr bwMode="auto">
          <a:xfrm>
            <a:off x="1403785" y="1399786"/>
            <a:ext cx="72936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用户 </a:t>
            </a:r>
            <a:r>
              <a:rPr kumimoji="1" lang="en-US" altLang="zh-CN" sz="1400" b="1" dirty="0">
                <a:latin typeface="微软雅黑" pitchFamily="34" charset="-122"/>
                <a:ea typeface="微软雅黑" pitchFamily="34" charset="-122"/>
              </a:rPr>
              <a:t>A</a:t>
            </a:r>
            <a:endParaRPr kumimoji="1" lang="zh-CN" altLang="en-US" sz="1400" b="1" dirty="0">
              <a:latin typeface="微软雅黑" pitchFamily="34" charset="-122"/>
              <a:ea typeface="微软雅黑" pitchFamily="34" charset="-122"/>
            </a:endParaRPr>
          </a:p>
        </p:txBody>
      </p:sp>
    </p:spTree>
    <p:extLst>
      <p:ext uri="{BB962C8B-B14F-4D97-AF65-F5344CB8AC3E}">
        <p14:creationId xmlns:p14="http://schemas.microsoft.com/office/powerpoint/2010/main" val="38624007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right)">
                                      <p:cBhvr>
                                        <p:cTn id="12" dur="10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1000"/>
                                        <p:tgtEl>
                                          <p:spTgt spid="19"/>
                                        </p:tgtEl>
                                      </p:cBhvr>
                                    </p:animEffect>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right)">
                                      <p:cBhvr>
                                        <p:cTn id="21" dur="10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wipe(left)">
                                      <p:cBhvr>
                                        <p:cTn id="30" dur="1000"/>
                                        <p:tgtEl>
                                          <p:spTgt spid="45"/>
                                        </p:tgtEl>
                                      </p:cBhvr>
                                    </p:animEffect>
                                  </p:childTnLst>
                                </p:cTn>
                              </p:par>
                            </p:childTnLst>
                          </p:cTn>
                        </p:par>
                        <p:par>
                          <p:cTn id="31" fill="hold">
                            <p:stCondLst>
                              <p:cond delay="1000"/>
                            </p:stCondLst>
                            <p:childTnLst>
                              <p:par>
                                <p:cTn id="32" presetID="22" presetClass="entr" presetSubtype="2"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right)">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23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7010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6.4.4  </a:t>
            </a:r>
            <a:r>
              <a:rPr lang="zh-CN" altLang="en-US" sz="2400" b="1" dirty="0">
                <a:solidFill>
                  <a:schemeClr val="bg1"/>
                </a:solidFill>
                <a:latin typeface="微软雅黑" pitchFamily="34" charset="-122"/>
                <a:ea typeface="微软雅黑" pitchFamily="34" charset="-122"/>
              </a:rPr>
              <a:t>万维网的文档</a:t>
            </a:r>
          </a:p>
        </p:txBody>
      </p:sp>
      <p:sp>
        <p:nvSpPr>
          <p:cNvPr id="6" name="Rectangle 68"/>
          <p:cNvSpPr>
            <a:spLocks noChangeArrowheads="1"/>
          </p:cNvSpPr>
          <p:nvPr/>
        </p:nvSpPr>
        <p:spPr bwMode="auto">
          <a:xfrm>
            <a:off x="556963" y="991955"/>
            <a:ext cx="8048776" cy="25160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在一个客户程序主窗口上显示出的万维网文档称为</a:t>
            </a:r>
            <a:r>
              <a:rPr lang="zh-CN" altLang="en-US" sz="2000" b="1" dirty="0">
                <a:solidFill>
                  <a:srgbClr val="C00000"/>
                </a:solidFill>
                <a:latin typeface="微软雅黑" pitchFamily="34" charset="-122"/>
                <a:ea typeface="微软雅黑" pitchFamily="34" charset="-122"/>
              </a:rPr>
              <a:t>页面</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(page)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页面制作的标准语言：</a:t>
            </a:r>
            <a:r>
              <a:rPr lang="en-US" altLang="zh-CN" sz="2000" b="1" dirty="0">
                <a:solidFill>
                  <a:srgbClr val="C00000"/>
                </a:solidFill>
                <a:latin typeface="微软雅黑" pitchFamily="34" charset="-122"/>
                <a:ea typeface="微软雅黑" pitchFamily="34" charset="-122"/>
              </a:rPr>
              <a:t>HTML</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分为：</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静态</a:t>
            </a:r>
            <a:r>
              <a:rPr lang="zh-CN" altLang="en-US" sz="2000" b="1" dirty="0">
                <a:latin typeface="微软雅黑" pitchFamily="34" charset="-122"/>
                <a:ea typeface="微软雅黑" pitchFamily="34" charset="-122"/>
              </a:rPr>
              <a:t>万维网文档。内容不会改变。简单。</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动态</a:t>
            </a:r>
            <a:r>
              <a:rPr lang="zh-CN" altLang="en-US" sz="2000" b="1" dirty="0">
                <a:latin typeface="微软雅黑" pitchFamily="34" charset="-122"/>
                <a:ea typeface="微软雅黑" pitchFamily="34" charset="-122"/>
              </a:rPr>
              <a:t>万维网文档。文档的内容由应用程序动态创建。</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活动</a:t>
            </a:r>
            <a:r>
              <a:rPr lang="zh-CN" altLang="en-US" sz="2000" b="1" dirty="0">
                <a:latin typeface="微软雅黑" pitchFamily="34" charset="-122"/>
                <a:ea typeface="微软雅黑" pitchFamily="34" charset="-122"/>
              </a:rPr>
              <a:t>万维网文档。由浏览器端改变文档的内容。</a:t>
            </a:r>
          </a:p>
        </p:txBody>
      </p:sp>
    </p:spTree>
    <p:extLst>
      <p:ext uri="{BB962C8B-B14F-4D97-AF65-F5344CB8AC3E}">
        <p14:creationId xmlns:p14="http://schemas.microsoft.com/office/powerpoint/2010/main" val="32304394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8"/>
          <p:cNvSpPr>
            <a:spLocks noChangeArrowheads="1"/>
          </p:cNvSpPr>
          <p:nvPr/>
        </p:nvSpPr>
        <p:spPr bwMode="auto">
          <a:xfrm>
            <a:off x="556963" y="991955"/>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超文本标记语言 </a:t>
            </a:r>
            <a:r>
              <a:rPr lang="en-US" altLang="zh-CN" sz="2000" b="1" dirty="0">
                <a:latin typeface="微软雅黑" pitchFamily="34" charset="-122"/>
                <a:ea typeface="微软雅黑" pitchFamily="34" charset="-122"/>
              </a:rPr>
              <a:t>HTML (</a:t>
            </a:r>
            <a:r>
              <a:rPr lang="en-US" altLang="zh-CN" sz="2000" b="1" dirty="0" err="1">
                <a:latin typeface="微软雅黑" pitchFamily="34" charset="-122"/>
                <a:ea typeface="微软雅黑" pitchFamily="34" charset="-122"/>
              </a:rPr>
              <a:t>HyperText</a:t>
            </a:r>
            <a:r>
              <a:rPr lang="en-US" altLang="zh-CN" sz="2000" b="1" dirty="0">
                <a:latin typeface="微软雅黑" pitchFamily="34" charset="-122"/>
                <a:ea typeface="微软雅黑" pitchFamily="34" charset="-122"/>
              </a:rPr>
              <a:t> Markup Language) </a:t>
            </a:r>
            <a:r>
              <a:rPr lang="zh-CN" altLang="en-US" sz="2000" b="1" dirty="0">
                <a:latin typeface="微软雅黑" pitchFamily="34" charset="-122"/>
                <a:ea typeface="微软雅黑" pitchFamily="34" charset="-122"/>
              </a:rPr>
              <a:t>是一种制作万维网页面的</a:t>
            </a:r>
            <a:r>
              <a:rPr lang="zh-CN" altLang="en-US" sz="2000" b="1" dirty="0">
                <a:solidFill>
                  <a:srgbClr val="C00000"/>
                </a:solidFill>
                <a:latin typeface="微软雅黑" pitchFamily="34" charset="-122"/>
                <a:ea typeface="微软雅黑" pitchFamily="34" charset="-122"/>
              </a:rPr>
              <a:t>标准语言，</a:t>
            </a:r>
            <a:r>
              <a:rPr lang="zh-CN" altLang="en-US" sz="2000" b="1" dirty="0">
                <a:latin typeface="微软雅黑" pitchFamily="34" charset="-122"/>
                <a:ea typeface="微软雅黑" pitchFamily="34" charset="-122"/>
              </a:rPr>
              <a:t>它消除了不同计算机之间信息交流的障碍，是万维网的重要基础 </a:t>
            </a:r>
            <a:r>
              <a:rPr lang="en-US" altLang="zh-CN" sz="2000" b="1" dirty="0">
                <a:latin typeface="微软雅黑" pitchFamily="34" charset="-122"/>
                <a:ea typeface="微软雅黑" pitchFamily="34" charset="-122"/>
              </a:rPr>
              <a:t>[RFC 2854]</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最新 </a:t>
            </a:r>
            <a:r>
              <a:rPr lang="en-US" altLang="zh-CN" sz="2000" b="1" dirty="0">
                <a:latin typeface="微软雅黑" pitchFamily="34" charset="-122"/>
                <a:ea typeface="微软雅黑" pitchFamily="34" charset="-122"/>
              </a:rPr>
              <a:t>HTML 5.0 </a:t>
            </a:r>
            <a:r>
              <a:rPr lang="zh-CN" altLang="en-US" sz="2000" b="1" dirty="0">
                <a:latin typeface="微软雅黑" pitchFamily="34" charset="-122"/>
                <a:ea typeface="微软雅黑" pitchFamily="34" charset="-122"/>
              </a:rPr>
              <a:t>增加了</a:t>
            </a:r>
            <a:r>
              <a:rPr lang="en-US" altLang="zh-CN" sz="2000" b="1" dirty="0">
                <a:latin typeface="微软雅黑" pitchFamily="34" charset="-122"/>
                <a:ea typeface="微软雅黑" pitchFamily="34" charset="-122"/>
              </a:rPr>
              <a:t>&lt;audio&gt;</a:t>
            </a:r>
            <a:r>
              <a:rPr lang="zh-CN" altLang="en-US" sz="2000" b="1" dirty="0">
                <a:latin typeface="微软雅黑" pitchFamily="34" charset="-122"/>
                <a:ea typeface="微软雅黑" pitchFamily="34" charset="-122"/>
              </a:rPr>
              <a:t>和</a:t>
            </a:r>
            <a:r>
              <a:rPr lang="en-US" altLang="zh-CN" sz="2000" b="1" dirty="0">
                <a:latin typeface="微软雅黑" pitchFamily="34" charset="-122"/>
                <a:ea typeface="微软雅黑" pitchFamily="34" charset="-122"/>
              </a:rPr>
              <a:t>&lt;video&gt;</a:t>
            </a:r>
            <a:r>
              <a:rPr lang="zh-CN" altLang="en-US" sz="2000" b="1" dirty="0">
                <a:latin typeface="微软雅黑" pitchFamily="34" charset="-122"/>
                <a:ea typeface="微软雅黑" pitchFamily="34" charset="-122"/>
              </a:rPr>
              <a:t>两个标签，实现对多媒体中的音频、视频使用的支持，增加了能够在移动设备上支持多媒体功能。</a:t>
            </a:r>
            <a:endParaRPr lang="en-US" altLang="zh-CN" sz="2000" b="1" dirty="0">
              <a:latin typeface="微软雅黑" pitchFamily="34" charset="-122"/>
              <a:ea typeface="微软雅黑" pitchFamily="34" charset="-122"/>
            </a:endParaRPr>
          </a:p>
        </p:txBody>
      </p:sp>
      <p:sp>
        <p:nvSpPr>
          <p:cNvPr id="8" name="对角圆角矩形 7"/>
          <p:cNvSpPr/>
          <p:nvPr/>
        </p:nvSpPr>
        <p:spPr>
          <a:xfrm>
            <a:off x="1530819" y="3561299"/>
            <a:ext cx="6112855"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1686759" y="3685503"/>
            <a:ext cx="5823750" cy="759182"/>
          </a:xfrm>
          <a:prstGeom prst="rect">
            <a:avLst/>
          </a:prstGeom>
        </p:spPr>
        <p:txBody>
          <a:bodyPr wrap="square">
            <a:spAutoFit/>
          </a:bodyPr>
          <a:lstStyle/>
          <a:p>
            <a:pPr eaLnBrk="0" hangingPunct="0">
              <a:lnSpc>
                <a:spcPts val="2600"/>
              </a:lnSpc>
              <a:buClr>
                <a:srgbClr val="0070C0"/>
              </a:buClr>
            </a:pPr>
            <a:r>
              <a:rPr lang="zh-CN" altLang="en-US" b="1" dirty="0">
                <a:solidFill>
                  <a:schemeClr val="bg1"/>
                </a:solidFill>
                <a:latin typeface="微软雅黑" pitchFamily="34" charset="-122"/>
                <a:ea typeface="微软雅黑" pitchFamily="34" charset="-122"/>
              </a:rPr>
              <a:t>注意：</a:t>
            </a:r>
            <a:r>
              <a:rPr lang="en-US" altLang="zh-CN" b="1" dirty="0">
                <a:solidFill>
                  <a:schemeClr val="bg1"/>
                </a:solidFill>
                <a:latin typeface="微软雅黑" pitchFamily="34" charset="-122"/>
                <a:ea typeface="微软雅黑" pitchFamily="34" charset="-122"/>
              </a:rPr>
              <a:t>HTML </a:t>
            </a:r>
            <a:r>
              <a:rPr lang="zh-CN" altLang="en-US" b="1" dirty="0">
                <a:solidFill>
                  <a:srgbClr val="FFFF00"/>
                </a:solidFill>
                <a:latin typeface="微软雅黑" pitchFamily="34" charset="-122"/>
                <a:ea typeface="微软雅黑" pitchFamily="34" charset="-122"/>
              </a:rPr>
              <a:t>不是</a:t>
            </a:r>
            <a:r>
              <a:rPr lang="zh-CN" altLang="en-US" b="1" dirty="0">
                <a:solidFill>
                  <a:schemeClr val="bg1"/>
                </a:solidFill>
                <a:latin typeface="微软雅黑" pitchFamily="34" charset="-122"/>
                <a:ea typeface="微软雅黑" pitchFamily="34" charset="-122"/>
              </a:rPr>
              <a:t>应用层的协议，它只是万维网</a:t>
            </a:r>
            <a:r>
              <a:rPr lang="zh-CN" altLang="en-US" b="1" dirty="0">
                <a:solidFill>
                  <a:srgbClr val="FFFF00"/>
                </a:solidFill>
                <a:latin typeface="微软雅黑" pitchFamily="34" charset="-122"/>
                <a:ea typeface="微软雅黑" pitchFamily="34" charset="-122"/>
              </a:rPr>
              <a:t>浏览器使用的一种语言。</a:t>
            </a:r>
          </a:p>
        </p:txBody>
      </p:sp>
      <p:sp>
        <p:nvSpPr>
          <p:cNvPr id="7"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超文本标记语言 </a:t>
            </a:r>
            <a:r>
              <a:rPr lang="en-US" altLang="zh-CN" sz="2000" b="1" dirty="0">
                <a:solidFill>
                  <a:schemeClr val="bg1"/>
                </a:solidFill>
                <a:latin typeface="微软雅黑" pitchFamily="34" charset="-122"/>
                <a:ea typeface="微软雅黑" pitchFamily="34" charset="-122"/>
              </a:rPr>
              <a:t>HTML</a:t>
            </a:r>
          </a:p>
        </p:txBody>
      </p:sp>
    </p:spTree>
    <p:extLst>
      <p:ext uri="{BB962C8B-B14F-4D97-AF65-F5344CB8AC3E}">
        <p14:creationId xmlns:p14="http://schemas.microsoft.com/office/powerpoint/2010/main" val="36394079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超文本标记语言 </a:t>
            </a:r>
            <a:r>
              <a:rPr lang="en-US" altLang="zh-CN" sz="2000" b="1" dirty="0">
                <a:solidFill>
                  <a:schemeClr val="bg1"/>
                </a:solidFill>
                <a:latin typeface="微软雅黑" pitchFamily="34" charset="-122"/>
                <a:ea typeface="微软雅黑" pitchFamily="34" charset="-122"/>
              </a:rPr>
              <a:t>HTML</a:t>
            </a:r>
          </a:p>
        </p:txBody>
      </p:sp>
      <p:sp>
        <p:nvSpPr>
          <p:cNvPr id="6" name="Rectangle 68"/>
          <p:cNvSpPr>
            <a:spLocks noChangeArrowheads="1"/>
          </p:cNvSpPr>
          <p:nvPr/>
        </p:nvSpPr>
        <p:spPr bwMode="auto">
          <a:xfrm>
            <a:off x="556963" y="96851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定义了许多用于</a:t>
            </a:r>
            <a:r>
              <a:rPr lang="zh-CN" altLang="en-US" sz="2000" b="1" dirty="0">
                <a:solidFill>
                  <a:srgbClr val="C00000"/>
                </a:solidFill>
                <a:latin typeface="微软雅黑" pitchFamily="34" charset="-122"/>
                <a:ea typeface="微软雅黑" pitchFamily="34" charset="-122"/>
              </a:rPr>
              <a:t>排版的命令</a:t>
            </a:r>
            <a:r>
              <a:rPr lang="zh-CN" altLang="en-US" sz="2000" b="1" dirty="0">
                <a:latin typeface="微软雅黑" pitchFamily="34" charset="-122"/>
                <a:ea typeface="微软雅黑" pitchFamily="34" charset="-122"/>
              </a:rPr>
              <a:t>（即</a:t>
            </a:r>
            <a:r>
              <a:rPr lang="zh-CN" altLang="en-US" sz="2000" b="1" dirty="0">
                <a:solidFill>
                  <a:srgbClr val="C00000"/>
                </a:solidFill>
                <a:latin typeface="微软雅黑" pitchFamily="34" charset="-122"/>
                <a:ea typeface="微软雅黑" pitchFamily="34" charset="-122"/>
              </a:rPr>
              <a:t>标签</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把各种标签嵌入到万维网的页面中，构成了所谓的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文档是一种可以用任何文本编辑器创建的 </a:t>
            </a:r>
            <a:r>
              <a:rPr lang="en-US" altLang="zh-CN" sz="2000" b="1" dirty="0">
                <a:solidFill>
                  <a:srgbClr val="C00000"/>
                </a:solidFill>
                <a:latin typeface="微软雅黑" pitchFamily="34" charset="-122"/>
                <a:ea typeface="微软雅黑" pitchFamily="34" charset="-122"/>
              </a:rPr>
              <a:t>ASCII </a:t>
            </a:r>
            <a:r>
              <a:rPr lang="zh-CN" altLang="en-US" sz="2000" b="1" dirty="0">
                <a:solidFill>
                  <a:srgbClr val="C00000"/>
                </a:solidFill>
                <a:latin typeface="微软雅黑" pitchFamily="34" charset="-122"/>
                <a:ea typeface="微软雅黑" pitchFamily="34" charset="-122"/>
              </a:rPr>
              <a:t>码文件。</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文档的</a:t>
            </a:r>
            <a:r>
              <a:rPr lang="zh-CN" altLang="en-US" sz="2000" b="1" dirty="0">
                <a:solidFill>
                  <a:srgbClr val="C00000"/>
                </a:solidFill>
                <a:latin typeface="微软雅黑" pitchFamily="34" charset="-122"/>
                <a:ea typeface="微软雅黑" pitchFamily="34" charset="-122"/>
              </a:rPr>
              <a:t>后缀：</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htm</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27588526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pic>
        <p:nvPicPr>
          <p:cNvPr id="25" name="Picture 5" descr="HTML"/>
          <p:cNvPicPr>
            <a:picLocks noChangeAspect="1" noChangeArrowheads="1"/>
          </p:cNvPicPr>
          <p:nvPr/>
        </p:nvPicPr>
        <p:blipFill>
          <a:blip r:embed="rId2">
            <a:extLst>
              <a:ext uri="{28A0092B-C50C-407E-A947-70E740481C1C}">
                <a14:useLocalDpi xmlns:a14="http://schemas.microsoft.com/office/drawing/2010/main" val="0"/>
              </a:ext>
            </a:extLst>
          </a:blip>
          <a:srcRect r="39665" b="65755"/>
          <a:stretch>
            <a:fillRect/>
          </a:stretch>
        </p:blipFill>
        <p:spPr bwMode="auto">
          <a:xfrm>
            <a:off x="5337736" y="2697912"/>
            <a:ext cx="3078295" cy="13103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51702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19" name="Group 9"/>
          <p:cNvGrpSpPr>
            <a:grpSpLocks/>
          </p:cNvGrpSpPr>
          <p:nvPr/>
        </p:nvGrpSpPr>
        <p:grpSpPr bwMode="auto">
          <a:xfrm>
            <a:off x="3360317" y="1033391"/>
            <a:ext cx="4176159" cy="369368"/>
            <a:chOff x="1426" y="630"/>
            <a:chExt cx="4686" cy="449"/>
          </a:xfrm>
        </p:grpSpPr>
        <p:sp>
          <p:nvSpPr>
            <p:cNvPr id="20"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1800" b="1" dirty="0">
                  <a:solidFill>
                    <a:sysClr val="windowText" lastClr="000000"/>
                  </a:solidFill>
                  <a:latin typeface="微软雅黑" pitchFamily="34" charset="-122"/>
                  <a:ea typeface="微软雅黑" pitchFamily="34" charset="-122"/>
                </a:rPr>
                <a:t>HTML </a:t>
              </a:r>
              <a:r>
                <a:rPr lang="zh-CN" altLang="en-US" sz="1800" b="1" dirty="0">
                  <a:solidFill>
                    <a:sysClr val="windowText" lastClr="000000"/>
                  </a:solidFill>
                  <a:latin typeface="微软雅黑" pitchFamily="34" charset="-122"/>
                  <a:ea typeface="微软雅黑" pitchFamily="34" charset="-122"/>
                </a:rPr>
                <a:t>文档开始</a:t>
              </a:r>
            </a:p>
          </p:txBody>
        </p:sp>
        <p:sp>
          <p:nvSpPr>
            <p:cNvPr id="21"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22" name="Group 9"/>
          <p:cNvGrpSpPr>
            <a:grpSpLocks/>
          </p:cNvGrpSpPr>
          <p:nvPr/>
        </p:nvGrpSpPr>
        <p:grpSpPr bwMode="auto">
          <a:xfrm>
            <a:off x="3360317" y="3466604"/>
            <a:ext cx="4176159" cy="369368"/>
            <a:chOff x="1426" y="630"/>
            <a:chExt cx="4686" cy="449"/>
          </a:xfrm>
        </p:grpSpPr>
        <p:sp>
          <p:nvSpPr>
            <p:cNvPr id="23"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en-US" altLang="zh-CN" sz="1800" b="1" dirty="0">
                  <a:solidFill>
                    <a:sysClr val="windowText" lastClr="000000"/>
                  </a:solidFill>
                  <a:latin typeface="微软雅黑" pitchFamily="34" charset="-122"/>
                  <a:ea typeface="微软雅黑" pitchFamily="34" charset="-122"/>
                </a:rPr>
                <a:t>HTML </a:t>
              </a:r>
              <a:r>
                <a:rPr lang="zh-CN" altLang="en-US" sz="1800" b="1" dirty="0">
                  <a:solidFill>
                    <a:sysClr val="windowText" lastClr="000000"/>
                  </a:solidFill>
                  <a:latin typeface="微软雅黑" pitchFamily="34" charset="-122"/>
                  <a:ea typeface="微软雅黑" pitchFamily="34" charset="-122"/>
                </a:rPr>
                <a:t>文档结束</a:t>
              </a:r>
            </a:p>
          </p:txBody>
        </p:sp>
        <p:sp>
          <p:nvSpPr>
            <p:cNvPr id="24"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206866762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5" name="Group 9"/>
          <p:cNvGrpSpPr>
            <a:grpSpLocks/>
          </p:cNvGrpSpPr>
          <p:nvPr/>
        </p:nvGrpSpPr>
        <p:grpSpPr bwMode="auto">
          <a:xfrm>
            <a:off x="3271543" y="1311151"/>
            <a:ext cx="3409728" cy="369368"/>
            <a:chOff x="1426" y="630"/>
            <a:chExt cx="3826" cy="449"/>
          </a:xfrm>
        </p:grpSpPr>
        <p:sp>
          <p:nvSpPr>
            <p:cNvPr id="26"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首部开始</a:t>
              </a:r>
            </a:p>
          </p:txBody>
        </p:sp>
        <p:sp>
          <p:nvSpPr>
            <p:cNvPr id="27"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31" name="Group 9"/>
          <p:cNvGrpSpPr>
            <a:grpSpLocks/>
          </p:cNvGrpSpPr>
          <p:nvPr/>
        </p:nvGrpSpPr>
        <p:grpSpPr bwMode="auto">
          <a:xfrm>
            <a:off x="3279507" y="1852127"/>
            <a:ext cx="3409728" cy="369368"/>
            <a:chOff x="1426" y="630"/>
            <a:chExt cx="3826" cy="449"/>
          </a:xfrm>
        </p:grpSpPr>
        <p:sp>
          <p:nvSpPr>
            <p:cNvPr id="32"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首部结束</a:t>
              </a:r>
            </a:p>
          </p:txBody>
        </p:sp>
        <p:sp>
          <p:nvSpPr>
            <p:cNvPr id="33"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18380375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463312" y="1580951"/>
            <a:ext cx="4007387" cy="777521"/>
            <a:chOff x="2610222" y="1700563"/>
            <a:chExt cx="4007387" cy="777521"/>
          </a:xfrm>
        </p:grpSpPr>
        <p:grpSp>
          <p:nvGrpSpPr>
            <p:cNvPr id="22" name="Group 9"/>
            <p:cNvGrpSpPr>
              <a:grpSpLocks/>
            </p:cNvGrpSpPr>
            <p:nvPr/>
          </p:nvGrpSpPr>
          <p:grpSpPr bwMode="auto">
            <a:xfrm>
              <a:off x="4398525" y="2029742"/>
              <a:ext cx="2219084" cy="448342"/>
              <a:chOff x="3021" y="534"/>
              <a:chExt cx="2490" cy="545"/>
            </a:xfrm>
          </p:grpSpPr>
          <p:sp>
            <p:nvSpPr>
              <p:cNvPr id="24" name="Text Box 5"/>
              <p:cNvSpPr txBox="1">
                <a:spLocks noChangeArrowheads="1"/>
              </p:cNvSpPr>
              <p:nvPr/>
            </p:nvSpPr>
            <p:spPr bwMode="auto">
              <a:xfrm>
                <a:off x="4009" y="630"/>
                <a:ext cx="1502"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文档的标题</a:t>
                </a:r>
              </a:p>
            </p:txBody>
          </p:sp>
          <p:sp>
            <p:nvSpPr>
              <p:cNvPr id="28" name="Line 6"/>
              <p:cNvSpPr>
                <a:spLocks noChangeShapeType="1"/>
              </p:cNvSpPr>
              <p:nvPr/>
            </p:nvSpPr>
            <p:spPr bwMode="auto">
              <a:xfrm flipH="1" flipV="1">
                <a:off x="3021" y="534"/>
                <a:ext cx="988" cy="31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610222" y="1700563"/>
              <a:ext cx="1788042"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30752813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0" name="Group 9"/>
          <p:cNvGrpSpPr>
            <a:grpSpLocks/>
          </p:cNvGrpSpPr>
          <p:nvPr/>
        </p:nvGrpSpPr>
        <p:grpSpPr bwMode="auto">
          <a:xfrm>
            <a:off x="3279507" y="2125847"/>
            <a:ext cx="3409728" cy="369368"/>
            <a:chOff x="1426" y="630"/>
            <a:chExt cx="3826" cy="449"/>
          </a:xfrm>
        </p:grpSpPr>
        <p:sp>
          <p:nvSpPr>
            <p:cNvPr id="25"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主体开始</a:t>
              </a:r>
            </a:p>
          </p:txBody>
        </p:sp>
        <p:sp>
          <p:nvSpPr>
            <p:cNvPr id="26"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grpSp>
        <p:nvGrpSpPr>
          <p:cNvPr id="27" name="Group 9"/>
          <p:cNvGrpSpPr>
            <a:grpSpLocks/>
          </p:cNvGrpSpPr>
          <p:nvPr/>
        </p:nvGrpSpPr>
        <p:grpSpPr bwMode="auto">
          <a:xfrm>
            <a:off x="3279507" y="3191982"/>
            <a:ext cx="3409728" cy="369368"/>
            <a:chOff x="1426" y="630"/>
            <a:chExt cx="3826" cy="449"/>
          </a:xfrm>
        </p:grpSpPr>
        <p:sp>
          <p:nvSpPr>
            <p:cNvPr id="29"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主体结束</a:t>
              </a:r>
            </a:p>
          </p:txBody>
        </p:sp>
        <p:sp>
          <p:nvSpPr>
            <p:cNvPr id="30" name="Line 6"/>
            <p:cNvSpPr>
              <a:spLocks noChangeShapeType="1"/>
            </p:cNvSpPr>
            <p:nvPr/>
          </p:nvSpPr>
          <p:spPr bwMode="auto">
            <a:xfrm flipH="1">
              <a:off x="1426" y="845"/>
              <a:ext cx="2583" cy="0"/>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Tree>
    <p:extLst>
      <p:ext uri="{BB962C8B-B14F-4D97-AF65-F5344CB8AC3E}">
        <p14:creationId xmlns:p14="http://schemas.microsoft.com/office/powerpoint/2010/main" val="8162992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186458" y="1881194"/>
            <a:ext cx="4232691" cy="836219"/>
            <a:chOff x="2335902" y="1998481"/>
            <a:chExt cx="4232691" cy="836219"/>
          </a:xfrm>
        </p:grpSpPr>
        <p:grpSp>
          <p:nvGrpSpPr>
            <p:cNvPr id="22" name="Group 9"/>
            <p:cNvGrpSpPr>
              <a:grpSpLocks/>
            </p:cNvGrpSpPr>
            <p:nvPr/>
          </p:nvGrpSpPr>
          <p:grpSpPr bwMode="auto">
            <a:xfrm>
              <a:off x="4124038" y="1998481"/>
              <a:ext cx="2444555" cy="506750"/>
              <a:chOff x="2713" y="496"/>
              <a:chExt cx="2743" cy="616"/>
            </a:xfrm>
          </p:grpSpPr>
          <p:sp>
            <p:nvSpPr>
              <p:cNvPr id="24" name="Text Box 5"/>
              <p:cNvSpPr txBox="1">
                <a:spLocks noChangeArrowheads="1"/>
              </p:cNvSpPr>
              <p:nvPr/>
            </p:nvSpPr>
            <p:spPr bwMode="auto">
              <a:xfrm>
                <a:off x="3380" y="496"/>
                <a:ext cx="2076"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主体的 </a:t>
                </a:r>
                <a:r>
                  <a:rPr lang="en-US" altLang="zh-CN" sz="1800" b="1" dirty="0">
                    <a:solidFill>
                      <a:sysClr val="windowText" lastClr="000000"/>
                    </a:solidFill>
                    <a:latin typeface="微软雅黑" pitchFamily="34" charset="-122"/>
                    <a:ea typeface="微软雅黑" pitchFamily="34" charset="-122"/>
                  </a:rPr>
                  <a:t>1 </a:t>
                </a:r>
                <a:r>
                  <a:rPr lang="zh-CN" altLang="en-US" sz="1800" b="1" dirty="0">
                    <a:solidFill>
                      <a:sysClr val="windowText" lastClr="000000"/>
                    </a:solidFill>
                    <a:latin typeface="微软雅黑" pitchFamily="34" charset="-122"/>
                    <a:ea typeface="微软雅黑" pitchFamily="34" charset="-122"/>
                  </a:rPr>
                  <a:t>级题头</a:t>
                </a:r>
              </a:p>
            </p:txBody>
          </p:sp>
          <p:sp>
            <p:nvSpPr>
              <p:cNvPr id="28" name="Line 6"/>
              <p:cNvSpPr>
                <a:spLocks noChangeShapeType="1"/>
              </p:cNvSpPr>
              <p:nvPr/>
            </p:nvSpPr>
            <p:spPr bwMode="auto">
              <a:xfrm flipH="1">
                <a:off x="2713" y="711"/>
                <a:ext cx="667" cy="40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335902" y="2505295"/>
              <a:ext cx="1788042"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30115049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3059611" y="2193246"/>
            <a:ext cx="4599122" cy="799418"/>
            <a:chOff x="2189598" y="2849098"/>
            <a:chExt cx="4599122" cy="799418"/>
          </a:xfrm>
        </p:grpSpPr>
        <p:grpSp>
          <p:nvGrpSpPr>
            <p:cNvPr id="25" name="Group 9"/>
            <p:cNvGrpSpPr>
              <a:grpSpLocks/>
            </p:cNvGrpSpPr>
            <p:nvPr/>
          </p:nvGrpSpPr>
          <p:grpSpPr bwMode="auto">
            <a:xfrm>
              <a:off x="3837964" y="2849098"/>
              <a:ext cx="2950756" cy="580788"/>
              <a:chOff x="2392" y="1530"/>
              <a:chExt cx="3311" cy="706"/>
            </a:xfrm>
          </p:grpSpPr>
          <p:sp>
            <p:nvSpPr>
              <p:cNvPr id="27" name="Text Box 5"/>
              <p:cNvSpPr txBox="1">
                <a:spLocks noChangeArrowheads="1"/>
              </p:cNvSpPr>
              <p:nvPr/>
            </p:nvSpPr>
            <p:spPr bwMode="auto">
              <a:xfrm>
                <a:off x="3424" y="1530"/>
                <a:ext cx="2279"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主体的第一个段落</a:t>
                </a:r>
              </a:p>
            </p:txBody>
          </p:sp>
          <p:sp>
            <p:nvSpPr>
              <p:cNvPr id="29" name="Line 6"/>
              <p:cNvSpPr>
                <a:spLocks noChangeShapeType="1"/>
              </p:cNvSpPr>
              <p:nvPr/>
            </p:nvSpPr>
            <p:spPr bwMode="auto">
              <a:xfrm flipH="1">
                <a:off x="2392" y="1745"/>
                <a:ext cx="1032" cy="49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6" name="Rectangle 8"/>
            <p:cNvSpPr>
              <a:spLocks noChangeArrowheads="1"/>
            </p:cNvSpPr>
            <p:nvPr/>
          </p:nvSpPr>
          <p:spPr bwMode="auto">
            <a:xfrm>
              <a:off x="2189598" y="3319111"/>
              <a:ext cx="1645554"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3613952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1600" b="1" dirty="0">
                <a:solidFill>
                  <a:srgbClr val="0000FF"/>
                </a:solidFill>
                <a:latin typeface="微软雅黑" pitchFamily="34" charset="-122"/>
                <a:ea typeface="微软雅黑" pitchFamily="34" charset="-122"/>
              </a:rPr>
              <a:t>&lt;HTML&gt;                                          </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                                         </a:t>
            </a:r>
            <a:br>
              <a:rPr lang="en-US" altLang="zh-CN" sz="1600" b="1" dirty="0">
                <a:solidFill>
                  <a:srgbClr val="0000FF"/>
                </a:solidFill>
                <a:latin typeface="微软雅黑" pitchFamily="34" charset="-122"/>
                <a:ea typeface="微软雅黑" pitchFamily="34" charset="-122"/>
              </a:rPr>
            </a:br>
            <a:r>
              <a:rPr lang="en-US" altLang="zh-CN" sz="1600" b="1" dirty="0">
                <a:solidFill>
                  <a:srgbClr val="0000FF"/>
                </a:solidFill>
                <a:latin typeface="微软雅黑" pitchFamily="34" charset="-122"/>
                <a:ea typeface="微软雅黑" pitchFamily="34" charset="-122"/>
              </a:rPr>
              <a:t>      &lt;TITLE&gt;</a:t>
            </a:r>
            <a:r>
              <a:rPr lang="zh-CN" altLang="en-US" sz="1600" b="1" dirty="0">
                <a:solidFill>
                  <a:srgbClr val="0000FF"/>
                </a:solidFill>
                <a:latin typeface="微软雅黑" pitchFamily="34" charset="-122"/>
                <a:ea typeface="微软雅黑" pitchFamily="34" charset="-122"/>
              </a:rPr>
              <a:t>一个 </a:t>
            </a:r>
            <a:r>
              <a:rPr lang="en-US" altLang="zh-CN" sz="1600" b="1" dirty="0">
                <a:solidFill>
                  <a:srgbClr val="0000FF"/>
                </a:solidFill>
                <a:latin typeface="微软雅黑" pitchFamily="34" charset="-122"/>
                <a:ea typeface="微软雅黑" pitchFamily="34" charset="-122"/>
              </a:rPr>
              <a:t>HTML </a:t>
            </a:r>
            <a:r>
              <a:rPr lang="zh-CN" altLang="en-US" sz="1600" b="1" dirty="0">
                <a:solidFill>
                  <a:srgbClr val="0000FF"/>
                </a:solidFill>
                <a:latin typeface="微软雅黑" pitchFamily="34" charset="-122"/>
                <a:ea typeface="微软雅黑" pitchFamily="34" charset="-122"/>
              </a:rPr>
              <a:t>的例子</a:t>
            </a:r>
            <a:r>
              <a:rPr lang="en-US" altLang="zh-CN" sz="1600" b="1" dirty="0">
                <a:solidFill>
                  <a:srgbClr val="0000FF"/>
                </a:solidFill>
                <a:latin typeface="微软雅黑" pitchFamily="34" charset="-122"/>
                <a:ea typeface="微软雅黑" pitchFamily="34" charset="-122"/>
              </a:rPr>
              <a:t>&lt;/TITLE&gt;</a:t>
            </a:r>
          </a:p>
          <a:p>
            <a:pPr eaLnBrk="1" hangingPunct="1">
              <a:lnSpc>
                <a:spcPct val="110000"/>
              </a:lnSpc>
            </a:pPr>
            <a:r>
              <a:rPr lang="en-US" altLang="zh-CN" sz="1600" b="1" dirty="0">
                <a:solidFill>
                  <a:srgbClr val="0000FF"/>
                </a:solidFill>
                <a:latin typeface="微软雅黑" pitchFamily="34" charset="-122"/>
                <a:ea typeface="微软雅黑" pitchFamily="34" charset="-122"/>
              </a:rPr>
              <a:t>&lt;/HEAD&gt;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      &lt;H1&gt;HTML </a:t>
            </a:r>
            <a:r>
              <a:rPr lang="zh-CN" altLang="en-US" sz="1600" b="1" dirty="0">
                <a:solidFill>
                  <a:srgbClr val="0000FF"/>
                </a:solidFill>
                <a:latin typeface="微软雅黑" pitchFamily="34" charset="-122"/>
                <a:ea typeface="微软雅黑" pitchFamily="34" charset="-122"/>
              </a:rPr>
              <a:t>很容易掌握</a:t>
            </a:r>
            <a:r>
              <a:rPr lang="en-US" altLang="zh-CN" sz="1600" b="1" dirty="0">
                <a:solidFill>
                  <a:srgbClr val="0000FF"/>
                </a:solidFill>
                <a:latin typeface="微软雅黑" pitchFamily="34" charset="-122"/>
                <a:ea typeface="微软雅黑" pitchFamily="34" charset="-122"/>
              </a:rPr>
              <a:t>&lt;/H1&gt;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这是第一个段落。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      &lt;P&gt;</a:t>
            </a:r>
            <a:r>
              <a:rPr lang="zh-CN" altLang="en-US" sz="1600" b="1" dirty="0">
                <a:solidFill>
                  <a:srgbClr val="0000FF"/>
                </a:solidFill>
                <a:latin typeface="微软雅黑" pitchFamily="34" charset="-122"/>
                <a:ea typeface="微软雅黑" pitchFamily="34" charset="-122"/>
              </a:rPr>
              <a:t>这是第二个段落。</a:t>
            </a:r>
            <a:r>
              <a:rPr lang="en-US" altLang="zh-CN" sz="1600" b="1" dirty="0">
                <a:solidFill>
                  <a:srgbClr val="0000FF"/>
                </a:solidFill>
                <a:latin typeface="微软雅黑" pitchFamily="34" charset="-122"/>
                <a:ea typeface="微软雅黑" pitchFamily="34" charset="-122"/>
              </a:rPr>
              <a:t>&lt;/P&gt;</a:t>
            </a:r>
          </a:p>
          <a:p>
            <a:pPr eaLnBrk="1" hangingPunct="1">
              <a:lnSpc>
                <a:spcPct val="110000"/>
              </a:lnSpc>
            </a:pPr>
            <a:r>
              <a:rPr lang="en-US" altLang="zh-CN" sz="1600" b="1" dirty="0">
                <a:solidFill>
                  <a:srgbClr val="0000FF"/>
                </a:solidFill>
                <a:latin typeface="微软雅黑" pitchFamily="34" charset="-122"/>
                <a:ea typeface="微软雅黑" pitchFamily="34" charset="-122"/>
              </a:rPr>
              <a:t>&lt;/BODY&gt;</a:t>
            </a:r>
          </a:p>
          <a:p>
            <a:pPr eaLnBrk="1" hangingPunct="1">
              <a:lnSpc>
                <a:spcPct val="110000"/>
              </a:lnSpc>
            </a:pPr>
            <a:r>
              <a:rPr lang="en-US" altLang="zh-CN" sz="1600" b="1" dirty="0">
                <a:solidFill>
                  <a:srgbClr val="0000FF"/>
                </a:solidFill>
                <a:latin typeface="微软雅黑" pitchFamily="34" charset="-122"/>
                <a:ea typeface="微软雅黑" pitchFamily="34" charset="-122"/>
              </a:rPr>
              <a:t>&lt;/HTML&gt;</a:t>
            </a: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a:latin typeface="微软雅黑" panose="020B0503020204020204" pitchFamily="34" charset="-122"/>
                  <a:ea typeface="微软雅黑" panose="020B0503020204020204" pitchFamily="34" charset="-122"/>
                </a:rPr>
                <a:t>文档</a:t>
              </a: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文档首部</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a:latin typeface="微软雅黑" panose="020B0503020204020204" pitchFamily="34" charset="-122"/>
                  <a:ea typeface="微软雅黑" panose="020B0503020204020204" pitchFamily="34" charset="-122"/>
                </a:rPr>
                <a:t>文档主体</a:t>
              </a:r>
              <a:endParaRPr lang="en-US" altLang="zh-CN" sz="1400" b="1"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059611" y="2455852"/>
            <a:ext cx="4600905" cy="799418"/>
            <a:chOff x="2189598" y="2849098"/>
            <a:chExt cx="4600905" cy="799418"/>
          </a:xfrm>
        </p:grpSpPr>
        <p:grpSp>
          <p:nvGrpSpPr>
            <p:cNvPr id="22" name="Group 9"/>
            <p:cNvGrpSpPr>
              <a:grpSpLocks/>
            </p:cNvGrpSpPr>
            <p:nvPr/>
          </p:nvGrpSpPr>
          <p:grpSpPr bwMode="auto">
            <a:xfrm>
              <a:off x="3837964" y="2849098"/>
              <a:ext cx="2952539" cy="580788"/>
              <a:chOff x="2392" y="1530"/>
              <a:chExt cx="3313" cy="706"/>
            </a:xfrm>
          </p:grpSpPr>
          <p:sp>
            <p:nvSpPr>
              <p:cNvPr id="24" name="Text Box 5"/>
              <p:cNvSpPr txBox="1">
                <a:spLocks noChangeArrowheads="1"/>
              </p:cNvSpPr>
              <p:nvPr/>
            </p:nvSpPr>
            <p:spPr bwMode="auto">
              <a:xfrm>
                <a:off x="3424" y="1530"/>
                <a:ext cx="2281" cy="449"/>
              </a:xfrm>
              <a:prstGeom prst="rect">
                <a:avLst/>
              </a:prstGeom>
              <a:solidFill>
                <a:srgbClr val="99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800" b="1" dirty="0">
                    <a:solidFill>
                      <a:sysClr val="windowText" lastClr="000000"/>
                    </a:solidFill>
                    <a:latin typeface="微软雅黑" pitchFamily="34" charset="-122"/>
                    <a:ea typeface="微软雅黑" pitchFamily="34" charset="-122"/>
                  </a:rPr>
                  <a:t>主体的第二个段落</a:t>
                </a:r>
              </a:p>
            </p:txBody>
          </p:sp>
          <p:sp>
            <p:nvSpPr>
              <p:cNvPr id="28" name="Line 6"/>
              <p:cNvSpPr>
                <a:spLocks noChangeShapeType="1"/>
              </p:cNvSpPr>
              <p:nvPr/>
            </p:nvSpPr>
            <p:spPr bwMode="auto">
              <a:xfrm flipH="1">
                <a:off x="2392" y="1745"/>
                <a:ext cx="1032" cy="491"/>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grpSp>
        <p:sp>
          <p:nvSpPr>
            <p:cNvPr id="23" name="Rectangle 8"/>
            <p:cNvSpPr>
              <a:spLocks noChangeArrowheads="1"/>
            </p:cNvSpPr>
            <p:nvPr/>
          </p:nvSpPr>
          <p:spPr bwMode="auto">
            <a:xfrm>
              <a:off x="2189598" y="3319111"/>
              <a:ext cx="1645554" cy="329405"/>
            </a:xfrm>
            <a:prstGeom prst="rect">
              <a:avLst/>
            </a:prstGeom>
            <a:noFill/>
            <a:ln w="28575">
              <a:solidFill>
                <a:srgbClr val="FF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extLst>
      <p:ext uri="{BB962C8B-B14F-4D97-AF65-F5344CB8AC3E}">
        <p14:creationId xmlns:p14="http://schemas.microsoft.com/office/powerpoint/2010/main" val="327960933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20544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a:t>
            </a:r>
            <a:r>
              <a:rPr lang="en-US" altLang="zh-CN" sz="2000" b="1" dirty="0" err="1">
                <a:solidFill>
                  <a:srgbClr val="C00000"/>
                </a:solidFill>
                <a:latin typeface="微软雅黑" pitchFamily="34" charset="-122"/>
                <a:ea typeface="微软雅黑" pitchFamily="34" charset="-122"/>
              </a:rPr>
              <a:t>img</a:t>
            </a:r>
            <a:r>
              <a:rPr lang="en-US" altLang="zh-CN" sz="2000" b="1" dirty="0">
                <a:solidFill>
                  <a:srgbClr val="C00000"/>
                </a:solidFill>
                <a:latin typeface="微软雅黑" pitchFamily="34" charset="-122"/>
                <a:ea typeface="微软雅黑" pitchFamily="34" charset="-122"/>
              </a:rPr>
              <a:t>&gt;</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图像标签。</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允许在万维网页面中插入图像。</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一个页面本身带有的图像称为</a:t>
            </a:r>
            <a:r>
              <a:rPr lang="zh-CN" altLang="en-US" sz="2000" b="1" dirty="0">
                <a:solidFill>
                  <a:srgbClr val="C00000"/>
                </a:solidFill>
                <a:latin typeface="微软雅黑" pitchFamily="34" charset="-122"/>
                <a:ea typeface="微软雅黑" pitchFamily="34" charset="-122"/>
              </a:rPr>
              <a:t>内含图像</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(inline image)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标准没有规定该图像的格式。</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大多数浏览器都支持 </a:t>
            </a:r>
            <a:r>
              <a:rPr lang="en-US" altLang="zh-CN" sz="2000" b="1" dirty="0">
                <a:latin typeface="微软雅黑" pitchFamily="34" charset="-122"/>
                <a:ea typeface="微软雅黑" pitchFamily="34" charset="-122"/>
              </a:rPr>
              <a:t>GIF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JPEG </a:t>
            </a:r>
            <a:r>
              <a:rPr lang="zh-CN" altLang="en-US" sz="2000" b="1" dirty="0">
                <a:latin typeface="微软雅黑" pitchFamily="34" charset="-122"/>
                <a:ea typeface="微软雅黑" pitchFamily="34" charset="-122"/>
              </a:rPr>
              <a:t>文件。</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Tree>
    <p:extLst>
      <p:ext uri="{BB962C8B-B14F-4D97-AF65-F5344CB8AC3E}">
        <p14:creationId xmlns:p14="http://schemas.microsoft.com/office/powerpoint/2010/main" val="8308218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&lt;a&gt;</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链接标签。</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每个链接都有一个起点和终点。</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起点：</a:t>
            </a:r>
            <a:r>
              <a:rPr lang="zh-CN" altLang="en-US" sz="2000" b="1" dirty="0">
                <a:latin typeface="微软雅黑" pitchFamily="34" charset="-122"/>
                <a:ea typeface="微软雅黑" pitchFamily="34" charset="-122"/>
              </a:rPr>
              <a:t>说明在万维网页面中的什么地方可</a:t>
            </a:r>
            <a:r>
              <a:rPr lang="zh-CN" altLang="en-US" sz="2000" b="1" dirty="0">
                <a:solidFill>
                  <a:srgbClr val="C00000"/>
                </a:solidFill>
                <a:latin typeface="微软雅黑" pitchFamily="34" charset="-122"/>
                <a:ea typeface="微软雅黑" pitchFamily="34" charset="-122"/>
              </a:rPr>
              <a:t>引出</a:t>
            </a:r>
            <a:r>
              <a:rPr lang="zh-CN" altLang="en-US" sz="2000" b="1" dirty="0">
                <a:latin typeface="微软雅黑" pitchFamily="34" charset="-122"/>
                <a:ea typeface="微软雅黑" pitchFamily="34" charset="-122"/>
              </a:rPr>
              <a:t>一个链接。可以是一个字或几个字，或是一幅图，或是一段文字。例如：</a:t>
            </a:r>
            <a:r>
              <a:rPr lang="en-US" altLang="zh-CN" sz="2000" b="1" dirty="0">
                <a:latin typeface="微软雅黑" pitchFamily="34" charset="-122"/>
                <a:ea typeface="微软雅黑" pitchFamily="34" charset="-122"/>
              </a:rPr>
              <a:t> </a:t>
            </a:r>
          </a:p>
          <a:p>
            <a:pPr marL="288925" lvl="1">
              <a:lnSpc>
                <a:spcPts val="2800"/>
              </a:lnSpc>
              <a:buClr>
                <a:srgbClr val="9900CC"/>
              </a:buClr>
              <a:buSzPct val="85000"/>
            </a:pPr>
            <a:r>
              <a:rPr lang="en-US" altLang="zh-CN" b="1" dirty="0">
                <a:ea typeface="微软雅黑" pitchFamily="34" charset="-122"/>
              </a:rPr>
              <a:t>	</a:t>
            </a:r>
            <a:r>
              <a:rPr lang="en-US" altLang="zh-CN" sz="2000" b="1" dirty="0">
                <a:ea typeface="微软雅黑" pitchFamily="34" charset="-122"/>
              </a:rPr>
              <a:t>&lt;a </a:t>
            </a:r>
            <a:r>
              <a:rPr lang="en-US" altLang="zh-CN" sz="2000" b="1" dirty="0" err="1">
                <a:ea typeface="微软雅黑" pitchFamily="34" charset="-122"/>
              </a:rPr>
              <a:t>href</a:t>
            </a:r>
            <a:r>
              <a:rPr lang="en-US" altLang="zh-CN" sz="2000" b="1" dirty="0">
                <a:ea typeface="微软雅黑" pitchFamily="34" charset="-122"/>
              </a:rPr>
              <a:t>=“</a:t>
            </a:r>
            <a:r>
              <a:rPr lang="en-US" altLang="zh-CN" sz="2000" b="1" u="sng" dirty="0">
                <a:solidFill>
                  <a:srgbClr val="0033CC"/>
                </a:solidFill>
                <a:ea typeface="微软雅黑" pitchFamily="34" charset="-122"/>
              </a:rPr>
              <a:t>http://www.tsinghua.edu.cn</a:t>
            </a:r>
            <a:r>
              <a:rPr lang="en-US" altLang="zh-CN" sz="2000" b="1" dirty="0">
                <a:ea typeface="微软雅黑" pitchFamily="34" charset="-122"/>
              </a:rPr>
              <a:t>”&gt;</a:t>
            </a:r>
            <a:r>
              <a:rPr lang="zh-CN" altLang="en-US" sz="2000" b="1" dirty="0">
                <a:latin typeface="微软雅黑" pitchFamily="34" charset="-122"/>
                <a:ea typeface="微软雅黑" pitchFamily="34" charset="-122"/>
              </a:rPr>
              <a:t>清华大学主页</a:t>
            </a:r>
            <a:r>
              <a:rPr lang="en-US" altLang="zh-CN" sz="2000" b="1" dirty="0">
                <a:ea typeface="微软雅黑" pitchFamily="34" charset="-122"/>
              </a:rPr>
              <a:t>&lt;/a&gt;</a:t>
            </a: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终点：</a:t>
            </a:r>
            <a:endParaRPr lang="en-US" altLang="zh-CN" sz="2000" b="1" dirty="0">
              <a:solidFill>
                <a:srgbClr val="0000FF"/>
              </a:solidFill>
              <a:latin typeface="微软雅黑" pitchFamily="34" charset="-122"/>
              <a:ea typeface="微软雅黑" pitchFamily="34" charset="-122"/>
            </a:endParaRPr>
          </a:p>
          <a:p>
            <a:pPr marL="985838" lvl="2" indent="-239713">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可以是其他网站上的页面。这种链接方式叫做</a:t>
            </a:r>
            <a:r>
              <a:rPr lang="zh-CN" altLang="en-US" b="1" dirty="0">
                <a:solidFill>
                  <a:srgbClr val="C00000"/>
                </a:solidFill>
                <a:latin typeface="微软雅黑" pitchFamily="34" charset="-122"/>
                <a:ea typeface="微软雅黑" pitchFamily="34" charset="-122"/>
              </a:rPr>
              <a:t>远程链接。</a:t>
            </a:r>
            <a:r>
              <a:rPr lang="zh-CN" altLang="en-US" b="1" dirty="0">
                <a:latin typeface="微软雅黑" pitchFamily="34" charset="-122"/>
                <a:ea typeface="微软雅黑" pitchFamily="34" charset="-122"/>
              </a:rPr>
              <a:t>这时必须指明链接到的</a:t>
            </a:r>
            <a:r>
              <a:rPr lang="zh-CN" altLang="en-US" b="1" dirty="0">
                <a:solidFill>
                  <a:srgbClr val="C00000"/>
                </a:solidFill>
                <a:latin typeface="微软雅黑" pitchFamily="34" charset="-122"/>
                <a:ea typeface="微软雅黑" pitchFamily="34" charset="-122"/>
              </a:rPr>
              <a:t>网站的 </a:t>
            </a:r>
            <a:r>
              <a:rPr lang="en-US" altLang="zh-CN" b="1" dirty="0">
                <a:solidFill>
                  <a:srgbClr val="C00000"/>
                </a:solidFill>
                <a:latin typeface="微软雅黑" pitchFamily="34" charset="-122"/>
                <a:ea typeface="微软雅黑" pitchFamily="34" charset="-122"/>
              </a:rPr>
              <a:t>URL</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985838" lvl="2" indent="-239713">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可以指向本计算机中的某一个文件或本文件中的某处，这种链接方式叫做</a:t>
            </a:r>
            <a:r>
              <a:rPr lang="zh-CN" altLang="en-US" b="1" dirty="0">
                <a:solidFill>
                  <a:srgbClr val="C00000"/>
                </a:solidFill>
                <a:latin typeface="微软雅黑" pitchFamily="34" charset="-122"/>
                <a:ea typeface="微软雅黑" pitchFamily="34" charset="-122"/>
              </a:rPr>
              <a:t>本地链接。</a:t>
            </a:r>
            <a:r>
              <a:rPr lang="zh-CN" altLang="en-US" b="1" dirty="0">
                <a:latin typeface="微软雅黑" pitchFamily="34" charset="-122"/>
                <a:ea typeface="微软雅黑" pitchFamily="34" charset="-122"/>
              </a:rPr>
              <a:t>这时必须指明链接的</a:t>
            </a:r>
            <a:r>
              <a:rPr lang="zh-CN" altLang="en-US" b="1" dirty="0">
                <a:solidFill>
                  <a:srgbClr val="C00000"/>
                </a:solidFill>
                <a:latin typeface="微软雅黑" pitchFamily="34" charset="-122"/>
                <a:ea typeface="微软雅黑" pitchFamily="34" charset="-122"/>
              </a:rPr>
              <a:t>路径。</a:t>
            </a:r>
            <a:endParaRPr lang="en-US" altLang="zh-CN" b="1" dirty="0">
              <a:solidFill>
                <a:srgbClr val="C00000"/>
              </a:solidFill>
              <a:latin typeface="微软雅黑" pitchFamily="34" charset="-122"/>
              <a:ea typeface="微软雅黑"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文档中标签的用法</a:t>
            </a:r>
          </a:p>
        </p:txBody>
      </p:sp>
    </p:spTree>
    <p:extLst>
      <p:ext uri="{BB962C8B-B14F-4D97-AF65-F5344CB8AC3E}">
        <p14:creationId xmlns:p14="http://schemas.microsoft.com/office/powerpoint/2010/main" val="40448288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256"/>
            <a:ext cx="8029253"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可扩展标记语言 </a:t>
            </a:r>
            <a:r>
              <a:rPr lang="en-US" altLang="zh-CN" sz="2000" b="1" dirty="0">
                <a:solidFill>
                  <a:srgbClr val="C00000"/>
                </a:solidFill>
                <a:latin typeface="微软雅黑" pitchFamily="34" charset="-122"/>
                <a:ea typeface="微软雅黑" pitchFamily="34" charset="-122"/>
              </a:rPr>
              <a:t>XML </a:t>
            </a:r>
            <a:r>
              <a:rPr lang="en-US" altLang="zh-CN" sz="2000" b="1" dirty="0">
                <a:latin typeface="微软雅黑" pitchFamily="34" charset="-122"/>
                <a:ea typeface="微软雅黑" pitchFamily="34" charset="-122"/>
              </a:rPr>
              <a:t>(Extensible Markup Language)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很相似。</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设计宗旨是：</a:t>
            </a:r>
            <a:r>
              <a:rPr lang="zh-CN" altLang="en-US" sz="2000" b="1" dirty="0">
                <a:solidFill>
                  <a:srgbClr val="C00000"/>
                </a:solidFill>
                <a:latin typeface="微软雅黑" pitchFamily="34" charset="-122"/>
                <a:ea typeface="微软雅黑" pitchFamily="34" charset="-122"/>
              </a:rPr>
              <a:t>传输数据，</a:t>
            </a:r>
            <a:r>
              <a:rPr lang="zh-CN" altLang="en-US" sz="2000" b="1" dirty="0">
                <a:latin typeface="微软雅黑" pitchFamily="34" charset="-122"/>
                <a:ea typeface="微软雅黑" pitchFamily="34" charset="-122"/>
              </a:rPr>
              <a:t>而不是显示数据。</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特点和优点：</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可用来</a:t>
            </a:r>
            <a:r>
              <a:rPr lang="zh-CN" altLang="en-US" sz="2000" b="1" dirty="0">
                <a:solidFill>
                  <a:srgbClr val="C00000"/>
                </a:solidFill>
                <a:latin typeface="微软雅黑" pitchFamily="34" charset="-122"/>
                <a:ea typeface="微软雅黑" pitchFamily="34" charset="-122"/>
              </a:rPr>
              <a:t>标记</a:t>
            </a:r>
            <a:r>
              <a:rPr lang="zh-CN" altLang="en-US" sz="2000" b="1" dirty="0">
                <a:latin typeface="微软雅黑" pitchFamily="34" charset="-122"/>
                <a:ea typeface="微软雅黑" pitchFamily="34" charset="-122"/>
              </a:rPr>
              <a:t>数据、定义数据类型；</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允许用户对自己的标记语言进行</a:t>
            </a:r>
            <a:r>
              <a:rPr lang="zh-CN" altLang="en-US" sz="2000" b="1" dirty="0">
                <a:solidFill>
                  <a:srgbClr val="C00000"/>
                </a:solidFill>
                <a:latin typeface="微软雅黑" pitchFamily="34" charset="-122"/>
                <a:ea typeface="微软雅黑" pitchFamily="34" charset="-122"/>
              </a:rPr>
              <a:t>自定义，</a:t>
            </a:r>
            <a:r>
              <a:rPr lang="zh-CN" altLang="en-US" sz="2000" b="1" dirty="0">
                <a:latin typeface="微软雅黑" pitchFamily="34" charset="-122"/>
                <a:ea typeface="微软雅黑" pitchFamily="34" charset="-122"/>
              </a:rPr>
              <a:t>并且是</a:t>
            </a:r>
            <a:r>
              <a:rPr lang="zh-CN" altLang="en-US" sz="2000" b="1" dirty="0">
                <a:solidFill>
                  <a:srgbClr val="C00000"/>
                </a:solidFill>
                <a:latin typeface="微软雅黑" pitchFamily="34" charset="-122"/>
                <a:ea typeface="微软雅黑" pitchFamily="34" charset="-122"/>
              </a:rPr>
              <a:t>无限制的；</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简单，与平台</a:t>
            </a:r>
            <a:r>
              <a:rPr lang="zh-CN" altLang="en-US" sz="2000" b="1" dirty="0">
                <a:solidFill>
                  <a:srgbClr val="C00000"/>
                </a:solidFill>
                <a:latin typeface="微软雅黑" pitchFamily="34" charset="-122"/>
                <a:ea typeface="微软雅黑" pitchFamily="34" charset="-122"/>
              </a:rPr>
              <a:t>无关；</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将用户界面与结构化数据</a:t>
            </a:r>
            <a:r>
              <a:rPr lang="zh-CN" altLang="en-US" sz="2000" b="1" dirty="0">
                <a:solidFill>
                  <a:srgbClr val="C00000"/>
                </a:solidFill>
                <a:latin typeface="微软雅黑" pitchFamily="34" charset="-122"/>
                <a:ea typeface="微软雅黑" pitchFamily="34" charset="-122"/>
              </a:rPr>
              <a:t>分隔</a:t>
            </a:r>
            <a:r>
              <a:rPr lang="zh-CN" altLang="en-US" sz="2000" b="1" dirty="0">
                <a:latin typeface="微软雅黑" pitchFamily="34" charset="-122"/>
                <a:ea typeface="微软雅黑" pitchFamily="34" charset="-122"/>
              </a:rPr>
              <a:t>开来；</a:t>
            </a:r>
          </a:p>
        </p:txBody>
      </p:sp>
      <p:sp>
        <p:nvSpPr>
          <p:cNvPr id="3" name="AutoShape 5"/>
          <p:cNvSpPr>
            <a:spLocks noChangeArrowheads="1"/>
          </p:cNvSpPr>
          <p:nvPr/>
        </p:nvSpPr>
        <p:spPr bwMode="auto">
          <a:xfrm>
            <a:off x="556963" y="612860"/>
            <a:ext cx="8029253"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620"/>
            <a:ext cx="76976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XML</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838351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4899"/>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可扩展超文本标记语言 </a:t>
            </a:r>
            <a:r>
              <a:rPr lang="en-US" altLang="zh-CN" sz="2000" b="1" dirty="0">
                <a:solidFill>
                  <a:srgbClr val="C00000"/>
                </a:solidFill>
                <a:latin typeface="微软雅黑" pitchFamily="34" charset="-122"/>
                <a:ea typeface="微软雅黑" pitchFamily="34" charset="-122"/>
              </a:rPr>
              <a:t>XHTML </a:t>
            </a:r>
            <a:r>
              <a:rPr lang="en-US" altLang="zh-CN" sz="2000" b="1" dirty="0">
                <a:latin typeface="微软雅黑" pitchFamily="34" charset="-122"/>
                <a:ea typeface="微软雅黑" pitchFamily="34" charset="-122"/>
              </a:rPr>
              <a:t>(Extensible HTML)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HTML 4.01 </a:t>
            </a:r>
            <a:r>
              <a:rPr lang="zh-CN" altLang="en-US" sz="2000" b="1" dirty="0">
                <a:latin typeface="微软雅黑" pitchFamily="34" charset="-122"/>
                <a:ea typeface="微软雅黑" pitchFamily="34" charset="-122"/>
              </a:rPr>
              <a:t>几乎相同，是更严格的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版本。</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作为一种 </a:t>
            </a:r>
            <a:r>
              <a:rPr lang="en-US" altLang="zh-CN" sz="2000" b="1" dirty="0">
                <a:latin typeface="微软雅黑" pitchFamily="34" charset="-122"/>
                <a:ea typeface="微软雅黑" pitchFamily="34" charset="-122"/>
              </a:rPr>
              <a:t>XML </a:t>
            </a:r>
            <a:r>
              <a:rPr lang="zh-CN" altLang="en-US" sz="2000" b="1" dirty="0">
                <a:latin typeface="微软雅黑" pitchFamily="34" charset="-122"/>
                <a:ea typeface="微软雅黑" pitchFamily="34" charset="-122"/>
              </a:rPr>
              <a:t>应用被重新定义的 </a:t>
            </a:r>
            <a:r>
              <a:rPr lang="en-US" altLang="zh-CN" sz="2000" b="1" dirty="0">
                <a:latin typeface="微软雅黑" pitchFamily="34" charset="-122"/>
                <a:ea typeface="微软雅黑" pitchFamily="34" charset="-122"/>
              </a:rPr>
              <a:t>HTML</a:t>
            </a:r>
            <a:r>
              <a:rPr lang="zh-CN" altLang="en-US" sz="2000" b="1" dirty="0">
                <a:latin typeface="微软雅黑" pitchFamily="34" charset="-122"/>
                <a:ea typeface="微软雅黑" pitchFamily="34" charset="-122"/>
              </a:rPr>
              <a:t>，将逐渐取代 </a:t>
            </a:r>
            <a:r>
              <a:rPr lang="en-US" altLang="zh-CN" sz="2000" b="1" dirty="0">
                <a:latin typeface="微软雅黑" pitchFamily="34" charset="-122"/>
                <a:ea typeface="微软雅黑" pitchFamily="34" charset="-122"/>
              </a:rPr>
              <a:t>HTML</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56963" y="613747"/>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1507"/>
            <a:ext cx="114005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XHTML</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9102007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5076"/>
            <a:ext cx="817866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层叠样式表 </a:t>
            </a:r>
            <a:r>
              <a:rPr lang="en-US" altLang="zh-CN" sz="2000" b="1" dirty="0">
                <a:solidFill>
                  <a:srgbClr val="C00000"/>
                </a:solidFill>
                <a:latin typeface="微软雅黑" pitchFamily="34" charset="-122"/>
                <a:ea typeface="微软雅黑" pitchFamily="34" charset="-122"/>
              </a:rPr>
              <a:t>CSS </a:t>
            </a:r>
            <a:r>
              <a:rPr lang="en-US" altLang="zh-CN" sz="2000" b="1" dirty="0">
                <a:latin typeface="微软雅黑" pitchFamily="34" charset="-122"/>
                <a:ea typeface="微软雅黑" pitchFamily="34" charset="-122"/>
              </a:rPr>
              <a:t>(Cascading Style Sheets) </a:t>
            </a:r>
            <a:r>
              <a:rPr lang="zh-CN" altLang="en-US" sz="2000" b="1" dirty="0">
                <a:latin typeface="微软雅黑" pitchFamily="34" charset="-122"/>
                <a:ea typeface="微软雅黑" pitchFamily="34" charset="-122"/>
              </a:rPr>
              <a:t>是一种样式表语言，用于为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a:t>
            </a:r>
            <a:r>
              <a:rPr lang="zh-CN" altLang="en-US" sz="2000" b="1" dirty="0">
                <a:solidFill>
                  <a:srgbClr val="C00000"/>
                </a:solidFill>
                <a:latin typeface="微软雅黑" pitchFamily="34" charset="-122"/>
                <a:ea typeface="微软雅黑" pitchFamily="34" charset="-122"/>
              </a:rPr>
              <a:t>定义布局。</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CSS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区别：</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用于结构化内容，而 </a:t>
            </a:r>
            <a:r>
              <a:rPr lang="en-US" altLang="zh-CN" sz="2000" b="1" dirty="0">
                <a:latin typeface="微软雅黑" pitchFamily="34" charset="-122"/>
                <a:ea typeface="微软雅黑" pitchFamily="34" charset="-122"/>
              </a:rPr>
              <a:t>CSS </a:t>
            </a:r>
            <a:r>
              <a:rPr lang="zh-CN" altLang="en-US" sz="2000" b="1" dirty="0">
                <a:latin typeface="微软雅黑" pitchFamily="34" charset="-122"/>
                <a:ea typeface="微软雅黑" pitchFamily="34" charset="-122"/>
              </a:rPr>
              <a:t>则用于格式化结构化的内容。</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例如：精确规定在浏览器上显示的字体、颜色、边距、高度、宽度、背景图像等。</a:t>
            </a:r>
          </a:p>
        </p:txBody>
      </p:sp>
      <p:sp>
        <p:nvSpPr>
          <p:cNvPr id="3" name="AutoShape 5"/>
          <p:cNvSpPr>
            <a:spLocks noChangeArrowheads="1"/>
          </p:cNvSpPr>
          <p:nvPr/>
        </p:nvSpPr>
        <p:spPr bwMode="auto">
          <a:xfrm>
            <a:off x="556963" y="61392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80828"/>
            <a:ext cx="66556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CSS</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20284031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29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76088"/>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动态万维网文档</a:t>
            </a:r>
          </a:p>
        </p:txBody>
      </p:sp>
      <p:sp>
        <p:nvSpPr>
          <p:cNvPr id="4" name="Rectangle 68"/>
          <p:cNvSpPr>
            <a:spLocks noChangeArrowheads="1"/>
          </p:cNvSpPr>
          <p:nvPr/>
        </p:nvSpPr>
        <p:spPr bwMode="auto">
          <a:xfrm>
            <a:off x="556963" y="970389"/>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静态文档：</a:t>
            </a:r>
            <a:r>
              <a:rPr lang="zh-CN" altLang="en-US" sz="2000" b="1" dirty="0">
                <a:latin typeface="微软雅黑" pitchFamily="34" charset="-122"/>
                <a:ea typeface="微软雅黑" pitchFamily="34" charset="-122"/>
              </a:rPr>
              <a:t>该文档创作完毕后就存放在万维网服务器中，在被用户浏览的过程中，内容不会改变。 </a:t>
            </a: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动态文档：</a:t>
            </a:r>
            <a:r>
              <a:rPr lang="zh-CN" altLang="en-US" sz="2000" b="1" dirty="0">
                <a:latin typeface="微软雅黑" pitchFamily="34" charset="-122"/>
                <a:ea typeface="微软雅黑" pitchFamily="34" charset="-122"/>
              </a:rPr>
              <a:t>文档的内容是在浏览器访问万维网服务器时才由应用程序动态创建。</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动态文档和静态文档之间的</a:t>
            </a:r>
            <a:r>
              <a:rPr lang="zh-CN" altLang="en-US" sz="2000" b="1" dirty="0">
                <a:solidFill>
                  <a:srgbClr val="C00000"/>
                </a:solidFill>
                <a:latin typeface="微软雅黑" pitchFamily="34" charset="-122"/>
                <a:ea typeface="微软雅黑" pitchFamily="34" charset="-122"/>
              </a:rPr>
              <a:t>主要差别</a:t>
            </a:r>
            <a:r>
              <a:rPr lang="zh-CN" altLang="en-US" sz="2000" b="1" dirty="0">
                <a:latin typeface="微软雅黑" pitchFamily="34" charset="-122"/>
                <a:ea typeface="微软雅黑" pitchFamily="34" charset="-122"/>
              </a:rPr>
              <a:t>体现在</a:t>
            </a:r>
            <a:r>
              <a:rPr lang="zh-CN" altLang="en-US" sz="2000" b="1" dirty="0">
                <a:solidFill>
                  <a:srgbClr val="0000FF"/>
                </a:solidFill>
                <a:latin typeface="微软雅黑" pitchFamily="34" charset="-122"/>
                <a:ea typeface="微软雅黑" pitchFamily="34" charset="-122"/>
              </a:rPr>
              <a:t>服务器端：</a:t>
            </a:r>
            <a:r>
              <a:rPr lang="zh-CN" altLang="en-US" sz="2000" b="1" dirty="0">
                <a:latin typeface="微软雅黑" pitchFamily="34" charset="-122"/>
                <a:ea typeface="微软雅黑" pitchFamily="34" charset="-122"/>
              </a:rPr>
              <a:t>文档内容的生成方法不同。从浏览器的角度看，这两种文档并没有区别。 </a:t>
            </a:r>
          </a:p>
        </p:txBody>
      </p:sp>
    </p:spTree>
    <p:extLst>
      <p:ext uri="{BB962C8B-B14F-4D97-AF65-F5344CB8AC3E}">
        <p14:creationId xmlns:p14="http://schemas.microsoft.com/office/powerpoint/2010/main" val="23866077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54011"/>
            <a:ext cx="812069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增加一个</a:t>
            </a:r>
            <a:r>
              <a:rPr lang="zh-CN" altLang="en-US" sz="2000" b="1" dirty="0">
                <a:solidFill>
                  <a:srgbClr val="C00000"/>
                </a:solidFill>
                <a:latin typeface="微软雅黑" pitchFamily="34" charset="-122"/>
                <a:ea typeface="微软雅黑" pitchFamily="34" charset="-122"/>
              </a:rPr>
              <a:t>应用程序：</a:t>
            </a:r>
            <a:r>
              <a:rPr lang="zh-CN" altLang="en-US" sz="2000" b="1" dirty="0">
                <a:latin typeface="微软雅黑" pitchFamily="34" charset="-122"/>
                <a:ea typeface="微软雅黑" pitchFamily="34" charset="-122"/>
              </a:rPr>
              <a:t>处理浏览器发来的数据，并创建动态文档。</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(2) </a:t>
            </a:r>
            <a:r>
              <a:rPr lang="zh-CN" altLang="en-US" sz="2000" b="1" dirty="0">
                <a:latin typeface="微软雅黑" pitchFamily="34" charset="-122"/>
                <a:ea typeface="微软雅黑" pitchFamily="34" charset="-122"/>
              </a:rPr>
              <a:t>增加一个</a:t>
            </a:r>
            <a:r>
              <a:rPr lang="zh-CN" altLang="en-US" sz="2000" b="1" dirty="0">
                <a:solidFill>
                  <a:srgbClr val="C00000"/>
                </a:solidFill>
                <a:latin typeface="微软雅黑" pitchFamily="34" charset="-122"/>
                <a:ea typeface="微软雅黑" pitchFamily="34" charset="-122"/>
              </a:rPr>
              <a:t>机制：</a:t>
            </a:r>
            <a:r>
              <a:rPr lang="zh-CN" altLang="en-US" sz="2000" b="1" dirty="0">
                <a:latin typeface="微软雅黑" pitchFamily="34" charset="-122"/>
                <a:ea typeface="微软雅黑" pitchFamily="34" charset="-122"/>
              </a:rPr>
              <a:t>使万维网服务器把浏览器发来的数据</a:t>
            </a:r>
            <a:r>
              <a:rPr lang="zh-CN" altLang="en-US" sz="2000" b="1" dirty="0">
                <a:solidFill>
                  <a:srgbClr val="0000FF"/>
                </a:solidFill>
                <a:latin typeface="微软雅黑" pitchFamily="34" charset="-122"/>
                <a:ea typeface="微软雅黑" pitchFamily="34" charset="-122"/>
              </a:rPr>
              <a:t>传送</a:t>
            </a:r>
            <a:r>
              <a:rPr lang="zh-CN" altLang="en-US" sz="2000" b="1" dirty="0">
                <a:latin typeface="微软雅黑" pitchFamily="34" charset="-122"/>
                <a:ea typeface="微软雅黑" pitchFamily="34" charset="-122"/>
              </a:rPr>
              <a:t>给这个应用程序，然后万维网服务器能够</a:t>
            </a:r>
            <a:r>
              <a:rPr lang="zh-CN" altLang="en-US" sz="2000" b="1" dirty="0">
                <a:solidFill>
                  <a:srgbClr val="0000FF"/>
                </a:solidFill>
                <a:latin typeface="微软雅黑" pitchFamily="34" charset="-122"/>
                <a:ea typeface="微软雅黑" pitchFamily="34" charset="-122"/>
              </a:rPr>
              <a:t>解释</a:t>
            </a:r>
            <a:r>
              <a:rPr lang="zh-CN" altLang="en-US" sz="2000" b="1" dirty="0">
                <a:latin typeface="微软雅黑" pitchFamily="34" charset="-122"/>
                <a:ea typeface="微软雅黑" pitchFamily="34" charset="-122"/>
              </a:rPr>
              <a:t>这个应用程序的输出，并向浏览器</a:t>
            </a:r>
            <a:r>
              <a:rPr lang="zh-CN" altLang="en-US" sz="2000" b="1" dirty="0">
                <a:solidFill>
                  <a:srgbClr val="0000FF"/>
                </a:solidFill>
                <a:latin typeface="微软雅黑" pitchFamily="34" charset="-122"/>
                <a:ea typeface="微软雅黑" pitchFamily="34" charset="-122"/>
              </a:rPr>
              <a:t>返回</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a:t>
            </a:r>
          </a:p>
        </p:txBody>
      </p:sp>
      <p:sp>
        <p:nvSpPr>
          <p:cNvPr id="3" name="AutoShape 5"/>
          <p:cNvSpPr>
            <a:spLocks noChangeArrowheads="1"/>
          </p:cNvSpPr>
          <p:nvPr/>
        </p:nvSpPr>
        <p:spPr bwMode="auto">
          <a:xfrm>
            <a:off x="556963" y="6128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1475"/>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万维网服务器功能的扩充</a:t>
            </a:r>
          </a:p>
        </p:txBody>
      </p:sp>
    </p:spTree>
    <p:extLst>
      <p:ext uri="{BB962C8B-B14F-4D97-AF65-F5344CB8AC3E}">
        <p14:creationId xmlns:p14="http://schemas.microsoft.com/office/powerpoint/2010/main" val="40169657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7"/>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464089" y="1306545"/>
            <a:ext cx="1117348" cy="1564286"/>
          </a:xfrm>
          <a:prstGeom prst="rect">
            <a:avLst/>
          </a:prstGeom>
        </p:spPr>
      </p:pic>
      <p:pic>
        <p:nvPicPr>
          <p:cNvPr id="52"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9331" y="1565693"/>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6"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63675"/>
            <a:ext cx="326243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扩充了功能的万维网服务器</a:t>
            </a:r>
          </a:p>
        </p:txBody>
      </p:sp>
      <p:grpSp>
        <p:nvGrpSpPr>
          <p:cNvPr id="13" name="Group 49"/>
          <p:cNvGrpSpPr>
            <a:grpSpLocks/>
          </p:cNvGrpSpPr>
          <p:nvPr/>
        </p:nvGrpSpPr>
        <p:grpSpPr bwMode="auto">
          <a:xfrm>
            <a:off x="5765827" y="1852999"/>
            <a:ext cx="1421552" cy="824975"/>
            <a:chOff x="3530" y="1904"/>
            <a:chExt cx="1150" cy="723"/>
          </a:xfrm>
        </p:grpSpPr>
        <p:sp>
          <p:nvSpPr>
            <p:cNvPr id="14" name="AutoShape 5"/>
            <p:cNvSpPr>
              <a:spLocks noChangeArrowheads="1"/>
            </p:cNvSpPr>
            <p:nvPr/>
          </p:nvSpPr>
          <p:spPr bwMode="auto">
            <a:xfrm>
              <a:off x="4238" y="1904"/>
              <a:ext cx="442" cy="289"/>
            </a:xfrm>
            <a:prstGeom prst="can">
              <a:avLst>
                <a:gd name="adj" fmla="val 39583"/>
              </a:avLst>
            </a:prstGeom>
            <a:solidFill>
              <a:srgbClr val="00CC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flipV="1">
              <a:off x="3985" y="2177"/>
              <a:ext cx="393" cy="232"/>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 name="Line 18"/>
            <p:cNvSpPr>
              <a:spLocks noChangeShapeType="1"/>
            </p:cNvSpPr>
            <p:nvPr/>
          </p:nvSpPr>
          <p:spPr bwMode="auto">
            <a:xfrm>
              <a:off x="3530" y="2276"/>
              <a:ext cx="186" cy="181"/>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7" name="Oval 13"/>
            <p:cNvSpPr>
              <a:spLocks noChangeArrowheads="1"/>
            </p:cNvSpPr>
            <p:nvPr/>
          </p:nvSpPr>
          <p:spPr bwMode="auto">
            <a:xfrm>
              <a:off x="3658" y="2401"/>
              <a:ext cx="450" cy="226"/>
            </a:xfrm>
            <a:prstGeom prst="ellipse">
              <a:avLst/>
            </a:prstGeom>
            <a:solidFill>
              <a:srgbClr val="FFC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400" b="1" dirty="0">
                  <a:latin typeface="微软雅黑" pitchFamily="34" charset="-122"/>
                  <a:ea typeface="微软雅黑" pitchFamily="34" charset="-122"/>
                </a:rPr>
                <a:t>CGI</a:t>
              </a:r>
            </a:p>
          </p:txBody>
        </p:sp>
      </p:grpSp>
      <p:grpSp>
        <p:nvGrpSpPr>
          <p:cNvPr id="18" name="Group 45"/>
          <p:cNvGrpSpPr>
            <a:grpSpLocks/>
          </p:cNvGrpSpPr>
          <p:nvPr/>
        </p:nvGrpSpPr>
        <p:grpSpPr bwMode="auto">
          <a:xfrm>
            <a:off x="2223070" y="3241656"/>
            <a:ext cx="4154643" cy="1200381"/>
            <a:chOff x="664" y="3124"/>
            <a:chExt cx="3361" cy="1052"/>
          </a:xfrm>
        </p:grpSpPr>
        <p:sp>
          <p:nvSpPr>
            <p:cNvPr id="19" name="Line 32"/>
            <p:cNvSpPr>
              <a:spLocks noChangeShapeType="1"/>
            </p:cNvSpPr>
            <p:nvPr/>
          </p:nvSpPr>
          <p:spPr bwMode="auto">
            <a:xfrm flipH="1" flipV="1">
              <a:off x="664" y="36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pitchFamily="34" charset="-122"/>
                  <a:ea typeface="微软雅黑" pitchFamily="34" charset="-122"/>
                  <a:sym typeface="Wingdings" pitchFamily="2" charset="2"/>
                </a:rPr>
                <a:t></a:t>
              </a:r>
              <a:endParaRPr kumimoji="1" lang="en-US" altLang="zh-CN" sz="7200" b="1" dirty="0">
                <a:solidFill>
                  <a:srgbClr val="0000FF"/>
                </a:solidFill>
                <a:latin typeface="微软雅黑" pitchFamily="34" charset="-122"/>
                <a:ea typeface="微软雅黑" pitchFamily="34" charset="-122"/>
              </a:endParaRPr>
            </a:p>
          </p:txBody>
        </p:sp>
        <p:sp>
          <p:nvSpPr>
            <p:cNvPr id="21" name="Text Box 36"/>
            <p:cNvSpPr txBox="1">
              <a:spLocks noChangeArrowheads="1"/>
            </p:cNvSpPr>
            <p:nvPr/>
          </p:nvSpPr>
          <p:spPr bwMode="auto">
            <a:xfrm>
              <a:off x="2795" y="3217"/>
              <a:ext cx="123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sym typeface="Wingdings" pitchFamily="2" charset="2"/>
                </a:rPr>
                <a:t></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响应动态文档</a:t>
              </a:r>
            </a:p>
          </p:txBody>
        </p:sp>
        <p:grpSp>
          <p:nvGrpSpPr>
            <p:cNvPr id="22" name="Group 37"/>
            <p:cNvGrpSpPr>
              <a:grpSpLocks/>
            </p:cNvGrpSpPr>
            <p:nvPr/>
          </p:nvGrpSpPr>
          <p:grpSpPr bwMode="auto">
            <a:xfrm flipH="1">
              <a:off x="1039" y="3509"/>
              <a:ext cx="1433" cy="321"/>
              <a:chOff x="1152" y="1824"/>
              <a:chExt cx="1296" cy="240"/>
            </a:xfrm>
          </p:grpSpPr>
          <p:sp>
            <p:nvSpPr>
              <p:cNvPr id="23"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24"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响应报文</a:t>
                </a:r>
              </a:p>
            </p:txBody>
          </p:sp>
        </p:grpSp>
      </p:grpSp>
      <p:sp>
        <p:nvSpPr>
          <p:cNvPr id="25" name="Rectangle 6"/>
          <p:cNvSpPr>
            <a:spLocks noChangeArrowheads="1"/>
          </p:cNvSpPr>
          <p:nvPr/>
        </p:nvSpPr>
        <p:spPr bwMode="auto">
          <a:xfrm>
            <a:off x="5439488" y="1030307"/>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万维网服务器</a:t>
            </a:r>
          </a:p>
        </p:txBody>
      </p:sp>
      <p:sp>
        <p:nvSpPr>
          <p:cNvPr id="26" name="Oval 7"/>
          <p:cNvSpPr>
            <a:spLocks noChangeArrowheads="1"/>
          </p:cNvSpPr>
          <p:nvPr/>
        </p:nvSpPr>
        <p:spPr bwMode="auto">
          <a:xfrm>
            <a:off x="5464090" y="2037719"/>
            <a:ext cx="531658" cy="259166"/>
          </a:xfrm>
          <a:prstGeom prst="ellipse">
            <a:avLst/>
          </a:prstGeom>
          <a:solidFill>
            <a:srgbClr val="00FFFF"/>
          </a:solidFill>
          <a:ln w="9525">
            <a:solidFill>
              <a:schemeClr val="tx1"/>
            </a:solidFill>
            <a:round/>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27" name="Rectangle 8"/>
          <p:cNvSpPr>
            <a:spLocks noChangeArrowheads="1"/>
          </p:cNvSpPr>
          <p:nvPr/>
        </p:nvSpPr>
        <p:spPr bwMode="auto">
          <a:xfrm>
            <a:off x="2940772" y="151751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itchFamily="34" charset="-122"/>
                <a:ea typeface="微软雅黑" pitchFamily="34" charset="-122"/>
              </a:rPr>
              <a:t>浏览器</a:t>
            </a:r>
          </a:p>
          <a:p>
            <a:pPr>
              <a:lnSpc>
                <a:spcPct val="90000"/>
              </a:lnSpc>
            </a:pPr>
            <a:r>
              <a:rPr kumimoji="1" lang="zh-CN" altLang="en-US" sz="1400" b="1" dirty="0">
                <a:latin typeface="微软雅黑" pitchFamily="34" charset="-122"/>
                <a:ea typeface="微软雅黑" pitchFamily="34" charset="-122"/>
              </a:rPr>
              <a:t> 程序</a:t>
            </a:r>
          </a:p>
        </p:txBody>
      </p:sp>
      <p:sp>
        <p:nvSpPr>
          <p:cNvPr id="28" name="Rectangle 9"/>
          <p:cNvSpPr>
            <a:spLocks noChangeArrowheads="1"/>
          </p:cNvSpPr>
          <p:nvPr/>
        </p:nvSpPr>
        <p:spPr bwMode="auto">
          <a:xfrm>
            <a:off x="1815383" y="1290466"/>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万维网客户</a:t>
            </a:r>
          </a:p>
        </p:txBody>
      </p:sp>
      <p:sp>
        <p:nvSpPr>
          <p:cNvPr id="29" name="Line 10"/>
          <p:cNvSpPr>
            <a:spLocks noChangeShapeType="1"/>
          </p:cNvSpPr>
          <p:nvPr/>
        </p:nvSpPr>
        <p:spPr bwMode="auto">
          <a:xfrm>
            <a:off x="5067412" y="1803669"/>
            <a:ext cx="605705" cy="379093"/>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0" name="Rectangle 11"/>
          <p:cNvSpPr>
            <a:spLocks noChangeArrowheads="1"/>
          </p:cNvSpPr>
          <p:nvPr/>
        </p:nvSpPr>
        <p:spPr bwMode="auto">
          <a:xfrm>
            <a:off x="4460470" y="1529820"/>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itchFamily="34" charset="-122"/>
                <a:ea typeface="微软雅黑" pitchFamily="34" charset="-122"/>
              </a:rPr>
              <a:t>服务器</a:t>
            </a:r>
          </a:p>
          <a:p>
            <a:pPr>
              <a:lnSpc>
                <a:spcPct val="90000"/>
              </a:lnSpc>
            </a:pPr>
            <a:r>
              <a:rPr kumimoji="1" lang="zh-CN" altLang="en-US" sz="1400" b="1">
                <a:latin typeface="微软雅黑" pitchFamily="34" charset="-122"/>
                <a:ea typeface="微软雅黑" pitchFamily="34" charset="-122"/>
              </a:rPr>
              <a:t> 程序</a:t>
            </a:r>
          </a:p>
        </p:txBody>
      </p:sp>
      <p:sp>
        <p:nvSpPr>
          <p:cNvPr id="31" name="Rectangle 12"/>
          <p:cNvSpPr>
            <a:spLocks noChangeArrowheads="1"/>
          </p:cNvSpPr>
          <p:nvPr/>
        </p:nvSpPr>
        <p:spPr bwMode="auto">
          <a:xfrm>
            <a:off x="3686651" y="1935156"/>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itchFamily="34" charset="-122"/>
                <a:ea typeface="微软雅黑" pitchFamily="34" charset="-122"/>
              </a:rPr>
              <a:t>HTTP</a:t>
            </a:r>
          </a:p>
        </p:txBody>
      </p:sp>
      <p:sp>
        <p:nvSpPr>
          <p:cNvPr id="32" name="Rectangle 16"/>
          <p:cNvSpPr>
            <a:spLocks noChangeArrowheads="1"/>
          </p:cNvSpPr>
          <p:nvPr/>
        </p:nvSpPr>
        <p:spPr bwMode="auto">
          <a:xfrm>
            <a:off x="6544861" y="1572303"/>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数据库</a:t>
            </a:r>
          </a:p>
        </p:txBody>
      </p:sp>
      <p:sp>
        <p:nvSpPr>
          <p:cNvPr id="34" name="Oval 20"/>
          <p:cNvSpPr>
            <a:spLocks noChangeArrowheads="1"/>
          </p:cNvSpPr>
          <p:nvPr/>
        </p:nvSpPr>
        <p:spPr bwMode="auto">
          <a:xfrm>
            <a:off x="2054028" y="2058059"/>
            <a:ext cx="567551" cy="257114"/>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35" name="Line 21"/>
          <p:cNvSpPr>
            <a:spLocks noChangeShapeType="1"/>
          </p:cNvSpPr>
          <p:nvPr/>
        </p:nvSpPr>
        <p:spPr bwMode="auto">
          <a:xfrm flipH="1">
            <a:off x="2423324" y="1803669"/>
            <a:ext cx="585052" cy="397351"/>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37" name="Group 50"/>
          <p:cNvGrpSpPr>
            <a:grpSpLocks/>
          </p:cNvGrpSpPr>
          <p:nvPr/>
        </p:nvGrpSpPr>
        <p:grpSpPr bwMode="auto">
          <a:xfrm>
            <a:off x="1935051" y="2782951"/>
            <a:ext cx="3964277" cy="1325894"/>
            <a:chOff x="431" y="2722"/>
            <a:chExt cx="3207" cy="1162"/>
          </a:xfrm>
        </p:grpSpPr>
        <p:sp>
          <p:nvSpPr>
            <p:cNvPr id="38" name="Line 27"/>
            <p:cNvSpPr>
              <a:spLocks noChangeShapeType="1"/>
            </p:cNvSpPr>
            <p:nvPr/>
          </p:nvSpPr>
          <p:spPr bwMode="auto">
            <a:xfrm>
              <a:off x="664" y="2791"/>
              <a:ext cx="0" cy="109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9" name="Line 28"/>
            <p:cNvSpPr>
              <a:spLocks noChangeShapeType="1"/>
            </p:cNvSpPr>
            <p:nvPr/>
          </p:nvSpPr>
          <p:spPr bwMode="auto">
            <a:xfrm>
              <a:off x="3638" y="2855"/>
              <a:ext cx="0" cy="1029"/>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0" name="Group 44"/>
            <p:cNvGrpSpPr>
              <a:grpSpLocks/>
            </p:cNvGrpSpPr>
            <p:nvPr/>
          </p:nvGrpSpPr>
          <p:grpSpPr bwMode="auto">
            <a:xfrm>
              <a:off x="431" y="2722"/>
              <a:ext cx="3207" cy="519"/>
              <a:chOff x="431" y="2722"/>
              <a:chExt cx="3207" cy="519"/>
            </a:xfrm>
          </p:grpSpPr>
          <p:sp>
            <p:nvSpPr>
              <p:cNvPr id="41" name="Line 23"/>
              <p:cNvSpPr>
                <a:spLocks noChangeShapeType="1"/>
              </p:cNvSpPr>
              <p:nvPr/>
            </p:nvSpPr>
            <p:spPr bwMode="auto">
              <a:xfrm flipV="1">
                <a:off x="673" y="30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42" name="Group 24"/>
              <p:cNvGrpSpPr>
                <a:grpSpLocks/>
              </p:cNvGrpSpPr>
              <p:nvPr/>
            </p:nvGrpSpPr>
            <p:grpSpPr bwMode="auto">
              <a:xfrm>
                <a:off x="1419" y="2919"/>
                <a:ext cx="1461" cy="322"/>
                <a:chOff x="1152" y="1824"/>
                <a:chExt cx="1296" cy="240"/>
              </a:xfrm>
            </p:grpSpPr>
            <p:sp>
              <p:nvSpPr>
                <p:cNvPr id="44"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45"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grpSp>
          <p:sp>
            <p:nvSpPr>
              <p:cNvPr id="43"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sym typeface="Wingdings" pitchFamily="2" charset="2"/>
                  </a:rPr>
                  <a:t></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请求文档</a:t>
                </a:r>
              </a:p>
            </p:txBody>
          </p:sp>
        </p:grpSp>
      </p:grpSp>
      <p:grpSp>
        <p:nvGrpSpPr>
          <p:cNvPr id="46" name="Group 42"/>
          <p:cNvGrpSpPr>
            <a:grpSpLocks/>
          </p:cNvGrpSpPr>
          <p:nvPr/>
        </p:nvGrpSpPr>
        <p:grpSpPr bwMode="auto">
          <a:xfrm>
            <a:off x="6355464" y="2624355"/>
            <a:ext cx="1976577" cy="1353282"/>
            <a:chOff x="3909" y="2533"/>
            <a:chExt cx="1599" cy="1186"/>
          </a:xfrm>
        </p:grpSpPr>
        <p:sp>
          <p:nvSpPr>
            <p:cNvPr id="47" name="Line 30"/>
            <p:cNvSpPr>
              <a:spLocks noChangeShapeType="1"/>
            </p:cNvSpPr>
            <p:nvPr/>
          </p:nvSpPr>
          <p:spPr bwMode="auto">
            <a:xfrm>
              <a:off x="3909" y="2533"/>
              <a:ext cx="278" cy="336"/>
            </a:xfrm>
            <a:prstGeom prst="line">
              <a:avLst/>
            </a:prstGeom>
            <a:noFill/>
            <a:ln w="28575">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48" name="Text Box 31"/>
            <p:cNvSpPr txBox="1">
              <a:spLocks noChangeArrowheads="1"/>
            </p:cNvSpPr>
            <p:nvPr/>
          </p:nvSpPr>
          <p:spPr bwMode="auto">
            <a:xfrm>
              <a:off x="4260" y="2552"/>
              <a:ext cx="1248" cy="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800" b="1" dirty="0">
                  <a:latin typeface="微软雅黑" pitchFamily="34" charset="-122"/>
                  <a:ea typeface="微软雅黑" pitchFamily="34" charset="-122"/>
                  <a:sym typeface="Wingdings" pitchFamily="2" charset="2"/>
                </a:rPr>
                <a:t></a:t>
              </a:r>
              <a:r>
                <a:rPr kumimoji="1" lang="en-US" altLang="zh-CN" sz="1800" b="1" dirty="0">
                  <a:latin typeface="微软雅黑" pitchFamily="34" charset="-122"/>
                  <a:ea typeface="微软雅黑" pitchFamily="34" charset="-122"/>
                </a:rPr>
                <a:t> </a:t>
              </a:r>
              <a:r>
                <a:rPr kumimoji="1" lang="en-US" altLang="zh-CN" sz="1400" b="1" dirty="0">
                  <a:latin typeface="微软雅黑" pitchFamily="34" charset="-122"/>
                  <a:ea typeface="微软雅黑" pitchFamily="34" charset="-122"/>
                </a:rPr>
                <a:t>CGI </a:t>
              </a:r>
              <a:r>
                <a:rPr kumimoji="1" lang="zh-CN" altLang="en-US" sz="1400" b="1" dirty="0">
                  <a:latin typeface="微软雅黑" pitchFamily="34" charset="-122"/>
                  <a:ea typeface="微软雅黑" pitchFamily="34" charset="-122"/>
                </a:rPr>
                <a:t>程序创建</a:t>
              </a:r>
            </a:p>
            <a:p>
              <a:pPr algn="ctr" eaLnBrk="1" hangingPunct="1"/>
              <a:r>
                <a:rPr kumimoji="1" lang="zh-CN" altLang="en-US" sz="1400" b="1" dirty="0">
                  <a:latin typeface="微软雅黑" pitchFamily="34" charset="-122"/>
                  <a:ea typeface="微软雅黑" pitchFamily="34" charset="-122"/>
                </a:rPr>
                <a:t>动态文档</a:t>
              </a:r>
            </a:p>
          </p:txBody>
        </p:sp>
        <p:sp>
          <p:nvSpPr>
            <p:cNvPr id="49" name="Text Box 35"/>
            <p:cNvSpPr txBox="1">
              <a:spLocks noChangeArrowheads="1"/>
            </p:cNvSpPr>
            <p:nvPr/>
          </p:nvSpPr>
          <p:spPr bwMode="auto">
            <a:xfrm>
              <a:off x="4035" y="2667"/>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pitchFamily="34" charset="-122"/>
                  <a:ea typeface="微软雅黑" pitchFamily="34" charset="-122"/>
                  <a:sym typeface="Wingdings" pitchFamily="2" charset="2"/>
                </a:rPr>
                <a:t></a:t>
              </a:r>
              <a:endParaRPr kumimoji="1" lang="en-US" altLang="zh-CN" sz="7200" b="1" dirty="0">
                <a:solidFill>
                  <a:srgbClr val="0000FF"/>
                </a:solidFill>
                <a:latin typeface="微软雅黑" pitchFamily="34" charset="-122"/>
                <a:ea typeface="微软雅黑" pitchFamily="34" charset="-122"/>
              </a:endParaRPr>
            </a:p>
          </p:txBody>
        </p:sp>
      </p:grpSp>
      <p:sp>
        <p:nvSpPr>
          <p:cNvPr id="50" name="Line 15"/>
          <p:cNvSpPr>
            <a:spLocks noChangeShapeType="1"/>
          </p:cNvSpPr>
          <p:nvPr/>
        </p:nvSpPr>
        <p:spPr bwMode="auto">
          <a:xfrm>
            <a:off x="2490075" y="2219308"/>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Tree>
    <p:extLst>
      <p:ext uri="{BB962C8B-B14F-4D97-AF65-F5344CB8AC3E}">
        <p14:creationId xmlns:p14="http://schemas.microsoft.com/office/powerpoint/2010/main" val="37207427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2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right)">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29685"/>
            <a:ext cx="804877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通用网关接口 </a:t>
            </a:r>
            <a:r>
              <a:rPr lang="en-US" altLang="zh-CN" sz="2000" b="1" dirty="0">
                <a:solidFill>
                  <a:srgbClr val="C00000"/>
                </a:solidFill>
                <a:latin typeface="微软雅黑" pitchFamily="34" charset="-122"/>
                <a:ea typeface="微软雅黑" pitchFamily="34" charset="-122"/>
              </a:rPr>
              <a:t>CGI </a:t>
            </a:r>
            <a:r>
              <a:rPr lang="en-US" altLang="zh-CN" sz="2000" b="1" dirty="0">
                <a:latin typeface="微软雅黑" pitchFamily="34" charset="-122"/>
                <a:ea typeface="微软雅黑" pitchFamily="34" charset="-122"/>
              </a:rPr>
              <a:t>(Common Gateway Interface) </a:t>
            </a:r>
            <a:r>
              <a:rPr lang="zh-CN" altLang="en-US" sz="2000" b="1" dirty="0">
                <a:latin typeface="微软雅黑" pitchFamily="34" charset="-122"/>
                <a:ea typeface="微软雅黑" pitchFamily="34" charset="-122"/>
              </a:rPr>
              <a:t>：定义动态文档应如何创建，输入数据应如何提供给应用程序，以及输出结果应如何使用的一种标准。</a:t>
            </a: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通用</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CGI </a:t>
            </a:r>
            <a:r>
              <a:rPr lang="zh-CN" altLang="en-US" sz="2000" b="1" dirty="0">
                <a:latin typeface="微软雅黑" pitchFamily="34" charset="-122"/>
                <a:ea typeface="微软雅黑" pitchFamily="34" charset="-122"/>
              </a:rPr>
              <a:t>标准所定义的规则对其他任何语言都是通用的。</a:t>
            </a: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网关</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CGI </a:t>
            </a:r>
            <a:r>
              <a:rPr lang="zh-CN" altLang="en-US" sz="2000" b="1" dirty="0">
                <a:latin typeface="微软雅黑" pitchFamily="34" charset="-122"/>
                <a:ea typeface="微软雅黑" pitchFamily="34" charset="-122"/>
              </a:rPr>
              <a:t>程序的作用像网关。</a:t>
            </a: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接口</a:t>
            </a:r>
            <a:r>
              <a:rPr lang="zh-CN" altLang="en-US" sz="2000" b="1" dirty="0">
                <a:latin typeface="微软雅黑" pitchFamily="34" charset="-122"/>
                <a:ea typeface="微软雅黑" pitchFamily="34" charset="-122"/>
              </a:rPr>
              <a:t>：有一些已定义好的变量和调用等可供其他 </a:t>
            </a:r>
            <a:r>
              <a:rPr lang="en-US" altLang="zh-CN" sz="2000" b="1" dirty="0">
                <a:latin typeface="微软雅黑" pitchFamily="34" charset="-122"/>
                <a:ea typeface="微软雅黑" pitchFamily="34" charset="-122"/>
              </a:rPr>
              <a:t>CGI </a:t>
            </a:r>
            <a:r>
              <a:rPr lang="zh-CN" altLang="en-US" sz="2000" b="1" dirty="0">
                <a:latin typeface="微软雅黑" pitchFamily="34" charset="-122"/>
                <a:ea typeface="微软雅黑" pitchFamily="34" charset="-122"/>
              </a:rPr>
              <a:t>程序使用。 </a:t>
            </a:r>
          </a:p>
        </p:txBody>
      </p:sp>
      <p:sp>
        <p:nvSpPr>
          <p:cNvPr id="3" name="AutoShape 5"/>
          <p:cNvSpPr>
            <a:spLocks noChangeArrowheads="1"/>
          </p:cNvSpPr>
          <p:nvPr/>
        </p:nvSpPr>
        <p:spPr bwMode="auto">
          <a:xfrm>
            <a:off x="556963" y="615167"/>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2927"/>
            <a:ext cx="63177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CGI</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0758464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344"/>
            <a:ext cx="804877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正式名字：</a:t>
            </a:r>
            <a:r>
              <a:rPr lang="en-US" altLang="zh-CN" sz="2000" b="1" dirty="0">
                <a:solidFill>
                  <a:srgbClr val="C00000"/>
                </a:solidFill>
                <a:latin typeface="微软雅黑" pitchFamily="34" charset="-122"/>
                <a:ea typeface="微软雅黑" pitchFamily="34" charset="-122"/>
              </a:rPr>
              <a:t>CGI </a:t>
            </a:r>
            <a:r>
              <a:rPr lang="zh-CN" altLang="en-US" sz="2000" b="1" dirty="0">
                <a:solidFill>
                  <a:srgbClr val="C00000"/>
                </a:solidFill>
                <a:latin typeface="微软雅黑" pitchFamily="34" charset="-122"/>
                <a:ea typeface="微软雅黑" pitchFamily="34" charset="-122"/>
              </a:rPr>
              <a:t>脚本 </a:t>
            </a:r>
            <a:r>
              <a:rPr lang="en-US" altLang="zh-CN" sz="2000" b="1" dirty="0">
                <a:latin typeface="微软雅黑" pitchFamily="34" charset="-122"/>
                <a:ea typeface="微软雅黑" pitchFamily="34" charset="-122"/>
              </a:rPr>
              <a:t>(script)</a:t>
            </a:r>
            <a:r>
              <a:rPr lang="zh-CN" altLang="en-US" sz="2000" b="1" dirty="0">
                <a:latin typeface="微软雅黑" pitchFamily="34" charset="-122"/>
                <a:ea typeface="微软雅黑" pitchFamily="34" charset="-122"/>
              </a:rPr>
              <a:t>。</a:t>
            </a:r>
          </a:p>
          <a:p>
            <a:pPr marL="285750" indent="-285750" eaLnBrk="0" hangingPunct="0">
              <a:lnSpc>
                <a:spcPts val="28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脚本</a:t>
            </a:r>
            <a:r>
              <a:rPr lang="zh-CN" altLang="en-US" sz="2000" b="1" dirty="0">
                <a:latin typeface="微软雅黑" pitchFamily="34" charset="-122"/>
                <a:ea typeface="微软雅黑" pitchFamily="34" charset="-122"/>
              </a:rPr>
              <a:t>：指的是一个程序，它被另一个程序（解释程序）而不是计算机的处理机来解释或执行。</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脚本语言 </a:t>
            </a:r>
            <a:r>
              <a:rPr lang="en-US" altLang="zh-CN" sz="2000" b="1" dirty="0">
                <a:latin typeface="微软雅黑" pitchFamily="34" charset="-122"/>
                <a:ea typeface="微软雅黑" pitchFamily="34" charset="-122"/>
              </a:rPr>
              <a:t>(script language)</a:t>
            </a:r>
            <a:r>
              <a:rPr lang="zh-CN" altLang="en-US" sz="2000" b="1" dirty="0">
                <a:latin typeface="微软雅黑" pitchFamily="34" charset="-122"/>
                <a:ea typeface="微软雅黑" pitchFamily="34" charset="-122"/>
              </a:rPr>
              <a:t>：如 </a:t>
            </a:r>
            <a:r>
              <a:rPr lang="en-US" altLang="zh-CN" sz="2000" b="1" dirty="0">
                <a:latin typeface="微软雅黑" pitchFamily="34" charset="-122"/>
                <a:ea typeface="微软雅黑" pitchFamily="34" charset="-122"/>
              </a:rPr>
              <a:t>Perl, JavaScript</a:t>
            </a:r>
            <a:r>
              <a:rPr lang="zh-CN" altLang="en-US"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Tcl</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Tk</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等。也可用一些常用的编程语言写出，如 </a:t>
            </a:r>
            <a:r>
              <a:rPr lang="en-US" altLang="zh-CN" sz="2000" b="1" dirty="0">
                <a:latin typeface="微软雅黑" pitchFamily="34" charset="-122"/>
                <a:ea typeface="微软雅黑" pitchFamily="34" charset="-122"/>
              </a:rPr>
              <a:t>C</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C++</a:t>
            </a:r>
            <a:r>
              <a:rPr lang="zh-CN" altLang="en-US" sz="2000" b="1" dirty="0">
                <a:latin typeface="微软雅黑" pitchFamily="34" charset="-122"/>
                <a:ea typeface="微软雅黑" pitchFamily="34" charset="-122"/>
              </a:rPr>
              <a:t>等。</a:t>
            </a: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脚本运行起来要比一般的编译程序要慢。</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脚本不一定是一个独立的程序，可以是一个动态装入的库，甚至是服务器的一个子程序。</a:t>
            </a:r>
          </a:p>
        </p:txBody>
      </p:sp>
      <p:sp>
        <p:nvSpPr>
          <p:cNvPr id="3" name="AutoShape 5"/>
          <p:cNvSpPr>
            <a:spLocks noChangeArrowheads="1"/>
          </p:cNvSpPr>
          <p:nvPr/>
        </p:nvSpPr>
        <p:spPr bwMode="auto">
          <a:xfrm>
            <a:off x="556963" y="61294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708"/>
            <a:ext cx="173464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CGI </a:t>
            </a:r>
            <a:r>
              <a:rPr lang="zh-CN" altLang="en-US" sz="2000" b="1" dirty="0">
                <a:latin typeface="微软雅黑" pitchFamily="34" charset="-122"/>
                <a:ea typeface="微软雅黑" pitchFamily="34" charset="-122"/>
              </a:rPr>
              <a:t>网关程序</a:t>
            </a:r>
          </a:p>
        </p:txBody>
      </p:sp>
      <p:grpSp>
        <p:nvGrpSpPr>
          <p:cNvPr id="7" name="组合 6"/>
          <p:cNvGrpSpPr/>
          <p:nvPr/>
        </p:nvGrpSpPr>
        <p:grpSpPr>
          <a:xfrm>
            <a:off x="1154100" y="3809875"/>
            <a:ext cx="6684885" cy="824269"/>
            <a:chOff x="1154100" y="3809875"/>
            <a:chExt cx="6684885" cy="824269"/>
          </a:xfrm>
        </p:grpSpPr>
        <p:sp>
          <p:nvSpPr>
            <p:cNvPr id="5" name="对角圆角矩形 4"/>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en-US" altLang="zh-CN" b="1" dirty="0">
                  <a:solidFill>
                    <a:schemeClr val="bg1"/>
                  </a:solidFill>
                  <a:latin typeface="微软雅黑" pitchFamily="34" charset="-122"/>
                  <a:ea typeface="微软雅黑" pitchFamily="34" charset="-122"/>
                </a:rPr>
                <a:t>CGI </a:t>
              </a:r>
              <a:r>
                <a:rPr lang="zh-CN" altLang="en-US" b="1" dirty="0">
                  <a:solidFill>
                    <a:schemeClr val="bg1"/>
                  </a:solidFill>
                  <a:latin typeface="微软雅黑" pitchFamily="34" charset="-122"/>
                  <a:ea typeface="微软雅黑" pitchFamily="34" charset="-122"/>
                </a:rPr>
                <a:t>程序又称为 </a:t>
              </a:r>
              <a:r>
                <a:rPr lang="en-US" altLang="zh-CN" b="1" dirty="0" err="1">
                  <a:solidFill>
                    <a:schemeClr val="bg1"/>
                  </a:solidFill>
                  <a:latin typeface="微软雅黑" pitchFamily="34" charset="-122"/>
                  <a:ea typeface="微软雅黑" pitchFamily="34" charset="-122"/>
                </a:rPr>
                <a:t>cgi</a:t>
              </a:r>
              <a:r>
                <a:rPr lang="en-US" altLang="zh-CN" b="1" dirty="0">
                  <a:solidFill>
                    <a:schemeClr val="bg1"/>
                  </a:solidFill>
                  <a:latin typeface="微软雅黑" pitchFamily="34" charset="-122"/>
                  <a:ea typeface="微软雅黑" pitchFamily="34" charset="-122"/>
                </a:rPr>
                <a:t>-bin </a:t>
              </a:r>
              <a:r>
                <a:rPr lang="zh-CN" altLang="en-US" b="1" dirty="0">
                  <a:solidFill>
                    <a:schemeClr val="bg1"/>
                  </a:solidFill>
                  <a:latin typeface="微软雅黑" pitchFamily="34" charset="-122"/>
                  <a:ea typeface="微软雅黑" pitchFamily="34" charset="-122"/>
                </a:rPr>
                <a:t>脚本，因为在许多万维网服务器上，将 </a:t>
              </a:r>
              <a:r>
                <a:rPr lang="en-US" altLang="zh-CN" b="1" dirty="0">
                  <a:solidFill>
                    <a:schemeClr val="bg1"/>
                  </a:solidFill>
                  <a:latin typeface="微软雅黑" pitchFamily="34" charset="-122"/>
                  <a:ea typeface="微软雅黑" pitchFamily="34" charset="-122"/>
                </a:rPr>
                <a:t>CGI </a:t>
              </a:r>
              <a:r>
                <a:rPr lang="zh-CN" altLang="en-US" b="1" dirty="0">
                  <a:solidFill>
                    <a:schemeClr val="bg1"/>
                  </a:solidFill>
                  <a:latin typeface="微软雅黑" pitchFamily="34" charset="-122"/>
                  <a:ea typeface="微软雅黑" pitchFamily="34" charset="-122"/>
                </a:rPr>
                <a:t>程序放在 </a:t>
              </a:r>
              <a:r>
                <a:rPr lang="en-US" altLang="zh-CN" b="1" dirty="0">
                  <a:solidFill>
                    <a:srgbClr val="FFFF00"/>
                  </a:solidFill>
                  <a:latin typeface="微软雅黑" pitchFamily="34" charset="-122"/>
                  <a:ea typeface="微软雅黑" pitchFamily="34" charset="-122"/>
                </a:rPr>
                <a:t>/</a:t>
              </a:r>
              <a:r>
                <a:rPr lang="en-US" altLang="zh-CN" b="1" dirty="0" err="1">
                  <a:solidFill>
                    <a:srgbClr val="FFFF00"/>
                  </a:solidFill>
                  <a:latin typeface="微软雅黑" pitchFamily="34" charset="-122"/>
                  <a:ea typeface="微软雅黑" pitchFamily="34" charset="-122"/>
                </a:rPr>
                <a:t>cgi</a:t>
              </a:r>
              <a:r>
                <a:rPr lang="en-US" altLang="zh-CN" b="1" dirty="0">
                  <a:solidFill>
                    <a:srgbClr val="FFFF00"/>
                  </a:solidFill>
                  <a:latin typeface="微软雅黑" pitchFamily="34" charset="-122"/>
                  <a:ea typeface="微软雅黑" pitchFamily="34" charset="-122"/>
                </a:rPr>
                <a:t>-bin </a:t>
              </a:r>
              <a:r>
                <a:rPr lang="zh-CN" altLang="en-US" b="1" dirty="0">
                  <a:solidFill>
                    <a:schemeClr val="bg1"/>
                  </a:solidFill>
                  <a:latin typeface="微软雅黑" pitchFamily="34" charset="-122"/>
                  <a:ea typeface="微软雅黑" pitchFamily="34" charset="-122"/>
                </a:rPr>
                <a:t>的目录下。</a:t>
              </a:r>
              <a:endParaRPr lang="zh-CN" altLang="en-US" b="1" dirty="0">
                <a:solidFill>
                  <a:srgbClr val="FFC000"/>
                </a:solidFill>
                <a:latin typeface="微软雅黑" pitchFamily="34" charset="-122"/>
                <a:ea typeface="微软雅黑" pitchFamily="34" charset="-122"/>
              </a:endParaRPr>
            </a:p>
          </p:txBody>
        </p:sp>
      </p:grpSp>
    </p:spTree>
    <p:extLst>
      <p:ext uri="{BB962C8B-B14F-4D97-AF65-F5344CB8AC3E}">
        <p14:creationId xmlns:p14="http://schemas.microsoft.com/office/powerpoint/2010/main" val="396989607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82480"/>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活动万维网文档</a:t>
            </a:r>
          </a:p>
        </p:txBody>
      </p:sp>
      <p:sp>
        <p:nvSpPr>
          <p:cNvPr id="4" name="Rectangle 68"/>
          <p:cNvSpPr>
            <a:spLocks noChangeArrowheads="1"/>
          </p:cNvSpPr>
          <p:nvPr/>
        </p:nvSpPr>
        <p:spPr bwMode="auto">
          <a:xfrm>
            <a:off x="483810" y="967903"/>
            <a:ext cx="8285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活动文档 </a:t>
            </a:r>
            <a:r>
              <a:rPr lang="en-US" altLang="zh-CN" sz="2000" b="1" dirty="0">
                <a:solidFill>
                  <a:srgbClr val="C00000"/>
                </a:solidFill>
                <a:latin typeface="微软雅黑" pitchFamily="34" charset="-122"/>
                <a:ea typeface="微软雅黑" pitchFamily="34" charset="-122"/>
              </a:rPr>
              <a:t>(active document) </a:t>
            </a:r>
            <a:r>
              <a:rPr lang="zh-CN" altLang="en-US" sz="2000" b="1" dirty="0">
                <a:solidFill>
                  <a:srgbClr val="C00000"/>
                </a:solidFill>
                <a:latin typeface="微软雅黑" pitchFamily="34" charset="-122"/>
                <a:ea typeface="微软雅黑" pitchFamily="34" charset="-122"/>
              </a:rPr>
              <a:t>技术：</a:t>
            </a:r>
            <a:r>
              <a:rPr lang="zh-CN" altLang="en-US" sz="2000" b="1" dirty="0">
                <a:latin typeface="微软雅黑" pitchFamily="34" charset="-122"/>
                <a:ea typeface="微软雅黑" pitchFamily="34" charset="-122"/>
              </a:rPr>
              <a:t>把屏幕连续更新的工作转移给</a:t>
            </a:r>
            <a:r>
              <a:rPr lang="zh-CN" altLang="en-US" sz="2000" b="1" dirty="0">
                <a:solidFill>
                  <a:srgbClr val="0000FF"/>
                </a:solidFill>
                <a:latin typeface="微软雅黑" pitchFamily="34" charset="-122"/>
                <a:ea typeface="微软雅黑" pitchFamily="34" charset="-122"/>
              </a:rPr>
              <a:t>浏览器端。</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每当浏览器请求一个活动文档时，服务器就返回一段</a:t>
            </a:r>
            <a:r>
              <a:rPr lang="zh-CN" altLang="en-US" sz="2000" b="1" dirty="0">
                <a:solidFill>
                  <a:srgbClr val="C00000"/>
                </a:solidFill>
                <a:latin typeface="微软雅黑" pitchFamily="34" charset="-122"/>
                <a:ea typeface="微软雅黑" pitchFamily="34" charset="-122"/>
              </a:rPr>
              <a:t>程序副本</a:t>
            </a:r>
            <a:r>
              <a:rPr lang="zh-CN" altLang="en-US" sz="2000" b="1" dirty="0">
                <a:latin typeface="微软雅黑" pitchFamily="34" charset="-122"/>
                <a:ea typeface="微软雅黑" pitchFamily="34" charset="-122"/>
              </a:rPr>
              <a:t>在浏览器端运行。</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活动文档程序可与用户</a:t>
            </a:r>
            <a:r>
              <a:rPr lang="zh-CN" altLang="en-US" sz="2000" b="1" dirty="0">
                <a:solidFill>
                  <a:srgbClr val="C00000"/>
                </a:solidFill>
                <a:latin typeface="微软雅黑" pitchFamily="34" charset="-122"/>
                <a:ea typeface="微软雅黑" pitchFamily="34" charset="-122"/>
              </a:rPr>
              <a:t>直接交互，</a:t>
            </a:r>
            <a:r>
              <a:rPr lang="zh-CN" altLang="en-US" sz="2000" b="1" dirty="0">
                <a:latin typeface="微软雅黑" pitchFamily="34" charset="-122"/>
                <a:ea typeface="微软雅黑" pitchFamily="34" charset="-122"/>
              </a:rPr>
              <a:t>并可连续地改变屏幕的显示。</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由于活动文档技术</a:t>
            </a:r>
            <a:r>
              <a:rPr lang="zh-CN" altLang="en-US" sz="2000" b="1" dirty="0">
                <a:solidFill>
                  <a:srgbClr val="C00000"/>
                </a:solidFill>
                <a:latin typeface="微软雅黑" pitchFamily="34" charset="-122"/>
                <a:ea typeface="微软雅黑" pitchFamily="34" charset="-122"/>
              </a:rPr>
              <a:t>不需要</a:t>
            </a:r>
            <a:r>
              <a:rPr lang="zh-CN" altLang="en-US" sz="2000" b="1" dirty="0">
                <a:latin typeface="微软雅黑" pitchFamily="34" charset="-122"/>
                <a:ea typeface="微软雅黑" pitchFamily="34" charset="-122"/>
              </a:rPr>
              <a:t>服务器的连续更新传送，对网络带宽的要求也不会太高。 </a:t>
            </a:r>
          </a:p>
        </p:txBody>
      </p:sp>
    </p:spTree>
    <p:extLst>
      <p:ext uri="{BB962C8B-B14F-4D97-AF65-F5344CB8AC3E}">
        <p14:creationId xmlns:p14="http://schemas.microsoft.com/office/powerpoint/2010/main" val="4414462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5490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Text Box 35"/>
          <p:cNvSpPr txBox="1">
            <a:spLocks noChangeArrowheads="1"/>
          </p:cNvSpPr>
          <p:nvPr/>
        </p:nvSpPr>
        <p:spPr bwMode="auto">
          <a:xfrm>
            <a:off x="6787313" y="1644546"/>
            <a:ext cx="830681" cy="1200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pitchFamily="34" charset="-122"/>
                <a:ea typeface="微软雅黑" pitchFamily="34" charset="-122"/>
                <a:sym typeface="Wingdings" pitchFamily="2" charset="2"/>
              </a:rPr>
              <a:t></a:t>
            </a:r>
            <a:endParaRPr kumimoji="1" lang="en-US" altLang="zh-CN" sz="7200" b="1" dirty="0">
              <a:solidFill>
                <a:srgbClr val="0000FF"/>
              </a:solidFill>
              <a:latin typeface="微软雅黑" pitchFamily="34" charset="-122"/>
              <a:ea typeface="微软雅黑" pitchFamily="34" charset="-122"/>
            </a:endParaRP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464089" y="1310914"/>
            <a:ext cx="1117348" cy="1564286"/>
          </a:xfrm>
          <a:prstGeom prst="rect">
            <a:avLst/>
          </a:prstGeom>
        </p:spPr>
      </p:pic>
      <p:pic>
        <p:nvPicPr>
          <p:cNvPr id="4"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9331" y="1570062"/>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活动文档在客户端创建</a:t>
            </a:r>
          </a:p>
        </p:txBody>
      </p:sp>
      <p:sp>
        <p:nvSpPr>
          <p:cNvPr id="8" name="AutoShape 5"/>
          <p:cNvSpPr>
            <a:spLocks noChangeArrowheads="1"/>
          </p:cNvSpPr>
          <p:nvPr/>
        </p:nvSpPr>
        <p:spPr bwMode="auto">
          <a:xfrm>
            <a:off x="6920814" y="2608418"/>
            <a:ext cx="546370" cy="329762"/>
          </a:xfrm>
          <a:prstGeom prst="can">
            <a:avLst>
              <a:gd name="adj" fmla="val 39583"/>
            </a:avLst>
          </a:prstGeom>
          <a:solidFill>
            <a:srgbClr val="00CC00"/>
          </a:solidFill>
          <a:ln w="9525">
            <a:solidFill>
              <a:schemeClr val="tx1"/>
            </a:solidFill>
            <a:round/>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grpSp>
        <p:nvGrpSpPr>
          <p:cNvPr id="12" name="Group 45"/>
          <p:cNvGrpSpPr>
            <a:grpSpLocks/>
          </p:cNvGrpSpPr>
          <p:nvPr/>
        </p:nvGrpSpPr>
        <p:grpSpPr bwMode="auto">
          <a:xfrm>
            <a:off x="2223070" y="3246025"/>
            <a:ext cx="3759079" cy="1200381"/>
            <a:chOff x="664" y="3124"/>
            <a:chExt cx="3041" cy="1052"/>
          </a:xfrm>
        </p:grpSpPr>
        <p:sp>
          <p:nvSpPr>
            <p:cNvPr id="13" name="Line 32"/>
            <p:cNvSpPr>
              <a:spLocks noChangeShapeType="1"/>
            </p:cNvSpPr>
            <p:nvPr/>
          </p:nvSpPr>
          <p:spPr bwMode="auto">
            <a:xfrm flipH="1" flipV="1">
              <a:off x="664" y="36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Text Box 36"/>
            <p:cNvSpPr txBox="1">
              <a:spLocks noChangeArrowheads="1"/>
            </p:cNvSpPr>
            <p:nvPr/>
          </p:nvSpPr>
          <p:spPr bwMode="auto">
            <a:xfrm>
              <a:off x="2809" y="3369"/>
              <a:ext cx="896"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800" b="1" dirty="0">
                  <a:latin typeface="微软雅黑" pitchFamily="34" charset="-122"/>
                  <a:ea typeface="微软雅黑" pitchFamily="34" charset="-122"/>
                  <a:sym typeface="Wingdings" pitchFamily="2" charset="2"/>
                </a:rPr>
                <a:t></a:t>
              </a:r>
              <a:r>
                <a:rPr kumimoji="1" lang="zh-CN" altLang="en-US" sz="1400" b="1" dirty="0">
                  <a:latin typeface="微软雅黑" pitchFamily="34" charset="-122"/>
                  <a:ea typeface="微软雅黑" pitchFamily="34" charset="-122"/>
                </a:rPr>
                <a:t>响应程序</a:t>
              </a:r>
            </a:p>
          </p:txBody>
        </p:sp>
        <p:grpSp>
          <p:nvGrpSpPr>
            <p:cNvPr id="16" name="Group 37"/>
            <p:cNvGrpSpPr>
              <a:grpSpLocks/>
            </p:cNvGrpSpPr>
            <p:nvPr/>
          </p:nvGrpSpPr>
          <p:grpSpPr bwMode="auto">
            <a:xfrm flipH="1">
              <a:off x="1039" y="3509"/>
              <a:ext cx="1433" cy="321"/>
              <a:chOff x="1152" y="1824"/>
              <a:chExt cx="1296" cy="240"/>
            </a:xfrm>
          </p:grpSpPr>
          <p:sp>
            <p:nvSpPr>
              <p:cNvPr id="17"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8"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响应报文</a:t>
                </a:r>
              </a:p>
            </p:txBody>
          </p:sp>
        </p:grpSp>
        <p:sp>
          <p:nvSpPr>
            <p:cNvPr id="14"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7200" b="1" dirty="0">
                  <a:solidFill>
                    <a:srgbClr val="0000FF"/>
                  </a:solidFill>
                  <a:latin typeface="微软雅黑" pitchFamily="34" charset="-122"/>
                  <a:ea typeface="微软雅黑" pitchFamily="34" charset="-122"/>
                  <a:sym typeface="Wingdings" pitchFamily="2" charset="2"/>
                </a:rPr>
                <a:t></a:t>
              </a:r>
              <a:endParaRPr kumimoji="1" lang="en-US" altLang="zh-CN" sz="7200" b="1" dirty="0">
                <a:solidFill>
                  <a:srgbClr val="0000FF"/>
                </a:solidFill>
                <a:latin typeface="微软雅黑" pitchFamily="34" charset="-122"/>
                <a:ea typeface="微软雅黑" pitchFamily="34" charset="-122"/>
              </a:endParaRPr>
            </a:p>
          </p:txBody>
        </p:sp>
      </p:grpSp>
      <p:sp>
        <p:nvSpPr>
          <p:cNvPr id="19" name="Rectangle 6"/>
          <p:cNvSpPr>
            <a:spLocks noChangeArrowheads="1"/>
          </p:cNvSpPr>
          <p:nvPr/>
        </p:nvSpPr>
        <p:spPr bwMode="auto">
          <a:xfrm>
            <a:off x="5439488" y="1034676"/>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万维网服务器</a:t>
            </a:r>
          </a:p>
        </p:txBody>
      </p:sp>
      <p:sp>
        <p:nvSpPr>
          <p:cNvPr id="20" name="Oval 7"/>
          <p:cNvSpPr>
            <a:spLocks noChangeArrowheads="1"/>
          </p:cNvSpPr>
          <p:nvPr/>
        </p:nvSpPr>
        <p:spPr bwMode="auto">
          <a:xfrm>
            <a:off x="5464090" y="2042088"/>
            <a:ext cx="531658" cy="259166"/>
          </a:xfrm>
          <a:prstGeom prst="ellipse">
            <a:avLst/>
          </a:prstGeom>
          <a:solidFill>
            <a:srgbClr val="00FFFF"/>
          </a:solidFill>
          <a:ln w="9525">
            <a:solidFill>
              <a:schemeClr val="tx1"/>
            </a:solidFill>
            <a:round/>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21" name="Rectangle 8"/>
          <p:cNvSpPr>
            <a:spLocks noChangeArrowheads="1"/>
          </p:cNvSpPr>
          <p:nvPr/>
        </p:nvSpPr>
        <p:spPr bwMode="auto">
          <a:xfrm>
            <a:off x="2940772" y="1521888"/>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itchFamily="34" charset="-122"/>
                <a:ea typeface="微软雅黑" pitchFamily="34" charset="-122"/>
              </a:rPr>
              <a:t>浏览器</a:t>
            </a:r>
          </a:p>
          <a:p>
            <a:pPr>
              <a:lnSpc>
                <a:spcPct val="90000"/>
              </a:lnSpc>
            </a:pPr>
            <a:r>
              <a:rPr kumimoji="1" lang="zh-CN" altLang="en-US" sz="1400" b="1" dirty="0">
                <a:latin typeface="微软雅黑" pitchFamily="34" charset="-122"/>
                <a:ea typeface="微软雅黑" pitchFamily="34" charset="-122"/>
              </a:rPr>
              <a:t> 程序</a:t>
            </a:r>
          </a:p>
        </p:txBody>
      </p:sp>
      <p:sp>
        <p:nvSpPr>
          <p:cNvPr id="22" name="Rectangle 9"/>
          <p:cNvSpPr>
            <a:spLocks noChangeArrowheads="1"/>
          </p:cNvSpPr>
          <p:nvPr/>
        </p:nvSpPr>
        <p:spPr bwMode="auto">
          <a:xfrm>
            <a:off x="1815383" y="1294835"/>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itchFamily="34" charset="-122"/>
                <a:ea typeface="微软雅黑" pitchFamily="34" charset="-122"/>
              </a:rPr>
              <a:t>万维网客户</a:t>
            </a:r>
          </a:p>
        </p:txBody>
      </p:sp>
      <p:sp>
        <p:nvSpPr>
          <p:cNvPr id="23" name="Line 10"/>
          <p:cNvSpPr>
            <a:spLocks noChangeShapeType="1"/>
          </p:cNvSpPr>
          <p:nvPr/>
        </p:nvSpPr>
        <p:spPr bwMode="auto">
          <a:xfrm>
            <a:off x="5067412" y="1808038"/>
            <a:ext cx="605705" cy="379093"/>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4" name="Rectangle 11"/>
          <p:cNvSpPr>
            <a:spLocks noChangeArrowheads="1"/>
          </p:cNvSpPr>
          <p:nvPr/>
        </p:nvSpPr>
        <p:spPr bwMode="auto">
          <a:xfrm>
            <a:off x="4460470" y="153418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itchFamily="34" charset="-122"/>
                <a:ea typeface="微软雅黑" pitchFamily="34" charset="-122"/>
              </a:rPr>
              <a:t>服务器</a:t>
            </a:r>
          </a:p>
          <a:p>
            <a:pPr>
              <a:lnSpc>
                <a:spcPct val="90000"/>
              </a:lnSpc>
            </a:pPr>
            <a:r>
              <a:rPr kumimoji="1" lang="zh-CN" altLang="en-US" sz="1400" b="1">
                <a:latin typeface="微软雅黑" pitchFamily="34" charset="-122"/>
                <a:ea typeface="微软雅黑" pitchFamily="34" charset="-122"/>
              </a:rPr>
              <a:t> 程序</a:t>
            </a:r>
          </a:p>
        </p:txBody>
      </p:sp>
      <p:sp>
        <p:nvSpPr>
          <p:cNvPr id="25" name="Rectangle 12"/>
          <p:cNvSpPr>
            <a:spLocks noChangeArrowheads="1"/>
          </p:cNvSpPr>
          <p:nvPr/>
        </p:nvSpPr>
        <p:spPr bwMode="auto">
          <a:xfrm>
            <a:off x="3686651" y="1939525"/>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itchFamily="34" charset="-122"/>
                <a:ea typeface="微软雅黑" pitchFamily="34" charset="-122"/>
              </a:rPr>
              <a:t>HTTP</a:t>
            </a:r>
          </a:p>
        </p:txBody>
      </p:sp>
      <p:sp>
        <p:nvSpPr>
          <p:cNvPr id="27" name="Oval 20"/>
          <p:cNvSpPr>
            <a:spLocks noChangeArrowheads="1"/>
          </p:cNvSpPr>
          <p:nvPr/>
        </p:nvSpPr>
        <p:spPr bwMode="auto">
          <a:xfrm>
            <a:off x="2054028" y="2062428"/>
            <a:ext cx="567551" cy="257114"/>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28" name="Line 21"/>
          <p:cNvSpPr>
            <a:spLocks noChangeShapeType="1"/>
          </p:cNvSpPr>
          <p:nvPr/>
        </p:nvSpPr>
        <p:spPr bwMode="auto">
          <a:xfrm flipH="1">
            <a:off x="2423324" y="1808038"/>
            <a:ext cx="585052" cy="397351"/>
          </a:xfrm>
          <a:prstGeom prst="line">
            <a:avLst/>
          </a:prstGeom>
          <a:noFill/>
          <a:ln w="28575">
            <a:solidFill>
              <a:srgbClr val="FF00FF"/>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nvGrpSpPr>
          <p:cNvPr id="29" name="Group 50"/>
          <p:cNvGrpSpPr>
            <a:grpSpLocks/>
          </p:cNvGrpSpPr>
          <p:nvPr/>
        </p:nvGrpSpPr>
        <p:grpSpPr bwMode="auto">
          <a:xfrm>
            <a:off x="1935051" y="2787320"/>
            <a:ext cx="3964277" cy="1325894"/>
            <a:chOff x="431" y="2722"/>
            <a:chExt cx="3207" cy="1162"/>
          </a:xfrm>
        </p:grpSpPr>
        <p:sp>
          <p:nvSpPr>
            <p:cNvPr id="30" name="Line 27"/>
            <p:cNvSpPr>
              <a:spLocks noChangeShapeType="1"/>
            </p:cNvSpPr>
            <p:nvPr/>
          </p:nvSpPr>
          <p:spPr bwMode="auto">
            <a:xfrm>
              <a:off x="664" y="2791"/>
              <a:ext cx="0" cy="109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Line 28"/>
            <p:cNvSpPr>
              <a:spLocks noChangeShapeType="1"/>
            </p:cNvSpPr>
            <p:nvPr/>
          </p:nvSpPr>
          <p:spPr bwMode="auto">
            <a:xfrm>
              <a:off x="3638" y="2855"/>
              <a:ext cx="0" cy="1029"/>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2" name="Group 44"/>
            <p:cNvGrpSpPr>
              <a:grpSpLocks/>
            </p:cNvGrpSpPr>
            <p:nvPr/>
          </p:nvGrpSpPr>
          <p:grpSpPr bwMode="auto">
            <a:xfrm>
              <a:off x="431" y="2722"/>
              <a:ext cx="3207" cy="519"/>
              <a:chOff x="431" y="2722"/>
              <a:chExt cx="3207" cy="519"/>
            </a:xfrm>
          </p:grpSpPr>
          <p:sp>
            <p:nvSpPr>
              <p:cNvPr id="33" name="Line 23"/>
              <p:cNvSpPr>
                <a:spLocks noChangeShapeType="1"/>
              </p:cNvSpPr>
              <p:nvPr/>
            </p:nvSpPr>
            <p:spPr bwMode="auto">
              <a:xfrm flipV="1">
                <a:off x="673" y="3080"/>
                <a:ext cx="2965" cy="11"/>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34" name="Group 24"/>
              <p:cNvGrpSpPr>
                <a:grpSpLocks/>
              </p:cNvGrpSpPr>
              <p:nvPr/>
            </p:nvGrpSpPr>
            <p:grpSpPr bwMode="auto">
              <a:xfrm>
                <a:off x="1419" y="2919"/>
                <a:ext cx="1461" cy="322"/>
                <a:chOff x="1152" y="1824"/>
                <a:chExt cx="1296" cy="240"/>
              </a:xfrm>
            </p:grpSpPr>
            <p:sp>
              <p:nvSpPr>
                <p:cNvPr id="36"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37"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HTTP </a:t>
                  </a:r>
                  <a:r>
                    <a:rPr kumimoji="1" lang="zh-CN" altLang="en-US" sz="1400" b="1" dirty="0">
                      <a:solidFill>
                        <a:schemeClr val="bg1"/>
                      </a:solidFill>
                      <a:latin typeface="微软雅黑" pitchFamily="34" charset="-122"/>
                      <a:ea typeface="微软雅黑" pitchFamily="34" charset="-122"/>
                    </a:rPr>
                    <a:t>请求报文</a:t>
                  </a:r>
                </a:p>
              </p:txBody>
            </p:sp>
          </p:grpSp>
          <p:sp>
            <p:nvSpPr>
              <p:cNvPr id="35"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dirty="0">
                    <a:latin typeface="微软雅黑" pitchFamily="34" charset="-122"/>
                    <a:ea typeface="微软雅黑" pitchFamily="34" charset="-122"/>
                    <a:sym typeface="Wingdings" pitchFamily="2" charset="2"/>
                  </a:rPr>
                  <a:t></a:t>
                </a:r>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请求文档</a:t>
                </a:r>
              </a:p>
            </p:txBody>
          </p:sp>
        </p:grpSp>
      </p:grpSp>
      <p:sp>
        <p:nvSpPr>
          <p:cNvPr id="40" name="Text Box 31"/>
          <p:cNvSpPr txBox="1">
            <a:spLocks noChangeArrowheads="1"/>
          </p:cNvSpPr>
          <p:nvPr/>
        </p:nvSpPr>
        <p:spPr bwMode="auto">
          <a:xfrm>
            <a:off x="1039584" y="3445400"/>
            <a:ext cx="1176925" cy="800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800" b="1" dirty="0">
                <a:solidFill>
                  <a:srgbClr val="0000FF"/>
                </a:solidFill>
                <a:latin typeface="微软雅黑" pitchFamily="34" charset="-122"/>
                <a:ea typeface="微软雅黑" pitchFamily="34" charset="-122"/>
                <a:sym typeface="Wingdings" pitchFamily="2" charset="2"/>
              </a:rPr>
              <a:t> </a:t>
            </a:r>
            <a:r>
              <a:rPr kumimoji="1" lang="zh-CN" altLang="en-US" sz="1400" b="1" dirty="0">
                <a:solidFill>
                  <a:srgbClr val="0000FF"/>
                </a:solidFill>
                <a:latin typeface="微软雅黑" pitchFamily="34" charset="-122"/>
                <a:ea typeface="微软雅黑" pitchFamily="34" charset="-122"/>
              </a:rPr>
              <a:t>此程序在</a:t>
            </a:r>
          </a:p>
          <a:p>
            <a:pPr algn="ctr"/>
            <a:r>
              <a:rPr kumimoji="1" lang="zh-CN" altLang="en-US" sz="1400" b="1" dirty="0">
                <a:solidFill>
                  <a:srgbClr val="CC00FF"/>
                </a:solidFill>
                <a:latin typeface="微软雅黑" pitchFamily="34" charset="-122"/>
                <a:ea typeface="微软雅黑" pitchFamily="34" charset="-122"/>
              </a:rPr>
              <a:t>客户端</a:t>
            </a:r>
            <a:r>
              <a:rPr kumimoji="1" lang="zh-CN" altLang="en-US" sz="1400" b="1" dirty="0">
                <a:solidFill>
                  <a:srgbClr val="0000FF"/>
                </a:solidFill>
                <a:latin typeface="微软雅黑" pitchFamily="34" charset="-122"/>
                <a:ea typeface="微软雅黑" pitchFamily="34" charset="-122"/>
              </a:rPr>
              <a:t>创建</a:t>
            </a:r>
          </a:p>
          <a:p>
            <a:pPr algn="ctr"/>
            <a:r>
              <a:rPr kumimoji="1" lang="zh-CN" altLang="en-US" sz="1400" b="1" dirty="0">
                <a:solidFill>
                  <a:srgbClr val="0000FF"/>
                </a:solidFill>
                <a:latin typeface="微软雅黑" pitchFamily="34" charset="-122"/>
                <a:ea typeface="微软雅黑" pitchFamily="34" charset="-122"/>
              </a:rPr>
              <a:t>出活动文档</a:t>
            </a:r>
          </a:p>
        </p:txBody>
      </p:sp>
      <p:sp>
        <p:nvSpPr>
          <p:cNvPr id="42" name="Line 15"/>
          <p:cNvSpPr>
            <a:spLocks noChangeShapeType="1"/>
          </p:cNvSpPr>
          <p:nvPr/>
        </p:nvSpPr>
        <p:spPr bwMode="auto">
          <a:xfrm>
            <a:off x="2490075" y="2223677"/>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5" name="Text Box 31"/>
          <p:cNvSpPr txBox="1">
            <a:spLocks noChangeArrowheads="1"/>
          </p:cNvSpPr>
          <p:nvPr/>
        </p:nvSpPr>
        <p:spPr bwMode="auto">
          <a:xfrm>
            <a:off x="6490906" y="2955417"/>
            <a:ext cx="143940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latin typeface="微软雅黑" pitchFamily="34" charset="-122"/>
                <a:ea typeface="微软雅黑" pitchFamily="34" charset="-122"/>
              </a:rPr>
              <a:t>程序</a:t>
            </a:r>
            <a:r>
              <a:rPr kumimoji="1" lang="zh-CN" altLang="en-US" sz="1400" b="1" dirty="0">
                <a:solidFill>
                  <a:srgbClr val="0000FF"/>
                </a:solidFill>
                <a:latin typeface="微软雅黑" pitchFamily="34" charset="-122"/>
                <a:ea typeface="微软雅黑" pitchFamily="34" charset="-122"/>
              </a:rPr>
              <a:t>事先</a:t>
            </a:r>
            <a:r>
              <a:rPr kumimoji="1" lang="zh-CN" altLang="en-US" sz="1400" b="1" dirty="0">
                <a:latin typeface="微软雅黑" pitchFamily="34" charset="-122"/>
                <a:ea typeface="微软雅黑" pitchFamily="34" charset="-122"/>
              </a:rPr>
              <a:t>被编译成二进制代码，存放为文件</a:t>
            </a:r>
          </a:p>
        </p:txBody>
      </p:sp>
      <p:sp>
        <p:nvSpPr>
          <p:cNvPr id="10" name="Line 18"/>
          <p:cNvSpPr>
            <a:spLocks noChangeShapeType="1"/>
          </p:cNvSpPr>
          <p:nvPr/>
        </p:nvSpPr>
        <p:spPr bwMode="auto">
          <a:xfrm>
            <a:off x="5845975" y="2187131"/>
            <a:ext cx="1176617" cy="586168"/>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6" name="Text Box 31"/>
          <p:cNvSpPr txBox="1">
            <a:spLocks noChangeArrowheads="1"/>
          </p:cNvSpPr>
          <p:nvPr/>
        </p:nvSpPr>
        <p:spPr bwMode="auto">
          <a:xfrm>
            <a:off x="6845948" y="1598383"/>
            <a:ext cx="6113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latin typeface="微软雅黑" pitchFamily="34" charset="-122"/>
                <a:ea typeface="微软雅黑" pitchFamily="34" charset="-122"/>
              </a:rPr>
              <a:t>程序</a:t>
            </a:r>
          </a:p>
        </p:txBody>
      </p:sp>
    </p:spTree>
    <p:extLst>
      <p:ext uri="{BB962C8B-B14F-4D97-AF65-F5344CB8AC3E}">
        <p14:creationId xmlns:p14="http://schemas.microsoft.com/office/powerpoint/2010/main" val="29419260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2000"/>
                                        <p:tgtEl>
                                          <p:spTgt spid="29"/>
                                        </p:tgtEl>
                                      </p:cBhvr>
                                    </p:animEffect>
                                  </p:childTnLst>
                                </p:cTn>
                              </p:par>
                            </p:childTnLst>
                          </p:cTn>
                        </p:par>
                        <p:par>
                          <p:cTn id="8" fill="hold">
                            <p:stCondLst>
                              <p:cond delay="2000"/>
                            </p:stCondLst>
                            <p:childTnLst>
                              <p:par>
                                <p:cTn id="9" presetID="22" presetClass="entr" presetSubtype="2"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right)">
                                      <p:cBhvr>
                                        <p:cTn id="11" dur="2000"/>
                                        <p:tgtEl>
                                          <p:spTgt spid="12"/>
                                        </p:tgtEl>
                                      </p:cBhvr>
                                    </p:animEffect>
                                  </p:childTnLst>
                                </p:cTn>
                              </p:par>
                            </p:childTnLst>
                          </p:cTn>
                        </p:par>
                        <p:par>
                          <p:cTn id="12" fill="hold">
                            <p:stCondLst>
                              <p:cond delay="4500"/>
                            </p:stCondLst>
                            <p:childTnLst>
                              <p:par>
                                <p:cTn id="13" presetID="1" presetClass="entr" presetSubtype="0" fill="hold" grpId="0" nodeType="afterEffect">
                                  <p:stCondLst>
                                    <p:cond delay="250"/>
                                  </p:stCondLst>
                                  <p:childTnLst>
                                    <p:set>
                                      <p:cBhvr>
                                        <p:cTn id="14"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2405"/>
            <a:ext cx="8230421"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Java</a:t>
            </a:r>
            <a:r>
              <a:rPr lang="en-US" altLang="zh-CN" sz="2000" b="1" dirty="0">
                <a:solidFill>
                  <a:srgbClr val="0000FF"/>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语言是一项用于创建和运行活动文档的技术。</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 </a:t>
            </a:r>
            <a:r>
              <a:rPr lang="en-US" altLang="zh-CN" sz="2000" b="1" dirty="0">
                <a:latin typeface="微软雅黑" pitchFamily="34" charset="-122"/>
                <a:ea typeface="微软雅黑" pitchFamily="34" charset="-122"/>
              </a:rPr>
              <a:t>Java </a:t>
            </a:r>
            <a:r>
              <a:rPr lang="zh-CN" altLang="en-US" sz="2000" b="1" dirty="0">
                <a:latin typeface="微软雅黑" pitchFamily="34" charset="-122"/>
                <a:ea typeface="微软雅黑" pitchFamily="34" charset="-122"/>
              </a:rPr>
              <a:t>技术中使用</a:t>
            </a:r>
            <a:r>
              <a:rPr lang="zh-CN" altLang="en-US" sz="2000" b="1" dirty="0">
                <a:solidFill>
                  <a:srgbClr val="C00000"/>
                </a:solidFill>
                <a:latin typeface="微软雅黑" pitchFamily="34" charset="-122"/>
                <a:ea typeface="微软雅黑" pitchFamily="34" charset="-122"/>
              </a:rPr>
              <a:t>小应用程序</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(applet) </a:t>
            </a:r>
            <a:r>
              <a:rPr lang="zh-CN" altLang="en-US" sz="2000" b="1" dirty="0">
                <a:latin typeface="微软雅黑" pitchFamily="34" charset="-122"/>
                <a:ea typeface="微软雅黑" pitchFamily="34" charset="-122"/>
              </a:rPr>
              <a:t>来描述活动文档程序。</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用户从万维网服务器下载嵌入了 </a:t>
            </a:r>
            <a:r>
              <a:rPr lang="en-US" altLang="zh-CN" sz="2000" b="1" dirty="0">
                <a:latin typeface="微软雅黑" pitchFamily="34" charset="-122"/>
                <a:ea typeface="微软雅黑" pitchFamily="34" charset="-122"/>
              </a:rPr>
              <a:t>applet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HTML </a:t>
            </a:r>
            <a:r>
              <a:rPr lang="zh-CN" altLang="en-US" sz="2000" b="1" dirty="0">
                <a:latin typeface="微软雅黑" pitchFamily="34" charset="-122"/>
                <a:ea typeface="微软雅黑" pitchFamily="34" charset="-122"/>
              </a:rPr>
              <a:t>文档后，可在浏览器的屏幕上点击某个图像，就可看到动画效果，或在下拉式菜单中点击某个项目，就可看到计算结果。</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Java </a:t>
            </a:r>
            <a:r>
              <a:rPr lang="zh-CN" altLang="en-US" sz="2000" b="1" dirty="0">
                <a:latin typeface="微软雅黑" pitchFamily="34" charset="-122"/>
                <a:ea typeface="微软雅黑" pitchFamily="34" charset="-122"/>
              </a:rPr>
              <a:t>技术是活动文档技术的一部分。 </a:t>
            </a:r>
          </a:p>
        </p:txBody>
      </p:sp>
      <p:sp>
        <p:nvSpPr>
          <p:cNvPr id="3" name="AutoShape 5"/>
          <p:cNvSpPr>
            <a:spLocks noChangeArrowheads="1"/>
          </p:cNvSpPr>
          <p:nvPr/>
        </p:nvSpPr>
        <p:spPr bwMode="auto">
          <a:xfrm>
            <a:off x="556963" y="616765"/>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5381"/>
            <a:ext cx="320228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用 </a:t>
            </a:r>
            <a:r>
              <a:rPr lang="en-US" altLang="zh-CN" sz="2000" b="1" dirty="0">
                <a:latin typeface="微软雅黑" pitchFamily="34" charset="-122"/>
                <a:ea typeface="微软雅黑" pitchFamily="34" charset="-122"/>
              </a:rPr>
              <a:t>Java </a:t>
            </a:r>
            <a:r>
              <a:rPr lang="zh-CN" altLang="en-US" sz="2000" b="1" dirty="0">
                <a:latin typeface="微软雅黑" pitchFamily="34" charset="-122"/>
                <a:ea typeface="微软雅黑" pitchFamily="34" charset="-122"/>
              </a:rPr>
              <a:t>语言创建活动文档</a:t>
            </a:r>
          </a:p>
        </p:txBody>
      </p:sp>
    </p:spTree>
    <p:extLst>
      <p:ext uri="{BB962C8B-B14F-4D97-AF65-F5344CB8AC3E}">
        <p14:creationId xmlns:p14="http://schemas.microsoft.com/office/powerpoint/2010/main" val="25613518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477520" y="572590"/>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highlight>
                  <a:srgbClr val="FFFF00"/>
                </a:highlight>
                <a:latin typeface="微软雅黑" pitchFamily="34" charset="-122"/>
                <a:ea typeface="微软雅黑" pitchFamily="34" charset="-122"/>
              </a:rPr>
              <a:t>6.4.5  </a:t>
            </a:r>
            <a:r>
              <a:rPr lang="zh-CN" altLang="en-US" sz="2400" b="1" dirty="0">
                <a:highlight>
                  <a:srgbClr val="FFFF00"/>
                </a:highlight>
                <a:latin typeface="微软雅黑" pitchFamily="34" charset="-122"/>
                <a:ea typeface="微软雅黑" pitchFamily="34" charset="-122"/>
              </a:rPr>
              <a:t>万维网的信息检索系统</a:t>
            </a:r>
          </a:p>
        </p:txBody>
      </p:sp>
      <p:sp>
        <p:nvSpPr>
          <p:cNvPr id="9" name="Rectangle 68"/>
          <p:cNvSpPr>
            <a:spLocks noChangeArrowheads="1"/>
          </p:cNvSpPr>
          <p:nvPr/>
        </p:nvSpPr>
        <p:spPr bwMode="auto">
          <a:xfrm>
            <a:off x="556963" y="1010341"/>
            <a:ext cx="8048776" cy="8490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100"/>
              </a:lnSpc>
              <a:buClr>
                <a:srgbClr val="0070C0"/>
              </a:buClr>
              <a:buFont typeface="Wingdings" pitchFamily="2" charset="2"/>
              <a:buChar char="l"/>
            </a:pPr>
            <a:r>
              <a:rPr lang="zh-CN" altLang="en-US" sz="2000" b="1" dirty="0">
                <a:latin typeface="微软雅黑" pitchFamily="34" charset="-122"/>
                <a:ea typeface="微软雅黑" pitchFamily="34" charset="-122"/>
              </a:rPr>
              <a:t>使用户能够很方便地找到所需的信息。</a:t>
            </a:r>
            <a:endParaRPr lang="en-US" altLang="zh-CN" sz="2000" b="1" dirty="0">
              <a:latin typeface="微软雅黑" pitchFamily="34" charset="-122"/>
              <a:ea typeface="微软雅黑" pitchFamily="34" charset="-122"/>
            </a:endParaRPr>
          </a:p>
          <a:p>
            <a:pPr marL="285750" indent="-285750" eaLnBrk="0" hangingPunct="0">
              <a:lnSpc>
                <a:spcPts val="3100"/>
              </a:lnSpc>
              <a:buClr>
                <a:srgbClr val="0070C0"/>
              </a:buClr>
              <a:buFont typeface="Wingdings" pitchFamily="2" charset="2"/>
              <a:buChar char="l"/>
            </a:pPr>
            <a:r>
              <a:rPr lang="zh-CN" altLang="en-US" sz="2000" b="1" dirty="0">
                <a:highlight>
                  <a:srgbClr val="FFFF00"/>
                </a:highlight>
                <a:latin typeface="微软雅黑" pitchFamily="34" charset="-122"/>
                <a:ea typeface="微软雅黑" pitchFamily="34" charset="-122"/>
              </a:rPr>
              <a:t>在万维网中用来进行搜索的程序叫做</a:t>
            </a:r>
            <a:r>
              <a:rPr lang="zh-CN" altLang="en-US" sz="2000" b="1" dirty="0">
                <a:solidFill>
                  <a:srgbClr val="C00000"/>
                </a:solidFill>
                <a:highlight>
                  <a:srgbClr val="FFFF00"/>
                </a:highlight>
                <a:latin typeface="微软雅黑" pitchFamily="34" charset="-122"/>
                <a:ea typeface="微软雅黑" pitchFamily="34" charset="-122"/>
              </a:rPr>
              <a:t>搜索引擎 </a:t>
            </a:r>
            <a:r>
              <a:rPr lang="en-US" altLang="zh-CN" sz="2000" b="1" dirty="0">
                <a:highlight>
                  <a:srgbClr val="FFFF00"/>
                </a:highlight>
                <a:latin typeface="微软雅黑" pitchFamily="34" charset="-122"/>
                <a:ea typeface="微软雅黑" pitchFamily="34" charset="-122"/>
              </a:rPr>
              <a:t>(search engine)</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228514630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628737" y="576959"/>
            <a:ext cx="3905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highlight>
                  <a:srgbClr val="FFFF00"/>
                </a:highlight>
                <a:latin typeface="微软雅黑" pitchFamily="34" charset="-122"/>
                <a:ea typeface="微软雅黑" pitchFamily="34" charset="-122"/>
              </a:rPr>
              <a:t>全文检索搜索和分类目录搜索</a:t>
            </a:r>
          </a:p>
        </p:txBody>
      </p:sp>
      <p:graphicFrame>
        <p:nvGraphicFramePr>
          <p:cNvPr id="2" name="图示 1"/>
          <p:cNvGraphicFramePr/>
          <p:nvPr>
            <p:extLst>
              <p:ext uri="{D42A27DB-BD31-4B8C-83A1-F6EECF244321}">
                <p14:modId xmlns:p14="http://schemas.microsoft.com/office/powerpoint/2010/main" val="2167531580"/>
              </p:ext>
            </p:extLst>
          </p:nvPr>
        </p:nvGraphicFramePr>
        <p:xfrm>
          <a:off x="907553" y="1015066"/>
          <a:ext cx="7188882" cy="35658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5022401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6"/>
          <p:cNvSpPr txBox="1"/>
          <p:nvPr/>
        </p:nvSpPr>
        <p:spPr>
          <a:xfrm>
            <a:off x="3491880" y="3734537"/>
            <a:ext cx="1773242" cy="338554"/>
          </a:xfrm>
          <a:prstGeom prst="rect">
            <a:avLst/>
          </a:prstGeom>
          <a:noFill/>
        </p:spPr>
        <p:txBody>
          <a:bodyPr wrap="none" rtlCol="0">
            <a:spAutoFit/>
          </a:bodyPr>
          <a:lstStyle/>
          <a:p>
            <a:r>
              <a:rPr lang="en-US" altLang="zh-CN" sz="1600" b="1" dirty="0">
                <a:latin typeface="微软雅黑" panose="020B0503020204020204" pitchFamily="34" charset="-122"/>
                <a:ea typeface="微软雅黑" panose="020B0503020204020204" pitchFamily="34" charset="-122"/>
                <a:cs typeface="Times New Roman" pitchFamily="18" charset="0"/>
              </a:rPr>
              <a:t>(b) </a:t>
            </a:r>
            <a:r>
              <a:rPr lang="zh-CN" altLang="en-US" sz="1600" b="1" dirty="0">
                <a:highlight>
                  <a:srgbClr val="FFFF00"/>
                </a:highlight>
                <a:latin typeface="微软雅黑" panose="020B0503020204020204" pitchFamily="34" charset="-122"/>
                <a:ea typeface="微软雅黑" panose="020B0503020204020204" pitchFamily="34" charset="-122"/>
                <a:cs typeface="Times New Roman" pitchFamily="18" charset="0"/>
              </a:rPr>
              <a:t>分类检索举例</a:t>
            </a:r>
          </a:p>
        </p:txBody>
      </p:sp>
      <p:grpSp>
        <p:nvGrpSpPr>
          <p:cNvPr id="12" name="组合 11"/>
          <p:cNvGrpSpPr/>
          <p:nvPr/>
        </p:nvGrpSpPr>
        <p:grpSpPr>
          <a:xfrm>
            <a:off x="1296140" y="2610313"/>
            <a:ext cx="6676008" cy="886063"/>
            <a:chOff x="107503" y="2060848"/>
            <a:chExt cx="8856985" cy="1399389"/>
          </a:xfrm>
        </p:grpSpPr>
        <p:pic>
          <p:nvPicPr>
            <p:cNvPr id="6" name="图片 5" descr="sina-1.jpg"/>
            <p:cNvPicPr>
              <a:picLocks noChangeAspect="1"/>
            </p:cNvPicPr>
            <p:nvPr/>
          </p:nvPicPr>
          <p:blipFill>
            <a:blip r:embed="rId2" cstate="print"/>
            <a:stretch>
              <a:fillRect/>
            </a:stretch>
          </p:blipFill>
          <p:spPr>
            <a:xfrm>
              <a:off x="107503" y="2079309"/>
              <a:ext cx="8856985" cy="1380928"/>
            </a:xfrm>
            <a:prstGeom prst="rect">
              <a:avLst/>
            </a:prstGeom>
          </p:spPr>
        </p:pic>
        <p:sp>
          <p:nvSpPr>
            <p:cNvPr id="9" name="矩形 8"/>
            <p:cNvSpPr/>
            <p:nvPr/>
          </p:nvSpPr>
          <p:spPr>
            <a:xfrm>
              <a:off x="107504" y="2060848"/>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1296140" y="861134"/>
            <a:ext cx="6668990" cy="1269550"/>
            <a:chOff x="107504" y="116632"/>
            <a:chExt cx="8850229" cy="1501140"/>
          </a:xfrm>
        </p:grpSpPr>
        <p:pic>
          <p:nvPicPr>
            <p:cNvPr id="5" name="图片 4" descr="google.jpg"/>
            <p:cNvPicPr>
              <a:picLocks noChangeAspect="1"/>
            </p:cNvPicPr>
            <p:nvPr/>
          </p:nvPicPr>
          <p:blipFill>
            <a:blip r:embed="rId3" cstate="print"/>
            <a:stretch>
              <a:fillRect/>
            </a:stretch>
          </p:blipFill>
          <p:spPr>
            <a:xfrm>
              <a:off x="1979712" y="116632"/>
              <a:ext cx="4861560" cy="1501140"/>
            </a:xfrm>
            <a:prstGeom prst="rect">
              <a:avLst/>
            </a:prstGeom>
          </p:spPr>
        </p:pic>
        <p:sp>
          <p:nvSpPr>
            <p:cNvPr id="10" name="矩形 9"/>
            <p:cNvSpPr/>
            <p:nvPr/>
          </p:nvSpPr>
          <p:spPr>
            <a:xfrm>
              <a:off x="107504" y="180173"/>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 name="TextBox 5"/>
          <p:cNvSpPr txBox="1"/>
          <p:nvPr/>
        </p:nvSpPr>
        <p:spPr>
          <a:xfrm>
            <a:off x="3491880" y="2061872"/>
            <a:ext cx="1755609" cy="338554"/>
          </a:xfrm>
          <a:prstGeom prst="rect">
            <a:avLst/>
          </a:prstGeom>
          <a:noFill/>
        </p:spPr>
        <p:txBody>
          <a:bodyPr wrap="none" rtlCol="0">
            <a:spAutoFit/>
          </a:bodyPr>
          <a:lstStyle/>
          <a:p>
            <a:r>
              <a:rPr lang="en-US" altLang="zh-CN" sz="1600" b="1" dirty="0">
                <a:latin typeface="微软雅黑" panose="020B0503020204020204" pitchFamily="34" charset="-122"/>
                <a:ea typeface="微软雅黑" panose="020B0503020204020204" pitchFamily="34" charset="-122"/>
                <a:cs typeface="Times New Roman" pitchFamily="18" charset="0"/>
              </a:rPr>
              <a:t>(a) </a:t>
            </a:r>
            <a:r>
              <a:rPr lang="zh-CN" altLang="en-US" sz="1600" b="1" dirty="0">
                <a:highlight>
                  <a:srgbClr val="FFFF00"/>
                </a:highlight>
                <a:latin typeface="微软雅黑" panose="020B0503020204020204" pitchFamily="34" charset="-122"/>
                <a:ea typeface="微软雅黑" panose="020B0503020204020204" pitchFamily="34" charset="-122"/>
                <a:cs typeface="Times New Roman" pitchFamily="18" charset="0"/>
              </a:rPr>
              <a:t>全文检索举例</a:t>
            </a:r>
          </a:p>
        </p:txBody>
      </p:sp>
    </p:spTree>
    <p:extLst>
      <p:ext uri="{BB962C8B-B14F-4D97-AF65-F5344CB8AC3E}">
        <p14:creationId xmlns:p14="http://schemas.microsoft.com/office/powerpoint/2010/main" val="12889029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895596"/>
            <a:ext cx="7837229"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全文检索搜索引擎：</a:t>
            </a:r>
          </a:p>
          <a:p>
            <a:pPr marL="633413" indent="-342900" eaLnBrk="0" hangingPunct="0">
              <a:lnSpc>
                <a:spcPts val="2800"/>
              </a:lnSpc>
              <a:buClr>
                <a:srgbClr val="7030A0"/>
              </a:buClr>
              <a:buFont typeface="+mj-lt"/>
              <a:buAutoNum type="arabicPeriod"/>
            </a:pPr>
            <a:r>
              <a:rPr lang="en-US" altLang="zh-CN" b="1" dirty="0">
                <a:solidFill>
                  <a:srgbClr val="0000FF"/>
                </a:solidFill>
                <a:latin typeface="微软雅黑" pitchFamily="34" charset="-122"/>
                <a:ea typeface="微软雅黑" pitchFamily="34" charset="-122"/>
              </a:rPr>
              <a:t>Google</a:t>
            </a:r>
            <a:r>
              <a:rPr lang="zh-CN" altLang="en-US" b="1" dirty="0">
                <a:solidFill>
                  <a:srgbClr val="0000FF"/>
                </a:solidFill>
                <a:latin typeface="微软雅黑" pitchFamily="34" charset="-122"/>
                <a:ea typeface="微软雅黑" pitchFamily="34" charset="-122"/>
              </a:rPr>
              <a:t>（谷歌）</a:t>
            </a:r>
            <a:r>
              <a:rPr lang="en-US" altLang="zh-CN" b="1" dirty="0">
                <a:solidFill>
                  <a:srgbClr val="0000FF"/>
                </a:solidFill>
                <a:latin typeface="微软雅黑" pitchFamily="34" charset="-122"/>
                <a:ea typeface="微软雅黑" pitchFamily="34" charset="-122"/>
              </a:rPr>
              <a:t>(www.google.com) </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必应 </a:t>
            </a:r>
            <a:r>
              <a:rPr lang="en-US" altLang="zh-CN" b="1" dirty="0">
                <a:solidFill>
                  <a:srgbClr val="0000FF"/>
                </a:solidFill>
                <a:latin typeface="微软雅黑" pitchFamily="34" charset="-122"/>
                <a:ea typeface="微软雅黑" pitchFamily="34" charset="-122"/>
              </a:rPr>
              <a:t>(cn.bing.com)</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百度 </a:t>
            </a:r>
            <a:r>
              <a:rPr lang="en-US" altLang="zh-CN" b="1" dirty="0">
                <a:solidFill>
                  <a:srgbClr val="0000FF"/>
                </a:solidFill>
                <a:latin typeface="微软雅黑" pitchFamily="34" charset="-122"/>
                <a:ea typeface="微软雅黑" pitchFamily="34" charset="-122"/>
              </a:rPr>
              <a:t>(www.baidu.com)</a:t>
            </a:r>
            <a:r>
              <a:rPr lang="zh-CN" altLang="en-US" b="1" dirty="0">
                <a:solidFill>
                  <a:srgbClr val="0000FF"/>
                </a:solidFill>
                <a:latin typeface="微软雅黑" pitchFamily="34" charset="-122"/>
                <a:ea typeface="微软雅黑" pitchFamily="34" charset="-122"/>
              </a:rPr>
              <a:t>。</a:t>
            </a:r>
            <a:endParaRPr lang="en-US" altLang="zh-CN" b="1" dirty="0">
              <a:solidFill>
                <a:srgbClr val="0000FF"/>
              </a:solidFill>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分类目录搜索引擎：</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雅虎 </a:t>
            </a:r>
            <a:r>
              <a:rPr lang="en-US" altLang="zh-CN" b="1" dirty="0">
                <a:solidFill>
                  <a:srgbClr val="0000FF"/>
                </a:solidFill>
                <a:latin typeface="微软雅黑" pitchFamily="34" charset="-122"/>
                <a:ea typeface="微软雅黑" pitchFamily="34" charset="-122"/>
              </a:rPr>
              <a:t>(www.yahoo.com)</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雅虎中国 </a:t>
            </a:r>
            <a:r>
              <a:rPr lang="en-US" altLang="zh-CN" b="1" dirty="0">
                <a:solidFill>
                  <a:srgbClr val="0000FF"/>
                </a:solidFill>
                <a:latin typeface="微软雅黑" pitchFamily="34" charset="-122"/>
                <a:ea typeface="微软雅黑" pitchFamily="34" charset="-122"/>
              </a:rPr>
              <a:t>(cn.yahoo.com)</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新浪 </a:t>
            </a:r>
            <a:r>
              <a:rPr lang="en-US" altLang="zh-CN" b="1" dirty="0">
                <a:solidFill>
                  <a:srgbClr val="0000FF"/>
                </a:solidFill>
                <a:latin typeface="微软雅黑" pitchFamily="34" charset="-122"/>
                <a:ea typeface="微软雅黑" pitchFamily="34" charset="-122"/>
              </a:rPr>
              <a:t>(www.sina.com)</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搜狐 </a:t>
            </a:r>
            <a:r>
              <a:rPr lang="en-US" altLang="zh-CN" b="1" dirty="0">
                <a:solidFill>
                  <a:srgbClr val="0000FF"/>
                </a:solidFill>
                <a:latin typeface="微软雅黑" pitchFamily="34" charset="-122"/>
                <a:ea typeface="微软雅黑" pitchFamily="34" charset="-122"/>
              </a:rPr>
              <a:t>(www.sohu.com)</a:t>
            </a:r>
          </a:p>
          <a:p>
            <a:pPr marL="633413" indent="-342900" eaLnBrk="0" hangingPunct="0">
              <a:lnSpc>
                <a:spcPts val="28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网易 </a:t>
            </a:r>
            <a:r>
              <a:rPr lang="en-US" altLang="zh-CN" b="1" dirty="0">
                <a:solidFill>
                  <a:srgbClr val="0000FF"/>
                </a:solidFill>
                <a:latin typeface="微软雅黑" pitchFamily="34" charset="-122"/>
                <a:ea typeface="微软雅黑" pitchFamily="34" charset="-122"/>
              </a:rPr>
              <a:t>(www.163.com) </a:t>
            </a:r>
          </a:p>
        </p:txBody>
      </p:sp>
      <p:sp>
        <p:nvSpPr>
          <p:cNvPr id="3" name="AutoShape 5"/>
          <p:cNvSpPr>
            <a:spLocks noChangeArrowheads="1"/>
          </p:cNvSpPr>
          <p:nvPr/>
        </p:nvSpPr>
        <p:spPr bwMode="auto">
          <a:xfrm>
            <a:off x="556963" y="60930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92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一些著名的搜索引擎</a:t>
            </a:r>
          </a:p>
        </p:txBody>
      </p:sp>
    </p:spTree>
    <p:extLst>
      <p:ext uri="{BB962C8B-B14F-4D97-AF65-F5344CB8AC3E}">
        <p14:creationId xmlns:p14="http://schemas.microsoft.com/office/powerpoint/2010/main" val="32549018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垂直搜索引擎 </a:t>
            </a:r>
            <a:r>
              <a:rPr lang="en-US" altLang="zh-CN" sz="2000" b="1" dirty="0">
                <a:latin typeface="微软雅黑" pitchFamily="34" charset="-122"/>
                <a:ea typeface="微软雅黑" pitchFamily="34" charset="-122"/>
              </a:rPr>
              <a:t>(Vertical Search Engine)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针对某一特定领域、特定人群或某一特定需求提供搜索服务。</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也是提供关键字来进行搜索，但被放到一个行业知识的上下文中，返回的结果更倾向于信息、消息、条目等。</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目前热门的垂直搜索行业有：购物、旅游、汽车、求职、房产、交友等。</a:t>
            </a: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723549"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垂直搜索引擎</a:t>
            </a:r>
          </a:p>
        </p:txBody>
      </p:sp>
    </p:spTree>
    <p:extLst>
      <p:ext uri="{BB962C8B-B14F-4D97-AF65-F5344CB8AC3E}">
        <p14:creationId xmlns:p14="http://schemas.microsoft.com/office/powerpoint/2010/main" val="106503054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823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元搜索引擎 </a:t>
            </a:r>
            <a:r>
              <a:rPr lang="en-US" altLang="zh-CN" sz="2000" b="1" dirty="0">
                <a:latin typeface="微软雅黑" pitchFamily="34" charset="-122"/>
                <a:ea typeface="微软雅黑" pitchFamily="34" charset="-122"/>
              </a:rPr>
              <a:t>(Meta Search Engine)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把用户提交的检索请求发送到多个独立的搜索引擎上去搜索，并把检索结果集中统一处理，以统一的格式提供给用户，因此是</a:t>
            </a:r>
            <a:r>
              <a:rPr lang="zh-CN" altLang="en-US" sz="2000" b="1" dirty="0">
                <a:solidFill>
                  <a:srgbClr val="C00000"/>
                </a:solidFill>
                <a:latin typeface="微软雅黑" pitchFamily="34" charset="-122"/>
                <a:ea typeface="微软雅黑" pitchFamily="34" charset="-122"/>
              </a:rPr>
              <a:t>搜索引擎之上的搜索引擎。</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主要精力放在提高搜索速度、智能化处理搜索结果、个性化搜索功能的设置和用户检索界面的友好性上。</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其查全率和查准率都比较高。</a:t>
            </a: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46706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元搜索引擎</a:t>
            </a:r>
          </a:p>
        </p:txBody>
      </p:sp>
    </p:spTree>
    <p:extLst>
      <p:ext uri="{BB962C8B-B14F-4D97-AF65-F5344CB8AC3E}">
        <p14:creationId xmlns:p14="http://schemas.microsoft.com/office/powerpoint/2010/main" val="18209685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6439" y="576959"/>
            <a:ext cx="3369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Google </a:t>
            </a:r>
            <a:r>
              <a:rPr lang="zh-CN" altLang="en-US" sz="2000" b="1" dirty="0">
                <a:solidFill>
                  <a:schemeClr val="bg1"/>
                </a:solidFill>
                <a:latin typeface="微软雅黑" pitchFamily="34" charset="-122"/>
                <a:ea typeface="微软雅黑" pitchFamily="34" charset="-122"/>
              </a:rPr>
              <a:t>搜索技术的特点</a:t>
            </a:r>
          </a:p>
        </p:txBody>
      </p:sp>
      <p:sp>
        <p:nvSpPr>
          <p:cNvPr id="6" name="Rectangle 68"/>
          <p:cNvSpPr>
            <a:spLocks noChangeArrowheads="1"/>
          </p:cNvSpPr>
          <p:nvPr/>
        </p:nvSpPr>
        <p:spPr bwMode="auto">
          <a:xfrm>
            <a:off x="556963" y="967417"/>
            <a:ext cx="8048776"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核心技术：</a:t>
            </a:r>
            <a:r>
              <a:rPr lang="zh-CN" altLang="en-US" sz="2000" b="1" dirty="0">
                <a:latin typeface="微软雅黑" pitchFamily="34" charset="-122"/>
                <a:ea typeface="微软雅黑" pitchFamily="34" charset="-122"/>
              </a:rPr>
              <a:t>网页排名（</a:t>
            </a:r>
            <a:r>
              <a:rPr lang="en-US" altLang="zh-CN" sz="2000" b="1" dirty="0">
                <a:latin typeface="微软雅黑" pitchFamily="34" charset="-122"/>
                <a:ea typeface="微软雅黑" pitchFamily="34" charset="-122"/>
              </a:rPr>
              <a:t>PageRank</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itchFamily="34" charset="-122"/>
                <a:ea typeface="微软雅黑" pitchFamily="34" charset="-122"/>
              </a:rPr>
              <a:t>对搜索结果</a:t>
            </a:r>
            <a:r>
              <a:rPr lang="zh-CN" altLang="en-US" sz="2000" b="1" dirty="0">
                <a:solidFill>
                  <a:srgbClr val="C00000"/>
                </a:solidFill>
                <a:latin typeface="微软雅黑" pitchFamily="34" charset="-122"/>
                <a:ea typeface="微软雅黑" pitchFamily="34" charset="-122"/>
              </a:rPr>
              <a:t>按重要性</a:t>
            </a:r>
            <a:r>
              <a:rPr lang="zh-CN" altLang="en-US" sz="2000" b="1" dirty="0">
                <a:solidFill>
                  <a:srgbClr val="0000FF"/>
                </a:solidFill>
                <a:latin typeface="微软雅黑" pitchFamily="34" charset="-122"/>
                <a:ea typeface="微软雅黑" pitchFamily="34" charset="-122"/>
              </a:rPr>
              <a:t>排序。</a:t>
            </a:r>
            <a:endParaRPr lang="en-US" altLang="zh-CN" sz="2000" b="1" dirty="0">
              <a:solidFill>
                <a:srgbClr val="0000FF"/>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对链接的数目进行加权统计。来自重要网站的链接，其权重较大。</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进行超文本匹配分析，确定哪些网页与正在执行的特定搜索相关。</a:t>
            </a:r>
            <a:endParaRPr lang="en-US" altLang="zh-CN" sz="2000" b="1" dirty="0">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在综合考虑整体重要性以及与特定查询的相关性之后，</a:t>
            </a:r>
            <a:r>
              <a:rPr lang="en-US" altLang="zh-CN" sz="2000" b="1" dirty="0">
                <a:latin typeface="微软雅黑" pitchFamily="34" charset="-122"/>
                <a:ea typeface="微软雅黑" pitchFamily="34" charset="-122"/>
              </a:rPr>
              <a:t>Google  </a:t>
            </a:r>
            <a:r>
              <a:rPr lang="zh-CN" altLang="en-US" sz="2000" b="1" dirty="0">
                <a:latin typeface="微软雅黑" pitchFamily="34" charset="-122"/>
                <a:ea typeface="微软雅黑" pitchFamily="34" charset="-122"/>
              </a:rPr>
              <a:t>就把最相关、最可靠的搜索结果放在首位。</a:t>
            </a:r>
          </a:p>
        </p:txBody>
      </p:sp>
    </p:spTree>
    <p:extLst>
      <p:ext uri="{BB962C8B-B14F-4D97-AF65-F5344CB8AC3E}">
        <p14:creationId xmlns:p14="http://schemas.microsoft.com/office/powerpoint/2010/main" val="38698286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246961" y="573925"/>
            <a:ext cx="26500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6.4.6  </a:t>
            </a:r>
            <a:r>
              <a:rPr lang="zh-CN" altLang="en-US" sz="2400" b="1" dirty="0">
                <a:solidFill>
                  <a:schemeClr val="bg1"/>
                </a:solidFill>
                <a:latin typeface="微软雅黑" pitchFamily="34" charset="-122"/>
                <a:ea typeface="微软雅黑" pitchFamily="34" charset="-122"/>
              </a:rPr>
              <a:t>博客和微博</a:t>
            </a:r>
          </a:p>
        </p:txBody>
      </p:sp>
      <p:graphicFrame>
        <p:nvGraphicFramePr>
          <p:cNvPr id="11" name="图示 10"/>
          <p:cNvGraphicFramePr/>
          <p:nvPr>
            <p:extLst>
              <p:ext uri="{D42A27DB-BD31-4B8C-83A1-F6EECF244321}">
                <p14:modId xmlns:p14="http://schemas.microsoft.com/office/powerpoint/2010/main" val="1508781051"/>
              </p:ext>
            </p:extLst>
          </p:nvPr>
        </p:nvGraphicFramePr>
        <p:xfrm>
          <a:off x="986910" y="1148231"/>
          <a:ext cx="7188882" cy="313080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7668944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69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400849" y="564426"/>
            <a:ext cx="23423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6.4.7  </a:t>
            </a:r>
            <a:r>
              <a:rPr lang="zh-CN" altLang="en-US" sz="2400" b="1" dirty="0">
                <a:solidFill>
                  <a:schemeClr val="bg1"/>
                </a:solidFill>
                <a:latin typeface="微软雅黑" pitchFamily="34" charset="-122"/>
                <a:ea typeface="微软雅黑" pitchFamily="34" charset="-122"/>
              </a:rPr>
              <a:t>社交网站</a:t>
            </a:r>
          </a:p>
        </p:txBody>
      </p:sp>
      <p:sp>
        <p:nvSpPr>
          <p:cNvPr id="9" name="Rectangle 68"/>
          <p:cNvSpPr>
            <a:spLocks noChangeArrowheads="1"/>
          </p:cNvSpPr>
          <p:nvPr/>
        </p:nvSpPr>
        <p:spPr bwMode="auto">
          <a:xfrm>
            <a:off x="556962" y="1005220"/>
            <a:ext cx="804877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社交网站 </a:t>
            </a:r>
            <a:r>
              <a:rPr lang="en-US" altLang="zh-CN" sz="2000" b="1" dirty="0">
                <a:solidFill>
                  <a:srgbClr val="C00000"/>
                </a:solidFill>
                <a:latin typeface="微软雅黑" pitchFamily="34" charset="-122"/>
                <a:ea typeface="微软雅黑" pitchFamily="34" charset="-122"/>
              </a:rPr>
              <a:t>SNS </a:t>
            </a:r>
            <a:r>
              <a:rPr lang="en-US" altLang="zh-CN" sz="2000" b="1" dirty="0">
                <a:latin typeface="微软雅黑" pitchFamily="34" charset="-122"/>
                <a:ea typeface="微软雅黑" pitchFamily="34" charset="-122"/>
              </a:rPr>
              <a:t>(Social Networking Site) </a:t>
            </a:r>
            <a:r>
              <a:rPr lang="zh-CN" altLang="en-US" sz="2000" b="1" dirty="0">
                <a:latin typeface="微软雅黑" pitchFamily="34" charset="-122"/>
                <a:ea typeface="微软雅黑" pitchFamily="34" charset="-122"/>
              </a:rPr>
              <a:t>：为一群拥有相同兴趣与活动的人创建在线社区。</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功能丰富：如电子邮件、即时传信（在线聊天）、博客撰写、共享相册、上传视频、网页游戏、创建社团、刊登广告等。</a:t>
            </a:r>
            <a:endParaRPr lang="en-US" altLang="zh-CN" sz="2000" b="1" dirty="0">
              <a:latin typeface="微软雅黑" pitchFamily="34" charset="-122"/>
              <a:ea typeface="微软雅黑" pitchFamily="34" charset="-122"/>
            </a:endParaRPr>
          </a:p>
          <a:p>
            <a:pPr marL="285750" indent="-28575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热门：</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脸书 </a:t>
            </a:r>
            <a:r>
              <a:rPr lang="en-US" altLang="zh-CN" sz="2000" b="1" dirty="0">
                <a:latin typeface="微软雅黑" pitchFamily="34" charset="-122"/>
                <a:ea typeface="微软雅黑" pitchFamily="34" charset="-122"/>
              </a:rPr>
              <a:t>(Facebook</a:t>
            </a:r>
            <a:r>
              <a:rPr lang="zh-CN" altLang="en-US" sz="2000" b="1" dirty="0">
                <a:latin typeface="微软雅黑" pitchFamily="34" charset="-122"/>
                <a:ea typeface="微软雅黑" pitchFamily="34" charset="-122"/>
              </a:rPr>
              <a:t>，又名面书、脸谱、脸谱网</a:t>
            </a:r>
            <a:r>
              <a:rPr lang="en-US" altLang="zh-CN" sz="2000" b="1" dirty="0">
                <a:latin typeface="微软雅黑" pitchFamily="34" charset="-122"/>
                <a:ea typeface="微软雅黑" pitchFamily="34" charset="-122"/>
              </a:rPr>
              <a:t>) (Facebook.com)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YouTube.com</a:t>
            </a: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推特 </a:t>
            </a:r>
            <a:r>
              <a:rPr lang="en-US" altLang="zh-CN" sz="2000" b="1" dirty="0">
                <a:latin typeface="微软雅黑" pitchFamily="34" charset="-122"/>
                <a:ea typeface="微软雅黑" pitchFamily="34" charset="-122"/>
              </a:rPr>
              <a:t>Twitter (twitter.com)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微信 </a:t>
            </a:r>
            <a:r>
              <a:rPr lang="en-US" altLang="zh-CN" sz="2000" b="1" dirty="0">
                <a:latin typeface="微软雅黑" pitchFamily="34" charset="-122"/>
                <a:ea typeface="微软雅黑" pitchFamily="34" charset="-122"/>
              </a:rPr>
              <a:t>(weixin.qq.com)</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抖音</a:t>
            </a:r>
          </a:p>
        </p:txBody>
      </p:sp>
    </p:spTree>
    <p:extLst>
      <p:ext uri="{BB962C8B-B14F-4D97-AF65-F5344CB8AC3E}">
        <p14:creationId xmlns:p14="http://schemas.microsoft.com/office/powerpoint/2010/main" val="17488062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p:cNvSpPr>
            <a:spLocks noChangeArrowheads="1"/>
          </p:cNvSpPr>
          <p:nvPr/>
        </p:nvSpPr>
        <p:spPr bwMode="auto">
          <a:xfrm>
            <a:off x="2629135" y="3313838"/>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9"/>
          <p:cNvSpPr>
            <a:spLocks noChangeArrowheads="1"/>
          </p:cNvSpPr>
          <p:nvPr/>
        </p:nvSpPr>
        <p:spPr bwMode="auto">
          <a:xfrm>
            <a:off x="2629135" y="28628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240434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9"/>
          <p:cNvSpPr>
            <a:spLocks noChangeArrowheads="1"/>
          </p:cNvSpPr>
          <p:nvPr/>
        </p:nvSpPr>
        <p:spPr bwMode="auto">
          <a:xfrm>
            <a:off x="2629135" y="194864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9"/>
          <p:cNvSpPr>
            <a:spLocks noChangeArrowheads="1"/>
          </p:cNvSpPr>
          <p:nvPr/>
        </p:nvSpPr>
        <p:spPr bwMode="auto">
          <a:xfrm>
            <a:off x="2629135" y="102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Rectangle 10"/>
          <p:cNvSpPr>
            <a:spLocks noChangeArrowheads="1"/>
          </p:cNvSpPr>
          <p:nvPr/>
        </p:nvSpPr>
        <p:spPr bwMode="auto">
          <a:xfrm>
            <a:off x="2629135" y="14900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9" name="Line 16"/>
          <p:cNvSpPr>
            <a:spLocks noChangeShapeType="1"/>
          </p:cNvSpPr>
          <p:nvPr/>
        </p:nvSpPr>
        <p:spPr bwMode="auto">
          <a:xfrm>
            <a:off x="3637198" y="954899"/>
            <a:ext cx="0" cy="3357124"/>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 name="Rectangle 27"/>
          <p:cNvSpPr>
            <a:spLocks noChangeArrowheads="1"/>
          </p:cNvSpPr>
          <p:nvPr/>
        </p:nvSpPr>
        <p:spPr bwMode="auto">
          <a:xfrm>
            <a:off x="639730" y="102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1" name="Rectangle 29"/>
          <p:cNvSpPr>
            <a:spLocks noChangeArrowheads="1"/>
          </p:cNvSpPr>
          <p:nvPr/>
        </p:nvSpPr>
        <p:spPr bwMode="auto">
          <a:xfrm>
            <a:off x="648619" y="112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6.5</a:t>
            </a:r>
          </a:p>
          <a:p>
            <a:pPr eaLnBrk="0" hangingPunct="0"/>
            <a:r>
              <a:rPr lang="zh-CN" altLang="en-US" sz="2000" b="1" dirty="0">
                <a:solidFill>
                  <a:schemeClr val="bg1"/>
                </a:solidFill>
                <a:latin typeface="微软雅黑" pitchFamily="34" charset="-122"/>
                <a:ea typeface="微软雅黑" pitchFamily="34" charset="-122"/>
              </a:rPr>
              <a:t>电子邮件</a:t>
            </a:r>
            <a:endParaRPr lang="zh-CN" altLang="fr-FR" sz="2000" b="1" dirty="0">
              <a:solidFill>
                <a:schemeClr val="bg1"/>
              </a:solidFill>
              <a:latin typeface="微软雅黑" pitchFamily="34" charset="-122"/>
              <a:ea typeface="微软雅黑" pitchFamily="34" charset="-122"/>
            </a:endParaRPr>
          </a:p>
        </p:txBody>
      </p:sp>
      <p:sp>
        <p:nvSpPr>
          <p:cNvPr id="12" name="Rectangle 8"/>
          <p:cNvSpPr>
            <a:spLocks noChangeArrowheads="1"/>
          </p:cNvSpPr>
          <p:nvPr/>
        </p:nvSpPr>
        <p:spPr bwMode="auto">
          <a:xfrm>
            <a:off x="2700573" y="902036"/>
            <a:ext cx="5756006"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itchFamily="34" charset="-122"/>
                <a:ea typeface="微软雅黑" pitchFamily="34" charset="-122"/>
              </a:rPr>
              <a:t>6.5.1                                           </a:t>
            </a:r>
            <a:r>
              <a:rPr lang="zh-CN" altLang="en-US" sz="2000" b="1" dirty="0">
                <a:solidFill>
                  <a:schemeClr val="bg1"/>
                </a:solidFill>
                <a:latin typeface="微软雅黑" pitchFamily="34" charset="-122"/>
                <a:ea typeface="微软雅黑" pitchFamily="34" charset="-122"/>
              </a:rPr>
              <a:t>电子邮件概述</a:t>
            </a:r>
          </a:p>
          <a:p>
            <a:pPr eaLnBrk="0" hangingPunct="0">
              <a:lnSpc>
                <a:spcPct val="150000"/>
              </a:lnSpc>
            </a:pPr>
            <a:r>
              <a:rPr lang="en-US" altLang="zh-CN" sz="2000" b="1" dirty="0">
                <a:solidFill>
                  <a:schemeClr val="bg1"/>
                </a:solidFill>
                <a:latin typeface="微软雅黑" pitchFamily="34" charset="-122"/>
                <a:ea typeface="微软雅黑" pitchFamily="34" charset="-122"/>
              </a:rPr>
              <a:t>6.5.2                          </a:t>
            </a:r>
            <a:r>
              <a:rPr lang="zh-CN" altLang="en-US" sz="2000" b="1" dirty="0">
                <a:solidFill>
                  <a:schemeClr val="bg1"/>
                </a:solidFill>
                <a:latin typeface="微软雅黑" pitchFamily="34" charset="-122"/>
                <a:ea typeface="微软雅黑" pitchFamily="34" charset="-122"/>
              </a:rPr>
              <a:t>简单邮件传送协议 </a:t>
            </a:r>
            <a:r>
              <a:rPr lang="en-US" altLang="zh-CN" sz="2000" b="1" dirty="0">
                <a:solidFill>
                  <a:schemeClr val="bg1"/>
                </a:solidFill>
                <a:latin typeface="微软雅黑" pitchFamily="34" charset="-122"/>
                <a:ea typeface="微软雅黑" pitchFamily="34" charset="-122"/>
              </a:rPr>
              <a:t>SMTP</a:t>
            </a:r>
          </a:p>
          <a:p>
            <a:pPr eaLnBrk="0" hangingPunct="0">
              <a:lnSpc>
                <a:spcPct val="150000"/>
              </a:lnSpc>
            </a:pPr>
            <a:r>
              <a:rPr lang="en-US" altLang="zh-CN" sz="2000" b="1" dirty="0">
                <a:solidFill>
                  <a:schemeClr val="bg1"/>
                </a:solidFill>
                <a:latin typeface="微软雅黑" pitchFamily="34" charset="-122"/>
                <a:ea typeface="微软雅黑" pitchFamily="34" charset="-122"/>
              </a:rPr>
              <a:t>6.5.3                                 </a:t>
            </a:r>
            <a:r>
              <a:rPr lang="zh-CN" altLang="en-US" sz="2000" b="1" dirty="0">
                <a:solidFill>
                  <a:schemeClr val="bg1"/>
                </a:solidFill>
                <a:latin typeface="微软雅黑" pitchFamily="34" charset="-122"/>
                <a:ea typeface="微软雅黑" pitchFamily="34" charset="-122"/>
              </a:rPr>
              <a:t>电子邮件的信息格式</a:t>
            </a:r>
          </a:p>
          <a:p>
            <a:pPr eaLnBrk="0" hangingPunct="0">
              <a:lnSpc>
                <a:spcPct val="150000"/>
              </a:lnSpc>
            </a:pPr>
            <a:r>
              <a:rPr lang="en-US" altLang="zh-CN" sz="2000" b="1" dirty="0">
                <a:solidFill>
                  <a:schemeClr val="bg1"/>
                </a:solidFill>
                <a:latin typeface="微软雅黑" pitchFamily="34" charset="-122"/>
                <a:ea typeface="微软雅黑" pitchFamily="34" charset="-122"/>
              </a:rPr>
              <a:t>6.5.4                   </a:t>
            </a:r>
            <a:r>
              <a:rPr lang="zh-CN" altLang="en-US" sz="2000" b="1" dirty="0">
                <a:solidFill>
                  <a:schemeClr val="bg1"/>
                </a:solidFill>
                <a:latin typeface="微软雅黑" pitchFamily="34" charset="-122"/>
                <a:ea typeface="微软雅黑" pitchFamily="34" charset="-122"/>
              </a:rPr>
              <a:t>邮件读取协议 </a:t>
            </a:r>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和 </a:t>
            </a:r>
            <a:r>
              <a:rPr lang="en-US" altLang="zh-CN" sz="2000" b="1" dirty="0">
                <a:solidFill>
                  <a:schemeClr val="bg1"/>
                </a:solidFill>
                <a:latin typeface="微软雅黑" pitchFamily="34" charset="-122"/>
                <a:ea typeface="微软雅黑" pitchFamily="34" charset="-122"/>
              </a:rPr>
              <a:t>IMAP</a:t>
            </a:r>
          </a:p>
          <a:p>
            <a:pPr eaLnBrk="0" hangingPunct="0">
              <a:lnSpc>
                <a:spcPct val="150000"/>
              </a:lnSpc>
            </a:pPr>
            <a:r>
              <a:rPr lang="en-US" altLang="zh-CN" sz="2000" b="1" dirty="0">
                <a:solidFill>
                  <a:schemeClr val="bg1"/>
                </a:solidFill>
                <a:latin typeface="微软雅黑" pitchFamily="34" charset="-122"/>
                <a:ea typeface="微软雅黑" pitchFamily="34" charset="-122"/>
              </a:rPr>
              <a:t>6.5.5                              </a:t>
            </a:r>
            <a:r>
              <a:rPr lang="zh-CN" altLang="en-US" sz="2000" b="1" dirty="0">
                <a:solidFill>
                  <a:schemeClr val="bg1"/>
                </a:solidFill>
                <a:latin typeface="微软雅黑" pitchFamily="34" charset="-122"/>
                <a:ea typeface="微软雅黑" pitchFamily="34" charset="-122"/>
              </a:rPr>
              <a:t>基于万维网的电子邮件</a:t>
            </a:r>
          </a:p>
          <a:p>
            <a:pPr eaLnBrk="0" hangingPunct="0">
              <a:lnSpc>
                <a:spcPct val="150000"/>
              </a:lnSpc>
            </a:pPr>
            <a:r>
              <a:rPr lang="en-US" altLang="zh-CN" sz="2000" b="1" dirty="0">
                <a:solidFill>
                  <a:schemeClr val="bg1"/>
                </a:solidFill>
                <a:latin typeface="微软雅黑" pitchFamily="34" charset="-122"/>
                <a:ea typeface="微软雅黑" pitchFamily="34" charset="-122"/>
              </a:rPr>
              <a:t>6.5.6                       </a:t>
            </a:r>
            <a:r>
              <a:rPr lang="zh-CN" altLang="en-US" sz="2000" b="1" dirty="0">
                <a:solidFill>
                  <a:schemeClr val="bg1"/>
                </a:solidFill>
                <a:latin typeface="微软雅黑" pitchFamily="34" charset="-122"/>
                <a:ea typeface="微软雅黑" pitchFamily="34" charset="-122"/>
              </a:rPr>
              <a:t>通用互联网邮件扩充 </a:t>
            </a:r>
            <a:r>
              <a:rPr lang="en-US" altLang="zh-CN" sz="2000" b="1" dirty="0">
                <a:solidFill>
                  <a:schemeClr val="bg1"/>
                </a:solidFill>
                <a:latin typeface="微软雅黑" pitchFamily="34" charset="-122"/>
                <a:ea typeface="微软雅黑" pitchFamily="34" charset="-122"/>
              </a:rPr>
              <a:t>MIME</a:t>
            </a:r>
          </a:p>
        </p:txBody>
      </p:sp>
    </p:spTree>
    <p:extLst>
      <p:ext uri="{BB962C8B-B14F-4D97-AF65-F5344CB8AC3E}">
        <p14:creationId xmlns:p14="http://schemas.microsoft.com/office/powerpoint/2010/main" val="12928410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0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67968"/>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6.5.1  </a:t>
            </a:r>
            <a:r>
              <a:rPr lang="zh-CN" altLang="en-US" sz="2400" b="1" dirty="0">
                <a:solidFill>
                  <a:schemeClr val="bg1"/>
                </a:solidFill>
                <a:latin typeface="微软雅黑" pitchFamily="34" charset="-122"/>
                <a:ea typeface="微软雅黑" pitchFamily="34" charset="-122"/>
              </a:rPr>
              <a:t>电子邮件概述</a:t>
            </a:r>
          </a:p>
        </p:txBody>
      </p:sp>
      <p:sp>
        <p:nvSpPr>
          <p:cNvPr id="4" name="Rectangle 68"/>
          <p:cNvSpPr>
            <a:spLocks noChangeArrowheads="1"/>
          </p:cNvSpPr>
          <p:nvPr/>
        </p:nvSpPr>
        <p:spPr bwMode="auto">
          <a:xfrm>
            <a:off x="556963" y="982683"/>
            <a:ext cx="8048776" cy="32213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电子邮件</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(e-mail)</a:t>
            </a:r>
            <a:r>
              <a:rPr lang="zh-CN" altLang="en-US" sz="2000" b="1" dirty="0">
                <a:latin typeface="微软雅黑" pitchFamily="34" charset="-122"/>
                <a:ea typeface="微软雅黑" pitchFamily="34" charset="-122"/>
              </a:rPr>
              <a:t>：指使用电子设备交换的邮件及其方法。</a:t>
            </a:r>
            <a:endParaRPr lang="en-US" altLang="zh-CN" sz="2000" b="1" dirty="0">
              <a:solidFill>
                <a:srgbClr val="0000FF"/>
              </a:solidFill>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优点：</a:t>
            </a:r>
            <a:r>
              <a:rPr lang="zh-CN" altLang="en-US" sz="2000" b="1" dirty="0">
                <a:latin typeface="微软雅黑" pitchFamily="34" charset="-122"/>
                <a:ea typeface="微软雅黑" pitchFamily="34" charset="-122"/>
              </a:rPr>
              <a:t>使用方便，传递迅速，费用低廉，可以传送多种类型的信息（包括：文字信息，声音和图像等）。</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重要标准：</a:t>
            </a:r>
            <a:endParaRPr lang="en-US" altLang="zh-CN" sz="2000" b="1" dirty="0">
              <a:solidFill>
                <a:srgbClr val="C00000"/>
              </a:solidFill>
              <a:latin typeface="微软雅黑" pitchFamily="34" charset="-122"/>
              <a:ea typeface="微软雅黑"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highlight>
                  <a:srgbClr val="FFFF00"/>
                </a:highlight>
                <a:latin typeface="微软雅黑" pitchFamily="34" charset="-122"/>
                <a:ea typeface="微软雅黑" pitchFamily="34" charset="-122"/>
              </a:rPr>
              <a:t>简单邮件发送协议：</a:t>
            </a:r>
            <a:r>
              <a:rPr lang="en-US" altLang="zh-CN" sz="2000" b="1" dirty="0">
                <a:highlight>
                  <a:srgbClr val="FFFF00"/>
                </a:highlight>
                <a:latin typeface="微软雅黑" pitchFamily="34" charset="-122"/>
                <a:ea typeface="微软雅黑" pitchFamily="34" charset="-122"/>
              </a:rPr>
              <a:t>SMTP</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互联网文本报文格式</a:t>
            </a: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通用互联网邮件扩充 </a:t>
            </a:r>
            <a:r>
              <a:rPr lang="en-US" altLang="zh-CN" sz="2000" b="1" dirty="0">
                <a:latin typeface="微软雅黑" pitchFamily="34" charset="-122"/>
                <a:ea typeface="微软雅黑" pitchFamily="34" charset="-122"/>
              </a:rPr>
              <a:t>MIME</a:t>
            </a:r>
          </a:p>
          <a:p>
            <a:pPr marL="631825" lvl="1" indent="-342900">
              <a:lnSpc>
                <a:spcPts val="3000"/>
              </a:lnSpc>
              <a:buClr>
                <a:srgbClr val="9900CC"/>
              </a:buClr>
              <a:buSzPct val="85000"/>
              <a:buFont typeface="Wingdings" panose="05000000000000000000" pitchFamily="2" charset="2"/>
              <a:buChar char="u"/>
            </a:pPr>
            <a:r>
              <a:rPr lang="zh-CN" altLang="en-US" sz="2000" b="1" dirty="0">
                <a:highlight>
                  <a:srgbClr val="FFFF00"/>
                </a:highlight>
                <a:latin typeface="微软雅黑" pitchFamily="34" charset="-122"/>
                <a:ea typeface="微软雅黑" pitchFamily="34" charset="-122"/>
              </a:rPr>
              <a:t>邮件读取协议：</a:t>
            </a:r>
            <a:r>
              <a:rPr lang="en-US" altLang="zh-CN" sz="2000" b="1" dirty="0">
                <a:highlight>
                  <a:srgbClr val="FFFF00"/>
                </a:highlight>
                <a:latin typeface="微软雅黑" pitchFamily="34" charset="-122"/>
                <a:ea typeface="微软雅黑" pitchFamily="34" charset="-122"/>
              </a:rPr>
              <a:t>POP3 </a:t>
            </a:r>
            <a:r>
              <a:rPr lang="zh-CN" altLang="en-US" sz="2000" b="1" dirty="0">
                <a:highlight>
                  <a:srgbClr val="FFFF00"/>
                </a:highlight>
                <a:latin typeface="微软雅黑" pitchFamily="34" charset="-122"/>
                <a:ea typeface="微软雅黑" pitchFamily="34" charset="-122"/>
              </a:rPr>
              <a:t>和 </a:t>
            </a:r>
            <a:r>
              <a:rPr lang="en-US" altLang="zh-CN" sz="2000" b="1" dirty="0">
                <a:highlight>
                  <a:srgbClr val="FFFF00"/>
                </a:highlight>
                <a:latin typeface="微软雅黑" pitchFamily="34" charset="-122"/>
                <a:ea typeface="微软雅黑" pitchFamily="34" charset="-122"/>
              </a:rPr>
              <a:t>IMAP</a:t>
            </a:r>
            <a:endParaRPr lang="zh-CN" altLang="en-US" sz="2000" b="1" dirty="0">
              <a:highlight>
                <a:srgbClr val="FFFF00"/>
              </a:highlight>
              <a:latin typeface="微软雅黑" pitchFamily="34" charset="-122"/>
              <a:ea typeface="微软雅黑" pitchFamily="34" charset="-122"/>
            </a:endParaRPr>
          </a:p>
        </p:txBody>
      </p:sp>
    </p:spTree>
    <p:extLst>
      <p:ext uri="{BB962C8B-B14F-4D97-AF65-F5344CB8AC3E}">
        <p14:creationId xmlns:p14="http://schemas.microsoft.com/office/powerpoint/2010/main" val="35682415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437177" y="574020"/>
            <a:ext cx="4288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电子邮件系统的组成：三个主要构件</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372" name="Rectangle 386"/>
          <p:cNvSpPr>
            <a:spLocks noChangeArrowheads="1"/>
          </p:cNvSpPr>
          <p:nvPr/>
        </p:nvSpPr>
        <p:spPr bwMode="auto">
          <a:xfrm>
            <a:off x="3019580" y="2138386"/>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3" name="Rectangle 387"/>
          <p:cNvSpPr>
            <a:spLocks noChangeArrowheads="1"/>
          </p:cNvSpPr>
          <p:nvPr/>
        </p:nvSpPr>
        <p:spPr bwMode="auto">
          <a:xfrm>
            <a:off x="1657456" y="2138386"/>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4" name="Line 388"/>
          <p:cNvSpPr>
            <a:spLocks noChangeShapeType="1"/>
          </p:cNvSpPr>
          <p:nvPr/>
        </p:nvSpPr>
        <p:spPr bwMode="auto">
          <a:xfrm>
            <a:off x="2134011" y="2481158"/>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77" name="Text Box 391"/>
          <p:cNvSpPr txBox="1">
            <a:spLocks noChangeArrowheads="1"/>
          </p:cNvSpPr>
          <p:nvPr/>
        </p:nvSpPr>
        <p:spPr bwMode="auto">
          <a:xfrm>
            <a:off x="2394683" y="17942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408816" y="250746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83" name="Oval 397"/>
          <p:cNvSpPr>
            <a:spLocks noChangeArrowheads="1"/>
          </p:cNvSpPr>
          <p:nvPr/>
        </p:nvSpPr>
        <p:spPr bwMode="auto">
          <a:xfrm>
            <a:off x="1713742" y="2202272"/>
            <a:ext cx="566615"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391" name="Oval 405"/>
          <p:cNvSpPr>
            <a:spLocks noChangeArrowheads="1"/>
          </p:cNvSpPr>
          <p:nvPr/>
        </p:nvSpPr>
        <p:spPr bwMode="auto">
          <a:xfrm>
            <a:off x="3077118" y="2202272"/>
            <a:ext cx="566615" cy="556545"/>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392" name="Oval 406"/>
          <p:cNvSpPr>
            <a:spLocks noChangeArrowheads="1"/>
          </p:cNvSpPr>
          <p:nvPr/>
        </p:nvSpPr>
        <p:spPr bwMode="auto">
          <a:xfrm>
            <a:off x="3077118" y="2815331"/>
            <a:ext cx="566615"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396" name="Text Box 399"/>
          <p:cNvSpPr txBox="1">
            <a:spLocks noChangeArrowheads="1"/>
          </p:cNvSpPr>
          <p:nvPr/>
        </p:nvSpPr>
        <p:spPr bwMode="auto">
          <a:xfrm>
            <a:off x="729032"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发件人</a:t>
            </a:r>
          </a:p>
        </p:txBody>
      </p:sp>
      <p:graphicFrame>
        <p:nvGraphicFramePr>
          <p:cNvPr id="412" name="对象 411"/>
          <p:cNvGraphicFramePr>
            <a:graphicFrameLocks noChangeAspect="1"/>
          </p:cNvGraphicFramePr>
          <p:nvPr>
            <p:extLst>
              <p:ext uri="{D42A27DB-BD31-4B8C-83A1-F6EECF244321}">
                <p14:modId xmlns:p14="http://schemas.microsoft.com/office/powerpoint/2010/main" val="2854833761"/>
              </p:ext>
            </p:extLst>
          </p:nvPr>
        </p:nvGraphicFramePr>
        <p:xfrm>
          <a:off x="875180" y="2178372"/>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6"/>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875180" y="2178372"/>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1" name="Rectangle 385"/>
          <p:cNvSpPr>
            <a:spLocks noChangeArrowheads="1"/>
          </p:cNvSpPr>
          <p:nvPr/>
        </p:nvSpPr>
        <p:spPr bwMode="auto">
          <a:xfrm>
            <a:off x="6835923" y="2146987"/>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79" name="Text Box 393"/>
          <p:cNvSpPr txBox="1">
            <a:spLocks noChangeArrowheads="1"/>
          </p:cNvSpPr>
          <p:nvPr/>
        </p:nvSpPr>
        <p:spPr bwMode="auto">
          <a:xfrm>
            <a:off x="6201910" y="18128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81" name="Text Box 395"/>
          <p:cNvSpPr txBox="1">
            <a:spLocks noChangeArrowheads="1"/>
          </p:cNvSpPr>
          <p:nvPr/>
        </p:nvSpPr>
        <p:spPr bwMode="auto">
          <a:xfrm>
            <a:off x="6217922" y="24856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84" name="Oval 398"/>
          <p:cNvSpPr>
            <a:spLocks noChangeArrowheads="1"/>
          </p:cNvSpPr>
          <p:nvPr/>
        </p:nvSpPr>
        <p:spPr bwMode="auto">
          <a:xfrm>
            <a:off x="6892210" y="2202272"/>
            <a:ext cx="566614"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387" name="Rectangle 401"/>
          <p:cNvSpPr>
            <a:spLocks noChangeArrowheads="1"/>
          </p:cNvSpPr>
          <p:nvPr/>
        </p:nvSpPr>
        <p:spPr bwMode="auto">
          <a:xfrm>
            <a:off x="5475048" y="2146987"/>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388" name="Oval 402"/>
          <p:cNvSpPr>
            <a:spLocks noChangeArrowheads="1"/>
          </p:cNvSpPr>
          <p:nvPr/>
        </p:nvSpPr>
        <p:spPr bwMode="auto">
          <a:xfrm>
            <a:off x="5531335" y="2815331"/>
            <a:ext cx="566614" cy="55654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389" name="Oval 403"/>
          <p:cNvSpPr>
            <a:spLocks noChangeArrowheads="1"/>
          </p:cNvSpPr>
          <p:nvPr/>
        </p:nvSpPr>
        <p:spPr bwMode="auto">
          <a:xfrm>
            <a:off x="5531335" y="2202272"/>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sp>
        <p:nvSpPr>
          <p:cNvPr id="394" name="Line 408"/>
          <p:cNvSpPr>
            <a:spLocks noChangeShapeType="1"/>
          </p:cNvSpPr>
          <p:nvPr/>
        </p:nvSpPr>
        <p:spPr bwMode="auto">
          <a:xfrm flipV="1">
            <a:off x="6097949" y="2481158"/>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414" name="对象 413"/>
          <p:cNvGraphicFramePr>
            <a:graphicFrameLocks noChangeAspect="1"/>
          </p:cNvGraphicFramePr>
          <p:nvPr>
            <p:extLst>
              <p:ext uri="{D42A27DB-BD31-4B8C-83A1-F6EECF244321}">
                <p14:modId xmlns:p14="http://schemas.microsoft.com/office/powerpoint/2010/main" val="4029124300"/>
              </p:ext>
            </p:extLst>
          </p:nvPr>
        </p:nvGraphicFramePr>
        <p:xfrm>
          <a:off x="7744964" y="2178372"/>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7"/>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744964" y="2178372"/>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815300"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收件人</a:t>
            </a:r>
          </a:p>
        </p:txBody>
      </p:sp>
      <p:sp>
        <p:nvSpPr>
          <p:cNvPr id="378" name="Text Box 392"/>
          <p:cNvSpPr txBox="1">
            <a:spLocks noChangeArrowheads="1"/>
          </p:cNvSpPr>
          <p:nvPr/>
        </p:nvSpPr>
        <p:spPr bwMode="auto">
          <a:xfrm>
            <a:off x="4143646" y="281410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a:t>
            </a:r>
            <a:endParaRPr kumimoji="1" lang="en-US" altLang="zh-CN" sz="1200" b="1" dirty="0">
              <a:solidFill>
                <a:srgbClr val="C00000"/>
              </a:solidFill>
              <a:latin typeface="微软雅黑" pitchFamily="34" charset="-122"/>
              <a:ea typeface="微软雅黑" pitchFamily="34" charset="-122"/>
            </a:endParaRPr>
          </a:p>
        </p:txBody>
      </p:sp>
      <p:sp>
        <p:nvSpPr>
          <p:cNvPr id="390" name="Line 404"/>
          <p:cNvSpPr>
            <a:spLocks noChangeShapeType="1"/>
          </p:cNvSpPr>
          <p:nvPr/>
        </p:nvSpPr>
        <p:spPr bwMode="auto">
          <a:xfrm flipV="1">
            <a:off x="3628236" y="3094217"/>
            <a:ext cx="1928643"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395" name="Text Box 409"/>
          <p:cNvSpPr txBox="1">
            <a:spLocks noChangeArrowheads="1"/>
          </p:cNvSpPr>
          <p:nvPr/>
        </p:nvSpPr>
        <p:spPr bwMode="auto">
          <a:xfrm>
            <a:off x="4289492" y="3111416"/>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p>
          <a:p>
            <a:pPr algn="ctr" eaLnBrk="1" hangingPunct="1"/>
            <a:r>
              <a:rPr kumimoji="1" lang="zh-CN" altLang="en-US" sz="1200" b="1" dirty="0">
                <a:solidFill>
                  <a:srgbClr val="0000FF"/>
                </a:solidFill>
                <a:latin typeface="微软雅黑" pitchFamily="34" charset="-122"/>
                <a:ea typeface="微软雅黑" pitchFamily="34" charset="-122"/>
              </a:rPr>
              <a:t>连接</a:t>
            </a:r>
          </a:p>
        </p:txBody>
      </p:sp>
      <p:sp>
        <p:nvSpPr>
          <p:cNvPr id="419" name="圆角矩形 418"/>
          <p:cNvSpPr/>
          <p:nvPr/>
        </p:nvSpPr>
        <p:spPr>
          <a:xfrm>
            <a:off x="1484031" y="1568391"/>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9" name="矩形 428"/>
          <p:cNvSpPr/>
          <p:nvPr/>
        </p:nvSpPr>
        <p:spPr>
          <a:xfrm>
            <a:off x="1096460" y="1095752"/>
            <a:ext cx="7188224" cy="441916"/>
          </a:xfrm>
          <a:prstGeom prst="rect">
            <a:avLst/>
          </a:prstGeom>
        </p:spPr>
        <p:txBody>
          <a:bodyPr wrap="square" anchor="ctr">
            <a:spAutoFit/>
          </a:bodyPr>
          <a:lstStyle/>
          <a:p>
            <a:pPr algn="ctr">
              <a:lnSpc>
                <a:spcPts val="3000"/>
              </a:lnSpc>
            </a:pPr>
            <a:r>
              <a:rPr lang="zh-CN" altLang="en-US" sz="2000" b="1" dirty="0">
                <a:solidFill>
                  <a:srgbClr val="C00000"/>
                </a:solidFill>
                <a:highlight>
                  <a:srgbClr val="FFFF00"/>
                </a:highlight>
                <a:latin typeface="微软雅黑" pitchFamily="34" charset="-122"/>
                <a:ea typeface="微软雅黑" pitchFamily="34" charset="-122"/>
              </a:rPr>
              <a:t>用户代理</a:t>
            </a:r>
            <a:r>
              <a:rPr lang="zh-CN" altLang="en-US" sz="2000" b="1" dirty="0">
                <a:highlight>
                  <a:srgbClr val="FFFF00"/>
                </a:highlight>
                <a:latin typeface="微软雅黑" pitchFamily="34" charset="-122"/>
                <a:ea typeface="微软雅黑" pitchFamily="34" charset="-122"/>
              </a:rPr>
              <a:t>，</a:t>
            </a:r>
            <a:r>
              <a:rPr lang="zh-CN" altLang="en-US" sz="2000" b="1" dirty="0">
                <a:solidFill>
                  <a:srgbClr val="C00000"/>
                </a:solidFill>
                <a:highlight>
                  <a:srgbClr val="FFFF00"/>
                </a:highlight>
                <a:latin typeface="微软雅黑" pitchFamily="34" charset="-122"/>
                <a:ea typeface="微软雅黑" pitchFamily="34" charset="-122"/>
              </a:rPr>
              <a:t>邮件服务器</a:t>
            </a:r>
            <a:r>
              <a:rPr lang="zh-CN" altLang="en-US" sz="2000" b="1" dirty="0">
                <a:highlight>
                  <a:srgbClr val="FFFF00"/>
                </a:highlight>
                <a:latin typeface="微软雅黑" pitchFamily="34" charset="-122"/>
                <a:ea typeface="微软雅黑" pitchFamily="34" charset="-122"/>
              </a:rPr>
              <a:t>，以及</a:t>
            </a:r>
            <a:r>
              <a:rPr lang="zh-CN" altLang="en-US" sz="2000" b="1" dirty="0">
                <a:solidFill>
                  <a:srgbClr val="C00000"/>
                </a:solidFill>
                <a:highlight>
                  <a:srgbClr val="FFFF00"/>
                </a:highlight>
                <a:latin typeface="微软雅黑" pitchFamily="34" charset="-122"/>
                <a:ea typeface="微软雅黑" pitchFamily="34" charset="-122"/>
              </a:rPr>
              <a:t>邮件发送和读取协议</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grpSp>
        <p:nvGrpSpPr>
          <p:cNvPr id="3" name="组合 2"/>
          <p:cNvGrpSpPr/>
          <p:nvPr/>
        </p:nvGrpSpPr>
        <p:grpSpPr>
          <a:xfrm>
            <a:off x="1621814" y="1666614"/>
            <a:ext cx="5935194" cy="1424487"/>
            <a:chOff x="1621814" y="1666614"/>
            <a:chExt cx="5935194" cy="1424487"/>
          </a:xfrm>
        </p:grpSpPr>
        <p:grpSp>
          <p:nvGrpSpPr>
            <p:cNvPr id="420" name="组合 419"/>
            <p:cNvGrpSpPr/>
            <p:nvPr/>
          </p:nvGrpSpPr>
          <p:grpSpPr>
            <a:xfrm>
              <a:off x="1621814" y="1666614"/>
              <a:ext cx="5935194" cy="799911"/>
              <a:chOff x="1509292" y="1797262"/>
              <a:chExt cx="5935194" cy="799911"/>
            </a:xfrm>
          </p:grpSpPr>
          <p:sp>
            <p:nvSpPr>
              <p:cNvPr id="375" name="Text Box 389"/>
              <p:cNvSpPr txBox="1">
                <a:spLocks noChangeArrowheads="1"/>
              </p:cNvSpPr>
              <p:nvPr/>
            </p:nvSpPr>
            <p:spPr bwMode="auto">
              <a:xfrm>
                <a:off x="2239475" y="231248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sp>
            <p:nvSpPr>
              <p:cNvPr id="382" name="Text Box 396"/>
              <p:cNvSpPr txBox="1">
                <a:spLocks noChangeArrowheads="1"/>
              </p:cNvSpPr>
              <p:nvPr/>
            </p:nvSpPr>
            <p:spPr bwMode="auto">
              <a:xfrm>
                <a:off x="2805314"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385" name="Text Box 399"/>
              <p:cNvSpPr txBox="1">
                <a:spLocks noChangeArrowheads="1"/>
              </p:cNvSpPr>
              <p:nvPr/>
            </p:nvSpPr>
            <p:spPr bwMode="auto">
              <a:xfrm>
                <a:off x="1509292"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76" name="Text Box 390"/>
              <p:cNvSpPr txBox="1">
                <a:spLocks noChangeArrowheads="1"/>
              </p:cNvSpPr>
              <p:nvPr/>
            </p:nvSpPr>
            <p:spPr bwMode="auto">
              <a:xfrm>
                <a:off x="6055753" y="2311432"/>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sp>
            <p:nvSpPr>
              <p:cNvPr id="386" name="Text Box 400"/>
              <p:cNvSpPr txBox="1">
                <a:spLocks noChangeArrowheads="1"/>
              </p:cNvSpPr>
              <p:nvPr/>
            </p:nvSpPr>
            <p:spPr bwMode="auto">
              <a:xfrm>
                <a:off x="5248753"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393" name="Text Box 407"/>
              <p:cNvSpPr txBox="1">
                <a:spLocks noChangeArrowheads="1"/>
              </p:cNvSpPr>
              <p:nvPr/>
            </p:nvSpPr>
            <p:spPr bwMode="auto">
              <a:xfrm>
                <a:off x="6695563"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grpSp>
        <p:sp>
          <p:nvSpPr>
            <p:cNvPr id="41" name="Text Box 392"/>
            <p:cNvSpPr txBox="1">
              <a:spLocks noChangeArrowheads="1"/>
            </p:cNvSpPr>
            <p:nvPr/>
          </p:nvSpPr>
          <p:spPr bwMode="auto">
            <a:xfrm>
              <a:off x="4736682" y="2814102"/>
              <a:ext cx="6799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 </a:t>
              </a:r>
              <a:r>
                <a:rPr kumimoji="1" lang="en-US" altLang="zh-CN" sz="1200" b="1" dirty="0">
                  <a:solidFill>
                    <a:srgbClr val="C00000"/>
                  </a:solidFill>
                  <a:latin typeface="微软雅黑" pitchFamily="34" charset="-122"/>
                  <a:ea typeface="微软雅黑" pitchFamily="34" charset="-122"/>
                </a:rPr>
                <a:t>SMTP</a:t>
              </a:r>
            </a:p>
          </p:txBody>
        </p:sp>
      </p:grpSp>
    </p:spTree>
    <p:extLst>
      <p:ext uri="{BB962C8B-B14F-4D97-AF65-F5344CB8AC3E}">
        <p14:creationId xmlns:p14="http://schemas.microsoft.com/office/powerpoint/2010/main" val="257663956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29113"/>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885023" y="574020"/>
            <a:ext cx="3392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用户代理 </a:t>
            </a:r>
            <a:r>
              <a:rPr lang="en-US" altLang="zh-CN" sz="2000" b="1" dirty="0">
                <a:highlight>
                  <a:srgbClr val="FFFF00"/>
                </a:highlight>
                <a:latin typeface="微软雅黑" pitchFamily="34" charset="-122"/>
                <a:ea typeface="微软雅黑" pitchFamily="34" charset="-122"/>
              </a:rPr>
              <a:t>UA (User Agent)</a:t>
            </a:r>
          </a:p>
        </p:txBody>
      </p:sp>
      <p:sp>
        <p:nvSpPr>
          <p:cNvPr id="371" name="Rectangle 385"/>
          <p:cNvSpPr>
            <a:spLocks noChangeArrowheads="1"/>
          </p:cNvSpPr>
          <p:nvPr/>
        </p:nvSpPr>
        <p:spPr bwMode="auto">
          <a:xfrm>
            <a:off x="6814430" y="1436259"/>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29754"/>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29754"/>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88998"/>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62613"/>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61820"/>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69452"/>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87541"/>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8351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088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69237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78072"/>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78072"/>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36259"/>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41739"/>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78072"/>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52665"/>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78072"/>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41739"/>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88998"/>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12405"/>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p>
          <a:p>
            <a:pPr algn="ctr" eaLnBrk="1" hangingPunct="1"/>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72945"/>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887099927"/>
              </p:ext>
            </p:extLst>
          </p:nvPr>
        </p:nvGraphicFramePr>
        <p:xfrm>
          <a:off x="1234937" y="1459996"/>
          <a:ext cx="440021" cy="504000"/>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4"/>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1234937" y="1459996"/>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1048080532"/>
              </p:ext>
            </p:extLst>
          </p:nvPr>
        </p:nvGraphicFramePr>
        <p:xfrm>
          <a:off x="7436052" y="1459996"/>
          <a:ext cx="443938" cy="504000"/>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5"/>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436052" y="1459996"/>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72945"/>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1096460" y="2624004"/>
            <a:ext cx="7188224" cy="820546"/>
          </a:xfrm>
          <a:prstGeom prst="rect">
            <a:avLst/>
          </a:prstGeom>
        </p:spPr>
        <p:txBody>
          <a:bodyPr wrap="square">
            <a:spAutoFit/>
          </a:bodyPr>
          <a:lstStyle/>
          <a:p>
            <a:pPr>
              <a:lnSpc>
                <a:spcPts val="3000"/>
              </a:lnSpc>
            </a:pPr>
            <a:r>
              <a:rPr lang="zh-CN" altLang="en-US" b="1" dirty="0">
                <a:highlight>
                  <a:srgbClr val="FFFF00"/>
                </a:highlight>
                <a:latin typeface="微软雅黑" pitchFamily="34" charset="-122"/>
                <a:ea typeface="微软雅黑" pitchFamily="34" charset="-122"/>
              </a:rPr>
              <a:t>用户与电子邮件系统的接口。又被称为</a:t>
            </a:r>
            <a:r>
              <a:rPr lang="zh-CN" altLang="en-US" b="1" dirty="0">
                <a:solidFill>
                  <a:srgbClr val="0000FF"/>
                </a:solidFill>
                <a:highlight>
                  <a:srgbClr val="FFFF00"/>
                </a:highlight>
                <a:latin typeface="微软雅黑" pitchFamily="34" charset="-122"/>
                <a:ea typeface="微软雅黑" pitchFamily="34" charset="-122"/>
              </a:rPr>
              <a:t>电子邮件客户端软件。</a:t>
            </a:r>
          </a:p>
          <a:p>
            <a:pPr>
              <a:lnSpc>
                <a:spcPts val="3000"/>
              </a:lnSpc>
            </a:pPr>
            <a:r>
              <a:rPr lang="zh-CN" altLang="en-US" b="1" dirty="0">
                <a:solidFill>
                  <a:srgbClr val="C00000"/>
                </a:solidFill>
                <a:highlight>
                  <a:srgbClr val="FFFF00"/>
                </a:highlight>
                <a:latin typeface="微软雅黑" pitchFamily="34" charset="-122"/>
                <a:ea typeface="微软雅黑" pitchFamily="34" charset="-122"/>
              </a:rPr>
              <a:t>基本功能：</a:t>
            </a:r>
            <a:r>
              <a:rPr lang="zh-CN" altLang="en-US" b="1" dirty="0">
                <a:highlight>
                  <a:srgbClr val="FFFF00"/>
                </a:highlight>
                <a:latin typeface="微软雅黑" pitchFamily="34" charset="-122"/>
                <a:ea typeface="微软雅黑" pitchFamily="34" charset="-122"/>
              </a:rPr>
              <a:t>撰写、显示、处理、通信。</a:t>
            </a:r>
            <a:endParaRPr lang="en-US" altLang="zh-CN" b="1" dirty="0">
              <a:highlight>
                <a:srgbClr val="FFFF00"/>
              </a:highlight>
              <a:latin typeface="微软雅黑" pitchFamily="34" charset="-122"/>
              <a:ea typeface="微软雅黑" pitchFamily="34" charset="-122"/>
            </a:endParaRPr>
          </a:p>
        </p:txBody>
      </p:sp>
    </p:spTree>
    <p:extLst>
      <p:ext uri="{BB962C8B-B14F-4D97-AF65-F5344CB8AC3E}">
        <p14:creationId xmlns:p14="http://schemas.microsoft.com/office/powerpoint/2010/main" val="200526329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10000" fill="hold" grpId="0" nodeType="withEffect">
                                  <p:stCondLst>
                                    <p:cond delay="0"/>
                                  </p:stCondLst>
                                  <p:childTnLst>
                                    <p:anim calcmode="discrete" valueType="str">
                                      <p:cBhvr>
                                        <p:cTn id="6" dur="1000" fill="hold"/>
                                        <p:tgtEl>
                                          <p:spTgt spid="373"/>
                                        </p:tgtEl>
                                        <p:attrNameLst>
                                          <p:attrName>style.visibility</p:attrName>
                                        </p:attrNameLst>
                                      </p:cBhvr>
                                      <p:tavLst>
                                        <p:tav tm="0">
                                          <p:val>
                                            <p:strVal val="hidden"/>
                                          </p:val>
                                        </p:tav>
                                        <p:tav tm="50000">
                                          <p:val>
                                            <p:strVal val="visible"/>
                                          </p:val>
                                        </p:tav>
                                      </p:tavLst>
                                    </p:anim>
                                  </p:childTnLst>
                                </p:cTn>
                              </p:par>
                              <p:par>
                                <p:cTn id="7" presetID="35" presetClass="emph" presetSubtype="0" repeatCount="10000" fill="hold" grpId="0" nodeType="withEffect">
                                  <p:stCondLst>
                                    <p:cond delay="0"/>
                                  </p:stCondLst>
                                  <p:childTnLst>
                                    <p:anim calcmode="discrete" valueType="str">
                                      <p:cBhvr>
                                        <p:cTn id="8" dur="1000" fill="hold"/>
                                        <p:tgtEl>
                                          <p:spTgt spid="3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animBg="1"/>
      <p:bldP spid="37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77260" y="582898"/>
            <a:ext cx="3208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邮件服务器</a:t>
            </a:r>
            <a:r>
              <a:rPr lang="en-US" altLang="zh-CN" sz="2000" b="1" dirty="0">
                <a:highlight>
                  <a:srgbClr val="FFFF00"/>
                </a:highlight>
                <a:latin typeface="微软雅黑" pitchFamily="34" charset="-122"/>
                <a:ea typeface="微软雅黑" pitchFamily="34" charset="-122"/>
              </a:rPr>
              <a:t> (Mail Server)</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p>
          <a:p>
            <a:pPr algn="ctr" eaLnBrk="1" hangingPunct="1"/>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2552667843"/>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6"/>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2526122300"/>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7"/>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1019340" y="2586786"/>
            <a:ext cx="7353477" cy="1246495"/>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又被称为</a:t>
            </a:r>
            <a:r>
              <a:rPr lang="zh-CN" altLang="en-US" b="1" dirty="0">
                <a:solidFill>
                  <a:srgbClr val="0000FF"/>
                </a:solidFill>
                <a:latin typeface="微软雅黑" pitchFamily="34" charset="-122"/>
                <a:ea typeface="微软雅黑" pitchFamily="34" charset="-122"/>
              </a:rPr>
              <a:t>邮件传输代理。</a:t>
            </a:r>
            <a:endParaRPr lang="en-US" altLang="zh-CN" b="1" dirty="0">
              <a:solidFill>
                <a:srgbClr val="0000FF"/>
              </a:solidFill>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a:solidFill>
                  <a:srgbClr val="C00000"/>
                </a:solidFill>
                <a:highlight>
                  <a:srgbClr val="FFFF00"/>
                </a:highlight>
                <a:latin typeface="微软雅黑" pitchFamily="34" charset="-122"/>
                <a:ea typeface="微软雅黑" pitchFamily="34" charset="-122"/>
              </a:rPr>
              <a:t>功能：</a:t>
            </a:r>
            <a:r>
              <a:rPr lang="zh-CN" altLang="en-US" b="1" dirty="0">
                <a:highlight>
                  <a:srgbClr val="FFFF00"/>
                </a:highlight>
                <a:latin typeface="微软雅黑" pitchFamily="34" charset="-122"/>
                <a:ea typeface="微软雅黑" pitchFamily="34" charset="-122"/>
              </a:rPr>
              <a:t>发送和接收邮件，同时还要向发信人报告邮件传送的情况。</a:t>
            </a:r>
          </a:p>
          <a:p>
            <a:pPr marL="285750" indent="-285750">
              <a:lnSpc>
                <a:spcPts val="3000"/>
              </a:lnSpc>
              <a:buClr>
                <a:srgbClr val="0066FF"/>
              </a:buClr>
              <a:buFont typeface="Wingdings" pitchFamily="2" charset="2"/>
              <a:buChar char="l"/>
            </a:pPr>
            <a:r>
              <a:rPr lang="zh-CN" altLang="en-US" b="1" dirty="0">
                <a:highlight>
                  <a:srgbClr val="FFFF00"/>
                </a:highlight>
                <a:latin typeface="微软雅黑" pitchFamily="34" charset="-122"/>
                <a:ea typeface="微软雅黑" pitchFamily="34" charset="-122"/>
              </a:rPr>
              <a:t>按照</a:t>
            </a:r>
            <a:r>
              <a:rPr lang="zh-CN" altLang="en-US" b="1" dirty="0">
                <a:solidFill>
                  <a:srgbClr val="CC00CC"/>
                </a:solidFill>
                <a:highlight>
                  <a:srgbClr val="FFFF00"/>
                </a:highlight>
                <a:latin typeface="微软雅黑" pitchFamily="34" charset="-122"/>
                <a:ea typeface="微软雅黑" pitchFamily="34" charset="-122"/>
              </a:rPr>
              <a:t>客户服务器</a:t>
            </a:r>
            <a:r>
              <a:rPr lang="zh-CN" altLang="en-US" b="1" dirty="0">
                <a:highlight>
                  <a:srgbClr val="FFFF00"/>
                </a:highlight>
                <a:latin typeface="微软雅黑" pitchFamily="34" charset="-122"/>
                <a:ea typeface="微软雅黑" pitchFamily="34" charset="-122"/>
              </a:rPr>
              <a:t>方式工作</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p14="http://schemas.microsoft.com/office/powerpoint/2010/main" val="19093079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72"/>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animBg="1"/>
      <p:bldP spid="38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邮件发送和读取协议</a:t>
            </a:r>
            <a:endParaRPr lang="en-US" altLang="zh-CN" sz="2000" b="1" dirty="0">
              <a:solidFill>
                <a:schemeClr val="bg1"/>
              </a:solidFill>
              <a:latin typeface="微软雅黑" pitchFamily="34" charset="-122"/>
              <a:ea typeface="微软雅黑"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p>
          <a:p>
            <a:pPr algn="ctr" eaLnBrk="1" hangingPunct="1"/>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712991522"/>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4"/>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2672193144"/>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5"/>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1019340" y="2586786"/>
            <a:ext cx="7353477" cy="1631216"/>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邮件发送和读取使用不同的协议。</a:t>
            </a:r>
            <a:endParaRPr lang="en-US" altLang="zh-CN"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a:solidFill>
                  <a:srgbClr val="C00000"/>
                </a:solidFill>
                <a:latin typeface="微软雅黑" pitchFamily="34" charset="-122"/>
                <a:ea typeface="微软雅黑" pitchFamily="34" charset="-122"/>
              </a:rPr>
              <a:t>简单邮件发送协议 </a:t>
            </a:r>
            <a:r>
              <a:rPr lang="en-US" altLang="zh-CN" b="1" dirty="0">
                <a:solidFill>
                  <a:srgbClr val="C00000"/>
                </a:solidFill>
                <a:latin typeface="微软雅黑" pitchFamily="34" charset="-122"/>
                <a:ea typeface="微软雅黑" pitchFamily="34" charset="-122"/>
              </a:rPr>
              <a:t>SMTP</a:t>
            </a:r>
            <a:r>
              <a:rPr lang="zh-CN" altLang="en-US" b="1" dirty="0">
                <a:solidFill>
                  <a:srgbClr val="C00000"/>
                </a:solidFill>
                <a:latin typeface="微软雅黑" pitchFamily="34" charset="-122"/>
                <a:ea typeface="微软雅黑" pitchFamily="34" charset="-122"/>
              </a:rPr>
              <a:t>：</a:t>
            </a:r>
            <a:r>
              <a:rPr lang="zh-CN" altLang="en-US" b="1" dirty="0">
                <a:latin typeface="微软雅黑" pitchFamily="34" charset="-122"/>
                <a:ea typeface="微软雅黑" pitchFamily="34" charset="-122"/>
              </a:rPr>
              <a:t>用于在用户代理向邮件服务器 或 邮件服务器之间</a:t>
            </a:r>
            <a:r>
              <a:rPr lang="zh-CN" altLang="en-US" b="1" dirty="0">
                <a:solidFill>
                  <a:srgbClr val="0000FF"/>
                </a:solidFill>
                <a:latin typeface="微软雅黑" pitchFamily="34" charset="-122"/>
                <a:ea typeface="微软雅黑" pitchFamily="34" charset="-122"/>
              </a:rPr>
              <a:t>发送</a:t>
            </a:r>
            <a:r>
              <a:rPr lang="zh-CN" altLang="en-US" b="1" dirty="0">
                <a:latin typeface="微软雅黑" pitchFamily="34" charset="-122"/>
                <a:ea typeface="微软雅黑" pitchFamily="34" charset="-122"/>
              </a:rPr>
              <a:t>邮件。</a:t>
            </a:r>
            <a:endParaRPr lang="en-US" altLang="zh-CN"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zh-CN" altLang="en-US" b="1" dirty="0">
                <a:solidFill>
                  <a:srgbClr val="C00000"/>
                </a:solidFill>
                <a:highlight>
                  <a:srgbClr val="FFFF00"/>
                </a:highlight>
                <a:latin typeface="微软雅黑" pitchFamily="34" charset="-122"/>
                <a:ea typeface="微软雅黑" pitchFamily="34" charset="-122"/>
              </a:rPr>
              <a:t>邮局协议 </a:t>
            </a:r>
            <a:r>
              <a:rPr lang="en-US" altLang="zh-CN" b="1" dirty="0">
                <a:solidFill>
                  <a:srgbClr val="C00000"/>
                </a:solidFill>
                <a:highlight>
                  <a:srgbClr val="FFFF00"/>
                </a:highlight>
                <a:latin typeface="微软雅黑" pitchFamily="34" charset="-122"/>
                <a:ea typeface="微软雅黑" pitchFamily="34" charset="-122"/>
              </a:rPr>
              <a:t>POP3</a:t>
            </a:r>
            <a:r>
              <a:rPr lang="zh-CN" altLang="en-US" b="1" dirty="0">
                <a:solidFill>
                  <a:srgbClr val="C00000"/>
                </a:solidFill>
                <a:highlight>
                  <a:srgbClr val="FFFF00"/>
                </a:highlight>
                <a:latin typeface="微软雅黑" pitchFamily="34" charset="-122"/>
                <a:ea typeface="微软雅黑" pitchFamily="34" charset="-122"/>
              </a:rPr>
              <a:t>：</a:t>
            </a:r>
            <a:r>
              <a:rPr lang="zh-CN" altLang="en-US" b="1" dirty="0">
                <a:highlight>
                  <a:srgbClr val="FFFF00"/>
                </a:highlight>
                <a:latin typeface="微软雅黑" pitchFamily="34" charset="-122"/>
                <a:ea typeface="微软雅黑" pitchFamily="34" charset="-122"/>
              </a:rPr>
              <a:t>用于用户代理从邮件服务器</a:t>
            </a:r>
            <a:r>
              <a:rPr lang="zh-CN" altLang="en-US" b="1" dirty="0">
                <a:solidFill>
                  <a:srgbClr val="0000FF"/>
                </a:solidFill>
                <a:highlight>
                  <a:srgbClr val="FFFF00"/>
                </a:highlight>
                <a:latin typeface="微软雅黑" pitchFamily="34" charset="-122"/>
                <a:ea typeface="微软雅黑" pitchFamily="34" charset="-122"/>
              </a:rPr>
              <a:t>读取</a:t>
            </a:r>
            <a:r>
              <a:rPr lang="zh-CN" altLang="en-US" b="1" dirty="0">
                <a:highlight>
                  <a:srgbClr val="FFFF00"/>
                </a:highlight>
                <a:latin typeface="微软雅黑" pitchFamily="34" charset="-122"/>
                <a:ea typeface="微软雅黑" pitchFamily="34" charset="-122"/>
              </a:rPr>
              <a:t>邮件</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37313530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withEffect">
                                  <p:stCondLst>
                                    <p:cond delay="0"/>
                                  </p:stCondLst>
                                  <p:endCondLst>
                                    <p:cond evt="onNext" delay="0">
                                      <p:tgtEl>
                                        <p:sldTgt/>
                                      </p:tgtEl>
                                    </p:cond>
                                  </p:end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7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nodeType="withEffect">
                                  <p:stCondLst>
                                    <p:cond delay="0"/>
                                  </p:stCondLst>
                                  <p:endCondLst>
                                    <p:cond evt="onNext" delay="0">
                                      <p:tgtEl>
                                        <p:sldTgt/>
                                      </p:tgtEl>
                                    </p:cond>
                                  </p:end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应当注意</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POP3</a:t>
            </a:r>
          </a:p>
          <a:p>
            <a:pPr algn="ctr" eaLnBrk="1" hangingPunct="1"/>
            <a:r>
              <a:rPr kumimoji="1" lang="zh-CN" altLang="en-US" sz="900" b="1" dirty="0">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p>
          <a:p>
            <a:pPr algn="ctr" eaLnBrk="1" hangingPunct="1"/>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469138007"/>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4"/>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3552248955"/>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5"/>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1019340" y="2790417"/>
            <a:ext cx="7353477" cy="820546"/>
          </a:xfrm>
          <a:prstGeom prst="rect">
            <a:avLst/>
          </a:prstGeom>
        </p:spPr>
        <p:txBody>
          <a:bodyPr wrap="square">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邮件服务器必须能够</a:t>
            </a:r>
            <a:r>
              <a:rPr lang="zh-CN" altLang="en-US" b="1" dirty="0">
                <a:solidFill>
                  <a:srgbClr val="C00000"/>
                </a:solidFill>
                <a:latin typeface="微软雅黑" pitchFamily="34" charset="-122"/>
                <a:ea typeface="微软雅黑" pitchFamily="34" charset="-122"/>
              </a:rPr>
              <a:t>同时充当</a:t>
            </a:r>
            <a:r>
              <a:rPr lang="zh-CN" altLang="en-US" b="1" dirty="0">
                <a:latin typeface="微软雅黑" pitchFamily="34" charset="-122"/>
                <a:ea typeface="微软雅黑" pitchFamily="34" charset="-122"/>
              </a:rPr>
              <a:t>客户和服务器。</a:t>
            </a:r>
            <a:endParaRPr lang="en-US" altLang="zh-CN"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en-US" altLang="zh-CN" b="1" dirty="0">
                <a:solidFill>
                  <a:srgbClr val="0000FF"/>
                </a:solidFill>
                <a:highlight>
                  <a:srgbClr val="FFFF00"/>
                </a:highlight>
                <a:latin typeface="微软雅黑" pitchFamily="34" charset="-122"/>
                <a:ea typeface="微软雅黑" pitchFamily="34" charset="-122"/>
              </a:rPr>
              <a:t>SMTP </a:t>
            </a:r>
            <a:r>
              <a:rPr lang="zh-CN" altLang="en-US" b="1" dirty="0">
                <a:solidFill>
                  <a:srgbClr val="0000FF"/>
                </a:solidFill>
                <a:highlight>
                  <a:srgbClr val="FFFF00"/>
                </a:highlight>
                <a:latin typeface="微软雅黑" pitchFamily="34" charset="-122"/>
                <a:ea typeface="微软雅黑" pitchFamily="34" charset="-122"/>
              </a:rPr>
              <a:t>和 </a:t>
            </a:r>
            <a:r>
              <a:rPr lang="en-US" altLang="zh-CN" b="1" dirty="0">
                <a:solidFill>
                  <a:srgbClr val="0000FF"/>
                </a:solidFill>
                <a:highlight>
                  <a:srgbClr val="FFFF00"/>
                </a:highlight>
                <a:latin typeface="微软雅黑" pitchFamily="34" charset="-122"/>
                <a:ea typeface="微软雅黑" pitchFamily="34" charset="-122"/>
              </a:rPr>
              <a:t>POP3</a:t>
            </a:r>
            <a:r>
              <a:rPr lang="zh-CN" altLang="en-US" b="1" dirty="0">
                <a:solidFill>
                  <a:srgbClr val="0000FF"/>
                </a:solidFill>
                <a:highlight>
                  <a:srgbClr val="FFFF00"/>
                </a:highlight>
                <a:latin typeface="微软雅黑" pitchFamily="34" charset="-122"/>
                <a:ea typeface="微软雅黑" pitchFamily="34" charset="-122"/>
              </a:rPr>
              <a:t>（或 </a:t>
            </a:r>
            <a:r>
              <a:rPr lang="en-US" altLang="zh-CN" b="1" dirty="0">
                <a:solidFill>
                  <a:srgbClr val="0000FF"/>
                </a:solidFill>
                <a:highlight>
                  <a:srgbClr val="FFFF00"/>
                </a:highlight>
                <a:latin typeface="微软雅黑" pitchFamily="34" charset="-122"/>
                <a:ea typeface="微软雅黑" pitchFamily="34" charset="-122"/>
              </a:rPr>
              <a:t>IMAP</a:t>
            </a:r>
            <a:r>
              <a:rPr lang="zh-CN" altLang="en-US" b="1" dirty="0">
                <a:solidFill>
                  <a:srgbClr val="0000FF"/>
                </a:solidFill>
                <a:highlight>
                  <a:srgbClr val="FFFF00"/>
                </a:highlight>
                <a:latin typeface="微软雅黑" pitchFamily="34" charset="-122"/>
                <a:ea typeface="微软雅黑" pitchFamily="34" charset="-122"/>
              </a:rPr>
              <a:t>）都使用 </a:t>
            </a:r>
            <a:r>
              <a:rPr lang="en-US" altLang="zh-CN" b="1" dirty="0">
                <a:solidFill>
                  <a:srgbClr val="C00000"/>
                </a:solidFill>
                <a:highlight>
                  <a:srgbClr val="FFFF00"/>
                </a:highlight>
                <a:latin typeface="微软雅黑" pitchFamily="34" charset="-122"/>
                <a:ea typeface="微软雅黑" pitchFamily="34" charset="-122"/>
              </a:rPr>
              <a:t>TCP </a:t>
            </a:r>
            <a:r>
              <a:rPr lang="zh-CN" altLang="en-US" b="1" dirty="0">
                <a:solidFill>
                  <a:srgbClr val="C00000"/>
                </a:solidFill>
                <a:highlight>
                  <a:srgbClr val="FFFF00"/>
                </a:highlight>
                <a:latin typeface="微软雅黑" pitchFamily="34" charset="-122"/>
                <a:ea typeface="微软雅黑" pitchFamily="34" charset="-122"/>
              </a:rPr>
              <a:t>连接</a:t>
            </a:r>
            <a:r>
              <a:rPr lang="zh-CN" altLang="en-US" b="1" dirty="0">
                <a:solidFill>
                  <a:srgbClr val="0000FF"/>
                </a:solidFill>
                <a:highlight>
                  <a:srgbClr val="FFFF00"/>
                </a:highlight>
                <a:latin typeface="微软雅黑" pitchFamily="34" charset="-122"/>
                <a:ea typeface="微软雅黑" pitchFamily="34" charset="-122"/>
              </a:rPr>
              <a:t>可靠地传送邮件</a:t>
            </a:r>
            <a:r>
              <a:rPr lang="zh-CN" altLang="en-US" b="1" dirty="0">
                <a:solidFill>
                  <a:srgbClr val="0000FF"/>
                </a:solidFill>
                <a:latin typeface="微软雅黑" pitchFamily="34" charset="-122"/>
                <a:ea typeface="微软雅黑" pitchFamily="34" charset="-122"/>
              </a:rPr>
              <a:t>。</a:t>
            </a:r>
          </a:p>
        </p:txBody>
      </p:sp>
    </p:spTree>
    <p:extLst>
      <p:ext uri="{BB962C8B-B14F-4D97-AF65-F5344CB8AC3E}">
        <p14:creationId xmlns:p14="http://schemas.microsoft.com/office/powerpoint/2010/main" val="5225500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2000"/>
                                  </p:stCondLst>
                                  <p:childTnLst>
                                    <p:anim calcmode="discrete" valueType="str">
                                      <p:cBhvr>
                                        <p:cTn id="6" dur="1000" fill="hold"/>
                                        <p:tgtEl>
                                          <p:spTgt spid="38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2000"/>
                                  </p:stCondLst>
                                  <p:childTnLst>
                                    <p:anim calcmode="discrete" valueType="str">
                                      <p:cBhvr>
                                        <p:cTn id="8" dur="1000" fill="hold"/>
                                        <p:tgtEl>
                                          <p:spTgt spid="39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2000"/>
                                  </p:stCondLst>
                                  <p:childTnLst>
                                    <p:anim calcmode="discrete" valueType="str">
                                      <p:cBhvr>
                                        <p:cTn id="10" dur="1000" fill="hold"/>
                                        <p:tgtEl>
                                          <p:spTgt spid="384"/>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2000"/>
                                  </p:stCondLst>
                                  <p:childTnLst>
                                    <p:anim calcmode="discrete" valueType="str">
                                      <p:cBhvr>
                                        <p:cTn id="12" dur="1000" fill="hold"/>
                                        <p:tgtEl>
                                          <p:spTgt spid="389"/>
                                        </p:tgtEl>
                                        <p:attrNameLst>
                                          <p:attrName>style.visibility</p:attrName>
                                        </p:attrNameLst>
                                      </p:cBhvr>
                                      <p:tavLst>
                                        <p:tav tm="0">
                                          <p:val>
                                            <p:strVal val="hidden"/>
                                          </p:val>
                                        </p:tav>
                                        <p:tav tm="50000">
                                          <p:val>
                                            <p:strVal val="visible"/>
                                          </p:val>
                                        </p:tav>
                                      </p:tavLst>
                                    </p:anim>
                                  </p:childTnLst>
                                </p:cTn>
                              </p:par>
                            </p:childTnLst>
                          </p:cTn>
                        </p:par>
                        <p:par>
                          <p:cTn id="13" fill="hold">
                            <p:stCondLst>
                              <p:cond delay="5000"/>
                            </p:stCondLst>
                            <p:childTnLst>
                              <p:par>
                                <p:cTn id="14" presetID="35" presetClass="emph" presetSubtype="0" repeatCount="3000" fill="hold" grpId="0" nodeType="afterEffect">
                                  <p:stCondLst>
                                    <p:cond delay="1000"/>
                                  </p:stCondLst>
                                  <p:childTnLst>
                                    <p:anim calcmode="discrete" valueType="str">
                                      <p:cBhvr>
                                        <p:cTn id="15" dur="1000" fill="hold"/>
                                        <p:tgtEl>
                                          <p:spTgt spid="39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1000"/>
                                  </p:stCondLst>
                                  <p:childTnLst>
                                    <p:anim calcmode="discrete" valueType="str">
                                      <p:cBhvr>
                                        <p:cTn id="17" dur="1000" fill="hold"/>
                                        <p:tgtEl>
                                          <p:spTgt spid="3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 grpId="0" animBg="1"/>
      <p:bldP spid="384" grpId="0" animBg="1"/>
      <p:bldP spid="388" grpId="0" animBg="1"/>
      <p:bldP spid="389" grpId="0" animBg="1"/>
      <p:bldP spid="391" grpId="0" animBg="1"/>
      <p:bldP spid="392"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ext uri="{D42A27DB-BD31-4B8C-83A1-F6EECF244321}">
                <p14:modId xmlns:p14="http://schemas.microsoft.com/office/powerpoint/2010/main" val="1515248841"/>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3541143482"/>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nvGrpSpPr>
          <p:cNvPr id="3" name="组合 2"/>
          <p:cNvGrpSpPr/>
          <p:nvPr/>
        </p:nvGrpSpPr>
        <p:grpSpPr>
          <a:xfrm>
            <a:off x="1700784" y="2860589"/>
            <a:ext cx="760001" cy="1209725"/>
            <a:chOff x="1700784" y="2878345"/>
            <a:chExt cx="760001" cy="1209725"/>
          </a:xfrm>
        </p:grpSpPr>
        <p:sp>
          <p:nvSpPr>
            <p:cNvPr id="14" name="Text Box 7"/>
            <p:cNvSpPr txBox="1">
              <a:spLocks noChangeArrowheads="1"/>
            </p:cNvSpPr>
            <p:nvPr/>
          </p:nvSpPr>
          <p:spPr bwMode="auto">
            <a:xfrm>
              <a:off x="1700784" y="28783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grpSp>
          <p:nvGrpSpPr>
            <p:cNvPr id="52" name="Group 45"/>
            <p:cNvGrpSpPr>
              <a:grpSpLocks/>
            </p:cNvGrpSpPr>
            <p:nvPr/>
          </p:nvGrpSpPr>
          <p:grpSpPr bwMode="auto">
            <a:xfrm>
              <a:off x="1900095" y="3171970"/>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69534"/>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211925"/>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81166"/>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65947"/>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99750"/>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700679"/>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80814"/>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28780"/>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53514"/>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63736"/>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504620"/>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94399"/>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88824"/>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31567"/>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50598"/>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215641"/>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211925"/>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98916"/>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90553"/>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80333"/>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89625"/>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85908"/>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216571"/>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35731"/>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36660"/>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53162"/>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28651"/>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97763"/>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74309"/>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76168"/>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36084"/>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1" name="Oval 194"/>
            <p:cNvSpPr>
              <a:spLocks noChangeArrowheads="1"/>
            </p:cNvSpPr>
            <p:nvPr/>
          </p:nvSpPr>
          <p:spPr bwMode="auto">
            <a:xfrm>
              <a:off x="2135645" y="3298340"/>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48516"/>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572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gr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2442658117"/>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7" imgW="3561172" imgH="4347469" progId="">
                  <p:embed/>
                </p:oleObj>
              </mc:Choice>
              <mc:Fallback>
                <p:oleObj name="Visio" r:id="rId7" imgW="3561172" imgH="4347469" progId="">
                  <p:embed/>
                  <p:pic>
                    <p:nvPicPr>
                      <p:cNvPr id="0" name="Picture 304"/>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737935738"/>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9" imgW="3561172" imgH="4347469" progId="">
                  <p:embed/>
                </p:oleObj>
              </mc:Choice>
              <mc:Fallback>
                <p:oleObj name="Visio" r:id="rId9" imgW="3561172" imgH="4347469" progId="">
                  <p:embed/>
                  <p:pic>
                    <p:nvPicPr>
                      <p:cNvPr id="0" name="Picture 305"/>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Tree>
    <p:extLst>
      <p:ext uri="{BB962C8B-B14F-4D97-AF65-F5344CB8AC3E}">
        <p14:creationId xmlns:p14="http://schemas.microsoft.com/office/powerpoint/2010/main" val="11634547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7"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highlight>
                  <a:srgbClr val="FFFF00"/>
                </a:highlight>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ext uri="{D42A27DB-BD31-4B8C-83A1-F6EECF244321}">
                <p14:modId xmlns:p14="http://schemas.microsoft.com/office/powerpoint/2010/main" val="3960807443"/>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01165261"/>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1094640158"/>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4159887229"/>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Tree>
    <p:extLst>
      <p:ext uri="{BB962C8B-B14F-4D97-AF65-F5344CB8AC3E}">
        <p14:creationId xmlns:p14="http://schemas.microsoft.com/office/powerpoint/2010/main" val="9747660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1000"/>
                                        <p:tgtEl>
                                          <p:spTgt spid="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ext uri="{D42A27DB-BD31-4B8C-83A1-F6EECF244321}">
                <p14:modId xmlns:p14="http://schemas.microsoft.com/office/powerpoint/2010/main" val="1418956408"/>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292360898"/>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1782133990"/>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1618396809"/>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Tree>
    <p:extLst>
      <p:ext uri="{BB962C8B-B14F-4D97-AF65-F5344CB8AC3E}">
        <p14:creationId xmlns:p14="http://schemas.microsoft.com/office/powerpoint/2010/main" val="39843132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2"/>
                                        </p:tgtEl>
                                        <p:attrNameLst>
                                          <p:attrName>style.visibility</p:attrName>
                                        </p:attrNameLst>
                                      </p:cBhvr>
                                      <p:to>
                                        <p:strVal val="visible"/>
                                      </p:to>
                                    </p:set>
                                    <p:animEffect transition="in" filter="wipe(left)">
                                      <p:cBhvr>
                                        <p:cTn id="7" dur="10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ext uri="{D42A27DB-BD31-4B8C-83A1-F6EECF244321}">
                <p14:modId xmlns:p14="http://schemas.microsoft.com/office/powerpoint/2010/main" val="1676268534"/>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3049604450"/>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3456766184"/>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6" imgW="3561172" imgH="4347469" progId="">
                  <p:embed/>
                </p:oleObj>
              </mc:Choice>
              <mc:Fallback>
                <p:oleObj name="Visio" r:id="rId6" imgW="3561172" imgH="4347469" progId="">
                  <p:embed/>
                  <p:pic>
                    <p:nvPicPr>
                      <p:cNvPr id="0" name="Picture 304"/>
                      <p:cNvPicPr>
                        <a:picLocks noChangeAspect="1" noChangeArrowheads="1"/>
                      </p:cNvPicPr>
                      <p:nvPr/>
                    </p:nvPicPr>
                    <p:blipFill>
                      <a:blip r:embed="rId7">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3318777676"/>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8" imgW="3561172" imgH="4347469" progId="">
                  <p:embed/>
                </p:oleObj>
              </mc:Choice>
              <mc:Fallback>
                <p:oleObj name="Visio" r:id="rId8" imgW="3561172" imgH="4347469" progId="">
                  <p:embed/>
                  <p:pic>
                    <p:nvPicPr>
                      <p:cNvPr id="0" name="Picture 305"/>
                      <p:cNvPicPr>
                        <a:picLocks noChangeAspect="1" noChangeArrowheads="1"/>
                      </p:cNvPicPr>
                      <p:nvPr/>
                    </p:nvPicPr>
                    <p:blipFill>
                      <a:blip r:embed="rId9">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7554133" y="2754331"/>
            <a:ext cx="874666" cy="1323439"/>
          </a:xfrm>
          <a:prstGeom prst="rect">
            <a:avLst/>
          </a:prstGeom>
          <a:solidFill>
            <a:srgbClr val="FFFF99"/>
          </a:solidFill>
        </p:spPr>
        <p:txBody>
          <a:bodyPr wrap="square">
            <a:spAutoFit/>
          </a:bodyPr>
          <a:lstStyle/>
          <a:p>
            <a:pPr>
              <a:lnSpc>
                <a:spcPts val="1600"/>
              </a:lnSpc>
            </a:pPr>
            <a:r>
              <a:rPr lang="zh-CN" altLang="en-US" sz="1200" b="1" dirty="0">
                <a:solidFill>
                  <a:srgbClr val="C00000"/>
                </a:solidFill>
                <a:latin typeface="微软雅黑" pitchFamily="34" charset="-122"/>
                <a:ea typeface="微软雅黑" pitchFamily="34" charset="-122"/>
              </a:rPr>
              <a:t>注意：</a:t>
            </a:r>
            <a:r>
              <a:rPr lang="zh-CN" altLang="en-US" sz="1200" b="1" dirty="0">
                <a:latin typeface="微软雅黑" pitchFamily="34" charset="-122"/>
                <a:ea typeface="微软雅黑" pitchFamily="34" charset="-122"/>
              </a:rPr>
              <a:t>邮件不会在互联网中的某个中间邮件服务器落地。</a:t>
            </a:r>
          </a:p>
        </p:txBody>
      </p:sp>
    </p:spTree>
    <p:extLst>
      <p:ext uri="{BB962C8B-B14F-4D97-AF65-F5344CB8AC3E}">
        <p14:creationId xmlns:p14="http://schemas.microsoft.com/office/powerpoint/2010/main" val="204691150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p:stCondLst>
                              <p:cond delay="1000"/>
                            </p:stCondLst>
                            <p:childTnLst>
                              <p:par>
                                <p:cTn id="9" presetID="35" presetClass="emph" presetSubtype="0" repeatCount="3000" fill="hold" grpId="1" nodeType="after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发送和接收电子邮件的重要步骤</a:t>
            </a:r>
          </a:p>
        </p:txBody>
      </p:sp>
      <p:graphicFrame>
        <p:nvGraphicFramePr>
          <p:cNvPr id="8" name="Object 383"/>
          <p:cNvGraphicFramePr>
            <a:graphicFrameLocks noChangeAspect="1"/>
          </p:cNvGraphicFramePr>
          <p:nvPr>
            <p:extLst>
              <p:ext uri="{D42A27DB-BD31-4B8C-83A1-F6EECF244321}">
                <p14:modId xmlns:p14="http://schemas.microsoft.com/office/powerpoint/2010/main" val="970004572"/>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3" imgW="1687068" imgH="964692" progId="">
                  <p:embed/>
                </p:oleObj>
              </mc:Choice>
              <mc:Fallback>
                <p:oleObj name="VISIO" r:id="rId3" imgW="1687068" imgH="964692" progId="">
                  <p:embed/>
                  <p:pic>
                    <p:nvPicPr>
                      <p:cNvPr id="0" name="Picture 3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1901863615"/>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30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a:solidFill>
                  <a:srgbClr val="0000FF"/>
                </a:solidFill>
                <a:latin typeface="微软雅黑" pitchFamily="34" charset="-122"/>
                <a:ea typeface="微软雅黑" pitchFamily="34" charset="-122"/>
              </a:rPr>
              <a:t>TCP </a:t>
            </a:r>
            <a:r>
              <a:rPr kumimoji="1" lang="zh-CN" altLang="en-US" sz="1200" b="1">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2053129981"/>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7" imgW="3561172" imgH="4347469" progId="">
                  <p:embed/>
                </p:oleObj>
              </mc:Choice>
              <mc:Fallback>
                <p:oleObj name="Visio" r:id="rId7" imgW="3561172" imgH="4347469" progId="">
                  <p:embed/>
                  <p:pic>
                    <p:nvPicPr>
                      <p:cNvPr id="0" name="Picture 304"/>
                      <p:cNvPicPr>
                        <a:picLocks noChangeAspect="1" noChangeArrowheads="1"/>
                      </p:cNvPicPr>
                      <p:nvPr/>
                    </p:nvPicPr>
                    <p:blipFill>
                      <a:blip r:embed="rId8">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2123150761"/>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9" imgW="3561172" imgH="4347469" progId="">
                  <p:embed/>
                </p:oleObj>
              </mc:Choice>
              <mc:Fallback>
                <p:oleObj name="Visio" r:id="rId9" imgW="3561172" imgH="4347469" progId="">
                  <p:embed/>
                  <p:pic>
                    <p:nvPicPr>
                      <p:cNvPr id="0" name="Picture 305"/>
                      <p:cNvPicPr>
                        <a:picLocks noChangeAspect="1" noChangeArrowheads="1"/>
                      </p:cNvPicPr>
                      <p:nvPr/>
                    </p:nvPicPr>
                    <p:blipFill>
                      <a:blip r:embed="rId10">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Tree>
    <p:extLst>
      <p:ext uri="{BB962C8B-B14F-4D97-AF65-F5344CB8AC3E}">
        <p14:creationId xmlns:p14="http://schemas.microsoft.com/office/powerpoint/2010/main" val="20953283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两种不同的通信方式</a:t>
            </a:r>
          </a:p>
        </p:txBody>
      </p:sp>
      <p:graphicFrame>
        <p:nvGraphicFramePr>
          <p:cNvPr id="8" name="Object 383"/>
          <p:cNvGraphicFramePr>
            <a:graphicFrameLocks noChangeAspect="1"/>
          </p:cNvGraphicFramePr>
          <p:nvPr>
            <p:extLst>
              <p:ext uri="{D42A27DB-BD31-4B8C-83A1-F6EECF244321}">
                <p14:modId xmlns:p14="http://schemas.microsoft.com/office/powerpoint/2010/main" val="4134161399"/>
              </p:ext>
            </p:extLst>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30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6905" y="3043640"/>
                        <a:ext cx="1597512" cy="84277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9" name="Object 383"/>
          <p:cNvGraphicFramePr>
            <a:graphicFrameLocks noChangeAspect="1"/>
          </p:cNvGraphicFramePr>
          <p:nvPr>
            <p:extLst>
              <p:ext uri="{D42A27DB-BD31-4B8C-83A1-F6EECF244321}">
                <p14:modId xmlns:p14="http://schemas.microsoft.com/office/powerpoint/2010/main" val="2865704632"/>
              </p:ext>
            </p:extLst>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name="VISIO" r:id="rId4" imgW="1687068" imgH="964692" progId="">
                  <p:embed/>
                </p:oleObj>
              </mc:Choice>
              <mc:Fallback>
                <p:oleObj name="VISIO" r:id="rId4" imgW="1687068" imgH="964692" progId="">
                  <p:embed/>
                  <p:pic>
                    <p:nvPicPr>
                      <p:cNvPr id="0" name="Picture 30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80655" y="2980580"/>
                        <a:ext cx="1597279" cy="84277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1" name="Freeform 4"/>
          <p:cNvSpPr>
            <a:spLocks/>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发送方</a:t>
            </a: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solidFill>
                  <a:srgbClr val="0000FF"/>
                </a:solidFill>
                <a:latin typeface="微软雅黑" pitchFamily="34" charset="-122"/>
                <a:ea typeface="微软雅黑" pitchFamily="34" charset="-122"/>
              </a:rPr>
              <a:t>邮件缓存</a:t>
            </a: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接收方</a:t>
            </a:r>
          </a:p>
          <a:p>
            <a:pPr algn="ctr" eaLnBrk="1" hangingPunct="1"/>
            <a:r>
              <a:rPr kumimoji="1" lang="zh-CN" altLang="en-US" sz="900" b="1">
                <a:latin typeface="微软雅黑" pitchFamily="34" charset="-122"/>
                <a:ea typeface="微软雅黑" pitchFamily="34" charset="-122"/>
              </a:rPr>
              <a:t>邮件服务器</a:t>
            </a: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18" name="Group 11"/>
          <p:cNvGrpSpPr>
            <a:grpSpLocks/>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28" name="Group 21"/>
          <p:cNvGrpSpPr>
            <a:grpSpLocks/>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0" name="Group 23"/>
            <p:cNvGrpSpPr>
              <a:grpSpLocks/>
            </p:cNvGrpSpPr>
            <p:nvPr/>
          </p:nvGrpSpPr>
          <p:grpSpPr bwMode="auto">
            <a:xfrm>
              <a:off x="1367" y="829"/>
              <a:ext cx="393" cy="214"/>
              <a:chOff x="2928" y="3744"/>
              <a:chExt cx="528" cy="336"/>
            </a:xfrm>
          </p:grpSpPr>
          <p:grpSp>
            <p:nvGrpSpPr>
              <p:cNvPr id="31" name="Group 24"/>
              <p:cNvGrpSpPr>
                <a:grpSpLocks/>
              </p:cNvGrpSpPr>
              <p:nvPr/>
            </p:nvGrpSpPr>
            <p:grpSpPr bwMode="auto">
              <a:xfrm>
                <a:off x="3024" y="3744"/>
                <a:ext cx="432" cy="240"/>
                <a:chOff x="2736" y="3648"/>
                <a:chExt cx="432" cy="240"/>
              </a:xfrm>
            </p:grpSpPr>
            <p:grpSp>
              <p:nvGrpSpPr>
                <p:cNvPr id="46" name="Group 25"/>
                <p:cNvGrpSpPr>
                  <a:grpSpLocks/>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9"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 name="Group 31"/>
              <p:cNvGrpSpPr>
                <a:grpSpLocks/>
              </p:cNvGrpSpPr>
              <p:nvPr/>
            </p:nvGrpSpPr>
            <p:grpSpPr bwMode="auto">
              <a:xfrm>
                <a:off x="2976" y="3792"/>
                <a:ext cx="432" cy="240"/>
                <a:chOff x="2736" y="3648"/>
                <a:chExt cx="432" cy="240"/>
              </a:xfrm>
            </p:grpSpPr>
            <p:grpSp>
              <p:nvGrpSpPr>
                <p:cNvPr id="40" name="Group 32"/>
                <p:cNvGrpSpPr>
                  <a:grpSpLocks/>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43"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 name="Group 38"/>
              <p:cNvGrpSpPr>
                <a:grpSpLocks/>
              </p:cNvGrpSpPr>
              <p:nvPr/>
            </p:nvGrpSpPr>
            <p:grpSpPr bwMode="auto">
              <a:xfrm>
                <a:off x="2928" y="3840"/>
                <a:ext cx="432" cy="240"/>
                <a:chOff x="2736" y="3648"/>
                <a:chExt cx="432" cy="240"/>
              </a:xfrm>
            </p:grpSpPr>
            <p:grpSp>
              <p:nvGrpSpPr>
                <p:cNvPr id="34" name="Group 39"/>
                <p:cNvGrpSpPr>
                  <a:grpSpLocks/>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grpSp>
        <p:nvGrpSpPr>
          <p:cNvPr id="52" name="Group 45"/>
          <p:cNvGrpSpPr>
            <a:grpSpLocks/>
          </p:cNvGrpSpPr>
          <p:nvPr/>
        </p:nvGrpSpPr>
        <p:grpSpPr bwMode="auto">
          <a:xfrm>
            <a:off x="1900095" y="3154214"/>
            <a:ext cx="560690" cy="593753"/>
            <a:chOff x="246" y="1767"/>
            <a:chExt cx="557" cy="639"/>
          </a:xfrm>
        </p:grpSpPr>
        <p:grpSp>
          <p:nvGrpSpPr>
            <p:cNvPr id="53" name="Group 46"/>
            <p:cNvGrpSpPr>
              <a:grpSpLocks/>
            </p:cNvGrpSpPr>
            <p:nvPr/>
          </p:nvGrpSpPr>
          <p:grpSpPr bwMode="auto">
            <a:xfrm>
              <a:off x="246" y="1943"/>
              <a:ext cx="557" cy="463"/>
              <a:chOff x="246" y="1943"/>
              <a:chExt cx="557" cy="463"/>
            </a:xfrm>
          </p:grpSpPr>
          <p:sp>
            <p:nvSpPr>
              <p:cNvPr id="106"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nvGrpSpPr>
              <p:cNvPr id="107" name="Group 48"/>
              <p:cNvGrpSpPr>
                <a:grpSpLocks/>
              </p:cNvGrpSpPr>
              <p:nvPr/>
            </p:nvGrpSpPr>
            <p:grpSpPr bwMode="auto">
              <a:xfrm>
                <a:off x="246" y="1943"/>
                <a:ext cx="551" cy="121"/>
                <a:chOff x="246" y="1943"/>
                <a:chExt cx="551" cy="121"/>
              </a:xfrm>
            </p:grpSpPr>
            <p:sp>
              <p:nvSpPr>
                <p:cNvPr id="109"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0"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1"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108"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grpSp>
        <p:grpSp>
          <p:nvGrpSpPr>
            <p:cNvPr id="54" name="Group 53"/>
            <p:cNvGrpSpPr>
              <a:grpSpLocks/>
            </p:cNvGrpSpPr>
            <p:nvPr/>
          </p:nvGrpSpPr>
          <p:grpSpPr bwMode="auto">
            <a:xfrm>
              <a:off x="325" y="1767"/>
              <a:ext cx="383" cy="268"/>
              <a:chOff x="325" y="1767"/>
              <a:chExt cx="383" cy="268"/>
            </a:xfrm>
          </p:grpSpPr>
          <p:grpSp>
            <p:nvGrpSpPr>
              <p:cNvPr id="55" name="Group 54"/>
              <p:cNvGrpSpPr>
                <a:grpSpLocks/>
              </p:cNvGrpSpPr>
              <p:nvPr/>
            </p:nvGrpSpPr>
            <p:grpSpPr bwMode="auto">
              <a:xfrm>
                <a:off x="412" y="1767"/>
                <a:ext cx="296" cy="243"/>
                <a:chOff x="412" y="1767"/>
                <a:chExt cx="296" cy="243"/>
              </a:xfrm>
            </p:grpSpPr>
            <p:grpSp>
              <p:nvGrpSpPr>
                <p:cNvPr id="88" name="Group 55"/>
                <p:cNvGrpSpPr>
                  <a:grpSpLocks/>
                </p:cNvGrpSpPr>
                <p:nvPr/>
              </p:nvGrpSpPr>
              <p:grpSpPr bwMode="auto">
                <a:xfrm>
                  <a:off x="412" y="1767"/>
                  <a:ext cx="296" cy="243"/>
                  <a:chOff x="412" y="1767"/>
                  <a:chExt cx="296" cy="243"/>
                </a:xfrm>
              </p:grpSpPr>
              <p:grpSp>
                <p:nvGrpSpPr>
                  <p:cNvPr id="97" name="Group 56"/>
                  <p:cNvGrpSpPr>
                    <a:grpSpLocks/>
                  </p:cNvGrpSpPr>
                  <p:nvPr/>
                </p:nvGrpSpPr>
                <p:grpSpPr bwMode="auto">
                  <a:xfrm>
                    <a:off x="412" y="1904"/>
                    <a:ext cx="296" cy="106"/>
                    <a:chOff x="412" y="1904"/>
                    <a:chExt cx="296" cy="106"/>
                  </a:xfrm>
                </p:grpSpPr>
                <p:sp>
                  <p:nvSpPr>
                    <p:cNvPr id="103"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4"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5"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98"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99" name="Group 61"/>
                  <p:cNvGrpSpPr>
                    <a:grpSpLocks/>
                  </p:cNvGrpSpPr>
                  <p:nvPr/>
                </p:nvGrpSpPr>
                <p:grpSpPr bwMode="auto">
                  <a:xfrm>
                    <a:off x="446" y="1767"/>
                    <a:ext cx="239" cy="151"/>
                    <a:chOff x="446" y="1767"/>
                    <a:chExt cx="239" cy="151"/>
                  </a:xfrm>
                </p:grpSpPr>
                <p:sp>
                  <p:nvSpPr>
                    <p:cNvPr id="100"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1"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02"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89" name="Group 65"/>
                <p:cNvGrpSpPr>
                  <a:grpSpLocks/>
                </p:cNvGrpSpPr>
                <p:nvPr/>
              </p:nvGrpSpPr>
              <p:grpSpPr bwMode="auto">
                <a:xfrm>
                  <a:off x="424" y="1915"/>
                  <a:ext cx="97" cy="69"/>
                  <a:chOff x="424" y="1915"/>
                  <a:chExt cx="97" cy="69"/>
                </a:xfrm>
              </p:grpSpPr>
              <p:sp>
                <p:nvSpPr>
                  <p:cNvPr id="90"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56" name="Group 73"/>
              <p:cNvGrpSpPr>
                <a:grpSpLocks/>
              </p:cNvGrpSpPr>
              <p:nvPr/>
            </p:nvGrpSpPr>
            <p:grpSpPr bwMode="auto">
              <a:xfrm>
                <a:off x="325" y="1917"/>
                <a:ext cx="231" cy="118"/>
                <a:chOff x="325" y="1917"/>
                <a:chExt cx="231" cy="118"/>
              </a:xfrm>
            </p:grpSpPr>
            <p:grpSp>
              <p:nvGrpSpPr>
                <p:cNvPr id="57" name="Group 74"/>
                <p:cNvGrpSpPr>
                  <a:grpSpLocks/>
                </p:cNvGrpSpPr>
                <p:nvPr/>
              </p:nvGrpSpPr>
              <p:grpSpPr bwMode="auto">
                <a:xfrm>
                  <a:off x="504" y="1981"/>
                  <a:ext cx="37" cy="28"/>
                  <a:chOff x="504" y="1981"/>
                  <a:chExt cx="37" cy="28"/>
                </a:xfrm>
              </p:grpSpPr>
              <p:sp>
                <p:nvSpPr>
                  <p:cNvPr id="86"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87"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58" name="Group 77"/>
                <p:cNvGrpSpPr>
                  <a:grpSpLocks/>
                </p:cNvGrpSpPr>
                <p:nvPr/>
              </p:nvGrpSpPr>
              <p:grpSpPr bwMode="auto">
                <a:xfrm>
                  <a:off x="325" y="1917"/>
                  <a:ext cx="231" cy="118"/>
                  <a:chOff x="325" y="1917"/>
                  <a:chExt cx="231" cy="118"/>
                </a:xfrm>
              </p:grpSpPr>
              <p:sp>
                <p:nvSpPr>
                  <p:cNvPr id="59"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0"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1"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62"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3"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4"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grpSp>
        <p:nvGrpSpPr>
          <p:cNvPr id="112" name="Group 105"/>
          <p:cNvGrpSpPr>
            <a:grpSpLocks/>
          </p:cNvGrpSpPr>
          <p:nvPr/>
        </p:nvGrpSpPr>
        <p:grpSpPr bwMode="auto">
          <a:xfrm>
            <a:off x="1941367" y="3251778"/>
            <a:ext cx="55364" cy="100353"/>
            <a:chOff x="287" y="1872"/>
            <a:chExt cx="55" cy="108"/>
          </a:xfrm>
        </p:grpSpPr>
        <p:sp>
          <p:nvSpPr>
            <p:cNvPr id="113"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4"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15" name="Group 108"/>
          <p:cNvGrpSpPr>
            <a:grpSpLocks/>
          </p:cNvGrpSpPr>
          <p:nvPr/>
        </p:nvGrpSpPr>
        <p:grpSpPr bwMode="auto">
          <a:xfrm>
            <a:off x="1932308" y="3194169"/>
            <a:ext cx="70463" cy="70619"/>
            <a:chOff x="278" y="1810"/>
            <a:chExt cx="70" cy="76"/>
          </a:xfrm>
        </p:grpSpPr>
        <p:sp>
          <p:nvSpPr>
            <p:cNvPr id="116"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17"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8"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19"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0"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1"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2"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3"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4"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5"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27"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28"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29"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0"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1" name="Group 124"/>
          <p:cNvGrpSpPr>
            <a:grpSpLocks/>
          </p:cNvGrpSpPr>
          <p:nvPr/>
        </p:nvGrpSpPr>
        <p:grpSpPr bwMode="auto">
          <a:xfrm>
            <a:off x="2029950" y="3663410"/>
            <a:ext cx="139921" cy="65972"/>
            <a:chOff x="375" y="2315"/>
            <a:chExt cx="139" cy="71"/>
          </a:xfrm>
        </p:grpSpPr>
        <p:sp>
          <p:nvSpPr>
            <p:cNvPr id="132"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3"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4"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5"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36"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37" name="Group 130"/>
          <p:cNvGrpSpPr>
            <a:grpSpLocks/>
          </p:cNvGrpSpPr>
          <p:nvPr/>
        </p:nvGrpSpPr>
        <p:grpSpPr bwMode="auto">
          <a:xfrm>
            <a:off x="2032970" y="3548191"/>
            <a:ext cx="58384" cy="131945"/>
            <a:chOff x="378" y="2191"/>
            <a:chExt cx="58" cy="142"/>
          </a:xfrm>
        </p:grpSpPr>
        <p:sp>
          <p:nvSpPr>
            <p:cNvPr id="138"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39"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40" name="Group 133"/>
          <p:cNvGrpSpPr>
            <a:grpSpLocks/>
          </p:cNvGrpSpPr>
          <p:nvPr/>
        </p:nvGrpSpPr>
        <p:grpSpPr bwMode="auto">
          <a:xfrm>
            <a:off x="2063168" y="3681994"/>
            <a:ext cx="141934" cy="65972"/>
            <a:chOff x="408" y="2335"/>
            <a:chExt cx="141" cy="71"/>
          </a:xfrm>
        </p:grpSpPr>
        <p:sp>
          <p:nvSpPr>
            <p:cNvPr id="141"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42"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3"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4"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45"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headEnd/>
            <a:tailEnd/>
          </a:ln>
        </p:spPr>
        <p:txBody>
          <a:bodyPr/>
          <a:lstStyle/>
          <a:p>
            <a:pPr algn="ctr" eaLnBrk="1" hangingPunct="1"/>
            <a:endParaRPr lang="zh-CN" altLang="en-US" sz="900" b="1">
              <a:latin typeface="微软雅黑" pitchFamily="34" charset="-122"/>
              <a:ea typeface="微软雅黑"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headEnd/>
            <a:tailEnd/>
          </a:ln>
        </p:spPr>
        <p:txBody>
          <a:bodyPr/>
          <a:lstStyle/>
          <a:p>
            <a:pPr algn="ctr" eaLnBrk="1" hangingPunct="1"/>
            <a:endParaRPr lang="zh-CN" altLang="en-US" sz="900" b="1">
              <a:latin typeface="微软雅黑" pitchFamily="34" charset="-122"/>
              <a:ea typeface="微软雅黑" pitchFamily="34" charset="-122"/>
            </a:endParaRPr>
          </a:p>
        </p:txBody>
      </p:sp>
      <p:grpSp>
        <p:nvGrpSpPr>
          <p:cNvPr id="148" name="Group 141"/>
          <p:cNvGrpSpPr>
            <a:grpSpLocks/>
          </p:cNvGrpSpPr>
          <p:nvPr/>
        </p:nvGrpSpPr>
        <p:grpSpPr bwMode="auto">
          <a:xfrm>
            <a:off x="1835671" y="3511024"/>
            <a:ext cx="222464" cy="71547"/>
            <a:chOff x="182" y="2151"/>
            <a:chExt cx="221" cy="77"/>
          </a:xfrm>
        </p:grpSpPr>
        <p:sp>
          <p:nvSpPr>
            <p:cNvPr id="149"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0"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51" name="Freeform 144"/>
          <p:cNvSpPr>
            <a:spLocks/>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2" name="Freeform 145"/>
          <p:cNvSpPr>
            <a:spLocks/>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3" name="Freeform 146"/>
          <p:cNvSpPr>
            <a:spLocks/>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4" name="Freeform 147"/>
          <p:cNvSpPr>
            <a:spLocks/>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5" name="Freeform 148"/>
          <p:cNvSpPr>
            <a:spLocks/>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6" name="Freeform 149"/>
          <p:cNvSpPr>
            <a:spLocks/>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7" name="Freeform 150"/>
          <p:cNvSpPr>
            <a:spLocks/>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58" name="Freeform 151"/>
          <p:cNvSpPr>
            <a:spLocks/>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59" name="Freeform 152"/>
          <p:cNvSpPr>
            <a:spLocks/>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0" name="Freeform 153"/>
          <p:cNvSpPr>
            <a:spLocks/>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1" name="Freeform 154"/>
          <p:cNvSpPr>
            <a:spLocks/>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2" name="Freeform 155"/>
          <p:cNvSpPr>
            <a:spLocks/>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3" name="Freeform 156"/>
          <p:cNvSpPr>
            <a:spLocks/>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4" name="Freeform 157"/>
          <p:cNvSpPr>
            <a:spLocks/>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5" name="Freeform 158"/>
          <p:cNvSpPr>
            <a:spLocks/>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6" name="Freeform 159"/>
          <p:cNvSpPr>
            <a:spLocks/>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67" name="Freeform 160"/>
          <p:cNvSpPr>
            <a:spLocks/>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168" name="Group 161"/>
          <p:cNvGrpSpPr>
            <a:grpSpLocks/>
          </p:cNvGrpSpPr>
          <p:nvPr/>
        </p:nvGrpSpPr>
        <p:grpSpPr bwMode="auto">
          <a:xfrm>
            <a:off x="2031963" y="3335406"/>
            <a:ext cx="99655" cy="56681"/>
            <a:chOff x="377" y="1962"/>
            <a:chExt cx="99" cy="61"/>
          </a:xfrm>
        </p:grpSpPr>
        <p:sp>
          <p:nvSpPr>
            <p:cNvPr id="169"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70"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1"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2"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3"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4"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5"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6"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7"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78"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79" name="Group 172"/>
          <p:cNvGrpSpPr>
            <a:grpSpLocks/>
          </p:cNvGrpSpPr>
          <p:nvPr/>
        </p:nvGrpSpPr>
        <p:grpSpPr bwMode="auto">
          <a:xfrm>
            <a:off x="1815539" y="3210895"/>
            <a:ext cx="230517" cy="243448"/>
            <a:chOff x="162" y="1828"/>
            <a:chExt cx="229" cy="262"/>
          </a:xfrm>
        </p:grpSpPr>
        <p:sp>
          <p:nvSpPr>
            <p:cNvPr id="180"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1"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2"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3"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84"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5"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6"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7"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8"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89"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0"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1"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2"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3"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194" name="Group 187"/>
          <p:cNvGrpSpPr>
            <a:grpSpLocks/>
          </p:cNvGrpSpPr>
          <p:nvPr/>
        </p:nvGrpSpPr>
        <p:grpSpPr bwMode="auto">
          <a:xfrm>
            <a:off x="1794400" y="3380007"/>
            <a:ext cx="123814" cy="155175"/>
            <a:chOff x="141" y="2010"/>
            <a:chExt cx="123" cy="167"/>
          </a:xfrm>
        </p:grpSpPr>
        <p:sp>
          <p:nvSpPr>
            <p:cNvPr id="195"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196"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197" name="Freeform 190"/>
          <p:cNvSpPr>
            <a:spLocks/>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8" name="Freeform 191"/>
          <p:cNvSpPr>
            <a:spLocks/>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199" name="Freeform 192"/>
          <p:cNvSpPr>
            <a:spLocks/>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itchFamily="34" charset="-122"/>
              <a:ea typeface="微软雅黑"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202" name="Group 195"/>
          <p:cNvGrpSpPr>
            <a:grpSpLocks/>
          </p:cNvGrpSpPr>
          <p:nvPr/>
        </p:nvGrpSpPr>
        <p:grpSpPr bwMode="auto">
          <a:xfrm>
            <a:off x="6678537" y="3067799"/>
            <a:ext cx="449960" cy="289908"/>
            <a:chOff x="4993" y="1674"/>
            <a:chExt cx="447" cy="312"/>
          </a:xfrm>
        </p:grpSpPr>
        <p:grpSp>
          <p:nvGrpSpPr>
            <p:cNvPr id="203" name="Group 196"/>
            <p:cNvGrpSpPr>
              <a:grpSpLocks/>
            </p:cNvGrpSpPr>
            <p:nvPr/>
          </p:nvGrpSpPr>
          <p:grpSpPr bwMode="auto">
            <a:xfrm>
              <a:off x="4993" y="1674"/>
              <a:ext cx="345" cy="282"/>
              <a:chOff x="4993" y="1674"/>
              <a:chExt cx="345" cy="282"/>
            </a:xfrm>
          </p:grpSpPr>
          <p:grpSp>
            <p:nvGrpSpPr>
              <p:cNvPr id="236" name="Group 197"/>
              <p:cNvGrpSpPr>
                <a:grpSpLocks/>
              </p:cNvGrpSpPr>
              <p:nvPr/>
            </p:nvGrpSpPr>
            <p:grpSpPr bwMode="auto">
              <a:xfrm>
                <a:off x="4993" y="1674"/>
                <a:ext cx="345" cy="282"/>
                <a:chOff x="4993" y="1674"/>
                <a:chExt cx="345" cy="282"/>
              </a:xfrm>
            </p:grpSpPr>
            <p:grpSp>
              <p:nvGrpSpPr>
                <p:cNvPr id="245" name="Group 198"/>
                <p:cNvGrpSpPr>
                  <a:grpSpLocks/>
                </p:cNvGrpSpPr>
                <p:nvPr/>
              </p:nvGrpSpPr>
              <p:grpSpPr bwMode="auto">
                <a:xfrm>
                  <a:off x="4993" y="1833"/>
                  <a:ext cx="345" cy="123"/>
                  <a:chOff x="4993" y="1833"/>
                  <a:chExt cx="345" cy="123"/>
                </a:xfrm>
              </p:grpSpPr>
              <p:sp>
                <p:nvSpPr>
                  <p:cNvPr id="251"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2"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3"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sp>
              <p:nvSpPr>
                <p:cNvPr id="246"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nvGrpSpPr>
                <p:cNvPr id="247" name="Group 203"/>
                <p:cNvGrpSpPr>
                  <a:grpSpLocks/>
                </p:cNvGrpSpPr>
                <p:nvPr/>
              </p:nvGrpSpPr>
              <p:grpSpPr bwMode="auto">
                <a:xfrm>
                  <a:off x="5020" y="1674"/>
                  <a:ext cx="279" cy="176"/>
                  <a:chOff x="5020" y="1674"/>
                  <a:chExt cx="279" cy="176"/>
                </a:xfrm>
              </p:grpSpPr>
              <p:sp>
                <p:nvSpPr>
                  <p:cNvPr id="248"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49"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0"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grpSp>
            <p:nvGrpSpPr>
              <p:cNvPr id="237" name="Group 207"/>
              <p:cNvGrpSpPr>
                <a:grpSpLocks/>
              </p:cNvGrpSpPr>
              <p:nvPr/>
            </p:nvGrpSpPr>
            <p:grpSpPr bwMode="auto">
              <a:xfrm>
                <a:off x="5212" y="1846"/>
                <a:ext cx="113" cy="80"/>
                <a:chOff x="5212" y="1846"/>
                <a:chExt cx="113" cy="80"/>
              </a:xfrm>
            </p:grpSpPr>
            <p:sp>
              <p:nvSpPr>
                <p:cNvPr id="238"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nvGrpSpPr>
            <p:cNvPr id="204" name="Group 215"/>
            <p:cNvGrpSpPr>
              <a:grpSpLocks/>
            </p:cNvGrpSpPr>
            <p:nvPr/>
          </p:nvGrpSpPr>
          <p:grpSpPr bwMode="auto">
            <a:xfrm>
              <a:off x="5170" y="1848"/>
              <a:ext cx="270" cy="138"/>
              <a:chOff x="5170" y="1848"/>
              <a:chExt cx="270" cy="138"/>
            </a:xfrm>
          </p:grpSpPr>
          <p:grpSp>
            <p:nvGrpSpPr>
              <p:cNvPr id="205" name="Group 216"/>
              <p:cNvGrpSpPr>
                <a:grpSpLocks/>
              </p:cNvGrpSpPr>
              <p:nvPr/>
            </p:nvGrpSpPr>
            <p:grpSpPr bwMode="auto">
              <a:xfrm>
                <a:off x="5188" y="1923"/>
                <a:ext cx="43" cy="32"/>
                <a:chOff x="5188" y="1923"/>
                <a:chExt cx="43" cy="32"/>
              </a:xfrm>
            </p:grpSpPr>
            <p:sp>
              <p:nvSpPr>
                <p:cNvPr id="234"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35"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grpSp>
          <p:grpSp>
            <p:nvGrpSpPr>
              <p:cNvPr id="206" name="Group 219"/>
              <p:cNvGrpSpPr>
                <a:grpSpLocks/>
              </p:cNvGrpSpPr>
              <p:nvPr/>
            </p:nvGrpSpPr>
            <p:grpSpPr bwMode="auto">
              <a:xfrm>
                <a:off x="5170" y="1848"/>
                <a:ext cx="270" cy="138"/>
                <a:chOff x="5170" y="1848"/>
                <a:chExt cx="270" cy="138"/>
              </a:xfrm>
            </p:grpSpPr>
            <p:sp>
              <p:nvSpPr>
                <p:cNvPr id="207"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8"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09"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10"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1"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2"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pPr algn="ctr"/>
                  <a:endParaRPr lang="zh-CN" altLang="en-US" sz="900" b="1">
                    <a:latin typeface="微软雅黑" pitchFamily="34" charset="-122"/>
                    <a:ea typeface="微软雅黑" pitchFamily="34" charset="-122"/>
                  </a:endParaRPr>
                </a:p>
              </p:txBody>
            </p:sp>
          </p:grpSp>
        </p:grpSp>
      </p:grpSp>
      <p:grpSp>
        <p:nvGrpSpPr>
          <p:cNvPr id="261" name="Group 254"/>
          <p:cNvGrpSpPr>
            <a:grpSpLocks/>
          </p:cNvGrpSpPr>
          <p:nvPr/>
        </p:nvGrpSpPr>
        <p:grpSpPr bwMode="auto">
          <a:xfrm>
            <a:off x="7012736" y="3240629"/>
            <a:ext cx="144954" cy="73406"/>
            <a:chOff x="5325" y="1860"/>
            <a:chExt cx="144" cy="79"/>
          </a:xfrm>
        </p:grpSpPr>
        <p:grpSp>
          <p:nvGrpSpPr>
            <p:cNvPr id="262" name="Group 255"/>
            <p:cNvGrpSpPr>
              <a:grpSpLocks/>
            </p:cNvGrpSpPr>
            <p:nvPr/>
          </p:nvGrpSpPr>
          <p:grpSpPr bwMode="auto">
            <a:xfrm>
              <a:off x="5325" y="1860"/>
              <a:ext cx="125" cy="63"/>
              <a:chOff x="5325" y="1860"/>
              <a:chExt cx="125" cy="63"/>
            </a:xfrm>
          </p:grpSpPr>
          <p:sp>
            <p:nvSpPr>
              <p:cNvPr id="266"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7"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8"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9"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0"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1"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2"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3"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4"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63" name="Group 265"/>
            <p:cNvGrpSpPr>
              <a:grpSpLocks/>
            </p:cNvGrpSpPr>
            <p:nvPr/>
          </p:nvGrpSpPr>
          <p:grpSpPr bwMode="auto">
            <a:xfrm>
              <a:off x="5432" y="1894"/>
              <a:ext cx="37" cy="45"/>
              <a:chOff x="5432" y="1894"/>
              <a:chExt cx="37" cy="45"/>
            </a:xfrm>
          </p:grpSpPr>
          <p:sp>
            <p:nvSpPr>
              <p:cNvPr id="264"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65"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sp>
        <p:nvSpPr>
          <p:cNvPr id="275" name="Freeform 268"/>
          <p:cNvSpPr>
            <a:spLocks/>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76" name="Freeform 269"/>
          <p:cNvSpPr>
            <a:spLocks/>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7" name="Freeform 270"/>
          <p:cNvSpPr>
            <a:spLocks/>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8" name="Freeform 271"/>
          <p:cNvSpPr>
            <a:spLocks/>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79" name="Freeform 272"/>
          <p:cNvSpPr>
            <a:spLocks/>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0" name="Freeform 273"/>
          <p:cNvSpPr>
            <a:spLocks/>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1" name="Freeform 274"/>
          <p:cNvSpPr>
            <a:spLocks/>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2" name="Freeform 275"/>
          <p:cNvSpPr>
            <a:spLocks/>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3" name="Freeform 276"/>
          <p:cNvSpPr>
            <a:spLocks/>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4" name="Freeform 277"/>
          <p:cNvSpPr>
            <a:spLocks/>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5" name="Freeform 278"/>
          <p:cNvSpPr>
            <a:spLocks/>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nvGrpSpPr>
          <p:cNvPr id="286" name="Group 279"/>
          <p:cNvGrpSpPr>
            <a:grpSpLocks/>
          </p:cNvGrpSpPr>
          <p:nvPr/>
        </p:nvGrpSpPr>
        <p:grpSpPr bwMode="auto">
          <a:xfrm>
            <a:off x="6951331" y="3281513"/>
            <a:ext cx="116768" cy="65973"/>
            <a:chOff x="5264" y="1904"/>
            <a:chExt cx="116" cy="71"/>
          </a:xfrm>
        </p:grpSpPr>
        <p:sp>
          <p:nvSpPr>
            <p:cNvPr id="287"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88"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89"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0"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1"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2"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3"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4"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5"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6"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297" name="Group 290"/>
          <p:cNvGrpSpPr>
            <a:grpSpLocks/>
          </p:cNvGrpSpPr>
          <p:nvPr/>
        </p:nvGrpSpPr>
        <p:grpSpPr bwMode="auto">
          <a:xfrm>
            <a:off x="7049981" y="3136559"/>
            <a:ext cx="269775" cy="283404"/>
            <a:chOff x="5362" y="1748"/>
            <a:chExt cx="268" cy="305"/>
          </a:xfrm>
        </p:grpSpPr>
        <p:sp>
          <p:nvSpPr>
            <p:cNvPr id="298"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99"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0"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1"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02"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3"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4"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5"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6"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7"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8"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09"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0"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311"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grpSp>
        <p:nvGrpSpPr>
          <p:cNvPr id="312" name="Group 305"/>
          <p:cNvGrpSpPr>
            <a:grpSpLocks/>
          </p:cNvGrpSpPr>
          <p:nvPr/>
        </p:nvGrpSpPr>
        <p:grpSpPr bwMode="auto">
          <a:xfrm>
            <a:off x="7199967" y="3333548"/>
            <a:ext cx="144954" cy="180263"/>
            <a:chOff x="5511" y="1960"/>
            <a:chExt cx="144" cy="194"/>
          </a:xfrm>
        </p:grpSpPr>
        <p:sp>
          <p:nvSpPr>
            <p:cNvPr id="31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31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grpSp>
        <p:nvGrpSpPr>
          <p:cNvPr id="317" name="Group 310"/>
          <p:cNvGrpSpPr>
            <a:grpSpLocks/>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27" name="Group 320"/>
          <p:cNvGrpSpPr>
            <a:grpSpLocks/>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itchFamily="34" charset="-122"/>
                <a:ea typeface="微软雅黑" pitchFamily="34" charset="-122"/>
              </a:endParaRPr>
            </a:p>
          </p:txBody>
        </p:sp>
        <p:grpSp>
          <p:nvGrpSpPr>
            <p:cNvPr id="329" name="Group 322"/>
            <p:cNvGrpSpPr>
              <a:grpSpLocks/>
            </p:cNvGrpSpPr>
            <p:nvPr/>
          </p:nvGrpSpPr>
          <p:grpSpPr bwMode="auto">
            <a:xfrm>
              <a:off x="1367" y="829"/>
              <a:ext cx="393" cy="214"/>
              <a:chOff x="2928" y="3744"/>
              <a:chExt cx="528" cy="336"/>
            </a:xfrm>
          </p:grpSpPr>
          <p:grpSp>
            <p:nvGrpSpPr>
              <p:cNvPr id="330" name="Group 323"/>
              <p:cNvGrpSpPr>
                <a:grpSpLocks/>
              </p:cNvGrpSpPr>
              <p:nvPr/>
            </p:nvGrpSpPr>
            <p:grpSpPr bwMode="auto">
              <a:xfrm>
                <a:off x="3024" y="3744"/>
                <a:ext cx="432" cy="240"/>
                <a:chOff x="2736" y="3648"/>
                <a:chExt cx="432" cy="240"/>
              </a:xfrm>
            </p:grpSpPr>
            <p:grpSp>
              <p:nvGrpSpPr>
                <p:cNvPr id="345" name="Group 324"/>
                <p:cNvGrpSpPr>
                  <a:grpSpLocks/>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8"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1" name="Group 330"/>
              <p:cNvGrpSpPr>
                <a:grpSpLocks/>
              </p:cNvGrpSpPr>
              <p:nvPr/>
            </p:nvGrpSpPr>
            <p:grpSpPr bwMode="auto">
              <a:xfrm>
                <a:off x="2976" y="3792"/>
                <a:ext cx="432" cy="240"/>
                <a:chOff x="2736" y="3648"/>
                <a:chExt cx="432" cy="240"/>
              </a:xfrm>
            </p:grpSpPr>
            <p:grpSp>
              <p:nvGrpSpPr>
                <p:cNvPr id="339" name="Group 331"/>
                <p:cNvGrpSpPr>
                  <a:grpSpLocks/>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42"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nvGrpSpPr>
              <p:cNvPr id="332" name="Group 337"/>
              <p:cNvGrpSpPr>
                <a:grpSpLocks/>
              </p:cNvGrpSpPr>
              <p:nvPr/>
            </p:nvGrpSpPr>
            <p:grpSpPr bwMode="auto">
              <a:xfrm>
                <a:off x="2928" y="3840"/>
                <a:ext cx="432" cy="240"/>
                <a:chOff x="2736" y="3648"/>
                <a:chExt cx="432" cy="240"/>
              </a:xfrm>
            </p:grpSpPr>
            <p:grpSp>
              <p:nvGrpSpPr>
                <p:cNvPr id="333" name="Group 338"/>
                <p:cNvGrpSpPr>
                  <a:grpSpLocks/>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36"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grpSp>
        </p:grpSp>
      </p:grpSp>
      <p:sp>
        <p:nvSpPr>
          <p:cNvPr id="351" name="Freeform 344"/>
          <p:cNvSpPr>
            <a:spLocks/>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2" name="Freeform 345"/>
          <p:cNvSpPr>
            <a:spLocks/>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3" name="Freeform 346"/>
          <p:cNvSpPr>
            <a:spLocks/>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SMTP</a:t>
            </a: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SMTP</a:t>
            </a: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POP3</a:t>
            </a: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latin typeface="微软雅黑" pitchFamily="34" charset="-122"/>
                <a:ea typeface="微软雅黑" pitchFamily="34" charset="-122"/>
              </a:rPr>
              <a:t>   </a:t>
            </a:r>
            <a:r>
              <a:rPr kumimoji="1" lang="zh-CN" altLang="en-US" sz="900" b="1">
                <a:latin typeface="微软雅黑" pitchFamily="34" charset="-122"/>
                <a:ea typeface="微软雅黑" pitchFamily="34" charset="-122"/>
              </a:rPr>
              <a:t>发送方</a:t>
            </a:r>
          </a:p>
          <a:p>
            <a:pPr algn="ctr" eaLnBrk="1" hangingPunct="1"/>
            <a:r>
              <a:rPr kumimoji="1" lang="zh-CN" altLang="en-US" sz="900" b="1">
                <a:latin typeface="微软雅黑" pitchFamily="34" charset="-122"/>
                <a:ea typeface="微软雅黑" pitchFamily="34" charset="-122"/>
              </a:rPr>
              <a:t>邮件服务器</a:t>
            </a: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用户代理</a:t>
            </a: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用户邮箱</a:t>
            </a: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a:latin typeface="微软雅黑" pitchFamily="34" charset="-122"/>
                <a:ea typeface="微软雅黑" pitchFamily="34" charset="-122"/>
              </a:rPr>
              <a:t>接收方</a:t>
            </a: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a:t>
            </a:r>
            <a:r>
              <a:rPr kumimoji="1" lang="zh-CN" altLang="en-US" sz="900" b="1" dirty="0">
                <a:solidFill>
                  <a:srgbClr val="0000FF"/>
                </a:solidFill>
                <a:latin typeface="微软雅黑" pitchFamily="34" charset="-122"/>
                <a:ea typeface="微软雅黑" pitchFamily="34" charset="-122"/>
              </a:rPr>
              <a:t>发送邮件</a:t>
            </a:r>
            <a:r>
              <a:rPr kumimoji="1" lang="en-US" altLang="zh-CN" sz="900" b="1" dirty="0">
                <a:solidFill>
                  <a:srgbClr val="0000FF"/>
                </a:solidFill>
                <a:latin typeface="微软雅黑" pitchFamily="34" charset="-122"/>
                <a:ea typeface="微软雅黑" pitchFamily="34" charset="-122"/>
              </a:rPr>
              <a:t>)</a:t>
            </a: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（发送邮件）</a:t>
            </a: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a:solidFill>
                  <a:srgbClr val="0000FF"/>
                </a:solidFill>
                <a:latin typeface="微软雅黑" pitchFamily="34" charset="-122"/>
                <a:ea typeface="微软雅黑" pitchFamily="34" charset="-122"/>
              </a:rPr>
              <a:t>(</a:t>
            </a:r>
            <a:r>
              <a:rPr kumimoji="1" lang="zh-CN" altLang="en-US" sz="900" b="1">
                <a:solidFill>
                  <a:srgbClr val="0000FF"/>
                </a:solidFill>
                <a:latin typeface="微软雅黑" pitchFamily="34" charset="-122"/>
                <a:ea typeface="微软雅黑" pitchFamily="34" charset="-122"/>
              </a:rPr>
              <a:t>读取邮件</a:t>
            </a:r>
            <a:r>
              <a:rPr kumimoji="1" lang="en-US" altLang="zh-CN" sz="900" b="1">
                <a:solidFill>
                  <a:srgbClr val="0000FF"/>
                </a:solidFill>
                <a:latin typeface="微软雅黑" pitchFamily="34" charset="-122"/>
                <a:ea typeface="微软雅黑" pitchFamily="34" charset="-122"/>
              </a:rPr>
              <a:t>)</a:t>
            </a: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互联网</a:t>
            </a: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SMTP</a:t>
            </a: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C00000"/>
                </a:solidFill>
                <a:latin typeface="微软雅黑" pitchFamily="34" charset="-122"/>
                <a:ea typeface="微软雅黑" pitchFamily="34" charset="-122"/>
              </a:rPr>
              <a:t>POP3</a:t>
            </a: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发送</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solidFill>
                  <a:srgbClr val="0000FF"/>
                </a:solidFill>
                <a:latin typeface="微软雅黑" pitchFamily="34" charset="-122"/>
                <a:ea typeface="微软雅黑" pitchFamily="34" charset="-122"/>
              </a:rPr>
              <a:t>发送邮件 </a:t>
            </a:r>
            <a:r>
              <a:rPr kumimoji="1" lang="en-US" altLang="zh-CN" sz="1200" b="1" dirty="0">
                <a:solidFill>
                  <a:srgbClr val="C00000"/>
                </a:solidFill>
                <a:latin typeface="微软雅黑" pitchFamily="34" charset="-122"/>
                <a:ea typeface="微软雅黑" pitchFamily="34" charset="-122"/>
              </a:rPr>
              <a:t>SMTP</a:t>
            </a: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solidFill>
                  <a:srgbClr val="0000FF"/>
                </a:solidFill>
                <a:latin typeface="微软雅黑" pitchFamily="34" charset="-122"/>
                <a:ea typeface="微软雅黑" pitchFamily="34" charset="-122"/>
              </a:rPr>
              <a:t>读取</a:t>
            </a:r>
          </a:p>
          <a:p>
            <a:pPr algn="ctr" eaLnBrk="1" hangingPunct="1"/>
            <a:r>
              <a:rPr kumimoji="1" lang="zh-CN" altLang="en-US" sz="900" b="1" dirty="0">
                <a:solidFill>
                  <a:srgbClr val="0000FF"/>
                </a:solidFill>
                <a:latin typeface="微软雅黑" pitchFamily="34" charset="-122"/>
                <a:ea typeface="微软雅黑" pitchFamily="34" charset="-122"/>
              </a:rPr>
              <a:t>邮件</a:t>
            </a: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900" b="1" dirty="0">
                <a:solidFill>
                  <a:srgbClr val="0000FF"/>
                </a:solidFill>
                <a:latin typeface="微软雅黑" pitchFamily="34" charset="-122"/>
                <a:ea typeface="微软雅黑" pitchFamily="34" charset="-122"/>
              </a:rPr>
              <a:t>TCP</a:t>
            </a:r>
          </a:p>
          <a:p>
            <a:pPr algn="ctr" eaLnBrk="1" hangingPunct="1"/>
            <a:r>
              <a:rPr kumimoji="1" lang="zh-CN" altLang="en-US" sz="900" b="1" dirty="0">
                <a:solidFill>
                  <a:srgbClr val="0000FF"/>
                </a:solidFill>
                <a:latin typeface="微软雅黑" pitchFamily="34" charset="-122"/>
                <a:ea typeface="微软雅黑" pitchFamily="34" charset="-122"/>
              </a:rPr>
              <a:t>连接</a:t>
            </a: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发送方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dirty="0">
                <a:latin typeface="微软雅黑" pitchFamily="34" charset="-122"/>
                <a:ea typeface="微软雅黑" pitchFamily="34" charset="-122"/>
              </a:rPr>
              <a:t>SMTP</a:t>
            </a:r>
          </a:p>
          <a:p>
            <a:pPr algn="ctr" eaLnBrk="1" hangingPunct="1"/>
            <a:r>
              <a:rPr kumimoji="1" lang="zh-CN" altLang="en-US" sz="900" b="1" dirty="0">
                <a:latin typeface="微软雅黑" pitchFamily="34" charset="-122"/>
                <a:ea typeface="微软雅黑" pitchFamily="34" charset="-122"/>
              </a:rPr>
              <a:t>客户</a:t>
            </a: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客户</a:t>
            </a: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发件方</a:t>
            </a: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p>
          <a:p>
            <a:pPr algn="ctr" eaLnBrk="1" hangingPunct="1"/>
            <a:r>
              <a:rPr kumimoji="1" lang="zh-CN" altLang="en-US" sz="900" b="1" dirty="0">
                <a:solidFill>
                  <a:srgbClr val="C00000"/>
                </a:solidFill>
                <a:latin typeface="微软雅黑" pitchFamily="34" charset="-122"/>
                <a:ea typeface="微软雅黑" pitchFamily="34" charset="-122"/>
              </a:rPr>
              <a:t>邮件服务器</a:t>
            </a: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900" b="1">
              <a:latin typeface="微软雅黑" pitchFamily="34" charset="-122"/>
              <a:ea typeface="微软雅黑"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POP3</a:t>
            </a:r>
          </a:p>
          <a:p>
            <a:pPr algn="ctr" eaLnBrk="1" hangingPunct="1"/>
            <a:r>
              <a:rPr kumimoji="1" lang="zh-CN" altLang="en-US" sz="900" b="1">
                <a:latin typeface="微软雅黑" pitchFamily="34" charset="-122"/>
                <a:ea typeface="微软雅黑" pitchFamily="34" charset="-122"/>
              </a:rPr>
              <a:t>服务器</a:t>
            </a: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服务器</a:t>
            </a: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900" b="1">
                <a:latin typeface="微软雅黑" pitchFamily="34" charset="-122"/>
                <a:ea typeface="微软雅黑" pitchFamily="34" charset="-122"/>
              </a:rPr>
              <a:t>SMTP</a:t>
            </a:r>
          </a:p>
          <a:p>
            <a:pPr algn="ctr" eaLnBrk="1" hangingPunct="1"/>
            <a:r>
              <a:rPr kumimoji="1" lang="zh-CN" altLang="en-US" sz="900" b="1">
                <a:latin typeface="微软雅黑" pitchFamily="34" charset="-122"/>
                <a:ea typeface="微软雅黑" pitchFamily="34" charset="-122"/>
              </a:rPr>
              <a:t>客户</a:t>
            </a: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接收方</a:t>
            </a:r>
            <a:endParaRPr kumimoji="1" lang="en-US" altLang="zh-CN" sz="900" b="1" dirty="0">
              <a:latin typeface="微软雅黑" pitchFamily="34" charset="-122"/>
              <a:ea typeface="微软雅黑" pitchFamily="34" charset="-122"/>
            </a:endParaRPr>
          </a:p>
          <a:p>
            <a:pPr algn="ctr" eaLnBrk="1" hangingPunct="1"/>
            <a:r>
              <a:rPr kumimoji="1" lang="zh-CN" altLang="en-US" sz="900" b="1" dirty="0">
                <a:solidFill>
                  <a:srgbClr val="C00000"/>
                </a:solidFill>
                <a:latin typeface="微软雅黑" pitchFamily="34" charset="-122"/>
                <a:ea typeface="微软雅黑" pitchFamily="34" charset="-122"/>
              </a:rPr>
              <a:t>用户代理</a:t>
            </a: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itchFamily="34" charset="-122"/>
              <a:ea typeface="微软雅黑"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200" b="1" dirty="0">
                <a:solidFill>
                  <a:srgbClr val="0000FF"/>
                </a:solidFill>
                <a:latin typeface="微软雅黑" pitchFamily="34" charset="-122"/>
                <a:ea typeface="微软雅黑" pitchFamily="34" charset="-122"/>
              </a:rPr>
              <a:t>TCP </a:t>
            </a:r>
            <a:r>
              <a:rPr kumimoji="1" lang="zh-CN" altLang="en-US" sz="1200" b="1" dirty="0">
                <a:solidFill>
                  <a:srgbClr val="0000FF"/>
                </a:solidFill>
                <a:latin typeface="微软雅黑" pitchFamily="34" charset="-122"/>
                <a:ea typeface="微软雅黑" pitchFamily="34" charset="-122"/>
              </a:rPr>
              <a:t>连接</a:t>
            </a: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发件人</a:t>
            </a:r>
          </a:p>
        </p:txBody>
      </p:sp>
      <p:grpSp>
        <p:nvGrpSpPr>
          <p:cNvPr id="254" name="Group 247"/>
          <p:cNvGrpSpPr>
            <a:grpSpLocks/>
          </p:cNvGrpSpPr>
          <p:nvPr/>
        </p:nvGrpSpPr>
        <p:grpSpPr bwMode="auto">
          <a:xfrm>
            <a:off x="6953345" y="3397662"/>
            <a:ext cx="350305" cy="144024"/>
            <a:chOff x="5266" y="2029"/>
            <a:chExt cx="348" cy="155"/>
          </a:xfrm>
        </p:grpSpPr>
        <p:sp>
          <p:nvSpPr>
            <p:cNvPr id="255"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pPr algn="ctr"/>
              <a:endParaRPr lang="zh-CN" altLang="en-US" sz="900" b="1">
                <a:latin typeface="微软雅黑" pitchFamily="34" charset="-122"/>
                <a:ea typeface="微软雅黑" pitchFamily="34" charset="-122"/>
              </a:endParaRPr>
            </a:p>
          </p:txBody>
        </p:sp>
        <p:sp>
          <p:nvSpPr>
            <p:cNvPr id="256"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7"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8"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59"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sp>
          <p:nvSpPr>
            <p:cNvPr id="260"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sz="900" b="1">
                <a:latin typeface="微软雅黑" pitchFamily="34" charset="-122"/>
                <a:ea typeface="微软雅黑"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2" name="对象 411"/>
          <p:cNvGraphicFramePr>
            <a:graphicFrameLocks noChangeAspect="1"/>
          </p:cNvGraphicFramePr>
          <p:nvPr>
            <p:extLst>
              <p:ext uri="{D42A27DB-BD31-4B8C-83A1-F6EECF244321}">
                <p14:modId xmlns:p14="http://schemas.microsoft.com/office/powerpoint/2010/main" val="1928026070"/>
              </p:ext>
            </p:extLst>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name="Visio" r:id="rId5" imgW="3561172" imgH="4347469" progId="">
                  <p:embed/>
                </p:oleObj>
              </mc:Choice>
              <mc:Fallback>
                <p:oleObj name="Visio" r:id="rId5" imgW="3561172" imgH="4347469" progId="">
                  <p:embed/>
                  <p:pic>
                    <p:nvPicPr>
                      <p:cNvPr id="0" name="Picture 308"/>
                      <p:cNvPicPr>
                        <a:picLocks noChangeAspect="1" noChangeArrowheads="1"/>
                      </p:cNvPicPr>
                      <p:nvPr/>
                    </p:nvPicPr>
                    <p:blipFill>
                      <a:blip r:embed="rId6">
                        <a:extLst>
                          <a:ext uri="{28A0092B-C50C-407E-A947-70E740481C1C}">
                            <a14:useLocalDpi xmlns:a14="http://schemas.microsoft.com/office/drawing/2010/main" val="0"/>
                          </a:ext>
                        </a:extLst>
                      </a:blip>
                      <a:srcRect l="5348" t="4167" r="4546" b="11185"/>
                      <a:stretch>
                        <a:fillRect/>
                      </a:stretch>
                    </p:blipFill>
                    <p:spPr bwMode="auto">
                      <a:xfrm>
                        <a:off x="1234937" y="1468874"/>
                        <a:ext cx="440021"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414" name="对象 413"/>
          <p:cNvGraphicFramePr>
            <a:graphicFrameLocks noChangeAspect="1"/>
          </p:cNvGraphicFramePr>
          <p:nvPr>
            <p:extLst>
              <p:ext uri="{D42A27DB-BD31-4B8C-83A1-F6EECF244321}">
                <p14:modId xmlns:p14="http://schemas.microsoft.com/office/powerpoint/2010/main" val="469826854"/>
              </p:ext>
            </p:extLst>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name="Visio" r:id="rId7" imgW="3561172" imgH="4347469" progId="">
                  <p:embed/>
                </p:oleObj>
              </mc:Choice>
              <mc:Fallback>
                <p:oleObj name="Visio" r:id="rId7" imgW="3561172" imgH="4347469" progId="">
                  <p:embed/>
                  <p:pic>
                    <p:nvPicPr>
                      <p:cNvPr id="0" name="Picture 309"/>
                      <p:cNvPicPr>
                        <a:picLocks noChangeAspect="1" noChangeArrowheads="1"/>
                      </p:cNvPicPr>
                      <p:nvPr/>
                    </p:nvPicPr>
                    <p:blipFill>
                      <a:blip r:embed="rId8">
                        <a:extLst>
                          <a:ext uri="{28A0092B-C50C-407E-A947-70E740481C1C}">
                            <a14:useLocalDpi xmlns:a14="http://schemas.microsoft.com/office/drawing/2010/main" val="0"/>
                          </a:ext>
                        </a:extLst>
                      </a:blip>
                      <a:srcRect l="4546" t="3947" r="4546" b="11403"/>
                      <a:stretch>
                        <a:fillRect/>
                      </a:stretch>
                    </p:blipFill>
                    <p:spPr bwMode="auto">
                      <a:xfrm>
                        <a:off x="7436052" y="1468874"/>
                        <a:ext cx="443938" cy="50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900" b="1" dirty="0">
                <a:latin typeface="微软雅黑" pitchFamily="34" charset="-122"/>
                <a:ea typeface="微软雅黑" pitchFamily="34" charset="-122"/>
              </a:rPr>
              <a:t>用户</a:t>
            </a:r>
            <a:endParaRPr kumimoji="1" lang="en-US" altLang="zh-CN" sz="900" b="1" dirty="0">
              <a:latin typeface="微软雅黑" pitchFamily="34" charset="-122"/>
              <a:ea typeface="微软雅黑" pitchFamily="34" charset="-122"/>
            </a:endParaRPr>
          </a:p>
          <a:p>
            <a:pPr algn="ctr" eaLnBrk="1" hangingPunct="1"/>
            <a:r>
              <a:rPr kumimoji="1" lang="zh-CN" altLang="en-US" sz="900" b="1" dirty="0">
                <a:latin typeface="微软雅黑" pitchFamily="34" charset="-122"/>
                <a:ea typeface="微软雅黑" pitchFamily="34" charset="-122"/>
              </a:rPr>
              <a:t>收件人</a:t>
            </a:r>
          </a:p>
        </p:txBody>
      </p:sp>
      <p:sp>
        <p:nvSpPr>
          <p:cNvPr id="3" name="矩形 2"/>
          <p:cNvSpPr/>
          <p:nvPr/>
        </p:nvSpPr>
        <p:spPr>
          <a:xfrm>
            <a:off x="825927" y="3114718"/>
            <a:ext cx="801447" cy="502702"/>
          </a:xfrm>
          <a:prstGeom prst="rect">
            <a:avLst/>
          </a:prstGeom>
          <a:noFill/>
        </p:spPr>
        <p:txBody>
          <a:bodyPr wrap="square" anchor="ctr">
            <a:spAutoFit/>
          </a:bodyPr>
          <a:lstStyle/>
          <a:p>
            <a:pPr algn="ctr">
              <a:lnSpc>
                <a:spcPts val="1600"/>
              </a:lnSpc>
            </a:pPr>
            <a:r>
              <a:rPr lang="zh-CN" altLang="en-US" sz="1400" b="1" dirty="0">
                <a:solidFill>
                  <a:srgbClr val="C00000"/>
                </a:solidFill>
                <a:latin typeface="微软雅黑" pitchFamily="34" charset="-122"/>
                <a:ea typeface="微软雅黑" pitchFamily="34" charset="-122"/>
              </a:rPr>
              <a:t>“推”</a:t>
            </a:r>
            <a:endParaRPr lang="en-US" altLang="zh-CN" sz="1400" b="1" dirty="0">
              <a:solidFill>
                <a:srgbClr val="C00000"/>
              </a:solidFill>
              <a:latin typeface="微软雅黑" pitchFamily="34" charset="-122"/>
              <a:ea typeface="微软雅黑" pitchFamily="34" charset="-122"/>
            </a:endParaRPr>
          </a:p>
          <a:p>
            <a:pPr algn="ctr">
              <a:lnSpc>
                <a:spcPts val="1600"/>
              </a:lnSpc>
            </a:pPr>
            <a:r>
              <a:rPr lang="en-US" altLang="zh-CN" sz="1400" b="1" dirty="0">
                <a:solidFill>
                  <a:srgbClr val="C00000"/>
                </a:solidFill>
                <a:latin typeface="微软雅黑" pitchFamily="34" charset="-122"/>
                <a:ea typeface="微软雅黑" pitchFamily="34" charset="-122"/>
              </a:rPr>
              <a:t>(push)</a:t>
            </a:r>
            <a:endParaRPr lang="zh-CN" altLang="en-US" sz="1400" b="1" dirty="0">
              <a:solidFill>
                <a:srgbClr val="C00000"/>
              </a:solidFill>
              <a:latin typeface="微软雅黑" pitchFamily="34" charset="-122"/>
              <a:ea typeface="微软雅黑" pitchFamily="34" charset="-122"/>
            </a:endParaRPr>
          </a:p>
        </p:txBody>
      </p:sp>
      <p:sp>
        <p:nvSpPr>
          <p:cNvPr id="401" name="矩形 400"/>
          <p:cNvSpPr/>
          <p:nvPr/>
        </p:nvSpPr>
        <p:spPr>
          <a:xfrm>
            <a:off x="7399348" y="3132925"/>
            <a:ext cx="801447" cy="502702"/>
          </a:xfrm>
          <a:prstGeom prst="rect">
            <a:avLst/>
          </a:prstGeom>
          <a:noFill/>
        </p:spPr>
        <p:txBody>
          <a:bodyPr wrap="square" anchor="ctr">
            <a:spAutoFit/>
          </a:bodyPr>
          <a:lstStyle/>
          <a:p>
            <a:pPr algn="ctr">
              <a:lnSpc>
                <a:spcPts val="1600"/>
              </a:lnSpc>
            </a:pPr>
            <a:r>
              <a:rPr lang="zh-CN" altLang="en-US" sz="1400" b="1" dirty="0">
                <a:solidFill>
                  <a:srgbClr val="C00000"/>
                </a:solidFill>
                <a:latin typeface="微软雅黑" pitchFamily="34" charset="-122"/>
                <a:ea typeface="微软雅黑" pitchFamily="34" charset="-122"/>
              </a:rPr>
              <a:t>“拉”</a:t>
            </a:r>
            <a:endParaRPr lang="en-US" altLang="zh-CN" sz="1400" b="1" dirty="0">
              <a:solidFill>
                <a:srgbClr val="C00000"/>
              </a:solidFill>
              <a:latin typeface="微软雅黑" pitchFamily="34" charset="-122"/>
              <a:ea typeface="微软雅黑" pitchFamily="34" charset="-122"/>
            </a:endParaRPr>
          </a:p>
          <a:p>
            <a:pPr algn="ctr">
              <a:lnSpc>
                <a:spcPts val="1600"/>
              </a:lnSpc>
            </a:pPr>
            <a:r>
              <a:rPr lang="en-US" altLang="zh-CN" sz="1400" b="1" dirty="0">
                <a:solidFill>
                  <a:srgbClr val="C00000"/>
                </a:solidFill>
                <a:latin typeface="微软雅黑" pitchFamily="34" charset="-122"/>
                <a:ea typeface="微软雅黑" pitchFamily="34" charset="-122"/>
              </a:rPr>
              <a:t>(pull)</a:t>
            </a:r>
            <a:endParaRPr lang="zh-CN" altLang="en-US" sz="1400"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39602831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par>
                                <p:cTn id="8" presetID="22" presetClass="entr" presetSubtype="8" repeatCount="3000"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35" presetClass="emph" presetSubtype="0" repeatCount="3000" fill="hold" grpId="0" nodeType="with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4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P spid="353" grpId="0" animBg="1"/>
      <p:bldP spid="3" grpId="0"/>
      <p:bldP spid="401"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91341" y="57962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电子邮件的组成</a:t>
            </a:r>
          </a:p>
        </p:txBody>
      </p:sp>
      <p:sp>
        <p:nvSpPr>
          <p:cNvPr id="4" name="Rectangle 68"/>
          <p:cNvSpPr>
            <a:spLocks noChangeArrowheads="1"/>
          </p:cNvSpPr>
          <p:nvPr/>
        </p:nvSpPr>
        <p:spPr bwMode="auto">
          <a:xfrm>
            <a:off x="556963" y="973927"/>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电子邮件由</a:t>
            </a:r>
            <a:r>
              <a:rPr lang="zh-CN" altLang="en-US" sz="2000" b="1" dirty="0">
                <a:solidFill>
                  <a:srgbClr val="C00000"/>
                </a:solidFill>
                <a:latin typeface="微软雅黑" pitchFamily="34" charset="-122"/>
                <a:ea typeface="微软雅黑" pitchFamily="34" charset="-122"/>
              </a:rPr>
              <a:t>信封</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(envelope)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内容</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(content) </a:t>
            </a:r>
            <a:r>
              <a:rPr lang="zh-CN" altLang="en-US" sz="2000" b="1" dirty="0">
                <a:latin typeface="微软雅黑" pitchFamily="34" charset="-122"/>
                <a:ea typeface="微软雅黑" pitchFamily="34" charset="-122"/>
              </a:rPr>
              <a:t>两部分组成。</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电子邮件的传输程序根据邮件信封上的信息来传送邮件。</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用户在从自己的邮箱中读取邮件时才能见到邮件的内容。</a:t>
            </a:r>
          </a:p>
        </p:txBody>
      </p:sp>
    </p:spTree>
    <p:extLst>
      <p:ext uri="{BB962C8B-B14F-4D97-AF65-F5344CB8AC3E}">
        <p14:creationId xmlns:p14="http://schemas.microsoft.com/office/powerpoint/2010/main" val="298927317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78205"/>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电子邮件地址的格式</a:t>
            </a:r>
          </a:p>
        </p:txBody>
      </p:sp>
      <p:sp>
        <p:nvSpPr>
          <p:cNvPr id="4" name="Rectangle 68"/>
          <p:cNvSpPr>
            <a:spLocks noChangeArrowheads="1"/>
          </p:cNvSpPr>
          <p:nvPr/>
        </p:nvSpPr>
        <p:spPr bwMode="auto">
          <a:xfrm>
            <a:off x="556963" y="972506"/>
            <a:ext cx="8048776"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在邮件的信封上，最重要的就是收件人的地址。 </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a:latin typeface="微软雅黑" pitchFamily="34" charset="-122"/>
                <a:ea typeface="微软雅黑" pitchFamily="34" charset="-122"/>
              </a:rPr>
              <a:t>TCP/IP </a:t>
            </a:r>
            <a:r>
              <a:rPr lang="zh-CN" altLang="en-US" sz="2000" b="1" dirty="0">
                <a:latin typeface="微软雅黑" pitchFamily="34" charset="-122"/>
                <a:ea typeface="微软雅黑" pitchFamily="34" charset="-122"/>
              </a:rPr>
              <a:t>体系的电子邮件系统规定电子邮件地址的格式如下：</a:t>
            </a: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	xiexiren@tsinghua.org.cn</a:t>
            </a:r>
          </a:p>
        </p:txBody>
      </p:sp>
      <p:grpSp>
        <p:nvGrpSpPr>
          <p:cNvPr id="16" name="组合 15"/>
          <p:cNvGrpSpPr/>
          <p:nvPr/>
        </p:nvGrpSpPr>
        <p:grpSpPr>
          <a:xfrm>
            <a:off x="1521181" y="2804542"/>
            <a:ext cx="5393247" cy="1052712"/>
            <a:chOff x="2570495" y="4437112"/>
            <a:chExt cx="8856921" cy="1728787"/>
          </a:xfrm>
        </p:grpSpPr>
        <p:grpSp>
          <p:nvGrpSpPr>
            <p:cNvPr id="6" name="Group 5"/>
            <p:cNvGrpSpPr>
              <a:grpSpLocks/>
            </p:cNvGrpSpPr>
            <p:nvPr/>
          </p:nvGrpSpPr>
          <p:grpSpPr bwMode="auto">
            <a:xfrm>
              <a:off x="6202693" y="4437112"/>
              <a:ext cx="5224723" cy="1728787"/>
              <a:chOff x="3696" y="2931"/>
              <a:chExt cx="3038" cy="1089"/>
            </a:xfrm>
          </p:grpSpPr>
          <p:sp>
            <p:nvSpPr>
              <p:cNvPr id="7" name="Line 6"/>
              <p:cNvSpPr>
                <a:spLocks noChangeShapeType="1"/>
              </p:cNvSpPr>
              <p:nvPr/>
            </p:nvSpPr>
            <p:spPr bwMode="auto">
              <a:xfrm>
                <a:off x="3696" y="2931"/>
                <a:ext cx="1998" cy="1"/>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nvGrpSpPr>
              <p:cNvPr id="8" name="Group 7"/>
              <p:cNvGrpSpPr>
                <a:grpSpLocks/>
              </p:cNvGrpSpPr>
              <p:nvPr/>
            </p:nvGrpSpPr>
            <p:grpSpPr bwMode="auto">
              <a:xfrm>
                <a:off x="4330" y="3339"/>
                <a:ext cx="2404" cy="681"/>
                <a:chOff x="4330" y="3339"/>
                <a:chExt cx="2404" cy="681"/>
              </a:xfrm>
            </p:grpSpPr>
            <p:sp>
              <p:nvSpPr>
                <p:cNvPr id="9" name="AutoShape 8"/>
                <p:cNvSpPr>
                  <a:spLocks noChangeArrowheads="1"/>
                </p:cNvSpPr>
                <p:nvPr/>
              </p:nvSpPr>
              <p:spPr bwMode="auto">
                <a:xfrm>
                  <a:off x="4330" y="3339"/>
                  <a:ext cx="2404" cy="681"/>
                </a:xfrm>
                <a:prstGeom prst="wedgeRoundRectCallout">
                  <a:avLst>
                    <a:gd name="adj1" fmla="val -39328"/>
                    <a:gd name="adj2" fmla="val -106799"/>
                    <a:gd name="adj3" fmla="val 16667"/>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latin typeface="微软雅黑" pitchFamily="34" charset="-122"/>
                    <a:ea typeface="微软雅黑" pitchFamily="34" charset="-122"/>
                  </a:endParaRPr>
                </a:p>
              </p:txBody>
            </p:sp>
            <p:sp>
              <p:nvSpPr>
                <p:cNvPr id="10" name="Text Box 9"/>
                <p:cNvSpPr txBox="1">
                  <a:spLocks noChangeArrowheads="1"/>
                </p:cNvSpPr>
                <p:nvPr/>
              </p:nvSpPr>
              <p:spPr bwMode="auto">
                <a:xfrm>
                  <a:off x="4360" y="3386"/>
                  <a:ext cx="2332"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邮箱所在的主机的域名，</a:t>
                  </a:r>
                </a:p>
                <a:p>
                  <a:pPr algn="ctr" eaLnBrk="1" hangingPunct="1"/>
                  <a:r>
                    <a:rPr lang="zh-CN" altLang="en-US" sz="1600" b="1" dirty="0">
                      <a:latin typeface="微软雅黑" pitchFamily="34" charset="-122"/>
                      <a:ea typeface="微软雅黑" pitchFamily="34" charset="-122"/>
                    </a:rPr>
                    <a:t>在全世界必须是唯一的 </a:t>
                  </a:r>
                </a:p>
              </p:txBody>
            </p:sp>
          </p:grpSp>
        </p:grpSp>
        <p:grpSp>
          <p:nvGrpSpPr>
            <p:cNvPr id="11" name="Group 10"/>
            <p:cNvGrpSpPr>
              <a:grpSpLocks/>
            </p:cNvGrpSpPr>
            <p:nvPr/>
          </p:nvGrpSpPr>
          <p:grpSpPr bwMode="auto">
            <a:xfrm>
              <a:off x="2570495" y="4437113"/>
              <a:ext cx="3823106" cy="1666875"/>
              <a:chOff x="1630" y="2931"/>
              <a:chExt cx="2223" cy="1050"/>
            </a:xfrm>
          </p:grpSpPr>
          <p:sp>
            <p:nvSpPr>
              <p:cNvPr id="12" name="Line 11"/>
              <p:cNvSpPr>
                <a:spLocks noChangeShapeType="1"/>
              </p:cNvSpPr>
              <p:nvPr/>
            </p:nvSpPr>
            <p:spPr bwMode="auto">
              <a:xfrm flipV="1">
                <a:off x="2537" y="2931"/>
                <a:ext cx="978" cy="1"/>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itchFamily="34" charset="-122"/>
                  <a:ea typeface="微软雅黑" pitchFamily="34" charset="-122"/>
                </a:endParaRPr>
              </a:p>
            </p:txBody>
          </p:sp>
          <p:grpSp>
            <p:nvGrpSpPr>
              <p:cNvPr id="13" name="Group 12"/>
              <p:cNvGrpSpPr>
                <a:grpSpLocks/>
              </p:cNvGrpSpPr>
              <p:nvPr/>
            </p:nvGrpSpPr>
            <p:grpSpPr bwMode="auto">
              <a:xfrm>
                <a:off x="1630" y="3300"/>
                <a:ext cx="2223" cy="681"/>
                <a:chOff x="1630" y="3300"/>
                <a:chExt cx="2223" cy="681"/>
              </a:xfrm>
            </p:grpSpPr>
            <p:sp>
              <p:nvSpPr>
                <p:cNvPr id="14" name="AutoShape 13"/>
                <p:cNvSpPr>
                  <a:spLocks noChangeArrowheads="1"/>
                </p:cNvSpPr>
                <p:nvPr/>
              </p:nvSpPr>
              <p:spPr bwMode="auto">
                <a:xfrm>
                  <a:off x="1630" y="3300"/>
                  <a:ext cx="2223" cy="681"/>
                </a:xfrm>
                <a:prstGeom prst="wedgeRoundRectCallout">
                  <a:avLst>
                    <a:gd name="adj1" fmla="val 8694"/>
                    <a:gd name="adj2" fmla="val -101405"/>
                    <a:gd name="adj3" fmla="val 16667"/>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solidFill>
                      <a:srgbClr val="000099"/>
                    </a:solidFill>
                    <a:latin typeface="微软雅黑" pitchFamily="34" charset="-122"/>
                    <a:ea typeface="微软雅黑" pitchFamily="34" charset="-122"/>
                  </a:endParaRPr>
                </a:p>
              </p:txBody>
            </p:sp>
            <p:sp>
              <p:nvSpPr>
                <p:cNvPr id="15" name="Text Box 14"/>
                <p:cNvSpPr txBox="1">
                  <a:spLocks noChangeArrowheads="1"/>
                </p:cNvSpPr>
                <p:nvPr/>
              </p:nvSpPr>
              <p:spPr bwMode="auto">
                <a:xfrm>
                  <a:off x="1742" y="3339"/>
                  <a:ext cx="1998"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这个用户名在该域名</a:t>
                  </a:r>
                </a:p>
                <a:p>
                  <a:pPr algn="ctr" eaLnBrk="1" hangingPunct="1"/>
                  <a:r>
                    <a:rPr lang="zh-CN" altLang="en-US" sz="1600" b="1" dirty="0">
                      <a:latin typeface="微软雅黑" pitchFamily="34" charset="-122"/>
                      <a:ea typeface="微软雅黑" pitchFamily="34" charset="-122"/>
                    </a:rPr>
                    <a:t>的范围内是唯一的。 </a:t>
                  </a:r>
                </a:p>
              </p:txBody>
            </p:sp>
          </p:grpSp>
        </p:grpSp>
      </p:grpSp>
      <p:sp>
        <p:nvSpPr>
          <p:cNvPr id="5" name="矩形 4"/>
          <p:cNvSpPr/>
          <p:nvPr/>
        </p:nvSpPr>
        <p:spPr>
          <a:xfrm>
            <a:off x="1047565" y="1876976"/>
            <a:ext cx="6880196" cy="409101"/>
          </a:xfrm>
          <a:prstGeom prst="rect">
            <a:avLst/>
          </a:prstGeom>
          <a:solidFill>
            <a:srgbClr val="FFFF66"/>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itchFamily="34" charset="-122"/>
                <a:ea typeface="微软雅黑" pitchFamily="34" charset="-122"/>
              </a:rPr>
              <a:t>收件人邮箱名</a:t>
            </a:r>
            <a:r>
              <a:rPr lang="en-US" altLang="zh-CN" b="1" dirty="0">
                <a:solidFill>
                  <a:srgbClr val="000099"/>
                </a:solidFill>
                <a:latin typeface="微软雅黑" pitchFamily="34" charset="-122"/>
                <a:ea typeface="微软雅黑" pitchFamily="34" charset="-122"/>
              </a:rPr>
              <a:t>@</a:t>
            </a:r>
            <a:r>
              <a:rPr lang="zh-CN" altLang="en-US" b="1" dirty="0">
                <a:solidFill>
                  <a:srgbClr val="000099"/>
                </a:solidFill>
                <a:latin typeface="微软雅黑" pitchFamily="34" charset="-122"/>
                <a:ea typeface="微软雅黑" pitchFamily="34" charset="-122"/>
              </a:rPr>
              <a:t>邮箱所在主机的域名          </a:t>
            </a:r>
            <a:r>
              <a:rPr lang="en-US" altLang="zh-CN" b="1" dirty="0">
                <a:solidFill>
                  <a:srgbClr val="000099"/>
                </a:solidFill>
                <a:latin typeface="微软雅黑" pitchFamily="34" charset="-122"/>
                <a:ea typeface="微软雅黑" pitchFamily="34" charset="-122"/>
              </a:rPr>
              <a:t>(6-1)</a:t>
            </a:r>
          </a:p>
        </p:txBody>
      </p:sp>
    </p:spTree>
    <p:extLst>
      <p:ext uri="{BB962C8B-B14F-4D97-AF65-F5344CB8AC3E}">
        <p14:creationId xmlns:p14="http://schemas.microsoft.com/office/powerpoint/2010/main" val="3581821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6.5.2  </a:t>
            </a:r>
            <a:r>
              <a:rPr lang="zh-CN" altLang="en-US" sz="2400" b="1" dirty="0">
                <a:solidFill>
                  <a:schemeClr val="bg1"/>
                </a:solidFill>
                <a:latin typeface="微软雅黑" pitchFamily="34" charset="-122"/>
                <a:ea typeface="微软雅黑" pitchFamily="34" charset="-122"/>
              </a:rPr>
              <a:t>简单邮件传送协议 </a:t>
            </a:r>
            <a:r>
              <a:rPr lang="en-US" altLang="zh-CN" sz="2400" b="1" dirty="0">
                <a:solidFill>
                  <a:schemeClr val="bg1"/>
                </a:solidFill>
                <a:latin typeface="微软雅黑" pitchFamily="34" charset="-122"/>
                <a:ea typeface="微软雅黑" pitchFamily="34" charset="-122"/>
              </a:rPr>
              <a:t>SMTP</a:t>
            </a:r>
            <a:endParaRPr lang="zh-CN" altLang="en-US" sz="2400" b="1" dirty="0">
              <a:solidFill>
                <a:schemeClr val="bg1"/>
              </a:solidFill>
              <a:latin typeface="微软雅黑" pitchFamily="34" charset="-122"/>
              <a:ea typeface="微软雅黑" pitchFamily="34" charset="-122"/>
            </a:endParaRPr>
          </a:p>
        </p:txBody>
      </p:sp>
      <p:sp>
        <p:nvSpPr>
          <p:cNvPr id="5" name="圆角矩形 4"/>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14899"/>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 name="Rectangle 387"/>
          <p:cNvSpPr>
            <a:spLocks noChangeArrowheads="1"/>
          </p:cNvSpPr>
          <p:nvPr/>
        </p:nvSpPr>
        <p:spPr bwMode="auto">
          <a:xfrm>
            <a:off x="1544934" y="1814899"/>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 name="Line 388"/>
          <p:cNvSpPr>
            <a:spLocks noChangeShapeType="1"/>
          </p:cNvSpPr>
          <p:nvPr/>
        </p:nvSpPr>
        <p:spPr bwMode="auto">
          <a:xfrm>
            <a:off x="2021489" y="2157671"/>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 name="Oval 397"/>
          <p:cNvSpPr>
            <a:spLocks noChangeArrowheads="1"/>
          </p:cNvSpPr>
          <p:nvPr/>
        </p:nvSpPr>
        <p:spPr bwMode="auto">
          <a:xfrm>
            <a:off x="1601220" y="1878785"/>
            <a:ext cx="566615"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12" name="Oval 405"/>
          <p:cNvSpPr>
            <a:spLocks noChangeArrowheads="1"/>
          </p:cNvSpPr>
          <p:nvPr/>
        </p:nvSpPr>
        <p:spPr bwMode="auto">
          <a:xfrm>
            <a:off x="2964596" y="1878785"/>
            <a:ext cx="566615" cy="556545"/>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13" name="Oval 406"/>
          <p:cNvSpPr>
            <a:spLocks noChangeArrowheads="1"/>
          </p:cNvSpPr>
          <p:nvPr/>
        </p:nvSpPr>
        <p:spPr bwMode="auto">
          <a:xfrm>
            <a:off x="2964596" y="2491844"/>
            <a:ext cx="566615"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ext uri="{D42A27DB-BD31-4B8C-83A1-F6EECF244321}">
                <p14:modId xmlns:p14="http://schemas.microsoft.com/office/powerpoint/2010/main" val="1302962114"/>
              </p:ext>
            </p:extLst>
          </p:nvPr>
        </p:nvGraphicFramePr>
        <p:xfrm>
          <a:off x="762658" y="1854885"/>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0"/>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762658" y="185488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723401" y="1823500"/>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19" name="Oval 398"/>
          <p:cNvSpPr>
            <a:spLocks noChangeArrowheads="1"/>
          </p:cNvSpPr>
          <p:nvPr/>
        </p:nvSpPr>
        <p:spPr bwMode="auto">
          <a:xfrm>
            <a:off x="6779688" y="1878785"/>
            <a:ext cx="566614"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5362526" y="1823500"/>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5418813" y="2491844"/>
            <a:ext cx="566614" cy="55654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5418813" y="1878785"/>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grpSp>
        <p:nvGrpSpPr>
          <p:cNvPr id="4" name="组合 3"/>
          <p:cNvGrpSpPr/>
          <p:nvPr/>
        </p:nvGrpSpPr>
        <p:grpSpPr>
          <a:xfrm>
            <a:off x="2239475" y="1470728"/>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grpSp>
      <p:sp>
        <p:nvSpPr>
          <p:cNvPr id="25" name="Text Box 396"/>
          <p:cNvSpPr txBox="1">
            <a:spLocks noChangeArrowheads="1"/>
          </p:cNvSpPr>
          <p:nvPr/>
        </p:nvSpPr>
        <p:spPr bwMode="auto">
          <a:xfrm>
            <a:off x="2805314"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6" name="Text Box 399"/>
          <p:cNvSpPr txBox="1">
            <a:spLocks noChangeArrowheads="1"/>
          </p:cNvSpPr>
          <p:nvPr/>
        </p:nvSpPr>
        <p:spPr bwMode="auto">
          <a:xfrm>
            <a:off x="1509292"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sp>
        <p:nvSpPr>
          <p:cNvPr id="28" name="Text Box 400"/>
          <p:cNvSpPr txBox="1">
            <a:spLocks noChangeArrowheads="1"/>
          </p:cNvSpPr>
          <p:nvPr/>
        </p:nvSpPr>
        <p:spPr bwMode="auto">
          <a:xfrm>
            <a:off x="5248753"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695563"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0" name="Line 408"/>
          <p:cNvSpPr>
            <a:spLocks noChangeShapeType="1"/>
          </p:cNvSpPr>
          <p:nvPr/>
        </p:nvSpPr>
        <p:spPr bwMode="auto">
          <a:xfrm flipV="1">
            <a:off x="5985427" y="2157671"/>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1" name="对象 30"/>
          <p:cNvGraphicFramePr>
            <a:graphicFrameLocks noChangeAspect="1"/>
          </p:cNvGraphicFramePr>
          <p:nvPr>
            <p:extLst>
              <p:ext uri="{D42A27DB-BD31-4B8C-83A1-F6EECF244321}">
                <p14:modId xmlns:p14="http://schemas.microsoft.com/office/powerpoint/2010/main" val="1204939000"/>
              </p:ext>
            </p:extLst>
          </p:nvPr>
        </p:nvGraphicFramePr>
        <p:xfrm>
          <a:off x="7632442" y="1854885"/>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1"/>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632442" y="185488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399"/>
          <p:cNvSpPr txBox="1">
            <a:spLocks noChangeArrowheads="1"/>
          </p:cNvSpPr>
          <p:nvPr/>
        </p:nvSpPr>
        <p:spPr bwMode="auto">
          <a:xfrm>
            <a:off x="7702778"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收件人</a:t>
            </a:r>
          </a:p>
        </p:txBody>
      </p:sp>
      <p:sp>
        <p:nvSpPr>
          <p:cNvPr id="35" name="Line 404"/>
          <p:cNvSpPr>
            <a:spLocks noChangeShapeType="1"/>
          </p:cNvSpPr>
          <p:nvPr/>
        </p:nvSpPr>
        <p:spPr bwMode="auto">
          <a:xfrm flipV="1">
            <a:off x="3515714" y="2770730"/>
            <a:ext cx="1928643"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grpSp>
        <p:nvGrpSpPr>
          <p:cNvPr id="39" name="组合 38"/>
          <p:cNvGrpSpPr/>
          <p:nvPr/>
        </p:nvGrpSpPr>
        <p:grpSpPr>
          <a:xfrm>
            <a:off x="3884017" y="2490615"/>
            <a:ext cx="1200971" cy="728201"/>
            <a:chOff x="3884017" y="2490615"/>
            <a:chExt cx="1200971" cy="728201"/>
          </a:xfrm>
        </p:grpSpPr>
        <p:sp>
          <p:nvSpPr>
            <p:cNvPr id="34" name="Text Box 392"/>
            <p:cNvSpPr txBox="1">
              <a:spLocks noChangeArrowheads="1"/>
            </p:cNvSpPr>
            <p:nvPr/>
          </p:nvSpPr>
          <p:spPr bwMode="auto">
            <a:xfrm>
              <a:off x="3884017" y="2490615"/>
              <a:ext cx="12009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6" name="Text Box 409"/>
            <p:cNvSpPr txBox="1">
              <a:spLocks noChangeArrowheads="1"/>
            </p:cNvSpPr>
            <p:nvPr/>
          </p:nvSpPr>
          <p:spPr bwMode="auto">
            <a:xfrm>
              <a:off x="4242453" y="2787929"/>
              <a:ext cx="50206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p>
            <a:p>
              <a:pPr algn="ctr" eaLnBrk="1" hangingPunct="1"/>
              <a:r>
                <a:rPr kumimoji="1" lang="zh-CN" altLang="en-US" sz="1100" b="1" dirty="0">
                  <a:solidFill>
                    <a:srgbClr val="0000FF"/>
                  </a:solidFill>
                  <a:latin typeface="微软雅黑" pitchFamily="34" charset="-122"/>
                  <a:ea typeface="微软雅黑" pitchFamily="34" charset="-122"/>
                </a:rPr>
                <a:t>连接</a:t>
              </a:r>
            </a:p>
          </p:txBody>
        </p:sp>
      </p:grpSp>
      <p:sp>
        <p:nvSpPr>
          <p:cNvPr id="37" name="圆角矩形 36"/>
          <p:cNvSpPr/>
          <p:nvPr/>
        </p:nvSpPr>
        <p:spPr>
          <a:xfrm>
            <a:off x="1371509" y="1244904"/>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1470662" y="3400777"/>
            <a:ext cx="6599140" cy="938719"/>
          </a:xfrm>
          <a:prstGeom prst="rect">
            <a:avLst/>
          </a:prstGeom>
        </p:spPr>
        <p:txBody>
          <a:bodyPr wrap="square" anchor="ctr">
            <a:spAutoFit/>
          </a:bodyPr>
          <a:lstStyle/>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SMTP </a:t>
            </a:r>
            <a:r>
              <a:rPr lang="zh-CN" altLang="en-US" sz="1600" b="1" dirty="0">
                <a:latin typeface="微软雅黑" pitchFamily="34" charset="-122"/>
                <a:ea typeface="微软雅黑" pitchFamily="34" charset="-122"/>
              </a:rPr>
              <a:t>规定了在两个相互通信的 </a:t>
            </a:r>
            <a:r>
              <a:rPr lang="en-US" altLang="zh-CN" sz="1600" b="1" dirty="0">
                <a:latin typeface="微软雅黑" pitchFamily="34" charset="-122"/>
                <a:ea typeface="微软雅黑" pitchFamily="34" charset="-122"/>
              </a:rPr>
              <a:t>SMTP </a:t>
            </a:r>
            <a:r>
              <a:rPr lang="zh-CN" altLang="en-US" sz="1600" b="1" dirty="0">
                <a:latin typeface="微软雅黑" pitchFamily="34" charset="-122"/>
                <a:ea typeface="微软雅黑" pitchFamily="34" charset="-122"/>
              </a:rPr>
              <a:t>进程之间交换信息的方法。</a:t>
            </a:r>
            <a:endParaRPr lang="en-US" altLang="zh-CN" sz="1600" b="1" dirty="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SMTP </a:t>
            </a:r>
            <a:r>
              <a:rPr lang="zh-CN" altLang="en-US" sz="1600" b="1" dirty="0">
                <a:latin typeface="微软雅黑" pitchFamily="34" charset="-122"/>
                <a:ea typeface="微软雅黑" pitchFamily="34" charset="-122"/>
              </a:rPr>
              <a:t>使用</a:t>
            </a:r>
            <a:r>
              <a:rPr lang="zh-CN" altLang="en-US" sz="1600" b="1" dirty="0">
                <a:solidFill>
                  <a:srgbClr val="C00000"/>
                </a:solidFill>
                <a:latin typeface="微软雅黑" pitchFamily="34" charset="-122"/>
                <a:ea typeface="微软雅黑" pitchFamily="34" charset="-122"/>
              </a:rPr>
              <a:t>客户服务器</a:t>
            </a:r>
            <a:r>
              <a:rPr lang="zh-CN" altLang="en-US" sz="1600" b="1" dirty="0">
                <a:latin typeface="微软雅黑" pitchFamily="34" charset="-122"/>
                <a:ea typeface="微软雅黑" pitchFamily="34" charset="-122"/>
              </a:rPr>
              <a:t>方式。</a:t>
            </a:r>
            <a:endParaRPr lang="en-US" altLang="zh-CN" sz="1600" b="1" dirty="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SMTP </a:t>
            </a:r>
            <a:r>
              <a:rPr lang="zh-CN" altLang="en-US" sz="1600" b="1" dirty="0">
                <a:solidFill>
                  <a:srgbClr val="C00000"/>
                </a:solidFill>
                <a:latin typeface="微软雅黑" pitchFamily="34" charset="-122"/>
                <a:ea typeface="微软雅黑" pitchFamily="34" charset="-122"/>
              </a:rPr>
              <a:t>基于 </a:t>
            </a:r>
            <a:r>
              <a:rPr lang="en-US" altLang="zh-CN" sz="1600" b="1" dirty="0">
                <a:solidFill>
                  <a:srgbClr val="C00000"/>
                </a:solidFill>
                <a:latin typeface="微软雅黑" pitchFamily="34" charset="-122"/>
                <a:ea typeface="微软雅黑" pitchFamily="34" charset="-122"/>
              </a:rPr>
              <a:t>TCP </a:t>
            </a:r>
            <a:r>
              <a:rPr lang="zh-CN" altLang="en-US" sz="1600" b="1" dirty="0">
                <a:latin typeface="微软雅黑" pitchFamily="34" charset="-122"/>
                <a:ea typeface="微软雅黑" pitchFamily="34" charset="-122"/>
              </a:rPr>
              <a:t>实现客户与服务器的通信。</a:t>
            </a:r>
            <a:endParaRPr lang="en-US" altLang="zh-CN" sz="1600" b="1" dirty="0">
              <a:latin typeface="微软雅黑" pitchFamily="34" charset="-122"/>
              <a:ea typeface="微软雅黑" pitchFamily="34" charset="-122"/>
            </a:endParaRPr>
          </a:p>
        </p:txBody>
      </p:sp>
    </p:spTree>
    <p:extLst>
      <p:ext uri="{BB962C8B-B14F-4D97-AF65-F5344CB8AC3E}">
        <p14:creationId xmlns:p14="http://schemas.microsoft.com/office/powerpoint/2010/main" val="22937668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6.5.2  </a:t>
            </a:r>
            <a:r>
              <a:rPr lang="zh-CN" altLang="en-US" sz="2400" b="1" dirty="0">
                <a:solidFill>
                  <a:schemeClr val="bg1"/>
                </a:solidFill>
                <a:latin typeface="微软雅黑" pitchFamily="34" charset="-122"/>
                <a:ea typeface="微软雅黑" pitchFamily="34" charset="-122"/>
              </a:rPr>
              <a:t>简单邮件传送协议 </a:t>
            </a:r>
            <a:r>
              <a:rPr lang="en-US" altLang="zh-CN" sz="2400" b="1" dirty="0">
                <a:solidFill>
                  <a:schemeClr val="bg1"/>
                </a:solidFill>
                <a:latin typeface="微软雅黑" pitchFamily="34" charset="-122"/>
                <a:ea typeface="微软雅黑" pitchFamily="34" charset="-122"/>
              </a:rPr>
              <a:t>SMTP</a:t>
            </a:r>
            <a:endParaRPr lang="zh-CN" altLang="en-US" sz="2400" b="1" dirty="0">
              <a:solidFill>
                <a:schemeClr val="bg1"/>
              </a:solidFill>
              <a:latin typeface="微软雅黑" pitchFamily="34" charset="-122"/>
              <a:ea typeface="微软雅黑" pitchFamily="34" charset="-122"/>
            </a:endParaRPr>
          </a:p>
        </p:txBody>
      </p:sp>
      <p:sp>
        <p:nvSpPr>
          <p:cNvPr id="38" name="矩形 37"/>
          <p:cNvSpPr/>
          <p:nvPr/>
        </p:nvSpPr>
        <p:spPr>
          <a:xfrm>
            <a:off x="1576552" y="2525778"/>
            <a:ext cx="6708131" cy="861774"/>
          </a:xfrm>
          <a:prstGeom prst="rect">
            <a:avLst/>
          </a:prstGeom>
        </p:spPr>
        <p:txBody>
          <a:bodyPr wrap="square" anchor="ctr">
            <a:spAutoFit/>
          </a:bodyPr>
          <a:lstStyle/>
          <a:p>
            <a:pPr marL="285750" indent="-285750">
              <a:lnSpc>
                <a:spcPts val="3000"/>
              </a:lnSpc>
              <a:buClr>
                <a:srgbClr val="0066FF"/>
              </a:buClr>
              <a:buFont typeface="Wingdings" pitchFamily="2" charset="2"/>
              <a:buChar char="l"/>
            </a:pPr>
            <a:r>
              <a:rPr lang="en-US" altLang="zh-CN" b="1" dirty="0">
                <a:latin typeface="微软雅黑" pitchFamily="34" charset="-122"/>
                <a:ea typeface="微软雅黑" pitchFamily="34" charset="-122"/>
              </a:rPr>
              <a:t>SMTP </a:t>
            </a:r>
            <a:r>
              <a:rPr lang="zh-CN" altLang="en-US" b="1" dirty="0">
                <a:latin typeface="微软雅黑" pitchFamily="34" charset="-122"/>
                <a:ea typeface="微软雅黑" pitchFamily="34" charset="-122"/>
              </a:rPr>
              <a:t>是一个</a:t>
            </a:r>
            <a:r>
              <a:rPr lang="zh-CN" altLang="en-US" b="1" dirty="0">
                <a:solidFill>
                  <a:srgbClr val="C00000"/>
                </a:solidFill>
                <a:latin typeface="微软雅黑" pitchFamily="34" charset="-122"/>
                <a:ea typeface="微软雅黑" pitchFamily="34" charset="-122"/>
              </a:rPr>
              <a:t>基于文本</a:t>
            </a:r>
            <a:r>
              <a:rPr lang="zh-CN" altLang="en-US" b="1" dirty="0">
                <a:latin typeface="微软雅黑" pitchFamily="34" charset="-122"/>
                <a:ea typeface="微软雅黑" pitchFamily="34" charset="-122"/>
              </a:rPr>
              <a:t>的 （即 </a:t>
            </a:r>
            <a:r>
              <a:rPr lang="en-US" altLang="zh-CN" b="1" dirty="0">
                <a:latin typeface="微软雅黑" pitchFamily="34" charset="-122"/>
                <a:ea typeface="微软雅黑" pitchFamily="34" charset="-122"/>
              </a:rPr>
              <a:t>ASCII </a:t>
            </a:r>
            <a:r>
              <a:rPr lang="zh-CN" altLang="en-US" b="1" dirty="0">
                <a:latin typeface="微软雅黑" pitchFamily="34" charset="-122"/>
                <a:ea typeface="微软雅黑" pitchFamily="34" charset="-122"/>
              </a:rPr>
              <a:t>码） 的协议。 </a:t>
            </a:r>
            <a:endParaRPr lang="en-US" altLang="zh-CN" b="1" dirty="0">
              <a:latin typeface="微软雅黑" pitchFamily="34" charset="-122"/>
              <a:ea typeface="微软雅黑" pitchFamily="34" charset="-122"/>
            </a:endParaRPr>
          </a:p>
          <a:p>
            <a:pPr marL="285750" indent="-285750">
              <a:lnSpc>
                <a:spcPts val="3000"/>
              </a:lnSpc>
              <a:buClr>
                <a:srgbClr val="0066FF"/>
              </a:buClr>
              <a:buFont typeface="Wingdings" pitchFamily="2" charset="2"/>
              <a:buChar char="l"/>
            </a:pPr>
            <a:r>
              <a:rPr lang="en-US" altLang="zh-CN" b="1" dirty="0">
                <a:latin typeface="微软雅黑" pitchFamily="34" charset="-122"/>
                <a:ea typeface="微软雅黑" pitchFamily="34" charset="-122"/>
              </a:rPr>
              <a:t>SMTP </a:t>
            </a:r>
            <a:r>
              <a:rPr lang="zh-CN" altLang="en-US" b="1" dirty="0">
                <a:latin typeface="微软雅黑" pitchFamily="34" charset="-122"/>
                <a:ea typeface="微软雅黑" pitchFamily="34" charset="-122"/>
              </a:rPr>
              <a:t>客户与服务器之间采用</a:t>
            </a:r>
            <a:r>
              <a:rPr lang="zh-CN" altLang="en-US" b="1" dirty="0">
                <a:solidFill>
                  <a:srgbClr val="C00000"/>
                </a:solidFill>
                <a:latin typeface="微软雅黑" pitchFamily="34" charset="-122"/>
                <a:ea typeface="微软雅黑" pitchFamily="34" charset="-122"/>
              </a:rPr>
              <a:t>命令</a:t>
            </a:r>
            <a:r>
              <a:rPr lang="en-US" altLang="zh-CN" b="1" dirty="0">
                <a:solidFill>
                  <a:srgbClr val="C00000"/>
                </a:solidFill>
                <a:latin typeface="微软雅黑" pitchFamily="34" charset="-122"/>
                <a:ea typeface="微软雅黑" pitchFamily="34" charset="-122"/>
              </a:rPr>
              <a:t>-</a:t>
            </a:r>
            <a:r>
              <a:rPr lang="zh-CN" altLang="en-US" b="1" dirty="0">
                <a:solidFill>
                  <a:srgbClr val="C00000"/>
                </a:solidFill>
                <a:latin typeface="微软雅黑" pitchFamily="34" charset="-122"/>
                <a:ea typeface="微软雅黑" pitchFamily="34" charset="-122"/>
              </a:rPr>
              <a:t>响应</a:t>
            </a:r>
            <a:r>
              <a:rPr lang="zh-CN" altLang="en-US" b="1" dirty="0">
                <a:latin typeface="微软雅黑" pitchFamily="34" charset="-122"/>
                <a:ea typeface="微软雅黑" pitchFamily="34" charset="-122"/>
              </a:rPr>
              <a:t>方式进行交互。</a:t>
            </a:r>
            <a:endParaRPr lang="en-US" altLang="zh-CN" b="1" dirty="0">
              <a:latin typeface="微软雅黑" pitchFamily="34" charset="-122"/>
              <a:ea typeface="微软雅黑"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a:solidFill>
                  <a:schemeClr val="tx1"/>
                </a:solidFill>
                <a:latin typeface="微软雅黑" pitchFamily="34" charset="-122"/>
                <a:ea typeface="微软雅黑" pitchFamily="34" charset="-122"/>
              </a:rPr>
              <a:t>SMTP</a:t>
            </a:r>
          </a:p>
          <a:p>
            <a:pPr algn="ctr"/>
            <a:r>
              <a:rPr lang="zh-CN" altLang="en-US" sz="1600" b="1" dirty="0">
                <a:solidFill>
                  <a:schemeClr val="tx1"/>
                </a:solidFill>
                <a:latin typeface="微软雅黑" pitchFamily="34" charset="-122"/>
                <a:ea typeface="微软雅黑" pitchFamily="34" charset="-122"/>
              </a:rPr>
              <a:t>客户</a:t>
            </a: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a:solidFill>
                  <a:schemeClr val="bg1"/>
                </a:solidFill>
                <a:latin typeface="微软雅黑" pitchFamily="34" charset="-122"/>
                <a:ea typeface="微软雅黑" pitchFamily="34" charset="-122"/>
              </a:rPr>
              <a:t>SMTP</a:t>
            </a:r>
          </a:p>
          <a:p>
            <a:pPr algn="ctr"/>
            <a:r>
              <a:rPr lang="zh-CN" altLang="en-US" sz="1600" b="1" dirty="0">
                <a:solidFill>
                  <a:schemeClr val="bg1"/>
                </a:solidFill>
                <a:latin typeface="微软雅黑" pitchFamily="34" charset="-122"/>
                <a:ea typeface="微软雅黑" pitchFamily="34" charset="-122"/>
              </a:rPr>
              <a:t>服务器</a:t>
            </a:r>
          </a:p>
        </p:txBody>
      </p:sp>
      <p:grpSp>
        <p:nvGrpSpPr>
          <p:cNvPr id="5" name="组合 4"/>
          <p:cNvGrpSpPr/>
          <p:nvPr/>
        </p:nvGrpSpPr>
        <p:grpSpPr>
          <a:xfrm>
            <a:off x="2650180" y="1374875"/>
            <a:ext cx="3950006" cy="338554"/>
            <a:chOff x="2650180" y="1374875"/>
            <a:chExt cx="3950006" cy="338554"/>
          </a:xfrm>
        </p:grpSpPr>
        <p:cxnSp>
          <p:nvCxnSpPr>
            <p:cNvPr id="41" name="直接箭头连接符 40"/>
            <p:cNvCxnSpPr/>
            <p:nvPr/>
          </p:nvCxnSpPr>
          <p:spPr>
            <a:xfrm>
              <a:off x="2650180" y="1665897"/>
              <a:ext cx="3950006"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4432137" y="1374875"/>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dirty="0">
                  <a:latin typeface="微软雅黑" pitchFamily="34" charset="-122"/>
                  <a:ea typeface="微软雅黑" pitchFamily="34" charset="-122"/>
                </a:rPr>
                <a:t>命令</a:t>
              </a:r>
            </a:p>
          </p:txBody>
        </p:sp>
      </p:grpSp>
      <p:grpSp>
        <p:nvGrpSpPr>
          <p:cNvPr id="6" name="组合 5"/>
          <p:cNvGrpSpPr/>
          <p:nvPr/>
        </p:nvGrpSpPr>
        <p:grpSpPr>
          <a:xfrm>
            <a:off x="2650180" y="1879872"/>
            <a:ext cx="3950006" cy="338555"/>
            <a:chOff x="2650180" y="1879872"/>
            <a:chExt cx="3950006" cy="338555"/>
          </a:xfrm>
        </p:grpSpPr>
        <p:cxnSp>
          <p:nvCxnSpPr>
            <p:cNvPr id="43" name="直接箭头连接符 42"/>
            <p:cNvCxnSpPr/>
            <p:nvPr/>
          </p:nvCxnSpPr>
          <p:spPr>
            <a:xfrm>
              <a:off x="2650180" y="1879872"/>
              <a:ext cx="3950006" cy="0"/>
            </a:xfrm>
            <a:prstGeom prst="straightConnector1">
              <a:avLst/>
            </a:prstGeom>
            <a:ln w="28575">
              <a:solidFill>
                <a:srgbClr val="3333FF"/>
              </a:solidFill>
              <a:headEnd type="stealth" w="lg" len="lg"/>
              <a:tailEnd type="none" w="med" len="med"/>
            </a:ln>
          </p:spPr>
          <p:style>
            <a:lnRef idx="1">
              <a:schemeClr val="accent1"/>
            </a:lnRef>
            <a:fillRef idx="0">
              <a:schemeClr val="accent1"/>
            </a:fillRef>
            <a:effectRef idx="0">
              <a:schemeClr val="accent1"/>
            </a:effectRef>
            <a:fontRef idx="minor">
              <a:schemeClr val="tx1"/>
            </a:fontRef>
          </p:style>
        </p:cxnSp>
        <p:sp>
          <p:nvSpPr>
            <p:cNvPr id="45" name="Text Box 409"/>
            <p:cNvSpPr txBox="1">
              <a:spLocks noChangeArrowheads="1"/>
            </p:cNvSpPr>
            <p:nvPr/>
          </p:nvSpPr>
          <p:spPr bwMode="auto">
            <a:xfrm>
              <a:off x="4432137" y="1879873"/>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dirty="0">
                  <a:solidFill>
                    <a:srgbClr val="0000FF"/>
                  </a:solidFill>
                  <a:latin typeface="微软雅黑" pitchFamily="34" charset="-122"/>
                  <a:ea typeface="微软雅黑" pitchFamily="34" charset="-122"/>
                </a:rPr>
                <a:t>响应</a:t>
              </a:r>
            </a:p>
          </p:txBody>
        </p:sp>
      </p:grpSp>
    </p:spTree>
    <p:extLst>
      <p:ext uri="{BB962C8B-B14F-4D97-AF65-F5344CB8AC3E}">
        <p14:creationId xmlns:p14="http://schemas.microsoft.com/office/powerpoint/2010/main" val="228555279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6.5.2  </a:t>
            </a:r>
            <a:r>
              <a:rPr lang="zh-CN" altLang="en-US" sz="2400" b="1" dirty="0">
                <a:solidFill>
                  <a:schemeClr val="bg1"/>
                </a:solidFill>
                <a:latin typeface="微软雅黑" pitchFamily="34" charset="-122"/>
                <a:ea typeface="微软雅黑" pitchFamily="34" charset="-122"/>
              </a:rPr>
              <a:t>简单邮件传送协议 </a:t>
            </a:r>
            <a:r>
              <a:rPr lang="en-US" altLang="zh-CN" sz="2400" b="1" dirty="0">
                <a:solidFill>
                  <a:schemeClr val="bg1"/>
                </a:solidFill>
                <a:latin typeface="微软雅黑" pitchFamily="34" charset="-122"/>
                <a:ea typeface="微软雅黑" pitchFamily="34" charset="-122"/>
              </a:rPr>
              <a:t>SMTP</a:t>
            </a:r>
            <a:endParaRPr lang="zh-CN" altLang="en-US" sz="2400" b="1" dirty="0">
              <a:solidFill>
                <a:schemeClr val="bg1"/>
              </a:solidFill>
              <a:latin typeface="微软雅黑" pitchFamily="34" charset="-122"/>
              <a:ea typeface="微软雅黑" pitchFamily="34" charset="-122"/>
            </a:endParaRP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a:solidFill>
                  <a:schemeClr val="bg1"/>
                </a:solidFill>
                <a:latin typeface="微软雅黑" pitchFamily="34" charset="-122"/>
                <a:ea typeface="微软雅黑" pitchFamily="34" charset="-122"/>
              </a:rPr>
              <a:t>SMTP</a:t>
            </a:r>
          </a:p>
          <a:p>
            <a:pPr algn="ctr"/>
            <a:r>
              <a:rPr lang="zh-CN" altLang="en-US" sz="1600" b="1" dirty="0">
                <a:solidFill>
                  <a:schemeClr val="bg1"/>
                </a:solidFill>
                <a:latin typeface="微软雅黑" pitchFamily="34" charset="-122"/>
                <a:ea typeface="微软雅黑" pitchFamily="34" charset="-122"/>
              </a:rPr>
              <a:t>服务器</a:t>
            </a:r>
          </a:p>
        </p:txBody>
      </p:sp>
      <p:cxnSp>
        <p:nvCxnSpPr>
          <p:cNvPr id="41" name="直接箭头连接符 40"/>
          <p:cNvCxnSpPr/>
          <p:nvPr/>
        </p:nvCxnSpPr>
        <p:spPr>
          <a:xfrm>
            <a:off x="2280893" y="2033760"/>
            <a:ext cx="1303135" cy="1074398"/>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6535843" y="2174872"/>
            <a:ext cx="117692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TCP</a:t>
            </a:r>
          </a:p>
          <a:p>
            <a:pPr algn="ctr" eaLnBrk="1" hangingPunct="1"/>
            <a:r>
              <a:rPr kumimoji="1" lang="zh-CN" altLang="en-US" sz="1400" b="1" dirty="0">
                <a:solidFill>
                  <a:srgbClr val="CC00CC"/>
                </a:solidFill>
                <a:latin typeface="微软雅黑" pitchFamily="34" charset="-122"/>
                <a:ea typeface="微软雅黑" pitchFamily="34" charset="-122"/>
              </a:rPr>
              <a:t>熟知</a:t>
            </a:r>
            <a:r>
              <a:rPr kumimoji="1" lang="zh-CN" altLang="en-US" sz="1400" b="1" dirty="0">
                <a:latin typeface="微软雅黑" pitchFamily="34" charset="-122"/>
                <a:ea typeface="微软雅黑" pitchFamily="34" charset="-122"/>
              </a:rPr>
              <a:t>端口 </a:t>
            </a:r>
            <a:r>
              <a:rPr kumimoji="1" lang="en-US" altLang="zh-CN" sz="1400" b="1" dirty="0">
                <a:latin typeface="微软雅黑" pitchFamily="34" charset="-122"/>
                <a:ea typeface="微软雅黑" pitchFamily="34" charset="-122"/>
              </a:rPr>
              <a:t>25</a:t>
            </a:r>
            <a:endParaRPr kumimoji="1" lang="zh-CN" altLang="en-US" sz="1400" b="1" dirty="0">
              <a:latin typeface="微软雅黑" pitchFamily="34" charset="-122"/>
              <a:ea typeface="微软雅黑" pitchFamily="34" charset="-122"/>
            </a:endParaRPr>
          </a:p>
        </p:txBody>
      </p:sp>
      <p:sp>
        <p:nvSpPr>
          <p:cNvPr id="13" name="矩形 12"/>
          <p:cNvSpPr/>
          <p:nvPr/>
        </p:nvSpPr>
        <p:spPr>
          <a:xfrm>
            <a:off x="1576553" y="3693277"/>
            <a:ext cx="6043448" cy="477054"/>
          </a:xfrm>
          <a:prstGeom prst="rect">
            <a:avLst/>
          </a:prstGeom>
        </p:spPr>
        <p:txBody>
          <a:bodyPr wrap="square" anchor="ctr">
            <a:spAutoFit/>
          </a:bodyPr>
          <a:lstStyle/>
          <a:p>
            <a:pPr algn="ctr">
              <a:lnSpc>
                <a:spcPts val="3000"/>
              </a:lnSpc>
              <a:buClr>
                <a:srgbClr val="0066FF"/>
              </a:buClr>
            </a:pPr>
            <a:r>
              <a:rPr lang="en-US" altLang="zh-CN" b="1" dirty="0">
                <a:latin typeface="微软雅黑" pitchFamily="34" charset="-122"/>
                <a:ea typeface="微软雅黑" pitchFamily="34" charset="-122"/>
              </a:rPr>
              <a:t>SMTP </a:t>
            </a:r>
            <a:r>
              <a:rPr lang="zh-CN" altLang="en-US" b="1" dirty="0">
                <a:solidFill>
                  <a:srgbClr val="C00000"/>
                </a:solidFill>
                <a:latin typeface="微软雅黑" pitchFamily="34" charset="-122"/>
                <a:ea typeface="微软雅黑" pitchFamily="34" charset="-122"/>
              </a:rPr>
              <a:t>基于 </a:t>
            </a:r>
            <a:r>
              <a:rPr lang="en-US" altLang="zh-CN" b="1" dirty="0">
                <a:solidFill>
                  <a:srgbClr val="C00000"/>
                </a:solidFill>
                <a:latin typeface="微软雅黑" pitchFamily="34" charset="-122"/>
                <a:ea typeface="微软雅黑" pitchFamily="34" charset="-122"/>
              </a:rPr>
              <a:t>TCP </a:t>
            </a:r>
            <a:r>
              <a:rPr lang="zh-CN" altLang="en-US" b="1" dirty="0">
                <a:latin typeface="微软雅黑" pitchFamily="34" charset="-122"/>
                <a:ea typeface="微软雅黑" pitchFamily="34" charset="-122"/>
              </a:rPr>
              <a:t>实现客户与服务器之间的通信。</a:t>
            </a:r>
            <a:endParaRPr lang="en-US" altLang="zh-CN" b="1" dirty="0">
              <a:latin typeface="微软雅黑" pitchFamily="34" charset="-122"/>
              <a:ea typeface="微软雅黑"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a:solidFill>
                  <a:schemeClr val="tx1"/>
                </a:solidFill>
                <a:latin typeface="微软雅黑" pitchFamily="34" charset="-122"/>
                <a:ea typeface="微软雅黑" pitchFamily="34" charset="-122"/>
              </a:rPr>
              <a:t>SMTP</a:t>
            </a:r>
          </a:p>
          <a:p>
            <a:pPr algn="ctr"/>
            <a:r>
              <a:rPr lang="zh-CN" altLang="en-US" sz="1600" b="1" dirty="0">
                <a:solidFill>
                  <a:schemeClr val="tx1"/>
                </a:solidFill>
                <a:latin typeface="微软雅黑" pitchFamily="34" charset="-122"/>
                <a:ea typeface="微软雅黑" pitchFamily="34" charset="-122"/>
              </a:rPr>
              <a:t>客户</a:t>
            </a:r>
          </a:p>
        </p:txBody>
      </p:sp>
      <p:cxnSp>
        <p:nvCxnSpPr>
          <p:cNvPr id="19" name="直接箭头连接符 18"/>
          <p:cNvCxnSpPr/>
          <p:nvPr/>
        </p:nvCxnSpPr>
        <p:spPr>
          <a:xfrm flipV="1">
            <a:off x="5602014" y="2065292"/>
            <a:ext cx="1250421" cy="940667"/>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5" name="Freeform 1208"/>
          <p:cNvSpPr>
            <a:spLocks/>
          </p:cNvSpPr>
          <p:nvPr/>
        </p:nvSpPr>
        <p:spPr bwMode="ltGray">
          <a:xfrm>
            <a:off x="3486305" y="2695352"/>
            <a:ext cx="2223943" cy="825613"/>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b="1" dirty="0">
                <a:latin typeface="微软雅黑" pitchFamily="34" charset="-122"/>
                <a:ea typeface="微软雅黑" pitchFamily="34" charset="-122"/>
              </a:rPr>
              <a:t>互联网</a:t>
            </a:r>
          </a:p>
        </p:txBody>
      </p:sp>
      <p:sp>
        <p:nvSpPr>
          <p:cNvPr id="22" name="Text Box 409"/>
          <p:cNvSpPr txBox="1">
            <a:spLocks noChangeArrowheads="1"/>
          </p:cNvSpPr>
          <p:nvPr/>
        </p:nvSpPr>
        <p:spPr bwMode="auto">
          <a:xfrm>
            <a:off x="1638439" y="2174872"/>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TCP</a:t>
            </a:r>
          </a:p>
          <a:p>
            <a:pPr algn="ctr" eaLnBrk="1" hangingPunct="1"/>
            <a:r>
              <a:rPr kumimoji="1" lang="zh-CN" altLang="en-US" sz="1400" b="1" dirty="0">
                <a:solidFill>
                  <a:srgbClr val="CC00CC"/>
                </a:solidFill>
                <a:latin typeface="微软雅黑" pitchFamily="34" charset="-122"/>
                <a:ea typeface="微软雅黑" pitchFamily="34" charset="-122"/>
              </a:rPr>
              <a:t>短暂</a:t>
            </a:r>
            <a:r>
              <a:rPr kumimoji="1" lang="zh-CN" altLang="en-US" sz="1400" b="1" dirty="0">
                <a:latin typeface="微软雅黑" pitchFamily="34" charset="-122"/>
                <a:ea typeface="微软雅黑" pitchFamily="34" charset="-122"/>
              </a:rPr>
              <a:t>端口</a:t>
            </a:r>
          </a:p>
        </p:txBody>
      </p:sp>
    </p:spTree>
    <p:extLst>
      <p:ext uri="{BB962C8B-B14F-4D97-AF65-F5344CB8AC3E}">
        <p14:creationId xmlns:p14="http://schemas.microsoft.com/office/powerpoint/2010/main" val="33568596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4" name="Rectangle 68"/>
          <p:cNvSpPr>
            <a:spLocks noChangeArrowheads="1"/>
          </p:cNvSpPr>
          <p:nvPr/>
        </p:nvSpPr>
        <p:spPr bwMode="auto">
          <a:xfrm>
            <a:off x="556963" y="973927"/>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连接建立：</a:t>
            </a:r>
            <a:r>
              <a:rPr lang="zh-CN" altLang="en-US" sz="2000" b="1" dirty="0">
                <a:latin typeface="微软雅黑" pitchFamily="34" charset="-122"/>
                <a:ea typeface="微软雅黑" pitchFamily="34" charset="-122"/>
              </a:rPr>
              <a:t>连接是在发送主机的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客户和接收主机的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服务器之间建立的。</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不使用中间的邮件服务器。   </a:t>
            </a:r>
          </a:p>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邮件传送</a:t>
            </a:r>
          </a:p>
          <a:p>
            <a:pPr marL="342900" indent="-342900" eaLnBrk="0" hangingPunct="0">
              <a:lnSpc>
                <a:spcPts val="3300"/>
              </a:lnSpc>
              <a:buClr>
                <a:srgbClr val="9900CC"/>
              </a:buClr>
              <a:buFont typeface="+mj-lt"/>
              <a:buAutoNum type="arabicPeriod"/>
            </a:pPr>
            <a:r>
              <a:rPr lang="zh-CN" altLang="en-US" sz="2000" b="1" dirty="0">
                <a:solidFill>
                  <a:srgbClr val="0000FF"/>
                </a:solidFill>
                <a:latin typeface="微软雅黑" pitchFamily="34" charset="-122"/>
                <a:ea typeface="微软雅黑" pitchFamily="34" charset="-122"/>
              </a:rPr>
              <a:t>连接释放：</a:t>
            </a:r>
            <a:r>
              <a:rPr lang="zh-CN" altLang="en-US" sz="2000" b="1" dirty="0">
                <a:latin typeface="微软雅黑" pitchFamily="34" charset="-122"/>
                <a:ea typeface="微软雅黑" pitchFamily="34" charset="-122"/>
              </a:rPr>
              <a:t>邮件发送完毕后，</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应释放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连接。 </a:t>
            </a:r>
          </a:p>
        </p:txBody>
      </p:sp>
    </p:spTree>
    <p:extLst>
      <p:ext uri="{BB962C8B-B14F-4D97-AF65-F5344CB8AC3E}">
        <p14:creationId xmlns:p14="http://schemas.microsoft.com/office/powerpoint/2010/main" val="32398918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连接建立</a:t>
            </a: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a:t>建立 </a:t>
              </a:r>
              <a:r>
                <a:rPr lang="en-US" altLang="zh-CN" sz="1200" dirty="0"/>
                <a:t>TCP </a:t>
              </a:r>
              <a:r>
                <a:rPr lang="zh-CN" altLang="en-US" sz="1200" dirty="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14" name="矩形 13"/>
          <p:cNvSpPr/>
          <p:nvPr/>
        </p:nvSpPr>
        <p:spPr>
          <a:xfrm>
            <a:off x="7108668" y="1588846"/>
            <a:ext cx="1836689" cy="954107"/>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客户首先使用熟知端口 </a:t>
            </a:r>
            <a:r>
              <a:rPr lang="en-US" altLang="zh-CN" sz="1400" b="1" dirty="0">
                <a:latin typeface="微软雅黑" panose="020B0503020204020204" pitchFamily="34" charset="-122"/>
                <a:ea typeface="微软雅黑" panose="020B0503020204020204" pitchFamily="34" charset="-122"/>
              </a:rPr>
              <a:t>25 </a:t>
            </a:r>
            <a:r>
              <a:rPr lang="zh-CN" altLang="en-US" sz="1400" b="1" dirty="0">
                <a:latin typeface="微软雅黑" panose="020B0503020204020204" pitchFamily="34" charset="-122"/>
                <a:ea typeface="微软雅黑" panose="020B0503020204020204" pitchFamily="34" charset="-122"/>
              </a:rPr>
              <a:t>与接收方的 </a:t>
            </a:r>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服务器建立 </a:t>
            </a:r>
            <a:r>
              <a:rPr lang="en-US" altLang="zh-CN" sz="1400" b="1" dirty="0">
                <a:latin typeface="微软雅黑" panose="020B0503020204020204" pitchFamily="34" charset="-122"/>
                <a:ea typeface="微软雅黑" panose="020B0503020204020204" pitchFamily="34" charset="-122"/>
              </a:rPr>
              <a:t>TCP </a:t>
            </a:r>
            <a:r>
              <a:rPr lang="zh-CN" altLang="en-US" sz="1400" b="1" dirty="0">
                <a:latin typeface="微软雅黑" panose="020B0503020204020204" pitchFamily="34" charset="-122"/>
                <a:ea typeface="微软雅黑" panose="020B0503020204020204" pitchFamily="34" charset="-122"/>
              </a:rPr>
              <a:t>连接。</a:t>
            </a:r>
          </a:p>
        </p:txBody>
      </p:sp>
      <p:sp>
        <p:nvSpPr>
          <p:cNvPr id="15" name="矩形 14"/>
          <p:cNvSpPr/>
          <p:nvPr/>
        </p:nvSpPr>
        <p:spPr>
          <a:xfrm>
            <a:off x="7108668" y="2542953"/>
            <a:ext cx="1836689" cy="523220"/>
          </a:xfrm>
          <a:prstGeom prst="rect">
            <a:avLst/>
          </a:prstGeom>
          <a:solidFill>
            <a:srgbClr val="FFFF66"/>
          </a:solidFill>
        </p:spPr>
        <p:txBody>
          <a:bodyPr wrap="square">
            <a:spAutoFit/>
          </a:bodyPr>
          <a:lstStyle/>
          <a:p>
            <a:r>
              <a:rPr lang="zh-CN" altLang="en-US" sz="1400" b="1" dirty="0">
                <a:latin typeface="微软雅黑" panose="020B0503020204020204" pitchFamily="34" charset="-122"/>
                <a:ea typeface="微软雅黑" panose="020B0503020204020204" pitchFamily="34" charset="-122"/>
              </a:rPr>
              <a:t>注意：</a:t>
            </a:r>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不使用中间的邮件服务器。 </a:t>
            </a:r>
          </a:p>
        </p:txBody>
      </p:sp>
    </p:spTree>
    <p:extLst>
      <p:ext uri="{BB962C8B-B14F-4D97-AF65-F5344CB8AC3E}">
        <p14:creationId xmlns:p14="http://schemas.microsoft.com/office/powerpoint/2010/main" val="3476511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连接建立</a:t>
            </a: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a:t>建立 </a:t>
              </a:r>
              <a:r>
                <a:rPr lang="en-US" altLang="zh-CN" sz="1200" dirty="0"/>
                <a:t>TCP </a:t>
              </a:r>
              <a:r>
                <a:rPr lang="zh-CN" altLang="en-US" sz="1200" dirty="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14" name="矩形 13"/>
          <p:cNvSpPr/>
          <p:nvPr/>
        </p:nvSpPr>
        <p:spPr>
          <a:xfrm>
            <a:off x="7108668" y="1642114"/>
            <a:ext cx="1680223" cy="523220"/>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服务器发出服务就绪。</a:t>
            </a:r>
          </a:p>
        </p:txBody>
      </p:sp>
    </p:spTree>
    <p:extLst>
      <p:ext uri="{BB962C8B-B14F-4D97-AF65-F5344CB8AC3E}">
        <p14:creationId xmlns:p14="http://schemas.microsoft.com/office/powerpoint/2010/main" val="21593232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连接建立</a:t>
            </a: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a:t>建立 </a:t>
              </a:r>
              <a:r>
                <a:rPr lang="en-US" altLang="zh-CN" sz="1200" dirty="0"/>
                <a:t>TCP </a:t>
              </a:r>
              <a:r>
                <a:rPr lang="zh-CN" altLang="en-US" sz="1200" dirty="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HELO abc.edu.cn</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14" name="矩形 13"/>
          <p:cNvSpPr/>
          <p:nvPr/>
        </p:nvSpPr>
        <p:spPr>
          <a:xfrm>
            <a:off x="7108668" y="1642114"/>
            <a:ext cx="1680223" cy="954107"/>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客户向服务器发送问候 </a:t>
            </a:r>
            <a:r>
              <a:rPr lang="en-US" altLang="zh-CN" sz="1400" b="1" dirty="0">
                <a:latin typeface="微软雅黑" panose="020B0503020204020204" pitchFamily="34" charset="-122"/>
                <a:ea typeface="微软雅黑" panose="020B0503020204020204" pitchFamily="34" charset="-122"/>
              </a:rPr>
              <a:t>(HELO</a:t>
            </a:r>
            <a:r>
              <a:rPr lang="zh-CN" altLang="en-US" sz="1400" b="1" dirty="0">
                <a:latin typeface="微软雅黑" panose="020B0503020204020204" pitchFamily="34" charset="-122"/>
                <a:ea typeface="微软雅黑" panose="020B0503020204020204" pitchFamily="34" charset="-122"/>
              </a:rPr>
              <a:t>命令），附上发送方的主机名。</a:t>
            </a:r>
          </a:p>
        </p:txBody>
      </p:sp>
    </p:spTree>
    <p:extLst>
      <p:ext uri="{BB962C8B-B14F-4D97-AF65-F5344CB8AC3E}">
        <p14:creationId xmlns:p14="http://schemas.microsoft.com/office/powerpoint/2010/main" val="9318331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连接建立</a:t>
            </a: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a:t>建立 </a:t>
              </a:r>
              <a:r>
                <a:rPr lang="en-US" altLang="zh-CN" sz="1200" dirty="0"/>
                <a:t>TCP </a:t>
              </a:r>
              <a:r>
                <a:rPr lang="zh-CN" altLang="en-US" sz="1200" dirty="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220 Service Ready</a:t>
              </a:r>
              <a:endParaRPr lang="zh-CN" altLang="en-US" sz="1100" b="1" dirty="0">
                <a:solidFill>
                  <a:schemeClr val="tx1"/>
                </a:solidFill>
                <a:latin typeface="微软雅黑" pitchFamily="34" charset="-122"/>
                <a:ea typeface="微软雅黑"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HELO abc.edu</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2014274"/>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14" name="矩形 13"/>
          <p:cNvSpPr/>
          <p:nvPr/>
        </p:nvSpPr>
        <p:spPr>
          <a:xfrm>
            <a:off x="7108668" y="1642114"/>
            <a:ext cx="1742367" cy="954107"/>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服务器若有能力接收邮件，则回答：“</a:t>
            </a:r>
            <a:r>
              <a:rPr lang="en-US" altLang="zh-CN" sz="1400" b="1" dirty="0">
                <a:latin typeface="微软雅黑" panose="020B0503020204020204" pitchFamily="34" charset="-122"/>
                <a:ea typeface="微软雅黑" panose="020B0503020204020204" pitchFamily="34" charset="-122"/>
              </a:rPr>
              <a:t>250 OK”</a:t>
            </a:r>
            <a:r>
              <a:rPr lang="zh-CN" altLang="en-US" sz="1400" b="1" dirty="0">
                <a:latin typeface="微软雅黑" panose="020B0503020204020204" pitchFamily="34" charset="-122"/>
                <a:ea typeface="微软雅黑" panose="020B0503020204020204" pitchFamily="34" charset="-122"/>
              </a:rPr>
              <a:t>，表示已准备好接收。</a:t>
            </a:r>
          </a:p>
        </p:txBody>
      </p:sp>
    </p:spTree>
    <p:extLst>
      <p:ext uri="{BB962C8B-B14F-4D97-AF65-F5344CB8AC3E}">
        <p14:creationId xmlns:p14="http://schemas.microsoft.com/office/powerpoint/2010/main" val="2809018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矩形 85"/>
          <p:cNvSpPr/>
          <p:nvPr/>
        </p:nvSpPr>
        <p:spPr>
          <a:xfrm>
            <a:off x="2117646" y="3566713"/>
            <a:ext cx="5891237" cy="1022400"/>
          </a:xfrm>
          <a:prstGeom prst="rect">
            <a:avLst/>
          </a:prstGeom>
          <a:solidFill>
            <a:srgbClr val="FF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2117646" y="2141768"/>
            <a:ext cx="5891237" cy="1197386"/>
          </a:xfrm>
          <a:prstGeom prst="rect">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2117646" y="1332913"/>
            <a:ext cx="5891237" cy="800765"/>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0424" y="2006812"/>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622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邮件传送</a:t>
            </a:r>
          </a:p>
        </p:txBody>
      </p:sp>
      <p:sp>
        <p:nvSpPr>
          <p:cNvPr id="6" name="矩形 5"/>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10" name="矩形 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grpSp>
        <p:nvGrpSpPr>
          <p:cNvPr id="4" name="组合 3"/>
          <p:cNvGrpSpPr/>
          <p:nvPr/>
        </p:nvGrpSpPr>
        <p:grpSpPr>
          <a:xfrm>
            <a:off x="2719604" y="1266738"/>
            <a:ext cx="4350993" cy="3411794"/>
            <a:chOff x="2719604" y="944102"/>
            <a:chExt cx="4350993" cy="2580075"/>
          </a:xfrm>
        </p:grpSpPr>
        <p:cxnSp>
          <p:nvCxnSpPr>
            <p:cNvPr id="7" name="直接箭头连接符 6"/>
            <p:cNvCxnSpPr>
              <a:stCxn id="10" idx="2"/>
            </p:cNvCxnSpPr>
            <p:nvPr/>
          </p:nvCxnSpPr>
          <p:spPr>
            <a:xfrm>
              <a:off x="2719604"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4" name="组合 23"/>
          <p:cNvGrpSpPr/>
          <p:nvPr/>
        </p:nvGrpSpPr>
        <p:grpSpPr>
          <a:xfrm>
            <a:off x="2727397" y="1332913"/>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MAIL FROM: Lion@abc.edu</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1535481"/>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grpSp>
        <p:nvGrpSpPr>
          <p:cNvPr id="30" name="组合 29"/>
          <p:cNvGrpSpPr/>
          <p:nvPr/>
        </p:nvGrpSpPr>
        <p:grpSpPr>
          <a:xfrm>
            <a:off x="2727397" y="1744808"/>
            <a:ext cx="4337778" cy="180000"/>
            <a:chOff x="2144264" y="2285523"/>
            <a:chExt cx="4926338" cy="292388"/>
          </a:xfrm>
        </p:grpSpPr>
        <p:sp>
          <p:nvSpPr>
            <p:cNvPr id="3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38" name="矩形 3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RCPT TO: Tiger@xyz.com</a:t>
              </a:r>
              <a:endParaRPr lang="zh-CN" altLang="en-US" sz="1100" b="1" dirty="0">
                <a:solidFill>
                  <a:schemeClr val="tx1"/>
                </a:solidFill>
                <a:latin typeface="微软雅黑" pitchFamily="34" charset="-122"/>
                <a:ea typeface="微软雅黑" pitchFamily="34" charset="-122"/>
              </a:endParaRPr>
            </a:p>
          </p:txBody>
        </p:sp>
      </p:grpSp>
      <p:grpSp>
        <p:nvGrpSpPr>
          <p:cNvPr id="40" name="组合 39"/>
          <p:cNvGrpSpPr/>
          <p:nvPr/>
        </p:nvGrpSpPr>
        <p:grpSpPr>
          <a:xfrm>
            <a:off x="2727397" y="1947376"/>
            <a:ext cx="4337778" cy="180000"/>
            <a:chOff x="2144264" y="2285523"/>
            <a:chExt cx="4926338" cy="292388"/>
          </a:xfrm>
        </p:grpSpPr>
        <p:sp>
          <p:nvSpPr>
            <p:cNvPr id="41" name="Line 55"/>
            <p:cNvSpPr>
              <a:spLocks noChangeShapeType="1"/>
            </p:cNvSpPr>
            <p:nvPr/>
          </p:nvSpPr>
          <p:spPr bwMode="auto">
            <a:xfrm>
              <a:off x="2144264" y="2409068"/>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42" name="矩形 4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grpSp>
        <p:nvGrpSpPr>
          <p:cNvPr id="52" name="组合 51"/>
          <p:cNvGrpSpPr/>
          <p:nvPr/>
        </p:nvGrpSpPr>
        <p:grpSpPr>
          <a:xfrm>
            <a:off x="2727397" y="2154698"/>
            <a:ext cx="4337778" cy="180000"/>
            <a:chOff x="2144264" y="2285523"/>
            <a:chExt cx="4926338" cy="292388"/>
          </a:xfrm>
        </p:grpSpPr>
        <p:sp>
          <p:nvSpPr>
            <p:cNvPr id="53"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54" name="矩形 53"/>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DATA</a:t>
              </a:r>
              <a:endParaRPr lang="zh-CN" altLang="en-US" sz="1100" b="1" dirty="0">
                <a:solidFill>
                  <a:schemeClr val="tx1"/>
                </a:solidFill>
                <a:latin typeface="微软雅黑" pitchFamily="34" charset="-122"/>
                <a:ea typeface="微软雅黑" pitchFamily="34" charset="-122"/>
              </a:endParaRPr>
            </a:p>
          </p:txBody>
        </p:sp>
      </p:grpSp>
      <p:grpSp>
        <p:nvGrpSpPr>
          <p:cNvPr id="55" name="组合 54"/>
          <p:cNvGrpSpPr/>
          <p:nvPr/>
        </p:nvGrpSpPr>
        <p:grpSpPr>
          <a:xfrm>
            <a:off x="2727397" y="2357266"/>
            <a:ext cx="4337778" cy="180000"/>
            <a:chOff x="2144264" y="2285523"/>
            <a:chExt cx="4926338" cy="292388"/>
          </a:xfrm>
        </p:grpSpPr>
        <p:sp>
          <p:nvSpPr>
            <p:cNvPr id="56"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57" name="矩形 56"/>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50" b="1" dirty="0">
                  <a:solidFill>
                    <a:schemeClr val="tx1"/>
                  </a:solidFill>
                  <a:latin typeface="微软雅黑" pitchFamily="34" charset="-122"/>
                  <a:ea typeface="微软雅黑" pitchFamily="34" charset="-122"/>
                </a:rPr>
                <a:t>354 Start mail input; end with &lt;CRLF&gt;.&lt;CRLF&gt;</a:t>
              </a:r>
              <a:endParaRPr lang="zh-CN" altLang="en-US" sz="950" b="1" dirty="0">
                <a:solidFill>
                  <a:schemeClr val="tx1"/>
                </a:solidFill>
                <a:latin typeface="微软雅黑" pitchFamily="34" charset="-122"/>
                <a:ea typeface="微软雅黑" pitchFamily="34" charset="-122"/>
              </a:endParaRPr>
            </a:p>
          </p:txBody>
        </p:sp>
      </p:grpSp>
      <p:grpSp>
        <p:nvGrpSpPr>
          <p:cNvPr id="58" name="组合 57"/>
          <p:cNvGrpSpPr/>
          <p:nvPr/>
        </p:nvGrpSpPr>
        <p:grpSpPr>
          <a:xfrm>
            <a:off x="2727397" y="2558913"/>
            <a:ext cx="4337778" cy="180000"/>
            <a:chOff x="2144264" y="2285523"/>
            <a:chExt cx="4926338" cy="292388"/>
          </a:xfrm>
        </p:grpSpPr>
        <p:sp>
          <p:nvSpPr>
            <p:cNvPr id="59"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0" name="矩形 59"/>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From: Lion@abc.edu</a:t>
              </a:r>
              <a:endParaRPr lang="zh-CN" altLang="en-US" sz="1100" b="1" dirty="0">
                <a:solidFill>
                  <a:schemeClr val="tx1"/>
                </a:solidFill>
                <a:latin typeface="微软雅黑" pitchFamily="34" charset="-122"/>
                <a:ea typeface="微软雅黑" pitchFamily="34" charset="-122"/>
              </a:endParaRPr>
            </a:p>
          </p:txBody>
        </p:sp>
      </p:grpSp>
      <p:grpSp>
        <p:nvGrpSpPr>
          <p:cNvPr id="61" name="组合 60"/>
          <p:cNvGrpSpPr/>
          <p:nvPr/>
        </p:nvGrpSpPr>
        <p:grpSpPr>
          <a:xfrm>
            <a:off x="2727397" y="2756503"/>
            <a:ext cx="4337778" cy="180000"/>
            <a:chOff x="2144264" y="2285523"/>
            <a:chExt cx="4926338" cy="292388"/>
          </a:xfrm>
        </p:grpSpPr>
        <p:sp>
          <p:nvSpPr>
            <p:cNvPr id="62"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3" name="矩形 62"/>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To: Tiger@xyz.com</a:t>
              </a:r>
              <a:endParaRPr lang="zh-CN" altLang="en-US" sz="1100" b="1" dirty="0">
                <a:solidFill>
                  <a:schemeClr val="tx1"/>
                </a:solidFill>
                <a:latin typeface="微软雅黑" pitchFamily="34" charset="-122"/>
                <a:ea typeface="微软雅黑" pitchFamily="34" charset="-122"/>
              </a:endParaRPr>
            </a:p>
          </p:txBody>
        </p:sp>
      </p:grpSp>
      <p:grpSp>
        <p:nvGrpSpPr>
          <p:cNvPr id="64" name="组合 63"/>
          <p:cNvGrpSpPr/>
          <p:nvPr/>
        </p:nvGrpSpPr>
        <p:grpSpPr>
          <a:xfrm>
            <a:off x="2727397" y="2952686"/>
            <a:ext cx="4337778" cy="180000"/>
            <a:chOff x="2144264" y="2285523"/>
            <a:chExt cx="4926338" cy="292388"/>
          </a:xfrm>
        </p:grpSpPr>
        <p:sp>
          <p:nvSpPr>
            <p:cNvPr id="6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6" name="矩形 6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Date: 2018-08-18</a:t>
              </a:r>
              <a:endParaRPr lang="zh-CN" altLang="en-US" sz="1100" b="1" dirty="0">
                <a:solidFill>
                  <a:schemeClr val="tx1"/>
                </a:solidFill>
                <a:latin typeface="微软雅黑" pitchFamily="34" charset="-122"/>
                <a:ea typeface="微软雅黑" pitchFamily="34" charset="-122"/>
              </a:endParaRPr>
            </a:p>
          </p:txBody>
        </p:sp>
      </p:grpSp>
      <p:grpSp>
        <p:nvGrpSpPr>
          <p:cNvPr id="67" name="组合 66"/>
          <p:cNvGrpSpPr/>
          <p:nvPr/>
        </p:nvGrpSpPr>
        <p:grpSpPr>
          <a:xfrm>
            <a:off x="2727397" y="3159154"/>
            <a:ext cx="4337778" cy="180000"/>
            <a:chOff x="2144264" y="2285523"/>
            <a:chExt cx="4926338" cy="292388"/>
          </a:xfrm>
        </p:grpSpPr>
        <p:sp>
          <p:nvSpPr>
            <p:cNvPr id="68"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69" name="矩形 68"/>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Subject: Greetings</a:t>
              </a:r>
              <a:endParaRPr lang="zh-CN" altLang="en-US" sz="1100" b="1" dirty="0">
                <a:solidFill>
                  <a:schemeClr val="tx1"/>
                </a:solidFill>
                <a:latin typeface="微软雅黑" pitchFamily="34" charset="-122"/>
                <a:ea typeface="微软雅黑" pitchFamily="34" charset="-122"/>
              </a:endParaRPr>
            </a:p>
          </p:txBody>
        </p:sp>
      </p:grpSp>
      <p:grpSp>
        <p:nvGrpSpPr>
          <p:cNvPr id="70" name="组合 69"/>
          <p:cNvGrpSpPr/>
          <p:nvPr/>
        </p:nvGrpSpPr>
        <p:grpSpPr>
          <a:xfrm>
            <a:off x="2727397" y="3365693"/>
            <a:ext cx="4337778" cy="180000"/>
            <a:chOff x="2144264" y="2285523"/>
            <a:chExt cx="4926338" cy="292388"/>
          </a:xfrm>
        </p:grpSpPr>
        <p:sp>
          <p:nvSpPr>
            <p:cNvPr id="71"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2" name="矩形 71"/>
            <p:cNvSpPr/>
            <p:nvPr/>
          </p:nvSpPr>
          <p:spPr>
            <a:xfrm>
              <a:off x="2827283" y="2285523"/>
              <a:ext cx="3626069" cy="29238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b="1" dirty="0">
                <a:solidFill>
                  <a:schemeClr val="tx1"/>
                </a:solidFill>
                <a:latin typeface="微软雅黑" pitchFamily="34" charset="-122"/>
                <a:ea typeface="微软雅黑" pitchFamily="34" charset="-122"/>
              </a:endParaRPr>
            </a:p>
          </p:txBody>
        </p:sp>
      </p:grpSp>
      <p:grpSp>
        <p:nvGrpSpPr>
          <p:cNvPr id="73" name="组合 72"/>
          <p:cNvGrpSpPr/>
          <p:nvPr/>
        </p:nvGrpSpPr>
        <p:grpSpPr>
          <a:xfrm>
            <a:off x="2727397" y="3566713"/>
            <a:ext cx="4337778" cy="180000"/>
            <a:chOff x="2144264" y="2285523"/>
            <a:chExt cx="4926338" cy="292388"/>
          </a:xfrm>
        </p:grpSpPr>
        <p:sp>
          <p:nvSpPr>
            <p:cNvPr id="74"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5" name="矩形 74"/>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Dear Mr. Tiger, </a:t>
              </a:r>
              <a:endParaRPr lang="zh-CN" altLang="en-US" sz="1100" b="1" dirty="0">
                <a:solidFill>
                  <a:schemeClr val="tx1"/>
                </a:solidFill>
                <a:latin typeface="微软雅黑" pitchFamily="34" charset="-122"/>
                <a:ea typeface="微软雅黑" pitchFamily="34" charset="-122"/>
              </a:endParaRPr>
            </a:p>
          </p:txBody>
        </p:sp>
      </p:grpSp>
      <p:grpSp>
        <p:nvGrpSpPr>
          <p:cNvPr id="76" name="组合 75"/>
          <p:cNvGrpSpPr/>
          <p:nvPr/>
        </p:nvGrpSpPr>
        <p:grpSpPr>
          <a:xfrm>
            <a:off x="2727397" y="3773181"/>
            <a:ext cx="4337778" cy="180000"/>
            <a:chOff x="2144264" y="2285523"/>
            <a:chExt cx="4926338" cy="292388"/>
          </a:xfrm>
        </p:grpSpPr>
        <p:sp>
          <p:nvSpPr>
            <p:cNvPr id="7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78" name="矩形 7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Welcome you back.</a:t>
              </a:r>
              <a:endParaRPr lang="zh-CN" altLang="en-US" sz="1100" b="1" dirty="0">
                <a:solidFill>
                  <a:schemeClr val="tx1"/>
                </a:solidFill>
                <a:latin typeface="微软雅黑" pitchFamily="34" charset="-122"/>
                <a:ea typeface="微软雅黑" pitchFamily="34" charset="-122"/>
              </a:endParaRPr>
            </a:p>
          </p:txBody>
        </p:sp>
      </p:grpSp>
      <p:grpSp>
        <p:nvGrpSpPr>
          <p:cNvPr id="79" name="组合 78"/>
          <p:cNvGrpSpPr/>
          <p:nvPr/>
        </p:nvGrpSpPr>
        <p:grpSpPr>
          <a:xfrm>
            <a:off x="2727397" y="4183123"/>
            <a:ext cx="4337778" cy="180000"/>
            <a:chOff x="2144264" y="2285523"/>
            <a:chExt cx="4926338" cy="292388"/>
          </a:xfrm>
        </p:grpSpPr>
        <p:sp>
          <p:nvSpPr>
            <p:cNvPr id="80"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81" name="矩形 80"/>
            <p:cNvSpPr/>
            <p:nvPr/>
          </p:nvSpPr>
          <p:spPr>
            <a:xfrm>
              <a:off x="2827283" y="2285523"/>
              <a:ext cx="3626069" cy="292388"/>
            </a:xfrm>
            <a:prstGeom prst="rect">
              <a:avLst/>
            </a:prstGeom>
            <a:solidFill>
              <a:schemeClr val="tx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a:solidFill>
                    <a:schemeClr val="bg1"/>
                  </a:solidFill>
                  <a:latin typeface="微软雅黑" pitchFamily="34" charset="-122"/>
                  <a:ea typeface="微软雅黑" pitchFamily="34" charset="-122"/>
                </a:rPr>
                <a:t>.</a:t>
              </a:r>
              <a:endParaRPr lang="zh-CN" altLang="en-US" sz="1600" b="1" dirty="0">
                <a:solidFill>
                  <a:schemeClr val="bg1"/>
                </a:solidFill>
                <a:latin typeface="微软雅黑" pitchFamily="34" charset="-122"/>
                <a:ea typeface="微软雅黑" pitchFamily="34" charset="-122"/>
              </a:endParaRPr>
            </a:p>
          </p:txBody>
        </p:sp>
      </p:grpSp>
      <p:grpSp>
        <p:nvGrpSpPr>
          <p:cNvPr id="82" name="组合 81"/>
          <p:cNvGrpSpPr/>
          <p:nvPr/>
        </p:nvGrpSpPr>
        <p:grpSpPr>
          <a:xfrm>
            <a:off x="2727397" y="4384219"/>
            <a:ext cx="4337778" cy="180000"/>
            <a:chOff x="2144264" y="2285523"/>
            <a:chExt cx="4926338" cy="292388"/>
          </a:xfrm>
        </p:grpSpPr>
        <p:sp>
          <p:nvSpPr>
            <p:cNvPr id="83"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84" name="矩形 83"/>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250 OK</a:t>
              </a:r>
              <a:endParaRPr lang="zh-CN" altLang="en-US" sz="1100" b="1" dirty="0">
                <a:solidFill>
                  <a:schemeClr val="tx1"/>
                </a:solidFill>
                <a:latin typeface="微软雅黑" pitchFamily="34" charset="-122"/>
                <a:ea typeface="微软雅黑" pitchFamily="34" charset="-122"/>
              </a:endParaRPr>
            </a:p>
          </p:txBody>
        </p:sp>
      </p:grpSp>
      <p:sp>
        <p:nvSpPr>
          <p:cNvPr id="87" name="Text Box 409"/>
          <p:cNvSpPr txBox="1">
            <a:spLocks noChangeArrowheads="1"/>
          </p:cNvSpPr>
          <p:nvPr/>
        </p:nvSpPr>
        <p:spPr bwMode="auto">
          <a:xfrm>
            <a:off x="7086640" y="158104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3333FF"/>
                </a:solidFill>
                <a:latin typeface="微软雅黑" pitchFamily="34" charset="-122"/>
                <a:ea typeface="微软雅黑" pitchFamily="34" charset="-122"/>
              </a:rPr>
              <a:t>信封</a:t>
            </a:r>
          </a:p>
        </p:txBody>
      </p:sp>
      <p:sp>
        <p:nvSpPr>
          <p:cNvPr id="88" name="Text Box 409"/>
          <p:cNvSpPr txBox="1">
            <a:spLocks noChangeArrowheads="1"/>
          </p:cNvSpPr>
          <p:nvPr/>
        </p:nvSpPr>
        <p:spPr bwMode="auto">
          <a:xfrm>
            <a:off x="7086640" y="258390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3333FF"/>
                </a:solidFill>
                <a:latin typeface="微软雅黑" pitchFamily="34" charset="-122"/>
                <a:ea typeface="微软雅黑" pitchFamily="34" charset="-122"/>
              </a:rPr>
              <a:t>首部</a:t>
            </a:r>
          </a:p>
        </p:txBody>
      </p:sp>
      <p:sp>
        <p:nvSpPr>
          <p:cNvPr id="89" name="Text Box 409"/>
          <p:cNvSpPr txBox="1">
            <a:spLocks noChangeArrowheads="1"/>
          </p:cNvSpPr>
          <p:nvPr/>
        </p:nvSpPr>
        <p:spPr bwMode="auto">
          <a:xfrm>
            <a:off x="7086640" y="3911141"/>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solidFill>
                  <a:srgbClr val="333399"/>
                </a:solidFill>
                <a:latin typeface="微软雅黑" pitchFamily="34" charset="-122"/>
                <a:ea typeface="微软雅黑" pitchFamily="34" charset="-122"/>
              </a:rPr>
              <a:t>主体</a:t>
            </a:r>
          </a:p>
        </p:txBody>
      </p:sp>
      <p:sp>
        <p:nvSpPr>
          <p:cNvPr id="90" name="Text Box 409"/>
          <p:cNvSpPr txBox="1">
            <a:spLocks noChangeArrowheads="1"/>
          </p:cNvSpPr>
          <p:nvPr/>
        </p:nvSpPr>
        <p:spPr bwMode="auto">
          <a:xfrm>
            <a:off x="7086640" y="3311697"/>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空行</a:t>
            </a:r>
          </a:p>
        </p:txBody>
      </p:sp>
      <p:sp>
        <p:nvSpPr>
          <p:cNvPr id="9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9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Tree>
    <p:extLst>
      <p:ext uri="{BB962C8B-B14F-4D97-AF65-F5344CB8AC3E}">
        <p14:creationId xmlns:p14="http://schemas.microsoft.com/office/powerpoint/2010/main" val="9418881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1731607"/>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00102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连接释放</a:t>
            </a:r>
          </a:p>
        </p:txBody>
      </p:sp>
      <p:grpSp>
        <p:nvGrpSpPr>
          <p:cNvPr id="4" name="组合 3"/>
          <p:cNvGrpSpPr/>
          <p:nvPr/>
        </p:nvGrpSpPr>
        <p:grpSpPr>
          <a:xfrm>
            <a:off x="2719604" y="1266738"/>
            <a:ext cx="4350993" cy="1645138"/>
            <a:chOff x="2719604" y="991533"/>
            <a:chExt cx="4350993" cy="2348869"/>
          </a:xfrm>
        </p:grpSpPr>
        <p:cxnSp>
          <p:nvCxnSpPr>
            <p:cNvPr id="7" name="直接箭头连接符 6"/>
            <p:cNvCxnSpPr/>
            <p:nvPr/>
          </p:nvCxnSpPr>
          <p:spPr>
            <a:xfrm>
              <a:off x="2719604"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7070597"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2290113"/>
            <a:ext cx="4337778" cy="276999"/>
            <a:chOff x="2144264" y="1950857"/>
            <a:chExt cx="4926338" cy="426271"/>
          </a:xfrm>
        </p:grpSpPr>
        <p:sp>
          <p:nvSpPr>
            <p:cNvPr id="17" name="Text Box 52"/>
            <p:cNvSpPr txBox="1">
              <a:spLocks noChangeArrowheads="1"/>
            </p:cNvSpPr>
            <p:nvPr/>
          </p:nvSpPr>
          <p:spPr bwMode="auto">
            <a:xfrm>
              <a:off x="3888314" y="1950857"/>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itchFamily="34" charset="-122"/>
                  <a:ea typeface="微软雅黑" pitchFamily="34" charset="-122"/>
                </a:defRPr>
              </a:lvl1pPr>
              <a:lvl2pPr marL="742950" indent="-285750">
                <a:defRPr sz="3600">
                  <a:latin typeface="Tahoma" pitchFamily="34" charset="0"/>
                  <a:ea typeface="宋体" charset="-122"/>
                </a:defRPr>
              </a:lvl2pPr>
              <a:lvl3pPr marL="1143000" indent="-228600">
                <a:defRPr sz="3600">
                  <a:latin typeface="Tahoma" pitchFamily="34" charset="0"/>
                  <a:ea typeface="宋体" charset="-122"/>
                </a:defRPr>
              </a:lvl3pPr>
              <a:lvl4pPr marL="1600200" indent="-228600">
                <a:defRPr sz="3600">
                  <a:latin typeface="Tahoma" pitchFamily="34" charset="0"/>
                  <a:ea typeface="宋体" charset="-122"/>
                </a:defRPr>
              </a:lvl4pPr>
              <a:lvl5pPr marL="2057400" indent="-228600">
                <a:defRPr sz="3600">
                  <a:latin typeface="Tahoma" pitchFamily="34" charset="0"/>
                  <a:ea typeface="宋体" charset="-122"/>
                </a:defRPr>
              </a:lvl5pPr>
              <a:lvl6pPr marL="2514600" indent="-228600" eaLnBrk="0" fontAlgn="base" hangingPunct="0">
                <a:spcBef>
                  <a:spcPct val="0"/>
                </a:spcBef>
                <a:spcAft>
                  <a:spcPct val="0"/>
                </a:spcAft>
                <a:defRPr sz="3600">
                  <a:latin typeface="Tahoma" pitchFamily="34" charset="0"/>
                  <a:ea typeface="宋体" charset="-122"/>
                </a:defRPr>
              </a:lvl6pPr>
              <a:lvl7pPr marL="2971800" indent="-228600" eaLnBrk="0" fontAlgn="base" hangingPunct="0">
                <a:spcBef>
                  <a:spcPct val="0"/>
                </a:spcBef>
                <a:spcAft>
                  <a:spcPct val="0"/>
                </a:spcAft>
                <a:defRPr sz="3600">
                  <a:latin typeface="Tahoma" pitchFamily="34" charset="0"/>
                  <a:ea typeface="宋体" charset="-122"/>
                </a:defRPr>
              </a:lvl7pPr>
              <a:lvl8pPr marL="3429000" indent="-228600" eaLnBrk="0" fontAlgn="base" hangingPunct="0">
                <a:spcBef>
                  <a:spcPct val="0"/>
                </a:spcBef>
                <a:spcAft>
                  <a:spcPct val="0"/>
                </a:spcAft>
                <a:defRPr sz="3600">
                  <a:latin typeface="Tahoma" pitchFamily="34" charset="0"/>
                  <a:ea typeface="宋体" charset="-122"/>
                </a:defRPr>
              </a:lvl8pPr>
              <a:lvl9pPr marL="3886200" indent="-228600" eaLnBrk="0" fontAlgn="base" hangingPunct="0">
                <a:spcBef>
                  <a:spcPct val="0"/>
                </a:spcBef>
                <a:spcAft>
                  <a:spcPct val="0"/>
                </a:spcAft>
                <a:defRPr sz="3600">
                  <a:latin typeface="Tahoma" pitchFamily="34" charset="0"/>
                  <a:ea typeface="宋体" charset="-122"/>
                </a:defRPr>
              </a:lvl9pPr>
            </a:lstStyle>
            <a:p>
              <a:r>
                <a:rPr lang="zh-CN" altLang="en-US" sz="1200" dirty="0"/>
                <a:t>释放 </a:t>
              </a:r>
              <a:r>
                <a:rPr lang="en-US" altLang="zh-CN" sz="1200" dirty="0"/>
                <a:t>TCP </a:t>
              </a:r>
              <a:r>
                <a:rPr lang="zh-CN" altLang="en-US" sz="1200" dirty="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dash"/>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a:p>
          </p:txBody>
        </p:sp>
      </p:grpSp>
      <p:grpSp>
        <p:nvGrpSpPr>
          <p:cNvPr id="24" name="组合 23"/>
          <p:cNvGrpSpPr/>
          <p:nvPr/>
        </p:nvGrpSpPr>
        <p:grpSpPr>
          <a:xfrm>
            <a:off x="2727397" y="1446578"/>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12700">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6" name="矩形 25"/>
            <p:cNvSpPr/>
            <p:nvPr/>
          </p:nvSpPr>
          <p:spPr>
            <a:xfrm>
              <a:off x="2827283" y="2285523"/>
              <a:ext cx="3626069" cy="292388"/>
            </a:xfrm>
            <a:prstGeom prst="rect">
              <a:avLst/>
            </a:prstGeom>
            <a:solidFill>
              <a:srgbClr val="00FFCC"/>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QUIT</a:t>
              </a:r>
              <a:endParaRPr lang="zh-CN" altLang="en-US" sz="1100" b="1" dirty="0">
                <a:solidFill>
                  <a:schemeClr val="tx1"/>
                </a:solidFill>
                <a:latin typeface="微软雅黑" pitchFamily="34" charset="-122"/>
                <a:ea typeface="微软雅黑" pitchFamily="34" charset="-122"/>
              </a:endParaRPr>
            </a:p>
          </p:txBody>
        </p:sp>
      </p:grpSp>
      <p:grpSp>
        <p:nvGrpSpPr>
          <p:cNvPr id="27" name="组合 26"/>
          <p:cNvGrpSpPr/>
          <p:nvPr/>
        </p:nvGrpSpPr>
        <p:grpSpPr>
          <a:xfrm>
            <a:off x="2727397" y="1670166"/>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100" b="1">
                <a:latin typeface="微软雅黑" pitchFamily="34" charset="-122"/>
                <a:ea typeface="微软雅黑"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a:solidFill>
                    <a:schemeClr val="tx1"/>
                  </a:solidFill>
                  <a:latin typeface="微软雅黑" pitchFamily="34" charset="-122"/>
                  <a:ea typeface="微软雅黑" pitchFamily="34" charset="-122"/>
                </a:rPr>
                <a:t>221 Service closed</a:t>
              </a:r>
              <a:endParaRPr lang="zh-CN" altLang="en-US" sz="1100" b="1" dirty="0">
                <a:solidFill>
                  <a:schemeClr val="tx1"/>
                </a:solidFill>
                <a:latin typeface="微软雅黑" pitchFamily="34" charset="-122"/>
                <a:ea typeface="微软雅黑" pitchFamily="34" charset="-122"/>
              </a:endParaRPr>
            </a:p>
          </p:txBody>
        </p:sp>
      </p:grpSp>
      <p:sp>
        <p:nvSpPr>
          <p:cNvPr id="19" name="矩形 18"/>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a:solidFill>
                  <a:schemeClr val="bg1"/>
                </a:solidFill>
                <a:latin typeface="微软雅黑" pitchFamily="34" charset="-122"/>
                <a:ea typeface="微软雅黑" pitchFamily="34" charset="-122"/>
              </a:rPr>
              <a:t>SMTP </a:t>
            </a:r>
            <a:r>
              <a:rPr lang="zh-CN" altLang="en-US" sz="1200" b="1" dirty="0">
                <a:solidFill>
                  <a:schemeClr val="bg1"/>
                </a:solidFill>
                <a:latin typeface="微软雅黑" pitchFamily="34" charset="-122"/>
                <a:ea typeface="微软雅黑" pitchFamily="34" charset="-122"/>
              </a:rPr>
              <a:t>服务器</a:t>
            </a:r>
          </a:p>
        </p:txBody>
      </p:sp>
      <p:sp>
        <p:nvSpPr>
          <p:cNvPr id="20" name="矩形 1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a:solidFill>
                  <a:schemeClr val="tx1"/>
                </a:solidFill>
                <a:latin typeface="微软雅黑" pitchFamily="34" charset="-122"/>
                <a:ea typeface="微软雅黑" pitchFamily="34" charset="-122"/>
              </a:rPr>
              <a:t>SMTP </a:t>
            </a:r>
            <a:r>
              <a:rPr lang="zh-CN" altLang="en-US" sz="1200" b="1" dirty="0">
                <a:solidFill>
                  <a:schemeClr val="tx1"/>
                </a:solidFill>
                <a:latin typeface="微软雅黑" pitchFamily="34" charset="-122"/>
                <a:ea typeface="微软雅黑" pitchFamily="34" charset="-122"/>
              </a:rPr>
              <a:t>客户</a:t>
            </a:r>
          </a:p>
        </p:txBody>
      </p:sp>
      <p:sp>
        <p:nvSpPr>
          <p:cNvPr id="2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SMTP </a:t>
            </a:r>
            <a:r>
              <a:rPr lang="zh-CN" altLang="en-US" sz="2000" b="1" dirty="0">
                <a:solidFill>
                  <a:schemeClr val="bg1"/>
                </a:solidFill>
                <a:latin typeface="微软雅黑" pitchFamily="34" charset="-122"/>
                <a:ea typeface="微软雅黑" pitchFamily="34" charset="-122"/>
              </a:rPr>
              <a:t>通信的三个阶段</a:t>
            </a:r>
          </a:p>
        </p:txBody>
      </p:sp>
      <p:sp>
        <p:nvSpPr>
          <p:cNvPr id="2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CC00CC"/>
                </a:solidFill>
                <a:latin typeface="微软雅黑" pitchFamily="34" charset="-122"/>
                <a:ea typeface="微软雅黑" pitchFamily="34" charset="-122"/>
              </a:rPr>
              <a:t>TCP </a:t>
            </a:r>
            <a:r>
              <a:rPr kumimoji="1" lang="zh-CN" altLang="en-US" sz="1100" b="1" dirty="0">
                <a:solidFill>
                  <a:srgbClr val="CC00CC"/>
                </a:solidFill>
                <a:latin typeface="微软雅黑" pitchFamily="34" charset="-122"/>
                <a:ea typeface="微软雅黑" pitchFamily="34" charset="-122"/>
              </a:rPr>
              <a:t>端口 </a:t>
            </a:r>
            <a:r>
              <a:rPr kumimoji="1" lang="en-US" altLang="zh-CN" sz="1100" b="1" dirty="0">
                <a:solidFill>
                  <a:srgbClr val="CC00CC"/>
                </a:solidFill>
                <a:latin typeface="微软雅黑" pitchFamily="34" charset="-122"/>
                <a:ea typeface="微软雅黑" pitchFamily="34" charset="-122"/>
              </a:rPr>
              <a:t>25</a:t>
            </a:r>
            <a:endParaRPr kumimoji="1" lang="zh-CN" altLang="en-US" sz="1100" b="1" dirty="0">
              <a:solidFill>
                <a:srgbClr val="CC00CC"/>
              </a:solidFill>
              <a:latin typeface="微软雅黑" pitchFamily="34" charset="-122"/>
              <a:ea typeface="微软雅黑" pitchFamily="34" charset="-122"/>
            </a:endParaRPr>
          </a:p>
        </p:txBody>
      </p:sp>
    </p:spTree>
    <p:extLst>
      <p:ext uri="{BB962C8B-B14F-4D97-AF65-F5344CB8AC3E}">
        <p14:creationId xmlns:p14="http://schemas.microsoft.com/office/powerpoint/2010/main" val="27672380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headEnd/>
            <a:tailEnd/>
          </a:ln>
          <a:effectLst/>
        </p:spPr>
        <p:txBody>
          <a:bodyPr wrap="none" anchor="ctr"/>
          <a:lstStyle/>
          <a:p>
            <a:endParaRPr lang="zh-CN" altLang="en-US"/>
          </a:p>
        </p:txBody>
      </p:sp>
      <p:sp>
        <p:nvSpPr>
          <p:cNvPr id="2" name="AutoShape 5"/>
          <p:cNvSpPr>
            <a:spLocks noChangeArrowheads="1"/>
          </p:cNvSpPr>
          <p:nvPr/>
        </p:nvSpPr>
        <p:spPr bwMode="auto">
          <a:xfrm>
            <a:off x="556963" y="61500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7" y="572738"/>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6.5.3  </a:t>
            </a:r>
            <a:r>
              <a:rPr lang="zh-CN" altLang="en-US" sz="2400" b="1" dirty="0">
                <a:solidFill>
                  <a:schemeClr val="bg1"/>
                </a:solidFill>
                <a:latin typeface="微软雅黑" pitchFamily="34" charset="-122"/>
                <a:ea typeface="微软雅黑" pitchFamily="34" charset="-122"/>
              </a:rPr>
              <a:t>电子邮件的信息格式</a:t>
            </a:r>
          </a:p>
        </p:txBody>
      </p:sp>
      <p:sp>
        <p:nvSpPr>
          <p:cNvPr id="5"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headEnd/>
            <a:tailEnd/>
          </a:ln>
          <a:effectLst/>
        </p:spPr>
        <p:txBody>
          <a:bodyPr wrap="none" anchor="ctr"/>
          <a:lstStyle/>
          <a:p>
            <a:pPr algn="ctr"/>
            <a:r>
              <a:rPr lang="zh-CN" altLang="en-US" b="1" dirty="0">
                <a:latin typeface="微软雅黑" pitchFamily="34" charset="-122"/>
                <a:ea typeface="微软雅黑" pitchFamily="34" charset="-122"/>
              </a:rPr>
              <a:t>首部 </a:t>
            </a:r>
            <a:r>
              <a:rPr lang="en-US" altLang="zh-CN" b="1" dirty="0">
                <a:latin typeface="微软雅黑" pitchFamily="34" charset="-122"/>
                <a:ea typeface="微软雅黑" pitchFamily="34" charset="-122"/>
              </a:rPr>
              <a:t>(header)</a:t>
            </a:r>
          </a:p>
        </p:txBody>
      </p:sp>
      <p:sp>
        <p:nvSpPr>
          <p:cNvPr id="6"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headEnd/>
            <a:tailEnd/>
          </a:ln>
          <a:effectLst/>
        </p:spPr>
        <p:txBody>
          <a:bodyPr wrap="none" anchor="ctr"/>
          <a:lstStyle/>
          <a:p>
            <a:pPr algn="ctr"/>
            <a:r>
              <a:rPr lang="zh-CN" altLang="en-US" b="1" dirty="0">
                <a:latin typeface="微软雅黑" pitchFamily="34" charset="-122"/>
                <a:ea typeface="微软雅黑" pitchFamily="34" charset="-122"/>
              </a:rPr>
              <a:t>主体 </a:t>
            </a:r>
            <a:r>
              <a:rPr lang="en-US" altLang="zh-CN" b="1" dirty="0">
                <a:latin typeface="微软雅黑" pitchFamily="34" charset="-122"/>
                <a:ea typeface="微软雅黑" pitchFamily="34" charset="-122"/>
              </a:rPr>
              <a:t>(body)</a:t>
            </a:r>
          </a:p>
        </p:txBody>
      </p:sp>
      <p:sp>
        <p:nvSpPr>
          <p:cNvPr id="8"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latin typeface="微软雅黑" pitchFamily="34" charset="-122"/>
                <a:ea typeface="微软雅黑" pitchFamily="34" charset="-122"/>
              </a:rPr>
              <a:t>空行</a:t>
            </a:r>
            <a:endParaRPr lang="en-US" altLang="zh-CN" sz="1400" b="1" dirty="0">
              <a:latin typeface="微软雅黑" pitchFamily="34" charset="-122"/>
              <a:ea typeface="微软雅黑" pitchFamily="34" charset="-122"/>
            </a:endParaRPr>
          </a:p>
        </p:txBody>
      </p:sp>
      <p:sp>
        <p:nvSpPr>
          <p:cNvPr id="10"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headEnd/>
            <a:tailEnd/>
          </a:ln>
          <a:effectLst/>
        </p:spPr>
        <p:txBody>
          <a:bodyPr wrap="none" anchor="ctr"/>
          <a:lstStyle/>
          <a:p>
            <a:pPr>
              <a:lnSpc>
                <a:spcPts val="1600"/>
              </a:lnSpc>
            </a:pPr>
            <a:r>
              <a:rPr lang="en-US" altLang="zh-CN" sz="1200" b="1" dirty="0">
                <a:solidFill>
                  <a:schemeClr val="bg1"/>
                </a:solidFill>
                <a:latin typeface="微软雅黑" pitchFamily="34" charset="-122"/>
                <a:ea typeface="微软雅黑" pitchFamily="34" charset="-122"/>
              </a:rPr>
              <a:t>MAIL FROM: one@abc.edu</a:t>
            </a:r>
          </a:p>
          <a:p>
            <a:pPr>
              <a:lnSpc>
                <a:spcPts val="1600"/>
              </a:lnSpc>
            </a:pPr>
            <a:r>
              <a:rPr lang="en-US" altLang="zh-CN" sz="1200" b="1" dirty="0">
                <a:solidFill>
                  <a:schemeClr val="bg1"/>
                </a:solidFill>
                <a:latin typeface="微软雅黑" pitchFamily="34" charset="-122"/>
                <a:ea typeface="微软雅黑" pitchFamily="34" charset="-122"/>
              </a:rPr>
              <a:t>RCPT TO: two@xyz.com</a:t>
            </a:r>
            <a:endParaRPr lang="zh-CN" altLang="en-US" sz="1200" b="1" dirty="0">
              <a:solidFill>
                <a:schemeClr val="bg1"/>
              </a:solidFill>
              <a:latin typeface="微软雅黑" pitchFamily="34" charset="-122"/>
              <a:ea typeface="微软雅黑" pitchFamily="34" charset="-122"/>
            </a:endParaRPr>
          </a:p>
        </p:txBody>
      </p:sp>
      <p:sp>
        <p:nvSpPr>
          <p:cNvPr id="11" name="矩形 10"/>
          <p:cNvSpPr/>
          <p:nvPr/>
        </p:nvSpPr>
        <p:spPr>
          <a:xfrm>
            <a:off x="7441871" y="1601892"/>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pitchFamily="34" charset="-122"/>
                <a:ea typeface="微软雅黑" pitchFamily="34" charset="-122"/>
              </a:rPr>
              <a:t>信封</a:t>
            </a:r>
            <a:endParaRPr lang="en-US" altLang="zh-CN" sz="1600" b="1" dirty="0">
              <a:latin typeface="微软雅黑" pitchFamily="34" charset="-122"/>
              <a:ea typeface="微软雅黑" pitchFamily="34" charset="-122"/>
            </a:endParaRPr>
          </a:p>
        </p:txBody>
      </p:sp>
      <p:sp>
        <p:nvSpPr>
          <p:cNvPr id="12" name="矩形 11"/>
          <p:cNvSpPr/>
          <p:nvPr/>
        </p:nvSpPr>
        <p:spPr>
          <a:xfrm>
            <a:off x="7441871" y="2936735"/>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pitchFamily="34" charset="-122"/>
                <a:ea typeface="微软雅黑" pitchFamily="34" charset="-122"/>
              </a:rPr>
              <a:t>内容</a:t>
            </a:r>
            <a:endParaRPr lang="en-US" altLang="zh-CN" sz="1600" b="1" dirty="0">
              <a:latin typeface="微软雅黑" pitchFamily="34" charset="-122"/>
              <a:ea typeface="微软雅黑" pitchFamily="34" charset="-122"/>
            </a:endParaRPr>
          </a:p>
        </p:txBody>
      </p:sp>
      <p:grpSp>
        <p:nvGrpSpPr>
          <p:cNvPr id="24" name="组合 23"/>
          <p:cNvGrpSpPr/>
          <p:nvPr/>
        </p:nvGrpSpPr>
        <p:grpSpPr>
          <a:xfrm>
            <a:off x="7473400" y="1335334"/>
            <a:ext cx="714150" cy="2768917"/>
            <a:chOff x="7200140" y="1468504"/>
            <a:chExt cx="807016" cy="2768917"/>
          </a:xfrm>
        </p:grpSpPr>
        <p:cxnSp>
          <p:nvCxnSpPr>
            <p:cNvPr id="14" name="直接连接符 13"/>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16"/>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56963" y="1004641"/>
            <a:ext cx="3258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一个电子邮件分为</a:t>
            </a:r>
            <a:r>
              <a:rPr lang="zh-CN" altLang="en-US" sz="2000" b="1" dirty="0">
                <a:solidFill>
                  <a:srgbClr val="C00000"/>
                </a:solidFill>
                <a:latin typeface="微软雅黑" pitchFamily="34" charset="-122"/>
                <a:ea typeface="微软雅黑" pitchFamily="34" charset="-122"/>
              </a:rPr>
              <a:t>信封</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内容</a:t>
            </a:r>
            <a:r>
              <a:rPr lang="zh-CN" altLang="en-US" sz="2000" b="1" dirty="0">
                <a:latin typeface="微软雅黑" pitchFamily="34" charset="-122"/>
                <a:ea typeface="微软雅黑" pitchFamily="34" charset="-122"/>
              </a:rPr>
              <a:t>两大部分。</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RFC 5322 </a:t>
            </a:r>
            <a:r>
              <a:rPr lang="zh-CN" altLang="en-US" sz="2000" b="1" dirty="0">
                <a:latin typeface="微软雅黑" pitchFamily="34" charset="-122"/>
                <a:ea typeface="微软雅黑" pitchFamily="34" charset="-122"/>
              </a:rPr>
              <a:t>只规定了邮件内容中的</a:t>
            </a:r>
            <a:r>
              <a:rPr lang="zh-CN" altLang="en-US" sz="2000" b="1" dirty="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(header) </a:t>
            </a:r>
            <a:r>
              <a:rPr lang="zh-CN" altLang="en-US" sz="2000" b="1" dirty="0">
                <a:latin typeface="微软雅黑" pitchFamily="34" charset="-122"/>
                <a:ea typeface="微软雅黑" pitchFamily="34" charset="-122"/>
              </a:rPr>
              <a:t>格式。</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邮件的</a:t>
            </a:r>
            <a:r>
              <a:rPr lang="zh-CN" altLang="en-US" sz="2000" b="1" dirty="0">
                <a:solidFill>
                  <a:srgbClr val="0000FF"/>
                </a:solidFill>
                <a:latin typeface="微软雅黑" pitchFamily="34" charset="-122"/>
                <a:ea typeface="微软雅黑" pitchFamily="34" charset="-122"/>
              </a:rPr>
              <a:t>主体</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(body) </a:t>
            </a:r>
            <a:r>
              <a:rPr lang="zh-CN" altLang="en-US" sz="2000" b="1" dirty="0">
                <a:latin typeface="微软雅黑" pitchFamily="34" charset="-122"/>
                <a:ea typeface="微软雅黑" pitchFamily="34" charset="-122"/>
              </a:rPr>
              <a:t>部分则让用户自由撰写。</a:t>
            </a:r>
          </a:p>
        </p:txBody>
      </p:sp>
    </p:spTree>
    <p:extLst>
      <p:ext uri="{BB962C8B-B14F-4D97-AF65-F5344CB8AC3E}">
        <p14:creationId xmlns:p14="http://schemas.microsoft.com/office/powerpoint/2010/main" val="210941378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552869" y="578205"/>
            <a:ext cx="20569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邮件内容的首部</a:t>
            </a:r>
          </a:p>
        </p:txBody>
      </p:sp>
      <p:sp>
        <p:nvSpPr>
          <p:cNvPr id="29" name="圆角矩形 28"/>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0"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headEnd/>
            <a:tailEnd/>
          </a:ln>
          <a:effectLst/>
        </p:spPr>
        <p:txBody>
          <a:bodyPr wrap="none" anchor="ctr"/>
          <a:lstStyle/>
          <a:p>
            <a:endParaRPr lang="zh-CN" altLang="en-US"/>
          </a:p>
        </p:txBody>
      </p:sp>
      <p:sp>
        <p:nvSpPr>
          <p:cNvPr id="31"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headEnd/>
            <a:tailEnd/>
          </a:ln>
          <a:effectLst/>
        </p:spPr>
        <p:txBody>
          <a:bodyPr wrap="none" anchor="ctr"/>
          <a:lstStyle/>
          <a:p>
            <a:pPr algn="ctr"/>
            <a:r>
              <a:rPr lang="zh-CN" altLang="en-US" b="1" dirty="0">
                <a:latin typeface="微软雅黑" pitchFamily="34" charset="-122"/>
                <a:ea typeface="微软雅黑" pitchFamily="34" charset="-122"/>
              </a:rPr>
              <a:t>首部 </a:t>
            </a:r>
            <a:r>
              <a:rPr lang="en-US" altLang="zh-CN" b="1" dirty="0">
                <a:latin typeface="微软雅黑" pitchFamily="34" charset="-122"/>
                <a:ea typeface="微软雅黑" pitchFamily="34" charset="-122"/>
              </a:rPr>
              <a:t>(header)</a:t>
            </a:r>
          </a:p>
        </p:txBody>
      </p:sp>
      <p:sp>
        <p:nvSpPr>
          <p:cNvPr id="32"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headEnd/>
            <a:tailEnd/>
          </a:ln>
          <a:effectLst/>
        </p:spPr>
        <p:txBody>
          <a:bodyPr wrap="none" anchor="ctr"/>
          <a:lstStyle/>
          <a:p>
            <a:pPr algn="ctr"/>
            <a:r>
              <a:rPr lang="zh-CN" altLang="en-US" b="1" dirty="0">
                <a:latin typeface="微软雅黑" pitchFamily="34" charset="-122"/>
                <a:ea typeface="微软雅黑" pitchFamily="34" charset="-122"/>
              </a:rPr>
              <a:t>主体 </a:t>
            </a:r>
            <a:r>
              <a:rPr lang="en-US" altLang="zh-CN" b="1" dirty="0">
                <a:latin typeface="微软雅黑" pitchFamily="34" charset="-122"/>
                <a:ea typeface="微软雅黑" pitchFamily="34" charset="-122"/>
              </a:rPr>
              <a:t>(body)</a:t>
            </a:r>
          </a:p>
        </p:txBody>
      </p:sp>
      <p:sp>
        <p:nvSpPr>
          <p:cNvPr id="33"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ctr"/>
            <a:r>
              <a:rPr lang="zh-CN" altLang="en-US" sz="1400" b="1" dirty="0">
                <a:latin typeface="微软雅黑" pitchFamily="34" charset="-122"/>
                <a:ea typeface="微软雅黑" pitchFamily="34" charset="-122"/>
              </a:rPr>
              <a:t>空行</a:t>
            </a:r>
            <a:endParaRPr lang="en-US" altLang="zh-CN" sz="1400" b="1" dirty="0">
              <a:latin typeface="微软雅黑" pitchFamily="34" charset="-122"/>
              <a:ea typeface="微软雅黑" pitchFamily="34" charset="-122"/>
            </a:endParaRPr>
          </a:p>
        </p:txBody>
      </p:sp>
      <p:sp>
        <p:nvSpPr>
          <p:cNvPr id="34"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headEnd/>
            <a:tailEnd/>
          </a:ln>
          <a:effectLst/>
        </p:spPr>
        <p:txBody>
          <a:bodyPr wrap="none" anchor="ctr"/>
          <a:lstStyle/>
          <a:p>
            <a:pPr>
              <a:lnSpc>
                <a:spcPts val="1600"/>
              </a:lnSpc>
            </a:pPr>
            <a:r>
              <a:rPr lang="en-US" altLang="zh-CN" sz="1200" b="1" dirty="0">
                <a:solidFill>
                  <a:schemeClr val="bg1"/>
                </a:solidFill>
                <a:latin typeface="微软雅黑" pitchFamily="34" charset="-122"/>
                <a:ea typeface="微软雅黑" pitchFamily="34" charset="-122"/>
              </a:rPr>
              <a:t>MAIL FROM: one@abc.edu</a:t>
            </a:r>
          </a:p>
          <a:p>
            <a:pPr>
              <a:lnSpc>
                <a:spcPts val="1600"/>
              </a:lnSpc>
            </a:pPr>
            <a:r>
              <a:rPr lang="en-US" altLang="zh-CN" sz="1200" b="1" dirty="0">
                <a:solidFill>
                  <a:schemeClr val="bg1"/>
                </a:solidFill>
                <a:latin typeface="微软雅黑" pitchFamily="34" charset="-122"/>
                <a:ea typeface="微软雅黑" pitchFamily="34" charset="-122"/>
              </a:rPr>
              <a:t>RCPT TO: two@xyz.com</a:t>
            </a:r>
            <a:endParaRPr lang="zh-CN" altLang="en-US" sz="1200" b="1" dirty="0">
              <a:solidFill>
                <a:schemeClr val="bg1"/>
              </a:solidFill>
              <a:latin typeface="微软雅黑" pitchFamily="34" charset="-122"/>
              <a:ea typeface="微软雅黑" pitchFamily="34" charset="-122"/>
            </a:endParaRPr>
          </a:p>
        </p:txBody>
      </p:sp>
      <p:sp>
        <p:nvSpPr>
          <p:cNvPr id="35" name="矩形 34"/>
          <p:cNvSpPr/>
          <p:nvPr/>
        </p:nvSpPr>
        <p:spPr>
          <a:xfrm>
            <a:off x="7441871" y="1601892"/>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pitchFamily="34" charset="-122"/>
                <a:ea typeface="微软雅黑" pitchFamily="34" charset="-122"/>
              </a:rPr>
              <a:t>信封</a:t>
            </a:r>
            <a:endParaRPr lang="en-US" altLang="zh-CN" sz="1600" b="1" dirty="0">
              <a:latin typeface="微软雅黑" pitchFamily="34" charset="-122"/>
              <a:ea typeface="微软雅黑" pitchFamily="34" charset="-122"/>
            </a:endParaRPr>
          </a:p>
        </p:txBody>
      </p:sp>
      <p:sp>
        <p:nvSpPr>
          <p:cNvPr id="36" name="矩形 35"/>
          <p:cNvSpPr/>
          <p:nvPr/>
        </p:nvSpPr>
        <p:spPr>
          <a:xfrm>
            <a:off x="7441871" y="2936735"/>
            <a:ext cx="745679" cy="369332"/>
          </a:xfrm>
          <a:prstGeom prst="rect">
            <a:avLst/>
          </a:prstGeom>
          <a:noFill/>
          <a:ln w="12700">
            <a:noFill/>
            <a:miter lim="800000"/>
            <a:headEnd/>
            <a:tailEnd/>
          </a:ln>
          <a:effectLst/>
        </p:spPr>
        <p:txBody>
          <a:bodyPr wrap="none" anchor="ctr"/>
          <a:lstStyle/>
          <a:p>
            <a:pPr algn="r"/>
            <a:r>
              <a:rPr lang="zh-CN" altLang="en-US" sz="1600" b="1" dirty="0">
                <a:latin typeface="微软雅黑" pitchFamily="34" charset="-122"/>
                <a:ea typeface="微软雅黑" pitchFamily="34" charset="-122"/>
              </a:rPr>
              <a:t>内容</a:t>
            </a:r>
            <a:endParaRPr lang="en-US" altLang="zh-CN" sz="1600" b="1" dirty="0">
              <a:latin typeface="微软雅黑" pitchFamily="34" charset="-122"/>
              <a:ea typeface="微软雅黑" pitchFamily="34" charset="-122"/>
            </a:endParaRPr>
          </a:p>
        </p:txBody>
      </p:sp>
      <p:grpSp>
        <p:nvGrpSpPr>
          <p:cNvPr id="37" name="组合 36"/>
          <p:cNvGrpSpPr/>
          <p:nvPr/>
        </p:nvGrpSpPr>
        <p:grpSpPr>
          <a:xfrm>
            <a:off x="7473400" y="1335334"/>
            <a:ext cx="714150" cy="2768917"/>
            <a:chOff x="7200140" y="1468504"/>
            <a:chExt cx="807016" cy="2768917"/>
          </a:xfrm>
        </p:grpSpPr>
        <p:cxnSp>
          <p:nvCxnSpPr>
            <p:cNvPr id="38" name="直接连接符 37"/>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 name="直接连接符 40"/>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25511" y="1192910"/>
            <a:ext cx="3289738" cy="1759456"/>
          </a:xfrm>
          <a:prstGeom prst="rect">
            <a:avLst/>
          </a:prstGeom>
          <a:solidFill>
            <a:srgbClr val="00FFCC"/>
          </a:solidFill>
          <a:ln w="9525" algn="ctr">
            <a:solidFill>
              <a:srgbClr val="000000"/>
            </a:solidFill>
            <a:miter lim="1000000"/>
            <a:headEnd/>
            <a:tailEnd/>
          </a:ln>
          <a:effectLst/>
        </p:spPr>
        <p:txBody>
          <a:bodyPr wrap="square">
            <a:spAutoFit/>
          </a:bodyPr>
          <a:lstStyle/>
          <a:p>
            <a:pPr marL="285750" indent="-285750" eaLnBrk="0" hangingPunct="0">
              <a:lnSpc>
                <a:spcPts val="2600"/>
              </a:lnSpc>
              <a:buClr>
                <a:srgbClr val="0070C0"/>
              </a:buClr>
              <a:buFont typeface="Wingdings" pitchFamily="2" charset="2"/>
              <a:buChar char="l"/>
            </a:pPr>
            <a:r>
              <a:rPr lang="en-US" altLang="zh-CN" sz="1600" b="1" dirty="0">
                <a:latin typeface="微软雅黑" pitchFamily="34" charset="-122"/>
                <a:ea typeface="微软雅黑" pitchFamily="34" charset="-122"/>
              </a:rPr>
              <a:t>From: LionKing@abc.edu</a:t>
            </a:r>
          </a:p>
          <a:p>
            <a:pPr marL="285750" indent="-285750" eaLnBrk="0" hangingPunct="0">
              <a:lnSpc>
                <a:spcPts val="2600"/>
              </a:lnSpc>
              <a:buClr>
                <a:srgbClr val="0070C0"/>
              </a:buClr>
              <a:buFont typeface="Wingdings" pitchFamily="2" charset="2"/>
              <a:buChar char="l"/>
            </a:pPr>
            <a:r>
              <a:rPr lang="en-US" altLang="zh-CN" sz="1600" b="1" dirty="0">
                <a:solidFill>
                  <a:srgbClr val="C00000"/>
                </a:solidFill>
                <a:latin typeface="微软雅黑" pitchFamily="34" charset="-122"/>
                <a:ea typeface="微软雅黑" pitchFamily="34" charset="-122"/>
              </a:rPr>
              <a:t>To: </a:t>
            </a:r>
            <a:r>
              <a:rPr lang="en-US" altLang="zh-CN" sz="1600" b="1" dirty="0">
                <a:latin typeface="微软雅黑" pitchFamily="34" charset="-122"/>
                <a:ea typeface="微软雅黑" pitchFamily="34" charset="-122"/>
              </a:rPr>
              <a:t>TigerWang@xyz.com</a:t>
            </a:r>
          </a:p>
          <a:p>
            <a:pPr marL="285750" indent="-285750" eaLnBrk="0" hangingPunct="0">
              <a:lnSpc>
                <a:spcPts val="2600"/>
              </a:lnSpc>
              <a:buClr>
                <a:srgbClr val="0070C0"/>
              </a:buClr>
              <a:buFont typeface="Wingdings" pitchFamily="2" charset="2"/>
              <a:buChar char="l"/>
            </a:pPr>
            <a:r>
              <a:rPr lang="en-US" altLang="zh-CN" sz="1600" b="1" dirty="0">
                <a:latin typeface="微软雅黑" pitchFamily="34" charset="-122"/>
                <a:ea typeface="微软雅黑" pitchFamily="34" charset="-122"/>
              </a:rPr>
              <a:t>Date: 2018-08-18</a:t>
            </a:r>
          </a:p>
          <a:p>
            <a:pPr marL="285750" indent="-285750" eaLnBrk="0" hangingPunct="0">
              <a:lnSpc>
                <a:spcPts val="2600"/>
              </a:lnSpc>
              <a:buClr>
                <a:srgbClr val="0070C0"/>
              </a:buClr>
              <a:buFont typeface="Wingdings" pitchFamily="2" charset="2"/>
              <a:buChar char="l"/>
            </a:pPr>
            <a:r>
              <a:rPr lang="en-US" altLang="zh-CN" sz="1600" b="1" dirty="0">
                <a:solidFill>
                  <a:srgbClr val="C00000"/>
                </a:solidFill>
                <a:latin typeface="微软雅黑" pitchFamily="34" charset="-122"/>
                <a:ea typeface="微软雅黑" pitchFamily="34" charset="-122"/>
              </a:rPr>
              <a:t>Subject:</a:t>
            </a:r>
            <a:r>
              <a:rPr lang="en-US" altLang="zh-CN" sz="1600" b="1" dirty="0">
                <a:latin typeface="微软雅黑" pitchFamily="34" charset="-122"/>
                <a:ea typeface="微软雅黑" pitchFamily="34" charset="-122"/>
              </a:rPr>
              <a:t> Greetings</a:t>
            </a:r>
          </a:p>
          <a:p>
            <a:pPr marL="285750" indent="-285750" eaLnBrk="0" hangingPunct="0">
              <a:lnSpc>
                <a:spcPts val="2600"/>
              </a:lnSpc>
              <a:buClr>
                <a:srgbClr val="0070C0"/>
              </a:buClr>
              <a:buFont typeface="Wingdings" pitchFamily="2" charset="2"/>
              <a:buChar char="l"/>
            </a:pPr>
            <a:r>
              <a:rPr lang="en-US" altLang="zh-CN" sz="1600" b="1" dirty="0">
                <a:latin typeface="微软雅黑" pitchFamily="34" charset="-122"/>
                <a:ea typeface="微软雅黑" pitchFamily="34" charset="-122"/>
              </a:rPr>
              <a:t>Cc: Manager@zoo.com</a:t>
            </a:r>
          </a:p>
        </p:txBody>
      </p:sp>
      <p:cxnSp>
        <p:nvCxnSpPr>
          <p:cNvPr id="9" name="直接箭头连接符 8"/>
          <p:cNvCxnSpPr/>
          <p:nvPr/>
        </p:nvCxnSpPr>
        <p:spPr>
          <a:xfrm>
            <a:off x="3447391" y="2244640"/>
            <a:ext cx="1282262" cy="316918"/>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6" name="Rectangle 68"/>
          <p:cNvSpPr>
            <a:spLocks noChangeArrowheads="1"/>
          </p:cNvSpPr>
          <p:nvPr/>
        </p:nvSpPr>
        <p:spPr bwMode="auto">
          <a:xfrm>
            <a:off x="525511" y="3352769"/>
            <a:ext cx="3289738" cy="759182"/>
          </a:xfrm>
          <a:prstGeom prst="rect">
            <a:avLst/>
          </a:prstGeom>
          <a:solidFill>
            <a:srgbClr val="FF66FF"/>
          </a:solidFill>
          <a:ln w="9525" algn="ctr">
            <a:solidFill>
              <a:srgbClr val="000000"/>
            </a:solidFill>
            <a:miter lim="1000000"/>
            <a:headEnd/>
            <a:tailEnd/>
          </a:ln>
          <a:effectLst/>
        </p:spPr>
        <p:txBody>
          <a:bodyPr wrap="square">
            <a:spAutoFit/>
          </a:bodyPr>
          <a:lstStyle/>
          <a:p>
            <a:pPr marL="285750" indent="-285750" eaLnBrk="0" hangingPunct="0">
              <a:lnSpc>
                <a:spcPts val="2600"/>
              </a:lnSpc>
              <a:buClr>
                <a:srgbClr val="0070C0"/>
              </a:buClr>
              <a:buFont typeface="Wingdings" pitchFamily="2" charset="2"/>
              <a:buChar char="l"/>
            </a:pPr>
            <a:r>
              <a:rPr lang="zh-CN" altLang="en-US" sz="1600" b="1" dirty="0">
                <a:latin typeface="微软雅黑" pitchFamily="34" charset="-122"/>
                <a:ea typeface="微软雅黑" pitchFamily="34" charset="-122"/>
              </a:rPr>
              <a:t>纯文本信息 （</a:t>
            </a:r>
            <a:r>
              <a:rPr lang="en-US" altLang="zh-CN" sz="1600" b="1" dirty="0">
                <a:latin typeface="微软雅黑" pitchFamily="34" charset="-122"/>
                <a:ea typeface="微软雅黑" pitchFamily="34" charset="-122"/>
              </a:rPr>
              <a:t>ASCII</a:t>
            </a:r>
            <a:r>
              <a:rPr lang="zh-CN" altLang="en-US" sz="1600" b="1" dirty="0">
                <a:latin typeface="微软雅黑" pitchFamily="34" charset="-122"/>
                <a:ea typeface="微软雅黑" pitchFamily="34" charset="-122"/>
              </a:rPr>
              <a:t>编码）。</a:t>
            </a:r>
            <a:endParaRPr lang="en-US" altLang="zh-CN" sz="1600" b="1" dirty="0">
              <a:latin typeface="微软雅黑" pitchFamily="34" charset="-122"/>
              <a:ea typeface="微软雅黑" pitchFamily="34" charset="-122"/>
            </a:endParaRPr>
          </a:p>
          <a:p>
            <a:pPr marL="285750" indent="-285750" eaLnBrk="0" hangingPunct="0">
              <a:lnSpc>
                <a:spcPts val="2600"/>
              </a:lnSpc>
              <a:buClr>
                <a:srgbClr val="0070C0"/>
              </a:buClr>
              <a:buFont typeface="Wingdings" pitchFamily="2" charset="2"/>
              <a:buChar char="l"/>
            </a:pPr>
            <a:r>
              <a:rPr lang="zh-CN" altLang="en-US" sz="1600" b="1" dirty="0">
                <a:latin typeface="微软雅黑" pitchFamily="34" charset="-122"/>
                <a:ea typeface="微软雅黑" pitchFamily="34" charset="-122"/>
              </a:rPr>
              <a:t>无特定结构和含义。</a:t>
            </a:r>
            <a:endParaRPr lang="en-US" altLang="zh-CN" sz="1600" b="1" dirty="0">
              <a:latin typeface="微软雅黑" pitchFamily="34" charset="-122"/>
              <a:ea typeface="微软雅黑" pitchFamily="34" charset="-122"/>
            </a:endParaRPr>
          </a:p>
        </p:txBody>
      </p:sp>
      <p:cxnSp>
        <p:nvCxnSpPr>
          <p:cNvPr id="27" name="直接箭头连接符 26"/>
          <p:cNvCxnSpPr/>
          <p:nvPr/>
        </p:nvCxnSpPr>
        <p:spPr>
          <a:xfrm flipV="1">
            <a:off x="3447391" y="3518150"/>
            <a:ext cx="1282262" cy="276883"/>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7575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5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954139" y="559276"/>
            <a:ext cx="52357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6.5.4  </a:t>
            </a:r>
            <a:r>
              <a:rPr lang="zh-CN" altLang="en-US" sz="2400" b="1" dirty="0">
                <a:solidFill>
                  <a:schemeClr val="bg1"/>
                </a:solidFill>
                <a:latin typeface="微软雅黑" pitchFamily="34" charset="-122"/>
                <a:ea typeface="微软雅黑" pitchFamily="34" charset="-122"/>
              </a:rPr>
              <a:t>邮件读取协议 </a:t>
            </a:r>
            <a:r>
              <a:rPr lang="en-US" altLang="zh-CN" sz="2400" b="1" dirty="0">
                <a:solidFill>
                  <a:schemeClr val="bg1"/>
                </a:solidFill>
                <a:latin typeface="微软雅黑" pitchFamily="34" charset="-122"/>
                <a:ea typeface="微软雅黑" pitchFamily="34" charset="-122"/>
              </a:rPr>
              <a:t>POP3 </a:t>
            </a:r>
            <a:r>
              <a:rPr lang="zh-CN" altLang="en-US" sz="2400" b="1" dirty="0">
                <a:solidFill>
                  <a:schemeClr val="bg1"/>
                </a:solidFill>
                <a:latin typeface="微软雅黑" pitchFamily="34" charset="-122"/>
                <a:ea typeface="微软雅黑" pitchFamily="34" charset="-122"/>
              </a:rPr>
              <a:t>和 </a:t>
            </a:r>
            <a:r>
              <a:rPr lang="en-US" altLang="zh-CN" sz="2400" b="1" dirty="0">
                <a:solidFill>
                  <a:schemeClr val="bg1"/>
                </a:solidFill>
                <a:latin typeface="微软雅黑" pitchFamily="34" charset="-122"/>
                <a:ea typeface="微软雅黑" pitchFamily="34" charset="-122"/>
              </a:rPr>
              <a:t>IMAP</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1007303"/>
            <a:ext cx="823193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a:latin typeface="微软雅黑" pitchFamily="34" charset="-122"/>
                <a:ea typeface="微软雅黑" pitchFamily="34" charset="-122"/>
              </a:rPr>
              <a:t>两个常用的邮件读取协议：</a:t>
            </a:r>
            <a:endParaRPr lang="en-US" altLang="zh-CN" sz="2000" b="1" dirty="0">
              <a:latin typeface="微软雅黑" pitchFamily="34" charset="-122"/>
              <a:ea typeface="微软雅黑" pitchFamily="34" charset="-122"/>
            </a:endParaRPr>
          </a:p>
          <a:p>
            <a:pPr marL="357188" indent="-357188" eaLnBrk="0" hangingPunct="0">
              <a:lnSpc>
                <a:spcPts val="3300"/>
              </a:lnSpc>
              <a:buClr>
                <a:srgbClr val="9900CC"/>
              </a:buClr>
              <a:buFont typeface="+mj-lt"/>
              <a:buAutoNum type="arabicPeriod"/>
            </a:pPr>
            <a:r>
              <a:rPr lang="en-US" altLang="zh-CN" sz="2000" b="1" dirty="0">
                <a:solidFill>
                  <a:srgbClr val="C00000"/>
                </a:solidFill>
                <a:latin typeface="微软雅黑" pitchFamily="34" charset="-122"/>
                <a:ea typeface="微软雅黑" pitchFamily="34" charset="-122"/>
              </a:rPr>
              <a:t>POP3</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邮局协议 </a:t>
            </a:r>
            <a:r>
              <a:rPr lang="en-US" altLang="zh-CN" sz="2000" b="1" dirty="0">
                <a:latin typeface="微软雅黑" pitchFamily="34" charset="-122"/>
                <a:ea typeface="微软雅黑" pitchFamily="34" charset="-122"/>
              </a:rPr>
              <a:t>(Post Office Protocol) </a:t>
            </a:r>
            <a:r>
              <a:rPr lang="zh-CN" altLang="en-US" sz="2000" b="1" dirty="0">
                <a:latin typeface="微软雅黑" pitchFamily="34" charset="-122"/>
                <a:ea typeface="微软雅黑" pitchFamily="34" charset="-122"/>
              </a:rPr>
              <a:t>第</a:t>
            </a:r>
            <a:r>
              <a:rPr lang="en-US" altLang="zh-CN" sz="2000" b="1" dirty="0">
                <a:latin typeface="微软雅黑" pitchFamily="34" charset="-122"/>
                <a:ea typeface="微软雅黑" pitchFamily="34" charset="-122"/>
              </a:rPr>
              <a:t>3</a:t>
            </a:r>
            <a:r>
              <a:rPr lang="zh-CN" altLang="en-US" sz="2000" b="1" dirty="0">
                <a:latin typeface="微软雅黑" pitchFamily="34" charset="-122"/>
                <a:ea typeface="微软雅黑" pitchFamily="34" charset="-122"/>
              </a:rPr>
              <a:t>个版本 </a:t>
            </a:r>
            <a:endParaRPr lang="en-US" altLang="zh-CN" sz="2000" b="1" dirty="0">
              <a:latin typeface="微软雅黑" pitchFamily="34" charset="-122"/>
              <a:ea typeface="微软雅黑" pitchFamily="34" charset="-122"/>
            </a:endParaRPr>
          </a:p>
          <a:p>
            <a:pPr marL="357188" indent="-357188" eaLnBrk="0" hangingPunct="0">
              <a:lnSpc>
                <a:spcPts val="3300"/>
              </a:lnSpc>
              <a:buClr>
                <a:srgbClr val="9900CC"/>
              </a:buClr>
              <a:buFont typeface="+mj-lt"/>
              <a:buAutoNum type="arabicPeriod"/>
            </a:pPr>
            <a:r>
              <a:rPr lang="en-US" altLang="zh-CN" sz="2000" b="1" dirty="0">
                <a:solidFill>
                  <a:srgbClr val="C00000"/>
                </a:solidFill>
                <a:latin typeface="微软雅黑" pitchFamily="34" charset="-122"/>
                <a:ea typeface="微软雅黑" pitchFamily="34" charset="-122"/>
              </a:rPr>
              <a:t>IMAP</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网际报文存取协议</a:t>
            </a:r>
            <a:r>
              <a:rPr lang="en-US" altLang="zh-CN" sz="2000" b="1" dirty="0">
                <a:latin typeface="微软雅黑" pitchFamily="34" charset="-122"/>
                <a:ea typeface="微软雅黑" pitchFamily="34" charset="-122"/>
              </a:rPr>
              <a:t> (Internet Message Access Protocol)</a:t>
            </a:r>
            <a:endParaRPr lang="zh-CN" altLang="en-US" sz="2000" b="1" dirty="0">
              <a:latin typeface="微软雅黑" pitchFamily="34" charset="-122"/>
              <a:ea typeface="微软雅黑" pitchFamily="34" charset="-122"/>
            </a:endParaRPr>
          </a:p>
        </p:txBody>
      </p:sp>
    </p:spTree>
    <p:extLst>
      <p:ext uri="{BB962C8B-B14F-4D97-AF65-F5344CB8AC3E}">
        <p14:creationId xmlns:p14="http://schemas.microsoft.com/office/powerpoint/2010/main" val="18863417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圆角矩形 36"/>
          <p:cNvSpPr/>
          <p:nvPr/>
        </p:nvSpPr>
        <p:spPr>
          <a:xfrm>
            <a:off x="1371509" y="1288278"/>
            <a:ext cx="6194639" cy="2126256"/>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58273"/>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 name="Rectangle 387"/>
          <p:cNvSpPr>
            <a:spLocks noChangeArrowheads="1"/>
          </p:cNvSpPr>
          <p:nvPr/>
        </p:nvSpPr>
        <p:spPr bwMode="auto">
          <a:xfrm>
            <a:off x="1544934" y="1858273"/>
            <a:ext cx="680437" cy="1346517"/>
          </a:xfrm>
          <a:prstGeom prst="rect">
            <a:avLst/>
          </a:prstGeom>
          <a:solidFill>
            <a:srgbClr val="00FFCC"/>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 name="Line 388"/>
          <p:cNvSpPr>
            <a:spLocks noChangeShapeType="1"/>
          </p:cNvSpPr>
          <p:nvPr/>
        </p:nvSpPr>
        <p:spPr bwMode="auto">
          <a:xfrm>
            <a:off x="2021489" y="2201045"/>
            <a:ext cx="941856"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 name="Oval 397"/>
          <p:cNvSpPr>
            <a:spLocks noChangeArrowheads="1"/>
          </p:cNvSpPr>
          <p:nvPr/>
        </p:nvSpPr>
        <p:spPr bwMode="auto">
          <a:xfrm>
            <a:off x="1601220" y="1922159"/>
            <a:ext cx="566615"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客户</a:t>
            </a:r>
          </a:p>
        </p:txBody>
      </p:sp>
      <p:sp>
        <p:nvSpPr>
          <p:cNvPr id="12" name="Oval 405"/>
          <p:cNvSpPr>
            <a:spLocks noChangeArrowheads="1"/>
          </p:cNvSpPr>
          <p:nvPr/>
        </p:nvSpPr>
        <p:spPr bwMode="auto">
          <a:xfrm>
            <a:off x="2964596" y="1922159"/>
            <a:ext cx="566615" cy="556545"/>
          </a:xfrm>
          <a:prstGeom prst="ellipse">
            <a:avLst/>
          </a:prstGeom>
          <a:solidFill>
            <a:schemeClr val="bg1"/>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13" name="Oval 406"/>
          <p:cNvSpPr>
            <a:spLocks noChangeArrowheads="1"/>
          </p:cNvSpPr>
          <p:nvPr/>
        </p:nvSpPr>
        <p:spPr bwMode="auto">
          <a:xfrm>
            <a:off x="2964596" y="2535218"/>
            <a:ext cx="566615"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ext uri="{D42A27DB-BD31-4B8C-83A1-F6EECF244321}">
                <p14:modId xmlns:p14="http://schemas.microsoft.com/office/powerpoint/2010/main" val="987497209"/>
              </p:ext>
            </p:extLst>
          </p:nvPr>
        </p:nvGraphicFramePr>
        <p:xfrm>
          <a:off x="762658" y="1898259"/>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0"/>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762658" y="1898259"/>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723401" y="1866874"/>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779688" y="1922159"/>
            <a:ext cx="566614"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5362526" y="1866874"/>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5418813" y="2535218"/>
            <a:ext cx="566614" cy="55654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5418813" y="1922159"/>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grpSp>
        <p:nvGrpSpPr>
          <p:cNvPr id="4" name="组合 3"/>
          <p:cNvGrpSpPr/>
          <p:nvPr/>
        </p:nvGrpSpPr>
        <p:grpSpPr>
          <a:xfrm>
            <a:off x="2239475" y="1514102"/>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grpSp>
      <p:sp>
        <p:nvSpPr>
          <p:cNvPr id="25" name="Text Box 396"/>
          <p:cNvSpPr txBox="1">
            <a:spLocks noChangeArrowheads="1"/>
          </p:cNvSpPr>
          <p:nvPr/>
        </p:nvSpPr>
        <p:spPr bwMode="auto">
          <a:xfrm>
            <a:off x="2805314"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发送方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6" name="Text Box 399"/>
          <p:cNvSpPr txBox="1">
            <a:spLocks noChangeArrowheads="1"/>
          </p:cNvSpPr>
          <p:nvPr/>
        </p:nvSpPr>
        <p:spPr bwMode="auto">
          <a:xfrm>
            <a:off x="1509292"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发件方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grpSp>
        <p:nvGrpSpPr>
          <p:cNvPr id="23" name="组合 22"/>
          <p:cNvGrpSpPr/>
          <p:nvPr/>
        </p:nvGrpSpPr>
        <p:grpSpPr>
          <a:xfrm>
            <a:off x="6055753" y="1532702"/>
            <a:ext cx="572593" cy="1149867"/>
            <a:chOff x="6055753" y="1489328"/>
            <a:chExt cx="572593" cy="1149867"/>
          </a:xfrm>
        </p:grpSpPr>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POP3</a:t>
              </a:r>
            </a:p>
          </p:txBody>
        </p:sp>
      </p:grpSp>
      <p:sp>
        <p:nvSpPr>
          <p:cNvPr id="28" name="Text Box 400"/>
          <p:cNvSpPr txBox="1">
            <a:spLocks noChangeArrowheads="1"/>
          </p:cNvSpPr>
          <p:nvPr/>
        </p:nvSpPr>
        <p:spPr bwMode="auto">
          <a:xfrm>
            <a:off x="5248753"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695563"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0" name="Line 408"/>
          <p:cNvSpPr>
            <a:spLocks noChangeShapeType="1"/>
          </p:cNvSpPr>
          <p:nvPr/>
        </p:nvSpPr>
        <p:spPr bwMode="auto">
          <a:xfrm flipV="1">
            <a:off x="5985427" y="2201045"/>
            <a:ext cx="794261"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1" name="对象 30"/>
          <p:cNvGraphicFramePr>
            <a:graphicFrameLocks noChangeAspect="1"/>
          </p:cNvGraphicFramePr>
          <p:nvPr>
            <p:extLst>
              <p:ext uri="{D42A27DB-BD31-4B8C-83A1-F6EECF244321}">
                <p14:modId xmlns:p14="http://schemas.microsoft.com/office/powerpoint/2010/main" val="736628236"/>
              </p:ext>
            </p:extLst>
          </p:nvPr>
        </p:nvGraphicFramePr>
        <p:xfrm>
          <a:off x="7632442" y="1898259"/>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1"/>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632442" y="1898259"/>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2" name="Text Box 399"/>
          <p:cNvSpPr txBox="1">
            <a:spLocks noChangeArrowheads="1"/>
          </p:cNvSpPr>
          <p:nvPr/>
        </p:nvSpPr>
        <p:spPr bwMode="auto">
          <a:xfrm>
            <a:off x="7702778"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收件人</a:t>
            </a:r>
          </a:p>
        </p:txBody>
      </p:sp>
      <p:grpSp>
        <p:nvGrpSpPr>
          <p:cNvPr id="33" name="组合 32"/>
          <p:cNvGrpSpPr/>
          <p:nvPr/>
        </p:nvGrpSpPr>
        <p:grpSpPr>
          <a:xfrm>
            <a:off x="3515714" y="2533989"/>
            <a:ext cx="1928643" cy="728201"/>
            <a:chOff x="3473673" y="2734550"/>
            <a:chExt cx="3063219" cy="728201"/>
          </a:xfrm>
        </p:grpSpPr>
        <p:sp>
          <p:nvSpPr>
            <p:cNvPr id="34"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5"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36"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p>
            <a:p>
              <a:pPr algn="ctr" eaLnBrk="1" hangingPunct="1"/>
              <a:r>
                <a:rPr kumimoji="1" lang="zh-CN" altLang="en-US" sz="1100" b="1" dirty="0">
                  <a:solidFill>
                    <a:srgbClr val="0000FF"/>
                  </a:solidFill>
                  <a:latin typeface="微软雅黑" pitchFamily="34" charset="-122"/>
                  <a:ea typeface="微软雅黑" pitchFamily="34" charset="-122"/>
                </a:rPr>
                <a:t>连接</a:t>
              </a:r>
            </a:p>
          </p:txBody>
        </p:sp>
      </p:grpSp>
      <p:sp>
        <p:nvSpPr>
          <p:cNvPr id="38" name="矩形 37"/>
          <p:cNvSpPr/>
          <p:nvPr/>
        </p:nvSpPr>
        <p:spPr>
          <a:xfrm>
            <a:off x="1470662" y="3585215"/>
            <a:ext cx="6331270" cy="656590"/>
          </a:xfrm>
          <a:prstGeom prst="rect">
            <a:avLst/>
          </a:prstGeom>
        </p:spPr>
        <p:txBody>
          <a:bodyPr wrap="square" anchor="ctr">
            <a:spAutoFit/>
          </a:bodyPr>
          <a:lstStyle/>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a:latin typeface="微软雅黑" pitchFamily="34" charset="-122"/>
                <a:ea typeface="微软雅黑" pitchFamily="34" charset="-122"/>
              </a:rPr>
              <a:t>使用</a:t>
            </a:r>
            <a:r>
              <a:rPr lang="zh-CN" altLang="en-US" sz="1600" b="1" dirty="0">
                <a:solidFill>
                  <a:srgbClr val="C00000"/>
                </a:solidFill>
                <a:latin typeface="微软雅黑" pitchFamily="34" charset="-122"/>
                <a:ea typeface="微软雅黑" pitchFamily="34" charset="-122"/>
              </a:rPr>
              <a:t>客户服务器</a:t>
            </a:r>
            <a:r>
              <a:rPr lang="zh-CN" altLang="en-US" sz="1600" b="1" dirty="0">
                <a:latin typeface="微软雅黑" pitchFamily="34" charset="-122"/>
                <a:ea typeface="微软雅黑" pitchFamily="34" charset="-122"/>
              </a:rPr>
              <a:t>方式。</a:t>
            </a:r>
            <a:endParaRPr lang="en-US" altLang="zh-CN" sz="1600" b="1" dirty="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a:solidFill>
                  <a:srgbClr val="C00000"/>
                </a:solidFill>
                <a:latin typeface="微软雅黑" pitchFamily="34" charset="-122"/>
                <a:ea typeface="微软雅黑" pitchFamily="34" charset="-122"/>
              </a:rPr>
              <a:t>基于 </a:t>
            </a:r>
            <a:r>
              <a:rPr lang="en-US" altLang="zh-CN" sz="1600" b="1" dirty="0">
                <a:solidFill>
                  <a:srgbClr val="C00000"/>
                </a:solidFill>
                <a:latin typeface="微软雅黑" pitchFamily="34" charset="-122"/>
                <a:ea typeface="微软雅黑" pitchFamily="34" charset="-122"/>
              </a:rPr>
              <a:t>TCP </a:t>
            </a:r>
            <a:r>
              <a:rPr lang="zh-CN" altLang="en-US" sz="1600" b="1" dirty="0">
                <a:latin typeface="微软雅黑" pitchFamily="34" charset="-122"/>
                <a:ea typeface="微软雅黑" pitchFamily="34" charset="-122"/>
              </a:rPr>
              <a:t>实现客户与服务器的通信。</a:t>
            </a:r>
            <a:endParaRPr lang="en-US" altLang="zh-CN" sz="1600" b="1" dirty="0">
              <a:latin typeface="微软雅黑" pitchFamily="34" charset="-122"/>
              <a:ea typeface="微软雅黑" pitchFamily="34" charset="-122"/>
            </a:endParaRPr>
          </a:p>
        </p:txBody>
      </p:sp>
      <p:sp>
        <p:nvSpPr>
          <p:cNvPr id="41"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协议</a:t>
            </a:r>
          </a:p>
        </p:txBody>
      </p:sp>
    </p:spTree>
    <p:extLst>
      <p:ext uri="{BB962C8B-B14F-4D97-AF65-F5344CB8AC3E}">
        <p14:creationId xmlns:p14="http://schemas.microsoft.com/office/powerpoint/2010/main" val="41299357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700732"/>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147709" y="1756017"/>
            <a:ext cx="566614"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客户</a:t>
            </a:r>
          </a:p>
        </p:txBody>
      </p:sp>
      <p:sp>
        <p:nvSpPr>
          <p:cNvPr id="20" name="Rectangle 401"/>
          <p:cNvSpPr>
            <a:spLocks noChangeArrowheads="1"/>
          </p:cNvSpPr>
          <p:nvPr/>
        </p:nvSpPr>
        <p:spPr bwMode="auto">
          <a:xfrm>
            <a:off x="2377527" y="1700732"/>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2433814" y="2369076"/>
            <a:ext cx="566614" cy="55654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2433814" y="1756017"/>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POP3</a:t>
            </a:r>
          </a:p>
          <a:p>
            <a:pPr algn="ctr" eaLnBrk="1" hangingPunct="1"/>
            <a:r>
              <a:rPr kumimoji="1" lang="zh-CN" altLang="en-US" sz="1100" b="1">
                <a:latin typeface="微软雅黑" pitchFamily="34" charset="-122"/>
                <a:ea typeface="微软雅黑" pitchFamily="34" charset="-122"/>
              </a:rPr>
              <a:t>服务器</a:t>
            </a:r>
          </a:p>
        </p:txBody>
      </p:sp>
      <p:sp>
        <p:nvSpPr>
          <p:cNvPr id="17" name="Text Box 393"/>
          <p:cNvSpPr txBox="1">
            <a:spLocks noChangeArrowheads="1"/>
          </p:cNvSpPr>
          <p:nvPr/>
        </p:nvSpPr>
        <p:spPr bwMode="auto">
          <a:xfrm>
            <a:off x="3455860" y="1416541"/>
            <a:ext cx="2339102"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lnSpc>
                <a:spcPts val="1500"/>
              </a:lnSpc>
            </a:pPr>
            <a:r>
              <a:rPr kumimoji="1" lang="zh-CN" altLang="en-US" sz="1400" b="1" dirty="0">
                <a:solidFill>
                  <a:srgbClr val="0000FF"/>
                </a:solidFill>
                <a:latin typeface="微软雅黑" pitchFamily="34" charset="-122"/>
                <a:ea typeface="微软雅黑" pitchFamily="34" charset="-122"/>
              </a:rPr>
              <a:t>你是谁？（用户名和口令）</a:t>
            </a:r>
          </a:p>
        </p:txBody>
      </p:sp>
      <p:sp>
        <p:nvSpPr>
          <p:cNvPr id="27" name="Text Box 390"/>
          <p:cNvSpPr txBox="1">
            <a:spLocks noChangeArrowheads="1"/>
          </p:cNvSpPr>
          <p:nvPr/>
        </p:nvSpPr>
        <p:spPr bwMode="auto">
          <a:xfrm>
            <a:off x="4419449" y="1793305"/>
            <a:ext cx="679994"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400" b="1" dirty="0">
                <a:solidFill>
                  <a:srgbClr val="C00000"/>
                </a:solidFill>
                <a:latin typeface="微软雅黑" pitchFamily="34" charset="-122"/>
                <a:ea typeface="微软雅黑" pitchFamily="34" charset="-122"/>
              </a:rPr>
              <a:t>POP3</a:t>
            </a:r>
          </a:p>
        </p:txBody>
      </p:sp>
      <p:sp>
        <p:nvSpPr>
          <p:cNvPr id="28" name="Text Box 400"/>
          <p:cNvSpPr txBox="1">
            <a:spLocks noChangeArrowheads="1"/>
          </p:cNvSpPr>
          <p:nvPr/>
        </p:nvSpPr>
        <p:spPr bwMode="auto">
          <a:xfrm>
            <a:off x="2263754" y="1220359"/>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063584" y="1220359"/>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0" name="Line 408"/>
          <p:cNvSpPr>
            <a:spLocks noChangeShapeType="1"/>
          </p:cNvSpPr>
          <p:nvPr/>
        </p:nvSpPr>
        <p:spPr bwMode="auto">
          <a:xfrm flipV="1">
            <a:off x="3000429" y="2034903"/>
            <a:ext cx="314728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8" name="矩形 37"/>
          <p:cNvSpPr/>
          <p:nvPr/>
        </p:nvSpPr>
        <p:spPr>
          <a:xfrm>
            <a:off x="2263754" y="3212226"/>
            <a:ext cx="5221263" cy="656590"/>
          </a:xfrm>
          <a:prstGeom prst="rect">
            <a:avLst/>
          </a:prstGeom>
        </p:spPr>
        <p:txBody>
          <a:bodyPr wrap="square" anchor="ctr">
            <a:spAutoFit/>
          </a:bodyPr>
          <a:lstStyle/>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a:latin typeface="微软雅黑" pitchFamily="34" charset="-122"/>
                <a:ea typeface="微软雅黑" pitchFamily="34" charset="-122"/>
              </a:rPr>
              <a:t>支持用户</a:t>
            </a:r>
            <a:r>
              <a:rPr lang="zh-CN" altLang="en-US" sz="1600" b="1" dirty="0">
                <a:solidFill>
                  <a:srgbClr val="C00000"/>
                </a:solidFill>
                <a:latin typeface="微软雅黑" pitchFamily="34" charset="-122"/>
                <a:ea typeface="微软雅黑" pitchFamily="34" charset="-122"/>
              </a:rPr>
              <a:t>鉴别</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marL="285750" indent="-285750">
              <a:lnSpc>
                <a:spcPts val="2200"/>
              </a:lnSpc>
              <a:buClr>
                <a:srgbClr val="0066FF"/>
              </a:buClr>
              <a:buFont typeface="Wingdings" pitchFamily="2" charset="2"/>
              <a:buChar char="l"/>
            </a:pPr>
            <a:r>
              <a:rPr lang="en-US" altLang="zh-CN" sz="1600" b="1" dirty="0">
                <a:latin typeface="微软雅黑" pitchFamily="34" charset="-122"/>
                <a:ea typeface="微软雅黑" pitchFamily="34" charset="-122"/>
              </a:rPr>
              <a:t>POP3 </a:t>
            </a:r>
            <a:r>
              <a:rPr lang="zh-CN" altLang="en-US" sz="1600" b="1" dirty="0">
                <a:latin typeface="微软雅黑" pitchFamily="34" charset="-122"/>
                <a:ea typeface="微软雅黑" pitchFamily="34" charset="-122"/>
              </a:rPr>
              <a:t>服务器</a:t>
            </a:r>
            <a:r>
              <a:rPr lang="zh-CN" altLang="en-US" sz="1600" b="1" dirty="0">
                <a:solidFill>
                  <a:srgbClr val="C00000"/>
                </a:solidFill>
                <a:latin typeface="微软雅黑" pitchFamily="34" charset="-122"/>
                <a:ea typeface="微软雅黑" pitchFamily="34" charset="-122"/>
              </a:rPr>
              <a:t>删除</a:t>
            </a:r>
            <a:r>
              <a:rPr lang="zh-CN" altLang="en-US" sz="1600" b="1" dirty="0">
                <a:latin typeface="微软雅黑" pitchFamily="34" charset="-122"/>
                <a:ea typeface="微软雅黑" pitchFamily="34" charset="-122"/>
              </a:rPr>
              <a:t>被用户读取了的邮件。</a:t>
            </a:r>
            <a:endParaRPr lang="en-US" altLang="zh-CN" sz="1600" b="1" dirty="0">
              <a:latin typeface="微软雅黑" pitchFamily="34" charset="-122"/>
              <a:ea typeface="微软雅黑"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协议</a:t>
            </a: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3" name="对象 2"/>
          <p:cNvGraphicFramePr>
            <a:graphicFrameLocks noChangeAspect="1"/>
          </p:cNvGraphicFramePr>
          <p:nvPr>
            <p:extLst>
              <p:ext uri="{D42A27DB-BD31-4B8C-83A1-F6EECF244321}">
                <p14:modId xmlns:p14="http://schemas.microsoft.com/office/powerpoint/2010/main" val="3371438583"/>
              </p:ext>
            </p:extLst>
          </p:nvPr>
        </p:nvGraphicFramePr>
        <p:xfrm>
          <a:off x="4006897" y="1721272"/>
          <a:ext cx="325507" cy="529316"/>
        </p:xfrm>
        <a:graphic>
          <a:graphicData uri="http://schemas.openxmlformats.org/presentationml/2006/ole">
            <mc:AlternateContent xmlns:mc="http://schemas.openxmlformats.org/markup-compatibility/2006">
              <mc:Choice xmlns:v="urn:schemas-microsoft-com:vml" Requires="v">
                <p:oleObj name="Visio" r:id="rId2" imgW="795436" imgH="1560250" progId="">
                  <p:embed/>
                </p:oleObj>
              </mc:Choice>
              <mc:Fallback>
                <p:oleObj name="Visio" r:id="rId2" imgW="795436" imgH="1560250" progId="">
                  <p:embed/>
                  <p:pic>
                    <p:nvPicPr>
                      <p:cNvPr id="0" name="Picture 7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06897" y="1721272"/>
                        <a:ext cx="325507" cy="52931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 name="Text Box 395"/>
          <p:cNvSpPr txBox="1">
            <a:spLocks noChangeArrowheads="1"/>
          </p:cNvSpPr>
          <p:nvPr/>
        </p:nvSpPr>
        <p:spPr bwMode="auto">
          <a:xfrm>
            <a:off x="4303388" y="2016512"/>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 </a:t>
            </a:r>
            <a:r>
              <a:rPr kumimoji="1" lang="zh-CN" altLang="en-US" sz="1100" b="1" dirty="0">
                <a:solidFill>
                  <a:srgbClr val="0000FF"/>
                </a:solidFill>
                <a:latin typeface="微软雅黑" pitchFamily="34" charset="-122"/>
                <a:ea typeface="微软雅黑" pitchFamily="34" charset="-122"/>
              </a:rPr>
              <a:t>连接</a:t>
            </a:r>
          </a:p>
        </p:txBody>
      </p:sp>
    </p:spTree>
    <p:extLst>
      <p:ext uri="{BB962C8B-B14F-4D97-AF65-F5344CB8AC3E}">
        <p14:creationId xmlns:p14="http://schemas.microsoft.com/office/powerpoint/2010/main" val="1191159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618677"/>
            <a:ext cx="680437" cy="1337917"/>
          </a:xfrm>
          <a:prstGeom prst="rect">
            <a:avLst/>
          </a:prstGeom>
          <a:solidFill>
            <a:srgbClr val="00FFCC"/>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398"/>
          <p:cNvSpPr>
            <a:spLocks noChangeArrowheads="1"/>
          </p:cNvSpPr>
          <p:nvPr/>
        </p:nvSpPr>
        <p:spPr bwMode="auto">
          <a:xfrm>
            <a:off x="6147709" y="1673962"/>
            <a:ext cx="566614" cy="556545"/>
          </a:xfrm>
          <a:prstGeom prst="ellipse">
            <a:avLst/>
          </a:prstGeom>
          <a:solidFill>
            <a:srgbClr val="FFFF00"/>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IMAP</a:t>
            </a:r>
          </a:p>
          <a:p>
            <a:pPr algn="ctr" eaLnBrk="1" hangingPunct="1"/>
            <a:r>
              <a:rPr kumimoji="1" lang="zh-CN" altLang="en-US" sz="1100" b="1" dirty="0">
                <a:latin typeface="微软雅黑" pitchFamily="34" charset="-122"/>
                <a:ea typeface="微软雅黑" pitchFamily="34" charset="-122"/>
              </a:rPr>
              <a:t>客户</a:t>
            </a:r>
          </a:p>
        </p:txBody>
      </p:sp>
      <p:sp>
        <p:nvSpPr>
          <p:cNvPr id="20" name="Rectangle 401"/>
          <p:cNvSpPr>
            <a:spLocks noChangeArrowheads="1"/>
          </p:cNvSpPr>
          <p:nvPr/>
        </p:nvSpPr>
        <p:spPr bwMode="auto">
          <a:xfrm>
            <a:off x="2377527" y="1618677"/>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21" name="Oval 402"/>
          <p:cNvSpPr>
            <a:spLocks noChangeArrowheads="1"/>
          </p:cNvSpPr>
          <p:nvPr/>
        </p:nvSpPr>
        <p:spPr bwMode="auto">
          <a:xfrm>
            <a:off x="2433814" y="2287021"/>
            <a:ext cx="566614" cy="556543"/>
          </a:xfrm>
          <a:prstGeom prst="ellipse">
            <a:avLst/>
          </a:prstGeom>
          <a:solidFill>
            <a:schemeClr val="bg1"/>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服务器</a:t>
            </a:r>
          </a:p>
        </p:txBody>
      </p:sp>
      <p:sp>
        <p:nvSpPr>
          <p:cNvPr id="22" name="Oval 403"/>
          <p:cNvSpPr>
            <a:spLocks noChangeArrowheads="1"/>
          </p:cNvSpPr>
          <p:nvPr/>
        </p:nvSpPr>
        <p:spPr bwMode="auto">
          <a:xfrm>
            <a:off x="2433814" y="1673962"/>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IMAP</a:t>
            </a:r>
          </a:p>
          <a:p>
            <a:pPr algn="ctr" eaLnBrk="1" hangingPunct="1"/>
            <a:r>
              <a:rPr kumimoji="1" lang="zh-CN" altLang="en-US" sz="1100" b="1" dirty="0">
                <a:latin typeface="微软雅黑" pitchFamily="34" charset="-122"/>
                <a:ea typeface="微软雅黑" pitchFamily="34" charset="-122"/>
              </a:rPr>
              <a:t>服务器</a:t>
            </a:r>
          </a:p>
        </p:txBody>
      </p:sp>
      <p:sp>
        <p:nvSpPr>
          <p:cNvPr id="27" name="Text Box 390"/>
          <p:cNvSpPr txBox="1">
            <a:spLocks noChangeArrowheads="1"/>
          </p:cNvSpPr>
          <p:nvPr/>
        </p:nvSpPr>
        <p:spPr bwMode="auto">
          <a:xfrm>
            <a:off x="4276941" y="1689324"/>
            <a:ext cx="683200"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400" b="1" dirty="0">
                <a:solidFill>
                  <a:srgbClr val="C00000"/>
                </a:solidFill>
                <a:latin typeface="微软雅黑" pitchFamily="34" charset="-122"/>
                <a:ea typeface="微软雅黑" pitchFamily="34" charset="-122"/>
              </a:rPr>
              <a:t>IMAP</a:t>
            </a:r>
          </a:p>
        </p:txBody>
      </p:sp>
      <p:sp>
        <p:nvSpPr>
          <p:cNvPr id="28" name="Text Box 400"/>
          <p:cNvSpPr txBox="1">
            <a:spLocks noChangeArrowheads="1"/>
          </p:cNvSpPr>
          <p:nvPr/>
        </p:nvSpPr>
        <p:spPr bwMode="auto">
          <a:xfrm>
            <a:off x="2263754" y="1138304"/>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邮件服务器</a:t>
            </a:r>
          </a:p>
        </p:txBody>
      </p:sp>
      <p:sp>
        <p:nvSpPr>
          <p:cNvPr id="29" name="Text Box 407"/>
          <p:cNvSpPr txBox="1">
            <a:spLocks noChangeArrowheads="1"/>
          </p:cNvSpPr>
          <p:nvPr/>
        </p:nvSpPr>
        <p:spPr bwMode="auto">
          <a:xfrm>
            <a:off x="6063584" y="1138304"/>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接收方</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用户代理</a:t>
            </a:r>
          </a:p>
        </p:txBody>
      </p:sp>
      <p:sp>
        <p:nvSpPr>
          <p:cNvPr id="30" name="Line 408"/>
          <p:cNvSpPr>
            <a:spLocks noChangeShapeType="1"/>
          </p:cNvSpPr>
          <p:nvPr/>
        </p:nvSpPr>
        <p:spPr bwMode="auto">
          <a:xfrm flipV="1">
            <a:off x="3000429" y="1952848"/>
            <a:ext cx="3147280"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38" name="矩形 37"/>
          <p:cNvSpPr/>
          <p:nvPr/>
        </p:nvSpPr>
        <p:spPr>
          <a:xfrm>
            <a:off x="2263754" y="3105232"/>
            <a:ext cx="5221263" cy="1015663"/>
          </a:xfrm>
          <a:prstGeom prst="rect">
            <a:avLst/>
          </a:prstGeom>
        </p:spPr>
        <p:txBody>
          <a:bodyPr wrap="square" anchor="ctr">
            <a:spAutoFit/>
          </a:bodyPr>
          <a:lstStyle/>
          <a:p>
            <a:pPr marL="285750" indent="-285750">
              <a:lnSpc>
                <a:spcPts val="2400"/>
              </a:lnSpc>
              <a:buClr>
                <a:srgbClr val="0066FF"/>
              </a:buClr>
              <a:buFont typeface="Wingdings" pitchFamily="2" charset="2"/>
              <a:buChar char="l"/>
            </a:pPr>
            <a:r>
              <a:rPr lang="en-US" altLang="zh-CN" sz="1600" b="1" dirty="0">
                <a:latin typeface="微软雅黑" pitchFamily="34" charset="-122"/>
                <a:ea typeface="微软雅黑" pitchFamily="34" charset="-122"/>
              </a:rPr>
              <a:t>IMAP </a:t>
            </a:r>
            <a:r>
              <a:rPr lang="zh-CN" altLang="en-US" sz="1600" b="1" dirty="0">
                <a:latin typeface="微软雅黑" pitchFamily="34" charset="-122"/>
                <a:ea typeface="微软雅黑" pitchFamily="34" charset="-122"/>
              </a:rPr>
              <a:t>使用</a:t>
            </a:r>
            <a:r>
              <a:rPr lang="zh-CN" altLang="en-US" sz="1600" b="1" dirty="0">
                <a:solidFill>
                  <a:srgbClr val="C00000"/>
                </a:solidFill>
                <a:latin typeface="微软雅黑" pitchFamily="34" charset="-122"/>
                <a:ea typeface="微软雅黑" pitchFamily="34" charset="-122"/>
              </a:rPr>
              <a:t>客户服务</a:t>
            </a:r>
            <a:r>
              <a:rPr lang="zh-CN" altLang="en-US" sz="1600" b="1" dirty="0">
                <a:latin typeface="微软雅黑" pitchFamily="34" charset="-122"/>
                <a:ea typeface="微软雅黑" pitchFamily="34" charset="-122"/>
              </a:rPr>
              <a:t>器方式。</a:t>
            </a:r>
            <a:endParaRPr lang="en-US" altLang="zh-CN" sz="1600" b="1" dirty="0">
              <a:latin typeface="微软雅黑" pitchFamily="34" charset="-122"/>
              <a:ea typeface="微软雅黑" pitchFamily="34" charset="-122"/>
            </a:endParaRPr>
          </a:p>
          <a:p>
            <a:pPr marL="285750" indent="-285750">
              <a:lnSpc>
                <a:spcPts val="2400"/>
              </a:lnSpc>
              <a:buClr>
                <a:srgbClr val="0066FF"/>
              </a:buClr>
              <a:buFont typeface="Wingdings" pitchFamily="2" charset="2"/>
              <a:buChar char="l"/>
            </a:pPr>
            <a:r>
              <a:rPr lang="en-US" altLang="zh-CN" sz="1600" b="1" dirty="0">
                <a:latin typeface="微软雅黑" pitchFamily="34" charset="-122"/>
                <a:ea typeface="微软雅黑" pitchFamily="34" charset="-122"/>
              </a:rPr>
              <a:t>IMAP </a:t>
            </a:r>
            <a:r>
              <a:rPr lang="zh-CN" altLang="en-US" sz="1600" b="1" dirty="0">
                <a:solidFill>
                  <a:srgbClr val="C00000"/>
                </a:solidFill>
                <a:latin typeface="微软雅黑" pitchFamily="34" charset="-122"/>
                <a:ea typeface="微软雅黑" pitchFamily="34" charset="-122"/>
              </a:rPr>
              <a:t>基于 </a:t>
            </a:r>
            <a:r>
              <a:rPr lang="en-US" altLang="zh-CN" sz="1600" b="1" dirty="0">
                <a:solidFill>
                  <a:srgbClr val="C00000"/>
                </a:solidFill>
                <a:latin typeface="微软雅黑" pitchFamily="34" charset="-122"/>
                <a:ea typeface="微软雅黑" pitchFamily="34" charset="-122"/>
              </a:rPr>
              <a:t>TCP </a:t>
            </a:r>
            <a:r>
              <a:rPr lang="zh-CN" altLang="en-US" sz="1600" b="1" dirty="0">
                <a:latin typeface="微软雅黑" pitchFamily="34" charset="-122"/>
                <a:ea typeface="微软雅黑" pitchFamily="34" charset="-122"/>
              </a:rPr>
              <a:t>实现客户与服务器的通信。</a:t>
            </a:r>
            <a:endParaRPr lang="en-US" altLang="zh-CN" sz="1600" b="1" dirty="0">
              <a:latin typeface="微软雅黑" pitchFamily="34" charset="-122"/>
              <a:ea typeface="微软雅黑" pitchFamily="34" charset="-122"/>
            </a:endParaRPr>
          </a:p>
          <a:p>
            <a:pPr marL="285750" indent="-285750">
              <a:lnSpc>
                <a:spcPts val="2400"/>
              </a:lnSpc>
              <a:buClr>
                <a:srgbClr val="0066FF"/>
              </a:buClr>
              <a:buFont typeface="Wingdings" pitchFamily="2" charset="2"/>
              <a:buChar char="l"/>
            </a:pPr>
            <a:r>
              <a:rPr lang="en-US" altLang="zh-CN" sz="1600" b="1" dirty="0">
                <a:latin typeface="微软雅黑" pitchFamily="34" charset="-122"/>
                <a:ea typeface="微软雅黑" pitchFamily="34" charset="-122"/>
              </a:rPr>
              <a:t>IMAP </a:t>
            </a:r>
            <a:r>
              <a:rPr lang="zh-CN" altLang="en-US" sz="1600" b="1" dirty="0">
                <a:latin typeface="微软雅黑" pitchFamily="34" charset="-122"/>
                <a:ea typeface="微软雅黑" pitchFamily="34" charset="-122"/>
              </a:rPr>
              <a:t>是一个</a:t>
            </a:r>
            <a:r>
              <a:rPr lang="zh-CN" altLang="en-US" sz="1600" b="1" dirty="0">
                <a:solidFill>
                  <a:srgbClr val="C00000"/>
                </a:solidFill>
                <a:latin typeface="微软雅黑" pitchFamily="34" charset="-122"/>
                <a:ea typeface="微软雅黑" pitchFamily="34" charset="-122"/>
              </a:rPr>
              <a:t>联机</a:t>
            </a:r>
            <a:r>
              <a:rPr lang="zh-CN" altLang="en-US" sz="1600" b="1" dirty="0">
                <a:latin typeface="微软雅黑" pitchFamily="34" charset="-122"/>
                <a:ea typeface="微软雅黑" pitchFamily="34" charset="-122"/>
              </a:rPr>
              <a:t>协议。</a:t>
            </a:r>
            <a:endParaRPr lang="en-US" altLang="zh-CN" sz="1600" b="1" dirty="0">
              <a:latin typeface="微软雅黑" pitchFamily="34" charset="-122"/>
              <a:ea typeface="微软雅黑"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5141" y="567770"/>
            <a:ext cx="14863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协议</a:t>
            </a: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sp>
        <p:nvSpPr>
          <p:cNvPr id="17" name="Text Box 395"/>
          <p:cNvSpPr txBox="1">
            <a:spLocks noChangeArrowheads="1"/>
          </p:cNvSpPr>
          <p:nvPr/>
        </p:nvSpPr>
        <p:spPr bwMode="auto">
          <a:xfrm>
            <a:off x="4170222" y="1936610"/>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 </a:t>
            </a:r>
            <a:r>
              <a:rPr kumimoji="1" lang="zh-CN" altLang="en-US" sz="1100" b="1" dirty="0">
                <a:solidFill>
                  <a:srgbClr val="0000FF"/>
                </a:solidFill>
                <a:latin typeface="微软雅黑" pitchFamily="34" charset="-122"/>
                <a:ea typeface="微软雅黑" pitchFamily="34" charset="-122"/>
              </a:rPr>
              <a:t>连接</a:t>
            </a:r>
          </a:p>
        </p:txBody>
      </p:sp>
    </p:spTree>
    <p:extLst>
      <p:ext uri="{BB962C8B-B14F-4D97-AF65-F5344CB8AC3E}">
        <p14:creationId xmlns:p14="http://schemas.microsoft.com/office/powerpoint/2010/main" val="160746122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09962" y="573636"/>
            <a:ext cx="17427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的特点</a:t>
            </a:r>
          </a:p>
        </p:txBody>
      </p:sp>
      <p:sp>
        <p:nvSpPr>
          <p:cNvPr id="4" name="Rectangle 68"/>
          <p:cNvSpPr>
            <a:spLocks noChangeArrowheads="1"/>
          </p:cNvSpPr>
          <p:nvPr/>
        </p:nvSpPr>
        <p:spPr bwMode="auto">
          <a:xfrm>
            <a:off x="556963" y="967937"/>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连接后只下载</a:t>
            </a:r>
            <a:r>
              <a:rPr lang="zh-CN" altLang="en-US" sz="2000" b="1" dirty="0">
                <a:solidFill>
                  <a:srgbClr val="C00000"/>
                </a:solidFill>
                <a:latin typeface="微软雅黑" pitchFamily="34" charset="-122"/>
                <a:ea typeface="微软雅黑" pitchFamily="34" charset="-122"/>
              </a:rPr>
              <a:t>邮件首部</a:t>
            </a:r>
            <a:r>
              <a:rPr lang="zh-CN" altLang="en-US" sz="2000" b="1" dirty="0">
                <a:latin typeface="微软雅黑" pitchFamily="34" charset="-122"/>
                <a:ea typeface="微软雅黑" pitchFamily="34" charset="-122"/>
              </a:rPr>
              <a:t>（部分下载）。</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用户直接在 </a:t>
            </a:r>
            <a:r>
              <a:rPr lang="en-US" altLang="zh-CN" sz="2000" b="1" dirty="0">
                <a:latin typeface="微软雅黑" pitchFamily="34" charset="-122"/>
                <a:ea typeface="微软雅黑" pitchFamily="34" charset="-122"/>
              </a:rPr>
              <a:t>IMAP </a:t>
            </a:r>
            <a:r>
              <a:rPr lang="zh-CN" altLang="en-US" sz="2000" b="1" dirty="0">
                <a:latin typeface="微软雅黑" pitchFamily="34" charset="-122"/>
                <a:ea typeface="微软雅黑" pitchFamily="34" charset="-122"/>
              </a:rPr>
              <a:t>服务器上</a:t>
            </a:r>
            <a:r>
              <a:rPr lang="zh-CN" altLang="en-US" sz="2000" b="1" dirty="0">
                <a:solidFill>
                  <a:srgbClr val="C00000"/>
                </a:solidFill>
                <a:latin typeface="微软雅黑" pitchFamily="34" charset="-122"/>
                <a:ea typeface="微软雅黑" pitchFamily="34" charset="-122"/>
              </a:rPr>
              <a:t>创建和管理</a:t>
            </a:r>
            <a:r>
              <a:rPr lang="zh-CN" altLang="en-US" sz="2000" b="1" dirty="0">
                <a:latin typeface="微软雅黑" pitchFamily="34" charset="-122"/>
                <a:ea typeface="微软雅黑" pitchFamily="34" charset="-122"/>
              </a:rPr>
              <a:t>文件夹。</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用户可以</a:t>
            </a:r>
            <a:r>
              <a:rPr lang="zh-CN" altLang="en-US" sz="2000" b="1" dirty="0">
                <a:solidFill>
                  <a:srgbClr val="C00000"/>
                </a:solidFill>
                <a:latin typeface="微软雅黑" pitchFamily="34" charset="-122"/>
                <a:ea typeface="微软雅黑" pitchFamily="34" charset="-122"/>
              </a:rPr>
              <a:t>搜索</a:t>
            </a:r>
            <a:r>
              <a:rPr lang="zh-CN" altLang="en-US" sz="2000" b="1" dirty="0">
                <a:latin typeface="微软雅黑" pitchFamily="34" charset="-122"/>
                <a:ea typeface="微软雅黑" pitchFamily="34" charset="-122"/>
              </a:rPr>
              <a:t>邮件内容。</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用户可以在不同的地方使用不同的计算机随时上网阅读和处理自己的邮件。</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允许收信人</a:t>
            </a:r>
            <a:r>
              <a:rPr lang="zh-CN" altLang="en-US" sz="2000" b="1" dirty="0">
                <a:solidFill>
                  <a:srgbClr val="C00000"/>
                </a:solidFill>
                <a:latin typeface="微软雅黑" pitchFamily="34" charset="-122"/>
                <a:ea typeface="微软雅黑" pitchFamily="34" charset="-122"/>
              </a:rPr>
              <a:t>只读取</a:t>
            </a:r>
            <a:r>
              <a:rPr lang="zh-CN" altLang="en-US" sz="2000" b="1" dirty="0">
                <a:latin typeface="微软雅黑" pitchFamily="34" charset="-122"/>
                <a:ea typeface="微软雅黑" pitchFamily="34" charset="-122"/>
              </a:rPr>
              <a:t>邮件中的某一个部分。</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CC00CC"/>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：要想查阅邮件，必须先联网。</a:t>
            </a:r>
          </a:p>
        </p:txBody>
      </p:sp>
    </p:spTree>
    <p:extLst>
      <p:ext uri="{BB962C8B-B14F-4D97-AF65-F5344CB8AC3E}">
        <p14:creationId xmlns:p14="http://schemas.microsoft.com/office/powerpoint/2010/main" val="30957560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4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0189"/>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与 </a:t>
            </a:r>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比较</a:t>
            </a:r>
          </a:p>
        </p:txBody>
      </p:sp>
      <p:graphicFrame>
        <p:nvGraphicFramePr>
          <p:cNvPr id="7" name="表格 6"/>
          <p:cNvGraphicFramePr>
            <a:graphicFrameLocks noGrp="1"/>
          </p:cNvGraphicFramePr>
          <p:nvPr>
            <p:extLst>
              <p:ext uri="{D42A27DB-BD31-4B8C-83A1-F6EECF244321}">
                <p14:modId xmlns:p14="http://schemas.microsoft.com/office/powerpoint/2010/main" val="699911378"/>
              </p:ext>
            </p:extLst>
          </p:nvPr>
        </p:nvGraphicFramePr>
        <p:xfrm>
          <a:off x="556963" y="1069695"/>
          <a:ext cx="8048775" cy="2548154"/>
        </p:xfrm>
        <a:graphic>
          <a:graphicData uri="http://schemas.openxmlformats.org/drawingml/2006/table">
            <a:tbl>
              <a:tblPr firstRow="1" bandRow="1">
                <a:tableStyleId>{5C22544A-7EE6-4342-B048-85BDC9FD1C3A}</a:tableStyleId>
              </a:tblPr>
              <a:tblGrid>
                <a:gridCol w="1354838">
                  <a:extLst>
                    <a:ext uri="{9D8B030D-6E8A-4147-A177-3AD203B41FA5}">
                      <a16:colId xmlns:a16="http://schemas.microsoft.com/office/drawing/2014/main" val="20000"/>
                    </a:ext>
                  </a:extLst>
                </a:gridCol>
                <a:gridCol w="3025325">
                  <a:extLst>
                    <a:ext uri="{9D8B030D-6E8A-4147-A177-3AD203B41FA5}">
                      <a16:colId xmlns:a16="http://schemas.microsoft.com/office/drawing/2014/main" val="20001"/>
                    </a:ext>
                  </a:extLst>
                </a:gridCol>
                <a:gridCol w="2279548">
                  <a:extLst>
                    <a:ext uri="{9D8B030D-6E8A-4147-A177-3AD203B41FA5}">
                      <a16:colId xmlns:a16="http://schemas.microsoft.com/office/drawing/2014/main" val="20002"/>
                    </a:ext>
                  </a:extLst>
                </a:gridCol>
                <a:gridCol w="1389064">
                  <a:extLst>
                    <a:ext uri="{9D8B030D-6E8A-4147-A177-3AD203B41FA5}">
                      <a16:colId xmlns:a16="http://schemas.microsoft.com/office/drawing/2014/main" val="20003"/>
                    </a:ext>
                  </a:extLst>
                </a:gridCol>
              </a:tblGrid>
              <a:tr h="364022">
                <a:tc>
                  <a:txBody>
                    <a:bodyPr/>
                    <a:lstStyle/>
                    <a:p>
                      <a:pPr algn="ctr"/>
                      <a:r>
                        <a:rPr lang="zh-CN" altLang="en-US" sz="1600" b="1" dirty="0">
                          <a:latin typeface="微软雅黑" pitchFamily="34" charset="-122"/>
                          <a:ea typeface="微软雅黑" pitchFamily="34" charset="-122"/>
                        </a:rPr>
                        <a:t>操作位置</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600" b="1" dirty="0">
                          <a:latin typeface="微软雅黑" pitchFamily="34" charset="-122"/>
                          <a:ea typeface="微软雅黑" pitchFamily="34" charset="-122"/>
                        </a:rPr>
                        <a:t>操作内容</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600" b="1" dirty="0">
                          <a:latin typeface="微软雅黑" pitchFamily="34" charset="-122"/>
                          <a:ea typeface="微软雅黑" pitchFamily="34" charset="-122"/>
                        </a:rPr>
                        <a:t>IMAP</a:t>
                      </a: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N" sz="1600" b="1" dirty="0">
                          <a:latin typeface="微软雅黑" pitchFamily="34" charset="-122"/>
                          <a:ea typeface="微软雅黑" pitchFamily="34" charset="-122"/>
                        </a:rPr>
                        <a:t>POP3</a:t>
                      </a:r>
                      <a:endParaRPr lang="zh-CN" altLang="en-US" sz="1600" b="1" dirty="0">
                        <a:latin typeface="微软雅黑" pitchFamily="34" charset="-122"/>
                        <a:ea typeface="微软雅黑" pitchFamily="34" charset="-122"/>
                      </a:endParaRPr>
                    </a:p>
                  </a:txBody>
                  <a:tcPr anchor="ctr">
                    <a:solidFill>
                      <a:schemeClr val="accent5">
                        <a:lumMod val="75000"/>
                      </a:schemeClr>
                    </a:solidFill>
                  </a:tcPr>
                </a:tc>
                <a:extLst>
                  <a:ext uri="{0D108BD9-81ED-4DB2-BD59-A6C34878D82A}">
                    <a16:rowId xmlns:a16="http://schemas.microsoft.com/office/drawing/2014/main" val="10000"/>
                  </a:ext>
                </a:extLst>
              </a:tr>
              <a:tr h="364022">
                <a:tc>
                  <a:txBody>
                    <a:bodyPr/>
                    <a:lstStyle/>
                    <a:p>
                      <a:pPr algn="l"/>
                      <a:r>
                        <a:rPr lang="zh-CN" altLang="en-US" sz="1400" b="1" dirty="0">
                          <a:latin typeface="微软雅黑" pitchFamily="34" charset="-122"/>
                          <a:ea typeface="微软雅黑" pitchFamily="34" charset="-122"/>
                        </a:rPr>
                        <a:t>收件箱 </a:t>
                      </a:r>
                    </a:p>
                  </a:txBody>
                  <a:tcPr anchor="ctr"/>
                </a:tc>
                <a:tc>
                  <a:txBody>
                    <a:bodyPr/>
                    <a:lstStyle/>
                    <a:p>
                      <a:pPr algn="l"/>
                      <a:r>
                        <a:rPr lang="zh-CN" altLang="en-US" sz="1400" b="1" dirty="0">
                          <a:latin typeface="微软雅黑" pitchFamily="34" charset="-122"/>
                          <a:ea typeface="微软雅黑" pitchFamily="34" charset="-122"/>
                        </a:rPr>
                        <a:t>阅读、标记、移动、删除邮件等 </a:t>
                      </a:r>
                    </a:p>
                  </a:txBody>
                  <a:tcPr anchor="ctr"/>
                </a:tc>
                <a:tc>
                  <a:txBody>
                    <a:bodyPr/>
                    <a:lstStyle/>
                    <a:p>
                      <a:pPr algn="l"/>
                      <a:r>
                        <a:rPr lang="zh-CN" altLang="en-US" sz="1400" b="1" dirty="0">
                          <a:latin typeface="微软雅黑" pitchFamily="34" charset="-122"/>
                          <a:ea typeface="微软雅黑" pitchFamily="34" charset="-122"/>
                        </a:rPr>
                        <a:t>客户端与邮箱更新同步 </a:t>
                      </a:r>
                    </a:p>
                  </a:txBody>
                  <a:tcPr anchor="ctr"/>
                </a:tc>
                <a:tc>
                  <a:txBody>
                    <a:bodyPr/>
                    <a:lstStyle/>
                    <a:p>
                      <a:pPr algn="l"/>
                      <a:r>
                        <a:rPr lang="zh-CN" altLang="en-US" sz="1400" b="1" dirty="0">
                          <a:latin typeface="微软雅黑" pitchFamily="34" charset="-122"/>
                          <a:ea typeface="微软雅黑" pitchFamily="34" charset="-122"/>
                        </a:rPr>
                        <a:t>仅在客户端内</a:t>
                      </a:r>
                    </a:p>
                  </a:txBody>
                  <a:tcPr anchor="ctr"/>
                </a:tc>
                <a:extLst>
                  <a:ext uri="{0D108BD9-81ED-4DB2-BD59-A6C34878D82A}">
                    <a16:rowId xmlns:a16="http://schemas.microsoft.com/office/drawing/2014/main" val="10001"/>
                  </a:ext>
                </a:extLst>
              </a:tr>
              <a:tr h="364022">
                <a:tc>
                  <a:txBody>
                    <a:bodyPr/>
                    <a:lstStyle/>
                    <a:p>
                      <a:pPr algn="l"/>
                      <a:r>
                        <a:rPr lang="zh-CN" altLang="en-US" sz="1400" b="1" dirty="0">
                          <a:latin typeface="微软雅黑" pitchFamily="34" charset="-122"/>
                          <a:ea typeface="微软雅黑" pitchFamily="34" charset="-122"/>
                        </a:rPr>
                        <a:t>发件箱</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保存到已发送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客户端与邮箱更新同步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仅在客户端内</a:t>
                      </a:r>
                    </a:p>
                  </a:txBody>
                  <a:tcPr anchor="ctr">
                    <a:solidFill>
                      <a:srgbClr val="00FFCC"/>
                    </a:solidFill>
                  </a:tcPr>
                </a:tc>
                <a:extLst>
                  <a:ext uri="{0D108BD9-81ED-4DB2-BD59-A6C34878D82A}">
                    <a16:rowId xmlns:a16="http://schemas.microsoft.com/office/drawing/2014/main" val="10002"/>
                  </a:ext>
                </a:extLst>
              </a:tr>
              <a:tr h="364022">
                <a:tc>
                  <a:txBody>
                    <a:bodyPr/>
                    <a:lstStyle/>
                    <a:p>
                      <a:pPr algn="l"/>
                      <a:r>
                        <a:rPr lang="zh-CN" altLang="en-US" sz="1400" b="1" dirty="0">
                          <a:latin typeface="微软雅黑" pitchFamily="34" charset="-122"/>
                          <a:ea typeface="微软雅黑" pitchFamily="34" charset="-122"/>
                        </a:rPr>
                        <a:t>创建文件夹 </a:t>
                      </a:r>
                    </a:p>
                  </a:txBody>
                  <a:tcPr anchor="ctr"/>
                </a:tc>
                <a:tc>
                  <a:txBody>
                    <a:bodyPr/>
                    <a:lstStyle/>
                    <a:p>
                      <a:pPr algn="l"/>
                      <a:r>
                        <a:rPr lang="zh-CN" altLang="en-US" sz="1400" b="1" dirty="0">
                          <a:latin typeface="微软雅黑" pitchFamily="34" charset="-122"/>
                          <a:ea typeface="微软雅黑" pitchFamily="34" charset="-122"/>
                        </a:rPr>
                        <a:t>新建自定义的文件夹 </a:t>
                      </a:r>
                    </a:p>
                  </a:txBody>
                  <a:tcPr anchor="ctr"/>
                </a:tc>
                <a:tc>
                  <a:txBody>
                    <a:bodyPr/>
                    <a:lstStyle/>
                    <a:p>
                      <a:pPr algn="l"/>
                      <a:r>
                        <a:rPr lang="zh-CN" altLang="en-US" sz="1400" b="1" dirty="0">
                          <a:latin typeface="微软雅黑" pitchFamily="34" charset="-122"/>
                          <a:ea typeface="微软雅黑" pitchFamily="34" charset="-122"/>
                        </a:rPr>
                        <a:t>客户端与邮箱更新同步 </a:t>
                      </a:r>
                    </a:p>
                  </a:txBody>
                  <a:tcPr anchor="ctr"/>
                </a:tc>
                <a:tc>
                  <a:txBody>
                    <a:bodyPr/>
                    <a:lstStyle/>
                    <a:p>
                      <a:pPr algn="l"/>
                      <a:r>
                        <a:rPr lang="zh-CN" altLang="en-US" sz="1400" b="1" dirty="0">
                          <a:latin typeface="微软雅黑" pitchFamily="34" charset="-122"/>
                          <a:ea typeface="微软雅黑" pitchFamily="34" charset="-122"/>
                        </a:rPr>
                        <a:t>仅在客户端内</a:t>
                      </a:r>
                    </a:p>
                  </a:txBody>
                  <a:tcPr anchor="ctr"/>
                </a:tc>
                <a:extLst>
                  <a:ext uri="{0D108BD9-81ED-4DB2-BD59-A6C34878D82A}">
                    <a16:rowId xmlns:a16="http://schemas.microsoft.com/office/drawing/2014/main" val="10003"/>
                  </a:ext>
                </a:extLst>
              </a:tr>
              <a:tr h="364022">
                <a:tc>
                  <a:txBody>
                    <a:bodyPr/>
                    <a:lstStyle/>
                    <a:p>
                      <a:pPr algn="l"/>
                      <a:r>
                        <a:rPr lang="zh-CN" altLang="en-US" sz="1400" b="1" dirty="0">
                          <a:latin typeface="微软雅黑" pitchFamily="34" charset="-122"/>
                          <a:ea typeface="微软雅黑" pitchFamily="34" charset="-122"/>
                        </a:rPr>
                        <a:t>草稿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保存草稿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客户端与邮箱更新同步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仅在客户端内</a:t>
                      </a:r>
                    </a:p>
                  </a:txBody>
                  <a:tcPr anchor="ctr">
                    <a:solidFill>
                      <a:srgbClr val="00FFCC"/>
                    </a:solidFill>
                  </a:tcPr>
                </a:tc>
                <a:extLst>
                  <a:ext uri="{0D108BD9-81ED-4DB2-BD59-A6C34878D82A}">
                    <a16:rowId xmlns:a16="http://schemas.microsoft.com/office/drawing/2014/main" val="10004"/>
                  </a:ext>
                </a:extLst>
              </a:tr>
              <a:tr h="364022">
                <a:tc>
                  <a:txBody>
                    <a:bodyPr/>
                    <a:lstStyle/>
                    <a:p>
                      <a:pPr algn="l"/>
                      <a:r>
                        <a:rPr lang="zh-CN" altLang="en-US" sz="1400" b="1" dirty="0">
                          <a:latin typeface="微软雅黑" pitchFamily="34" charset="-122"/>
                          <a:ea typeface="微软雅黑" pitchFamily="34" charset="-122"/>
                        </a:rPr>
                        <a:t>垃圾文件夹 </a:t>
                      </a:r>
                    </a:p>
                  </a:txBody>
                  <a:tcPr anchor="ctr"/>
                </a:tc>
                <a:tc>
                  <a:txBody>
                    <a:bodyPr/>
                    <a:lstStyle/>
                    <a:p>
                      <a:pPr algn="l"/>
                      <a:r>
                        <a:rPr lang="zh-CN" altLang="en-US" sz="1400" b="1" dirty="0">
                          <a:latin typeface="微软雅黑" pitchFamily="34" charset="-122"/>
                          <a:ea typeface="微软雅黑" pitchFamily="34" charset="-122"/>
                        </a:rPr>
                        <a:t>接收并移入垃圾文件夹的邮件 </a:t>
                      </a:r>
                    </a:p>
                  </a:txBody>
                  <a:tcPr anchor="ctr"/>
                </a:tc>
                <a:tc>
                  <a:txBody>
                    <a:bodyPr/>
                    <a:lstStyle/>
                    <a:p>
                      <a:pPr algn="l"/>
                      <a:r>
                        <a:rPr lang="zh-CN" altLang="en-US" sz="1400" b="1" dirty="0">
                          <a:latin typeface="微软雅黑" pitchFamily="34" charset="-122"/>
                          <a:ea typeface="微软雅黑" pitchFamily="34" charset="-122"/>
                        </a:rPr>
                        <a:t>支持 </a:t>
                      </a:r>
                    </a:p>
                  </a:txBody>
                  <a:tcPr anchor="ctr"/>
                </a:tc>
                <a:tc>
                  <a:txBody>
                    <a:bodyPr/>
                    <a:lstStyle/>
                    <a:p>
                      <a:pPr algn="l"/>
                      <a:r>
                        <a:rPr lang="zh-CN" altLang="en-US" sz="1400" b="1" dirty="0">
                          <a:latin typeface="微软雅黑" pitchFamily="34" charset="-122"/>
                          <a:ea typeface="微软雅黑" pitchFamily="34" charset="-122"/>
                        </a:rPr>
                        <a:t>不支持 </a:t>
                      </a:r>
                    </a:p>
                  </a:txBody>
                  <a:tcPr anchor="ctr"/>
                </a:tc>
                <a:extLst>
                  <a:ext uri="{0D108BD9-81ED-4DB2-BD59-A6C34878D82A}">
                    <a16:rowId xmlns:a16="http://schemas.microsoft.com/office/drawing/2014/main" val="10005"/>
                  </a:ext>
                </a:extLst>
              </a:tr>
              <a:tr h="364022">
                <a:tc>
                  <a:txBody>
                    <a:bodyPr/>
                    <a:lstStyle/>
                    <a:p>
                      <a:pPr algn="l"/>
                      <a:r>
                        <a:rPr lang="zh-CN" altLang="en-US" sz="1400" b="1" dirty="0">
                          <a:latin typeface="微软雅黑" pitchFamily="34" charset="-122"/>
                          <a:ea typeface="微软雅黑" pitchFamily="34" charset="-122"/>
                        </a:rPr>
                        <a:t>广告邮件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接收并移入广告邮件夹的邮</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支持 </a:t>
                      </a:r>
                    </a:p>
                  </a:txBody>
                  <a:tcPr anchor="ctr">
                    <a:solidFill>
                      <a:srgbClr val="00FFCC"/>
                    </a:solidFill>
                  </a:tcPr>
                </a:tc>
                <a:tc>
                  <a:txBody>
                    <a:bodyPr/>
                    <a:lstStyle/>
                    <a:p>
                      <a:pPr algn="l"/>
                      <a:r>
                        <a:rPr lang="zh-CN" altLang="en-US" sz="1400" b="1" dirty="0">
                          <a:latin typeface="微软雅黑" pitchFamily="34" charset="-122"/>
                          <a:ea typeface="微软雅黑" pitchFamily="34" charset="-122"/>
                        </a:rPr>
                        <a:t>不支持 </a:t>
                      </a:r>
                    </a:p>
                  </a:txBody>
                  <a:tcPr anchor="ctr">
                    <a:solidFill>
                      <a:srgbClr val="00FFCC"/>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8065012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5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1240"/>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IMAP </a:t>
            </a:r>
            <a:r>
              <a:rPr lang="zh-CN" altLang="en-US" sz="2000" b="1" dirty="0">
                <a:solidFill>
                  <a:schemeClr val="bg1"/>
                </a:solidFill>
                <a:latin typeface="微软雅黑" pitchFamily="34" charset="-122"/>
                <a:ea typeface="微软雅黑" pitchFamily="34" charset="-122"/>
              </a:rPr>
              <a:t>与 </a:t>
            </a:r>
            <a:r>
              <a:rPr lang="en-US" altLang="zh-CN" sz="2000" b="1" dirty="0">
                <a:solidFill>
                  <a:schemeClr val="bg1"/>
                </a:solidFill>
                <a:latin typeface="微软雅黑" pitchFamily="34" charset="-122"/>
                <a:ea typeface="微软雅黑" pitchFamily="34" charset="-122"/>
              </a:rPr>
              <a:t>POP3 </a:t>
            </a:r>
            <a:r>
              <a:rPr lang="zh-CN" altLang="en-US" sz="2000" b="1" dirty="0">
                <a:solidFill>
                  <a:schemeClr val="bg1"/>
                </a:solidFill>
                <a:latin typeface="微软雅黑" pitchFamily="34" charset="-122"/>
                <a:ea typeface="微软雅黑" pitchFamily="34" charset="-122"/>
              </a:rPr>
              <a:t>比较</a:t>
            </a:r>
          </a:p>
        </p:txBody>
      </p:sp>
      <p:sp>
        <p:nvSpPr>
          <p:cNvPr id="5" name="圆角矩形 4"/>
          <p:cNvSpPr/>
          <p:nvPr/>
        </p:nvSpPr>
        <p:spPr>
          <a:xfrm>
            <a:off x="556963" y="1053588"/>
            <a:ext cx="8048776" cy="31843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9"/>
          <p:cNvSpPr>
            <a:spLocks noChangeArrowheads="1"/>
          </p:cNvSpPr>
          <p:nvPr/>
        </p:nvSpPr>
        <p:spPr bwMode="auto">
          <a:xfrm>
            <a:off x="2464906" y="120858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邮件服务器</a:t>
            </a:r>
          </a:p>
        </p:txBody>
      </p:sp>
      <p:pic>
        <p:nvPicPr>
          <p:cNvPr id="37"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80620" y="1604648"/>
            <a:ext cx="407130" cy="40713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9"/>
          <p:cNvSpPr>
            <a:spLocks noChangeArrowheads="1"/>
          </p:cNvSpPr>
          <p:nvPr/>
        </p:nvSpPr>
        <p:spPr bwMode="auto">
          <a:xfrm>
            <a:off x="2464906" y="2657367"/>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邮件服务器</a:t>
            </a:r>
          </a:p>
        </p:txBody>
      </p:sp>
      <p:pic>
        <p:nvPicPr>
          <p:cNvPr id="52"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59314" y="254119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66444" y="3048804"/>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59314" y="3557816"/>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56" name="直接连接符 55"/>
          <p:cNvCxnSpPr>
            <a:stCxn id="11" idx="3"/>
          </p:cNvCxnSpPr>
          <p:nvPr/>
        </p:nvCxnSpPr>
        <p:spPr>
          <a:xfrm>
            <a:off x="2986409" y="1830103"/>
            <a:ext cx="1165177"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直接连接符 56"/>
          <p:cNvCxnSpPr>
            <a:endCxn id="37" idx="1"/>
          </p:cNvCxnSpPr>
          <p:nvPr/>
        </p:nvCxnSpPr>
        <p:spPr>
          <a:xfrm>
            <a:off x="4882375" y="1808213"/>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Group 50"/>
          <p:cNvGrpSpPr>
            <a:grpSpLocks noChangeAspect="1"/>
          </p:cNvGrpSpPr>
          <p:nvPr/>
        </p:nvGrpSpPr>
        <p:grpSpPr bwMode="auto">
          <a:xfrm>
            <a:off x="2590426" y="1436477"/>
            <a:ext cx="478479" cy="734218"/>
            <a:chOff x="3104" y="1028"/>
            <a:chExt cx="406" cy="623"/>
          </a:xfrm>
        </p:grpSpPr>
        <p:sp>
          <p:nvSpPr>
            <p:cNvPr id="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8"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36" name="Freeform 1208"/>
          <p:cNvSpPr>
            <a:spLocks/>
          </p:cNvSpPr>
          <p:nvPr/>
        </p:nvSpPr>
        <p:spPr bwMode="ltGray">
          <a:xfrm>
            <a:off x="3802790" y="1489510"/>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a:latin typeface="微软雅黑" pitchFamily="34" charset="-122"/>
                <a:ea typeface="微软雅黑" pitchFamily="34" charset="-122"/>
              </a:rPr>
              <a:t>互联网</a:t>
            </a:r>
          </a:p>
        </p:txBody>
      </p:sp>
      <p:cxnSp>
        <p:nvCxnSpPr>
          <p:cNvPr id="64" name="直接连接符 63"/>
          <p:cNvCxnSpPr>
            <a:stCxn id="42" idx="3"/>
          </p:cNvCxnSpPr>
          <p:nvPr/>
        </p:nvCxnSpPr>
        <p:spPr>
          <a:xfrm>
            <a:off x="2986409" y="3278886"/>
            <a:ext cx="1757041"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50"/>
          <p:cNvGrpSpPr>
            <a:grpSpLocks noChangeAspect="1"/>
          </p:cNvGrpSpPr>
          <p:nvPr/>
        </p:nvGrpSpPr>
        <p:grpSpPr bwMode="auto">
          <a:xfrm>
            <a:off x="2590426" y="2885260"/>
            <a:ext cx="478479" cy="734218"/>
            <a:chOff x="3104" y="1028"/>
            <a:chExt cx="406" cy="623"/>
          </a:xfrm>
        </p:grpSpPr>
        <p:sp>
          <p:nvSpPr>
            <p:cNvPr id="40"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1"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2"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3"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4"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5"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6"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7"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8"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9"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cxnSp>
        <p:nvCxnSpPr>
          <p:cNvPr id="67" name="直接连接符 66"/>
          <p:cNvCxnSpPr>
            <a:endCxn id="53" idx="1"/>
          </p:cNvCxnSpPr>
          <p:nvPr/>
        </p:nvCxnSpPr>
        <p:spPr>
          <a:xfrm>
            <a:off x="5568199" y="3252369"/>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0" name="直接连接符 69"/>
          <p:cNvCxnSpPr>
            <a:endCxn id="52" idx="1"/>
          </p:cNvCxnSpPr>
          <p:nvPr/>
        </p:nvCxnSpPr>
        <p:spPr>
          <a:xfrm flipV="1">
            <a:off x="5452585" y="2744755"/>
            <a:ext cx="1606729" cy="45399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2" name="直接连接符 71"/>
          <p:cNvCxnSpPr>
            <a:endCxn id="55" idx="1"/>
          </p:cNvCxnSpPr>
          <p:nvPr/>
        </p:nvCxnSpPr>
        <p:spPr>
          <a:xfrm>
            <a:off x="5452585" y="3293028"/>
            <a:ext cx="1606729" cy="4683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Freeform 1208"/>
          <p:cNvSpPr>
            <a:spLocks/>
          </p:cNvSpPr>
          <p:nvPr/>
        </p:nvSpPr>
        <p:spPr bwMode="ltGray">
          <a:xfrm>
            <a:off x="4488614" y="2938293"/>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a:latin typeface="微软雅黑" pitchFamily="34" charset="-122"/>
                <a:ea typeface="微软雅黑" pitchFamily="34" charset="-122"/>
              </a:rPr>
              <a:t>互联网</a:t>
            </a:r>
          </a:p>
        </p:txBody>
      </p:sp>
      <p:sp>
        <p:nvSpPr>
          <p:cNvPr id="75" name="Rectangle 9"/>
          <p:cNvSpPr>
            <a:spLocks noChangeArrowheads="1"/>
          </p:cNvSpPr>
          <p:nvPr/>
        </p:nvSpPr>
        <p:spPr bwMode="auto">
          <a:xfrm>
            <a:off x="5568200" y="1597211"/>
            <a:ext cx="8282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整个邮件</a:t>
            </a:r>
          </a:p>
        </p:txBody>
      </p:sp>
      <p:sp>
        <p:nvSpPr>
          <p:cNvPr id="76" name="Documents"/>
          <p:cNvSpPr>
            <a:spLocks noEditPoints="1" noChangeArrowheads="1"/>
          </p:cNvSpPr>
          <p:nvPr/>
        </p:nvSpPr>
        <p:spPr bwMode="auto">
          <a:xfrm>
            <a:off x="7315192" y="1378584"/>
            <a:ext cx="871546" cy="451373"/>
          </a:xfrm>
          <a:custGeom>
            <a:avLst/>
            <a:gdLst>
              <a:gd name="T0" fmla="*/ 0 w 21600"/>
              <a:gd name="T1" fmla="*/ 2800 h 21600"/>
              <a:gd name="T2" fmla="*/ 3468 w 21600"/>
              <a:gd name="T3" fmla="*/ 0 h 21600"/>
              <a:gd name="T4" fmla="*/ 21653 w 21600"/>
              <a:gd name="T5" fmla="*/ 18828 h 21600"/>
              <a:gd name="T6" fmla="*/ 19954 w 21600"/>
              <a:gd name="T7" fmla="*/ 20214 h 21600"/>
              <a:gd name="T8" fmla="*/ 18256 w 21600"/>
              <a:gd name="T9" fmla="*/ 21628 h 21600"/>
              <a:gd name="T10" fmla="*/ 19954 w 21600"/>
              <a:gd name="T11" fmla="*/ 1428 h 21600"/>
              <a:gd name="T12" fmla="*/ 18256 w 21600"/>
              <a:gd name="T13" fmla="*/ 2800 h 21600"/>
              <a:gd name="T14" fmla="*/ 1645 w 21600"/>
              <a:gd name="T15" fmla="*/ 1428 h 21600"/>
              <a:gd name="T16" fmla="*/ 21600 w 21600"/>
              <a:gd name="T17" fmla="*/ 0 h 21600"/>
              <a:gd name="T18" fmla="*/ 10800 w 21600"/>
              <a:gd name="T19" fmla="*/ 0 h 21600"/>
              <a:gd name="T20" fmla="*/ 0 w 21600"/>
              <a:gd name="T21" fmla="*/ 10800 h 21600"/>
              <a:gd name="T22" fmla="*/ 21600 w 21600"/>
              <a:gd name="T23" fmla="*/ 10800 h 21600"/>
              <a:gd name="T24" fmla="*/ 1645 w 21600"/>
              <a:gd name="T25" fmla="*/ 4171 h 21600"/>
              <a:gd name="T26" fmla="*/ 16522 w 21600"/>
              <a:gd name="T27" fmla="*/ 17314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00FFCC"/>
          </a:solid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77" name="Rectangle 9"/>
          <p:cNvSpPr>
            <a:spLocks noChangeArrowheads="1"/>
          </p:cNvSpPr>
          <p:nvPr/>
        </p:nvSpPr>
        <p:spPr bwMode="auto">
          <a:xfrm>
            <a:off x="7314047" y="1513192"/>
            <a:ext cx="77267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100" b="1" dirty="0">
                <a:solidFill>
                  <a:srgbClr val="25221E"/>
                </a:solidFill>
                <a:latin typeface="微软雅黑" pitchFamily="34" charset="-122"/>
                <a:ea typeface="微软雅黑" pitchFamily="34" charset="-122"/>
              </a:rPr>
              <a:t>所有邮件</a:t>
            </a:r>
          </a:p>
        </p:txBody>
      </p:sp>
      <p:sp>
        <p:nvSpPr>
          <p:cNvPr id="78" name="Rectangle 9"/>
          <p:cNvSpPr>
            <a:spLocks noChangeArrowheads="1"/>
          </p:cNvSpPr>
          <p:nvPr/>
        </p:nvSpPr>
        <p:spPr bwMode="auto">
          <a:xfrm rot="20578601">
            <a:off x="6004789" y="2694178"/>
            <a:ext cx="7694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a:solidFill>
                  <a:srgbClr val="25221E"/>
                </a:solidFill>
                <a:latin typeface="微软雅黑" pitchFamily="34" charset="-122"/>
                <a:ea typeface="微软雅黑" pitchFamily="34" charset="-122"/>
              </a:rPr>
              <a:t>邮件首部</a:t>
            </a:r>
          </a:p>
        </p:txBody>
      </p:sp>
      <p:grpSp>
        <p:nvGrpSpPr>
          <p:cNvPr id="88" name="组合 87"/>
          <p:cNvGrpSpPr/>
          <p:nvPr/>
        </p:nvGrpSpPr>
        <p:grpSpPr>
          <a:xfrm>
            <a:off x="3149855" y="3381313"/>
            <a:ext cx="715074" cy="395003"/>
            <a:chOff x="3420280" y="3918130"/>
            <a:chExt cx="512274" cy="390821"/>
          </a:xfrm>
          <a:solidFill>
            <a:srgbClr val="00FFCC"/>
          </a:solidFill>
        </p:grpSpPr>
        <p:sp>
          <p:nvSpPr>
            <p:cNvPr id="86"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87"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a:solidFill>
                    <a:srgbClr val="25221E"/>
                  </a:solidFill>
                  <a:latin typeface="微软雅黑" pitchFamily="34" charset="-122"/>
                  <a:ea typeface="微软雅黑" pitchFamily="34" charset="-122"/>
                </a:rPr>
                <a:t>工作</a:t>
              </a:r>
            </a:p>
          </p:txBody>
        </p:sp>
      </p:grpSp>
      <p:grpSp>
        <p:nvGrpSpPr>
          <p:cNvPr id="89" name="组合 88"/>
          <p:cNvGrpSpPr/>
          <p:nvPr/>
        </p:nvGrpSpPr>
        <p:grpSpPr>
          <a:xfrm>
            <a:off x="2905346" y="3619587"/>
            <a:ext cx="715074" cy="395003"/>
            <a:chOff x="3420280" y="3918130"/>
            <a:chExt cx="512274" cy="390821"/>
          </a:xfrm>
          <a:solidFill>
            <a:srgbClr val="00FFCC"/>
          </a:solidFill>
        </p:grpSpPr>
        <p:sp>
          <p:nvSpPr>
            <p:cNvPr id="90"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a:solidFill>
                    <a:srgbClr val="25221E"/>
                  </a:solidFill>
                  <a:latin typeface="微软雅黑" pitchFamily="34" charset="-122"/>
                  <a:ea typeface="微软雅黑" pitchFamily="34" charset="-122"/>
                </a:rPr>
                <a:t>好友</a:t>
              </a:r>
            </a:p>
          </p:txBody>
        </p:sp>
      </p:grpSp>
      <p:sp>
        <p:nvSpPr>
          <p:cNvPr id="92" name="Rectangle 9"/>
          <p:cNvSpPr>
            <a:spLocks noChangeArrowheads="1"/>
          </p:cNvSpPr>
          <p:nvPr/>
        </p:nvSpPr>
        <p:spPr bwMode="auto">
          <a:xfrm>
            <a:off x="949635" y="1572753"/>
            <a:ext cx="14343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a:solidFill>
                  <a:srgbClr val="0000FF"/>
                </a:solidFill>
                <a:latin typeface="微软雅黑" pitchFamily="34" charset="-122"/>
                <a:ea typeface="微软雅黑" pitchFamily="34" charset="-122"/>
              </a:rPr>
              <a:t>使用 </a:t>
            </a:r>
            <a:r>
              <a:rPr kumimoji="0" lang="en-US" altLang="zh-CN" sz="1600" b="1" dirty="0">
                <a:solidFill>
                  <a:srgbClr val="0000FF"/>
                </a:solidFill>
                <a:latin typeface="微软雅黑" pitchFamily="34" charset="-122"/>
                <a:ea typeface="微软雅黑" pitchFamily="34" charset="-122"/>
              </a:rPr>
              <a:t>POP3</a:t>
            </a:r>
          </a:p>
          <a:p>
            <a:pPr algn="ctr" eaLnBrk="1" hangingPunct="1">
              <a:lnSpc>
                <a:spcPts val="1800"/>
              </a:lnSpc>
            </a:pPr>
            <a:r>
              <a:rPr kumimoji="0" lang="zh-CN" altLang="en-US" sz="1600" b="1" dirty="0">
                <a:solidFill>
                  <a:srgbClr val="0000FF"/>
                </a:solidFill>
                <a:latin typeface="微软雅黑" pitchFamily="34" charset="-122"/>
                <a:ea typeface="微软雅黑" pitchFamily="34" charset="-122"/>
              </a:rPr>
              <a:t>读取邮件</a:t>
            </a:r>
          </a:p>
        </p:txBody>
      </p:sp>
      <p:sp>
        <p:nvSpPr>
          <p:cNvPr id="93" name="Rectangle 9"/>
          <p:cNvSpPr>
            <a:spLocks noChangeArrowheads="1"/>
          </p:cNvSpPr>
          <p:nvPr/>
        </p:nvSpPr>
        <p:spPr bwMode="auto">
          <a:xfrm>
            <a:off x="942975" y="3021536"/>
            <a:ext cx="1440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a:solidFill>
                  <a:srgbClr val="0000FF"/>
                </a:solidFill>
                <a:latin typeface="微软雅黑" pitchFamily="34" charset="-122"/>
                <a:ea typeface="微软雅黑" pitchFamily="34" charset="-122"/>
              </a:rPr>
              <a:t>使用 </a:t>
            </a:r>
            <a:r>
              <a:rPr kumimoji="0" lang="en-US" altLang="zh-CN" sz="1600" b="1" dirty="0">
                <a:solidFill>
                  <a:srgbClr val="0000FF"/>
                </a:solidFill>
                <a:latin typeface="微软雅黑" pitchFamily="34" charset="-122"/>
                <a:ea typeface="微软雅黑" pitchFamily="34" charset="-122"/>
              </a:rPr>
              <a:t>IMAP</a:t>
            </a:r>
          </a:p>
          <a:p>
            <a:pPr algn="ctr" eaLnBrk="1" hangingPunct="1">
              <a:lnSpc>
                <a:spcPts val="1800"/>
              </a:lnSpc>
            </a:pPr>
            <a:r>
              <a:rPr kumimoji="0" lang="zh-CN" altLang="en-US" sz="1600" b="1" dirty="0">
                <a:solidFill>
                  <a:srgbClr val="0000FF"/>
                </a:solidFill>
                <a:latin typeface="微软雅黑" pitchFamily="34" charset="-122"/>
                <a:ea typeface="微软雅黑" pitchFamily="34" charset="-122"/>
              </a:rPr>
              <a:t>读取邮件</a:t>
            </a:r>
          </a:p>
        </p:txBody>
      </p:sp>
    </p:spTree>
    <p:extLst>
      <p:ext uri="{BB962C8B-B14F-4D97-AF65-F5344CB8AC3E}">
        <p14:creationId xmlns:p14="http://schemas.microsoft.com/office/powerpoint/2010/main" val="1931544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2953462"/>
            <a:ext cx="8048776" cy="13522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441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1" y="571202"/>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必须注意</a:t>
            </a:r>
          </a:p>
        </p:txBody>
      </p:sp>
      <p:sp>
        <p:nvSpPr>
          <p:cNvPr id="4" name="Rectangle 68"/>
          <p:cNvSpPr>
            <a:spLocks noChangeArrowheads="1"/>
          </p:cNvSpPr>
          <p:nvPr/>
        </p:nvSpPr>
        <p:spPr bwMode="auto">
          <a:xfrm>
            <a:off x="556963" y="965503"/>
            <a:ext cx="8048776"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邮件读取协议 </a:t>
            </a:r>
            <a:r>
              <a:rPr lang="en-US" altLang="zh-CN" sz="2000" b="1" dirty="0">
                <a:latin typeface="微软雅黑" pitchFamily="34" charset="-122"/>
                <a:ea typeface="微软雅黑" pitchFamily="34" charset="-122"/>
              </a:rPr>
              <a:t>POP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IMAP </a:t>
            </a:r>
            <a:r>
              <a:rPr lang="zh-CN" altLang="en-US" sz="2000" b="1" dirty="0">
                <a:latin typeface="微软雅黑" pitchFamily="34" charset="-122"/>
                <a:ea typeface="微软雅黑" pitchFamily="34" charset="-122"/>
              </a:rPr>
              <a:t>与邮件传送协议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完全不同。</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发信人的用户代理向源邮件服务器发送邮件，以及源邮件服务器向目的邮件服务器发送邮件，都是使用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协议。</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而 </a:t>
            </a:r>
            <a:r>
              <a:rPr lang="en-US" altLang="zh-CN" sz="2000" b="1" dirty="0">
                <a:latin typeface="微软雅黑" pitchFamily="34" charset="-122"/>
                <a:ea typeface="微软雅黑" pitchFamily="34" charset="-122"/>
              </a:rPr>
              <a:t>POP </a:t>
            </a:r>
            <a:r>
              <a:rPr lang="zh-CN" altLang="en-US" sz="2000" b="1" dirty="0">
                <a:latin typeface="微软雅黑" pitchFamily="34" charset="-122"/>
                <a:ea typeface="微软雅黑" pitchFamily="34" charset="-122"/>
              </a:rPr>
              <a:t>协议或 </a:t>
            </a:r>
            <a:r>
              <a:rPr lang="en-US" altLang="zh-CN" sz="2000" b="1" dirty="0">
                <a:latin typeface="微软雅黑" pitchFamily="34" charset="-122"/>
                <a:ea typeface="微软雅黑" pitchFamily="34" charset="-122"/>
              </a:rPr>
              <a:t>IMAP </a:t>
            </a:r>
            <a:r>
              <a:rPr lang="zh-CN" altLang="en-US" sz="2000" b="1" dirty="0">
                <a:latin typeface="微软雅黑" pitchFamily="34" charset="-122"/>
                <a:ea typeface="微软雅黑" pitchFamily="34" charset="-122"/>
              </a:rPr>
              <a:t>协议则是用户从目的邮件服务器上读取邮件所使用的协议。 </a:t>
            </a:r>
          </a:p>
        </p:txBody>
      </p:sp>
      <p:cxnSp>
        <p:nvCxnSpPr>
          <p:cNvPr id="20" name="直接连接符 19"/>
          <p:cNvCxnSpPr/>
          <p:nvPr/>
        </p:nvCxnSpPr>
        <p:spPr>
          <a:xfrm>
            <a:off x="1224019" y="3416863"/>
            <a:ext cx="6697519" cy="0"/>
          </a:xfrm>
          <a:prstGeom prst="line">
            <a:avLst/>
          </a:prstGeom>
          <a:ln w="28575">
            <a:solidFill>
              <a:srgbClr val="CC00CC"/>
            </a:solidFill>
            <a:prstDash val="solid"/>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1251674" y="3027323"/>
            <a:ext cx="4953053" cy="310715"/>
            <a:chOff x="1251674" y="3027323"/>
            <a:chExt cx="4953053" cy="310715"/>
          </a:xfrm>
        </p:grpSpPr>
        <p:cxnSp>
          <p:nvCxnSpPr>
            <p:cNvPr id="24" name="直接连接符 23"/>
            <p:cNvCxnSpPr/>
            <p:nvPr/>
          </p:nvCxnSpPr>
          <p:spPr>
            <a:xfrm>
              <a:off x="1251674"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914993"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6204727"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251674" y="3027323"/>
              <a:ext cx="1663319" cy="270202"/>
              <a:chOff x="1251674" y="3027323"/>
              <a:chExt cx="1663319" cy="270202"/>
            </a:xfrm>
          </p:grpSpPr>
          <p:cxnSp>
            <p:nvCxnSpPr>
              <p:cNvPr id="28" name="直接连接符 27"/>
              <p:cNvCxnSpPr/>
              <p:nvPr/>
            </p:nvCxnSpPr>
            <p:spPr>
              <a:xfrm>
                <a:off x="1251674" y="3264468"/>
                <a:ext cx="1663319"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 Box 390"/>
              <p:cNvSpPr txBox="1">
                <a:spLocks noChangeArrowheads="1"/>
              </p:cNvSpPr>
              <p:nvPr/>
            </p:nvSpPr>
            <p:spPr bwMode="auto">
              <a:xfrm>
                <a:off x="1672136"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grpSp>
        <p:grpSp>
          <p:nvGrpSpPr>
            <p:cNvPr id="14" name="组合 13"/>
            <p:cNvGrpSpPr/>
            <p:nvPr/>
          </p:nvGrpSpPr>
          <p:grpSpPr>
            <a:xfrm>
              <a:off x="2914993" y="3027323"/>
              <a:ext cx="3289734" cy="270202"/>
              <a:chOff x="2914993" y="3027323"/>
              <a:chExt cx="3289734" cy="270202"/>
            </a:xfrm>
          </p:grpSpPr>
          <p:cxnSp>
            <p:nvCxnSpPr>
              <p:cNvPr id="30" name="直接连接符 29"/>
              <p:cNvCxnSpPr/>
              <p:nvPr/>
            </p:nvCxnSpPr>
            <p:spPr>
              <a:xfrm>
                <a:off x="2914993" y="3264468"/>
                <a:ext cx="3289734"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 Box 390"/>
              <p:cNvSpPr txBox="1">
                <a:spLocks noChangeArrowheads="1"/>
              </p:cNvSpPr>
              <p:nvPr/>
            </p:nvSpPr>
            <p:spPr bwMode="auto">
              <a:xfrm>
                <a:off x="4262342"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SMTP</a:t>
                </a:r>
              </a:p>
            </p:txBody>
          </p:sp>
        </p:grpSp>
      </p:grpSp>
      <p:grpSp>
        <p:nvGrpSpPr>
          <p:cNvPr id="19" name="组合 18"/>
          <p:cNvGrpSpPr/>
          <p:nvPr/>
        </p:nvGrpSpPr>
        <p:grpSpPr>
          <a:xfrm>
            <a:off x="6204727" y="3027323"/>
            <a:ext cx="1685268" cy="310715"/>
            <a:chOff x="6204727" y="3027323"/>
            <a:chExt cx="1685268" cy="310715"/>
          </a:xfrm>
        </p:grpSpPr>
        <p:cxnSp>
          <p:nvCxnSpPr>
            <p:cNvPr id="27" name="直接连接符 26"/>
            <p:cNvCxnSpPr/>
            <p:nvPr/>
          </p:nvCxnSpPr>
          <p:spPr>
            <a:xfrm>
              <a:off x="7889995"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组合 17"/>
            <p:cNvGrpSpPr/>
            <p:nvPr/>
          </p:nvGrpSpPr>
          <p:grpSpPr>
            <a:xfrm>
              <a:off x="6204727" y="3027323"/>
              <a:ext cx="1663319" cy="270202"/>
              <a:chOff x="6204727" y="3027323"/>
              <a:chExt cx="1663319" cy="270202"/>
            </a:xfrm>
          </p:grpSpPr>
          <p:cxnSp>
            <p:nvCxnSpPr>
              <p:cNvPr id="32" name="直接连接符 31"/>
              <p:cNvCxnSpPr/>
              <p:nvPr/>
            </p:nvCxnSpPr>
            <p:spPr>
              <a:xfrm>
                <a:off x="6204727" y="3264468"/>
                <a:ext cx="1663319" cy="0"/>
              </a:xfrm>
              <a:prstGeom prst="line">
                <a:avLst/>
              </a:prstGeom>
              <a:ln w="12700">
                <a:solidFill>
                  <a:srgbClr val="0000FF"/>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 Box 390"/>
              <p:cNvSpPr txBox="1">
                <a:spLocks noChangeArrowheads="1"/>
              </p:cNvSpPr>
              <p:nvPr/>
            </p:nvSpPr>
            <p:spPr bwMode="auto">
              <a:xfrm>
                <a:off x="6395761" y="3027323"/>
                <a:ext cx="12298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POP3  </a:t>
                </a:r>
                <a:r>
                  <a:rPr kumimoji="1" lang="zh-CN" altLang="en-US" sz="1100" b="1" dirty="0">
                    <a:solidFill>
                      <a:srgbClr val="0000FF"/>
                    </a:solidFill>
                    <a:latin typeface="微软雅黑" pitchFamily="34" charset="-122"/>
                    <a:ea typeface="微软雅黑" pitchFamily="34" charset="-122"/>
                  </a:rPr>
                  <a:t>或 </a:t>
                </a:r>
                <a:r>
                  <a:rPr kumimoji="1" lang="en-US" altLang="zh-CN" sz="1100" b="1" dirty="0">
                    <a:solidFill>
                      <a:srgbClr val="0000FF"/>
                    </a:solidFill>
                    <a:latin typeface="微软雅黑" pitchFamily="34" charset="-122"/>
                    <a:ea typeface="微软雅黑" pitchFamily="34" charset="-122"/>
                  </a:rPr>
                  <a:t>IMAP</a:t>
                </a:r>
              </a:p>
            </p:txBody>
          </p:sp>
        </p:grpSp>
      </p:grpSp>
      <p:grpSp>
        <p:nvGrpSpPr>
          <p:cNvPr id="15" name="组合 14"/>
          <p:cNvGrpSpPr/>
          <p:nvPr/>
        </p:nvGrpSpPr>
        <p:grpSpPr>
          <a:xfrm>
            <a:off x="967090" y="3464161"/>
            <a:ext cx="7202234" cy="776214"/>
            <a:chOff x="967090" y="3464161"/>
            <a:chExt cx="7202234" cy="776214"/>
          </a:xfrm>
        </p:grpSpPr>
        <p:sp>
          <p:nvSpPr>
            <p:cNvPr id="5" name="矩形 4"/>
            <p:cNvSpPr/>
            <p:nvPr/>
          </p:nvSpPr>
          <p:spPr>
            <a:xfrm>
              <a:off x="2484069"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a:solidFill>
                    <a:schemeClr val="bg1"/>
                  </a:solidFill>
                  <a:latin typeface="微软雅黑" pitchFamily="34" charset="-122"/>
                  <a:ea typeface="微软雅黑" pitchFamily="34" charset="-122"/>
                </a:rPr>
                <a:t>邮件</a:t>
              </a:r>
              <a:endParaRPr lang="en-US" altLang="zh-CN" sz="1200" b="1" dirty="0">
                <a:solidFill>
                  <a:schemeClr val="bg1"/>
                </a:solidFill>
                <a:latin typeface="微软雅黑" pitchFamily="34" charset="-122"/>
                <a:ea typeface="微软雅黑" pitchFamily="34" charset="-122"/>
              </a:endParaRPr>
            </a:p>
            <a:p>
              <a:pPr algn="ctr"/>
              <a:r>
                <a:rPr lang="zh-CN" altLang="en-US" sz="1200" b="1" dirty="0">
                  <a:solidFill>
                    <a:schemeClr val="bg1"/>
                  </a:solidFill>
                  <a:latin typeface="微软雅黑" pitchFamily="34" charset="-122"/>
                  <a:ea typeface="微软雅黑" pitchFamily="34" charset="-122"/>
                </a:rPr>
                <a:t>服务器</a:t>
              </a:r>
            </a:p>
          </p:txBody>
        </p:sp>
        <p:sp>
          <p:nvSpPr>
            <p:cNvPr id="6" name="矩形 5"/>
            <p:cNvSpPr/>
            <p:nvPr/>
          </p:nvSpPr>
          <p:spPr>
            <a:xfrm>
              <a:off x="5773811"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a:solidFill>
                    <a:schemeClr val="bg1"/>
                  </a:solidFill>
                  <a:latin typeface="微软雅黑" pitchFamily="34" charset="-122"/>
                  <a:ea typeface="微软雅黑" pitchFamily="34" charset="-122"/>
                </a:rPr>
                <a:t>邮件</a:t>
              </a:r>
              <a:endParaRPr lang="en-US" altLang="zh-CN" sz="1200" b="1" dirty="0">
                <a:solidFill>
                  <a:schemeClr val="bg1"/>
                </a:solidFill>
                <a:latin typeface="微软雅黑" pitchFamily="34" charset="-122"/>
                <a:ea typeface="微软雅黑" pitchFamily="34" charset="-122"/>
              </a:endParaRPr>
            </a:p>
            <a:p>
              <a:pPr algn="ctr"/>
              <a:r>
                <a:rPr lang="zh-CN" altLang="en-US" sz="1200" b="1" dirty="0">
                  <a:solidFill>
                    <a:schemeClr val="bg1"/>
                  </a:solidFill>
                  <a:latin typeface="微软雅黑" pitchFamily="34" charset="-122"/>
                  <a:ea typeface="微软雅黑" pitchFamily="34" charset="-122"/>
                </a:rPr>
                <a:t>服务器</a:t>
              </a:r>
            </a:p>
          </p:txBody>
        </p:sp>
        <p:pic>
          <p:nvPicPr>
            <p:cNvPr id="8"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07463" y="353912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39"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8109" y="3539120"/>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p:cNvCxnSpPr>
              <a:stCxn id="5" idx="3"/>
              <a:endCxn id="6" idx="1"/>
            </p:cNvCxnSpPr>
            <p:nvPr/>
          </p:nvCxnSpPr>
          <p:spPr>
            <a:xfrm>
              <a:off x="3345917" y="3742685"/>
              <a:ext cx="2427894"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 name="Freeform 1208"/>
            <p:cNvSpPr>
              <a:spLocks/>
            </p:cNvSpPr>
            <p:nvPr/>
          </p:nvSpPr>
          <p:spPr bwMode="ltGray">
            <a:xfrm>
              <a:off x="3768255" y="3464161"/>
              <a:ext cx="1600702"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400" b="1" dirty="0">
                  <a:latin typeface="微软雅黑" pitchFamily="34" charset="-122"/>
                  <a:ea typeface="微软雅黑" pitchFamily="34" charset="-122"/>
                </a:rPr>
                <a:t>互联网</a:t>
              </a:r>
            </a:p>
          </p:txBody>
        </p:sp>
        <p:cxnSp>
          <p:nvCxnSpPr>
            <p:cNvPr id="13" name="直接连接符 12"/>
            <p:cNvCxnSpPr>
              <a:stCxn id="9" idx="3"/>
              <a:endCxn id="5" idx="1"/>
            </p:cNvCxnSpPr>
            <p:nvPr/>
          </p:nvCxnSpPr>
          <p:spPr>
            <a:xfrm>
              <a:off x="1455239" y="3742685"/>
              <a:ext cx="102883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a:stCxn id="6" idx="3"/>
              <a:endCxn id="8" idx="1"/>
            </p:cNvCxnSpPr>
            <p:nvPr/>
          </p:nvCxnSpPr>
          <p:spPr>
            <a:xfrm>
              <a:off x="6635659" y="3742685"/>
              <a:ext cx="1071804"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7" name="Text Box 390"/>
            <p:cNvSpPr txBox="1">
              <a:spLocks noChangeArrowheads="1"/>
            </p:cNvSpPr>
            <p:nvPr/>
          </p:nvSpPr>
          <p:spPr bwMode="auto">
            <a:xfrm>
              <a:off x="1429810"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LAN / WAN</a:t>
              </a:r>
            </a:p>
          </p:txBody>
        </p:sp>
        <p:sp>
          <p:nvSpPr>
            <p:cNvPr id="38" name="Text Box 390"/>
            <p:cNvSpPr txBox="1">
              <a:spLocks noChangeArrowheads="1"/>
            </p:cNvSpPr>
            <p:nvPr/>
          </p:nvSpPr>
          <p:spPr bwMode="auto">
            <a:xfrm>
              <a:off x="6663249"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LAN / WAN</a:t>
              </a:r>
            </a:p>
          </p:txBody>
        </p:sp>
        <p:sp>
          <p:nvSpPr>
            <p:cNvPr id="10" name="矩形 9"/>
            <p:cNvSpPr/>
            <p:nvPr/>
          </p:nvSpPr>
          <p:spPr>
            <a:xfrm>
              <a:off x="967090" y="3932598"/>
              <a:ext cx="543739" cy="307777"/>
            </a:xfrm>
            <a:prstGeom prst="rect">
              <a:avLst/>
            </a:prstGeom>
          </p:spPr>
          <p:txBody>
            <a:bodyPr wrap="none">
              <a:spAutoFit/>
            </a:bodyPr>
            <a:lstStyle/>
            <a:p>
              <a:r>
                <a:rPr lang="zh-CN" altLang="en-US" sz="1400" b="1" dirty="0">
                  <a:latin typeface="微软雅黑" pitchFamily="34" charset="-122"/>
                  <a:ea typeface="微软雅黑" pitchFamily="34" charset="-122"/>
                </a:rPr>
                <a:t>发信</a:t>
              </a:r>
              <a:endParaRPr lang="zh-CN" altLang="en-US" sz="1400" dirty="0"/>
            </a:p>
          </p:txBody>
        </p:sp>
        <p:sp>
          <p:nvSpPr>
            <p:cNvPr id="31" name="矩形 30"/>
            <p:cNvSpPr/>
            <p:nvPr/>
          </p:nvSpPr>
          <p:spPr>
            <a:xfrm>
              <a:off x="7625585" y="3932598"/>
              <a:ext cx="543739" cy="307777"/>
            </a:xfrm>
            <a:prstGeom prst="rect">
              <a:avLst/>
            </a:prstGeom>
          </p:spPr>
          <p:txBody>
            <a:bodyPr wrap="none">
              <a:spAutoFit/>
            </a:bodyPr>
            <a:lstStyle/>
            <a:p>
              <a:r>
                <a:rPr lang="zh-CN" altLang="en-US" sz="1400" b="1" dirty="0">
                  <a:latin typeface="微软雅黑" pitchFamily="34" charset="-122"/>
                  <a:ea typeface="微软雅黑" pitchFamily="34" charset="-122"/>
                </a:rPr>
                <a:t>读取</a:t>
              </a:r>
              <a:endParaRPr lang="zh-CN" altLang="en-US" sz="1400" dirty="0"/>
            </a:p>
          </p:txBody>
        </p:sp>
      </p:grpSp>
    </p:spTree>
    <p:extLst>
      <p:ext uri="{BB962C8B-B14F-4D97-AF65-F5344CB8AC3E}">
        <p14:creationId xmlns:p14="http://schemas.microsoft.com/office/powerpoint/2010/main" val="38677598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07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477519" y="557799"/>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6.5.5  </a:t>
            </a:r>
            <a:r>
              <a:rPr lang="zh-CN" altLang="en-US" sz="2400" b="1" dirty="0">
                <a:solidFill>
                  <a:schemeClr val="bg1"/>
                </a:solidFill>
                <a:latin typeface="微软雅黑" pitchFamily="34" charset="-122"/>
                <a:ea typeface="微软雅黑" pitchFamily="34" charset="-122"/>
              </a:rPr>
              <a:t>基于万维网的电子邮件</a:t>
            </a:r>
          </a:p>
        </p:txBody>
      </p:sp>
      <p:sp>
        <p:nvSpPr>
          <p:cNvPr id="25" name="Rectangle 68"/>
          <p:cNvSpPr>
            <a:spLocks noChangeArrowheads="1"/>
          </p:cNvSpPr>
          <p:nvPr/>
        </p:nvSpPr>
        <p:spPr bwMode="auto">
          <a:xfrm>
            <a:off x="556963" y="981006"/>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a:latin typeface="微软雅黑" pitchFamily="34" charset="-122"/>
                <a:ea typeface="微软雅黑" pitchFamily="34" charset="-122"/>
              </a:rPr>
              <a:t>用户代理 </a:t>
            </a:r>
            <a:r>
              <a:rPr lang="en-US" altLang="zh-CN" sz="2000" b="1" dirty="0">
                <a:latin typeface="微软雅黑" pitchFamily="34" charset="-122"/>
                <a:ea typeface="微软雅黑" pitchFamily="34" charset="-122"/>
              </a:rPr>
              <a:t>(UA) </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必须在计算机中安装用户代理软件。</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收发邮件不方便。</a:t>
            </a:r>
            <a:endParaRPr lang="en-US" altLang="zh-CN" sz="2000" b="1" dirty="0">
              <a:latin typeface="微软雅黑" pitchFamily="34" charset="-122"/>
              <a:ea typeface="微软雅黑" pitchFamily="34" charset="-122"/>
            </a:endParaRPr>
          </a:p>
          <a:p>
            <a:pPr eaLnBrk="0" hangingPunct="0">
              <a:lnSpc>
                <a:spcPts val="3300"/>
              </a:lnSpc>
              <a:buClr>
                <a:srgbClr val="0070C0"/>
              </a:buClr>
            </a:pPr>
            <a:r>
              <a:rPr lang="zh-CN" altLang="en-US" sz="2000" b="1" dirty="0">
                <a:latin typeface="微软雅黑" pitchFamily="34" charset="-122"/>
                <a:ea typeface="微软雅黑" pitchFamily="34" charset="-122"/>
              </a:rPr>
              <a:t>万维网电子邮件</a:t>
            </a:r>
            <a:r>
              <a:rPr lang="zh-CN" altLang="en-US" sz="2000" b="1" dirty="0">
                <a:solidFill>
                  <a:srgbClr val="C00000"/>
                </a:solidFill>
                <a:latin typeface="微软雅黑" pitchFamily="34" charset="-122"/>
                <a:ea typeface="微软雅黑" pitchFamily="34" charset="-122"/>
              </a:rPr>
              <a:t>优点：</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不需要在计算机中再安装用户代理软件。</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计算机能联网，就能非常方便地收发电子邮件。</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界面非常友好。</a:t>
            </a:r>
          </a:p>
          <a:p>
            <a:pPr marL="285750" indent="-285750" eaLnBrk="0" hangingPunct="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27106614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万维网电子邮件</a:t>
            </a: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HTTP</a:t>
            </a:r>
          </a:p>
          <a:p>
            <a:pPr algn="ctr" eaLnBrk="1" hangingPunct="1"/>
            <a:r>
              <a:rPr kumimoji="1" lang="zh-CN" altLang="en-US" sz="1100" b="1" dirty="0">
                <a:latin typeface="微软雅黑" pitchFamily="34" charset="-122"/>
                <a:ea typeface="微软雅黑" pitchFamily="34" charset="-122"/>
              </a:rPr>
              <a:t>服务器</a:t>
            </a: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ext uri="{D42A27DB-BD31-4B8C-83A1-F6EECF244321}">
                <p14:modId xmlns:p14="http://schemas.microsoft.com/office/powerpoint/2010/main" val="2043639842"/>
              </p:ext>
            </p:extLst>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150"/>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762658" y="187162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服务器</a:t>
            </a: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HTTP</a:t>
            </a:r>
          </a:p>
          <a:p>
            <a:pPr algn="ctr" eaLnBrk="1" hangingPunct="1"/>
            <a:r>
              <a:rPr kumimoji="1" lang="zh-CN" altLang="en-US" sz="1100" b="1" dirty="0">
                <a:latin typeface="微软雅黑" pitchFamily="34" charset="-122"/>
                <a:ea typeface="微软雅黑" pitchFamily="34" charset="-122"/>
              </a:rPr>
              <a:t>服务器</a:t>
            </a:r>
          </a:p>
        </p:txBody>
      </p:sp>
      <p:grpSp>
        <p:nvGrpSpPr>
          <p:cNvPr id="21" name="组合 20"/>
          <p:cNvGrpSpPr/>
          <p:nvPr/>
        </p:nvGrpSpPr>
        <p:grpSpPr>
          <a:xfrm>
            <a:off x="2252299" y="1382964"/>
            <a:ext cx="569388" cy="1183063"/>
            <a:chOff x="2252299" y="1525813"/>
            <a:chExt cx="569388" cy="1183063"/>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23" name="Text Box 394"/>
            <p:cNvSpPr txBox="1">
              <a:spLocks noChangeArrowheads="1"/>
            </p:cNvSpPr>
            <p:nvPr/>
          </p:nvSpPr>
          <p:spPr bwMode="auto">
            <a:xfrm>
              <a:off x="2296294" y="2246313"/>
              <a:ext cx="466794" cy="46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grpSp>
        <p:nvGrpSpPr>
          <p:cNvPr id="28" name="组合 27"/>
          <p:cNvGrpSpPr/>
          <p:nvPr/>
        </p:nvGrpSpPr>
        <p:grpSpPr>
          <a:xfrm>
            <a:off x="6148796" y="1401564"/>
            <a:ext cx="569388" cy="1149869"/>
            <a:chOff x="6148796" y="1489328"/>
            <a:chExt cx="569388" cy="1149869"/>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0" name="Text Box 395"/>
            <p:cNvSpPr txBox="1">
              <a:spLocks noChangeArrowheads="1"/>
            </p:cNvSpPr>
            <p:nvPr/>
          </p:nvSpPr>
          <p:spPr bwMode="auto">
            <a:xfrm>
              <a:off x="6222967" y="2162143"/>
              <a:ext cx="466795"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0000FF"/>
                  </a:solidFill>
                  <a:latin typeface="微软雅黑" pitchFamily="34" charset="-122"/>
                  <a:ea typeface="微软雅黑" pitchFamily="34" charset="-122"/>
                </a:rPr>
                <a:t>TCP</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连接</a:t>
              </a: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5" name="对象 34"/>
          <p:cNvGraphicFramePr>
            <a:graphicFrameLocks noChangeAspect="1"/>
          </p:cNvGraphicFramePr>
          <p:nvPr>
            <p:extLst>
              <p:ext uri="{D42A27DB-BD31-4B8C-83A1-F6EECF244321}">
                <p14:modId xmlns:p14="http://schemas.microsoft.com/office/powerpoint/2010/main" val="1973728988"/>
              </p:ext>
            </p:extLst>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151"/>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632442" y="187162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收件人</a:t>
            </a: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p>
            <a:p>
              <a:pPr algn="ctr" eaLnBrk="1" hangingPunct="1"/>
              <a:r>
                <a:rPr kumimoji="1" lang="zh-CN" altLang="en-US" sz="1100" b="1" dirty="0">
                  <a:solidFill>
                    <a:srgbClr val="0000FF"/>
                  </a:solidFill>
                  <a:latin typeface="微软雅黑" pitchFamily="34" charset="-122"/>
                  <a:ea typeface="微软雅黑" pitchFamily="34" charset="-122"/>
                </a:rPr>
                <a:t>连接</a:t>
              </a:r>
            </a:p>
          </p:txBody>
        </p:sp>
      </p:grpSp>
      <p:sp>
        <p:nvSpPr>
          <p:cNvPr id="42" name="矩形 41"/>
          <p:cNvSpPr/>
          <p:nvPr/>
        </p:nvSpPr>
        <p:spPr>
          <a:xfrm>
            <a:off x="1470662" y="3428877"/>
            <a:ext cx="6331270" cy="810478"/>
          </a:xfrm>
          <a:prstGeom prst="rect">
            <a:avLst/>
          </a:prstGeom>
        </p:spPr>
        <p:txBody>
          <a:bodyPr wrap="square" anchor="ctr">
            <a:spAutoFit/>
          </a:bodyPr>
          <a:lstStyle/>
          <a:p>
            <a:pPr marL="285750" indent="-285750">
              <a:lnSpc>
                <a:spcPts val="2800"/>
              </a:lnSpc>
              <a:buClr>
                <a:srgbClr val="0066FF"/>
              </a:buClr>
              <a:buFont typeface="Wingdings" pitchFamily="2" charset="2"/>
              <a:buChar char="l"/>
            </a:pPr>
            <a:r>
              <a:rPr lang="zh-CN" altLang="en-US" b="1" dirty="0">
                <a:latin typeface="微软雅黑" pitchFamily="34" charset="-122"/>
                <a:ea typeface="微软雅黑" pitchFamily="34" charset="-122"/>
              </a:rPr>
              <a:t>发送、接收电子邮件时使用 </a:t>
            </a:r>
            <a:r>
              <a:rPr lang="en-US" altLang="zh-CN" b="1" dirty="0">
                <a:latin typeface="微软雅黑" pitchFamily="34" charset="-122"/>
                <a:ea typeface="微软雅黑" pitchFamily="34" charset="-122"/>
              </a:rPr>
              <a:t>HTTP </a:t>
            </a:r>
            <a:r>
              <a:rPr lang="zh-CN" altLang="en-US" b="1" dirty="0">
                <a:latin typeface="微软雅黑" pitchFamily="34" charset="-122"/>
                <a:ea typeface="微软雅黑" pitchFamily="34" charset="-122"/>
              </a:rPr>
              <a:t>协议。</a:t>
            </a:r>
          </a:p>
          <a:p>
            <a:pPr marL="285750" indent="-285750">
              <a:lnSpc>
                <a:spcPts val="2800"/>
              </a:lnSpc>
              <a:buClr>
                <a:srgbClr val="0066FF"/>
              </a:buClr>
              <a:buFont typeface="Wingdings" pitchFamily="2" charset="2"/>
              <a:buChar char="l"/>
            </a:pPr>
            <a:r>
              <a:rPr lang="zh-CN" altLang="en-US" b="1" dirty="0">
                <a:latin typeface="微软雅黑" pitchFamily="34" charset="-122"/>
                <a:ea typeface="微软雅黑" pitchFamily="34" charset="-122"/>
              </a:rPr>
              <a:t>两个邮件服务器之间传送邮件时使用 </a:t>
            </a:r>
            <a:r>
              <a:rPr lang="en-US" altLang="zh-CN" b="1" dirty="0">
                <a:latin typeface="微软雅黑" pitchFamily="34" charset="-122"/>
                <a:ea typeface="微软雅黑" pitchFamily="34" charset="-122"/>
              </a:rPr>
              <a:t>SMTP</a:t>
            </a:r>
            <a:r>
              <a:rPr lang="zh-CN" altLang="en-US" b="1" dirty="0">
                <a:latin typeface="微软雅黑" pitchFamily="34" charset="-122"/>
                <a:ea typeface="微软雅黑" pitchFamily="34" charset="-122"/>
              </a:rPr>
              <a:t>。</a:t>
            </a: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ABC </a:t>
            </a:r>
            <a:r>
              <a:rPr kumimoji="1" lang="zh-CN" altLang="en-US" sz="1100" b="1" dirty="0">
                <a:latin typeface="微软雅黑" pitchFamily="34" charset="-122"/>
                <a:ea typeface="微软雅黑" pitchFamily="34" charset="-122"/>
              </a:rPr>
              <a:t>网站</a:t>
            </a: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XYZ </a:t>
            </a:r>
            <a:r>
              <a:rPr kumimoji="1" lang="zh-CN" altLang="en-US" sz="1100" b="1" dirty="0">
                <a:latin typeface="微软雅黑" pitchFamily="34" charset="-122"/>
                <a:ea typeface="微软雅黑" pitchFamily="34" charset="-122"/>
              </a:rPr>
              <a:t>网站</a:t>
            </a:r>
          </a:p>
        </p:txBody>
      </p:sp>
    </p:spTree>
    <p:extLst>
      <p:ext uri="{BB962C8B-B14F-4D97-AF65-F5344CB8AC3E}">
        <p14:creationId xmlns:p14="http://schemas.microsoft.com/office/powerpoint/2010/main" val="32633427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4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万维网电子邮件</a:t>
            </a: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HTTP</a:t>
            </a:r>
          </a:p>
          <a:p>
            <a:pPr algn="ctr" eaLnBrk="1" hangingPunct="1"/>
            <a:r>
              <a:rPr kumimoji="1" lang="zh-CN" altLang="en-US" sz="1100" b="1" dirty="0">
                <a:latin typeface="微软雅黑" pitchFamily="34" charset="-122"/>
                <a:ea typeface="微软雅黑" pitchFamily="34" charset="-122"/>
              </a:rPr>
              <a:t>服务器</a:t>
            </a: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a:latin typeface="微软雅黑" pitchFamily="34" charset="-122"/>
                <a:ea typeface="微软雅黑" pitchFamily="34" charset="-122"/>
              </a:rPr>
              <a:t>SMTP</a:t>
            </a:r>
          </a:p>
          <a:p>
            <a:pPr algn="ctr" eaLnBrk="1" hangingPunct="1"/>
            <a:r>
              <a:rPr kumimoji="1" lang="zh-CN" altLang="en-US" sz="1100" b="1">
                <a:latin typeface="微软雅黑" pitchFamily="34" charset="-122"/>
                <a:ea typeface="微软雅黑" pitchFamily="34" charset="-122"/>
              </a:rPr>
              <a:t>客户</a:t>
            </a: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发件人</a:t>
            </a:r>
          </a:p>
        </p:txBody>
      </p:sp>
      <p:graphicFrame>
        <p:nvGraphicFramePr>
          <p:cNvPr id="15" name="对象 14"/>
          <p:cNvGraphicFramePr>
            <a:graphicFrameLocks noChangeAspect="1"/>
          </p:cNvGraphicFramePr>
          <p:nvPr>
            <p:extLst>
              <p:ext uri="{D42A27DB-BD31-4B8C-83A1-F6EECF244321}">
                <p14:modId xmlns:p14="http://schemas.microsoft.com/office/powerpoint/2010/main" val="2043639842"/>
              </p:ext>
            </p:extLst>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name="Visio" r:id="rId2" imgW="3561172" imgH="4347469" progId="">
                  <p:embed/>
                </p:oleObj>
              </mc:Choice>
              <mc:Fallback>
                <p:oleObj name="Visio" r:id="rId2" imgW="3561172" imgH="4347469" progId="">
                  <p:embed/>
                  <p:pic>
                    <p:nvPicPr>
                      <p:cNvPr id="0" name="Picture 52"/>
                      <p:cNvPicPr>
                        <a:picLocks noChangeAspect="1" noChangeArrowheads="1"/>
                      </p:cNvPicPr>
                      <p:nvPr/>
                    </p:nvPicPr>
                    <p:blipFill>
                      <a:blip r:embed="rId3">
                        <a:extLst>
                          <a:ext uri="{28A0092B-C50C-407E-A947-70E740481C1C}">
                            <a14:useLocalDpi xmlns:a14="http://schemas.microsoft.com/office/drawing/2010/main" val="0"/>
                          </a:ext>
                        </a:extLst>
                      </a:blip>
                      <a:srcRect l="5348" t="4167" r="4546" b="11185"/>
                      <a:stretch>
                        <a:fillRect/>
                      </a:stretch>
                    </p:blipFill>
                    <p:spPr bwMode="auto">
                      <a:xfrm>
                        <a:off x="762658" y="1871625"/>
                        <a:ext cx="546759"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SMTP</a:t>
            </a:r>
          </a:p>
          <a:p>
            <a:pPr algn="ctr" eaLnBrk="1" hangingPunct="1"/>
            <a:r>
              <a:rPr kumimoji="1" lang="zh-CN" altLang="en-US" sz="1100" b="1" dirty="0">
                <a:latin typeface="微软雅黑" pitchFamily="34" charset="-122"/>
                <a:ea typeface="微软雅黑" pitchFamily="34" charset="-122"/>
              </a:rPr>
              <a:t>服务器</a:t>
            </a: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headEnd/>
            <a:tailEnd/>
          </a:ln>
          <a:effectLst/>
        </p:spPr>
        <p:txBody>
          <a:bodyPr wrap="none" anchor="ctr"/>
          <a:lstStyle/>
          <a:p>
            <a:pPr algn="ctr" eaLnBrk="1" hangingPunct="1"/>
            <a:r>
              <a:rPr kumimoji="1" lang="en-US" altLang="zh-CN" sz="1100" b="1" dirty="0">
                <a:latin typeface="微软雅黑" pitchFamily="34" charset="-122"/>
                <a:ea typeface="微软雅黑" pitchFamily="34" charset="-122"/>
              </a:rPr>
              <a:t>HTTP</a:t>
            </a:r>
          </a:p>
          <a:p>
            <a:pPr algn="ctr" eaLnBrk="1" hangingPunct="1"/>
            <a:r>
              <a:rPr kumimoji="1" lang="zh-CN" altLang="en-US" sz="1100" b="1" dirty="0">
                <a:latin typeface="微软雅黑" pitchFamily="34" charset="-122"/>
                <a:ea typeface="微软雅黑" pitchFamily="34" charset="-122"/>
              </a:rPr>
              <a:t>服务器</a:t>
            </a:r>
          </a:p>
        </p:txBody>
      </p:sp>
      <p:grpSp>
        <p:nvGrpSpPr>
          <p:cNvPr id="21" name="组合 20"/>
          <p:cNvGrpSpPr/>
          <p:nvPr/>
        </p:nvGrpSpPr>
        <p:grpSpPr>
          <a:xfrm>
            <a:off x="2252299" y="1382964"/>
            <a:ext cx="569388" cy="665064"/>
            <a:chOff x="2252299" y="1525813"/>
            <a:chExt cx="569388" cy="665064"/>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发送</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grpSp>
        <p:nvGrpSpPr>
          <p:cNvPr id="28" name="组合 27"/>
          <p:cNvGrpSpPr/>
          <p:nvPr/>
        </p:nvGrpSpPr>
        <p:grpSpPr>
          <a:xfrm>
            <a:off x="6148796" y="1401564"/>
            <a:ext cx="569388" cy="652662"/>
            <a:chOff x="6148796" y="1489328"/>
            <a:chExt cx="569388" cy="652662"/>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读取</a:t>
              </a:r>
            </a:p>
            <a:p>
              <a:pPr algn="ctr" eaLnBrk="1" hangingPunct="1">
                <a:lnSpc>
                  <a:spcPts val="1500"/>
                </a:lnSpc>
              </a:pPr>
              <a:r>
                <a:rPr kumimoji="1" lang="zh-CN" altLang="en-US" sz="1100" b="1" dirty="0">
                  <a:solidFill>
                    <a:srgbClr val="0000FF"/>
                  </a:solidFill>
                  <a:latin typeface="微软雅黑" pitchFamily="34" charset="-122"/>
                  <a:ea typeface="微软雅黑" pitchFamily="34" charset="-122"/>
                </a:rPr>
                <a:t>邮件</a:t>
              </a: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headE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graphicFrame>
        <p:nvGraphicFramePr>
          <p:cNvPr id="35" name="对象 34"/>
          <p:cNvGraphicFramePr>
            <a:graphicFrameLocks noChangeAspect="1"/>
          </p:cNvGraphicFramePr>
          <p:nvPr>
            <p:extLst>
              <p:ext uri="{D42A27DB-BD31-4B8C-83A1-F6EECF244321}">
                <p14:modId xmlns:p14="http://schemas.microsoft.com/office/powerpoint/2010/main" val="1973728988"/>
              </p:ext>
            </p:extLst>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name="Visio" r:id="rId4" imgW="3561172" imgH="4347469" progId="">
                  <p:embed/>
                </p:oleObj>
              </mc:Choice>
              <mc:Fallback>
                <p:oleObj name="Visio" r:id="rId4" imgW="3561172" imgH="4347469" progId="">
                  <p:embed/>
                  <p:pic>
                    <p:nvPicPr>
                      <p:cNvPr id="0" name="Picture 53"/>
                      <p:cNvPicPr>
                        <a:picLocks noChangeAspect="1" noChangeArrowheads="1"/>
                      </p:cNvPicPr>
                      <p:nvPr/>
                    </p:nvPicPr>
                    <p:blipFill>
                      <a:blip r:embed="rId5">
                        <a:extLst>
                          <a:ext uri="{28A0092B-C50C-407E-A947-70E740481C1C}">
                            <a14:useLocalDpi xmlns:a14="http://schemas.microsoft.com/office/drawing/2010/main" val="0"/>
                          </a:ext>
                        </a:extLst>
                      </a:blip>
                      <a:srcRect l="4546" t="3947" r="4546" b="11403"/>
                      <a:stretch>
                        <a:fillRect/>
                      </a:stretch>
                    </p:blipFill>
                    <p:spPr bwMode="auto">
                      <a:xfrm>
                        <a:off x="7632442" y="1871625"/>
                        <a:ext cx="551626" cy="666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zh-CN" altLang="en-US" sz="1100" b="1" dirty="0">
                <a:latin typeface="微软雅黑" pitchFamily="34" charset="-122"/>
                <a:ea typeface="微软雅黑" pitchFamily="34" charset="-122"/>
              </a:rPr>
              <a:t>用户</a:t>
            </a:r>
            <a:endParaRPr kumimoji="1" lang="en-US" altLang="zh-CN" sz="1100" b="1" dirty="0">
              <a:latin typeface="微软雅黑" pitchFamily="34" charset="-122"/>
              <a:ea typeface="微软雅黑" pitchFamily="34" charset="-122"/>
            </a:endParaRPr>
          </a:p>
          <a:p>
            <a:pPr algn="ctr" eaLnBrk="1" hangingPunct="1">
              <a:lnSpc>
                <a:spcPts val="1500"/>
              </a:lnSpc>
            </a:pPr>
            <a:r>
              <a:rPr kumimoji="1" lang="zh-CN" altLang="en-US" sz="1100" b="1" dirty="0">
                <a:latin typeface="微软雅黑" pitchFamily="34" charset="-122"/>
                <a:ea typeface="微软雅黑" pitchFamily="34" charset="-122"/>
              </a:rPr>
              <a:t>收件人</a:t>
            </a: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100" b="1" dirty="0">
                  <a:solidFill>
                    <a:srgbClr val="0000FF"/>
                  </a:solidFill>
                  <a:latin typeface="微软雅黑" pitchFamily="34" charset="-122"/>
                  <a:ea typeface="微软雅黑" pitchFamily="34" charset="-122"/>
                </a:rPr>
                <a:t>发送邮件 </a:t>
              </a:r>
              <a:r>
                <a:rPr kumimoji="1" lang="en-US" altLang="zh-CN" sz="1100" b="1" dirty="0">
                  <a:solidFill>
                    <a:srgbClr val="C00000"/>
                  </a:solidFill>
                  <a:latin typeface="微软雅黑" pitchFamily="34" charset="-122"/>
                  <a:ea typeface="微软雅黑" pitchFamily="34" charset="-122"/>
                </a:rPr>
                <a:t>SMTP</a:t>
              </a: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itchFamily="34" charset="-122"/>
                <a:ea typeface="微软雅黑"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rgbClr val="0000FF"/>
                  </a:solidFill>
                  <a:latin typeface="微软雅黑" pitchFamily="34" charset="-122"/>
                  <a:ea typeface="微软雅黑" pitchFamily="34" charset="-122"/>
                </a:rPr>
                <a:t>TCP </a:t>
              </a:r>
            </a:p>
            <a:p>
              <a:pPr algn="ctr" eaLnBrk="1" hangingPunct="1"/>
              <a:r>
                <a:rPr kumimoji="1" lang="zh-CN" altLang="en-US" sz="1100" b="1" dirty="0">
                  <a:solidFill>
                    <a:srgbClr val="0000FF"/>
                  </a:solidFill>
                  <a:latin typeface="微软雅黑" pitchFamily="34" charset="-122"/>
                  <a:ea typeface="微软雅黑" pitchFamily="34" charset="-122"/>
                </a:rPr>
                <a:t>连接</a:t>
              </a:r>
            </a:p>
          </p:txBody>
        </p:sp>
      </p:grpSp>
      <p:sp>
        <p:nvSpPr>
          <p:cNvPr id="42" name="矩形 41"/>
          <p:cNvSpPr/>
          <p:nvPr/>
        </p:nvSpPr>
        <p:spPr>
          <a:xfrm>
            <a:off x="1470662" y="3420985"/>
            <a:ext cx="6331270" cy="861774"/>
          </a:xfrm>
          <a:prstGeom prst="rect">
            <a:avLst/>
          </a:prstGeom>
        </p:spPr>
        <p:txBody>
          <a:bodyPr wrap="square" anchor="ctr">
            <a:spAutoFit/>
          </a:bodyPr>
          <a:lstStyle/>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使用 </a:t>
            </a:r>
            <a:r>
              <a:rPr lang="en-US" altLang="zh-CN" b="1" dirty="0">
                <a:latin typeface="微软雅黑" pitchFamily="34" charset="-122"/>
                <a:ea typeface="微软雅黑" pitchFamily="34" charset="-122"/>
              </a:rPr>
              <a:t>HTTP POST </a:t>
            </a:r>
            <a:r>
              <a:rPr lang="zh-CN" altLang="en-US" b="1" dirty="0">
                <a:latin typeface="微软雅黑" pitchFamily="34" charset="-122"/>
                <a:ea typeface="微软雅黑" pitchFamily="34" charset="-122"/>
              </a:rPr>
              <a:t>方法提交要发送的邮件。</a:t>
            </a:r>
          </a:p>
          <a:p>
            <a:pPr marL="285750" indent="-285750">
              <a:lnSpc>
                <a:spcPts val="3000"/>
              </a:lnSpc>
              <a:buClr>
                <a:srgbClr val="0066FF"/>
              </a:buClr>
              <a:buFont typeface="Wingdings" pitchFamily="2" charset="2"/>
              <a:buChar char="l"/>
            </a:pPr>
            <a:r>
              <a:rPr lang="zh-CN" altLang="en-US" b="1" dirty="0">
                <a:latin typeface="微软雅黑" pitchFamily="34" charset="-122"/>
                <a:ea typeface="微软雅黑" pitchFamily="34" charset="-122"/>
              </a:rPr>
              <a:t>使用 </a:t>
            </a:r>
            <a:r>
              <a:rPr lang="en-US" altLang="zh-CN" b="1" dirty="0">
                <a:latin typeface="微软雅黑" pitchFamily="34" charset="-122"/>
                <a:ea typeface="微软雅黑" pitchFamily="34" charset="-122"/>
              </a:rPr>
              <a:t>HTTP GET </a:t>
            </a:r>
            <a:r>
              <a:rPr lang="zh-CN" altLang="en-US" b="1" dirty="0">
                <a:latin typeface="微软雅黑" pitchFamily="34" charset="-122"/>
                <a:ea typeface="微软雅黑" pitchFamily="34" charset="-122"/>
              </a:rPr>
              <a:t>方法读取邮件。</a:t>
            </a: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HTTP</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客户</a:t>
            </a: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ABC </a:t>
            </a:r>
            <a:r>
              <a:rPr kumimoji="1" lang="zh-CN" altLang="en-US" sz="1100" b="1" dirty="0">
                <a:latin typeface="微软雅黑" pitchFamily="34" charset="-122"/>
                <a:ea typeface="微软雅黑" pitchFamily="34" charset="-122"/>
              </a:rPr>
              <a:t>网站</a:t>
            </a: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latin typeface="微软雅黑" pitchFamily="34" charset="-122"/>
                <a:ea typeface="微软雅黑" pitchFamily="34" charset="-122"/>
              </a:rPr>
              <a:t>XYZ </a:t>
            </a:r>
            <a:r>
              <a:rPr kumimoji="1" lang="zh-CN" altLang="en-US" sz="1100" b="1" dirty="0">
                <a:latin typeface="微软雅黑" pitchFamily="34" charset="-122"/>
                <a:ea typeface="微软雅黑" pitchFamily="34" charset="-122"/>
              </a:rPr>
              <a:t>网站</a:t>
            </a:r>
          </a:p>
        </p:txBody>
      </p:sp>
      <p:sp>
        <p:nvSpPr>
          <p:cNvPr id="46" name="Text Box 394"/>
          <p:cNvSpPr txBox="1">
            <a:spLocks noChangeArrowheads="1"/>
          </p:cNvSpPr>
          <p:nvPr/>
        </p:nvSpPr>
        <p:spPr bwMode="auto">
          <a:xfrm>
            <a:off x="2236182" y="2122852"/>
            <a:ext cx="587020"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POST</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提交</a:t>
            </a:r>
          </a:p>
        </p:txBody>
      </p:sp>
      <p:sp>
        <p:nvSpPr>
          <p:cNvPr id="47" name="Text Box 395"/>
          <p:cNvSpPr txBox="1">
            <a:spLocks noChangeArrowheads="1"/>
          </p:cNvSpPr>
          <p:nvPr/>
        </p:nvSpPr>
        <p:spPr bwMode="auto">
          <a:xfrm>
            <a:off x="6222967" y="2109890"/>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ts val="1500"/>
              </a:lnSpc>
            </a:pPr>
            <a:r>
              <a:rPr kumimoji="1" lang="en-US" altLang="zh-CN" sz="1100" b="1" dirty="0">
                <a:solidFill>
                  <a:srgbClr val="C00000"/>
                </a:solidFill>
                <a:latin typeface="微软雅黑" pitchFamily="34" charset="-122"/>
                <a:ea typeface="微软雅黑" pitchFamily="34" charset="-122"/>
              </a:rPr>
              <a:t>GET</a:t>
            </a:r>
          </a:p>
          <a:p>
            <a:pPr algn="ctr" eaLnBrk="1" hangingPunct="1">
              <a:lnSpc>
                <a:spcPts val="1500"/>
              </a:lnSpc>
            </a:pPr>
            <a:r>
              <a:rPr kumimoji="1" lang="zh-CN" altLang="en-US" sz="1100" b="1" dirty="0">
                <a:solidFill>
                  <a:srgbClr val="C00000"/>
                </a:solidFill>
                <a:latin typeface="微软雅黑" pitchFamily="34" charset="-122"/>
                <a:ea typeface="微软雅黑" pitchFamily="34" charset="-122"/>
              </a:rPr>
              <a:t>下载</a:t>
            </a:r>
          </a:p>
        </p:txBody>
      </p:sp>
    </p:spTree>
    <p:extLst>
      <p:ext uri="{BB962C8B-B14F-4D97-AF65-F5344CB8AC3E}">
        <p14:creationId xmlns:p14="http://schemas.microsoft.com/office/powerpoint/2010/main" val="2523951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6"/>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563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130469" y="563360"/>
            <a:ext cx="48830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6.5.6  </a:t>
            </a:r>
            <a:r>
              <a:rPr lang="zh-CN" altLang="en-US" sz="2400" b="1" dirty="0">
                <a:solidFill>
                  <a:schemeClr val="bg1"/>
                </a:solidFill>
                <a:latin typeface="微软雅黑" pitchFamily="34" charset="-122"/>
                <a:ea typeface="微软雅黑" pitchFamily="34" charset="-122"/>
              </a:rPr>
              <a:t>通用互联网邮件扩充 </a:t>
            </a:r>
            <a:r>
              <a:rPr lang="en-US" altLang="zh-CN" sz="2400" b="1" dirty="0">
                <a:solidFill>
                  <a:schemeClr val="bg1"/>
                </a:solidFill>
                <a:latin typeface="微软雅黑" pitchFamily="34" charset="-122"/>
                <a:ea typeface="微软雅黑" pitchFamily="34" charset="-122"/>
              </a:rPr>
              <a:t>MIME</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99849"/>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itchFamily="34" charset="-122"/>
                <a:ea typeface="微软雅黑" pitchFamily="34" charset="-122"/>
              </a:rPr>
              <a:t>SMTP </a:t>
            </a:r>
            <a:r>
              <a:rPr lang="zh-CN" altLang="en-US" sz="2000" b="1" dirty="0">
                <a:solidFill>
                  <a:srgbClr val="0000FF"/>
                </a:solidFill>
                <a:latin typeface="微软雅黑" pitchFamily="34" charset="-122"/>
                <a:ea typeface="微软雅黑" pitchFamily="34" charset="-122"/>
              </a:rPr>
              <a:t>缺点</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不能传送可执行文件或其他的二进制对象。</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限于传送 </a:t>
            </a:r>
            <a:r>
              <a:rPr lang="en-US" altLang="zh-CN" sz="2000" b="1" dirty="0">
                <a:latin typeface="微软雅黑" pitchFamily="34" charset="-122"/>
                <a:ea typeface="微软雅黑" pitchFamily="34" charset="-122"/>
              </a:rPr>
              <a:t>7 </a:t>
            </a:r>
            <a:r>
              <a:rPr lang="zh-CN" altLang="en-US" sz="2000" b="1" dirty="0">
                <a:latin typeface="微软雅黑" pitchFamily="34" charset="-122"/>
                <a:ea typeface="微软雅黑" pitchFamily="34" charset="-122"/>
              </a:rPr>
              <a:t>位的 </a:t>
            </a:r>
            <a:r>
              <a:rPr lang="en-US" altLang="zh-CN" sz="2000" b="1" dirty="0">
                <a:latin typeface="微软雅黑" pitchFamily="34" charset="-122"/>
                <a:ea typeface="微软雅黑" pitchFamily="34" charset="-122"/>
              </a:rPr>
              <a:t>ASCII </a:t>
            </a:r>
            <a:r>
              <a:rPr lang="zh-CN" altLang="en-US" sz="2000" b="1" dirty="0">
                <a:latin typeface="微软雅黑" pitchFamily="34" charset="-122"/>
                <a:ea typeface="微软雅黑" pitchFamily="34" charset="-122"/>
              </a:rPr>
              <a:t>码，无法传送非 </a:t>
            </a:r>
            <a:r>
              <a:rPr lang="en-US" altLang="zh-CN" sz="2000" b="1" dirty="0">
                <a:latin typeface="微软雅黑" pitchFamily="34" charset="-122"/>
                <a:ea typeface="微软雅黑" pitchFamily="34" charset="-122"/>
              </a:rPr>
              <a:t>ASCII </a:t>
            </a:r>
            <a:r>
              <a:rPr lang="zh-CN" altLang="en-US" sz="2000" b="1" dirty="0">
                <a:latin typeface="微软雅黑" pitchFamily="34" charset="-122"/>
                <a:ea typeface="微软雅黑" pitchFamily="34" charset="-122"/>
              </a:rPr>
              <a:t>编码的信息。</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服务器会拒绝超过一定长度的邮件。</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某些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的实现并没有完全按照 </a:t>
            </a:r>
            <a:r>
              <a:rPr lang="en-US" altLang="zh-CN" sz="2000" b="1" dirty="0">
                <a:latin typeface="微软雅黑" pitchFamily="34" charset="-122"/>
                <a:ea typeface="微软雅黑" pitchFamily="34" charset="-122"/>
              </a:rPr>
              <a:t>[RFC 821]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标准。 </a:t>
            </a:r>
          </a:p>
        </p:txBody>
      </p:sp>
    </p:spTree>
    <p:extLst>
      <p:ext uri="{BB962C8B-B14F-4D97-AF65-F5344CB8AC3E}">
        <p14:creationId xmlns:p14="http://schemas.microsoft.com/office/powerpoint/2010/main" val="6314080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6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20195" y="573485"/>
            <a:ext cx="19223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MIME </a:t>
            </a:r>
            <a:r>
              <a:rPr lang="zh-CN" altLang="en-US" sz="2000" b="1" dirty="0">
                <a:solidFill>
                  <a:schemeClr val="bg1"/>
                </a:solidFill>
                <a:latin typeface="微软雅黑" pitchFamily="34" charset="-122"/>
                <a:ea typeface="微软雅黑" pitchFamily="34" charset="-122"/>
              </a:rPr>
              <a:t>概述</a:t>
            </a:r>
          </a:p>
        </p:txBody>
      </p:sp>
      <p:sp>
        <p:nvSpPr>
          <p:cNvPr id="4" name="Rectangle 68"/>
          <p:cNvSpPr>
            <a:spLocks noChangeArrowheads="1"/>
          </p:cNvSpPr>
          <p:nvPr/>
        </p:nvSpPr>
        <p:spPr bwMode="auto">
          <a:xfrm>
            <a:off x="483810" y="1004362"/>
            <a:ext cx="827845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通用互联网邮件扩充 </a:t>
            </a:r>
            <a:r>
              <a:rPr lang="en-US" altLang="zh-CN" sz="2000" b="1" dirty="0">
                <a:solidFill>
                  <a:srgbClr val="C00000"/>
                </a:solidFill>
                <a:latin typeface="微软雅黑" pitchFamily="34" charset="-122"/>
                <a:ea typeface="微软雅黑" pitchFamily="34" charset="-122"/>
              </a:rPr>
              <a:t>MIME </a:t>
            </a:r>
            <a:r>
              <a:rPr lang="zh-CN" altLang="en-US" sz="2000" b="1" dirty="0">
                <a:latin typeface="微软雅黑" pitchFamily="34" charset="-122"/>
                <a:ea typeface="微软雅黑" pitchFamily="34" charset="-122"/>
              </a:rPr>
              <a:t>并没有改动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或取代它。</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意图：</a:t>
            </a:r>
            <a:r>
              <a:rPr lang="zh-CN" altLang="en-US" sz="2000" b="1" dirty="0">
                <a:latin typeface="微软雅黑" pitchFamily="34" charset="-122"/>
                <a:ea typeface="微软雅黑" pitchFamily="34" charset="-122"/>
              </a:rPr>
              <a:t>继续使用目前的 </a:t>
            </a:r>
            <a:r>
              <a:rPr lang="en-US" altLang="zh-CN" sz="2000" b="1" dirty="0">
                <a:latin typeface="微软雅黑" pitchFamily="34" charset="-122"/>
                <a:ea typeface="微软雅黑" pitchFamily="34" charset="-122"/>
              </a:rPr>
              <a:t>[RFC 822] </a:t>
            </a:r>
            <a:r>
              <a:rPr lang="zh-CN" altLang="en-US" sz="2000" b="1" dirty="0">
                <a:latin typeface="微软雅黑" pitchFamily="34" charset="-122"/>
                <a:ea typeface="微软雅黑" pitchFamily="34" charset="-122"/>
              </a:rPr>
              <a:t>格式，但</a:t>
            </a:r>
            <a:r>
              <a:rPr lang="zh-CN" altLang="en-US" sz="2000" b="1" dirty="0">
                <a:solidFill>
                  <a:srgbClr val="C00000"/>
                </a:solidFill>
                <a:latin typeface="微软雅黑" pitchFamily="34" charset="-122"/>
                <a:ea typeface="微软雅黑" pitchFamily="34" charset="-122"/>
              </a:rPr>
              <a:t>增加</a:t>
            </a:r>
            <a:r>
              <a:rPr lang="zh-CN" altLang="en-US" sz="2000" b="1" dirty="0">
                <a:latin typeface="微软雅黑" pitchFamily="34" charset="-122"/>
                <a:ea typeface="微软雅黑" pitchFamily="34" charset="-122"/>
              </a:rPr>
              <a:t>了邮件主体的结构，并定义了传送非 </a:t>
            </a:r>
            <a:r>
              <a:rPr lang="en-US" altLang="zh-CN" sz="2000" b="1" dirty="0">
                <a:latin typeface="微软雅黑" pitchFamily="34" charset="-122"/>
                <a:ea typeface="微软雅黑" pitchFamily="34" charset="-122"/>
              </a:rPr>
              <a:t>ASCII </a:t>
            </a:r>
            <a:r>
              <a:rPr lang="zh-CN" altLang="en-US" sz="2000" b="1" dirty="0">
                <a:latin typeface="微软雅黑" pitchFamily="34" charset="-122"/>
                <a:ea typeface="微软雅黑" pitchFamily="34" charset="-122"/>
              </a:rPr>
              <a:t>码的</a:t>
            </a:r>
            <a:r>
              <a:rPr lang="zh-CN" altLang="en-US" sz="2000" b="1" dirty="0">
                <a:solidFill>
                  <a:srgbClr val="C00000"/>
                </a:solidFill>
                <a:latin typeface="微软雅黑" pitchFamily="34" charset="-122"/>
                <a:ea typeface="微软雅黑" pitchFamily="34" charset="-122"/>
              </a:rPr>
              <a:t>编码规则。 </a:t>
            </a:r>
          </a:p>
        </p:txBody>
      </p:sp>
    </p:spTree>
    <p:extLst>
      <p:ext uri="{BB962C8B-B14F-4D97-AF65-F5344CB8AC3E}">
        <p14:creationId xmlns:p14="http://schemas.microsoft.com/office/powerpoint/2010/main" val="24727455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4165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组合 20"/>
          <p:cNvGrpSpPr/>
          <p:nvPr/>
        </p:nvGrpSpPr>
        <p:grpSpPr>
          <a:xfrm>
            <a:off x="1474462" y="1156605"/>
            <a:ext cx="6187085" cy="2778773"/>
            <a:chOff x="1184473" y="1772816"/>
            <a:chExt cx="7800975" cy="3503611"/>
          </a:xfrm>
        </p:grpSpPr>
        <p:sp>
          <p:nvSpPr>
            <p:cNvPr id="5" name="Text Box 3"/>
            <p:cNvSpPr txBox="1">
              <a:spLocks noChangeArrowheads="1"/>
            </p:cNvSpPr>
            <p:nvPr/>
          </p:nvSpPr>
          <p:spPr bwMode="auto">
            <a:xfrm>
              <a:off x="1839713"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solidFill>
                    <a:srgbClr val="C00000"/>
                  </a:solidFill>
                  <a:latin typeface="微软雅黑" pitchFamily="34" charset="-122"/>
                  <a:ea typeface="微软雅黑" pitchFamily="34" charset="-122"/>
                </a:rPr>
                <a:t>非 </a:t>
              </a:r>
              <a:r>
                <a:rPr kumimoji="1" lang="en-US" altLang="zh-CN" sz="1600" b="1" dirty="0">
                  <a:solidFill>
                    <a:srgbClr val="C00000"/>
                  </a:solidFill>
                  <a:latin typeface="微软雅黑" pitchFamily="34" charset="-122"/>
                  <a:ea typeface="微软雅黑" pitchFamily="34" charset="-122"/>
                </a:rPr>
                <a:t>ASCII </a:t>
              </a:r>
              <a:r>
                <a:rPr kumimoji="1" lang="zh-CN" altLang="en-US" sz="1600" b="1" dirty="0">
                  <a:solidFill>
                    <a:srgbClr val="C00000"/>
                  </a:solidFill>
                  <a:latin typeface="微软雅黑" pitchFamily="34" charset="-122"/>
                  <a:ea typeface="微软雅黑" pitchFamily="34" charset="-122"/>
                </a:rPr>
                <a:t>码</a:t>
              </a:r>
            </a:p>
          </p:txBody>
        </p:sp>
        <p:sp>
          <p:nvSpPr>
            <p:cNvPr id="6" name="Text Box 4"/>
            <p:cNvSpPr txBox="1">
              <a:spLocks noChangeArrowheads="1"/>
            </p:cNvSpPr>
            <p:nvPr/>
          </p:nvSpPr>
          <p:spPr bwMode="auto">
            <a:xfrm>
              <a:off x="1855191" y="3942927"/>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7" name="Rectangle 5"/>
            <p:cNvSpPr>
              <a:spLocks noChangeArrowheads="1"/>
            </p:cNvSpPr>
            <p:nvPr/>
          </p:nvSpPr>
          <p:spPr bwMode="auto">
            <a:xfrm>
              <a:off x="1184473" y="3007890"/>
              <a:ext cx="1281244" cy="596900"/>
            </a:xfrm>
            <a:prstGeom prst="rect">
              <a:avLst/>
            </a:prstGeom>
            <a:solidFill>
              <a:srgbClr val="0000FF"/>
            </a:solidFill>
            <a:ln w="9525">
              <a:solidFill>
                <a:srgbClr val="333399"/>
              </a:solidFill>
              <a:miter lim="800000"/>
              <a:headEnd/>
              <a:tailEnd/>
            </a:ln>
            <a:effectLst/>
          </p:spPr>
          <p:txBody>
            <a:bodyPr wrap="none" anchor="ctr"/>
            <a:lstStyle/>
            <a:p>
              <a:pPr algn="ctr" eaLnBrk="1" hangingPunct="1"/>
              <a:r>
                <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itchFamily="34" charset="-122"/>
                  <a:ea typeface="微软雅黑" pitchFamily="34" charset="-122"/>
                </a:rPr>
                <a:t>MIME</a:t>
              </a:r>
            </a:p>
          </p:txBody>
        </p:sp>
        <p:sp>
          <p:nvSpPr>
            <p:cNvPr id="8" name="Rectangle 6"/>
            <p:cNvSpPr>
              <a:spLocks noChangeArrowheads="1"/>
            </p:cNvSpPr>
            <p:nvPr/>
          </p:nvSpPr>
          <p:spPr bwMode="auto">
            <a:xfrm>
              <a:off x="1184473" y="4679527"/>
              <a:ext cx="1281244" cy="596900"/>
            </a:xfrm>
            <a:prstGeom prst="rect">
              <a:avLst/>
            </a:prstGeom>
            <a:solidFill>
              <a:srgbClr val="00FFCC"/>
            </a:solidFill>
            <a:ln w="9525">
              <a:solidFill>
                <a:srgbClr val="333399"/>
              </a:solidFill>
              <a:miter lim="800000"/>
              <a:headEnd/>
              <a:tailEnd/>
            </a:ln>
            <a:effectLst/>
          </p:spPr>
          <p:txBody>
            <a:bodyPr wrap="none" anchor="ctr"/>
            <a:lstStyle/>
            <a:p>
              <a:pPr algn="ctr" eaLnBrk="1" hangingPunct="1"/>
              <a:r>
                <a:rPr kumimoji="1" lang="en-US" altLang="zh-CN" sz="1600" b="1">
                  <a:latin typeface="微软雅黑" pitchFamily="34" charset="-122"/>
                  <a:ea typeface="微软雅黑" pitchFamily="34" charset="-122"/>
                </a:rPr>
                <a:t>SMTP</a:t>
              </a:r>
            </a:p>
          </p:txBody>
        </p:sp>
        <p:sp>
          <p:nvSpPr>
            <p:cNvPr id="9" name="Rectangle 7"/>
            <p:cNvSpPr>
              <a:spLocks noChangeArrowheads="1"/>
            </p:cNvSpPr>
            <p:nvPr/>
          </p:nvSpPr>
          <p:spPr bwMode="auto">
            <a:xfrm>
              <a:off x="7704203" y="3007890"/>
              <a:ext cx="1281245" cy="596900"/>
            </a:xfrm>
            <a:prstGeom prst="rect">
              <a:avLst/>
            </a:prstGeom>
            <a:solidFill>
              <a:srgbClr val="0000FF"/>
            </a:solidFill>
            <a:ln w="9525">
              <a:solidFill>
                <a:srgbClr val="333399"/>
              </a:solidFill>
              <a:miter lim="800000"/>
              <a:headEnd/>
              <a:tailEnd/>
            </a:ln>
            <a:effectLst/>
          </p:spPr>
          <p:txBody>
            <a:bodyPr wrap="none" anchor="ctr"/>
            <a:lstStyle/>
            <a:p>
              <a:pPr algn="ctr" eaLnBrk="1" hangingPunct="1"/>
              <a:r>
                <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itchFamily="34" charset="-122"/>
                  <a:ea typeface="微软雅黑" pitchFamily="34" charset="-122"/>
                </a:rPr>
                <a:t>MIME</a:t>
              </a:r>
            </a:p>
          </p:txBody>
        </p:sp>
        <p:sp>
          <p:nvSpPr>
            <p:cNvPr id="10" name="Rectangle 8"/>
            <p:cNvSpPr>
              <a:spLocks noChangeArrowheads="1"/>
            </p:cNvSpPr>
            <p:nvPr/>
          </p:nvSpPr>
          <p:spPr bwMode="auto">
            <a:xfrm>
              <a:off x="7704203" y="4679527"/>
              <a:ext cx="1281245" cy="596900"/>
            </a:xfrm>
            <a:prstGeom prst="rect">
              <a:avLst/>
            </a:prstGeom>
            <a:solidFill>
              <a:srgbClr val="00FFCC"/>
            </a:solidFill>
            <a:ln w="9525">
              <a:solidFill>
                <a:srgbClr val="333399"/>
              </a:solidFill>
              <a:miter lim="800000"/>
              <a:headEnd/>
              <a:tailEnd/>
            </a:ln>
            <a:effectLst/>
          </p:spPr>
          <p:txBody>
            <a:bodyPr wrap="none" anchor="ctr"/>
            <a:lstStyle/>
            <a:p>
              <a:pPr algn="ctr" eaLnBrk="1" hangingPunct="1"/>
              <a:r>
                <a:rPr kumimoji="1" lang="en-US" altLang="zh-CN" sz="1600" b="1">
                  <a:latin typeface="微软雅黑" pitchFamily="34" charset="-122"/>
                  <a:ea typeface="微软雅黑" pitchFamily="34" charset="-122"/>
                </a:rPr>
                <a:t>SMTP</a:t>
              </a:r>
            </a:p>
          </p:txBody>
        </p:sp>
        <p:sp>
          <p:nvSpPr>
            <p:cNvPr id="11" name="Line 9"/>
            <p:cNvSpPr>
              <a:spLocks noChangeShapeType="1"/>
            </p:cNvSpPr>
            <p:nvPr/>
          </p:nvSpPr>
          <p:spPr bwMode="auto">
            <a:xfrm>
              <a:off x="2484635" y="4977977"/>
              <a:ext cx="524020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2" name="Line 10"/>
            <p:cNvSpPr>
              <a:spLocks noChangeShapeType="1"/>
            </p:cNvSpPr>
            <p:nvPr/>
          </p:nvSpPr>
          <p:spPr bwMode="auto">
            <a:xfrm rot="5400000" flipH="1" flipV="1">
              <a:off x="128686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3" name="Line 11"/>
            <p:cNvSpPr>
              <a:spLocks noChangeShapeType="1"/>
            </p:cNvSpPr>
            <p:nvPr/>
          </p:nvSpPr>
          <p:spPr bwMode="auto">
            <a:xfrm rot="5400000" flipH="1" flipV="1">
              <a:off x="780831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4" name="Line 12"/>
            <p:cNvSpPr>
              <a:spLocks noChangeShapeType="1"/>
            </p:cNvSpPr>
            <p:nvPr/>
          </p:nvSpPr>
          <p:spPr bwMode="auto">
            <a:xfrm rot="16200000" flipV="1">
              <a:off x="143926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5" name="Line 13"/>
            <p:cNvSpPr>
              <a:spLocks noChangeShapeType="1"/>
            </p:cNvSpPr>
            <p:nvPr/>
          </p:nvSpPr>
          <p:spPr bwMode="auto">
            <a:xfrm rot="16200000" flipV="1">
              <a:off x="796071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16" name="Text Box 14"/>
            <p:cNvSpPr txBox="1">
              <a:spLocks noChangeArrowheads="1"/>
            </p:cNvSpPr>
            <p:nvPr/>
          </p:nvSpPr>
          <p:spPr bwMode="auto">
            <a:xfrm>
              <a:off x="6490030" y="391435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17" name="Text Box 15"/>
            <p:cNvSpPr txBox="1">
              <a:spLocks noChangeArrowheads="1"/>
            </p:cNvSpPr>
            <p:nvPr/>
          </p:nvSpPr>
          <p:spPr bwMode="auto">
            <a:xfrm>
              <a:off x="3955057" y="455570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FF"/>
                  </a:solidFill>
                  <a:latin typeface="微软雅黑" pitchFamily="34" charset="-122"/>
                  <a:ea typeface="微软雅黑" pitchFamily="34" charset="-122"/>
                </a:rPr>
                <a:t>7 </a:t>
              </a:r>
              <a:r>
                <a:rPr kumimoji="1" lang="zh-CN" altLang="en-US" sz="1600" b="1">
                  <a:solidFill>
                    <a:srgbClr val="0000FF"/>
                  </a:solidFill>
                  <a:latin typeface="微软雅黑" pitchFamily="34" charset="-122"/>
                  <a:ea typeface="微软雅黑" pitchFamily="34" charset="-122"/>
                </a:rPr>
                <a:t>位 </a:t>
              </a:r>
              <a:r>
                <a:rPr kumimoji="1" lang="en-US" altLang="zh-CN" sz="1600" b="1">
                  <a:solidFill>
                    <a:srgbClr val="0000FF"/>
                  </a:solidFill>
                  <a:latin typeface="微软雅黑" pitchFamily="34" charset="-122"/>
                  <a:ea typeface="微软雅黑" pitchFamily="34" charset="-122"/>
                </a:rPr>
                <a:t>ASCII </a:t>
              </a:r>
              <a:r>
                <a:rPr kumimoji="1" lang="zh-CN" altLang="en-US" sz="1600" b="1">
                  <a:solidFill>
                    <a:srgbClr val="0000FF"/>
                  </a:solidFill>
                  <a:latin typeface="微软雅黑" pitchFamily="34" charset="-122"/>
                  <a:ea typeface="微软雅黑" pitchFamily="34" charset="-122"/>
                </a:rPr>
                <a:t>码</a:t>
              </a:r>
            </a:p>
          </p:txBody>
        </p:sp>
        <p:sp>
          <p:nvSpPr>
            <p:cNvPr id="18" name="Text Box 16"/>
            <p:cNvSpPr txBox="1">
              <a:spLocks noChangeArrowheads="1"/>
            </p:cNvSpPr>
            <p:nvPr/>
          </p:nvSpPr>
          <p:spPr bwMode="auto">
            <a:xfrm>
              <a:off x="6662009"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a:solidFill>
                    <a:srgbClr val="C00000"/>
                  </a:solidFill>
                  <a:latin typeface="微软雅黑" pitchFamily="34" charset="-122"/>
                  <a:ea typeface="微软雅黑" pitchFamily="34" charset="-122"/>
                </a:rPr>
                <a:t>非 </a:t>
              </a:r>
              <a:r>
                <a:rPr kumimoji="1" lang="en-US" altLang="zh-CN" sz="1600" b="1">
                  <a:solidFill>
                    <a:srgbClr val="C00000"/>
                  </a:solidFill>
                  <a:latin typeface="微软雅黑" pitchFamily="34" charset="-122"/>
                  <a:ea typeface="微软雅黑" pitchFamily="34" charset="-122"/>
                </a:rPr>
                <a:t>ASCII </a:t>
              </a:r>
              <a:r>
                <a:rPr kumimoji="1" lang="zh-CN" altLang="en-US" sz="1600" b="1">
                  <a:solidFill>
                    <a:srgbClr val="C00000"/>
                  </a:solidFill>
                  <a:latin typeface="微软雅黑" pitchFamily="34" charset="-122"/>
                  <a:ea typeface="微软雅黑" pitchFamily="34" charset="-122"/>
                </a:rPr>
                <a:t>码</a:t>
              </a:r>
            </a:p>
          </p:txBody>
        </p:sp>
        <p:sp>
          <p:nvSpPr>
            <p:cNvPr id="19" name="Rectangle 17"/>
            <p:cNvSpPr>
              <a:spLocks noChangeArrowheads="1"/>
            </p:cNvSpPr>
            <p:nvPr/>
          </p:nvSpPr>
          <p:spPr bwMode="auto">
            <a:xfrm>
              <a:off x="1301419" y="1772816"/>
              <a:ext cx="1047353" cy="477837"/>
            </a:xfrm>
            <a:prstGeom prst="rect">
              <a:avLst/>
            </a:prstGeom>
            <a:solidFill>
              <a:srgbClr val="99FFCC"/>
            </a:solidFill>
            <a:ln w="9525">
              <a:solidFill>
                <a:srgbClr val="333399"/>
              </a:solidFill>
              <a:miter lim="800000"/>
              <a:headEnd/>
              <a:tailEnd/>
            </a:ln>
            <a:effectLst/>
          </p:spPr>
          <p:txBody>
            <a:bodyPr wrap="none" anchor="ctr"/>
            <a:lstStyle/>
            <a:p>
              <a:pPr algn="ctr" eaLnBrk="1" hangingPunct="1"/>
              <a:r>
                <a:rPr kumimoji="1" lang="zh-CN" altLang="en-US" sz="1600" b="1">
                  <a:latin typeface="微软雅黑" pitchFamily="34" charset="-122"/>
                  <a:ea typeface="微软雅黑" pitchFamily="34" charset="-122"/>
                </a:rPr>
                <a:t>用户</a:t>
              </a:r>
            </a:p>
          </p:txBody>
        </p:sp>
        <p:sp>
          <p:nvSpPr>
            <p:cNvPr id="20" name="Rectangle 18"/>
            <p:cNvSpPr>
              <a:spLocks noChangeArrowheads="1"/>
            </p:cNvSpPr>
            <p:nvPr/>
          </p:nvSpPr>
          <p:spPr bwMode="auto">
            <a:xfrm>
              <a:off x="7821148" y="1772816"/>
              <a:ext cx="1047354" cy="477837"/>
            </a:xfrm>
            <a:prstGeom prst="rect">
              <a:avLst/>
            </a:prstGeom>
            <a:solidFill>
              <a:srgbClr val="99FFCC"/>
            </a:solidFill>
            <a:ln w="9525">
              <a:solidFill>
                <a:srgbClr val="333399"/>
              </a:solidFill>
              <a:miter lim="800000"/>
              <a:headEnd/>
              <a:tailEnd/>
            </a:ln>
            <a:effectLst/>
          </p:spPr>
          <p:txBody>
            <a:bodyPr wrap="none" anchor="ctr"/>
            <a:lstStyle/>
            <a:p>
              <a:pPr algn="ctr" eaLnBrk="1" hangingPunct="1"/>
              <a:r>
                <a:rPr kumimoji="1" lang="zh-CN" altLang="en-US" sz="1600" b="1" dirty="0">
                  <a:latin typeface="微软雅黑" pitchFamily="34" charset="-122"/>
                  <a:ea typeface="微软雅黑" pitchFamily="34" charset="-122"/>
                </a:rPr>
                <a:t>用户</a:t>
              </a:r>
            </a:p>
          </p:txBody>
        </p:sp>
      </p:grpSp>
      <p:sp>
        <p:nvSpPr>
          <p:cNvPr id="22" name="AutoShape 5"/>
          <p:cNvSpPr>
            <a:spLocks noChangeArrowheads="1"/>
          </p:cNvSpPr>
          <p:nvPr/>
        </p:nvSpPr>
        <p:spPr bwMode="auto">
          <a:xfrm>
            <a:off x="556963" y="602576"/>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矩形 22"/>
          <p:cNvSpPr/>
          <p:nvPr/>
        </p:nvSpPr>
        <p:spPr>
          <a:xfrm>
            <a:off x="645268" y="560336"/>
            <a:ext cx="294984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SMTP </a:t>
            </a:r>
            <a:r>
              <a:rPr lang="zh-CN" altLang="en-US" sz="2000" b="1" dirty="0">
                <a:latin typeface="微软雅黑" pitchFamily="34" charset="-122"/>
                <a:ea typeface="微软雅黑" pitchFamily="34" charset="-122"/>
              </a:rPr>
              <a:t>的关系</a:t>
            </a:r>
          </a:p>
        </p:txBody>
      </p:sp>
    </p:spTree>
    <p:extLst>
      <p:ext uri="{BB962C8B-B14F-4D97-AF65-F5344CB8AC3E}">
        <p14:creationId xmlns:p14="http://schemas.microsoft.com/office/powerpoint/2010/main" val="22913747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9132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5 </a:t>
            </a:r>
            <a:r>
              <a:rPr lang="zh-CN" altLang="en-US" sz="2000" b="1" dirty="0">
                <a:latin typeface="微软雅黑" pitchFamily="34" charset="-122"/>
                <a:ea typeface="微软雅黑" pitchFamily="34" charset="-122"/>
              </a:rPr>
              <a:t>个新的邮件</a:t>
            </a:r>
            <a:r>
              <a:rPr lang="zh-CN" altLang="en-US" sz="2000" b="1" dirty="0">
                <a:solidFill>
                  <a:srgbClr val="0000FF"/>
                </a:solidFill>
                <a:latin typeface="微软雅黑" pitchFamily="34" charset="-122"/>
                <a:ea typeface="微软雅黑" pitchFamily="34" charset="-122"/>
              </a:rPr>
              <a:t>首部字段</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定义了许多邮件内容的</a:t>
            </a:r>
            <a:r>
              <a:rPr lang="zh-CN" altLang="en-US" sz="2000" b="1" dirty="0">
                <a:solidFill>
                  <a:srgbClr val="0000FF"/>
                </a:solidFill>
                <a:latin typeface="微软雅黑" pitchFamily="34" charset="-122"/>
                <a:ea typeface="微软雅黑" pitchFamily="34" charset="-122"/>
              </a:rPr>
              <a:t>格式</a:t>
            </a:r>
            <a:r>
              <a:rPr lang="zh-CN" altLang="en-US" sz="2000" b="1" dirty="0">
                <a:latin typeface="微软雅黑" pitchFamily="34" charset="-122"/>
                <a:ea typeface="微软雅黑" pitchFamily="34" charset="-122"/>
              </a:rPr>
              <a:t>，对多媒体电子邮件的表示方法进行了标准化。</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定义了</a:t>
            </a:r>
            <a:r>
              <a:rPr lang="zh-CN" altLang="en-US" sz="2000" b="1" dirty="0">
                <a:solidFill>
                  <a:srgbClr val="0000FF"/>
                </a:solidFill>
                <a:latin typeface="微软雅黑" pitchFamily="34" charset="-122"/>
                <a:ea typeface="微软雅黑" pitchFamily="34" charset="-122"/>
              </a:rPr>
              <a:t>传送编码</a:t>
            </a:r>
            <a:r>
              <a:rPr lang="zh-CN" altLang="en-US" sz="2000" b="1" dirty="0">
                <a:latin typeface="微软雅黑" pitchFamily="34" charset="-122"/>
                <a:ea typeface="微软雅黑" pitchFamily="34" charset="-122"/>
              </a:rPr>
              <a:t>，可对任何内容格式进行转换，而不会被邮件系统改变。</a:t>
            </a:r>
          </a:p>
        </p:txBody>
      </p:sp>
      <p:sp>
        <p:nvSpPr>
          <p:cNvPr id="5" name="AutoShape 5"/>
          <p:cNvSpPr>
            <a:spLocks noChangeArrowheads="1"/>
          </p:cNvSpPr>
          <p:nvPr/>
        </p:nvSpPr>
        <p:spPr bwMode="auto">
          <a:xfrm>
            <a:off x="556963" y="604338"/>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2954"/>
            <a:ext cx="307488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主要包括三个部分</a:t>
            </a:r>
          </a:p>
        </p:txBody>
      </p:sp>
    </p:spTree>
    <p:extLst>
      <p:ext uri="{BB962C8B-B14F-4D97-AF65-F5344CB8AC3E}">
        <p14:creationId xmlns:p14="http://schemas.microsoft.com/office/powerpoint/2010/main" val="194771230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416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5209"/>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4681"/>
            <a:ext cx="3643946" cy="400110"/>
          </a:xfrm>
          <a:prstGeom prst="rect">
            <a:avLst/>
          </a:prstGeom>
        </p:spPr>
        <p:txBody>
          <a:bodyPr wrap="none" anchor="ctr">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增加 </a:t>
            </a:r>
            <a:r>
              <a:rPr lang="en-US" altLang="zh-CN" sz="2000" b="1" dirty="0">
                <a:latin typeface="微软雅黑" pitchFamily="34" charset="-122"/>
                <a:ea typeface="微软雅黑" pitchFamily="34" charset="-122"/>
              </a:rPr>
              <a:t>5 </a:t>
            </a:r>
            <a:r>
              <a:rPr lang="zh-CN" altLang="en-US" sz="2000" b="1" dirty="0">
                <a:latin typeface="微软雅黑" pitchFamily="34" charset="-122"/>
                <a:ea typeface="微软雅黑" pitchFamily="34" charset="-122"/>
              </a:rPr>
              <a:t>个新的邮件首部</a:t>
            </a:r>
          </a:p>
        </p:txBody>
      </p:sp>
      <p:sp>
        <p:nvSpPr>
          <p:cNvPr id="2" name="矩形 1"/>
          <p:cNvSpPr/>
          <p:nvPr/>
        </p:nvSpPr>
        <p:spPr>
          <a:xfrm>
            <a:off x="1789774" y="1273689"/>
            <a:ext cx="6345239" cy="367862"/>
          </a:xfrm>
          <a:prstGeom prst="rect">
            <a:avLst/>
          </a:prstGeom>
          <a:solidFill>
            <a:srgbClr val="0066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bg1"/>
                </a:solidFill>
                <a:latin typeface="微软雅黑" pitchFamily="34" charset="-122"/>
                <a:ea typeface="微软雅黑" pitchFamily="34" charset="-122"/>
              </a:rPr>
              <a:t>邮件首部</a:t>
            </a:r>
          </a:p>
        </p:txBody>
      </p:sp>
      <p:sp>
        <p:nvSpPr>
          <p:cNvPr id="7" name="矩形 6"/>
          <p:cNvSpPr/>
          <p:nvPr/>
        </p:nvSpPr>
        <p:spPr>
          <a:xfrm>
            <a:off x="1789774" y="1641551"/>
            <a:ext cx="6345239" cy="192165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789774" y="3563201"/>
            <a:ext cx="6345239" cy="367862"/>
          </a:xfrm>
          <a:prstGeom prst="rect">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a:solidFill>
                  <a:schemeClr val="tx1"/>
                </a:solidFill>
                <a:latin typeface="微软雅黑" pitchFamily="34" charset="-122"/>
                <a:ea typeface="微软雅黑" pitchFamily="34" charset="-122"/>
              </a:rPr>
              <a:t>邮件主体</a:t>
            </a:r>
          </a:p>
        </p:txBody>
      </p:sp>
      <p:sp>
        <p:nvSpPr>
          <p:cNvPr id="3" name="矩形 2"/>
          <p:cNvSpPr/>
          <p:nvPr/>
        </p:nvSpPr>
        <p:spPr>
          <a:xfrm>
            <a:off x="885526" y="2197229"/>
            <a:ext cx="867546" cy="646331"/>
          </a:xfrm>
          <a:prstGeom prst="rect">
            <a:avLst/>
          </a:prstGeom>
        </p:spPr>
        <p:txBody>
          <a:bodyPr wrap="none">
            <a:spAutoFit/>
          </a:bodyPr>
          <a:lstStyle/>
          <a:p>
            <a:pPr algn="ctr"/>
            <a:r>
              <a:rPr lang="en-US" altLang="zh-CN" b="1" dirty="0">
                <a:solidFill>
                  <a:srgbClr val="0000FF"/>
                </a:solidFill>
                <a:latin typeface="微软雅黑" pitchFamily="34" charset="-122"/>
                <a:ea typeface="微软雅黑" pitchFamily="34" charset="-122"/>
              </a:rPr>
              <a:t>MIME</a:t>
            </a:r>
          </a:p>
          <a:p>
            <a:pPr algn="ctr"/>
            <a:r>
              <a:rPr lang="zh-CN" altLang="en-US" b="1" dirty="0">
                <a:solidFill>
                  <a:srgbClr val="0000FF"/>
                </a:solidFill>
                <a:latin typeface="微软雅黑" pitchFamily="34" charset="-122"/>
                <a:ea typeface="微软雅黑" pitchFamily="34" charset="-122"/>
              </a:rPr>
              <a:t>首部</a:t>
            </a:r>
          </a:p>
        </p:txBody>
      </p:sp>
      <p:sp>
        <p:nvSpPr>
          <p:cNvPr id="9" name="Rectangle 68"/>
          <p:cNvSpPr>
            <a:spLocks noChangeArrowheads="1"/>
          </p:cNvSpPr>
          <p:nvPr/>
        </p:nvSpPr>
        <p:spPr bwMode="auto">
          <a:xfrm>
            <a:off x="1825141" y="1675198"/>
            <a:ext cx="6383444" cy="17594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MIME-Version</a:t>
            </a:r>
            <a:r>
              <a:rPr lang="zh-CN" altLang="en-US" sz="1600" b="1" dirty="0">
                <a:solidFill>
                  <a:srgbClr val="0000FF"/>
                </a:solidFill>
                <a:latin typeface="微软雅黑" pitchFamily="34" charset="-122"/>
                <a:ea typeface="微软雅黑" pitchFamily="34" charset="-122"/>
              </a:rPr>
              <a:t>：</a:t>
            </a:r>
            <a:r>
              <a:rPr lang="en-US" altLang="zh-CN" sz="1600" b="1" dirty="0">
                <a:latin typeface="微软雅黑" pitchFamily="34" charset="-122"/>
                <a:ea typeface="微软雅黑" pitchFamily="34" charset="-122"/>
              </a:rPr>
              <a:t>MIME </a:t>
            </a:r>
            <a:r>
              <a:rPr lang="zh-CN" altLang="en-US" sz="1600" b="1" dirty="0">
                <a:latin typeface="微软雅黑" pitchFamily="34" charset="-122"/>
                <a:ea typeface="微软雅黑" pitchFamily="34" charset="-122"/>
              </a:rPr>
              <a:t>的版本。若无此行，则为英文文本。</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Content-Description</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这是可读字符串，此邮件的说明。</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Content-Id</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邮件的唯一标识符。 </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Content-Transfer-Encoding</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传送时邮件主体使用的编码方法。</a:t>
            </a:r>
          </a:p>
          <a:p>
            <a:pPr marL="179388" indent="-179388" eaLnBrk="0" hangingPunct="0">
              <a:lnSpc>
                <a:spcPts val="2600"/>
              </a:lnSpc>
              <a:buClr>
                <a:srgbClr val="0070C0"/>
              </a:buClr>
              <a:buFont typeface="Wingdings" pitchFamily="2" charset="2"/>
              <a:buChar char="l"/>
            </a:pPr>
            <a:r>
              <a:rPr lang="en-US" altLang="zh-CN" sz="1600" b="1" dirty="0">
                <a:solidFill>
                  <a:srgbClr val="0000FF"/>
                </a:solidFill>
                <a:latin typeface="微软雅黑" pitchFamily="34" charset="-122"/>
                <a:ea typeface="微软雅黑" pitchFamily="34" charset="-122"/>
              </a:rPr>
              <a:t>Content-Type</a:t>
            </a:r>
            <a:r>
              <a:rPr lang="zh-CN" altLang="en-US" sz="1600" b="1" dirty="0">
                <a:solidFill>
                  <a:srgbClr val="0000FF"/>
                </a:solidFill>
                <a:latin typeface="微软雅黑" pitchFamily="34" charset="-122"/>
                <a:ea typeface="微软雅黑" pitchFamily="34" charset="-122"/>
              </a:rPr>
              <a:t>：</a:t>
            </a:r>
            <a:r>
              <a:rPr lang="zh-CN" altLang="en-US" sz="1600" b="1" dirty="0">
                <a:latin typeface="微软雅黑" pitchFamily="34" charset="-122"/>
                <a:ea typeface="微软雅黑" pitchFamily="34" charset="-122"/>
              </a:rPr>
              <a:t>邮件内容类型 </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子类型。 </a:t>
            </a:r>
          </a:p>
        </p:txBody>
      </p:sp>
    </p:spTree>
    <p:extLst>
      <p:ext uri="{BB962C8B-B14F-4D97-AF65-F5344CB8AC3E}">
        <p14:creationId xmlns:p14="http://schemas.microsoft.com/office/powerpoint/2010/main" val="9821120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88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49079" y="567673"/>
            <a:ext cx="58645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内容传送编码</a:t>
            </a:r>
            <a:r>
              <a:rPr lang="en-US" altLang="zh-CN" sz="2000" b="1" dirty="0">
                <a:solidFill>
                  <a:schemeClr val="bg1"/>
                </a:solidFill>
                <a:latin typeface="微软雅黑" pitchFamily="34" charset="-122"/>
                <a:ea typeface="微软雅黑" pitchFamily="34" charset="-122"/>
              </a:rPr>
              <a:t>(Content-Transfer-Encoding) </a:t>
            </a:r>
            <a:endParaRPr lang="zh-CN" altLang="en-US" sz="2000" b="1" dirty="0">
              <a:solidFill>
                <a:schemeClr val="bg1"/>
              </a:solidFill>
              <a:latin typeface="微软雅黑" pitchFamily="34" charset="-122"/>
              <a:ea typeface="微软雅黑" pitchFamily="34" charset="-122"/>
            </a:endParaRPr>
          </a:p>
        </p:txBody>
      </p:sp>
      <p:graphicFrame>
        <p:nvGraphicFramePr>
          <p:cNvPr id="5" name="Group 34"/>
          <p:cNvGraphicFramePr>
            <a:graphicFrameLocks noGrp="1"/>
          </p:cNvGraphicFramePr>
          <p:nvPr>
            <p:extLst>
              <p:ext uri="{D42A27DB-BD31-4B8C-83A1-F6EECF244321}">
                <p14:modId xmlns:p14="http://schemas.microsoft.com/office/powerpoint/2010/main" val="3733025834"/>
              </p:ext>
            </p:extLst>
          </p:nvPr>
        </p:nvGraphicFramePr>
        <p:xfrm>
          <a:off x="663499" y="1027960"/>
          <a:ext cx="7814680" cy="3033085"/>
        </p:xfrm>
        <a:graphic>
          <a:graphicData uri="http://schemas.openxmlformats.org/drawingml/2006/table">
            <a:tbl>
              <a:tblPr firstRow="1" bandRow="1">
                <a:tableStyleId>{5C22544A-7EE6-4342-B048-85BDC9FD1C3A}</a:tableStyleId>
              </a:tblPr>
              <a:tblGrid>
                <a:gridCol w="1149825">
                  <a:extLst>
                    <a:ext uri="{9D8B030D-6E8A-4147-A177-3AD203B41FA5}">
                      <a16:colId xmlns:a16="http://schemas.microsoft.com/office/drawing/2014/main" val="20000"/>
                    </a:ext>
                  </a:extLst>
                </a:gridCol>
                <a:gridCol w="6664855">
                  <a:extLst>
                    <a:ext uri="{9D8B030D-6E8A-4147-A177-3AD203B41FA5}">
                      <a16:colId xmlns:a16="http://schemas.microsoft.com/office/drawing/2014/main" val="20001"/>
                    </a:ext>
                  </a:extLst>
                </a:gridCol>
              </a:tblGrid>
              <a:tr h="366030">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itchFamily="2" charset="2"/>
                        <a:buNone/>
                        <a:tabLst/>
                      </a:pPr>
                      <a:r>
                        <a:rPr kumimoji="1" lang="zh-CN" altLang="en-US" sz="1600" b="1" i="0" u="none" strike="noStrike" cap="none" normalizeH="0" baseline="0" dirty="0">
                          <a:ln>
                            <a:noFill/>
                          </a:ln>
                          <a:solidFill>
                            <a:schemeClr val="bg1"/>
                          </a:solidFill>
                          <a:effectLst/>
                          <a:latin typeface="微软雅黑" pitchFamily="34" charset="-122"/>
                          <a:ea typeface="微软雅黑" pitchFamily="34" charset="-122"/>
                        </a:rPr>
                        <a:t>编码方法</a:t>
                      </a:r>
                      <a:endParaRPr kumimoji="1" lang="en-US" altLang="ko-KR" sz="16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itchFamily="2" charset="2"/>
                        <a:buNone/>
                        <a:tabLst/>
                      </a:pPr>
                      <a:r>
                        <a:rPr kumimoji="1" lang="zh-CN" altLang="en-US" sz="1600" b="1" i="0" u="none" strike="noStrike" cap="none" normalizeH="0" baseline="0" dirty="0">
                          <a:ln>
                            <a:noFill/>
                          </a:ln>
                          <a:solidFill>
                            <a:schemeClr val="bg1"/>
                          </a:solidFill>
                          <a:effectLst/>
                          <a:latin typeface="微软雅黑" pitchFamily="34" charset="-122"/>
                          <a:ea typeface="微软雅黑" pitchFamily="34" charset="-122"/>
                        </a:rPr>
                        <a:t>说明</a:t>
                      </a:r>
                      <a:endParaRPr kumimoji="1" lang="en-US" altLang="ko-KR" sz="16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extLst>
                  <a:ext uri="{0D108BD9-81ED-4DB2-BD59-A6C34878D82A}">
                    <a16:rowId xmlns:a16="http://schemas.microsoft.com/office/drawing/2014/main" val="10000"/>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7bit</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7 </a:t>
                      </a:r>
                      <a:r>
                        <a:rPr kumimoji="1" lang="zh-CN" altLang="en-US" sz="1600" b="1" u="none" strike="noStrike" cap="none" normalizeH="0" baseline="0" dirty="0">
                          <a:ln>
                            <a:noFill/>
                          </a:ln>
                          <a:effectLst/>
                          <a:latin typeface="微软雅黑" pitchFamily="34" charset="-122"/>
                          <a:ea typeface="微软雅黑" pitchFamily="34" charset="-122"/>
                        </a:rPr>
                        <a:t>位 </a:t>
                      </a:r>
                      <a:r>
                        <a:rPr kumimoji="1" lang="en-US" altLang="ko-KR" sz="1600" b="1" u="none" strike="noStrike" cap="none" normalizeH="0" baseline="0" dirty="0">
                          <a:ln>
                            <a:noFill/>
                          </a:ln>
                          <a:effectLst/>
                          <a:latin typeface="微软雅黑" pitchFamily="34" charset="-122"/>
                          <a:ea typeface="微软雅黑" pitchFamily="34" charset="-122"/>
                        </a:rPr>
                        <a:t>ASCII </a:t>
                      </a:r>
                      <a:r>
                        <a:rPr kumimoji="1" lang="zh-CN" altLang="en-US" sz="1600" b="1" u="none" strike="noStrike" cap="none" normalizeH="0" baseline="0" dirty="0">
                          <a:ln>
                            <a:noFill/>
                          </a:ln>
                          <a:effectLst/>
                          <a:latin typeface="微软雅黑" pitchFamily="34" charset="-122"/>
                          <a:ea typeface="微软雅黑" pitchFamily="34" charset="-122"/>
                        </a:rPr>
                        <a:t>编码，每行不能超过 </a:t>
                      </a:r>
                      <a:r>
                        <a:rPr kumimoji="1" lang="en-US" altLang="zh-CN" sz="1600" b="1" u="none" strike="noStrike" cap="none" normalizeH="0" baseline="0" dirty="0">
                          <a:ln>
                            <a:noFill/>
                          </a:ln>
                          <a:effectLst/>
                          <a:latin typeface="微软雅黑" pitchFamily="34" charset="-122"/>
                          <a:ea typeface="微软雅黑" pitchFamily="34" charset="-122"/>
                        </a:rPr>
                        <a:t>1000 </a:t>
                      </a:r>
                      <a:r>
                        <a:rPr kumimoji="1" lang="zh-CN" altLang="en-US" sz="1600" b="1" u="none" strike="noStrike" cap="none" normalizeH="0" baseline="0" dirty="0">
                          <a:ln>
                            <a:noFill/>
                          </a:ln>
                          <a:effectLst/>
                          <a:latin typeface="微软雅黑" pitchFamily="34" charset="-122"/>
                          <a:ea typeface="微软雅黑" pitchFamily="34" charset="-122"/>
                        </a:rPr>
                        <a:t>个字符（包括回车和换行</a:t>
                      </a:r>
                      <a:r>
                        <a:rPr kumimoji="1" lang="zh-CN" altLang="en-US" sz="1600" b="1" u="none" strike="noStrike" cap="none" normalizeH="0" baseline="0">
                          <a:ln>
                            <a:noFill/>
                          </a:ln>
                          <a:effectLst/>
                          <a:latin typeface="微软雅黑" pitchFamily="34" charset="-122"/>
                          <a:ea typeface="微软雅黑" pitchFamily="34" charset="-122"/>
                        </a:rPr>
                        <a:t>）。默认编码方法</a:t>
                      </a:r>
                      <a:r>
                        <a:rPr kumimoji="1" lang="zh-CN" altLang="en-US" sz="1600" b="1" u="none" strike="noStrike" cap="none" normalizeH="0" baseline="0" dirty="0">
                          <a:ln>
                            <a:noFill/>
                          </a:ln>
                          <a:effectLst/>
                          <a:latin typeface="微软雅黑" pitchFamily="34" charset="-122"/>
                          <a:ea typeface="微软雅黑" pitchFamily="34" charset="-122"/>
                        </a:rPr>
                        <a:t>。</a:t>
                      </a:r>
                      <a:endParaRPr kumimoji="1" lang="ko-KR" altLang="en-US" sz="1600" b="1" i="0" u="none" strike="noStrike" cap="none" normalizeH="0" baseline="0" dirty="0">
                        <a:ln>
                          <a:noFill/>
                        </a:ln>
                        <a:solidFill>
                          <a:schemeClr val="tx1"/>
                        </a:solidFill>
                        <a:effectLst/>
                        <a:latin typeface="微软雅黑" pitchFamily="34" charset="-122"/>
                        <a:ea typeface="굴림" pitchFamily="50"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1"/>
                  </a:ext>
                </a:extLst>
              </a:tr>
              <a:tr h="36734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8bit</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8 </a:t>
                      </a:r>
                      <a:r>
                        <a:rPr kumimoji="1" lang="zh-CN" altLang="en-US" sz="1600" b="1" u="none" strike="noStrike" cap="none" normalizeH="0" baseline="0" dirty="0">
                          <a:ln>
                            <a:noFill/>
                          </a:ln>
                          <a:effectLst/>
                          <a:latin typeface="微软雅黑" pitchFamily="34" charset="-122"/>
                          <a:ea typeface="微软雅黑" pitchFamily="34" charset="-122"/>
                        </a:rPr>
                        <a:t>位非 </a:t>
                      </a:r>
                      <a:r>
                        <a:rPr kumimoji="1" lang="en-US" altLang="zh-CN" sz="1600" b="1" u="none" strike="noStrike" cap="none" normalizeH="0" baseline="0" dirty="0">
                          <a:ln>
                            <a:noFill/>
                          </a:ln>
                          <a:effectLst/>
                          <a:latin typeface="微软雅黑" pitchFamily="34" charset="-122"/>
                          <a:ea typeface="微软雅黑" pitchFamily="34" charset="-122"/>
                        </a:rPr>
                        <a:t>ASCII </a:t>
                      </a:r>
                      <a:r>
                        <a:rPr kumimoji="1" lang="zh-CN" altLang="en-US" sz="1600" b="1" u="none" strike="noStrike" cap="none" normalizeH="0" baseline="0" dirty="0">
                          <a:ln>
                            <a:noFill/>
                          </a:ln>
                          <a:effectLst/>
                          <a:latin typeface="微软雅黑" pitchFamily="34" charset="-122"/>
                          <a:ea typeface="微软雅黑" pitchFamily="34" charset="-122"/>
                        </a:rPr>
                        <a:t>编码，每行不能超过 </a:t>
                      </a:r>
                      <a:r>
                        <a:rPr kumimoji="1" lang="en-US" altLang="zh-CN" sz="1600" b="1" u="none" strike="noStrike" cap="none" normalizeH="0" baseline="0" dirty="0">
                          <a:ln>
                            <a:noFill/>
                          </a:ln>
                          <a:effectLst/>
                          <a:latin typeface="微软雅黑" pitchFamily="34" charset="-122"/>
                          <a:ea typeface="微软雅黑" pitchFamily="34" charset="-122"/>
                        </a:rPr>
                        <a:t>1000 </a:t>
                      </a:r>
                      <a:r>
                        <a:rPr kumimoji="1" lang="zh-CN" altLang="en-US" sz="1600" b="1" u="none" strike="noStrike" cap="none" normalizeH="0" baseline="0" dirty="0">
                          <a:ln>
                            <a:noFill/>
                          </a:ln>
                          <a:effectLst/>
                          <a:latin typeface="微软雅黑" pitchFamily="34" charset="-122"/>
                          <a:ea typeface="微软雅黑" pitchFamily="34" charset="-122"/>
                        </a:rPr>
                        <a:t>个字节（包括回车和换行）。</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36734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Binary</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8 </a:t>
                      </a:r>
                      <a:r>
                        <a:rPr kumimoji="1" lang="zh-CN" altLang="en-US" sz="1600" b="1" u="none" strike="noStrike" cap="none" normalizeH="0" baseline="0" dirty="0">
                          <a:ln>
                            <a:noFill/>
                          </a:ln>
                          <a:effectLst/>
                          <a:latin typeface="微软雅黑" pitchFamily="34" charset="-122"/>
                          <a:ea typeface="微软雅黑" pitchFamily="34" charset="-122"/>
                        </a:rPr>
                        <a:t>位非 </a:t>
                      </a:r>
                      <a:r>
                        <a:rPr kumimoji="1" lang="en-US" altLang="zh-CN" sz="1600" b="1" u="none" strike="noStrike" cap="none" normalizeH="0" baseline="0" dirty="0">
                          <a:ln>
                            <a:noFill/>
                          </a:ln>
                          <a:effectLst/>
                          <a:latin typeface="微软雅黑" pitchFamily="34" charset="-122"/>
                          <a:ea typeface="微软雅黑" pitchFamily="34" charset="-122"/>
                        </a:rPr>
                        <a:t>ASCII </a:t>
                      </a:r>
                      <a:r>
                        <a:rPr kumimoji="1" lang="zh-CN" altLang="en-US" sz="1600" b="1" u="none" strike="noStrike" cap="none" normalizeH="0" baseline="0" dirty="0">
                          <a:ln>
                            <a:noFill/>
                          </a:ln>
                          <a:effectLst/>
                          <a:latin typeface="微软雅黑" pitchFamily="34" charset="-122"/>
                          <a:ea typeface="微软雅黑" pitchFamily="34" charset="-122"/>
                        </a:rPr>
                        <a:t>编码，任意长度的字节串。</a:t>
                      </a:r>
                      <a:endParaRPr kumimoji="1" lang="ko-KR" altLang="en-US" sz="1600" b="1" i="0" u="none" strike="noStrike" cap="none" normalizeH="0" baseline="0" dirty="0">
                        <a:ln>
                          <a:noFill/>
                        </a:ln>
                        <a:solidFill>
                          <a:schemeClr val="tx1"/>
                        </a:solidFill>
                        <a:effectLst/>
                        <a:latin typeface="微软雅黑" pitchFamily="34" charset="-122"/>
                        <a:ea typeface="굴림" pitchFamily="50"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3"/>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Base64</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zh-CN" altLang="en-US" sz="1600" b="1" u="none" strike="noStrike" kern="1200" cap="none" normalizeH="0" baseline="0" dirty="0">
                          <a:ln>
                            <a:noFill/>
                          </a:ln>
                          <a:solidFill>
                            <a:schemeClr val="dk1"/>
                          </a:solidFill>
                          <a:effectLst/>
                          <a:latin typeface="微软雅黑" pitchFamily="34" charset="-122"/>
                          <a:ea typeface="微软雅黑" pitchFamily="34" charset="-122"/>
                          <a:cs typeface="+mn-cs"/>
                        </a:rPr>
                        <a:t>将任意长度的字节串转换为用 </a:t>
                      </a:r>
                      <a:r>
                        <a:rPr kumimoji="1" lang="en-US" altLang="zh-CN" sz="1600" b="1" u="none" strike="noStrike" kern="1200" cap="none" normalizeH="0" baseline="0" dirty="0">
                          <a:ln>
                            <a:noFill/>
                          </a:ln>
                          <a:solidFill>
                            <a:schemeClr val="dk1"/>
                          </a:solidFill>
                          <a:effectLst/>
                          <a:latin typeface="微软雅黑" pitchFamily="34" charset="-122"/>
                          <a:ea typeface="微软雅黑" pitchFamily="34" charset="-122"/>
                          <a:cs typeface="+mn-cs"/>
                        </a:rPr>
                        <a:t>7 </a:t>
                      </a:r>
                      <a:r>
                        <a:rPr kumimoji="1" lang="zh-CN" altLang="en-US" sz="1600" b="1" u="none" strike="noStrike" kern="1200" cap="none" normalizeH="0" baseline="0" dirty="0">
                          <a:ln>
                            <a:noFill/>
                          </a:ln>
                          <a:solidFill>
                            <a:schemeClr val="dk1"/>
                          </a:solidFill>
                          <a:effectLst/>
                          <a:latin typeface="微软雅黑" pitchFamily="34" charset="-122"/>
                          <a:ea typeface="微软雅黑" pitchFamily="34" charset="-122"/>
                          <a:cs typeface="+mn-cs"/>
                        </a:rPr>
                        <a:t>位 </a:t>
                      </a:r>
                      <a:r>
                        <a:rPr kumimoji="1" lang="en-US" altLang="zh-CN" sz="1600" b="1" u="none" strike="noStrike" kern="1200" cap="none" normalizeH="0" baseline="0" dirty="0">
                          <a:ln>
                            <a:noFill/>
                          </a:ln>
                          <a:solidFill>
                            <a:schemeClr val="dk1"/>
                          </a:solidFill>
                          <a:effectLst/>
                          <a:latin typeface="微软雅黑" pitchFamily="34" charset="-122"/>
                          <a:ea typeface="微软雅黑" pitchFamily="34" charset="-122"/>
                          <a:cs typeface="+mn-cs"/>
                        </a:rPr>
                        <a:t>ASCII </a:t>
                      </a:r>
                      <a:r>
                        <a:rPr kumimoji="1" lang="zh-CN" altLang="en-US" sz="1600" b="1" u="none" strike="noStrike" kern="1200" cap="none" normalizeH="0" baseline="0" dirty="0">
                          <a:ln>
                            <a:noFill/>
                          </a:ln>
                          <a:solidFill>
                            <a:schemeClr val="dk1"/>
                          </a:solidFill>
                          <a:effectLst/>
                          <a:latin typeface="微软雅黑" pitchFamily="34" charset="-122"/>
                          <a:ea typeface="微软雅黑" pitchFamily="34" charset="-122"/>
                          <a:cs typeface="+mn-cs"/>
                        </a:rPr>
                        <a:t>编码表示的字符串。可用于二进制和非文本数据的编码。</a:t>
                      </a:r>
                      <a:endParaRPr kumimoji="1" lang="ko-KR" altLang="en-US" sz="1600" b="1" u="none" strike="noStrike" kern="1200" cap="none" normalizeH="0" baseline="0" dirty="0">
                        <a:ln>
                          <a:noFill/>
                        </a:ln>
                        <a:solidFill>
                          <a:schemeClr val="dk1"/>
                        </a:solidFill>
                        <a:effectLst/>
                        <a:latin typeface="微软雅黑" pitchFamily="34" charset="-122"/>
                        <a:ea typeface="微软雅黑" pitchFamily="34" charset="-122"/>
                        <a:cs typeface="+mn-cs"/>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644119">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en-US" altLang="ko-KR" sz="1600" b="1" u="none" strike="noStrike" cap="none" normalizeH="0" baseline="0" dirty="0">
                          <a:ln>
                            <a:noFill/>
                          </a:ln>
                          <a:effectLst/>
                          <a:latin typeface="微软雅黑" pitchFamily="34" charset="-122"/>
                          <a:ea typeface="微软雅黑" pitchFamily="34" charset="-122"/>
                        </a:rPr>
                        <a:t>Quoted-printable</a:t>
                      </a:r>
                      <a:endParaRPr kumimoji="1" lang="en-US" altLang="ko-KR" sz="16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a:ea typeface="굴림"/>
                        </a:defRPr>
                      </a:lvl1pPr>
                      <a:lvl2pPr marL="457200" algn="l" defTabSz="914400" rtl="0" eaLnBrk="1" latinLnBrk="0" hangingPunct="1">
                        <a:defRPr sz="1800" kern="1200">
                          <a:solidFill>
                            <a:schemeClr val="tx1"/>
                          </a:solidFill>
                          <a:latin typeface="굴림"/>
                          <a:ea typeface="굴림"/>
                        </a:defRPr>
                      </a:lvl2pPr>
                      <a:lvl3pPr marL="914400" algn="l" defTabSz="914400" rtl="0" eaLnBrk="1" latinLnBrk="0" hangingPunct="1">
                        <a:defRPr sz="1800" kern="1200">
                          <a:solidFill>
                            <a:schemeClr val="tx1"/>
                          </a:solidFill>
                          <a:latin typeface="굴림"/>
                          <a:ea typeface="굴림"/>
                        </a:defRPr>
                      </a:lvl3pPr>
                      <a:lvl4pPr marL="1371600" algn="l" defTabSz="914400" rtl="0" eaLnBrk="1" latinLnBrk="0" hangingPunct="1">
                        <a:defRPr sz="1800" kern="1200">
                          <a:solidFill>
                            <a:schemeClr val="tx1"/>
                          </a:solidFill>
                          <a:latin typeface="굴림"/>
                          <a:ea typeface="굴림"/>
                        </a:defRPr>
                      </a:lvl4pPr>
                      <a:lvl5pPr marL="1828800" algn="l" defTabSz="914400" rtl="0" eaLnBrk="1" latinLnBrk="0" hangingPunct="1">
                        <a:defRPr sz="1800" kern="1200">
                          <a:solidFill>
                            <a:schemeClr val="tx1"/>
                          </a:solidFill>
                          <a:latin typeface="굴림"/>
                          <a:ea typeface="굴림"/>
                        </a:defRPr>
                      </a:lvl5pPr>
                      <a:lvl6pPr marL="2286000" algn="l" defTabSz="914400" rtl="0" eaLnBrk="1" latinLnBrk="0" hangingPunct="1">
                        <a:defRPr sz="1800" kern="1200">
                          <a:solidFill>
                            <a:schemeClr val="tx1"/>
                          </a:solidFill>
                          <a:latin typeface="굴림"/>
                          <a:ea typeface="굴림"/>
                        </a:defRPr>
                      </a:lvl6pPr>
                      <a:lvl7pPr marL="2743200" algn="l" defTabSz="914400" rtl="0" eaLnBrk="1" latinLnBrk="0" hangingPunct="1">
                        <a:defRPr sz="1800" kern="1200">
                          <a:solidFill>
                            <a:schemeClr val="tx1"/>
                          </a:solidFill>
                          <a:latin typeface="굴림"/>
                          <a:ea typeface="굴림"/>
                        </a:defRPr>
                      </a:lvl7pPr>
                      <a:lvl8pPr marL="3200400" algn="l" defTabSz="914400" rtl="0" eaLnBrk="1" latinLnBrk="0" hangingPunct="1">
                        <a:defRPr sz="1800" kern="1200">
                          <a:solidFill>
                            <a:schemeClr val="tx1"/>
                          </a:solidFill>
                          <a:latin typeface="굴림"/>
                          <a:ea typeface="굴림"/>
                        </a:defRPr>
                      </a:lvl8pPr>
                      <a:lvl9pPr marL="3657600" algn="l" defTabSz="914400" rtl="0" eaLnBrk="1" latinLnBrk="0" hangingPunct="1">
                        <a:defRPr sz="1800" kern="1200">
                          <a:solidFill>
                            <a:schemeClr val="tx1"/>
                          </a:solidFill>
                          <a:latin typeface="굴림"/>
                          <a:ea typeface="굴림"/>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itchFamily="2" charset="2"/>
                        <a:buNone/>
                        <a:tabLst/>
                      </a:pPr>
                      <a:r>
                        <a:rPr kumimoji="1" lang="zh-CN" altLang="en-US" sz="1600" b="1" u="none" strike="noStrike" cap="none" normalizeH="0" baseline="0" dirty="0">
                          <a:ln>
                            <a:noFill/>
                          </a:ln>
                          <a:effectLst/>
                          <a:latin typeface="微软雅黑" pitchFamily="34" charset="-122"/>
                          <a:ea typeface="微软雅黑" pitchFamily="34" charset="-122"/>
                        </a:rPr>
                        <a:t>将任意长度的字节串转换为 </a:t>
                      </a:r>
                      <a:r>
                        <a:rPr kumimoji="1" lang="en-US" altLang="zh-CN" sz="1600" b="1" u="none" strike="noStrike" cap="none" normalizeH="0" baseline="0" dirty="0">
                          <a:ln>
                            <a:noFill/>
                          </a:ln>
                          <a:effectLst/>
                          <a:latin typeface="微软雅黑" pitchFamily="34" charset="-122"/>
                          <a:ea typeface="微软雅黑" pitchFamily="34" charset="-122"/>
                        </a:rPr>
                        <a:t>ASCII </a:t>
                      </a:r>
                      <a:r>
                        <a:rPr kumimoji="1" lang="zh-CN" altLang="en-US" sz="1600" b="1" u="none" strike="noStrike" cap="none" normalizeH="0" baseline="0" dirty="0">
                          <a:ln>
                            <a:noFill/>
                          </a:ln>
                          <a:effectLst/>
                          <a:latin typeface="微软雅黑" pitchFamily="34" charset="-122"/>
                          <a:ea typeface="微软雅黑" pitchFamily="34" charset="-122"/>
                        </a:rPr>
                        <a:t>编码表示的字符串。可用于二进制和非文本数据的编码。</a:t>
                      </a: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9994875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4" y="1426737"/>
            <a:ext cx="8048775" cy="240686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Rectangle 68"/>
          <p:cNvSpPr>
            <a:spLocks noChangeArrowheads="1"/>
          </p:cNvSpPr>
          <p:nvPr/>
        </p:nvSpPr>
        <p:spPr bwMode="auto">
          <a:xfrm>
            <a:off x="556964" y="913678"/>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适用于所传送的数据中只有</a:t>
            </a:r>
            <a:r>
              <a:rPr lang="zh-CN" altLang="en-US" sz="2000" b="1" dirty="0">
                <a:solidFill>
                  <a:srgbClr val="C00000"/>
                </a:solidFill>
                <a:latin typeface="微软雅黑" pitchFamily="34" charset="-122"/>
                <a:ea typeface="微软雅黑" pitchFamily="34" charset="-122"/>
              </a:rPr>
              <a:t>少量</a:t>
            </a:r>
            <a:r>
              <a:rPr lang="zh-CN" altLang="en-US" sz="2000" b="1" dirty="0">
                <a:latin typeface="微软雅黑" pitchFamily="34" charset="-122"/>
                <a:ea typeface="微软雅黑" pitchFamily="34" charset="-122"/>
              </a:rPr>
              <a:t>的非 </a:t>
            </a:r>
            <a:r>
              <a:rPr lang="en-US" altLang="zh-CN" sz="2000" b="1" dirty="0">
                <a:latin typeface="微软雅黑" pitchFamily="34" charset="-122"/>
                <a:ea typeface="微软雅黑" pitchFamily="34" charset="-122"/>
              </a:rPr>
              <a:t>ASCII </a:t>
            </a:r>
            <a:r>
              <a:rPr lang="zh-CN" altLang="en-US" sz="2000" b="1" dirty="0">
                <a:latin typeface="微软雅黑" pitchFamily="34" charset="-122"/>
                <a:ea typeface="微软雅黑" pitchFamily="34" charset="-122"/>
              </a:rPr>
              <a:t>码的情况。</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56963" y="599254"/>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7870"/>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Quoted-printable </a:t>
            </a:r>
            <a:r>
              <a:rPr lang="zh-CN" altLang="en-US" sz="2000" b="1" dirty="0">
                <a:latin typeface="微软雅黑" pitchFamily="34" charset="-122"/>
                <a:ea typeface="微软雅黑" pitchFamily="34" charset="-122"/>
              </a:rPr>
              <a:t>编码</a:t>
            </a:r>
          </a:p>
        </p:txBody>
      </p:sp>
      <p:sp>
        <p:nvSpPr>
          <p:cNvPr id="8" name="Rectangle 1030"/>
          <p:cNvSpPr>
            <a:spLocks noChangeArrowheads="1"/>
          </p:cNvSpPr>
          <p:nvPr/>
        </p:nvSpPr>
        <p:spPr bwMode="auto">
          <a:xfrm>
            <a:off x="1037781" y="2730424"/>
            <a:ext cx="993646" cy="277470"/>
          </a:xfrm>
          <a:prstGeom prst="rect">
            <a:avLst/>
          </a:prstGeom>
          <a:solidFill>
            <a:srgbClr val="0000FF"/>
          </a:solidFill>
          <a:ln w="9525">
            <a:solidFill>
              <a:srgbClr val="000000"/>
            </a:solidFill>
            <a:miter lim="800000"/>
            <a:headEnd/>
            <a:tailEnd/>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a:solidFill>
                  <a:schemeClr val="bg1"/>
                </a:solidFill>
                <a:latin typeface="微软雅黑" pitchFamily="34" charset="-122"/>
                <a:ea typeface="微软雅黑" pitchFamily="34" charset="-122"/>
              </a:rPr>
              <a:t>00111101</a:t>
            </a:r>
          </a:p>
        </p:txBody>
      </p:sp>
      <p:sp>
        <p:nvSpPr>
          <p:cNvPr id="9" name="Rectangle 1031"/>
          <p:cNvSpPr>
            <a:spLocks noChangeArrowheads="1"/>
          </p:cNvSpPr>
          <p:nvPr/>
        </p:nvSpPr>
        <p:spPr bwMode="auto">
          <a:xfrm>
            <a:off x="2039791" y="2730424"/>
            <a:ext cx="993646" cy="277470"/>
          </a:xfrm>
          <a:prstGeom prst="rect">
            <a:avLst/>
          </a:prstGeom>
          <a:solidFill>
            <a:srgbClr val="0000FF"/>
          </a:solidFill>
          <a:ln w="9525">
            <a:solidFill>
              <a:srgbClr val="000000"/>
            </a:solidFill>
            <a:miter lim="800000"/>
            <a:headEnd/>
            <a:tailEnd/>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a:solidFill>
                  <a:schemeClr val="bg1"/>
                </a:solidFill>
                <a:latin typeface="微软雅黑" pitchFamily="34" charset="-122"/>
                <a:ea typeface="微软雅黑" pitchFamily="34" charset="-122"/>
              </a:rPr>
              <a:t>00111001</a:t>
            </a:r>
          </a:p>
        </p:txBody>
      </p:sp>
      <p:sp>
        <p:nvSpPr>
          <p:cNvPr id="10" name="Rectangle 1032"/>
          <p:cNvSpPr>
            <a:spLocks noChangeArrowheads="1"/>
          </p:cNvSpPr>
          <p:nvPr/>
        </p:nvSpPr>
        <p:spPr bwMode="auto">
          <a:xfrm>
            <a:off x="3031291" y="2730424"/>
            <a:ext cx="993646" cy="277470"/>
          </a:xfrm>
          <a:prstGeom prst="rect">
            <a:avLst/>
          </a:prstGeom>
          <a:solidFill>
            <a:srgbClr val="0000FF"/>
          </a:solidFill>
          <a:ln w="9525">
            <a:solidFill>
              <a:srgbClr val="000000"/>
            </a:solidFill>
            <a:miter lim="800000"/>
            <a:headEnd/>
            <a:tailEnd/>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dirty="0">
                <a:solidFill>
                  <a:schemeClr val="bg1"/>
                </a:solidFill>
                <a:latin typeface="微软雅黑" pitchFamily="34" charset="-122"/>
                <a:ea typeface="微软雅黑" pitchFamily="34" charset="-122"/>
              </a:rPr>
              <a:t>01000100</a:t>
            </a:r>
          </a:p>
        </p:txBody>
      </p:sp>
      <p:sp>
        <p:nvSpPr>
          <p:cNvPr id="11" name="Line 1035"/>
          <p:cNvSpPr>
            <a:spLocks noChangeShapeType="1"/>
          </p:cNvSpPr>
          <p:nvPr/>
        </p:nvSpPr>
        <p:spPr bwMode="auto">
          <a:xfrm flipH="1">
            <a:off x="1546227" y="1999099"/>
            <a:ext cx="738668" cy="731324"/>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2" name="Line 1036"/>
          <p:cNvSpPr>
            <a:spLocks noChangeShapeType="1"/>
          </p:cNvSpPr>
          <p:nvPr/>
        </p:nvSpPr>
        <p:spPr bwMode="auto">
          <a:xfrm flipH="1">
            <a:off x="2487095" y="1945728"/>
            <a:ext cx="0" cy="784695"/>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3" name="Line 1037"/>
          <p:cNvSpPr>
            <a:spLocks noChangeShapeType="1"/>
          </p:cNvSpPr>
          <p:nvPr/>
        </p:nvSpPr>
        <p:spPr bwMode="auto">
          <a:xfrm>
            <a:off x="2757862" y="1818633"/>
            <a:ext cx="791917" cy="911791"/>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4" name="Text Box 1043"/>
          <p:cNvSpPr txBox="1">
            <a:spLocks noChangeArrowheads="1"/>
          </p:cNvSpPr>
          <p:nvPr/>
        </p:nvSpPr>
        <p:spPr bwMode="auto">
          <a:xfrm>
            <a:off x="1268065" y="2422994"/>
            <a:ext cx="42030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a:t>
            </a:r>
          </a:p>
        </p:txBody>
      </p:sp>
      <p:sp>
        <p:nvSpPr>
          <p:cNvPr id="15" name="Text Box 1044"/>
          <p:cNvSpPr txBox="1">
            <a:spLocks noChangeArrowheads="1"/>
          </p:cNvSpPr>
          <p:nvPr/>
        </p:nvSpPr>
        <p:spPr bwMode="auto">
          <a:xfrm>
            <a:off x="2482976" y="2422994"/>
            <a:ext cx="39786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(9)</a:t>
            </a:r>
          </a:p>
        </p:txBody>
      </p:sp>
      <p:sp>
        <p:nvSpPr>
          <p:cNvPr id="16" name="Text Box 1045"/>
          <p:cNvSpPr txBox="1">
            <a:spLocks noChangeArrowheads="1"/>
          </p:cNvSpPr>
          <p:nvPr/>
        </p:nvSpPr>
        <p:spPr bwMode="auto">
          <a:xfrm>
            <a:off x="3445006" y="2422994"/>
            <a:ext cx="4251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lgn="l" eaLnBrk="1" hangingPunct="1"/>
            <a:r>
              <a:rPr lang="en-US" altLang="zh-CN" sz="1200" b="1" dirty="0">
                <a:solidFill>
                  <a:srgbClr val="020202"/>
                </a:solidFill>
                <a:latin typeface="微软雅黑" pitchFamily="34" charset="-122"/>
                <a:ea typeface="微软雅黑" pitchFamily="34" charset="-122"/>
              </a:rPr>
              <a:t>(D)</a:t>
            </a:r>
          </a:p>
        </p:txBody>
      </p:sp>
      <p:sp>
        <p:nvSpPr>
          <p:cNvPr id="7" name="Rectangle 1028"/>
          <p:cNvSpPr>
            <a:spLocks noChangeArrowheads="1"/>
          </p:cNvSpPr>
          <p:nvPr/>
        </p:nvSpPr>
        <p:spPr bwMode="auto">
          <a:xfrm>
            <a:off x="943192" y="1818633"/>
            <a:ext cx="3186846" cy="360933"/>
          </a:xfrm>
          <a:prstGeom prst="rect">
            <a:avLst/>
          </a:prstGeom>
          <a:solidFill>
            <a:srgbClr val="00CCFF"/>
          </a:solidFill>
          <a:ln w="9525">
            <a:solidFill>
              <a:srgbClr val="000000"/>
            </a:solidFill>
            <a:miter lim="800000"/>
            <a:headEnd/>
            <a:tailEnd/>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r>
              <a:rPr lang="en-US" altLang="zh-CN" sz="1200" b="1" dirty="0">
                <a:solidFill>
                  <a:srgbClr val="020202"/>
                </a:solidFill>
                <a:latin typeface="微软雅黑" pitchFamily="34" charset="-122"/>
                <a:ea typeface="微软雅黑" pitchFamily="34" charset="-122"/>
              </a:rPr>
              <a:t> … 01001100   </a:t>
            </a:r>
            <a:r>
              <a:rPr lang="en-US" altLang="zh-CN" sz="1200" b="1" dirty="0">
                <a:solidFill>
                  <a:srgbClr val="0000FF"/>
                </a:solidFill>
                <a:latin typeface="微软雅黑" pitchFamily="34" charset="-122"/>
                <a:ea typeface="微软雅黑" pitchFamily="34" charset="-122"/>
              </a:rPr>
              <a:t>1001</a:t>
            </a:r>
            <a:r>
              <a:rPr lang="en-US" altLang="zh-CN" sz="1200" b="1" dirty="0">
                <a:solidFill>
                  <a:srgbClr val="C00000"/>
                </a:solidFill>
                <a:latin typeface="微软雅黑" pitchFamily="34" charset="-122"/>
                <a:ea typeface="微软雅黑" pitchFamily="34" charset="-122"/>
              </a:rPr>
              <a:t>1101 </a:t>
            </a:r>
            <a:r>
              <a:rPr lang="en-US" altLang="zh-CN" sz="1200" b="1" dirty="0">
                <a:solidFill>
                  <a:srgbClr val="020202"/>
                </a:solidFill>
                <a:latin typeface="微软雅黑" pitchFamily="34" charset="-122"/>
                <a:ea typeface="微软雅黑" pitchFamily="34" charset="-122"/>
              </a:rPr>
              <a:t>     00111001  … </a:t>
            </a:r>
          </a:p>
        </p:txBody>
      </p:sp>
      <p:sp>
        <p:nvSpPr>
          <p:cNvPr id="17" name="矩形 16"/>
          <p:cNvSpPr/>
          <p:nvPr/>
        </p:nvSpPr>
        <p:spPr>
          <a:xfrm>
            <a:off x="2092340" y="1860673"/>
            <a:ext cx="951937" cy="288000"/>
          </a:xfrm>
          <a:prstGeom prst="rect">
            <a:avLst/>
          </a:prstGeom>
          <a:solidFill>
            <a:srgbClr val="FFFF00"/>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rgbClr val="0000FF"/>
                </a:solidFill>
                <a:latin typeface="微软雅黑" pitchFamily="34" charset="-122"/>
                <a:ea typeface="微软雅黑" pitchFamily="34" charset="-122"/>
              </a:rPr>
              <a:t>1001</a:t>
            </a:r>
            <a:r>
              <a:rPr lang="en-US" altLang="zh-CN" sz="1200" b="1" dirty="0">
                <a:solidFill>
                  <a:srgbClr val="C00000"/>
                </a:solidFill>
                <a:latin typeface="微软雅黑" pitchFamily="34" charset="-122"/>
                <a:ea typeface="微软雅黑" pitchFamily="34" charset="-122"/>
              </a:rPr>
              <a:t>1101</a:t>
            </a:r>
            <a:endParaRPr lang="zh-CN" altLang="en-US" sz="1200" b="1" dirty="0">
              <a:solidFill>
                <a:srgbClr val="020202"/>
              </a:solidFill>
              <a:latin typeface="微软雅黑" pitchFamily="34" charset="-122"/>
              <a:ea typeface="微软雅黑" pitchFamily="34" charset="-122"/>
            </a:endParaRPr>
          </a:p>
        </p:txBody>
      </p:sp>
      <p:sp>
        <p:nvSpPr>
          <p:cNvPr id="20" name="Line 1036"/>
          <p:cNvSpPr>
            <a:spLocks noChangeShapeType="1"/>
          </p:cNvSpPr>
          <p:nvPr/>
        </p:nvSpPr>
        <p:spPr bwMode="auto">
          <a:xfrm flipH="1">
            <a:off x="6334120" y="2187812"/>
            <a:ext cx="0" cy="469041"/>
          </a:xfrm>
          <a:prstGeom prst="line">
            <a:avLst/>
          </a:prstGeom>
          <a:noFill/>
          <a:ln w="19050">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charset="0"/>
                <a:ea typeface="+mn-ea"/>
                <a:cs typeface="+mn-cs"/>
              </a:defRPr>
            </a:lvl1pPr>
            <a:lvl2pPr marL="457200" algn="ctr" rtl="0" eaLnBrk="0" fontAlgn="base" hangingPunct="0">
              <a:spcBef>
                <a:spcPct val="0"/>
              </a:spcBef>
              <a:spcAft>
                <a:spcPct val="0"/>
              </a:spcAft>
              <a:defRPr kern="1200">
                <a:solidFill>
                  <a:schemeClr val="tx1"/>
                </a:solidFill>
                <a:latin typeface="Arial" charset="0"/>
                <a:ea typeface="+mn-ea"/>
                <a:cs typeface="+mn-cs"/>
              </a:defRPr>
            </a:lvl2pPr>
            <a:lvl3pPr marL="914400" algn="ctr" rtl="0" eaLnBrk="0" fontAlgn="base" hangingPunct="0">
              <a:spcBef>
                <a:spcPct val="0"/>
              </a:spcBef>
              <a:spcAft>
                <a:spcPct val="0"/>
              </a:spcAft>
              <a:defRPr kern="1200">
                <a:solidFill>
                  <a:schemeClr val="tx1"/>
                </a:solidFill>
                <a:latin typeface="Arial" charset="0"/>
                <a:ea typeface="+mn-ea"/>
                <a:cs typeface="+mn-cs"/>
              </a:defRPr>
            </a:lvl3pPr>
            <a:lvl4pPr marL="1371600" algn="ctr" rtl="0" eaLnBrk="0" fontAlgn="base" hangingPunct="0">
              <a:spcBef>
                <a:spcPct val="0"/>
              </a:spcBef>
              <a:spcAft>
                <a:spcPct val="0"/>
              </a:spcAft>
              <a:defRPr kern="1200">
                <a:solidFill>
                  <a:schemeClr val="tx1"/>
                </a:solidFill>
                <a:latin typeface="Arial" charset="0"/>
                <a:ea typeface="+mn-ea"/>
                <a:cs typeface="+mn-cs"/>
              </a:defRPr>
            </a:lvl4pPr>
            <a:lvl5pPr marL="1828800" algn="ctr"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endParaRPr lang="zh-CN" altLang="en-US" sz="1200" b="1">
              <a:latin typeface="微软雅黑" pitchFamily="34" charset="-122"/>
              <a:ea typeface="微软雅黑" pitchFamily="34" charset="-122"/>
            </a:endParaRPr>
          </a:p>
        </p:txBody>
      </p:sp>
      <p:sp>
        <p:nvSpPr>
          <p:cNvPr id="18" name="矩形 17"/>
          <p:cNvSpPr/>
          <p:nvPr/>
        </p:nvSpPr>
        <p:spPr>
          <a:xfrm>
            <a:off x="4704345" y="2007813"/>
            <a:ext cx="3350597" cy="360000"/>
          </a:xfrm>
          <a:prstGeom prst="rect">
            <a:avLst/>
          </a:prstGeom>
          <a:solidFill>
            <a:srgbClr val="FFFF00"/>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rgbClr val="020202"/>
                </a:solidFill>
                <a:latin typeface="微软雅黑" pitchFamily="34" charset="-122"/>
                <a:ea typeface="微软雅黑" pitchFamily="34" charset="-122"/>
              </a:rPr>
              <a:t>11001111 10110101 11001101 10110011</a:t>
            </a:r>
            <a:endParaRPr lang="zh-CN" altLang="en-US" sz="1200" b="1" dirty="0">
              <a:solidFill>
                <a:srgbClr val="020202"/>
              </a:solidFill>
              <a:latin typeface="微软雅黑" pitchFamily="34" charset="-122"/>
              <a:ea typeface="微软雅黑" pitchFamily="34" charset="-122"/>
            </a:endParaRPr>
          </a:p>
        </p:txBody>
      </p:sp>
      <p:sp>
        <p:nvSpPr>
          <p:cNvPr id="19" name="矩形 18"/>
          <p:cNvSpPr/>
          <p:nvPr/>
        </p:nvSpPr>
        <p:spPr>
          <a:xfrm>
            <a:off x="5599465" y="2646344"/>
            <a:ext cx="1470274" cy="276999"/>
          </a:xfrm>
          <a:prstGeom prst="rect">
            <a:avLst/>
          </a:prstGeom>
          <a:solidFill>
            <a:srgbClr val="0000FF"/>
          </a:solidFill>
          <a:ln w="9525">
            <a:solidFill>
              <a:srgbClr val="000000"/>
            </a:solidFill>
            <a:miter lim="800000"/>
            <a:headEnd/>
            <a:tailEnd/>
          </a:ln>
          <a:effectLst/>
        </p:spPr>
        <p:txBody>
          <a:bodyPr wrap="none" anchor="ctr"/>
          <a:lstStyle/>
          <a:p>
            <a:pPr algn="ctr" fontAlgn="base">
              <a:spcBef>
                <a:spcPct val="0"/>
              </a:spcBef>
              <a:spcAft>
                <a:spcPct val="0"/>
              </a:spcAft>
            </a:pPr>
            <a:r>
              <a:rPr lang="en-US" altLang="zh-CN" sz="1200" b="1" dirty="0">
                <a:solidFill>
                  <a:schemeClr val="bg1"/>
                </a:solidFill>
                <a:latin typeface="微软雅黑" pitchFamily="34" charset="-122"/>
                <a:ea typeface="微软雅黑" pitchFamily="34" charset="-122"/>
              </a:rPr>
              <a:t>=CF=B5=CD=B3</a:t>
            </a:r>
            <a:endParaRPr lang="zh-CN" altLang="en-US" sz="1200" b="1" dirty="0">
              <a:solidFill>
                <a:schemeClr val="bg1"/>
              </a:solidFill>
              <a:latin typeface="微软雅黑" pitchFamily="34" charset="-122"/>
              <a:ea typeface="微软雅黑" pitchFamily="34" charset="-122"/>
            </a:endParaRPr>
          </a:p>
        </p:txBody>
      </p:sp>
      <p:sp>
        <p:nvSpPr>
          <p:cNvPr id="21" name="矩形 20"/>
          <p:cNvSpPr/>
          <p:nvPr/>
        </p:nvSpPr>
        <p:spPr>
          <a:xfrm>
            <a:off x="6062383" y="1749577"/>
            <a:ext cx="527709" cy="276999"/>
          </a:xfrm>
          <a:prstGeom prst="rect">
            <a:avLst/>
          </a:prstGeom>
        </p:spPr>
        <p:txBody>
          <a:bodyPr wrap="none">
            <a:spAutoFit/>
          </a:bodyPr>
          <a:lstStyle/>
          <a:p>
            <a:r>
              <a:rPr lang="en-US" altLang="zh-CN" sz="1200" b="1" dirty="0">
                <a:solidFill>
                  <a:srgbClr val="020202"/>
                </a:solidFill>
                <a:latin typeface="微软雅黑" pitchFamily="34" charset="-122"/>
                <a:ea typeface="微软雅黑" pitchFamily="34" charset="-122"/>
              </a:rPr>
              <a:t>32</a:t>
            </a:r>
            <a:r>
              <a:rPr lang="zh-CN" altLang="en-US" sz="1200" b="1" dirty="0">
                <a:solidFill>
                  <a:srgbClr val="020202"/>
                </a:solidFill>
                <a:latin typeface="微软雅黑" pitchFamily="34" charset="-122"/>
                <a:ea typeface="微软雅黑" pitchFamily="34" charset="-122"/>
              </a:rPr>
              <a:t>位</a:t>
            </a:r>
          </a:p>
        </p:txBody>
      </p:sp>
      <p:sp>
        <p:nvSpPr>
          <p:cNvPr id="22" name="矩形 21"/>
          <p:cNvSpPr/>
          <p:nvPr/>
        </p:nvSpPr>
        <p:spPr>
          <a:xfrm>
            <a:off x="6072893" y="2942423"/>
            <a:ext cx="527709" cy="276999"/>
          </a:xfrm>
          <a:prstGeom prst="rect">
            <a:avLst/>
          </a:prstGeom>
        </p:spPr>
        <p:txBody>
          <a:bodyPr wrap="none">
            <a:spAutoFit/>
          </a:bodyPr>
          <a:lstStyle/>
          <a:p>
            <a:r>
              <a:rPr lang="en-US" altLang="zh-CN" sz="1200" b="1" dirty="0">
                <a:solidFill>
                  <a:srgbClr val="020202"/>
                </a:solidFill>
                <a:latin typeface="微软雅黑" pitchFamily="34" charset="-122"/>
                <a:ea typeface="微软雅黑" pitchFamily="34" charset="-122"/>
              </a:rPr>
              <a:t>96</a:t>
            </a:r>
            <a:r>
              <a:rPr lang="zh-CN" altLang="en-US" sz="1200" b="1" dirty="0">
                <a:solidFill>
                  <a:srgbClr val="020202"/>
                </a:solidFill>
                <a:latin typeface="微软雅黑" pitchFamily="34" charset="-122"/>
                <a:ea typeface="微软雅黑" pitchFamily="34" charset="-122"/>
              </a:rPr>
              <a:t>位</a:t>
            </a:r>
          </a:p>
        </p:txBody>
      </p:sp>
      <p:sp>
        <p:nvSpPr>
          <p:cNvPr id="23" name="矩形 22"/>
          <p:cNvSpPr/>
          <p:nvPr/>
        </p:nvSpPr>
        <p:spPr>
          <a:xfrm>
            <a:off x="1534604" y="3250851"/>
            <a:ext cx="5776107" cy="369332"/>
          </a:xfrm>
          <a:prstGeom prst="rect">
            <a:avLst/>
          </a:prstGeom>
        </p:spPr>
        <p:txBody>
          <a:bodyPr wrap="square" anchor="ctr">
            <a:spAutoFit/>
          </a:bodyPr>
          <a:lstStyle/>
          <a:p>
            <a:pPr algn="ctr"/>
            <a:r>
              <a:rPr lang="zh-CN" altLang="en-US" b="1" dirty="0">
                <a:solidFill>
                  <a:srgbClr val="C00000"/>
                </a:solidFill>
                <a:latin typeface="微软雅黑" pitchFamily="34" charset="-122"/>
                <a:ea typeface="微软雅黑" pitchFamily="34" charset="-122"/>
              </a:rPr>
              <a:t>原来 </a:t>
            </a:r>
            <a:r>
              <a:rPr lang="en-US" altLang="zh-CN" b="1" dirty="0">
                <a:solidFill>
                  <a:srgbClr val="C00000"/>
                </a:solidFill>
                <a:latin typeface="微软雅黑" pitchFamily="34" charset="-122"/>
                <a:ea typeface="微软雅黑" pitchFamily="34" charset="-122"/>
              </a:rPr>
              <a:t>1 </a:t>
            </a:r>
            <a:r>
              <a:rPr lang="zh-CN" altLang="en-US" b="1" dirty="0">
                <a:solidFill>
                  <a:srgbClr val="C00000"/>
                </a:solidFill>
                <a:latin typeface="微软雅黑" pitchFamily="34" charset="-122"/>
                <a:ea typeface="微软雅黑" pitchFamily="34" charset="-122"/>
              </a:rPr>
              <a:t>个字节，现在需要 </a:t>
            </a:r>
            <a:r>
              <a:rPr lang="en-US" altLang="zh-CN" b="1" dirty="0">
                <a:solidFill>
                  <a:srgbClr val="C00000"/>
                </a:solidFill>
                <a:latin typeface="微软雅黑" pitchFamily="34" charset="-122"/>
                <a:ea typeface="微软雅黑" pitchFamily="34" charset="-122"/>
              </a:rPr>
              <a:t>3 </a:t>
            </a:r>
            <a:r>
              <a:rPr lang="zh-CN" altLang="en-US" b="1" dirty="0">
                <a:solidFill>
                  <a:srgbClr val="C00000"/>
                </a:solidFill>
                <a:latin typeface="微软雅黑" pitchFamily="34" charset="-122"/>
                <a:ea typeface="微软雅黑" pitchFamily="34" charset="-122"/>
              </a:rPr>
              <a:t>个字节，开销 </a:t>
            </a:r>
            <a:r>
              <a:rPr lang="en-US" altLang="zh-CN" b="1" dirty="0">
                <a:solidFill>
                  <a:srgbClr val="C00000"/>
                </a:solidFill>
                <a:latin typeface="微软雅黑" pitchFamily="34" charset="-122"/>
                <a:ea typeface="微软雅黑" pitchFamily="34" charset="-122"/>
              </a:rPr>
              <a:t>= 200%</a:t>
            </a:r>
            <a:endParaRPr lang="zh-CN" altLang="en-US" b="1" dirty="0">
              <a:solidFill>
                <a:srgbClr val="C00000"/>
              </a:solidFill>
              <a:latin typeface="微软雅黑" pitchFamily="34" charset="-122"/>
              <a:ea typeface="微软雅黑" pitchFamily="34" charset="-122"/>
            </a:endParaRPr>
          </a:p>
        </p:txBody>
      </p:sp>
    </p:spTree>
    <p:extLst>
      <p:ext uri="{BB962C8B-B14F-4D97-AF65-F5344CB8AC3E}">
        <p14:creationId xmlns:p14="http://schemas.microsoft.com/office/powerpoint/2010/main" val="144035913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838042"/>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a:latin typeface="微软雅黑" pitchFamily="34" charset="-122"/>
                <a:ea typeface="微软雅黑" pitchFamily="34" charset="-122"/>
              </a:rPr>
              <a:t>适合</a:t>
            </a:r>
            <a:r>
              <a:rPr lang="zh-CN" altLang="en-US" b="1" dirty="0">
                <a:solidFill>
                  <a:srgbClr val="C00000"/>
                </a:solidFill>
                <a:latin typeface="微软雅黑" pitchFamily="34" charset="-122"/>
                <a:ea typeface="微软雅黑" pitchFamily="34" charset="-122"/>
              </a:rPr>
              <a:t>任意长度</a:t>
            </a:r>
            <a:r>
              <a:rPr lang="zh-CN" altLang="en-US" b="1" dirty="0">
                <a:latin typeface="微软雅黑" pitchFamily="34" charset="-122"/>
                <a:ea typeface="微软雅黑" pitchFamily="34" charset="-122"/>
              </a:rPr>
              <a:t>的二进制数据。编码表如下：</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56963" y="594406"/>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3022"/>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Base64 </a:t>
            </a:r>
            <a:r>
              <a:rPr lang="zh-CN" altLang="en-US" sz="2000" b="1" dirty="0">
                <a:latin typeface="微软雅黑" pitchFamily="34" charset="-122"/>
                <a:ea typeface="微软雅黑" pitchFamily="34" charset="-122"/>
              </a:rPr>
              <a:t>编码</a:t>
            </a:r>
          </a:p>
        </p:txBody>
      </p:sp>
      <p:graphicFrame>
        <p:nvGraphicFramePr>
          <p:cNvPr id="2" name="表格 1"/>
          <p:cNvGraphicFramePr>
            <a:graphicFrameLocks noGrp="1"/>
          </p:cNvGraphicFramePr>
          <p:nvPr>
            <p:extLst>
              <p:ext uri="{D42A27DB-BD31-4B8C-83A1-F6EECF244321}">
                <p14:modId xmlns:p14="http://schemas.microsoft.com/office/powerpoint/2010/main" val="3774189887"/>
              </p:ext>
            </p:extLst>
          </p:nvPr>
        </p:nvGraphicFramePr>
        <p:xfrm>
          <a:off x="556963" y="1255083"/>
          <a:ext cx="8048780" cy="3093912"/>
        </p:xfrm>
        <a:graphic>
          <a:graphicData uri="http://schemas.openxmlformats.org/drawingml/2006/table">
            <a:tbl>
              <a:tblPr firstRow="1" bandCol="1">
                <a:tableStyleId>{5C22544A-7EE6-4342-B048-85BDC9FD1C3A}</a:tableStyleId>
              </a:tblPr>
              <a:tblGrid>
                <a:gridCol w="804878">
                  <a:extLst>
                    <a:ext uri="{9D8B030D-6E8A-4147-A177-3AD203B41FA5}">
                      <a16:colId xmlns:a16="http://schemas.microsoft.com/office/drawing/2014/main" val="20000"/>
                    </a:ext>
                  </a:extLst>
                </a:gridCol>
                <a:gridCol w="804878">
                  <a:extLst>
                    <a:ext uri="{9D8B030D-6E8A-4147-A177-3AD203B41FA5}">
                      <a16:colId xmlns:a16="http://schemas.microsoft.com/office/drawing/2014/main" val="20001"/>
                    </a:ext>
                  </a:extLst>
                </a:gridCol>
                <a:gridCol w="804878">
                  <a:extLst>
                    <a:ext uri="{9D8B030D-6E8A-4147-A177-3AD203B41FA5}">
                      <a16:colId xmlns:a16="http://schemas.microsoft.com/office/drawing/2014/main" val="20002"/>
                    </a:ext>
                  </a:extLst>
                </a:gridCol>
                <a:gridCol w="804878">
                  <a:extLst>
                    <a:ext uri="{9D8B030D-6E8A-4147-A177-3AD203B41FA5}">
                      <a16:colId xmlns:a16="http://schemas.microsoft.com/office/drawing/2014/main" val="20003"/>
                    </a:ext>
                  </a:extLst>
                </a:gridCol>
                <a:gridCol w="804878">
                  <a:extLst>
                    <a:ext uri="{9D8B030D-6E8A-4147-A177-3AD203B41FA5}">
                      <a16:colId xmlns:a16="http://schemas.microsoft.com/office/drawing/2014/main" val="20004"/>
                    </a:ext>
                  </a:extLst>
                </a:gridCol>
                <a:gridCol w="804878">
                  <a:extLst>
                    <a:ext uri="{9D8B030D-6E8A-4147-A177-3AD203B41FA5}">
                      <a16:colId xmlns:a16="http://schemas.microsoft.com/office/drawing/2014/main" val="20005"/>
                    </a:ext>
                  </a:extLst>
                </a:gridCol>
                <a:gridCol w="804878">
                  <a:extLst>
                    <a:ext uri="{9D8B030D-6E8A-4147-A177-3AD203B41FA5}">
                      <a16:colId xmlns:a16="http://schemas.microsoft.com/office/drawing/2014/main" val="20006"/>
                    </a:ext>
                  </a:extLst>
                </a:gridCol>
                <a:gridCol w="804878">
                  <a:extLst>
                    <a:ext uri="{9D8B030D-6E8A-4147-A177-3AD203B41FA5}">
                      <a16:colId xmlns:a16="http://schemas.microsoft.com/office/drawing/2014/main" val="20007"/>
                    </a:ext>
                  </a:extLst>
                </a:gridCol>
                <a:gridCol w="804878">
                  <a:extLst>
                    <a:ext uri="{9D8B030D-6E8A-4147-A177-3AD203B41FA5}">
                      <a16:colId xmlns:a16="http://schemas.microsoft.com/office/drawing/2014/main" val="20008"/>
                    </a:ext>
                  </a:extLst>
                </a:gridCol>
                <a:gridCol w="804878">
                  <a:extLst>
                    <a:ext uri="{9D8B030D-6E8A-4147-A177-3AD203B41FA5}">
                      <a16:colId xmlns:a16="http://schemas.microsoft.com/office/drawing/2014/main" val="20009"/>
                    </a:ext>
                  </a:extLst>
                </a:gridCol>
              </a:tblGrid>
              <a:tr h="280205">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索引</a:t>
                      </a: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itchFamily="34" charset="-122"/>
                          <a:ea typeface="微软雅黑" pitchFamily="34" charset="-122"/>
                        </a:rPr>
                        <a:t>对应字符</a:t>
                      </a: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r h="216439">
                <a:tc>
                  <a:txBody>
                    <a:bodyPr/>
                    <a:lstStyle/>
                    <a:p>
                      <a:pPr algn="ctr"/>
                      <a:r>
                        <a:rPr lang="en-US" altLang="zh-CN" sz="1200" b="1" dirty="0">
                          <a:effectLst/>
                          <a:latin typeface="微软雅黑" pitchFamily="34" charset="-122"/>
                          <a:ea typeface="微软雅黑" pitchFamily="34" charset="-122"/>
                        </a:rPr>
                        <a:t>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A</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N</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a</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n</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0</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16439">
                <a:tc>
                  <a:txBody>
                    <a:bodyPr/>
                    <a:lstStyle/>
                    <a:p>
                      <a:pPr algn="ctr"/>
                      <a:r>
                        <a:rPr lang="en-US" altLang="zh-CN" sz="1200" b="1" dirty="0">
                          <a:effectLst/>
                          <a:latin typeface="微软雅黑" pitchFamily="34" charset="-122"/>
                          <a:ea typeface="微软雅黑" pitchFamily="34" charset="-122"/>
                        </a:rPr>
                        <a:t>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B</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O</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b</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o</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1</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216439">
                <a:tc>
                  <a:txBody>
                    <a:bodyPr/>
                    <a:lstStyle/>
                    <a:p>
                      <a:pPr algn="ctr"/>
                      <a:r>
                        <a:rPr lang="en-US" altLang="zh-CN" sz="1200" b="1">
                          <a:effectLst/>
                          <a:latin typeface="微软雅黑" pitchFamily="34" charset="-122"/>
                          <a:ea typeface="微软雅黑" pitchFamily="34" charset="-122"/>
                        </a:rPr>
                        <a:t>2</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C</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P</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c</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p</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2</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16439">
                <a:tc>
                  <a:txBody>
                    <a:bodyPr/>
                    <a:lstStyle/>
                    <a:p>
                      <a:pPr algn="ctr"/>
                      <a:r>
                        <a:rPr lang="en-US" altLang="zh-CN" sz="1200" b="1" dirty="0">
                          <a:effectLst/>
                          <a:latin typeface="微软雅黑" pitchFamily="34" charset="-122"/>
                          <a:ea typeface="微软雅黑" pitchFamily="34" charset="-122"/>
                        </a:rPr>
                        <a:t>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D</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Q</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d</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q</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3</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216439">
                <a:tc>
                  <a:txBody>
                    <a:bodyPr/>
                    <a:lstStyle/>
                    <a:p>
                      <a:pPr algn="ctr"/>
                      <a:r>
                        <a:rPr lang="en-US" altLang="zh-CN" sz="1200" b="1">
                          <a:effectLst/>
                          <a:latin typeface="微软雅黑" pitchFamily="34" charset="-122"/>
                          <a:ea typeface="微软雅黑" pitchFamily="34" charset="-122"/>
                        </a:rPr>
                        <a:t>4</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E</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R</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e</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r</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4</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16439">
                <a:tc>
                  <a:txBody>
                    <a:bodyPr/>
                    <a:lstStyle/>
                    <a:p>
                      <a:pPr algn="ctr"/>
                      <a:r>
                        <a:rPr lang="en-US" altLang="zh-CN" sz="1200" b="1" dirty="0">
                          <a:effectLst/>
                          <a:latin typeface="微软雅黑" pitchFamily="34" charset="-122"/>
                          <a:ea typeface="微软雅黑" pitchFamily="34" charset="-122"/>
                        </a:rPr>
                        <a:t>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F</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S</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f</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s</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itchFamily="34" charset="-122"/>
                          <a:ea typeface="微软雅黑" pitchFamily="34" charset="-122"/>
                        </a:rPr>
                        <a:t>5</a:t>
                      </a:r>
                      <a:endParaRPr lang="zh-CN" alt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216439">
                <a:tc>
                  <a:txBody>
                    <a:bodyPr/>
                    <a:lstStyle/>
                    <a:p>
                      <a:pPr algn="ctr"/>
                      <a:r>
                        <a:rPr lang="en-US" altLang="zh-CN" sz="1200" b="1">
                          <a:effectLst/>
                          <a:latin typeface="微软雅黑" pitchFamily="34" charset="-122"/>
                          <a:ea typeface="微软雅黑" pitchFamily="34" charset="-122"/>
                        </a:rPr>
                        <a:t>6</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G</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19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T</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g</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t</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6</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16439">
                <a:tc>
                  <a:txBody>
                    <a:bodyPr/>
                    <a:lstStyle/>
                    <a:p>
                      <a:pPr algn="ctr"/>
                      <a:r>
                        <a:rPr lang="en-US" altLang="zh-CN" sz="1200" b="1">
                          <a:effectLst/>
                          <a:latin typeface="微软雅黑" pitchFamily="34" charset="-122"/>
                          <a:ea typeface="微软雅黑" pitchFamily="34" charset="-122"/>
                        </a:rPr>
                        <a:t>7</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H</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U</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h</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u</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7</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216439">
                <a:tc>
                  <a:txBody>
                    <a:bodyPr/>
                    <a:lstStyle/>
                    <a:p>
                      <a:pPr algn="ctr"/>
                      <a:r>
                        <a:rPr lang="en-US" altLang="zh-CN" sz="1200" b="1">
                          <a:effectLst/>
                          <a:latin typeface="微软雅黑" pitchFamily="34" charset="-122"/>
                          <a:ea typeface="微软雅黑" pitchFamily="34" charset="-122"/>
                        </a:rPr>
                        <a:t>8</a:t>
                      </a:r>
                      <a:endParaRPr lang="en-US" altLang="zh-CN" sz="1200" b="1">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I</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V</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i</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v</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8</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216439">
                <a:tc>
                  <a:txBody>
                    <a:bodyPr/>
                    <a:lstStyle/>
                    <a:p>
                      <a:pPr algn="ctr"/>
                      <a:r>
                        <a:rPr lang="en-US" altLang="zh-CN" sz="1200" b="1" dirty="0">
                          <a:effectLst/>
                          <a:latin typeface="微软雅黑" pitchFamily="34" charset="-122"/>
                          <a:ea typeface="微软雅黑" pitchFamily="34" charset="-122"/>
                        </a:rPr>
                        <a:t>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J</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W</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j</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w</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9</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216439">
                <a:tc>
                  <a:txBody>
                    <a:bodyPr/>
                    <a:lstStyle/>
                    <a:p>
                      <a:pPr algn="ctr"/>
                      <a:r>
                        <a:rPr lang="en-US" altLang="zh-CN" sz="1200" b="1" dirty="0">
                          <a:effectLst/>
                          <a:latin typeface="微软雅黑" pitchFamily="34" charset="-122"/>
                          <a:ea typeface="微软雅黑" pitchFamily="34" charset="-122"/>
                        </a:rPr>
                        <a:t>10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K</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X</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36</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k</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49</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x</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216439">
                <a:tc>
                  <a:txBody>
                    <a:bodyPr/>
                    <a:lstStyle/>
                    <a:p>
                      <a:pPr algn="ctr"/>
                      <a:r>
                        <a:rPr lang="en-US" altLang="zh-CN" sz="1200" b="1" dirty="0">
                          <a:effectLst/>
                          <a:latin typeface="微软雅黑" pitchFamily="34" charset="-122"/>
                          <a:ea typeface="微软雅黑" pitchFamily="34" charset="-122"/>
                        </a:rPr>
                        <a:t>11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L</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24</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Y</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37</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l</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50</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y</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63</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itchFamily="34" charset="-122"/>
                          <a:ea typeface="微软雅黑" pitchFamily="34" charset="-122"/>
                        </a:rPr>
                        <a:t>/</a:t>
                      </a:r>
                      <a:endParaRPr lang="zh-CN" alt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216439">
                <a:tc>
                  <a:txBody>
                    <a:bodyPr/>
                    <a:lstStyle/>
                    <a:p>
                      <a:pPr algn="ctr"/>
                      <a:r>
                        <a:rPr lang="en-US" altLang="zh-CN" sz="1200" b="1" dirty="0">
                          <a:effectLst/>
                          <a:latin typeface="微软雅黑" pitchFamily="34" charset="-122"/>
                          <a:ea typeface="微软雅黑" pitchFamily="34" charset="-122"/>
                        </a:rPr>
                        <a:t>12</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itchFamily="34" charset="-122"/>
                          <a:ea typeface="微软雅黑" pitchFamily="34" charset="-122"/>
                        </a:rPr>
                        <a:t>M</a:t>
                      </a:r>
                      <a:endParaRPr lang="en-US" sz="1200" b="1">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25</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Z</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38</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m</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itchFamily="34" charset="-122"/>
                          <a:ea typeface="微软雅黑" pitchFamily="34" charset="-122"/>
                        </a:rPr>
                        <a:t>51</a:t>
                      </a:r>
                      <a:endParaRPr lang="en-US" altLang="zh-CN"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itchFamily="34" charset="-122"/>
                          <a:ea typeface="微软雅黑" pitchFamily="34" charset="-122"/>
                        </a:rPr>
                        <a:t>z</a:t>
                      </a:r>
                      <a:endParaRPr lang="en-US" sz="1200" b="1" dirty="0">
                        <a:solidFill>
                          <a:srgbClr val="333333"/>
                        </a:solidFill>
                        <a:effectLst/>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sz="1200" b="1" dirty="0">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endParaRPr lang="zh-CN" altLang="en-US" sz="1200" b="1" dirty="0">
                        <a:latin typeface="微软雅黑" pitchFamily="34" charset="-122"/>
                        <a:ea typeface="微软雅黑"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25" name="矩形 24"/>
          <p:cNvSpPr/>
          <p:nvPr/>
        </p:nvSpPr>
        <p:spPr>
          <a:xfrm>
            <a:off x="459267" y="4337201"/>
            <a:ext cx="7734820" cy="307777"/>
          </a:xfrm>
          <a:prstGeom prst="rect">
            <a:avLst/>
          </a:prstGeom>
        </p:spPr>
        <p:txBody>
          <a:bodyPr wrap="square">
            <a:spAutoFit/>
          </a:bodyPr>
          <a:lstStyle/>
          <a:p>
            <a:r>
              <a:rPr lang="zh-CN" altLang="en-US" sz="1400" b="1" dirty="0">
                <a:latin typeface="微软雅黑" pitchFamily="34" charset="-122"/>
                <a:ea typeface="微软雅黑" pitchFamily="34" charset="-122"/>
              </a:rPr>
              <a:t>用两个连在一起的二个等号“</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和一个等号“</a:t>
            </a:r>
            <a:r>
              <a:rPr lang="en-US" altLang="zh-CN" sz="1400" b="1" dirty="0">
                <a:latin typeface="微软雅黑" pitchFamily="34" charset="-122"/>
                <a:ea typeface="微软雅黑" pitchFamily="34" charset="-122"/>
              </a:rPr>
              <a:t>=”</a:t>
            </a:r>
            <a:r>
              <a:rPr lang="zh-CN" altLang="en-US" sz="1400" b="1" dirty="0">
                <a:latin typeface="微软雅黑" pitchFamily="34" charset="-122"/>
                <a:ea typeface="微软雅黑" pitchFamily="34" charset="-122"/>
              </a:rPr>
              <a:t>分别表示最后一组的代码只有 </a:t>
            </a:r>
            <a:r>
              <a:rPr lang="en-US" altLang="zh-CN" sz="1400" b="1" dirty="0">
                <a:latin typeface="微软雅黑" pitchFamily="34" charset="-122"/>
                <a:ea typeface="微软雅黑" pitchFamily="34" charset="-122"/>
              </a:rPr>
              <a:t>8 </a:t>
            </a:r>
            <a:r>
              <a:rPr lang="zh-CN" altLang="en-US" sz="1400" b="1" dirty="0">
                <a:latin typeface="微软雅黑" pitchFamily="34" charset="-122"/>
                <a:ea typeface="微软雅黑" pitchFamily="34" charset="-122"/>
              </a:rPr>
              <a:t>位或 </a:t>
            </a:r>
            <a:r>
              <a:rPr lang="en-US" altLang="zh-CN" sz="1400" b="1" dirty="0">
                <a:latin typeface="微软雅黑" pitchFamily="34" charset="-122"/>
                <a:ea typeface="微软雅黑" pitchFamily="34" charset="-122"/>
              </a:rPr>
              <a:t>16 </a:t>
            </a:r>
            <a:r>
              <a:rPr lang="zh-CN" altLang="en-US" sz="1400" b="1" dirty="0">
                <a:latin typeface="微软雅黑" pitchFamily="34" charset="-122"/>
                <a:ea typeface="微软雅黑" pitchFamily="34" charset="-122"/>
              </a:rPr>
              <a:t>位。</a:t>
            </a:r>
          </a:p>
        </p:txBody>
      </p:sp>
    </p:spTree>
    <p:extLst>
      <p:ext uri="{BB962C8B-B14F-4D97-AF65-F5344CB8AC3E}">
        <p14:creationId xmlns:p14="http://schemas.microsoft.com/office/powerpoint/2010/main" val="32324454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Base64 </a:t>
            </a:r>
            <a:r>
              <a:rPr lang="zh-CN" altLang="en-US" sz="2000" b="1" dirty="0">
                <a:latin typeface="微软雅黑" pitchFamily="34" charset="-122"/>
                <a:ea typeface="微软雅黑" pitchFamily="34" charset="-122"/>
              </a:rPr>
              <a:t>编码</a:t>
            </a:r>
          </a:p>
        </p:txBody>
      </p:sp>
      <p:sp>
        <p:nvSpPr>
          <p:cNvPr id="22" name="矩形 21"/>
          <p:cNvSpPr/>
          <p:nvPr/>
        </p:nvSpPr>
        <p:spPr>
          <a:xfrm>
            <a:off x="804903" y="1341208"/>
            <a:ext cx="800219" cy="276999"/>
          </a:xfrm>
          <a:prstGeom prst="rect">
            <a:avLst/>
          </a:prstGeom>
        </p:spPr>
        <p:txBody>
          <a:bodyPr wrap="none">
            <a:spAutoFit/>
          </a:bodyPr>
          <a:lstStyle/>
          <a:p>
            <a:pPr algn="r"/>
            <a:r>
              <a:rPr lang="zh-CN" altLang="en-US" sz="1200" b="1" dirty="0">
                <a:solidFill>
                  <a:srgbClr val="020202"/>
                </a:solidFill>
                <a:latin typeface="微软雅黑" pitchFamily="34" charset="-122"/>
                <a:ea typeface="微软雅黑" pitchFamily="34" charset="-122"/>
              </a:rPr>
              <a:t>原始字节</a:t>
            </a:r>
          </a:p>
        </p:txBody>
      </p:sp>
      <p:sp>
        <p:nvSpPr>
          <p:cNvPr id="23" name="矩形 22"/>
          <p:cNvSpPr/>
          <p:nvPr/>
        </p:nvSpPr>
        <p:spPr>
          <a:xfrm>
            <a:off x="1509216" y="3006326"/>
            <a:ext cx="5650604" cy="369332"/>
          </a:xfrm>
          <a:prstGeom prst="rect">
            <a:avLst/>
          </a:prstGeom>
        </p:spPr>
        <p:txBody>
          <a:bodyPr wrap="square" anchor="ctr">
            <a:spAutoFit/>
          </a:bodyPr>
          <a:lstStyle/>
          <a:p>
            <a:pPr algn="ctr"/>
            <a:r>
              <a:rPr lang="zh-CN" altLang="en-US" b="1" dirty="0">
                <a:solidFill>
                  <a:srgbClr val="C00000"/>
                </a:solidFill>
                <a:latin typeface="微软雅黑" pitchFamily="34" charset="-122"/>
                <a:ea typeface="微软雅黑" pitchFamily="34" charset="-122"/>
              </a:rPr>
              <a:t>原来为 </a:t>
            </a:r>
            <a:r>
              <a:rPr lang="en-US" altLang="zh-CN" b="1" dirty="0">
                <a:solidFill>
                  <a:srgbClr val="C00000"/>
                </a:solidFill>
                <a:latin typeface="微软雅黑" pitchFamily="34" charset="-122"/>
                <a:ea typeface="微软雅黑" pitchFamily="34" charset="-122"/>
              </a:rPr>
              <a:t>3 </a:t>
            </a:r>
            <a:r>
              <a:rPr lang="zh-CN" altLang="en-US" b="1" dirty="0">
                <a:solidFill>
                  <a:srgbClr val="C00000"/>
                </a:solidFill>
                <a:latin typeface="微软雅黑" pitchFamily="34" charset="-122"/>
                <a:ea typeface="微软雅黑" pitchFamily="34" charset="-122"/>
              </a:rPr>
              <a:t>个字节，编码后为 </a:t>
            </a:r>
            <a:r>
              <a:rPr lang="en-US" altLang="zh-CN" b="1" dirty="0">
                <a:solidFill>
                  <a:srgbClr val="C00000"/>
                </a:solidFill>
                <a:latin typeface="微软雅黑" pitchFamily="34" charset="-122"/>
                <a:ea typeface="微软雅黑" pitchFamily="34" charset="-122"/>
              </a:rPr>
              <a:t>4 </a:t>
            </a:r>
            <a:r>
              <a:rPr lang="zh-CN" altLang="en-US" b="1" dirty="0">
                <a:solidFill>
                  <a:srgbClr val="C00000"/>
                </a:solidFill>
                <a:latin typeface="微软雅黑" pitchFamily="34" charset="-122"/>
                <a:ea typeface="微软雅黑" pitchFamily="34" charset="-122"/>
              </a:rPr>
              <a:t>个字节，开销 </a:t>
            </a:r>
            <a:r>
              <a:rPr lang="en-US" altLang="zh-CN" b="1" dirty="0">
                <a:solidFill>
                  <a:srgbClr val="C00000"/>
                </a:solidFill>
                <a:latin typeface="微软雅黑" pitchFamily="34" charset="-122"/>
                <a:ea typeface="微软雅黑" pitchFamily="34" charset="-122"/>
              </a:rPr>
              <a:t>= 25%</a:t>
            </a:r>
            <a:endParaRPr lang="zh-CN" altLang="en-US" b="1" dirty="0">
              <a:solidFill>
                <a:srgbClr val="C00000"/>
              </a:solidFill>
              <a:latin typeface="微软雅黑" pitchFamily="34" charset="-122"/>
              <a:ea typeface="微软雅黑" pitchFamily="34" charset="-122"/>
            </a:endParaRPr>
          </a:p>
        </p:txBody>
      </p:sp>
      <p:graphicFrame>
        <p:nvGraphicFramePr>
          <p:cNvPr id="3" name="表格 2"/>
          <p:cNvGraphicFramePr>
            <a:graphicFrameLocks noGrp="1"/>
          </p:cNvGraphicFramePr>
          <p:nvPr>
            <p:extLst>
              <p:ext uri="{D42A27DB-BD31-4B8C-83A1-F6EECF244321}">
                <p14:modId xmlns:p14="http://schemas.microsoft.com/office/powerpoint/2010/main" val="2655679417"/>
              </p:ext>
            </p:extLst>
          </p:nvPr>
        </p:nvGraphicFramePr>
        <p:xfrm>
          <a:off x="1566773" y="1351494"/>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bl>
          </a:graphicData>
        </a:graphic>
      </p:graphicFrame>
      <p:graphicFrame>
        <p:nvGraphicFramePr>
          <p:cNvPr id="26" name="表格 25"/>
          <p:cNvGraphicFramePr>
            <a:graphicFrameLocks noGrp="1"/>
          </p:cNvGraphicFramePr>
          <p:nvPr>
            <p:extLst>
              <p:ext uri="{D42A27DB-BD31-4B8C-83A1-F6EECF244321}">
                <p14:modId xmlns:p14="http://schemas.microsoft.com/office/powerpoint/2010/main" val="1196655226"/>
              </p:ext>
            </p:extLst>
          </p:nvPr>
        </p:nvGraphicFramePr>
        <p:xfrm>
          <a:off x="1566773" y="1750883"/>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27" name="表格 26"/>
          <p:cNvGraphicFramePr>
            <a:graphicFrameLocks noGrp="1"/>
          </p:cNvGraphicFramePr>
          <p:nvPr>
            <p:extLst>
              <p:ext uri="{D42A27DB-BD31-4B8C-83A1-F6EECF244321}">
                <p14:modId xmlns:p14="http://schemas.microsoft.com/office/powerpoint/2010/main" val="2170669653"/>
              </p:ext>
            </p:extLst>
          </p:nvPr>
        </p:nvGraphicFramePr>
        <p:xfrm>
          <a:off x="1566773" y="2173796"/>
          <a:ext cx="5549904" cy="27432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S</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T</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F</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5</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28" name="表格 27"/>
          <p:cNvGraphicFramePr>
            <a:graphicFrameLocks noGrp="1"/>
          </p:cNvGraphicFramePr>
          <p:nvPr>
            <p:extLst>
              <p:ext uri="{D42A27DB-BD31-4B8C-83A1-F6EECF244321}">
                <p14:modId xmlns:p14="http://schemas.microsoft.com/office/powerpoint/2010/main" val="2389835901"/>
              </p:ext>
            </p:extLst>
          </p:nvPr>
        </p:nvGraphicFramePr>
        <p:xfrm>
          <a:off x="1566773" y="2625741"/>
          <a:ext cx="6981408" cy="274320"/>
        </p:xfrm>
        <a:graphic>
          <a:graphicData uri="http://schemas.openxmlformats.org/drawingml/2006/table">
            <a:tbl>
              <a:tblPr firstRow="1" bandRow="1">
                <a:tableStyleId>{5C22544A-7EE6-4342-B048-85BDC9FD1C3A}</a:tableStyleId>
              </a:tblPr>
              <a:tblGrid>
                <a:gridCol w="218169">
                  <a:extLst>
                    <a:ext uri="{9D8B030D-6E8A-4147-A177-3AD203B41FA5}">
                      <a16:colId xmlns:a16="http://schemas.microsoft.com/office/drawing/2014/main" val="20000"/>
                    </a:ext>
                  </a:extLst>
                </a:gridCol>
                <a:gridCol w="218169">
                  <a:extLst>
                    <a:ext uri="{9D8B030D-6E8A-4147-A177-3AD203B41FA5}">
                      <a16:colId xmlns:a16="http://schemas.microsoft.com/office/drawing/2014/main" val="20001"/>
                    </a:ext>
                  </a:extLst>
                </a:gridCol>
                <a:gridCol w="218169">
                  <a:extLst>
                    <a:ext uri="{9D8B030D-6E8A-4147-A177-3AD203B41FA5}">
                      <a16:colId xmlns:a16="http://schemas.microsoft.com/office/drawing/2014/main" val="20002"/>
                    </a:ext>
                  </a:extLst>
                </a:gridCol>
                <a:gridCol w="218169">
                  <a:extLst>
                    <a:ext uri="{9D8B030D-6E8A-4147-A177-3AD203B41FA5}">
                      <a16:colId xmlns:a16="http://schemas.microsoft.com/office/drawing/2014/main" val="20003"/>
                    </a:ext>
                  </a:extLst>
                </a:gridCol>
                <a:gridCol w="218169">
                  <a:extLst>
                    <a:ext uri="{9D8B030D-6E8A-4147-A177-3AD203B41FA5}">
                      <a16:colId xmlns:a16="http://schemas.microsoft.com/office/drawing/2014/main" val="20004"/>
                    </a:ext>
                  </a:extLst>
                </a:gridCol>
                <a:gridCol w="218169">
                  <a:extLst>
                    <a:ext uri="{9D8B030D-6E8A-4147-A177-3AD203B41FA5}">
                      <a16:colId xmlns:a16="http://schemas.microsoft.com/office/drawing/2014/main" val="20005"/>
                    </a:ext>
                  </a:extLst>
                </a:gridCol>
                <a:gridCol w="218169">
                  <a:extLst>
                    <a:ext uri="{9D8B030D-6E8A-4147-A177-3AD203B41FA5}">
                      <a16:colId xmlns:a16="http://schemas.microsoft.com/office/drawing/2014/main" val="20006"/>
                    </a:ext>
                  </a:extLst>
                </a:gridCol>
                <a:gridCol w="218169">
                  <a:extLst>
                    <a:ext uri="{9D8B030D-6E8A-4147-A177-3AD203B41FA5}">
                      <a16:colId xmlns:a16="http://schemas.microsoft.com/office/drawing/2014/main" val="20007"/>
                    </a:ext>
                  </a:extLst>
                </a:gridCol>
                <a:gridCol w="218169">
                  <a:extLst>
                    <a:ext uri="{9D8B030D-6E8A-4147-A177-3AD203B41FA5}">
                      <a16:colId xmlns:a16="http://schemas.microsoft.com/office/drawing/2014/main" val="20008"/>
                    </a:ext>
                  </a:extLst>
                </a:gridCol>
                <a:gridCol w="218169">
                  <a:extLst>
                    <a:ext uri="{9D8B030D-6E8A-4147-A177-3AD203B41FA5}">
                      <a16:colId xmlns:a16="http://schemas.microsoft.com/office/drawing/2014/main" val="20009"/>
                    </a:ext>
                  </a:extLst>
                </a:gridCol>
                <a:gridCol w="218169">
                  <a:extLst>
                    <a:ext uri="{9D8B030D-6E8A-4147-A177-3AD203B41FA5}">
                      <a16:colId xmlns:a16="http://schemas.microsoft.com/office/drawing/2014/main" val="20010"/>
                    </a:ext>
                  </a:extLst>
                </a:gridCol>
                <a:gridCol w="218169">
                  <a:extLst>
                    <a:ext uri="{9D8B030D-6E8A-4147-A177-3AD203B41FA5}">
                      <a16:colId xmlns:a16="http://schemas.microsoft.com/office/drawing/2014/main" val="20011"/>
                    </a:ext>
                  </a:extLst>
                </a:gridCol>
                <a:gridCol w="218169">
                  <a:extLst>
                    <a:ext uri="{9D8B030D-6E8A-4147-A177-3AD203B41FA5}">
                      <a16:colId xmlns:a16="http://schemas.microsoft.com/office/drawing/2014/main" val="20012"/>
                    </a:ext>
                  </a:extLst>
                </a:gridCol>
                <a:gridCol w="218169">
                  <a:extLst>
                    <a:ext uri="{9D8B030D-6E8A-4147-A177-3AD203B41FA5}">
                      <a16:colId xmlns:a16="http://schemas.microsoft.com/office/drawing/2014/main" val="20013"/>
                    </a:ext>
                  </a:extLst>
                </a:gridCol>
                <a:gridCol w="218169">
                  <a:extLst>
                    <a:ext uri="{9D8B030D-6E8A-4147-A177-3AD203B41FA5}">
                      <a16:colId xmlns:a16="http://schemas.microsoft.com/office/drawing/2014/main" val="20014"/>
                    </a:ext>
                  </a:extLst>
                </a:gridCol>
                <a:gridCol w="218169">
                  <a:extLst>
                    <a:ext uri="{9D8B030D-6E8A-4147-A177-3AD203B41FA5}">
                      <a16:colId xmlns:a16="http://schemas.microsoft.com/office/drawing/2014/main" val="20015"/>
                    </a:ext>
                  </a:extLst>
                </a:gridCol>
                <a:gridCol w="218169">
                  <a:extLst>
                    <a:ext uri="{9D8B030D-6E8A-4147-A177-3AD203B41FA5}">
                      <a16:colId xmlns:a16="http://schemas.microsoft.com/office/drawing/2014/main" val="20016"/>
                    </a:ext>
                  </a:extLst>
                </a:gridCol>
                <a:gridCol w="218169">
                  <a:extLst>
                    <a:ext uri="{9D8B030D-6E8A-4147-A177-3AD203B41FA5}">
                      <a16:colId xmlns:a16="http://schemas.microsoft.com/office/drawing/2014/main" val="20017"/>
                    </a:ext>
                  </a:extLst>
                </a:gridCol>
                <a:gridCol w="218169">
                  <a:extLst>
                    <a:ext uri="{9D8B030D-6E8A-4147-A177-3AD203B41FA5}">
                      <a16:colId xmlns:a16="http://schemas.microsoft.com/office/drawing/2014/main" val="20018"/>
                    </a:ext>
                  </a:extLst>
                </a:gridCol>
                <a:gridCol w="218169">
                  <a:extLst>
                    <a:ext uri="{9D8B030D-6E8A-4147-A177-3AD203B41FA5}">
                      <a16:colId xmlns:a16="http://schemas.microsoft.com/office/drawing/2014/main" val="20019"/>
                    </a:ext>
                  </a:extLst>
                </a:gridCol>
                <a:gridCol w="218169">
                  <a:extLst>
                    <a:ext uri="{9D8B030D-6E8A-4147-A177-3AD203B41FA5}">
                      <a16:colId xmlns:a16="http://schemas.microsoft.com/office/drawing/2014/main" val="20020"/>
                    </a:ext>
                  </a:extLst>
                </a:gridCol>
                <a:gridCol w="218169">
                  <a:extLst>
                    <a:ext uri="{9D8B030D-6E8A-4147-A177-3AD203B41FA5}">
                      <a16:colId xmlns:a16="http://schemas.microsoft.com/office/drawing/2014/main" val="20021"/>
                    </a:ext>
                  </a:extLst>
                </a:gridCol>
                <a:gridCol w="218169">
                  <a:extLst>
                    <a:ext uri="{9D8B030D-6E8A-4147-A177-3AD203B41FA5}">
                      <a16:colId xmlns:a16="http://schemas.microsoft.com/office/drawing/2014/main" val="20022"/>
                    </a:ext>
                  </a:extLst>
                </a:gridCol>
                <a:gridCol w="218169">
                  <a:extLst>
                    <a:ext uri="{9D8B030D-6E8A-4147-A177-3AD203B41FA5}">
                      <a16:colId xmlns:a16="http://schemas.microsoft.com/office/drawing/2014/main" val="20023"/>
                    </a:ext>
                  </a:extLst>
                </a:gridCol>
                <a:gridCol w="218169">
                  <a:extLst>
                    <a:ext uri="{9D8B030D-6E8A-4147-A177-3AD203B41FA5}">
                      <a16:colId xmlns:a16="http://schemas.microsoft.com/office/drawing/2014/main" val="20024"/>
                    </a:ext>
                  </a:extLst>
                </a:gridCol>
                <a:gridCol w="218169">
                  <a:extLst>
                    <a:ext uri="{9D8B030D-6E8A-4147-A177-3AD203B41FA5}">
                      <a16:colId xmlns:a16="http://schemas.microsoft.com/office/drawing/2014/main" val="20025"/>
                    </a:ext>
                  </a:extLst>
                </a:gridCol>
                <a:gridCol w="218169">
                  <a:extLst>
                    <a:ext uri="{9D8B030D-6E8A-4147-A177-3AD203B41FA5}">
                      <a16:colId xmlns:a16="http://schemas.microsoft.com/office/drawing/2014/main" val="20026"/>
                    </a:ext>
                  </a:extLst>
                </a:gridCol>
                <a:gridCol w="218169">
                  <a:extLst>
                    <a:ext uri="{9D8B030D-6E8A-4147-A177-3AD203B41FA5}">
                      <a16:colId xmlns:a16="http://schemas.microsoft.com/office/drawing/2014/main" val="20027"/>
                    </a:ext>
                  </a:extLst>
                </a:gridCol>
                <a:gridCol w="218169">
                  <a:extLst>
                    <a:ext uri="{9D8B030D-6E8A-4147-A177-3AD203B41FA5}">
                      <a16:colId xmlns:a16="http://schemas.microsoft.com/office/drawing/2014/main" val="20028"/>
                    </a:ext>
                  </a:extLst>
                </a:gridCol>
                <a:gridCol w="218169">
                  <a:extLst>
                    <a:ext uri="{9D8B030D-6E8A-4147-A177-3AD203B41FA5}">
                      <a16:colId xmlns:a16="http://schemas.microsoft.com/office/drawing/2014/main" val="20029"/>
                    </a:ext>
                  </a:extLst>
                </a:gridCol>
                <a:gridCol w="218169">
                  <a:extLst>
                    <a:ext uri="{9D8B030D-6E8A-4147-A177-3AD203B41FA5}">
                      <a16:colId xmlns:a16="http://schemas.microsoft.com/office/drawing/2014/main" val="20030"/>
                    </a:ext>
                  </a:extLst>
                </a:gridCol>
                <a:gridCol w="218169">
                  <a:extLst>
                    <a:ext uri="{9D8B030D-6E8A-4147-A177-3AD203B41FA5}">
                      <a16:colId xmlns:a16="http://schemas.microsoft.com/office/drawing/2014/main" val="20031"/>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29" name="矩形 28"/>
          <p:cNvSpPr/>
          <p:nvPr/>
        </p:nvSpPr>
        <p:spPr>
          <a:xfrm>
            <a:off x="630175" y="1761623"/>
            <a:ext cx="97494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4 </a:t>
            </a:r>
            <a:r>
              <a:rPr lang="zh-CN" altLang="en-US" sz="1200" b="1" dirty="0">
                <a:solidFill>
                  <a:srgbClr val="020202"/>
                </a:solidFill>
                <a:latin typeface="微软雅黑" pitchFamily="34" charset="-122"/>
                <a:ea typeface="微软雅黑" pitchFamily="34" charset="-122"/>
              </a:rPr>
              <a:t>个 </a:t>
            </a:r>
            <a:r>
              <a:rPr lang="en-US" altLang="zh-CN" sz="1200" b="1" dirty="0">
                <a:solidFill>
                  <a:srgbClr val="020202"/>
                </a:solidFill>
                <a:latin typeface="微软雅黑" pitchFamily="34" charset="-122"/>
                <a:ea typeface="微软雅黑" pitchFamily="34" charset="-122"/>
              </a:rPr>
              <a:t>6 </a:t>
            </a:r>
            <a:r>
              <a:rPr lang="zh-CN" altLang="en-US" sz="1200" b="1" dirty="0">
                <a:solidFill>
                  <a:srgbClr val="020202"/>
                </a:solidFill>
                <a:latin typeface="微软雅黑" pitchFamily="34" charset="-122"/>
                <a:ea typeface="微软雅黑" pitchFamily="34" charset="-122"/>
              </a:rPr>
              <a:t>位组</a:t>
            </a:r>
          </a:p>
        </p:txBody>
      </p:sp>
      <p:sp>
        <p:nvSpPr>
          <p:cNvPr id="30" name="矩形 29"/>
          <p:cNvSpPr/>
          <p:nvPr/>
        </p:nvSpPr>
        <p:spPr>
          <a:xfrm>
            <a:off x="517965" y="2184836"/>
            <a:ext cx="108715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Base64 </a:t>
            </a:r>
            <a:r>
              <a:rPr lang="zh-CN" altLang="en-US" sz="1200" b="1" dirty="0">
                <a:solidFill>
                  <a:srgbClr val="020202"/>
                </a:solidFill>
                <a:latin typeface="微软雅黑" pitchFamily="34" charset="-122"/>
                <a:ea typeface="微软雅黑" pitchFamily="34" charset="-122"/>
              </a:rPr>
              <a:t>编码</a:t>
            </a:r>
          </a:p>
        </p:txBody>
      </p:sp>
      <p:sp>
        <p:nvSpPr>
          <p:cNvPr id="31" name="矩形 30"/>
          <p:cNvSpPr/>
          <p:nvPr/>
        </p:nvSpPr>
        <p:spPr>
          <a:xfrm>
            <a:off x="651015" y="2615761"/>
            <a:ext cx="95410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ASCII </a:t>
            </a:r>
            <a:r>
              <a:rPr lang="zh-CN" altLang="en-US" sz="1200" b="1" dirty="0">
                <a:solidFill>
                  <a:srgbClr val="020202"/>
                </a:solidFill>
                <a:latin typeface="微软雅黑" pitchFamily="34" charset="-122"/>
                <a:ea typeface="微软雅黑" pitchFamily="34" charset="-122"/>
              </a:rPr>
              <a:t>编码</a:t>
            </a:r>
          </a:p>
        </p:txBody>
      </p:sp>
    </p:spTree>
    <p:extLst>
      <p:ext uri="{BB962C8B-B14F-4D97-AF65-F5344CB8AC3E}">
        <p14:creationId xmlns:p14="http://schemas.microsoft.com/office/powerpoint/2010/main" val="59035902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Base64 </a:t>
            </a:r>
            <a:r>
              <a:rPr lang="zh-CN" altLang="en-US" sz="2000" b="1" dirty="0">
                <a:latin typeface="微软雅黑" pitchFamily="34" charset="-122"/>
                <a:ea typeface="微软雅黑" pitchFamily="34" charset="-122"/>
              </a:rPr>
              <a:t>编码</a:t>
            </a:r>
          </a:p>
        </p:txBody>
      </p:sp>
      <p:sp>
        <p:nvSpPr>
          <p:cNvPr id="14" name="矩形 13"/>
          <p:cNvSpPr/>
          <p:nvPr/>
        </p:nvSpPr>
        <p:spPr>
          <a:xfrm>
            <a:off x="808389" y="1341212"/>
            <a:ext cx="800219" cy="276999"/>
          </a:xfrm>
          <a:prstGeom prst="rect">
            <a:avLst/>
          </a:prstGeom>
        </p:spPr>
        <p:txBody>
          <a:bodyPr wrap="none">
            <a:spAutoFit/>
          </a:bodyPr>
          <a:lstStyle/>
          <a:p>
            <a:pPr algn="r"/>
            <a:r>
              <a:rPr lang="zh-CN" altLang="en-US" sz="1200" b="1" dirty="0">
                <a:solidFill>
                  <a:srgbClr val="020202"/>
                </a:solidFill>
                <a:latin typeface="微软雅黑" pitchFamily="34" charset="-122"/>
                <a:ea typeface="微软雅黑" pitchFamily="34" charset="-122"/>
              </a:rPr>
              <a:t>原始字节</a:t>
            </a:r>
          </a:p>
        </p:txBody>
      </p:sp>
      <p:graphicFrame>
        <p:nvGraphicFramePr>
          <p:cNvPr id="15" name="表格 14"/>
          <p:cNvGraphicFramePr>
            <a:graphicFrameLocks noGrp="1"/>
          </p:cNvGraphicFramePr>
          <p:nvPr>
            <p:extLst>
              <p:ext uri="{D42A27DB-BD31-4B8C-83A1-F6EECF244321}">
                <p14:modId xmlns:p14="http://schemas.microsoft.com/office/powerpoint/2010/main" val="804540881"/>
              </p:ext>
            </p:extLst>
          </p:nvPr>
        </p:nvGraphicFramePr>
        <p:xfrm>
          <a:off x="1570259" y="1351498"/>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bl>
          </a:graphicData>
        </a:graphic>
      </p:graphicFrame>
      <p:graphicFrame>
        <p:nvGraphicFramePr>
          <p:cNvPr id="16" name="表格 15"/>
          <p:cNvGraphicFramePr>
            <a:graphicFrameLocks noGrp="1"/>
          </p:cNvGraphicFramePr>
          <p:nvPr>
            <p:extLst>
              <p:ext uri="{D42A27DB-BD31-4B8C-83A1-F6EECF244321}">
                <p14:modId xmlns:p14="http://schemas.microsoft.com/office/powerpoint/2010/main" val="3772995503"/>
              </p:ext>
            </p:extLst>
          </p:nvPr>
        </p:nvGraphicFramePr>
        <p:xfrm>
          <a:off x="1570259" y="1750887"/>
          <a:ext cx="5549904" cy="274320"/>
        </p:xfrm>
        <a:graphic>
          <a:graphicData uri="http://schemas.openxmlformats.org/drawingml/2006/table">
            <a:tbl>
              <a:tblPr firstRow="1" bandRow="1">
                <a:tableStyleId>{5C22544A-7EE6-4342-B048-85BDC9FD1C3A}</a:tableStyleId>
              </a:tblPr>
              <a:tblGrid>
                <a:gridCol w="231246">
                  <a:extLst>
                    <a:ext uri="{9D8B030D-6E8A-4147-A177-3AD203B41FA5}">
                      <a16:colId xmlns:a16="http://schemas.microsoft.com/office/drawing/2014/main" val="20000"/>
                    </a:ext>
                  </a:extLst>
                </a:gridCol>
                <a:gridCol w="231246">
                  <a:extLst>
                    <a:ext uri="{9D8B030D-6E8A-4147-A177-3AD203B41FA5}">
                      <a16:colId xmlns:a16="http://schemas.microsoft.com/office/drawing/2014/main" val="20001"/>
                    </a:ext>
                  </a:extLst>
                </a:gridCol>
                <a:gridCol w="231246">
                  <a:extLst>
                    <a:ext uri="{9D8B030D-6E8A-4147-A177-3AD203B41FA5}">
                      <a16:colId xmlns:a16="http://schemas.microsoft.com/office/drawing/2014/main" val="20002"/>
                    </a:ext>
                  </a:extLst>
                </a:gridCol>
                <a:gridCol w="231246">
                  <a:extLst>
                    <a:ext uri="{9D8B030D-6E8A-4147-A177-3AD203B41FA5}">
                      <a16:colId xmlns:a16="http://schemas.microsoft.com/office/drawing/2014/main" val="20003"/>
                    </a:ext>
                  </a:extLst>
                </a:gridCol>
                <a:gridCol w="231246">
                  <a:extLst>
                    <a:ext uri="{9D8B030D-6E8A-4147-A177-3AD203B41FA5}">
                      <a16:colId xmlns:a16="http://schemas.microsoft.com/office/drawing/2014/main" val="20004"/>
                    </a:ext>
                  </a:extLst>
                </a:gridCol>
                <a:gridCol w="231246">
                  <a:extLst>
                    <a:ext uri="{9D8B030D-6E8A-4147-A177-3AD203B41FA5}">
                      <a16:colId xmlns:a16="http://schemas.microsoft.com/office/drawing/2014/main" val="20005"/>
                    </a:ext>
                  </a:extLst>
                </a:gridCol>
                <a:gridCol w="231246">
                  <a:extLst>
                    <a:ext uri="{9D8B030D-6E8A-4147-A177-3AD203B41FA5}">
                      <a16:colId xmlns:a16="http://schemas.microsoft.com/office/drawing/2014/main" val="20006"/>
                    </a:ext>
                  </a:extLst>
                </a:gridCol>
                <a:gridCol w="231246">
                  <a:extLst>
                    <a:ext uri="{9D8B030D-6E8A-4147-A177-3AD203B41FA5}">
                      <a16:colId xmlns:a16="http://schemas.microsoft.com/office/drawing/2014/main" val="20007"/>
                    </a:ext>
                  </a:extLst>
                </a:gridCol>
                <a:gridCol w="231246">
                  <a:extLst>
                    <a:ext uri="{9D8B030D-6E8A-4147-A177-3AD203B41FA5}">
                      <a16:colId xmlns:a16="http://schemas.microsoft.com/office/drawing/2014/main" val="20008"/>
                    </a:ext>
                  </a:extLst>
                </a:gridCol>
                <a:gridCol w="231246">
                  <a:extLst>
                    <a:ext uri="{9D8B030D-6E8A-4147-A177-3AD203B41FA5}">
                      <a16:colId xmlns:a16="http://schemas.microsoft.com/office/drawing/2014/main" val="20009"/>
                    </a:ext>
                  </a:extLst>
                </a:gridCol>
                <a:gridCol w="231246">
                  <a:extLst>
                    <a:ext uri="{9D8B030D-6E8A-4147-A177-3AD203B41FA5}">
                      <a16:colId xmlns:a16="http://schemas.microsoft.com/office/drawing/2014/main" val="20010"/>
                    </a:ext>
                  </a:extLst>
                </a:gridCol>
                <a:gridCol w="231246">
                  <a:extLst>
                    <a:ext uri="{9D8B030D-6E8A-4147-A177-3AD203B41FA5}">
                      <a16:colId xmlns:a16="http://schemas.microsoft.com/office/drawing/2014/main" val="20011"/>
                    </a:ext>
                  </a:extLst>
                </a:gridCol>
                <a:gridCol w="231246">
                  <a:extLst>
                    <a:ext uri="{9D8B030D-6E8A-4147-A177-3AD203B41FA5}">
                      <a16:colId xmlns:a16="http://schemas.microsoft.com/office/drawing/2014/main" val="20012"/>
                    </a:ext>
                  </a:extLst>
                </a:gridCol>
                <a:gridCol w="231246">
                  <a:extLst>
                    <a:ext uri="{9D8B030D-6E8A-4147-A177-3AD203B41FA5}">
                      <a16:colId xmlns:a16="http://schemas.microsoft.com/office/drawing/2014/main" val="20013"/>
                    </a:ext>
                  </a:extLst>
                </a:gridCol>
                <a:gridCol w="231246">
                  <a:extLst>
                    <a:ext uri="{9D8B030D-6E8A-4147-A177-3AD203B41FA5}">
                      <a16:colId xmlns:a16="http://schemas.microsoft.com/office/drawing/2014/main" val="20014"/>
                    </a:ext>
                  </a:extLst>
                </a:gridCol>
                <a:gridCol w="231246">
                  <a:extLst>
                    <a:ext uri="{9D8B030D-6E8A-4147-A177-3AD203B41FA5}">
                      <a16:colId xmlns:a16="http://schemas.microsoft.com/office/drawing/2014/main" val="20015"/>
                    </a:ext>
                  </a:extLst>
                </a:gridCol>
                <a:gridCol w="231246">
                  <a:extLst>
                    <a:ext uri="{9D8B030D-6E8A-4147-A177-3AD203B41FA5}">
                      <a16:colId xmlns:a16="http://schemas.microsoft.com/office/drawing/2014/main" val="20016"/>
                    </a:ext>
                  </a:extLst>
                </a:gridCol>
                <a:gridCol w="231246">
                  <a:extLst>
                    <a:ext uri="{9D8B030D-6E8A-4147-A177-3AD203B41FA5}">
                      <a16:colId xmlns:a16="http://schemas.microsoft.com/office/drawing/2014/main" val="20017"/>
                    </a:ext>
                  </a:extLst>
                </a:gridCol>
                <a:gridCol w="231246">
                  <a:extLst>
                    <a:ext uri="{9D8B030D-6E8A-4147-A177-3AD203B41FA5}">
                      <a16:colId xmlns:a16="http://schemas.microsoft.com/office/drawing/2014/main" val="20018"/>
                    </a:ext>
                  </a:extLst>
                </a:gridCol>
                <a:gridCol w="231246">
                  <a:extLst>
                    <a:ext uri="{9D8B030D-6E8A-4147-A177-3AD203B41FA5}">
                      <a16:colId xmlns:a16="http://schemas.microsoft.com/office/drawing/2014/main" val="20019"/>
                    </a:ext>
                  </a:extLst>
                </a:gridCol>
                <a:gridCol w="231246">
                  <a:extLst>
                    <a:ext uri="{9D8B030D-6E8A-4147-A177-3AD203B41FA5}">
                      <a16:colId xmlns:a16="http://schemas.microsoft.com/office/drawing/2014/main" val="20020"/>
                    </a:ext>
                  </a:extLst>
                </a:gridCol>
                <a:gridCol w="231246">
                  <a:extLst>
                    <a:ext uri="{9D8B030D-6E8A-4147-A177-3AD203B41FA5}">
                      <a16:colId xmlns:a16="http://schemas.microsoft.com/office/drawing/2014/main" val="20021"/>
                    </a:ext>
                  </a:extLst>
                </a:gridCol>
                <a:gridCol w="231246">
                  <a:extLst>
                    <a:ext uri="{9D8B030D-6E8A-4147-A177-3AD203B41FA5}">
                      <a16:colId xmlns:a16="http://schemas.microsoft.com/office/drawing/2014/main" val="20022"/>
                    </a:ext>
                  </a:extLst>
                </a:gridCol>
                <a:gridCol w="231246">
                  <a:extLst>
                    <a:ext uri="{9D8B030D-6E8A-4147-A177-3AD203B41FA5}">
                      <a16:colId xmlns:a16="http://schemas.microsoft.com/office/drawing/2014/main" val="2002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0</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1</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1</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tx1"/>
                          </a:solidFill>
                          <a:latin typeface="微软雅黑" pitchFamily="34" charset="-122"/>
                          <a:ea typeface="微软雅黑" pitchFamily="34" charset="-122"/>
                        </a:rPr>
                        <a:t>0</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bg1"/>
                          </a:solidFill>
                          <a:latin typeface="微软雅黑" pitchFamily="34" charset="-122"/>
                          <a:ea typeface="微软雅黑" pitchFamily="34" charset="-122"/>
                        </a:rPr>
                        <a:t>0</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graphicFrame>
        <p:nvGraphicFramePr>
          <p:cNvPr id="17" name="表格 16"/>
          <p:cNvGraphicFramePr>
            <a:graphicFrameLocks noGrp="1"/>
          </p:cNvGraphicFramePr>
          <p:nvPr>
            <p:extLst>
              <p:ext uri="{D42A27DB-BD31-4B8C-83A1-F6EECF244321}">
                <p14:modId xmlns:p14="http://schemas.microsoft.com/office/powerpoint/2010/main" val="1919708434"/>
              </p:ext>
            </p:extLst>
          </p:nvPr>
        </p:nvGraphicFramePr>
        <p:xfrm>
          <a:off x="1570259" y="2173800"/>
          <a:ext cx="5549904" cy="274320"/>
        </p:xfrm>
        <a:graphic>
          <a:graphicData uri="http://schemas.openxmlformats.org/drawingml/2006/table">
            <a:tbl>
              <a:tblPr firstRow="1" bandRow="1">
                <a:tableStyleId>{5C22544A-7EE6-4342-B048-85BDC9FD1C3A}</a:tableStyleId>
              </a:tblPr>
              <a:tblGrid>
                <a:gridCol w="1387476">
                  <a:extLst>
                    <a:ext uri="{9D8B030D-6E8A-4147-A177-3AD203B41FA5}">
                      <a16:colId xmlns:a16="http://schemas.microsoft.com/office/drawing/2014/main" val="20000"/>
                    </a:ext>
                  </a:extLst>
                </a:gridCol>
                <a:gridCol w="1387476">
                  <a:extLst>
                    <a:ext uri="{9D8B030D-6E8A-4147-A177-3AD203B41FA5}">
                      <a16:colId xmlns:a16="http://schemas.microsoft.com/office/drawing/2014/main" val="20001"/>
                    </a:ext>
                  </a:extLst>
                </a:gridCol>
                <a:gridCol w="1387476">
                  <a:extLst>
                    <a:ext uri="{9D8B030D-6E8A-4147-A177-3AD203B41FA5}">
                      <a16:colId xmlns:a16="http://schemas.microsoft.com/office/drawing/2014/main" val="20002"/>
                    </a:ext>
                  </a:extLst>
                </a:gridCol>
                <a:gridCol w="1387476">
                  <a:extLst>
                    <a:ext uri="{9D8B030D-6E8A-4147-A177-3AD203B41FA5}">
                      <a16:colId xmlns:a16="http://schemas.microsoft.com/office/drawing/2014/main" val="20003"/>
                    </a:ext>
                  </a:extLst>
                </a:gridCol>
              </a:tblGrid>
              <a:tr h="195974">
                <a:tc>
                  <a:txBody>
                    <a:bodyPr/>
                    <a:lstStyle/>
                    <a:p>
                      <a:pPr marL="0" algn="ctr" defTabSz="914400" rtl="0" eaLnBrk="1" latinLnBrk="0" hangingPunct="1"/>
                      <a:r>
                        <a:rPr lang="en-US" altLang="zh-CN" sz="1200" b="1" kern="1200" dirty="0">
                          <a:solidFill>
                            <a:schemeClr val="tx1"/>
                          </a:solidFill>
                          <a:latin typeface="微软雅黑" pitchFamily="34" charset="-122"/>
                          <a:ea typeface="微软雅黑" pitchFamily="34" charset="-122"/>
                          <a:cs typeface="+mn-cs"/>
                        </a:rPr>
                        <a:t>T</a:t>
                      </a:r>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Q</a:t>
                      </a:r>
                      <a:endParaRPr lang="zh-CN" altLang="en-US" sz="1200" b="1" dirty="0">
                        <a:solidFill>
                          <a:schemeClr val="bg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a:solidFill>
                            <a:schemeClr val="tx1"/>
                          </a:solidFill>
                          <a:latin typeface="微软雅黑" pitchFamily="34" charset="-122"/>
                          <a:ea typeface="微软雅黑" pitchFamily="34" charset="-122"/>
                        </a:rPr>
                        <a:t>=</a:t>
                      </a: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a:solidFill>
                            <a:schemeClr val="bg1"/>
                          </a:solidFill>
                          <a:latin typeface="微软雅黑" pitchFamily="34" charset="-122"/>
                          <a:ea typeface="微软雅黑" pitchFamily="34" charset="-122"/>
                        </a:rPr>
                        <a:t>=</a:t>
                      </a: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18" name="矩形 17"/>
          <p:cNvSpPr/>
          <p:nvPr/>
        </p:nvSpPr>
        <p:spPr>
          <a:xfrm>
            <a:off x="633661" y="1761627"/>
            <a:ext cx="97494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4 </a:t>
            </a:r>
            <a:r>
              <a:rPr lang="zh-CN" altLang="en-US" sz="1200" b="1" dirty="0">
                <a:solidFill>
                  <a:srgbClr val="020202"/>
                </a:solidFill>
                <a:latin typeface="微软雅黑" pitchFamily="34" charset="-122"/>
                <a:ea typeface="微软雅黑" pitchFamily="34" charset="-122"/>
              </a:rPr>
              <a:t>个 </a:t>
            </a:r>
            <a:r>
              <a:rPr lang="en-US" altLang="zh-CN" sz="1200" b="1" dirty="0">
                <a:solidFill>
                  <a:srgbClr val="020202"/>
                </a:solidFill>
                <a:latin typeface="微软雅黑" pitchFamily="34" charset="-122"/>
                <a:ea typeface="微软雅黑" pitchFamily="34" charset="-122"/>
              </a:rPr>
              <a:t>6 </a:t>
            </a:r>
            <a:r>
              <a:rPr lang="zh-CN" altLang="en-US" sz="1200" b="1" dirty="0">
                <a:solidFill>
                  <a:srgbClr val="020202"/>
                </a:solidFill>
                <a:latin typeface="微软雅黑" pitchFamily="34" charset="-122"/>
                <a:ea typeface="微软雅黑" pitchFamily="34" charset="-122"/>
              </a:rPr>
              <a:t>位组</a:t>
            </a:r>
          </a:p>
        </p:txBody>
      </p:sp>
      <p:sp>
        <p:nvSpPr>
          <p:cNvPr id="19" name="矩形 18"/>
          <p:cNvSpPr/>
          <p:nvPr/>
        </p:nvSpPr>
        <p:spPr>
          <a:xfrm>
            <a:off x="521451" y="2184840"/>
            <a:ext cx="108715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Base64 </a:t>
            </a:r>
            <a:r>
              <a:rPr lang="zh-CN" altLang="en-US" sz="1200" b="1" dirty="0">
                <a:solidFill>
                  <a:srgbClr val="020202"/>
                </a:solidFill>
                <a:latin typeface="微软雅黑" pitchFamily="34" charset="-122"/>
                <a:ea typeface="微软雅黑" pitchFamily="34" charset="-122"/>
              </a:rPr>
              <a:t>编码</a:t>
            </a:r>
          </a:p>
        </p:txBody>
      </p:sp>
      <p:graphicFrame>
        <p:nvGraphicFramePr>
          <p:cNvPr id="20" name="表格 19"/>
          <p:cNvGraphicFramePr>
            <a:graphicFrameLocks noGrp="1"/>
          </p:cNvGraphicFramePr>
          <p:nvPr>
            <p:extLst>
              <p:ext uri="{D42A27DB-BD31-4B8C-83A1-F6EECF244321}">
                <p14:modId xmlns:p14="http://schemas.microsoft.com/office/powerpoint/2010/main" val="1504527244"/>
              </p:ext>
            </p:extLst>
          </p:nvPr>
        </p:nvGraphicFramePr>
        <p:xfrm>
          <a:off x="1570259" y="2625745"/>
          <a:ext cx="6981408" cy="274320"/>
        </p:xfrm>
        <a:graphic>
          <a:graphicData uri="http://schemas.openxmlformats.org/drawingml/2006/table">
            <a:tbl>
              <a:tblPr firstRow="1" bandRow="1">
                <a:tableStyleId>{5C22544A-7EE6-4342-B048-85BDC9FD1C3A}</a:tableStyleId>
              </a:tblPr>
              <a:tblGrid>
                <a:gridCol w="218169">
                  <a:extLst>
                    <a:ext uri="{9D8B030D-6E8A-4147-A177-3AD203B41FA5}">
                      <a16:colId xmlns:a16="http://schemas.microsoft.com/office/drawing/2014/main" val="20000"/>
                    </a:ext>
                  </a:extLst>
                </a:gridCol>
                <a:gridCol w="218169">
                  <a:extLst>
                    <a:ext uri="{9D8B030D-6E8A-4147-A177-3AD203B41FA5}">
                      <a16:colId xmlns:a16="http://schemas.microsoft.com/office/drawing/2014/main" val="20001"/>
                    </a:ext>
                  </a:extLst>
                </a:gridCol>
                <a:gridCol w="218169">
                  <a:extLst>
                    <a:ext uri="{9D8B030D-6E8A-4147-A177-3AD203B41FA5}">
                      <a16:colId xmlns:a16="http://schemas.microsoft.com/office/drawing/2014/main" val="20002"/>
                    </a:ext>
                  </a:extLst>
                </a:gridCol>
                <a:gridCol w="218169">
                  <a:extLst>
                    <a:ext uri="{9D8B030D-6E8A-4147-A177-3AD203B41FA5}">
                      <a16:colId xmlns:a16="http://schemas.microsoft.com/office/drawing/2014/main" val="20003"/>
                    </a:ext>
                  </a:extLst>
                </a:gridCol>
                <a:gridCol w="218169">
                  <a:extLst>
                    <a:ext uri="{9D8B030D-6E8A-4147-A177-3AD203B41FA5}">
                      <a16:colId xmlns:a16="http://schemas.microsoft.com/office/drawing/2014/main" val="20004"/>
                    </a:ext>
                  </a:extLst>
                </a:gridCol>
                <a:gridCol w="218169">
                  <a:extLst>
                    <a:ext uri="{9D8B030D-6E8A-4147-A177-3AD203B41FA5}">
                      <a16:colId xmlns:a16="http://schemas.microsoft.com/office/drawing/2014/main" val="20005"/>
                    </a:ext>
                  </a:extLst>
                </a:gridCol>
                <a:gridCol w="218169">
                  <a:extLst>
                    <a:ext uri="{9D8B030D-6E8A-4147-A177-3AD203B41FA5}">
                      <a16:colId xmlns:a16="http://schemas.microsoft.com/office/drawing/2014/main" val="20006"/>
                    </a:ext>
                  </a:extLst>
                </a:gridCol>
                <a:gridCol w="218169">
                  <a:extLst>
                    <a:ext uri="{9D8B030D-6E8A-4147-A177-3AD203B41FA5}">
                      <a16:colId xmlns:a16="http://schemas.microsoft.com/office/drawing/2014/main" val="20007"/>
                    </a:ext>
                  </a:extLst>
                </a:gridCol>
                <a:gridCol w="218169">
                  <a:extLst>
                    <a:ext uri="{9D8B030D-6E8A-4147-A177-3AD203B41FA5}">
                      <a16:colId xmlns:a16="http://schemas.microsoft.com/office/drawing/2014/main" val="20008"/>
                    </a:ext>
                  </a:extLst>
                </a:gridCol>
                <a:gridCol w="218169">
                  <a:extLst>
                    <a:ext uri="{9D8B030D-6E8A-4147-A177-3AD203B41FA5}">
                      <a16:colId xmlns:a16="http://schemas.microsoft.com/office/drawing/2014/main" val="20009"/>
                    </a:ext>
                  </a:extLst>
                </a:gridCol>
                <a:gridCol w="218169">
                  <a:extLst>
                    <a:ext uri="{9D8B030D-6E8A-4147-A177-3AD203B41FA5}">
                      <a16:colId xmlns:a16="http://schemas.microsoft.com/office/drawing/2014/main" val="20010"/>
                    </a:ext>
                  </a:extLst>
                </a:gridCol>
                <a:gridCol w="218169">
                  <a:extLst>
                    <a:ext uri="{9D8B030D-6E8A-4147-A177-3AD203B41FA5}">
                      <a16:colId xmlns:a16="http://schemas.microsoft.com/office/drawing/2014/main" val="20011"/>
                    </a:ext>
                  </a:extLst>
                </a:gridCol>
                <a:gridCol w="218169">
                  <a:extLst>
                    <a:ext uri="{9D8B030D-6E8A-4147-A177-3AD203B41FA5}">
                      <a16:colId xmlns:a16="http://schemas.microsoft.com/office/drawing/2014/main" val="20012"/>
                    </a:ext>
                  </a:extLst>
                </a:gridCol>
                <a:gridCol w="218169">
                  <a:extLst>
                    <a:ext uri="{9D8B030D-6E8A-4147-A177-3AD203B41FA5}">
                      <a16:colId xmlns:a16="http://schemas.microsoft.com/office/drawing/2014/main" val="20013"/>
                    </a:ext>
                  </a:extLst>
                </a:gridCol>
                <a:gridCol w="218169">
                  <a:extLst>
                    <a:ext uri="{9D8B030D-6E8A-4147-A177-3AD203B41FA5}">
                      <a16:colId xmlns:a16="http://schemas.microsoft.com/office/drawing/2014/main" val="20014"/>
                    </a:ext>
                  </a:extLst>
                </a:gridCol>
                <a:gridCol w="218169">
                  <a:extLst>
                    <a:ext uri="{9D8B030D-6E8A-4147-A177-3AD203B41FA5}">
                      <a16:colId xmlns:a16="http://schemas.microsoft.com/office/drawing/2014/main" val="20015"/>
                    </a:ext>
                  </a:extLst>
                </a:gridCol>
                <a:gridCol w="218169">
                  <a:extLst>
                    <a:ext uri="{9D8B030D-6E8A-4147-A177-3AD203B41FA5}">
                      <a16:colId xmlns:a16="http://schemas.microsoft.com/office/drawing/2014/main" val="20016"/>
                    </a:ext>
                  </a:extLst>
                </a:gridCol>
                <a:gridCol w="218169">
                  <a:extLst>
                    <a:ext uri="{9D8B030D-6E8A-4147-A177-3AD203B41FA5}">
                      <a16:colId xmlns:a16="http://schemas.microsoft.com/office/drawing/2014/main" val="20017"/>
                    </a:ext>
                  </a:extLst>
                </a:gridCol>
                <a:gridCol w="218169">
                  <a:extLst>
                    <a:ext uri="{9D8B030D-6E8A-4147-A177-3AD203B41FA5}">
                      <a16:colId xmlns:a16="http://schemas.microsoft.com/office/drawing/2014/main" val="20018"/>
                    </a:ext>
                  </a:extLst>
                </a:gridCol>
                <a:gridCol w="218169">
                  <a:extLst>
                    <a:ext uri="{9D8B030D-6E8A-4147-A177-3AD203B41FA5}">
                      <a16:colId xmlns:a16="http://schemas.microsoft.com/office/drawing/2014/main" val="20019"/>
                    </a:ext>
                  </a:extLst>
                </a:gridCol>
                <a:gridCol w="218169">
                  <a:extLst>
                    <a:ext uri="{9D8B030D-6E8A-4147-A177-3AD203B41FA5}">
                      <a16:colId xmlns:a16="http://schemas.microsoft.com/office/drawing/2014/main" val="20020"/>
                    </a:ext>
                  </a:extLst>
                </a:gridCol>
                <a:gridCol w="218169">
                  <a:extLst>
                    <a:ext uri="{9D8B030D-6E8A-4147-A177-3AD203B41FA5}">
                      <a16:colId xmlns:a16="http://schemas.microsoft.com/office/drawing/2014/main" val="20021"/>
                    </a:ext>
                  </a:extLst>
                </a:gridCol>
                <a:gridCol w="218169">
                  <a:extLst>
                    <a:ext uri="{9D8B030D-6E8A-4147-A177-3AD203B41FA5}">
                      <a16:colId xmlns:a16="http://schemas.microsoft.com/office/drawing/2014/main" val="20022"/>
                    </a:ext>
                  </a:extLst>
                </a:gridCol>
                <a:gridCol w="218169">
                  <a:extLst>
                    <a:ext uri="{9D8B030D-6E8A-4147-A177-3AD203B41FA5}">
                      <a16:colId xmlns:a16="http://schemas.microsoft.com/office/drawing/2014/main" val="20023"/>
                    </a:ext>
                  </a:extLst>
                </a:gridCol>
                <a:gridCol w="218169">
                  <a:extLst>
                    <a:ext uri="{9D8B030D-6E8A-4147-A177-3AD203B41FA5}">
                      <a16:colId xmlns:a16="http://schemas.microsoft.com/office/drawing/2014/main" val="20024"/>
                    </a:ext>
                  </a:extLst>
                </a:gridCol>
                <a:gridCol w="218169">
                  <a:extLst>
                    <a:ext uri="{9D8B030D-6E8A-4147-A177-3AD203B41FA5}">
                      <a16:colId xmlns:a16="http://schemas.microsoft.com/office/drawing/2014/main" val="20025"/>
                    </a:ext>
                  </a:extLst>
                </a:gridCol>
                <a:gridCol w="218169">
                  <a:extLst>
                    <a:ext uri="{9D8B030D-6E8A-4147-A177-3AD203B41FA5}">
                      <a16:colId xmlns:a16="http://schemas.microsoft.com/office/drawing/2014/main" val="20026"/>
                    </a:ext>
                  </a:extLst>
                </a:gridCol>
                <a:gridCol w="218169">
                  <a:extLst>
                    <a:ext uri="{9D8B030D-6E8A-4147-A177-3AD203B41FA5}">
                      <a16:colId xmlns:a16="http://schemas.microsoft.com/office/drawing/2014/main" val="20027"/>
                    </a:ext>
                  </a:extLst>
                </a:gridCol>
                <a:gridCol w="218169">
                  <a:extLst>
                    <a:ext uri="{9D8B030D-6E8A-4147-A177-3AD203B41FA5}">
                      <a16:colId xmlns:a16="http://schemas.microsoft.com/office/drawing/2014/main" val="20028"/>
                    </a:ext>
                  </a:extLst>
                </a:gridCol>
                <a:gridCol w="218169">
                  <a:extLst>
                    <a:ext uri="{9D8B030D-6E8A-4147-A177-3AD203B41FA5}">
                      <a16:colId xmlns:a16="http://schemas.microsoft.com/office/drawing/2014/main" val="20029"/>
                    </a:ext>
                  </a:extLst>
                </a:gridCol>
                <a:gridCol w="218169">
                  <a:extLst>
                    <a:ext uri="{9D8B030D-6E8A-4147-A177-3AD203B41FA5}">
                      <a16:colId xmlns:a16="http://schemas.microsoft.com/office/drawing/2014/main" val="20030"/>
                    </a:ext>
                  </a:extLst>
                </a:gridCol>
                <a:gridCol w="218169">
                  <a:extLst>
                    <a:ext uri="{9D8B030D-6E8A-4147-A177-3AD203B41FA5}">
                      <a16:colId xmlns:a16="http://schemas.microsoft.com/office/drawing/2014/main" val="20031"/>
                    </a:ext>
                  </a:extLst>
                </a:gridCol>
              </a:tblGrid>
              <a:tr h="195974">
                <a:tc>
                  <a:txBody>
                    <a:bodyPr/>
                    <a:lstStyle/>
                    <a:p>
                      <a:pPr marL="0" algn="ctr" defTabSz="914400" rtl="0" eaLnBrk="1" latinLnBrk="0" hangingPunct="1"/>
                      <a:endParaRPr lang="zh-CN" altLang="en-US" sz="1200" b="1" kern="1200" dirty="0">
                        <a:solidFill>
                          <a:schemeClr val="tx1"/>
                        </a:solidFill>
                        <a:latin typeface="微软雅黑" pitchFamily="34" charset="-122"/>
                        <a:ea typeface="微软雅黑"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itchFamily="34" charset="-122"/>
                        <a:ea typeface="微软雅黑"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extLst>
                  <a:ext uri="{0D108BD9-81ED-4DB2-BD59-A6C34878D82A}">
                    <a16:rowId xmlns:a16="http://schemas.microsoft.com/office/drawing/2014/main" val="10000"/>
                  </a:ext>
                </a:extLst>
              </a:tr>
            </a:tbl>
          </a:graphicData>
        </a:graphic>
      </p:graphicFrame>
      <p:sp>
        <p:nvSpPr>
          <p:cNvPr id="21" name="矩形 20"/>
          <p:cNvSpPr/>
          <p:nvPr/>
        </p:nvSpPr>
        <p:spPr>
          <a:xfrm>
            <a:off x="654502" y="2615765"/>
            <a:ext cx="954107" cy="276999"/>
          </a:xfrm>
          <a:prstGeom prst="rect">
            <a:avLst/>
          </a:prstGeom>
        </p:spPr>
        <p:txBody>
          <a:bodyPr wrap="none">
            <a:spAutoFit/>
          </a:bodyPr>
          <a:lstStyle/>
          <a:p>
            <a:pPr algn="r"/>
            <a:r>
              <a:rPr lang="en-US" altLang="zh-CN" sz="1200" b="1" dirty="0">
                <a:solidFill>
                  <a:srgbClr val="020202"/>
                </a:solidFill>
                <a:latin typeface="微软雅黑" pitchFamily="34" charset="-122"/>
                <a:ea typeface="微软雅黑" pitchFamily="34" charset="-122"/>
              </a:rPr>
              <a:t>ASCII </a:t>
            </a:r>
            <a:r>
              <a:rPr lang="zh-CN" altLang="en-US" sz="1200" b="1" dirty="0">
                <a:solidFill>
                  <a:srgbClr val="020202"/>
                </a:solidFill>
                <a:latin typeface="微软雅黑" pitchFamily="34" charset="-122"/>
                <a:ea typeface="微软雅黑" pitchFamily="34" charset="-122"/>
              </a:rPr>
              <a:t>编码</a:t>
            </a:r>
          </a:p>
        </p:txBody>
      </p:sp>
    </p:spTree>
    <p:extLst>
      <p:ext uri="{BB962C8B-B14F-4D97-AF65-F5344CB8AC3E}">
        <p14:creationId xmlns:p14="http://schemas.microsoft.com/office/powerpoint/2010/main" val="14950276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1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82900" y="579914"/>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内容类型</a:t>
            </a:r>
          </a:p>
        </p:txBody>
      </p:sp>
      <p:sp>
        <p:nvSpPr>
          <p:cNvPr id="4" name="Rectangle 68"/>
          <p:cNvSpPr>
            <a:spLocks noChangeArrowheads="1"/>
          </p:cNvSpPr>
          <p:nvPr/>
        </p:nvSpPr>
        <p:spPr bwMode="auto">
          <a:xfrm>
            <a:off x="556963" y="974215"/>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MIME </a:t>
            </a:r>
            <a:r>
              <a:rPr lang="zh-CN" altLang="en-US" sz="2000" b="1" dirty="0">
                <a:solidFill>
                  <a:srgbClr val="0000FF"/>
                </a:solidFill>
                <a:latin typeface="微软雅黑" pitchFamily="34" charset="-122"/>
                <a:ea typeface="微软雅黑" pitchFamily="34" charset="-122"/>
              </a:rPr>
              <a:t>标准规定：</a:t>
            </a:r>
            <a:endParaRPr lang="en-US" altLang="zh-CN" sz="2000" b="1" dirty="0">
              <a:solidFill>
                <a:srgbClr val="0000FF"/>
              </a:solidFill>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标准原先定义了 </a:t>
            </a:r>
            <a:r>
              <a:rPr lang="en-US" altLang="zh-CN" sz="2000" b="1" dirty="0">
                <a:latin typeface="微软雅黑" pitchFamily="34" charset="-122"/>
                <a:ea typeface="微软雅黑" pitchFamily="34" charset="-122"/>
              </a:rPr>
              <a:t>7 </a:t>
            </a:r>
            <a:r>
              <a:rPr lang="zh-CN" altLang="en-US" sz="2000" b="1" dirty="0">
                <a:latin typeface="微软雅黑" pitchFamily="34" charset="-122"/>
                <a:ea typeface="微软雅黑" pitchFamily="34" charset="-122"/>
              </a:rPr>
              <a:t>个基本内容类型和 </a:t>
            </a:r>
            <a:r>
              <a:rPr lang="en-US" altLang="zh-CN" sz="2000" b="1" dirty="0">
                <a:latin typeface="微软雅黑" pitchFamily="34" charset="-122"/>
                <a:ea typeface="微软雅黑" pitchFamily="34" charset="-122"/>
              </a:rPr>
              <a:t>15 </a:t>
            </a:r>
            <a:r>
              <a:rPr lang="zh-CN" altLang="en-US" sz="2000" b="1" dirty="0">
                <a:latin typeface="微软雅黑" pitchFamily="34" charset="-122"/>
                <a:ea typeface="微软雅黑" pitchFamily="34" charset="-122"/>
              </a:rPr>
              <a:t>种子类型。 </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允许发件人和收件人</a:t>
            </a:r>
            <a:r>
              <a:rPr lang="zh-CN" altLang="en-US" sz="2000" b="1" dirty="0">
                <a:solidFill>
                  <a:srgbClr val="C00000"/>
                </a:solidFill>
                <a:latin typeface="微软雅黑" pitchFamily="34" charset="-122"/>
                <a:ea typeface="微软雅黑" pitchFamily="34" charset="-122"/>
              </a:rPr>
              <a:t>自己定义</a:t>
            </a:r>
            <a:r>
              <a:rPr lang="zh-CN" altLang="en-US" sz="2000" b="1" dirty="0">
                <a:latin typeface="微软雅黑" pitchFamily="34" charset="-122"/>
                <a:ea typeface="微软雅黑" pitchFamily="34" charset="-122"/>
              </a:rPr>
              <a:t>专用的内容类型。但为避免可能出现名字冲突，标准要求为专用内容类型选择的名字要以字符串 </a:t>
            </a:r>
            <a:r>
              <a:rPr lang="en-US" altLang="zh-CN" sz="2000" b="1" dirty="0">
                <a:solidFill>
                  <a:srgbClr val="C00000"/>
                </a:solidFill>
                <a:latin typeface="微软雅黑" pitchFamily="34" charset="-122"/>
                <a:ea typeface="微软雅黑" pitchFamily="34" charset="-122"/>
              </a:rPr>
              <a:t>X-</a:t>
            </a:r>
            <a:r>
              <a:rPr lang="zh-CN" altLang="en-US" sz="2000" b="1" dirty="0">
                <a:latin typeface="微软雅黑" pitchFamily="34" charset="-122"/>
                <a:ea typeface="微软雅黑" pitchFamily="34" charset="-122"/>
              </a:rPr>
              <a:t>开始。</a:t>
            </a:r>
          </a:p>
        </p:txBody>
      </p:sp>
      <p:sp>
        <p:nvSpPr>
          <p:cNvPr id="5" name="矩形 4"/>
          <p:cNvSpPr/>
          <p:nvPr/>
        </p:nvSpPr>
        <p:spPr>
          <a:xfrm>
            <a:off x="1363196" y="1441780"/>
            <a:ext cx="6489577" cy="77566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marL="355600" eaLnBrk="0" hangingPunct="0">
              <a:lnSpc>
                <a:spcPts val="2800"/>
              </a:lnSpc>
              <a:buClr>
                <a:srgbClr val="0070C0"/>
              </a:buClr>
            </a:pPr>
            <a:r>
              <a:rPr lang="en-US" altLang="zh-CN" b="1" dirty="0">
                <a:solidFill>
                  <a:srgbClr val="C00000"/>
                </a:solidFill>
                <a:latin typeface="微软雅黑" pitchFamily="34" charset="-122"/>
                <a:ea typeface="微软雅黑" pitchFamily="34" charset="-122"/>
              </a:rPr>
              <a:t>Content-Type </a:t>
            </a:r>
            <a:r>
              <a:rPr lang="zh-CN" altLang="en-US" b="1" dirty="0">
                <a:latin typeface="微软雅黑" pitchFamily="34" charset="-122"/>
                <a:ea typeface="微软雅黑" pitchFamily="34" charset="-122"/>
              </a:rPr>
              <a:t>说明必须含有两个标识符：</a:t>
            </a:r>
            <a:r>
              <a:rPr lang="zh-CN" altLang="en-US" b="1" dirty="0">
                <a:solidFill>
                  <a:srgbClr val="C00000"/>
                </a:solidFill>
                <a:latin typeface="微软雅黑" pitchFamily="34" charset="-122"/>
                <a:ea typeface="微软雅黑" pitchFamily="34" charset="-122"/>
              </a:rPr>
              <a:t>内容类型</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(type) </a:t>
            </a:r>
            <a:r>
              <a:rPr lang="zh-CN" altLang="en-US" b="1" dirty="0">
                <a:latin typeface="微软雅黑" pitchFamily="34" charset="-122"/>
                <a:ea typeface="微软雅黑" pitchFamily="34" charset="-122"/>
              </a:rPr>
              <a:t>和</a:t>
            </a:r>
            <a:r>
              <a:rPr lang="zh-CN" altLang="en-US" b="1" dirty="0">
                <a:solidFill>
                  <a:srgbClr val="C00000"/>
                </a:solidFill>
                <a:latin typeface="微软雅黑" pitchFamily="34" charset="-122"/>
                <a:ea typeface="微软雅黑" pitchFamily="34" charset="-122"/>
              </a:rPr>
              <a:t>子类型</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(subtype)</a:t>
            </a:r>
            <a:r>
              <a:rPr lang="zh-CN" altLang="en-US" b="1" dirty="0">
                <a:latin typeface="微软雅黑" pitchFamily="34" charset="-122"/>
                <a:ea typeface="微软雅黑" pitchFamily="34" charset="-122"/>
              </a:rPr>
              <a:t>，中间用“</a:t>
            </a:r>
            <a:r>
              <a:rPr lang="en-US" altLang="zh-CN" b="1" dirty="0">
                <a:latin typeface="微软雅黑" pitchFamily="34" charset="-122"/>
                <a:ea typeface="微软雅黑" pitchFamily="34" charset="-122"/>
              </a:rPr>
              <a:t>/”</a:t>
            </a:r>
            <a:r>
              <a:rPr lang="zh-CN" altLang="en-US" b="1" dirty="0">
                <a:latin typeface="微软雅黑" pitchFamily="34" charset="-122"/>
                <a:ea typeface="微软雅黑" pitchFamily="34" charset="-122"/>
              </a:rPr>
              <a:t>分开。 </a:t>
            </a:r>
          </a:p>
        </p:txBody>
      </p:sp>
    </p:spTree>
    <p:extLst>
      <p:ext uri="{BB962C8B-B14F-4D97-AF65-F5344CB8AC3E}">
        <p14:creationId xmlns:p14="http://schemas.microsoft.com/office/powerpoint/2010/main" val="337860496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610"/>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4370"/>
            <a:ext cx="541449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Content-Type </a:t>
            </a:r>
            <a:r>
              <a:rPr lang="zh-CN" altLang="en-US" sz="2000" b="1" dirty="0">
                <a:latin typeface="微软雅黑" pitchFamily="34" charset="-122"/>
                <a:ea typeface="微软雅黑" pitchFamily="34" charset="-122"/>
              </a:rPr>
              <a:t>说明中的类型及子类型</a:t>
            </a:r>
          </a:p>
        </p:txBody>
      </p:sp>
      <p:graphicFrame>
        <p:nvGraphicFramePr>
          <p:cNvPr id="5" name="内容占位符 4"/>
          <p:cNvGraphicFramePr>
            <a:graphicFrameLocks/>
          </p:cNvGraphicFramePr>
          <p:nvPr>
            <p:extLst>
              <p:ext uri="{D42A27DB-BD31-4B8C-83A1-F6EECF244321}">
                <p14:modId xmlns:p14="http://schemas.microsoft.com/office/powerpoint/2010/main" val="1139208833"/>
              </p:ext>
            </p:extLst>
          </p:nvPr>
        </p:nvGraphicFramePr>
        <p:xfrm>
          <a:off x="556963" y="1016720"/>
          <a:ext cx="8048775" cy="2995289"/>
        </p:xfrm>
        <a:graphic>
          <a:graphicData uri="http://schemas.openxmlformats.org/drawingml/2006/table">
            <a:tbl>
              <a:tblPr firstRow="1" firstCol="1" bandRow="1" bandCol="1"/>
              <a:tblGrid>
                <a:gridCol w="2327758">
                  <a:extLst>
                    <a:ext uri="{9D8B030D-6E8A-4147-A177-3AD203B41FA5}">
                      <a16:colId xmlns:a16="http://schemas.microsoft.com/office/drawing/2014/main" val="20000"/>
                    </a:ext>
                  </a:extLst>
                </a:gridCol>
                <a:gridCol w="2897348">
                  <a:extLst>
                    <a:ext uri="{9D8B030D-6E8A-4147-A177-3AD203B41FA5}">
                      <a16:colId xmlns:a16="http://schemas.microsoft.com/office/drawing/2014/main" val="20001"/>
                    </a:ext>
                  </a:extLst>
                </a:gridCol>
                <a:gridCol w="2823669">
                  <a:extLst>
                    <a:ext uri="{9D8B030D-6E8A-4147-A177-3AD203B41FA5}">
                      <a16:colId xmlns:a16="http://schemas.microsoft.com/office/drawing/2014/main" val="20002"/>
                    </a:ext>
                  </a:extLst>
                </a:gridCol>
              </a:tblGrid>
              <a:tr h="296779">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内容类型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子类型举例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itchFamily="34" charset="-122"/>
                          <a:ea typeface="微软雅黑" pitchFamily="34" charset="-122"/>
                        </a:rPr>
                        <a:t>说明</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extLst>
                  <a:ext uri="{0D108BD9-81ED-4DB2-BD59-A6C34878D82A}">
                    <a16:rowId xmlns:a16="http://schemas.microsoft.com/office/drawing/2014/main" val="10000"/>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text</a:t>
                      </a:r>
                      <a:r>
                        <a:rPr lang="zh-CN" sz="1400" b="1" dirty="0">
                          <a:effectLst/>
                          <a:latin typeface="微软雅黑" pitchFamily="34" charset="-122"/>
                          <a:ea typeface="微软雅黑" pitchFamily="34" charset="-122"/>
                        </a:rPr>
                        <a:t>（文本）</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plain, html, xml, </a:t>
                      </a:r>
                      <a:r>
                        <a:rPr lang="en-US" sz="1400" b="1" dirty="0" err="1">
                          <a:effectLst/>
                          <a:latin typeface="微软雅黑" pitchFamily="34" charset="-122"/>
                          <a:ea typeface="微软雅黑" pitchFamily="34" charset="-122"/>
                        </a:rPr>
                        <a:t>css</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itchFamily="34" charset="-122"/>
                          <a:ea typeface="微软雅黑" pitchFamily="34" charset="-122"/>
                        </a:rPr>
                        <a:t>不同格式的文本</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image</a:t>
                      </a:r>
                      <a:r>
                        <a:rPr lang="zh-CN" sz="1400" b="1" dirty="0">
                          <a:effectLst/>
                          <a:latin typeface="微软雅黑" pitchFamily="34" charset="-122"/>
                          <a:ea typeface="微软雅黑" pitchFamily="34" charset="-122"/>
                        </a:rPr>
                        <a:t>（图像）</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gif, jpeg, tiff</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不同格式的静止图像</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audio</a:t>
                      </a:r>
                      <a:r>
                        <a:rPr lang="zh-CN" sz="1400" b="1" dirty="0">
                          <a:effectLst/>
                          <a:latin typeface="微软雅黑" pitchFamily="34" charset="-122"/>
                          <a:ea typeface="微软雅黑" pitchFamily="34" charset="-122"/>
                        </a:rPr>
                        <a:t>（音频）</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basic, mpeg, mp4</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可听见的声音</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69851">
                <a:tc>
                  <a:txBody>
                    <a:bodyPr/>
                    <a:lstStyle/>
                    <a:p>
                      <a:pPr algn="ctr" hangingPunct="0">
                        <a:lnSpc>
                          <a:spcPct val="100000"/>
                        </a:lnSpc>
                        <a:spcAft>
                          <a:spcPts val="0"/>
                        </a:spcAft>
                      </a:pPr>
                      <a:r>
                        <a:rPr lang="en-US" sz="1400" b="1">
                          <a:effectLst/>
                          <a:latin typeface="微软雅黑" pitchFamily="34" charset="-122"/>
                          <a:ea typeface="微软雅黑" pitchFamily="34" charset="-122"/>
                        </a:rPr>
                        <a:t>video</a:t>
                      </a:r>
                      <a:r>
                        <a:rPr lang="zh-CN" sz="1400" b="1">
                          <a:effectLst/>
                          <a:latin typeface="微软雅黑" pitchFamily="34" charset="-122"/>
                          <a:ea typeface="微软雅黑" pitchFamily="34" charset="-122"/>
                        </a:rPr>
                        <a:t>（视频）</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mpeg, mp4, quicktime</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不同格式的影片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69851">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model</a:t>
                      </a:r>
                      <a:r>
                        <a:rPr lang="zh-CN" sz="1400" b="1" dirty="0">
                          <a:effectLst/>
                          <a:latin typeface="微软雅黑" pitchFamily="34" charset="-122"/>
                          <a:ea typeface="微软雅黑" pitchFamily="34" charset="-122"/>
                        </a:rPr>
                        <a:t>（模型）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vrml</a:t>
                      </a:r>
                      <a:endParaRPr lang="zh-CN" sz="1400" b="1">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itchFamily="34" charset="-122"/>
                          <a:ea typeface="微软雅黑" pitchFamily="34" charset="-122"/>
                        </a:rPr>
                        <a:t>3D</a:t>
                      </a:r>
                      <a:r>
                        <a:rPr lang="zh-CN" sz="1400" b="1">
                          <a:effectLst/>
                          <a:latin typeface="微软雅黑" pitchFamily="34" charset="-122"/>
                          <a:ea typeface="微软雅黑" pitchFamily="34" charset="-122"/>
                        </a:rPr>
                        <a:t>模型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539702">
                <a:tc>
                  <a:txBody>
                    <a:bodyPr/>
                    <a:lstStyle/>
                    <a:p>
                      <a:pPr algn="ctr" hangingPunct="0">
                        <a:lnSpc>
                          <a:spcPct val="100000"/>
                        </a:lnSpc>
                        <a:spcAft>
                          <a:spcPts val="0"/>
                        </a:spcAft>
                      </a:pPr>
                      <a:r>
                        <a:rPr lang="en-US" sz="1400" b="1">
                          <a:effectLst/>
                          <a:latin typeface="微软雅黑" pitchFamily="34" charset="-122"/>
                          <a:ea typeface="微软雅黑" pitchFamily="34" charset="-122"/>
                        </a:rPr>
                        <a:t>application</a:t>
                      </a:r>
                      <a:r>
                        <a:rPr lang="zh-CN" sz="1400" b="1">
                          <a:effectLst/>
                          <a:latin typeface="微软雅黑" pitchFamily="34" charset="-122"/>
                          <a:ea typeface="微软雅黑" pitchFamily="34" charset="-122"/>
                        </a:rPr>
                        <a:t>（应用）</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octet-stream, </a:t>
                      </a:r>
                      <a:r>
                        <a:rPr lang="en-US" sz="1400" b="1" dirty="0" err="1">
                          <a:effectLst/>
                          <a:latin typeface="微软雅黑" pitchFamily="34" charset="-122"/>
                          <a:ea typeface="微软雅黑" pitchFamily="34" charset="-122"/>
                        </a:rPr>
                        <a:t>pdf</a:t>
                      </a:r>
                      <a:r>
                        <a:rPr lang="en-US" sz="1400" b="1" dirty="0">
                          <a:effectLst/>
                          <a:latin typeface="微软雅黑" pitchFamily="34" charset="-122"/>
                          <a:ea typeface="微软雅黑" pitchFamily="34" charset="-122"/>
                        </a:rPr>
                        <a:t>, </a:t>
                      </a:r>
                      <a:r>
                        <a:rPr lang="en-US" sz="1400" b="1" dirty="0" err="1">
                          <a:effectLst/>
                          <a:latin typeface="微软雅黑" pitchFamily="34" charset="-122"/>
                          <a:ea typeface="微软雅黑" pitchFamily="34" charset="-122"/>
                        </a:rPr>
                        <a:t>javascript</a:t>
                      </a:r>
                      <a:r>
                        <a:rPr lang="en-US" sz="1400" b="1" dirty="0">
                          <a:effectLst/>
                          <a:latin typeface="微软雅黑" pitchFamily="34" charset="-122"/>
                          <a:ea typeface="微软雅黑" pitchFamily="34" charset="-122"/>
                        </a:rPr>
                        <a:t>, zip</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不同应用程序产生的数据</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69851">
                <a:tc>
                  <a:txBody>
                    <a:bodyPr/>
                    <a:lstStyle/>
                    <a:p>
                      <a:pPr algn="ctr" hangingPunct="0">
                        <a:lnSpc>
                          <a:spcPct val="100000"/>
                        </a:lnSpc>
                        <a:spcAft>
                          <a:spcPts val="0"/>
                        </a:spcAft>
                      </a:pPr>
                      <a:r>
                        <a:rPr lang="en-US" sz="1400" b="1">
                          <a:effectLst/>
                          <a:latin typeface="微软雅黑" pitchFamily="34" charset="-122"/>
                          <a:ea typeface="微软雅黑" pitchFamily="34" charset="-122"/>
                        </a:rPr>
                        <a:t>message</a:t>
                      </a:r>
                      <a:r>
                        <a:rPr lang="zh-CN" sz="1400" b="1">
                          <a:effectLst/>
                          <a:latin typeface="微软雅黑" pitchFamily="34" charset="-122"/>
                          <a:ea typeface="微软雅黑" pitchFamily="34" charset="-122"/>
                        </a:rPr>
                        <a:t>（报文）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http, rfc822</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itchFamily="34" charset="-122"/>
                          <a:ea typeface="微软雅黑" pitchFamily="34" charset="-122"/>
                        </a:rPr>
                        <a:t>封装的报文</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539702">
                <a:tc>
                  <a:txBody>
                    <a:bodyPr/>
                    <a:lstStyle/>
                    <a:p>
                      <a:pPr algn="ctr" hangingPunct="0">
                        <a:lnSpc>
                          <a:spcPct val="100000"/>
                        </a:lnSpc>
                        <a:spcAft>
                          <a:spcPts val="0"/>
                        </a:spcAft>
                      </a:pPr>
                      <a:r>
                        <a:rPr lang="en-US" sz="1400" b="1">
                          <a:effectLst/>
                          <a:latin typeface="微软雅黑" pitchFamily="34" charset="-122"/>
                          <a:ea typeface="微软雅黑" pitchFamily="34" charset="-122"/>
                        </a:rPr>
                        <a:t>multipart</a:t>
                      </a:r>
                      <a:r>
                        <a:rPr lang="zh-CN" sz="1400" b="1">
                          <a:effectLst/>
                          <a:latin typeface="微软雅黑" pitchFamily="34" charset="-122"/>
                          <a:ea typeface="微软雅黑" pitchFamily="34" charset="-122"/>
                        </a:rPr>
                        <a:t>（多部分）</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itchFamily="34" charset="-122"/>
                          <a:ea typeface="微软雅黑" pitchFamily="34" charset="-122"/>
                        </a:rPr>
                        <a:t>mixed, alternative, parallel, digest</a:t>
                      </a:r>
                      <a:endParaRPr lang="zh-CN" sz="1400" b="1" dirty="0">
                        <a:effectLst/>
                        <a:latin typeface="微软雅黑" pitchFamily="34" charset="-122"/>
                        <a:ea typeface="微软雅黑"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itchFamily="34" charset="-122"/>
                          <a:ea typeface="微软雅黑" pitchFamily="34" charset="-122"/>
                        </a:rPr>
                        <a:t>多种类型的组合</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bl>
          </a:graphicData>
        </a:graphic>
      </p:graphicFrame>
      <p:sp>
        <p:nvSpPr>
          <p:cNvPr id="2" name="矩形 1"/>
          <p:cNvSpPr/>
          <p:nvPr/>
        </p:nvSpPr>
        <p:spPr>
          <a:xfrm>
            <a:off x="1485262" y="4054249"/>
            <a:ext cx="6211678" cy="369332"/>
          </a:xfrm>
          <a:prstGeom prst="rect">
            <a:avLst/>
          </a:prstGeom>
        </p:spPr>
        <p:txBody>
          <a:bodyPr wrap="square">
            <a:spAutoFit/>
          </a:bodyPr>
          <a:lstStyle/>
          <a:p>
            <a:pPr algn="ctr"/>
            <a:r>
              <a:rPr lang="en-US" altLang="zh-CN" b="1" dirty="0">
                <a:latin typeface="微软雅黑" panose="020B0503020204020204" pitchFamily="34" charset="-122"/>
                <a:ea typeface="微软雅黑" panose="020B0503020204020204" pitchFamily="34" charset="-122"/>
              </a:rPr>
              <a:t>Multipart </a:t>
            </a:r>
            <a:r>
              <a:rPr lang="zh-CN" altLang="en-US" b="1" dirty="0">
                <a:latin typeface="微软雅黑" panose="020B0503020204020204" pitchFamily="34" charset="-122"/>
                <a:ea typeface="微软雅黑" panose="020B0503020204020204" pitchFamily="34" charset="-122"/>
              </a:rPr>
              <a:t>很有用，使邮件增加了相当大的灵活性。</a:t>
            </a:r>
          </a:p>
        </p:txBody>
      </p:sp>
    </p:spTree>
    <p:extLst>
      <p:ext uri="{BB962C8B-B14F-4D97-AF65-F5344CB8AC3E}">
        <p14:creationId xmlns:p14="http://schemas.microsoft.com/office/powerpoint/2010/main" val="29817713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974055"/>
            <a:ext cx="8048776" cy="31198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13732"/>
            <a:ext cx="8048776"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2348"/>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itchFamily="34" charset="-122"/>
                <a:ea typeface="微软雅黑" pitchFamily="34" charset="-122"/>
              </a:rPr>
              <a:t>MIME </a:t>
            </a:r>
            <a:r>
              <a:rPr lang="zh-CN" altLang="en-US" sz="2000" b="1" dirty="0">
                <a:latin typeface="微软雅黑" pitchFamily="34" charset="-122"/>
                <a:ea typeface="微软雅黑" pitchFamily="34" charset="-122"/>
              </a:rPr>
              <a:t>举例</a:t>
            </a:r>
          </a:p>
        </p:txBody>
      </p:sp>
      <p:sp>
        <p:nvSpPr>
          <p:cNvPr id="13" name="Text Box 4"/>
          <p:cNvSpPr txBox="1">
            <a:spLocks noChangeArrowheads="1"/>
          </p:cNvSpPr>
          <p:nvPr/>
        </p:nvSpPr>
        <p:spPr bwMode="auto">
          <a:xfrm>
            <a:off x="3158350" y="1227463"/>
            <a:ext cx="4966133" cy="2554545"/>
          </a:xfrm>
          <a:prstGeom prst="rect">
            <a:avLst/>
          </a:prstGeom>
          <a:solidFill>
            <a:srgbClr val="CCFFFF"/>
          </a:solidFill>
          <a:ln w="19050">
            <a:solidFill>
              <a:schemeClr val="tx1"/>
            </a:solidFill>
            <a:miter lim="800000"/>
            <a:headEnd/>
            <a:tailEnd/>
          </a:ln>
          <a:effectLst/>
        </p:spPr>
        <p:txBody>
          <a:bodyPr wrap="squar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r>
              <a:rPr lang="en-US" altLang="zh-CN" sz="1600" b="1" dirty="0">
                <a:latin typeface="Courier New" pitchFamily="49" charset="0"/>
                <a:ea typeface="宋体" charset="-122"/>
              </a:rPr>
              <a:t>From: lionking@abc.edu </a:t>
            </a:r>
          </a:p>
          <a:p>
            <a:r>
              <a:rPr lang="en-US" altLang="zh-CN" sz="1600" b="1" dirty="0">
                <a:latin typeface="Courier New" pitchFamily="49" charset="0"/>
                <a:ea typeface="宋体" charset="-122"/>
              </a:rPr>
              <a:t>To: tigerwang@xyz.com </a:t>
            </a:r>
          </a:p>
          <a:p>
            <a:r>
              <a:rPr lang="en-US" altLang="zh-CN" sz="1600" b="1" dirty="0">
                <a:latin typeface="Courier New" pitchFamily="49" charset="0"/>
                <a:ea typeface="宋体" charset="-122"/>
              </a:rPr>
              <a:t>Subject: picture of my new home </a:t>
            </a:r>
          </a:p>
          <a:p>
            <a:r>
              <a:rPr lang="en-US" altLang="zh-CN" sz="1600" b="1" dirty="0">
                <a:solidFill>
                  <a:srgbClr val="FF0000"/>
                </a:solidFill>
                <a:latin typeface="Courier New" pitchFamily="49" charset="0"/>
                <a:ea typeface="宋体" charset="-122"/>
              </a:rPr>
              <a:t>MIME-Version: 1.0</a:t>
            </a:r>
            <a:r>
              <a:rPr lang="en-US" altLang="zh-CN" sz="1600" b="1" dirty="0">
                <a:solidFill>
                  <a:srgbClr val="FF3300"/>
                </a:solidFill>
                <a:latin typeface="Courier New" pitchFamily="49" charset="0"/>
                <a:ea typeface="宋体" charset="-122"/>
              </a:rPr>
              <a:t> </a:t>
            </a:r>
          </a:p>
          <a:p>
            <a:r>
              <a:rPr lang="en-US" altLang="zh-CN" sz="1600" b="1" dirty="0">
                <a:solidFill>
                  <a:srgbClr val="990000"/>
                </a:solidFill>
                <a:latin typeface="Courier New" pitchFamily="49" charset="0"/>
                <a:ea typeface="宋体" charset="-122"/>
              </a:rPr>
              <a:t>Content-Transfer-Encoding: base64</a:t>
            </a:r>
            <a:r>
              <a:rPr lang="en-US" altLang="zh-CN" sz="1600" b="1" dirty="0">
                <a:solidFill>
                  <a:schemeClr val="accent1"/>
                </a:solidFill>
                <a:latin typeface="Courier New" pitchFamily="49" charset="0"/>
                <a:ea typeface="宋体" charset="-122"/>
              </a:rPr>
              <a:t> </a:t>
            </a:r>
          </a:p>
          <a:p>
            <a:r>
              <a:rPr lang="en-US" altLang="zh-CN" sz="1600" b="1" dirty="0">
                <a:solidFill>
                  <a:srgbClr val="0000FF"/>
                </a:solidFill>
                <a:latin typeface="Courier New" pitchFamily="49" charset="0"/>
                <a:ea typeface="宋体" charset="-122"/>
              </a:rPr>
              <a:t>Content-Type: image/jpeg </a:t>
            </a:r>
          </a:p>
          <a:p>
            <a:endParaRPr lang="en-US" altLang="zh-CN" sz="1600" b="1" dirty="0">
              <a:solidFill>
                <a:srgbClr val="0000FF"/>
              </a:solidFill>
              <a:latin typeface="Courier New" pitchFamily="49" charset="0"/>
              <a:ea typeface="宋体" charset="-122"/>
            </a:endParaRPr>
          </a:p>
          <a:p>
            <a:r>
              <a:rPr lang="en-US" altLang="zh-CN" sz="1600" b="1" dirty="0">
                <a:solidFill>
                  <a:srgbClr val="008000"/>
                </a:solidFill>
                <a:latin typeface="Courier New" pitchFamily="49" charset="0"/>
                <a:ea typeface="宋体" charset="-122"/>
              </a:rPr>
              <a:t>base64 encoded data ..... </a:t>
            </a:r>
          </a:p>
          <a:p>
            <a:r>
              <a:rPr lang="en-US" altLang="zh-CN" sz="1600" b="1" dirty="0">
                <a:solidFill>
                  <a:srgbClr val="008000"/>
                </a:solidFill>
                <a:latin typeface="Courier New" pitchFamily="49" charset="0"/>
                <a:ea typeface="宋体" charset="-122"/>
              </a:rPr>
              <a:t>......................... </a:t>
            </a:r>
          </a:p>
          <a:p>
            <a:r>
              <a:rPr lang="en-US" altLang="zh-CN" sz="1600" b="1" dirty="0">
                <a:solidFill>
                  <a:srgbClr val="008000"/>
                </a:solidFill>
                <a:latin typeface="Courier New" pitchFamily="49" charset="0"/>
                <a:ea typeface="宋体" charset="-122"/>
              </a:rPr>
              <a:t>......base64 encoded data</a:t>
            </a:r>
            <a:r>
              <a:rPr lang="en-US" altLang="zh-CN" sz="1600" b="1" dirty="0">
                <a:latin typeface="Courier New" pitchFamily="49" charset="0"/>
                <a:ea typeface="宋体" charset="-122"/>
              </a:rPr>
              <a:t> </a:t>
            </a:r>
          </a:p>
        </p:txBody>
      </p:sp>
      <p:sp>
        <p:nvSpPr>
          <p:cNvPr id="16" name="Text Box 5"/>
          <p:cNvSpPr txBox="1">
            <a:spLocks noChangeArrowheads="1"/>
          </p:cNvSpPr>
          <p:nvPr/>
        </p:nvSpPr>
        <p:spPr bwMode="auto">
          <a:xfrm>
            <a:off x="766943" y="2286429"/>
            <a:ext cx="1526380"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a:solidFill>
                  <a:srgbClr val="0000FF"/>
                </a:solidFill>
                <a:latin typeface="微软雅黑" pitchFamily="34" charset="-122"/>
                <a:ea typeface="微软雅黑" pitchFamily="34" charset="-122"/>
              </a:rPr>
              <a:t>内容类型</a:t>
            </a:r>
            <a:r>
              <a:rPr lang="en-US" altLang="zh-CN" sz="1400" b="1" dirty="0">
                <a:solidFill>
                  <a:srgbClr val="0000FF"/>
                </a:solidFill>
                <a:latin typeface="微软雅黑" pitchFamily="34" charset="-122"/>
                <a:ea typeface="微软雅黑" pitchFamily="34" charset="-122"/>
              </a:rPr>
              <a:t>/</a:t>
            </a:r>
            <a:r>
              <a:rPr lang="zh-CN" altLang="en-US" sz="1400" b="1" dirty="0">
                <a:solidFill>
                  <a:srgbClr val="0000FF"/>
                </a:solidFill>
                <a:latin typeface="微软雅黑" pitchFamily="34" charset="-122"/>
                <a:ea typeface="微软雅黑" pitchFamily="34" charset="-122"/>
              </a:rPr>
              <a:t>子类型</a:t>
            </a:r>
            <a:endParaRPr lang="en-US" altLang="zh-CN" sz="1400" b="1" dirty="0">
              <a:solidFill>
                <a:srgbClr val="0000FF"/>
              </a:solidFill>
              <a:latin typeface="微软雅黑" pitchFamily="34" charset="-122"/>
              <a:ea typeface="微软雅黑" pitchFamily="34" charset="-122"/>
            </a:endParaRPr>
          </a:p>
        </p:txBody>
      </p:sp>
      <p:sp>
        <p:nvSpPr>
          <p:cNvPr id="17" name="Text Box 6"/>
          <p:cNvSpPr txBox="1">
            <a:spLocks noChangeArrowheads="1"/>
          </p:cNvSpPr>
          <p:nvPr/>
        </p:nvSpPr>
        <p:spPr bwMode="auto">
          <a:xfrm>
            <a:off x="1390512" y="1865122"/>
            <a:ext cx="902811"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a:solidFill>
                  <a:srgbClr val="990000"/>
                </a:solidFill>
                <a:latin typeface="微软雅黑" pitchFamily="34" charset="-122"/>
                <a:ea typeface="微软雅黑" pitchFamily="34" charset="-122"/>
              </a:rPr>
              <a:t>编码方法</a:t>
            </a:r>
            <a:endParaRPr lang="en-US" altLang="zh-CN" sz="1400" b="1" dirty="0">
              <a:solidFill>
                <a:srgbClr val="990000"/>
              </a:solidFill>
              <a:latin typeface="微软雅黑" pitchFamily="34" charset="-122"/>
              <a:ea typeface="微软雅黑" pitchFamily="34" charset="-122"/>
            </a:endParaRPr>
          </a:p>
        </p:txBody>
      </p:sp>
      <p:sp>
        <p:nvSpPr>
          <p:cNvPr id="18" name="Text Box 7"/>
          <p:cNvSpPr txBox="1">
            <a:spLocks noChangeArrowheads="1"/>
          </p:cNvSpPr>
          <p:nvPr/>
        </p:nvSpPr>
        <p:spPr bwMode="auto">
          <a:xfrm>
            <a:off x="1164488" y="1426932"/>
            <a:ext cx="1128835"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en-US" altLang="zh-CN" sz="1400" b="1" dirty="0">
                <a:solidFill>
                  <a:srgbClr val="FF0000"/>
                </a:solidFill>
                <a:latin typeface="微软雅黑" pitchFamily="34" charset="-122"/>
                <a:ea typeface="微软雅黑" pitchFamily="34" charset="-122"/>
              </a:rPr>
              <a:t>MIME </a:t>
            </a:r>
            <a:r>
              <a:rPr lang="zh-CN" altLang="en-US" sz="1400" b="1" dirty="0">
                <a:solidFill>
                  <a:srgbClr val="FF0000"/>
                </a:solidFill>
                <a:latin typeface="微软雅黑" pitchFamily="34" charset="-122"/>
                <a:ea typeface="微软雅黑" pitchFamily="34" charset="-122"/>
              </a:rPr>
              <a:t>版本</a:t>
            </a:r>
            <a:endParaRPr lang="en-US" altLang="zh-CN" sz="1400" b="1" dirty="0">
              <a:solidFill>
                <a:srgbClr val="FF0000"/>
              </a:solidFill>
              <a:latin typeface="微软雅黑" pitchFamily="34" charset="-122"/>
              <a:ea typeface="微软雅黑" pitchFamily="34" charset="-122"/>
            </a:endParaRPr>
          </a:p>
        </p:txBody>
      </p:sp>
      <p:sp>
        <p:nvSpPr>
          <p:cNvPr id="19" name="Text Box 8"/>
          <p:cNvSpPr txBox="1">
            <a:spLocks noChangeArrowheads="1"/>
          </p:cNvSpPr>
          <p:nvPr/>
        </p:nvSpPr>
        <p:spPr bwMode="auto">
          <a:xfrm>
            <a:off x="1031439" y="2819166"/>
            <a:ext cx="1261884"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itchFamily="34" charset="0"/>
                <a:ea typeface="黑体" pitchFamily="2" charset="-122"/>
              </a:defRPr>
            </a:lvl1pPr>
            <a:lvl2pPr marL="742950" indent="-285750">
              <a:defRPr>
                <a:solidFill>
                  <a:schemeClr val="tx1"/>
                </a:solidFill>
                <a:latin typeface="Tahoma" pitchFamily="34" charset="0"/>
                <a:ea typeface="黑体" pitchFamily="2" charset="-122"/>
              </a:defRPr>
            </a:lvl2pPr>
            <a:lvl3pPr marL="1143000" indent="-228600">
              <a:defRPr>
                <a:solidFill>
                  <a:schemeClr val="tx1"/>
                </a:solidFill>
                <a:latin typeface="Tahoma" pitchFamily="34" charset="0"/>
                <a:ea typeface="黑体" pitchFamily="2" charset="-122"/>
              </a:defRPr>
            </a:lvl3pPr>
            <a:lvl4pPr marL="1600200" indent="-228600">
              <a:defRPr>
                <a:solidFill>
                  <a:schemeClr val="tx1"/>
                </a:solidFill>
                <a:latin typeface="Tahoma" pitchFamily="34" charset="0"/>
                <a:ea typeface="黑体" pitchFamily="2" charset="-122"/>
              </a:defRPr>
            </a:lvl4pPr>
            <a:lvl5pPr marL="2057400" indent="-228600">
              <a:defRPr>
                <a:solidFill>
                  <a:schemeClr val="tx1"/>
                </a:solidFill>
                <a:latin typeface="Tahoma" pitchFamily="34" charset="0"/>
                <a:ea typeface="黑体" pitchFamily="2" charset="-122"/>
              </a:defRPr>
            </a:lvl5pPr>
            <a:lvl6pPr marL="2514600" indent="-228600" eaLnBrk="0" fontAlgn="base" hangingPunct="0">
              <a:spcBef>
                <a:spcPct val="0"/>
              </a:spcBef>
              <a:spcAft>
                <a:spcPct val="0"/>
              </a:spcAft>
              <a:defRPr>
                <a:solidFill>
                  <a:schemeClr val="tx1"/>
                </a:solidFill>
                <a:latin typeface="Tahoma" pitchFamily="34" charset="0"/>
                <a:ea typeface="黑体" pitchFamily="2" charset="-122"/>
              </a:defRPr>
            </a:lvl6pPr>
            <a:lvl7pPr marL="2971800" indent="-228600" eaLnBrk="0" fontAlgn="base" hangingPunct="0">
              <a:spcBef>
                <a:spcPct val="0"/>
              </a:spcBef>
              <a:spcAft>
                <a:spcPct val="0"/>
              </a:spcAft>
              <a:defRPr>
                <a:solidFill>
                  <a:schemeClr val="tx1"/>
                </a:solidFill>
                <a:latin typeface="Tahoma" pitchFamily="34" charset="0"/>
                <a:ea typeface="黑体" pitchFamily="2" charset="-122"/>
              </a:defRPr>
            </a:lvl7pPr>
            <a:lvl8pPr marL="3429000" indent="-228600" eaLnBrk="0" fontAlgn="base" hangingPunct="0">
              <a:spcBef>
                <a:spcPct val="0"/>
              </a:spcBef>
              <a:spcAft>
                <a:spcPct val="0"/>
              </a:spcAft>
              <a:defRPr>
                <a:solidFill>
                  <a:schemeClr val="tx1"/>
                </a:solidFill>
                <a:latin typeface="Tahoma" pitchFamily="34" charset="0"/>
                <a:ea typeface="黑体" pitchFamily="2" charset="-122"/>
              </a:defRPr>
            </a:lvl8pPr>
            <a:lvl9pPr marL="3886200" indent="-228600" eaLnBrk="0" fontAlgn="base" hangingPunct="0">
              <a:spcBef>
                <a:spcPct val="0"/>
              </a:spcBef>
              <a:spcAft>
                <a:spcPct val="0"/>
              </a:spcAft>
              <a:defRPr>
                <a:solidFill>
                  <a:schemeClr val="tx1"/>
                </a:solidFill>
                <a:latin typeface="Tahoma" pitchFamily="34" charset="0"/>
                <a:ea typeface="黑体" pitchFamily="2" charset="-122"/>
              </a:defRPr>
            </a:lvl9pPr>
          </a:lstStyle>
          <a:p>
            <a:pPr algn="r"/>
            <a:r>
              <a:rPr lang="zh-CN" altLang="en-US" sz="1400" b="1" dirty="0">
                <a:solidFill>
                  <a:srgbClr val="008000"/>
                </a:solidFill>
                <a:latin typeface="微软雅黑" pitchFamily="34" charset="-122"/>
                <a:ea typeface="微软雅黑" pitchFamily="34" charset="-122"/>
              </a:rPr>
              <a:t>编码后的数据</a:t>
            </a:r>
            <a:endParaRPr lang="en-US" altLang="zh-CN" sz="1400" b="1" dirty="0">
              <a:solidFill>
                <a:srgbClr val="008000"/>
              </a:solidFill>
              <a:latin typeface="微软雅黑" pitchFamily="34" charset="-122"/>
              <a:ea typeface="微软雅黑" pitchFamily="34" charset="-122"/>
            </a:endParaRPr>
          </a:p>
        </p:txBody>
      </p:sp>
      <p:sp>
        <p:nvSpPr>
          <p:cNvPr id="20" name="Line 9"/>
          <p:cNvSpPr>
            <a:spLocks noChangeShapeType="1"/>
          </p:cNvSpPr>
          <p:nvPr/>
        </p:nvSpPr>
        <p:spPr bwMode="auto">
          <a:xfrm>
            <a:off x="2219753" y="1586452"/>
            <a:ext cx="928688" cy="554038"/>
          </a:xfrm>
          <a:prstGeom prst="line">
            <a:avLst/>
          </a:prstGeom>
          <a:noFill/>
          <a:ln w="25400">
            <a:solidFill>
              <a:srgbClr val="FF0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1" name="Line 10"/>
          <p:cNvSpPr>
            <a:spLocks noChangeShapeType="1"/>
          </p:cNvSpPr>
          <p:nvPr/>
        </p:nvSpPr>
        <p:spPr bwMode="auto">
          <a:xfrm>
            <a:off x="2219753" y="2044031"/>
            <a:ext cx="928688" cy="332968"/>
          </a:xfrm>
          <a:prstGeom prst="line">
            <a:avLst/>
          </a:prstGeom>
          <a:noFill/>
          <a:ln w="25400">
            <a:solidFill>
              <a:srgbClr val="6633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3" name="Line 11"/>
          <p:cNvSpPr>
            <a:spLocks noChangeShapeType="1"/>
          </p:cNvSpPr>
          <p:nvPr/>
        </p:nvSpPr>
        <p:spPr bwMode="auto">
          <a:xfrm>
            <a:off x="2219753" y="2466968"/>
            <a:ext cx="938597" cy="136474"/>
          </a:xfrm>
          <a:prstGeom prst="line">
            <a:avLst/>
          </a:prstGeom>
          <a:noFill/>
          <a:ln w="25400">
            <a:solidFill>
              <a:srgbClr val="0000FF"/>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5" name="Line 12"/>
          <p:cNvSpPr>
            <a:spLocks noChangeShapeType="1"/>
          </p:cNvSpPr>
          <p:nvPr/>
        </p:nvSpPr>
        <p:spPr bwMode="auto">
          <a:xfrm>
            <a:off x="2219753" y="2991065"/>
            <a:ext cx="658812" cy="256573"/>
          </a:xfrm>
          <a:prstGeom prst="line">
            <a:avLst/>
          </a:prstGeom>
          <a:noFill/>
          <a:ln w="25400">
            <a:solidFill>
              <a:srgbClr val="0099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 name="左中括号 8"/>
          <p:cNvSpPr/>
          <p:nvPr/>
        </p:nvSpPr>
        <p:spPr>
          <a:xfrm>
            <a:off x="2933736" y="3043615"/>
            <a:ext cx="163270" cy="684149"/>
          </a:xfrm>
          <a:prstGeom prst="leftBracket">
            <a:avLst>
              <a:gd name="adj" fmla="val 0"/>
            </a:avLst>
          </a:prstGeom>
          <a:ln w="19050">
            <a:solidFill>
              <a:srgbClr val="33993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7297279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45144" y="1013472"/>
            <a:ext cx="8443408"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在协议软件中，给协议参数赋值的动作叫做</a:t>
            </a:r>
            <a:r>
              <a:rPr lang="zh-CN" altLang="en-US" sz="2000" b="1" dirty="0">
                <a:solidFill>
                  <a:srgbClr val="C00000"/>
                </a:solidFill>
                <a:latin typeface="微软雅黑" pitchFamily="34" charset="-122"/>
                <a:ea typeface="微软雅黑" pitchFamily="34" charset="-122"/>
              </a:rPr>
              <a:t>协议配置。</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一个协议软件在使用之前必须是已正确配置的。</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具体的配置信息取决于协议栈。</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连接到互联网的计算机的协议软件需要正确配置的参数包括：</a:t>
            </a:r>
          </a:p>
          <a:p>
            <a:pPr marL="633413" indent="-342900" eaLnBrk="0" hangingPunct="0">
              <a:lnSpc>
                <a:spcPts val="3300"/>
              </a:lnSpc>
              <a:buClr>
                <a:srgbClr val="7030A0"/>
              </a:buClr>
              <a:buFont typeface="+mj-lt"/>
              <a:buAutoNum type="arabicPeriod"/>
            </a:pP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子网掩码</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默认路由器的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633413"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域名服务器的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p:txBody>
      </p:sp>
      <p:sp>
        <p:nvSpPr>
          <p:cNvPr id="5" name="AutoShape 5"/>
          <p:cNvSpPr>
            <a:spLocks noChangeArrowheads="1"/>
          </p:cNvSpPr>
          <p:nvPr/>
        </p:nvSpPr>
        <p:spPr bwMode="auto">
          <a:xfrm>
            <a:off x="545144" y="611484"/>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425421" y="569213"/>
            <a:ext cx="4293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a:solidFill>
                  <a:srgbClr val="FFFF00"/>
                </a:solidFill>
                <a:latin typeface="微软雅黑" pitchFamily="34" charset="-122"/>
                <a:ea typeface="微软雅黑" pitchFamily="34" charset="-122"/>
              </a:rPr>
              <a:t>6.6  </a:t>
            </a:r>
            <a:r>
              <a:rPr lang="zh-CN" altLang="en-US" sz="2400" b="1" dirty="0">
                <a:solidFill>
                  <a:schemeClr val="bg1"/>
                </a:solidFill>
                <a:latin typeface="微软雅黑" pitchFamily="34" charset="-122"/>
                <a:ea typeface="微软雅黑" pitchFamily="34" charset="-122"/>
              </a:rPr>
              <a:t>动态主机配置协议 </a:t>
            </a:r>
            <a:r>
              <a:rPr lang="en-US" altLang="zh-CN" sz="2400" b="1" dirty="0">
                <a:solidFill>
                  <a:schemeClr val="bg1"/>
                </a:solidFill>
                <a:latin typeface="微软雅黑" pitchFamily="34" charset="-122"/>
                <a:ea typeface="微软雅黑" pitchFamily="34" charset="-122"/>
              </a:rPr>
              <a:t>DHCP</a:t>
            </a:r>
          </a:p>
        </p:txBody>
      </p:sp>
    </p:spTree>
    <p:extLst>
      <p:ext uri="{BB962C8B-B14F-4D97-AF65-F5344CB8AC3E}">
        <p14:creationId xmlns:p14="http://schemas.microsoft.com/office/powerpoint/2010/main" val="41090460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46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50031" y="559193"/>
            <a:ext cx="36439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动态主机配置协议 </a:t>
            </a:r>
            <a:r>
              <a:rPr lang="en-US" altLang="zh-CN" sz="2400" b="1" dirty="0">
                <a:solidFill>
                  <a:schemeClr val="bg1"/>
                </a:solidFill>
                <a:latin typeface="微软雅黑" pitchFamily="34" charset="-122"/>
                <a:ea typeface="微软雅黑" pitchFamily="34" charset="-122"/>
              </a:rPr>
              <a:t>DHCP</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77982" y="995682"/>
            <a:ext cx="815764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动态主机配置协议 </a:t>
            </a:r>
            <a:r>
              <a:rPr lang="en-US" altLang="zh-CN" sz="2000" b="1" dirty="0">
                <a:solidFill>
                  <a:srgbClr val="C00000"/>
                </a:solidFill>
                <a:latin typeface="微软雅黑" pitchFamily="34" charset="-122"/>
                <a:ea typeface="微软雅黑" pitchFamily="34" charset="-122"/>
              </a:rPr>
              <a:t>DHCP </a:t>
            </a:r>
            <a:r>
              <a:rPr lang="en-US" altLang="zh-CN" sz="2000" b="1" dirty="0">
                <a:latin typeface="微软雅黑" pitchFamily="34" charset="-122"/>
                <a:ea typeface="微软雅黑" pitchFamily="34" charset="-122"/>
              </a:rPr>
              <a:t>(Dynamic Host Configuration Protocol) </a:t>
            </a:r>
            <a:r>
              <a:rPr lang="zh-CN" altLang="en-US" sz="2000" b="1" dirty="0">
                <a:latin typeface="微软雅黑" pitchFamily="34" charset="-122"/>
                <a:ea typeface="微软雅黑" pitchFamily="34" charset="-122"/>
              </a:rPr>
              <a:t>提供了</a:t>
            </a:r>
            <a:r>
              <a:rPr lang="zh-CN" altLang="en-US" sz="2000" b="1" dirty="0">
                <a:solidFill>
                  <a:srgbClr val="C00000"/>
                </a:solidFill>
                <a:latin typeface="微软雅黑" pitchFamily="34" charset="-122"/>
                <a:ea typeface="微软雅黑" pitchFamily="34" charset="-122"/>
              </a:rPr>
              <a:t>即插即用连网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(plug-and-play networking) </a:t>
            </a:r>
            <a:r>
              <a:rPr lang="zh-CN" altLang="en-US" sz="2000" b="1" dirty="0">
                <a:latin typeface="微软雅黑" pitchFamily="34" charset="-122"/>
                <a:ea typeface="微软雅黑" pitchFamily="34" charset="-122"/>
              </a:rPr>
              <a:t>的机制，允许一台计算机加入网络和获取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地址，而不用手工配置。</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给运行</a:t>
            </a:r>
            <a:r>
              <a:rPr lang="zh-CN" altLang="en-US" sz="2000" b="1" dirty="0">
                <a:solidFill>
                  <a:srgbClr val="C00000"/>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软件、且位置固定的计算机指派一个</a:t>
            </a:r>
            <a:r>
              <a:rPr lang="zh-CN" altLang="en-US" sz="2000" b="1" dirty="0">
                <a:solidFill>
                  <a:srgbClr val="C00000"/>
                </a:solidFill>
                <a:latin typeface="微软雅黑" pitchFamily="34" charset="-122"/>
                <a:ea typeface="微软雅黑" pitchFamily="34" charset="-122"/>
              </a:rPr>
              <a:t>永久</a:t>
            </a:r>
            <a:r>
              <a:rPr lang="zh-CN" altLang="en-US" sz="2000" b="1" dirty="0">
                <a:latin typeface="微软雅黑" pitchFamily="34" charset="-122"/>
                <a:ea typeface="微软雅黑" pitchFamily="34" charset="-122"/>
              </a:rPr>
              <a:t>地址，给运行</a:t>
            </a:r>
            <a:r>
              <a:rPr lang="zh-CN" altLang="en-US" sz="2000" b="1" dirty="0">
                <a:solidFill>
                  <a:srgbClr val="C00000"/>
                </a:solidFill>
                <a:latin typeface="微软雅黑" pitchFamily="34" charset="-122"/>
                <a:ea typeface="微软雅黑" pitchFamily="34" charset="-122"/>
              </a:rPr>
              <a:t>客户端</a:t>
            </a:r>
            <a:r>
              <a:rPr lang="zh-CN" altLang="en-US" sz="2000" b="1" dirty="0">
                <a:latin typeface="微软雅黑" pitchFamily="34" charset="-122"/>
                <a:ea typeface="微软雅黑" pitchFamily="34" charset="-122"/>
              </a:rPr>
              <a:t>软件的计算机分配一个</a:t>
            </a:r>
            <a:r>
              <a:rPr lang="zh-CN" altLang="en-US" sz="2000" b="1" dirty="0">
                <a:solidFill>
                  <a:srgbClr val="C00000"/>
                </a:solidFill>
                <a:latin typeface="微软雅黑" pitchFamily="34" charset="-122"/>
                <a:ea typeface="微软雅黑" pitchFamily="34" charset="-122"/>
              </a:rPr>
              <a:t>临时</a:t>
            </a:r>
            <a:r>
              <a:rPr lang="zh-CN" altLang="en-US" sz="2000" b="1" dirty="0">
                <a:latin typeface="微软雅黑" pitchFamily="34" charset="-122"/>
                <a:ea typeface="微软雅黑" pitchFamily="34" charset="-122"/>
              </a:rPr>
              <a:t>地址。</a:t>
            </a:r>
          </a:p>
        </p:txBody>
      </p:sp>
    </p:spTree>
    <p:extLst>
      <p:ext uri="{BB962C8B-B14F-4D97-AF65-F5344CB8AC3E}">
        <p14:creationId xmlns:p14="http://schemas.microsoft.com/office/powerpoint/2010/main" val="230752155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50457" y="561851"/>
            <a:ext cx="40430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使用客户服务器方式</a:t>
            </a:r>
          </a:p>
        </p:txBody>
      </p:sp>
      <p:sp>
        <p:nvSpPr>
          <p:cNvPr id="4" name="Rectangle 68"/>
          <p:cNvSpPr>
            <a:spLocks noChangeArrowheads="1"/>
          </p:cNvSpPr>
          <p:nvPr/>
        </p:nvSpPr>
        <p:spPr bwMode="auto">
          <a:xfrm>
            <a:off x="556962" y="980052"/>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需要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地址的主机在启动时就向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a:t>
            </a:r>
            <a:r>
              <a:rPr lang="zh-CN" altLang="en-US" sz="2000" b="1" dirty="0">
                <a:solidFill>
                  <a:srgbClr val="C00000"/>
                </a:solidFill>
                <a:latin typeface="微软雅黑" pitchFamily="34" charset="-122"/>
                <a:ea typeface="微软雅黑" pitchFamily="34" charset="-122"/>
              </a:rPr>
              <a:t>广播发送</a:t>
            </a:r>
            <a:r>
              <a:rPr lang="zh-CN" altLang="en-US" sz="2000" b="1" dirty="0">
                <a:latin typeface="微软雅黑" pitchFamily="34" charset="-122"/>
                <a:ea typeface="微软雅黑" pitchFamily="34" charset="-122"/>
              </a:rPr>
              <a:t>发现报文</a:t>
            </a:r>
            <a:endParaRPr lang="en-US" altLang="zh-CN" sz="2000" b="1" dirty="0">
              <a:latin typeface="微软雅黑" pitchFamily="34" charset="-122"/>
              <a:ea typeface="微软雅黑" pitchFamily="34" charset="-122"/>
            </a:endParaRPr>
          </a:p>
          <a:p>
            <a:pPr marL="265113" eaLnBrk="0" hangingPunct="0">
              <a:lnSpc>
                <a:spcPts val="3300"/>
              </a:lnSpc>
              <a:buClr>
                <a:srgbClr val="0070C0"/>
              </a:buClr>
            </a:pP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DHCPDISCOVER</a:t>
            </a:r>
            <a:r>
              <a:rPr lang="zh-CN" altLang="en-US" sz="2000" b="1" dirty="0">
                <a:latin typeface="微软雅黑" pitchFamily="34" charset="-122"/>
                <a:ea typeface="微软雅黑" pitchFamily="34" charset="-122"/>
              </a:rPr>
              <a:t>），这时该主机就成为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客户。</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本地网络上所有主机都能收到此广播报文，但只有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服务器才回答此广播报文。</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服务器先在其数据库中查找该计算机的配置信息。若找到，则返回找到的信息。若找不到，则从服务器的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地址池 </a:t>
            </a:r>
            <a:r>
              <a:rPr lang="en-US" altLang="zh-CN" sz="2000" b="1" dirty="0">
                <a:latin typeface="微软雅黑" pitchFamily="34" charset="-122"/>
                <a:ea typeface="微软雅黑" pitchFamily="34" charset="-122"/>
              </a:rPr>
              <a:t>(address pool) </a:t>
            </a:r>
            <a:r>
              <a:rPr lang="zh-CN" altLang="en-US" sz="2000" b="1" dirty="0">
                <a:latin typeface="微软雅黑" pitchFamily="34" charset="-122"/>
                <a:ea typeface="微软雅黑" pitchFamily="34" charset="-122"/>
              </a:rPr>
              <a:t>中取一个地址分配给该计算机。</a:t>
            </a:r>
            <a:r>
              <a:rPr lang="en-US" altLang="zh-CN" sz="2000" b="1" dirty="0">
                <a:latin typeface="微软雅黑" pitchFamily="34" charset="-122"/>
                <a:ea typeface="微软雅黑" pitchFamily="34" charset="-122"/>
              </a:rPr>
              <a:t>DHCP</a:t>
            </a:r>
            <a:r>
              <a:rPr lang="zh-CN" altLang="en-US" sz="2000" b="1" dirty="0">
                <a:latin typeface="微软雅黑" pitchFamily="34" charset="-122"/>
                <a:ea typeface="微软雅黑" pitchFamily="34" charset="-122"/>
              </a:rPr>
              <a:t>服务器的回答报文叫做提供报文（</a:t>
            </a:r>
            <a:r>
              <a:rPr lang="en-US" altLang="zh-CN" sz="2000" b="1" dirty="0">
                <a:latin typeface="微软雅黑" pitchFamily="34" charset="-122"/>
                <a:ea typeface="微软雅黑" pitchFamily="34" charset="-122"/>
              </a:rPr>
              <a:t>DHCPOFFER</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345951483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2226373"/>
            <a:ext cx="8048776" cy="17952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工作方式</a:t>
            </a:r>
          </a:p>
        </p:txBody>
      </p:sp>
      <p:sp>
        <p:nvSpPr>
          <p:cNvPr id="4" name="Rectangle 68"/>
          <p:cNvSpPr>
            <a:spLocks noChangeArrowheads="1"/>
          </p:cNvSpPr>
          <p:nvPr/>
        </p:nvSpPr>
        <p:spPr bwMode="auto">
          <a:xfrm>
            <a:off x="556962" y="979877"/>
            <a:ext cx="8048777"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方式，采用</a:t>
            </a:r>
            <a:r>
              <a:rPr lang="zh-CN" altLang="en-US" sz="2000" b="1" dirty="0">
                <a:solidFill>
                  <a:srgbClr val="C00000"/>
                </a:solidFill>
                <a:latin typeface="微软雅黑" pitchFamily="34" charset="-122"/>
                <a:ea typeface="微软雅黑" pitchFamily="34" charset="-122"/>
              </a:rPr>
              <a:t>请求</a:t>
            </a:r>
            <a:r>
              <a:rPr lang="en-US" altLang="zh-CN" sz="2000" b="1" dirty="0">
                <a:solidFill>
                  <a:srgbClr val="C00000"/>
                </a:solidFill>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应答</a:t>
            </a:r>
            <a:r>
              <a:rPr lang="zh-CN" altLang="en-US" sz="2000" b="1" dirty="0">
                <a:latin typeface="微软雅黑" pitchFamily="34" charset="-122"/>
                <a:ea typeface="微软雅黑" pitchFamily="34" charset="-122"/>
              </a:rPr>
              <a:t>方式工作。</a:t>
            </a:r>
          </a:p>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基于 </a:t>
            </a:r>
            <a:r>
              <a:rPr lang="en-US" altLang="zh-CN" sz="2000" b="1" dirty="0">
                <a:latin typeface="微软雅黑" pitchFamily="34" charset="-122"/>
                <a:ea typeface="微软雅黑" pitchFamily="34" charset="-122"/>
              </a:rPr>
              <a:t>UDP </a:t>
            </a:r>
            <a:r>
              <a:rPr lang="zh-CN" altLang="en-US" sz="2000" b="1" dirty="0">
                <a:latin typeface="微软雅黑" pitchFamily="34" charset="-122"/>
                <a:ea typeface="微软雅黑" pitchFamily="34" charset="-122"/>
              </a:rPr>
              <a:t>工作，</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服务器运行在 </a:t>
            </a:r>
            <a:r>
              <a:rPr lang="en-US" altLang="zh-CN" sz="2000" b="1" dirty="0">
                <a:latin typeface="微软雅黑" pitchFamily="34" charset="-122"/>
                <a:ea typeface="微软雅黑" pitchFamily="34" charset="-122"/>
              </a:rPr>
              <a:t>67 </a:t>
            </a:r>
            <a:r>
              <a:rPr lang="zh-CN" altLang="en-US" sz="2000" b="1" dirty="0">
                <a:latin typeface="微软雅黑" pitchFamily="34" charset="-122"/>
                <a:ea typeface="微软雅黑" pitchFamily="34" charset="-122"/>
              </a:rPr>
              <a:t>号端口，</a:t>
            </a:r>
            <a:r>
              <a:rPr lang="en-US" altLang="zh-CN" sz="2000" b="1" dirty="0">
                <a:latin typeface="微软雅黑" pitchFamily="34" charset="-122"/>
                <a:ea typeface="微软雅黑" pitchFamily="34" charset="-122"/>
              </a:rPr>
              <a:t> DHCP</a:t>
            </a:r>
            <a:r>
              <a:rPr lang="zh-CN" altLang="en-US" sz="2000" b="1" dirty="0">
                <a:latin typeface="微软雅黑" pitchFamily="34" charset="-122"/>
                <a:ea typeface="微软雅黑" pitchFamily="34" charset="-122"/>
              </a:rPr>
              <a:t>客户运行在 </a:t>
            </a:r>
            <a:r>
              <a:rPr lang="en-US" altLang="zh-CN" sz="2000" b="1" dirty="0">
                <a:latin typeface="微软雅黑" pitchFamily="34" charset="-122"/>
                <a:ea typeface="微软雅黑" pitchFamily="34" charset="-122"/>
              </a:rPr>
              <a:t>68 </a:t>
            </a:r>
            <a:r>
              <a:rPr lang="zh-CN" altLang="en-US" sz="2000" b="1" dirty="0">
                <a:latin typeface="微软雅黑" pitchFamily="34" charset="-122"/>
                <a:ea typeface="微软雅黑" pitchFamily="34" charset="-122"/>
              </a:rPr>
              <a:t>号端口。</a:t>
            </a:r>
          </a:p>
        </p:txBody>
      </p:sp>
      <p:grpSp>
        <p:nvGrpSpPr>
          <p:cNvPr id="34" name="组合 33"/>
          <p:cNvGrpSpPr/>
          <p:nvPr/>
        </p:nvGrpSpPr>
        <p:grpSpPr>
          <a:xfrm>
            <a:off x="2050228" y="2324883"/>
            <a:ext cx="4918841" cy="1475407"/>
            <a:chOff x="1996962" y="2450061"/>
            <a:chExt cx="4918841" cy="1475407"/>
          </a:xfrm>
        </p:grpSpPr>
        <p:sp>
          <p:nvSpPr>
            <p:cNvPr id="8" name="矩形 7"/>
            <p:cNvSpPr/>
            <p:nvPr/>
          </p:nvSpPr>
          <p:spPr>
            <a:xfrm>
              <a:off x="1996962" y="2606571"/>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a:solidFill>
                    <a:schemeClr val="tx1"/>
                  </a:solidFill>
                  <a:latin typeface="微软雅黑" pitchFamily="34" charset="-122"/>
                  <a:ea typeface="微软雅黑" pitchFamily="34" charset="-122"/>
                </a:rPr>
                <a:t>DHCP </a:t>
              </a:r>
              <a:r>
                <a:rPr lang="zh-CN" altLang="en-US" sz="1100" b="1" dirty="0">
                  <a:solidFill>
                    <a:schemeClr val="tx1"/>
                  </a:solidFill>
                  <a:latin typeface="微软雅黑" pitchFamily="34" charset="-122"/>
                  <a:ea typeface="微软雅黑" pitchFamily="34" charset="-122"/>
                </a:rPr>
                <a:t>客户</a:t>
              </a:r>
            </a:p>
          </p:txBody>
        </p:sp>
        <p:sp>
          <p:nvSpPr>
            <p:cNvPr id="9" name="矩形 8"/>
            <p:cNvSpPr/>
            <p:nvPr/>
          </p:nvSpPr>
          <p:spPr>
            <a:xfrm>
              <a:off x="5917317" y="2606571"/>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a:solidFill>
                    <a:schemeClr val="bg1"/>
                  </a:solidFill>
                  <a:latin typeface="微软雅黑" pitchFamily="34" charset="-122"/>
                  <a:ea typeface="微软雅黑" pitchFamily="34" charset="-122"/>
                </a:rPr>
                <a:t>DHCP </a:t>
              </a:r>
              <a:r>
                <a:rPr lang="zh-CN" altLang="en-US" sz="1100" b="1" dirty="0">
                  <a:solidFill>
                    <a:schemeClr val="bg1"/>
                  </a:solidFill>
                  <a:latin typeface="微软雅黑" pitchFamily="34" charset="-122"/>
                  <a:ea typeface="微软雅黑" pitchFamily="34" charset="-122"/>
                </a:rPr>
                <a:t>客户</a:t>
              </a:r>
            </a:p>
          </p:txBody>
        </p:sp>
        <p:sp>
          <p:nvSpPr>
            <p:cNvPr id="11" name="矩形 10"/>
            <p:cNvSpPr/>
            <p:nvPr/>
          </p:nvSpPr>
          <p:spPr>
            <a:xfrm>
              <a:off x="5496907" y="2680141"/>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a:solidFill>
                    <a:schemeClr val="tx1"/>
                  </a:solidFill>
                  <a:latin typeface="微软雅黑" pitchFamily="34" charset="-122"/>
                  <a:ea typeface="微软雅黑" pitchFamily="34" charset="-122"/>
                </a:rPr>
                <a:t>67</a:t>
              </a:r>
              <a:endParaRPr lang="zh-CN" altLang="en-US" sz="900" b="1" dirty="0">
                <a:solidFill>
                  <a:schemeClr val="tx1"/>
                </a:solidFill>
                <a:latin typeface="微软雅黑" pitchFamily="34" charset="-122"/>
                <a:ea typeface="微软雅黑" pitchFamily="34" charset="-122"/>
              </a:endParaRPr>
            </a:p>
          </p:txBody>
        </p:sp>
        <p:sp>
          <p:nvSpPr>
            <p:cNvPr id="12" name="矩形 11"/>
            <p:cNvSpPr/>
            <p:nvPr/>
          </p:nvSpPr>
          <p:spPr>
            <a:xfrm>
              <a:off x="1996962" y="3137195"/>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a:solidFill>
                    <a:schemeClr val="tx1"/>
                  </a:solidFill>
                  <a:latin typeface="微软雅黑" pitchFamily="34" charset="-122"/>
                  <a:ea typeface="微软雅黑" pitchFamily="34" charset="-122"/>
                </a:rPr>
                <a:t>DHCP </a:t>
              </a:r>
              <a:r>
                <a:rPr lang="zh-CN" altLang="en-US" sz="1100" b="1" dirty="0">
                  <a:solidFill>
                    <a:schemeClr val="tx1"/>
                  </a:solidFill>
                  <a:latin typeface="微软雅黑" pitchFamily="34" charset="-122"/>
                  <a:ea typeface="微软雅黑" pitchFamily="34" charset="-122"/>
                </a:rPr>
                <a:t>客户</a:t>
              </a:r>
            </a:p>
          </p:txBody>
        </p:sp>
        <p:sp>
          <p:nvSpPr>
            <p:cNvPr id="13" name="矩形 12"/>
            <p:cNvSpPr/>
            <p:nvPr/>
          </p:nvSpPr>
          <p:spPr>
            <a:xfrm>
              <a:off x="5917317" y="3137195"/>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a:solidFill>
                    <a:schemeClr val="bg1"/>
                  </a:solidFill>
                  <a:latin typeface="微软雅黑" pitchFamily="34" charset="-122"/>
                  <a:ea typeface="微软雅黑" pitchFamily="34" charset="-122"/>
                </a:rPr>
                <a:t>DHCP </a:t>
              </a:r>
              <a:r>
                <a:rPr lang="zh-CN" altLang="en-US" sz="1100" b="1" dirty="0">
                  <a:solidFill>
                    <a:schemeClr val="bg1"/>
                  </a:solidFill>
                  <a:latin typeface="微软雅黑" pitchFamily="34" charset="-122"/>
                  <a:ea typeface="微软雅黑" pitchFamily="34" charset="-122"/>
                </a:rPr>
                <a:t>客户</a:t>
              </a:r>
            </a:p>
          </p:txBody>
        </p:sp>
        <p:sp>
          <p:nvSpPr>
            <p:cNvPr id="14" name="矩形 13"/>
            <p:cNvSpPr/>
            <p:nvPr/>
          </p:nvSpPr>
          <p:spPr>
            <a:xfrm>
              <a:off x="5496907" y="3210765"/>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a:solidFill>
                    <a:schemeClr val="tx1"/>
                  </a:solidFill>
                  <a:latin typeface="微软雅黑" pitchFamily="34" charset="-122"/>
                  <a:ea typeface="微软雅黑" pitchFamily="34" charset="-122"/>
                </a:rPr>
                <a:t>67</a:t>
              </a:r>
              <a:endParaRPr lang="zh-CN" altLang="en-US" sz="900" b="1" dirty="0">
                <a:solidFill>
                  <a:schemeClr val="tx1"/>
                </a:solidFill>
                <a:latin typeface="微软雅黑" pitchFamily="34" charset="-122"/>
                <a:ea typeface="微软雅黑" pitchFamily="34" charset="-122"/>
              </a:endParaRPr>
            </a:p>
          </p:txBody>
        </p:sp>
        <p:sp>
          <p:nvSpPr>
            <p:cNvPr id="15" name="矩形 14"/>
            <p:cNvSpPr/>
            <p:nvPr/>
          </p:nvSpPr>
          <p:spPr>
            <a:xfrm>
              <a:off x="2991405" y="3210765"/>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a:solidFill>
                    <a:schemeClr val="tx1"/>
                  </a:solidFill>
                  <a:latin typeface="微软雅黑" pitchFamily="34" charset="-122"/>
                  <a:ea typeface="微软雅黑" pitchFamily="34" charset="-122"/>
                </a:rPr>
                <a:t>68</a:t>
              </a:r>
              <a:endParaRPr lang="zh-CN" altLang="en-US" sz="900" b="1" dirty="0">
                <a:solidFill>
                  <a:schemeClr val="tx1"/>
                </a:solidFill>
                <a:latin typeface="微软雅黑" pitchFamily="34" charset="-122"/>
                <a:ea typeface="微软雅黑" pitchFamily="34" charset="-122"/>
              </a:endParaRPr>
            </a:p>
          </p:txBody>
        </p:sp>
        <p:sp>
          <p:nvSpPr>
            <p:cNvPr id="16" name="矩形 15"/>
            <p:cNvSpPr/>
            <p:nvPr/>
          </p:nvSpPr>
          <p:spPr>
            <a:xfrm>
              <a:off x="1996962" y="3673224"/>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a:solidFill>
                    <a:schemeClr val="tx1"/>
                  </a:solidFill>
                  <a:latin typeface="微软雅黑" pitchFamily="34" charset="-122"/>
                  <a:ea typeface="微软雅黑" pitchFamily="34" charset="-122"/>
                </a:rPr>
                <a:t>DHCP </a:t>
              </a:r>
              <a:r>
                <a:rPr lang="zh-CN" altLang="en-US" sz="1100" b="1" dirty="0">
                  <a:solidFill>
                    <a:schemeClr val="tx1"/>
                  </a:solidFill>
                  <a:latin typeface="微软雅黑" pitchFamily="34" charset="-122"/>
                  <a:ea typeface="微软雅黑" pitchFamily="34" charset="-122"/>
                </a:rPr>
                <a:t>客户</a:t>
              </a:r>
            </a:p>
          </p:txBody>
        </p:sp>
        <p:sp>
          <p:nvSpPr>
            <p:cNvPr id="17" name="矩形 16"/>
            <p:cNvSpPr/>
            <p:nvPr/>
          </p:nvSpPr>
          <p:spPr>
            <a:xfrm>
              <a:off x="5917317" y="3673224"/>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a:solidFill>
                    <a:schemeClr val="bg1"/>
                  </a:solidFill>
                  <a:latin typeface="微软雅黑" pitchFamily="34" charset="-122"/>
                  <a:ea typeface="微软雅黑" pitchFamily="34" charset="-122"/>
                </a:rPr>
                <a:t>DHCP </a:t>
              </a:r>
              <a:r>
                <a:rPr lang="zh-CN" altLang="en-US" sz="1100" b="1" dirty="0">
                  <a:solidFill>
                    <a:schemeClr val="bg1"/>
                  </a:solidFill>
                  <a:latin typeface="微软雅黑" pitchFamily="34" charset="-122"/>
                  <a:ea typeface="微软雅黑" pitchFamily="34" charset="-122"/>
                </a:rPr>
                <a:t>客户</a:t>
              </a:r>
            </a:p>
          </p:txBody>
        </p:sp>
        <p:sp>
          <p:nvSpPr>
            <p:cNvPr id="18" name="矩形 17"/>
            <p:cNvSpPr/>
            <p:nvPr/>
          </p:nvSpPr>
          <p:spPr>
            <a:xfrm>
              <a:off x="5496907" y="3746794"/>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a:solidFill>
                    <a:schemeClr val="tx1"/>
                  </a:solidFill>
                  <a:latin typeface="微软雅黑" pitchFamily="34" charset="-122"/>
                  <a:ea typeface="微软雅黑" pitchFamily="34" charset="-122"/>
                </a:rPr>
                <a:t>67</a:t>
              </a:r>
              <a:endParaRPr lang="zh-CN" altLang="en-US" sz="900" b="1" dirty="0">
                <a:solidFill>
                  <a:schemeClr val="tx1"/>
                </a:solidFill>
                <a:latin typeface="微软雅黑" pitchFamily="34" charset="-122"/>
                <a:ea typeface="微软雅黑" pitchFamily="34" charset="-122"/>
              </a:endParaRPr>
            </a:p>
          </p:txBody>
        </p:sp>
        <p:sp>
          <p:nvSpPr>
            <p:cNvPr id="19" name="矩形 18"/>
            <p:cNvSpPr/>
            <p:nvPr/>
          </p:nvSpPr>
          <p:spPr>
            <a:xfrm>
              <a:off x="2991405" y="3746794"/>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a:solidFill>
                    <a:schemeClr val="tx1"/>
                  </a:solidFill>
                  <a:latin typeface="微软雅黑" pitchFamily="34" charset="-122"/>
                  <a:ea typeface="微软雅黑" pitchFamily="34" charset="-122"/>
                </a:rPr>
                <a:t>68</a:t>
              </a:r>
              <a:endParaRPr lang="zh-CN" altLang="en-US" sz="900" b="1" dirty="0">
                <a:solidFill>
                  <a:schemeClr val="tx1"/>
                </a:solidFill>
                <a:latin typeface="微软雅黑" pitchFamily="34" charset="-122"/>
                <a:ea typeface="微软雅黑" pitchFamily="34" charset="-122"/>
              </a:endParaRPr>
            </a:p>
          </p:txBody>
        </p:sp>
        <p:cxnSp>
          <p:nvCxnSpPr>
            <p:cNvPr id="21" name="直接箭头连接符 20"/>
            <p:cNvCxnSpPr>
              <a:stCxn id="15" idx="3"/>
              <a:endCxn id="14" idx="1"/>
            </p:cNvCxnSpPr>
            <p:nvPr/>
          </p:nvCxnSpPr>
          <p:spPr>
            <a:xfrm>
              <a:off x="3411815" y="3273826"/>
              <a:ext cx="2085092" cy="0"/>
            </a:xfrm>
            <a:prstGeom prst="straightConnector1">
              <a:avLst/>
            </a:prstGeom>
            <a:ln w="28575">
              <a:solidFill>
                <a:srgbClr val="0000FF"/>
              </a:solidFill>
              <a:tailEnd type="triangle" w="med" len="lg"/>
            </a:ln>
          </p:spPr>
          <p:style>
            <a:lnRef idx="1">
              <a:schemeClr val="accent1"/>
            </a:lnRef>
            <a:fillRef idx="0">
              <a:schemeClr val="accent1"/>
            </a:fillRef>
            <a:effectRef idx="0">
              <a:schemeClr val="accent1"/>
            </a:effectRef>
            <a:fontRef idx="minor">
              <a:schemeClr val="tx1"/>
            </a:fontRef>
          </p:style>
        </p:cxnSp>
        <p:sp>
          <p:nvSpPr>
            <p:cNvPr id="23" name="矩形 22"/>
            <p:cNvSpPr/>
            <p:nvPr/>
          </p:nvSpPr>
          <p:spPr>
            <a:xfrm>
              <a:off x="3926822" y="3179235"/>
              <a:ext cx="1032035" cy="178674"/>
            </a:xfrm>
            <a:prstGeom prst="rect">
              <a:avLst/>
            </a:prstGeom>
            <a:solidFill>
              <a:srgbClr val="00FF99"/>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a:solidFill>
                    <a:schemeClr val="tx1"/>
                  </a:solidFill>
                  <a:latin typeface="微软雅黑" pitchFamily="34" charset="-122"/>
                  <a:ea typeface="微软雅黑" pitchFamily="34" charset="-122"/>
                </a:rPr>
                <a:t>请求</a:t>
              </a:r>
            </a:p>
          </p:txBody>
        </p:sp>
        <p:cxnSp>
          <p:nvCxnSpPr>
            <p:cNvPr id="24" name="直接箭头连接符 23"/>
            <p:cNvCxnSpPr>
              <a:stCxn id="18" idx="1"/>
              <a:endCxn id="19" idx="3"/>
            </p:cNvCxnSpPr>
            <p:nvPr/>
          </p:nvCxnSpPr>
          <p:spPr>
            <a:xfrm flipH="1">
              <a:off x="3411815" y="3809855"/>
              <a:ext cx="2085092" cy="0"/>
            </a:xfrm>
            <a:prstGeom prst="straightConnector1">
              <a:avLst/>
            </a:prstGeom>
            <a:ln w="28575">
              <a:solidFill>
                <a:srgbClr val="CC00CC"/>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flipH="1">
              <a:off x="3926822" y="3715264"/>
              <a:ext cx="1032035" cy="178674"/>
            </a:xfrm>
            <a:prstGeom prst="rect">
              <a:avLst/>
            </a:prstGeom>
            <a:solidFill>
              <a:srgbClr val="66FFFF"/>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a:solidFill>
                    <a:schemeClr val="tx1"/>
                  </a:solidFill>
                  <a:latin typeface="微软雅黑" pitchFamily="34" charset="-122"/>
                  <a:ea typeface="微软雅黑" pitchFamily="34" charset="-122"/>
                </a:rPr>
                <a:t>应答</a:t>
              </a:r>
            </a:p>
          </p:txBody>
        </p:sp>
        <p:sp>
          <p:nvSpPr>
            <p:cNvPr id="30" name="矩形 29"/>
            <p:cNvSpPr/>
            <p:nvPr/>
          </p:nvSpPr>
          <p:spPr>
            <a:xfrm>
              <a:off x="5231438" y="2450061"/>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b="1" dirty="0">
                  <a:latin typeface="微软雅黑" pitchFamily="34" charset="-122"/>
                  <a:ea typeface="微软雅黑" pitchFamily="34" charset="-122"/>
                </a:rPr>
                <a:t>被动打开</a:t>
              </a:r>
            </a:p>
          </p:txBody>
        </p:sp>
        <p:sp>
          <p:nvSpPr>
            <p:cNvPr id="31" name="矩形 30"/>
            <p:cNvSpPr/>
            <p:nvPr/>
          </p:nvSpPr>
          <p:spPr>
            <a:xfrm>
              <a:off x="5357558" y="276422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000" b="1" dirty="0">
                  <a:latin typeface="微软雅黑" pitchFamily="34" charset="-122"/>
                  <a:ea typeface="微软雅黑" pitchFamily="34" charset="-122"/>
                </a:rPr>
                <a:t>UDP</a:t>
              </a:r>
              <a:endParaRPr lang="zh-CN" altLang="en-US" sz="1000" b="1" dirty="0">
                <a:latin typeface="微软雅黑" pitchFamily="34" charset="-122"/>
                <a:ea typeface="微软雅黑" pitchFamily="34" charset="-122"/>
              </a:endParaRPr>
            </a:p>
          </p:txBody>
        </p:sp>
        <p:sp>
          <p:nvSpPr>
            <p:cNvPr id="32" name="矩形 31"/>
            <p:cNvSpPr/>
            <p:nvPr/>
          </p:nvSpPr>
          <p:spPr>
            <a:xfrm>
              <a:off x="2938855" y="298068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1000" b="1" dirty="0">
                  <a:latin typeface="微软雅黑" pitchFamily="34" charset="-122"/>
                  <a:ea typeface="微软雅黑" pitchFamily="34" charset="-122"/>
                </a:rPr>
                <a:t>主动打开</a:t>
              </a:r>
            </a:p>
          </p:txBody>
        </p:sp>
        <p:sp>
          <p:nvSpPr>
            <p:cNvPr id="33" name="矩形 32"/>
            <p:cNvSpPr/>
            <p:nvPr/>
          </p:nvSpPr>
          <p:spPr>
            <a:xfrm>
              <a:off x="2854775" y="3284339"/>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sz="1000" b="1" dirty="0">
                  <a:latin typeface="微软雅黑" pitchFamily="34" charset="-122"/>
                  <a:ea typeface="微软雅黑" pitchFamily="34" charset="-122"/>
                </a:rPr>
                <a:t>UDP</a:t>
              </a:r>
              <a:endParaRPr lang="zh-CN" altLang="en-US" sz="1000" b="1" dirty="0">
                <a:latin typeface="微软雅黑" pitchFamily="34" charset="-122"/>
                <a:ea typeface="微软雅黑" pitchFamily="34" charset="-122"/>
              </a:endParaRPr>
            </a:p>
          </p:txBody>
        </p:sp>
      </p:grpSp>
    </p:spTree>
    <p:extLst>
      <p:ext uri="{BB962C8B-B14F-4D97-AF65-F5344CB8AC3E}">
        <p14:creationId xmlns:p14="http://schemas.microsoft.com/office/powerpoint/2010/main" val="177411663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组合 102"/>
          <p:cNvGrpSpPr/>
          <p:nvPr/>
        </p:nvGrpSpPr>
        <p:grpSpPr>
          <a:xfrm>
            <a:off x="1690236" y="1666037"/>
            <a:ext cx="5619324" cy="1217260"/>
            <a:chOff x="1690236" y="1767081"/>
            <a:chExt cx="5619324" cy="1217260"/>
          </a:xfrm>
        </p:grpSpPr>
        <p:sp>
          <p:nvSpPr>
            <p:cNvPr id="22" name="弧形 21"/>
            <p:cNvSpPr/>
            <p:nvPr/>
          </p:nvSpPr>
          <p:spPr>
            <a:xfrm>
              <a:off x="3766248"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0" name="弧形 99"/>
            <p:cNvSpPr/>
            <p:nvPr/>
          </p:nvSpPr>
          <p:spPr>
            <a:xfrm>
              <a:off x="4613181"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1" name="弧形 100"/>
            <p:cNvSpPr/>
            <p:nvPr/>
          </p:nvSpPr>
          <p:spPr>
            <a:xfrm>
              <a:off x="5430600"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cxnSp>
          <p:nvCxnSpPr>
            <p:cNvPr id="7" name="直接箭头连接符 6"/>
            <p:cNvCxnSpPr/>
            <p:nvPr/>
          </p:nvCxnSpPr>
          <p:spPr>
            <a:xfrm>
              <a:off x="1690236" y="2043327"/>
              <a:ext cx="5619324" cy="0"/>
            </a:xfrm>
            <a:prstGeom prst="straightConnector1">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2031252" y="1767081"/>
              <a:ext cx="2098719" cy="667493"/>
            </a:xfrm>
            <a:prstGeom prst="rect">
              <a:avLst/>
            </a:prstGeom>
            <a:solidFill>
              <a:srgbClr val="CC00CC"/>
            </a:solidFill>
            <a:ln w="9525">
              <a:solidFill>
                <a:schemeClr val="tx1"/>
              </a:solidFill>
              <a:miter lim="800000"/>
              <a:headEnd/>
              <a:tailEnd/>
            </a:ln>
            <a:effectLst/>
          </p:spPr>
          <p:txBody>
            <a:bodyPr wrap="none" anchor="ctr"/>
            <a:lstStyle/>
            <a:p>
              <a:r>
                <a:rPr kumimoji="1" lang="en-US" altLang="zh-CN" sz="1200" b="1" dirty="0">
                  <a:solidFill>
                    <a:schemeClr val="bg1"/>
                  </a:solidFill>
                  <a:latin typeface="微软雅黑" pitchFamily="34" charset="-122"/>
                  <a:ea typeface="微软雅黑" pitchFamily="34" charset="-122"/>
                </a:rPr>
                <a:t>DHCPDISCOVER </a:t>
              </a:r>
            </a:p>
            <a:p>
              <a:r>
                <a:rPr kumimoji="1" lang="en-US" altLang="zh-CN" sz="1200" b="1" dirty="0">
                  <a:solidFill>
                    <a:schemeClr val="bg1"/>
                  </a:solidFill>
                  <a:latin typeface="微软雅黑" pitchFamily="34" charset="-122"/>
                  <a:ea typeface="微软雅黑" pitchFamily="34" charset="-122"/>
                </a:rPr>
                <a:t>00:a0:24:71:e4:44</a:t>
              </a:r>
            </a:p>
            <a:p>
              <a:r>
                <a:rPr kumimoji="1" lang="zh-CN" altLang="en-US" sz="1200" b="1" dirty="0">
                  <a:solidFill>
                    <a:schemeClr val="bg1"/>
                  </a:solidFill>
                  <a:latin typeface="微软雅黑" pitchFamily="34" charset="-122"/>
                  <a:ea typeface="微软雅黑" pitchFamily="34" charset="-122"/>
                </a:rPr>
                <a:t>发送到：</a:t>
              </a:r>
              <a:r>
                <a:rPr kumimoji="1" lang="en-US" altLang="zh-CN" sz="1200" b="1" dirty="0">
                  <a:solidFill>
                    <a:schemeClr val="bg1"/>
                  </a:solidFill>
                  <a:latin typeface="微软雅黑" pitchFamily="34" charset="-122"/>
                  <a:ea typeface="微软雅黑" pitchFamily="34" charset="-122"/>
                </a:rPr>
                <a:t>255.255.255.255</a:t>
              </a:r>
            </a:p>
          </p:txBody>
        </p:sp>
      </p:grpSp>
      <p:sp>
        <p:nvSpPr>
          <p:cNvPr id="2"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工作方式</a:t>
            </a:r>
          </a:p>
        </p:txBody>
      </p:sp>
      <p:sp>
        <p:nvSpPr>
          <p:cNvPr id="35" name="Line 5"/>
          <p:cNvSpPr>
            <a:spLocks noChangeShapeType="1"/>
          </p:cNvSpPr>
          <p:nvPr/>
        </p:nvSpPr>
        <p:spPr bwMode="auto">
          <a:xfrm>
            <a:off x="4937556"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Text Box 8"/>
          <p:cNvSpPr txBox="1">
            <a:spLocks noChangeArrowheads="1"/>
          </p:cNvSpPr>
          <p:nvPr/>
        </p:nvSpPr>
        <p:spPr bwMode="auto">
          <a:xfrm>
            <a:off x="819222" y="1230287"/>
            <a:ext cx="170003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主机 </a:t>
            </a:r>
            <a:r>
              <a:rPr kumimoji="1" lang="en-US" altLang="zh-CN" sz="1200" b="1" dirty="0">
                <a:latin typeface="微软雅黑" pitchFamily="34" charset="-122"/>
                <a:ea typeface="微软雅黑" pitchFamily="34" charset="-122"/>
              </a:rPr>
              <a:t>A</a:t>
            </a:r>
          </a:p>
          <a:p>
            <a:pPr algn="ctr"/>
            <a:r>
              <a:rPr kumimoji="1" lang="en-US" altLang="zh-CN" sz="1200" b="1" dirty="0">
                <a:latin typeface="微软雅黑" pitchFamily="34" charset="-122"/>
                <a:ea typeface="微软雅黑" pitchFamily="34" charset="-122"/>
              </a:rPr>
              <a:t>00:a0:24:71:e4:44</a:t>
            </a:r>
            <a:endParaRPr kumimoji="1" lang="zh-CN" altLang="en-US" sz="1200" b="1" dirty="0">
              <a:latin typeface="微软雅黑" pitchFamily="34" charset="-122"/>
              <a:ea typeface="微软雅黑" pitchFamily="34" charset="-122"/>
            </a:endParaRPr>
          </a:p>
        </p:txBody>
      </p:sp>
      <p:sp>
        <p:nvSpPr>
          <p:cNvPr id="38" name="Text Box 9"/>
          <p:cNvSpPr txBox="1">
            <a:spLocks noChangeArrowheads="1"/>
          </p:cNvSpPr>
          <p:nvPr/>
        </p:nvSpPr>
        <p:spPr bwMode="auto">
          <a:xfrm>
            <a:off x="6875698" y="1203018"/>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DHCP </a:t>
            </a:r>
            <a:r>
              <a:rPr kumimoji="1" lang="zh-CN" altLang="en-US" sz="1400" b="1" dirty="0">
                <a:latin typeface="微软雅黑" pitchFamily="34" charset="-122"/>
                <a:ea typeface="微软雅黑" pitchFamily="34" charset="-122"/>
              </a:rPr>
              <a:t>服务器</a:t>
            </a:r>
          </a:p>
        </p:txBody>
      </p:sp>
      <p:sp>
        <p:nvSpPr>
          <p:cNvPr id="51" name="Line 22"/>
          <p:cNvSpPr>
            <a:spLocks noChangeShapeType="1"/>
          </p:cNvSpPr>
          <p:nvPr/>
        </p:nvSpPr>
        <p:spPr bwMode="auto">
          <a:xfrm>
            <a:off x="1198175" y="2473236"/>
            <a:ext cx="642181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2" name="Line 23"/>
          <p:cNvSpPr>
            <a:spLocks noChangeShapeType="1"/>
          </p:cNvSpPr>
          <p:nvPr/>
        </p:nvSpPr>
        <p:spPr bwMode="auto">
          <a:xfrm>
            <a:off x="1630353" y="2176210"/>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8" name="Text Box 34"/>
          <p:cNvSpPr txBox="1">
            <a:spLocks noChangeArrowheads="1"/>
          </p:cNvSpPr>
          <p:nvPr/>
        </p:nvSpPr>
        <p:spPr bwMode="auto">
          <a:xfrm>
            <a:off x="5339174" y="1622278"/>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广播</a:t>
            </a:r>
          </a:p>
        </p:txBody>
      </p:sp>
      <p:sp>
        <p:nvSpPr>
          <p:cNvPr id="66" name="矩形 65"/>
          <p:cNvSpPr/>
          <p:nvPr/>
        </p:nvSpPr>
        <p:spPr>
          <a:xfrm>
            <a:off x="556963" y="3764271"/>
            <a:ext cx="8048776" cy="369332"/>
          </a:xfrm>
          <a:prstGeom prst="rect">
            <a:avLst/>
          </a:prstGeom>
          <a:noFill/>
          <a:ln>
            <a:noFill/>
          </a:ln>
        </p:spPr>
        <p:txBody>
          <a:bodyPr wrap="square">
            <a:spAutoFit/>
          </a:bodyPr>
          <a:lstStyle/>
          <a:p>
            <a:pPr algn="ctr"/>
            <a:r>
              <a:rPr lang="zh-CN" altLang="en-US" b="1" dirty="0">
                <a:latin typeface="微软雅黑" pitchFamily="34" charset="-122"/>
                <a:ea typeface="微软雅黑" pitchFamily="34" charset="-122"/>
              </a:rPr>
              <a:t>需要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地址的主机向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a:t>
            </a:r>
            <a:r>
              <a:rPr lang="zh-CN" altLang="en-US" b="1" dirty="0">
                <a:solidFill>
                  <a:srgbClr val="C00000"/>
                </a:solidFill>
                <a:latin typeface="微软雅黑" pitchFamily="34" charset="-122"/>
                <a:ea typeface="微软雅黑" pitchFamily="34" charset="-122"/>
              </a:rPr>
              <a:t>广播</a:t>
            </a:r>
            <a:r>
              <a:rPr lang="zh-CN" altLang="en-US" b="1" dirty="0">
                <a:latin typeface="微软雅黑" pitchFamily="34" charset="-122"/>
                <a:ea typeface="微软雅黑" pitchFamily="34" charset="-122"/>
              </a:rPr>
              <a:t>发送发现报文 </a:t>
            </a:r>
            <a:r>
              <a:rPr lang="en-US" altLang="zh-CN" b="1" dirty="0">
                <a:latin typeface="微软雅黑" pitchFamily="34" charset="-122"/>
                <a:ea typeface="微软雅黑" pitchFamily="34" charset="-122"/>
              </a:rPr>
              <a:t>(DHCPDISCOVER) </a:t>
            </a:r>
            <a:r>
              <a:rPr lang="zh-CN" altLang="en-US" b="1" dirty="0">
                <a:latin typeface="微软雅黑" pitchFamily="34" charset="-122"/>
                <a:ea typeface="微软雅黑" pitchFamily="34" charset="-122"/>
              </a:rPr>
              <a:t>。</a:t>
            </a:r>
          </a:p>
        </p:txBody>
      </p:sp>
      <p:pic>
        <p:nvPicPr>
          <p:cNvPr id="6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981" y="2746730"/>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59436"/>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2" name="Line 5"/>
          <p:cNvSpPr>
            <a:spLocks noChangeShapeType="1"/>
          </p:cNvSpPr>
          <p:nvPr/>
        </p:nvSpPr>
        <p:spPr bwMode="auto">
          <a:xfrm>
            <a:off x="578449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Line 5"/>
          <p:cNvSpPr>
            <a:spLocks noChangeShapeType="1"/>
          </p:cNvSpPr>
          <p:nvPr/>
        </p:nvSpPr>
        <p:spPr bwMode="auto">
          <a:xfrm>
            <a:off x="6628050" y="2489671"/>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76" name="Group 50"/>
          <p:cNvGrpSpPr>
            <a:grpSpLocks noChangeAspect="1"/>
          </p:cNvGrpSpPr>
          <p:nvPr/>
        </p:nvGrpSpPr>
        <p:grpSpPr bwMode="auto">
          <a:xfrm>
            <a:off x="5545250" y="2693555"/>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1"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693555"/>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055" y="1659337"/>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09560" y="1459714"/>
            <a:ext cx="582712" cy="815797"/>
          </a:xfrm>
          <a:prstGeom prst="rect">
            <a:avLst/>
          </a:prstGeom>
        </p:spPr>
      </p:pic>
    </p:spTree>
    <p:extLst>
      <p:ext uri="{BB962C8B-B14F-4D97-AF65-F5344CB8AC3E}">
        <p14:creationId xmlns:p14="http://schemas.microsoft.com/office/powerpoint/2010/main" val="330723443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left)">
                                      <p:cBhvr>
                                        <p:cTn id="7" dur="5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Line 5"/>
          <p:cNvSpPr>
            <a:spLocks noChangeShapeType="1"/>
          </p:cNvSpPr>
          <p:nvPr/>
        </p:nvSpPr>
        <p:spPr bwMode="auto">
          <a:xfrm>
            <a:off x="4937556" y="2501528"/>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Text Box 8"/>
          <p:cNvSpPr txBox="1">
            <a:spLocks noChangeArrowheads="1"/>
          </p:cNvSpPr>
          <p:nvPr/>
        </p:nvSpPr>
        <p:spPr bwMode="auto">
          <a:xfrm>
            <a:off x="819222" y="1084496"/>
            <a:ext cx="170003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200" b="1" dirty="0">
                <a:latin typeface="微软雅黑" pitchFamily="34" charset="-122"/>
                <a:ea typeface="微软雅黑" pitchFamily="34" charset="-122"/>
              </a:rPr>
              <a:t>主机 </a:t>
            </a:r>
            <a:r>
              <a:rPr kumimoji="1" lang="en-US" altLang="zh-CN" sz="1200" b="1" dirty="0">
                <a:latin typeface="微软雅黑" pitchFamily="34" charset="-122"/>
                <a:ea typeface="微软雅黑" pitchFamily="34" charset="-122"/>
              </a:rPr>
              <a:t>A</a:t>
            </a:r>
          </a:p>
          <a:p>
            <a:pPr algn="ctr" eaLnBrk="1" hangingPunct="1"/>
            <a:r>
              <a:rPr kumimoji="1" lang="en-US" altLang="zh-CN" sz="1200" b="1" dirty="0">
                <a:latin typeface="微软雅黑" pitchFamily="34" charset="-122"/>
                <a:ea typeface="微软雅黑" pitchFamily="34" charset="-122"/>
              </a:rPr>
              <a:t>10.12.18.112</a:t>
            </a:r>
          </a:p>
          <a:p>
            <a:pPr algn="ctr"/>
            <a:r>
              <a:rPr kumimoji="1" lang="en-US" altLang="zh-CN" sz="1200" b="1" dirty="0">
                <a:latin typeface="微软雅黑" pitchFamily="34" charset="-122"/>
                <a:ea typeface="微软雅黑" pitchFamily="34" charset="-122"/>
              </a:rPr>
              <a:t>00:a0:24:71:e4:44</a:t>
            </a:r>
            <a:endParaRPr kumimoji="1" lang="zh-CN" altLang="en-US" sz="1200" b="1" dirty="0">
              <a:latin typeface="微软雅黑" pitchFamily="34" charset="-122"/>
              <a:ea typeface="微软雅黑" pitchFamily="34" charset="-122"/>
            </a:endParaRPr>
          </a:p>
        </p:txBody>
      </p:sp>
      <p:sp>
        <p:nvSpPr>
          <p:cNvPr id="38" name="Text Box 9"/>
          <p:cNvSpPr txBox="1">
            <a:spLocks noChangeArrowheads="1"/>
          </p:cNvSpPr>
          <p:nvPr/>
        </p:nvSpPr>
        <p:spPr bwMode="auto">
          <a:xfrm>
            <a:off x="6875698" y="1214875"/>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DHCP </a:t>
            </a:r>
            <a:r>
              <a:rPr kumimoji="1" lang="zh-CN" altLang="en-US" sz="1400" b="1" dirty="0">
                <a:latin typeface="微软雅黑" pitchFamily="34" charset="-122"/>
                <a:ea typeface="微软雅黑" pitchFamily="34" charset="-122"/>
              </a:rPr>
              <a:t>服务器</a:t>
            </a:r>
          </a:p>
        </p:txBody>
      </p:sp>
      <p:sp>
        <p:nvSpPr>
          <p:cNvPr id="51" name="Line 22"/>
          <p:cNvSpPr>
            <a:spLocks noChangeShapeType="1"/>
          </p:cNvSpPr>
          <p:nvPr/>
        </p:nvSpPr>
        <p:spPr bwMode="auto">
          <a:xfrm>
            <a:off x="1198175" y="2485093"/>
            <a:ext cx="642181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2" name="Line 23"/>
          <p:cNvSpPr>
            <a:spLocks noChangeShapeType="1"/>
          </p:cNvSpPr>
          <p:nvPr/>
        </p:nvSpPr>
        <p:spPr bwMode="auto">
          <a:xfrm>
            <a:off x="1630353" y="2188067"/>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58" name="Text Box 34"/>
          <p:cNvSpPr txBox="1">
            <a:spLocks noChangeArrowheads="1"/>
          </p:cNvSpPr>
          <p:nvPr/>
        </p:nvSpPr>
        <p:spPr bwMode="auto">
          <a:xfrm>
            <a:off x="5027403" y="118424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solidFill>
                  <a:srgbClr val="0000FF"/>
                </a:solidFill>
                <a:latin typeface="微软雅黑" pitchFamily="34" charset="-122"/>
                <a:ea typeface="微软雅黑" pitchFamily="34" charset="-122"/>
              </a:rPr>
              <a:t>单播</a:t>
            </a:r>
          </a:p>
        </p:txBody>
      </p:sp>
      <p:sp>
        <p:nvSpPr>
          <p:cNvPr id="66" name="矩形 65"/>
          <p:cNvSpPr/>
          <p:nvPr/>
        </p:nvSpPr>
        <p:spPr>
          <a:xfrm>
            <a:off x="556963" y="3728619"/>
            <a:ext cx="8320707" cy="369332"/>
          </a:xfrm>
          <a:prstGeom prst="rect">
            <a:avLst/>
          </a:prstGeom>
          <a:noFill/>
          <a:ln>
            <a:noFill/>
          </a:ln>
        </p:spPr>
        <p:txBody>
          <a:bodyPr wrap="square">
            <a:spAutoFit/>
          </a:bodyPr>
          <a:lstStyle/>
          <a:p>
            <a:pPr algn="ct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服务器回答提供报文 </a:t>
            </a:r>
            <a:r>
              <a:rPr lang="en-US" altLang="zh-CN" b="1" dirty="0">
                <a:latin typeface="微软雅黑" pitchFamily="34" charset="-122"/>
                <a:ea typeface="微软雅黑" pitchFamily="34" charset="-122"/>
              </a:rPr>
              <a:t>(DHCPOFFER)</a:t>
            </a:r>
            <a:r>
              <a:rPr lang="zh-CN" altLang="en-US" b="1" dirty="0">
                <a:latin typeface="微软雅黑" pitchFamily="34" charset="-122"/>
                <a:ea typeface="微软雅黑" pitchFamily="34" charset="-122"/>
              </a:rPr>
              <a:t> （</a:t>
            </a:r>
            <a:r>
              <a:rPr lang="zh-CN" altLang="en-US" b="1" dirty="0">
                <a:solidFill>
                  <a:srgbClr val="C00000"/>
                </a:solidFill>
                <a:latin typeface="微软雅黑" pitchFamily="34" charset="-122"/>
                <a:ea typeface="微软雅黑" pitchFamily="34" charset="-122"/>
              </a:rPr>
              <a:t>单播</a:t>
            </a:r>
            <a:r>
              <a:rPr lang="zh-CN" altLang="en-US" b="1" dirty="0">
                <a:latin typeface="微软雅黑" pitchFamily="34" charset="-122"/>
                <a:ea typeface="微软雅黑" pitchFamily="34" charset="-122"/>
              </a:rPr>
              <a:t>），提供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地址等配置信息。</a:t>
            </a:r>
          </a:p>
        </p:txBody>
      </p:sp>
      <p:pic>
        <p:nvPicPr>
          <p:cNvPr id="6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5981" y="2758587"/>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71293"/>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2" name="Line 5"/>
          <p:cNvSpPr>
            <a:spLocks noChangeShapeType="1"/>
          </p:cNvSpPr>
          <p:nvPr/>
        </p:nvSpPr>
        <p:spPr bwMode="auto">
          <a:xfrm>
            <a:off x="5784490" y="2501528"/>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Line 5"/>
          <p:cNvSpPr>
            <a:spLocks noChangeShapeType="1"/>
          </p:cNvSpPr>
          <p:nvPr/>
        </p:nvSpPr>
        <p:spPr bwMode="auto">
          <a:xfrm>
            <a:off x="6628050" y="2501528"/>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76" name="Group 50"/>
          <p:cNvGrpSpPr>
            <a:grpSpLocks noChangeAspect="1"/>
          </p:cNvGrpSpPr>
          <p:nvPr/>
        </p:nvGrpSpPr>
        <p:grpSpPr bwMode="auto">
          <a:xfrm>
            <a:off x="5545250" y="2705412"/>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1"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705412"/>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a:spLocks/>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a:spLocks/>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 name="Freeform 55"/>
            <p:cNvSpPr>
              <a:spLocks/>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055" y="16711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09560" y="1471571"/>
            <a:ext cx="582712" cy="815797"/>
          </a:xfrm>
          <a:prstGeom prst="rect">
            <a:avLst/>
          </a:prstGeom>
        </p:spPr>
      </p:pic>
      <p:grpSp>
        <p:nvGrpSpPr>
          <p:cNvPr id="6" name="组合 5"/>
          <p:cNvGrpSpPr/>
          <p:nvPr/>
        </p:nvGrpSpPr>
        <p:grpSpPr>
          <a:xfrm>
            <a:off x="1910946" y="1472976"/>
            <a:ext cx="5398614" cy="872411"/>
            <a:chOff x="1910946" y="1562163"/>
            <a:chExt cx="5398614" cy="872411"/>
          </a:xfrm>
        </p:grpSpPr>
        <p:cxnSp>
          <p:nvCxnSpPr>
            <p:cNvPr id="7" name="直接箭头连接符 6"/>
            <p:cNvCxnSpPr>
              <a:stCxn id="70" idx="3"/>
            </p:cNvCxnSpPr>
            <p:nvPr/>
          </p:nvCxnSpPr>
          <p:spPr>
            <a:xfrm>
              <a:off x="1910946" y="1954140"/>
              <a:ext cx="5398614" cy="0"/>
            </a:xfrm>
            <a:prstGeom prst="straightConnector1">
              <a:avLst/>
            </a:prstGeom>
            <a:ln w="28575">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3971109" y="1562163"/>
              <a:ext cx="2656941" cy="872411"/>
            </a:xfrm>
            <a:prstGeom prst="rect">
              <a:avLst/>
            </a:prstGeom>
            <a:solidFill>
              <a:srgbClr val="CC00CC"/>
            </a:solidFill>
            <a:ln w="9525">
              <a:solidFill>
                <a:schemeClr val="tx1"/>
              </a:solidFill>
              <a:miter lim="800000"/>
              <a:headEnd/>
              <a:tailEnd/>
            </a:ln>
            <a:effectLst/>
          </p:spPr>
          <p:txBody>
            <a:bodyPr wrap="none" anchor="ctr"/>
            <a:lstStyle/>
            <a:p>
              <a:r>
                <a:rPr kumimoji="1" lang="en-US" altLang="zh-CN" sz="1200" b="1" dirty="0">
                  <a:solidFill>
                    <a:schemeClr val="bg1"/>
                  </a:solidFill>
                  <a:latin typeface="微软雅黑" pitchFamily="34" charset="-122"/>
                  <a:ea typeface="微软雅黑" pitchFamily="34" charset="-122"/>
                </a:rPr>
                <a:t>DHCPOFFER </a:t>
              </a:r>
            </a:p>
            <a:p>
              <a:r>
                <a:rPr kumimoji="1" lang="en-US" altLang="zh-CN" sz="1200" b="1" dirty="0">
                  <a:solidFill>
                    <a:schemeClr val="bg1"/>
                  </a:solidFill>
                  <a:latin typeface="微软雅黑" pitchFamily="34" charset="-122"/>
                  <a:ea typeface="微软雅黑" pitchFamily="34" charset="-122"/>
                </a:rPr>
                <a:t>IP address: 10.12.18.112 </a:t>
              </a:r>
            </a:p>
            <a:p>
              <a:r>
                <a:rPr kumimoji="1" lang="en-US" altLang="zh-CN" sz="1200" b="1" dirty="0">
                  <a:solidFill>
                    <a:schemeClr val="bg1"/>
                  </a:solidFill>
                  <a:latin typeface="微软雅黑" pitchFamily="34" charset="-122"/>
                  <a:ea typeface="微软雅黑" pitchFamily="34" charset="-122"/>
                </a:rPr>
                <a:t>Default gateway: 10.12.18.1</a:t>
              </a:r>
            </a:p>
            <a:p>
              <a:r>
                <a:rPr kumimoji="1" lang="en-US" altLang="zh-CN" sz="1200" b="1" dirty="0" err="1">
                  <a:solidFill>
                    <a:schemeClr val="bg1"/>
                  </a:solidFill>
                  <a:latin typeface="微软雅黑" pitchFamily="34" charset="-122"/>
                  <a:ea typeface="微软雅黑" pitchFamily="34" charset="-122"/>
                </a:rPr>
                <a:t>Netmask</a:t>
              </a:r>
              <a:r>
                <a:rPr kumimoji="1" lang="en-US" altLang="zh-CN" sz="1200" b="1" dirty="0">
                  <a:solidFill>
                    <a:schemeClr val="bg1"/>
                  </a:solidFill>
                  <a:latin typeface="微软雅黑" pitchFamily="34" charset="-122"/>
                  <a:ea typeface="微软雅黑" pitchFamily="34" charset="-122"/>
                </a:rPr>
                <a:t>: 255.255.0.0</a:t>
              </a:r>
            </a:p>
          </p:txBody>
        </p:sp>
      </p:grpSp>
      <p:sp>
        <p:nvSpPr>
          <p:cNvPr id="41"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2"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工作方式</a:t>
            </a:r>
          </a:p>
        </p:txBody>
      </p:sp>
    </p:spTree>
    <p:extLst>
      <p:ext uri="{BB962C8B-B14F-4D97-AF65-F5344CB8AC3E}">
        <p14:creationId xmlns:p14="http://schemas.microsoft.com/office/powerpoint/2010/main" val="27245311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5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89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286699" y="574803"/>
            <a:ext cx="45706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DHCP </a:t>
            </a:r>
            <a:r>
              <a:rPr lang="zh-CN" altLang="en-US" sz="2400" b="1" dirty="0">
                <a:solidFill>
                  <a:schemeClr val="bg1"/>
                </a:solidFill>
                <a:latin typeface="微软雅黑" pitchFamily="34" charset="-122"/>
                <a:ea typeface="微软雅黑" pitchFamily="34" charset="-122"/>
              </a:rPr>
              <a:t>中继代理 </a:t>
            </a:r>
            <a:r>
              <a:rPr lang="en-US" altLang="zh-CN" sz="2400" b="1" dirty="0">
                <a:solidFill>
                  <a:schemeClr val="bg1"/>
                </a:solidFill>
                <a:latin typeface="微软雅黑" pitchFamily="34" charset="-122"/>
                <a:ea typeface="微软雅黑" pitchFamily="34" charset="-122"/>
              </a:rPr>
              <a:t>(relay agent) </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4" y="1000116"/>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每个网络上都需要有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服务器吗？</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答案：</a:t>
            </a:r>
            <a:r>
              <a:rPr lang="zh-CN" altLang="en-US" sz="2000" b="1" dirty="0">
                <a:latin typeface="微软雅黑" pitchFamily="34" charset="-122"/>
                <a:ea typeface="微软雅黑" pitchFamily="34" charset="-122"/>
              </a:rPr>
              <a:t>不需要，因为会使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服务器的数量太多。</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若没有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服务器，如何自动获得地址？</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解决：</a:t>
            </a:r>
            <a:r>
              <a:rPr lang="zh-CN" altLang="en-US" sz="2000" b="1" dirty="0">
                <a:latin typeface="微软雅黑" pitchFamily="34" charset="-122"/>
                <a:ea typeface="微软雅黑" pitchFamily="34" charset="-122"/>
              </a:rPr>
              <a:t>每一个网络</a:t>
            </a:r>
            <a:r>
              <a:rPr lang="zh-CN" altLang="en-US" sz="2000" b="1" dirty="0">
                <a:solidFill>
                  <a:srgbClr val="C00000"/>
                </a:solidFill>
                <a:latin typeface="微软雅黑" pitchFamily="34" charset="-122"/>
                <a:ea typeface="微软雅黑" pitchFamily="34" charset="-122"/>
              </a:rPr>
              <a:t>至少</a:t>
            </a:r>
            <a:r>
              <a:rPr lang="zh-CN" altLang="en-US" sz="2000" b="1" dirty="0">
                <a:latin typeface="微软雅黑" pitchFamily="34" charset="-122"/>
                <a:ea typeface="微软雅黑" pitchFamily="34" charset="-122"/>
              </a:rPr>
              <a:t>有一个 </a:t>
            </a:r>
            <a:r>
              <a:rPr lang="en-US" altLang="zh-CN" sz="2000" b="1" dirty="0">
                <a:latin typeface="微软雅黑" pitchFamily="34" charset="-122"/>
                <a:ea typeface="微软雅黑" pitchFamily="34" charset="-122"/>
              </a:rPr>
              <a:t>DHCP </a:t>
            </a:r>
            <a:r>
              <a:rPr lang="zh-CN" altLang="en-US" sz="2000" b="1" dirty="0">
                <a:solidFill>
                  <a:srgbClr val="C00000"/>
                </a:solidFill>
                <a:latin typeface="微软雅黑" pitchFamily="34" charset="-122"/>
                <a:ea typeface="微软雅黑" pitchFamily="34" charset="-122"/>
              </a:rPr>
              <a:t>中继代理，</a:t>
            </a:r>
            <a:r>
              <a:rPr lang="zh-CN" altLang="en-US" sz="2000" b="1" dirty="0">
                <a:latin typeface="微软雅黑" pitchFamily="34" charset="-122"/>
                <a:ea typeface="微软雅黑" pitchFamily="34" charset="-122"/>
              </a:rPr>
              <a:t>它配置了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地址信息。</a:t>
            </a:r>
          </a:p>
        </p:txBody>
      </p:sp>
    </p:spTree>
    <p:extLst>
      <p:ext uri="{BB962C8B-B14F-4D97-AF65-F5344CB8AC3E}">
        <p14:creationId xmlns:p14="http://schemas.microsoft.com/office/powerpoint/2010/main" val="197964336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91716"/>
            <a:ext cx="8048776" cy="24794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40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10965" y="570809"/>
            <a:ext cx="4940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中继代理以</a:t>
            </a:r>
            <a:r>
              <a:rPr lang="zh-CN" altLang="en-US" sz="2000" b="1" dirty="0">
                <a:solidFill>
                  <a:srgbClr val="FFFF00"/>
                </a:solidFill>
                <a:latin typeface="微软雅黑" pitchFamily="34" charset="-122"/>
                <a:ea typeface="微软雅黑" pitchFamily="34" charset="-122"/>
              </a:rPr>
              <a:t>单播</a:t>
            </a:r>
            <a:r>
              <a:rPr lang="zh-CN" altLang="en-US" sz="2000" b="1" dirty="0">
                <a:solidFill>
                  <a:schemeClr val="bg1"/>
                </a:solidFill>
                <a:latin typeface="微软雅黑" pitchFamily="34" charset="-122"/>
                <a:ea typeface="微软雅黑" pitchFamily="34" charset="-122"/>
              </a:rPr>
              <a:t>方式转发发现报文 </a:t>
            </a:r>
          </a:p>
        </p:txBody>
      </p:sp>
      <p:sp>
        <p:nvSpPr>
          <p:cNvPr id="5" name="Line 5"/>
          <p:cNvSpPr>
            <a:spLocks noChangeShapeType="1"/>
          </p:cNvSpPr>
          <p:nvPr/>
        </p:nvSpPr>
        <p:spPr bwMode="auto">
          <a:xfrm>
            <a:off x="1946778" y="2083055"/>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6" name="Line 6"/>
          <p:cNvSpPr>
            <a:spLocks noChangeShapeType="1"/>
          </p:cNvSpPr>
          <p:nvPr/>
        </p:nvSpPr>
        <p:spPr bwMode="auto">
          <a:xfrm flipV="1">
            <a:off x="3782056" y="2707630"/>
            <a:ext cx="389821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8" name="Text Box 8"/>
          <p:cNvSpPr txBox="1">
            <a:spLocks noChangeArrowheads="1"/>
          </p:cNvSpPr>
          <p:nvPr/>
        </p:nvSpPr>
        <p:spPr bwMode="auto">
          <a:xfrm>
            <a:off x="1001488" y="1105533"/>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主机</a:t>
            </a:r>
          </a:p>
        </p:txBody>
      </p:sp>
      <p:sp>
        <p:nvSpPr>
          <p:cNvPr id="9" name="Text Box 9"/>
          <p:cNvSpPr txBox="1">
            <a:spLocks noChangeArrowheads="1"/>
          </p:cNvSpPr>
          <p:nvPr/>
        </p:nvSpPr>
        <p:spPr bwMode="auto">
          <a:xfrm>
            <a:off x="7522125" y="1385692"/>
            <a:ext cx="72327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a:latin typeface="微软雅黑" pitchFamily="34" charset="-122"/>
                <a:ea typeface="微软雅黑" pitchFamily="34" charset="-122"/>
              </a:rPr>
              <a:t>DHCP</a:t>
            </a:r>
          </a:p>
          <a:p>
            <a:pPr algn="ctr" eaLnBrk="1" hangingPunct="1"/>
            <a:r>
              <a:rPr kumimoji="1" lang="zh-CN" altLang="en-US" sz="1400" b="1">
                <a:latin typeface="微软雅黑" pitchFamily="34" charset="-122"/>
                <a:ea typeface="微软雅黑" pitchFamily="34" charset="-122"/>
              </a:rPr>
              <a:t>服务器</a:t>
            </a:r>
          </a:p>
        </p:txBody>
      </p:sp>
      <p:grpSp>
        <p:nvGrpSpPr>
          <p:cNvPr id="10" name="Group 10"/>
          <p:cNvGrpSpPr>
            <a:grpSpLocks/>
          </p:cNvGrpSpPr>
          <p:nvPr/>
        </p:nvGrpSpPr>
        <p:grpSpPr bwMode="auto">
          <a:xfrm>
            <a:off x="6035462" y="2160540"/>
            <a:ext cx="1052951" cy="936151"/>
            <a:chOff x="3204" y="2684"/>
            <a:chExt cx="1080" cy="854"/>
          </a:xfrm>
          <a:solidFill>
            <a:srgbClr val="99FFCC"/>
          </a:solidFill>
        </p:grpSpPr>
        <p:sp>
          <p:nvSpPr>
            <p:cNvPr id="11"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2"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6"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7"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8"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22" name="Line 22"/>
          <p:cNvSpPr>
            <a:spLocks noChangeShapeType="1"/>
          </p:cNvSpPr>
          <p:nvPr/>
        </p:nvSpPr>
        <p:spPr bwMode="auto">
          <a:xfrm>
            <a:off x="1073020" y="2066620"/>
            <a:ext cx="286038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3" name="Line 23"/>
          <p:cNvSpPr>
            <a:spLocks noChangeShapeType="1"/>
          </p:cNvSpPr>
          <p:nvPr/>
        </p:nvSpPr>
        <p:spPr bwMode="auto">
          <a:xfrm>
            <a:off x="1258709" y="1769594"/>
            <a:ext cx="0" cy="313461"/>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4" name="Line 24"/>
          <p:cNvSpPr>
            <a:spLocks noChangeShapeType="1"/>
          </p:cNvSpPr>
          <p:nvPr/>
        </p:nvSpPr>
        <p:spPr bwMode="auto">
          <a:xfrm>
            <a:off x="3628161" y="2083055"/>
            <a:ext cx="0" cy="3122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6"/>
          <p:cNvSpPr txBox="1">
            <a:spLocks noChangeArrowheads="1"/>
          </p:cNvSpPr>
          <p:nvPr/>
        </p:nvSpPr>
        <p:spPr bwMode="auto">
          <a:xfrm>
            <a:off x="6296803" y="2365993"/>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其他</a:t>
            </a:r>
          </a:p>
          <a:p>
            <a:pPr algn="ctr" eaLnBrk="1" hangingPunct="1"/>
            <a:r>
              <a:rPr kumimoji="1" lang="zh-CN" altLang="en-US" sz="1400" b="1">
                <a:latin typeface="微软雅黑" pitchFamily="34" charset="-122"/>
                <a:ea typeface="微软雅黑" pitchFamily="34" charset="-122"/>
              </a:rPr>
              <a:t>网络</a:t>
            </a:r>
          </a:p>
        </p:txBody>
      </p:sp>
      <p:sp>
        <p:nvSpPr>
          <p:cNvPr id="27" name="Text Box 27"/>
          <p:cNvSpPr txBox="1">
            <a:spLocks noChangeArrowheads="1"/>
          </p:cNvSpPr>
          <p:nvPr/>
        </p:nvSpPr>
        <p:spPr bwMode="auto">
          <a:xfrm>
            <a:off x="3207279" y="2812118"/>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DHCP</a:t>
            </a:r>
          </a:p>
          <a:p>
            <a:pPr algn="ctr" eaLnBrk="1" hangingPunct="1"/>
            <a:r>
              <a:rPr kumimoji="1" lang="zh-CN" altLang="en-US" sz="1400" b="1" dirty="0">
                <a:latin typeface="微软雅黑" pitchFamily="34" charset="-122"/>
                <a:ea typeface="微软雅黑" pitchFamily="34" charset="-122"/>
              </a:rPr>
              <a:t>中继代理</a:t>
            </a:r>
          </a:p>
        </p:txBody>
      </p:sp>
      <p:grpSp>
        <p:nvGrpSpPr>
          <p:cNvPr id="28" name="Group 41"/>
          <p:cNvGrpSpPr>
            <a:grpSpLocks/>
          </p:cNvGrpSpPr>
          <p:nvPr/>
        </p:nvGrpSpPr>
        <p:grpSpPr bwMode="auto">
          <a:xfrm>
            <a:off x="1691138" y="1291771"/>
            <a:ext cx="2064208" cy="635141"/>
            <a:chOff x="571" y="1480"/>
            <a:chExt cx="1623" cy="541"/>
          </a:xfrm>
        </p:grpSpPr>
        <p:grpSp>
          <p:nvGrpSpPr>
            <p:cNvPr id="29" name="Group 31"/>
            <p:cNvGrpSpPr>
              <a:grpSpLocks/>
            </p:cNvGrpSpPr>
            <p:nvPr/>
          </p:nvGrpSpPr>
          <p:grpSpPr bwMode="auto">
            <a:xfrm>
              <a:off x="571" y="1754"/>
              <a:ext cx="1623" cy="267"/>
              <a:chOff x="1008" y="2400"/>
              <a:chExt cx="1296" cy="192"/>
            </a:xfrm>
          </p:grpSpPr>
          <p:sp>
            <p:nvSpPr>
              <p:cNvPr id="31" name="AutoShape 32"/>
              <p:cNvSpPr>
                <a:spLocks noChangeArrowheads="1"/>
              </p:cNvSpPr>
              <p:nvPr/>
            </p:nvSpPr>
            <p:spPr bwMode="auto">
              <a:xfrm>
                <a:off x="2064" y="2448"/>
                <a:ext cx="240" cy="96"/>
              </a:xfrm>
              <a:prstGeom prst="rightArrow">
                <a:avLst>
                  <a:gd name="adj1" fmla="val 50000"/>
                  <a:gd name="adj2" fmla="val 62500"/>
                </a:avLst>
              </a:prstGeom>
              <a:solidFill>
                <a:srgbClr val="CC00CC"/>
              </a:solidFill>
              <a:ln w="9525">
                <a:solidFill>
                  <a:schemeClr val="tx1"/>
                </a:solidFill>
                <a:miter lim="800000"/>
                <a:headEnd/>
                <a:tailEnd/>
              </a:ln>
              <a:effectLst/>
            </p:spPr>
            <p:txBody>
              <a:bodyPr wrap="none" anchor="ctr"/>
              <a:lstStyle/>
              <a:p>
                <a:pPr eaLnBrk="1" hangingPunct="1"/>
                <a:endParaRPr lang="zh-CN" altLang="en-US" sz="1400" b="1">
                  <a:solidFill>
                    <a:schemeClr val="bg1"/>
                  </a:solidFill>
                  <a:latin typeface="微软雅黑" pitchFamily="34" charset="-122"/>
                  <a:ea typeface="微软雅黑" pitchFamily="34" charset="-122"/>
                </a:endParaRPr>
              </a:p>
            </p:txBody>
          </p:sp>
          <p:sp>
            <p:nvSpPr>
              <p:cNvPr id="32" name="Rectangle 33"/>
              <p:cNvSpPr>
                <a:spLocks noChangeArrowheads="1"/>
              </p:cNvSpPr>
              <p:nvPr/>
            </p:nvSpPr>
            <p:spPr bwMode="auto">
              <a:xfrm>
                <a:off x="1008" y="2400"/>
                <a:ext cx="1056" cy="192"/>
              </a:xfrm>
              <a:prstGeom prst="rect">
                <a:avLst/>
              </a:prstGeom>
              <a:solidFill>
                <a:srgbClr val="CC00CC"/>
              </a:solidFill>
              <a:ln w="9525">
                <a:solidFill>
                  <a:schemeClr val="tx1"/>
                </a:solidFill>
                <a:miter lim="800000"/>
                <a:headEnd/>
                <a:tailEnd/>
              </a:ln>
              <a:effec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DHCPDISCOVER</a:t>
                </a:r>
              </a:p>
            </p:txBody>
          </p:sp>
        </p:grpSp>
        <p:sp>
          <p:nvSpPr>
            <p:cNvPr id="30" name="Text Box 34"/>
            <p:cNvSpPr txBox="1">
              <a:spLocks noChangeArrowheads="1"/>
            </p:cNvSpPr>
            <p:nvPr/>
          </p:nvSpPr>
          <p:spPr bwMode="auto">
            <a:xfrm>
              <a:off x="967" y="1480"/>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广播</a:t>
              </a:r>
            </a:p>
          </p:txBody>
        </p:sp>
      </p:grpSp>
      <p:grpSp>
        <p:nvGrpSpPr>
          <p:cNvPr id="33" name="Group 42"/>
          <p:cNvGrpSpPr>
            <a:grpSpLocks/>
          </p:cNvGrpSpPr>
          <p:nvPr/>
        </p:nvGrpSpPr>
        <p:grpSpPr bwMode="auto">
          <a:xfrm>
            <a:off x="3933405" y="1931608"/>
            <a:ext cx="2065481" cy="619879"/>
            <a:chOff x="2334" y="2025"/>
            <a:chExt cx="1624" cy="528"/>
          </a:xfrm>
        </p:grpSpPr>
        <p:grpSp>
          <p:nvGrpSpPr>
            <p:cNvPr id="34" name="Group 28"/>
            <p:cNvGrpSpPr>
              <a:grpSpLocks/>
            </p:cNvGrpSpPr>
            <p:nvPr/>
          </p:nvGrpSpPr>
          <p:grpSpPr bwMode="auto">
            <a:xfrm>
              <a:off x="2334" y="2287"/>
              <a:ext cx="1624" cy="266"/>
              <a:chOff x="1008" y="2400"/>
              <a:chExt cx="1296" cy="192"/>
            </a:xfrm>
          </p:grpSpPr>
          <p:sp>
            <p:nvSpPr>
              <p:cNvPr id="36" name="AutoShape 29"/>
              <p:cNvSpPr>
                <a:spLocks noChangeArrowheads="1"/>
              </p:cNvSpPr>
              <p:nvPr/>
            </p:nvSpPr>
            <p:spPr bwMode="auto">
              <a:xfrm>
                <a:off x="2064" y="2448"/>
                <a:ext cx="240" cy="96"/>
              </a:xfrm>
              <a:prstGeom prst="rightArrow">
                <a:avLst>
                  <a:gd name="adj1" fmla="val 50000"/>
                  <a:gd name="adj2" fmla="val 62500"/>
                </a:avLst>
              </a:prstGeom>
              <a:solidFill>
                <a:schemeClr val="accent6">
                  <a:lumMod val="75000"/>
                </a:schemeClr>
              </a:solidFill>
              <a:ln w="9525">
                <a:solidFill>
                  <a:schemeClr val="tx1"/>
                </a:solidFill>
                <a:miter lim="800000"/>
                <a:headEnd/>
                <a:tailEnd/>
              </a:ln>
              <a:effectLst/>
            </p:spPr>
            <p:txBody>
              <a:bodyPr wrap="none" anchor="ctr"/>
              <a:lstStyle/>
              <a:p>
                <a:pPr eaLnBrk="1" hangingPunct="1"/>
                <a:endParaRPr lang="zh-CN" altLang="en-US" sz="1400" b="1">
                  <a:solidFill>
                    <a:schemeClr val="bg1"/>
                  </a:solidFill>
                  <a:latin typeface="微软雅黑" pitchFamily="34" charset="-122"/>
                  <a:ea typeface="微软雅黑" pitchFamily="34" charset="-122"/>
                </a:endParaRPr>
              </a:p>
            </p:txBody>
          </p:sp>
          <p:sp>
            <p:nvSpPr>
              <p:cNvPr id="37" name="Rectangle 30"/>
              <p:cNvSpPr>
                <a:spLocks noChangeArrowheads="1"/>
              </p:cNvSpPr>
              <p:nvPr/>
            </p:nvSpPr>
            <p:spPr bwMode="auto">
              <a:xfrm>
                <a:off x="1008" y="2400"/>
                <a:ext cx="1056" cy="192"/>
              </a:xfrm>
              <a:prstGeom prst="rect">
                <a:avLst/>
              </a:prstGeom>
              <a:solidFill>
                <a:schemeClr val="accent6">
                  <a:lumMod val="75000"/>
                </a:schemeClr>
              </a:solidFill>
              <a:ln w="9525">
                <a:solidFill>
                  <a:schemeClr val="tx1"/>
                </a:solidFill>
                <a:miter lim="800000"/>
                <a:headEnd/>
                <a:tailEnd/>
              </a:ln>
              <a:effectLst/>
            </p:spPr>
            <p:txBody>
              <a:bodyPr wrap="none" anchor="ctr"/>
              <a:lstStyle/>
              <a:p>
                <a:pPr algn="ctr" eaLnBrk="1" hangingPunct="1"/>
                <a:r>
                  <a:rPr kumimoji="1" lang="en-US" altLang="zh-CN" sz="1400" b="1" dirty="0">
                    <a:solidFill>
                      <a:schemeClr val="bg1"/>
                    </a:solidFill>
                    <a:latin typeface="微软雅黑" pitchFamily="34" charset="-122"/>
                    <a:ea typeface="微软雅黑" pitchFamily="34" charset="-122"/>
                  </a:rPr>
                  <a:t>DHCPDISCOVER</a:t>
                </a:r>
              </a:p>
            </p:txBody>
          </p:sp>
        </p:grpSp>
        <p:sp>
          <p:nvSpPr>
            <p:cNvPr id="35" name="Text Box 35"/>
            <p:cNvSpPr txBox="1">
              <a:spLocks noChangeArrowheads="1"/>
            </p:cNvSpPr>
            <p:nvPr/>
          </p:nvSpPr>
          <p:spPr bwMode="auto">
            <a:xfrm>
              <a:off x="2764" y="2025"/>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单播</a:t>
              </a:r>
            </a:p>
          </p:txBody>
        </p:sp>
      </p:grpSp>
      <p:pic>
        <p:nvPicPr>
          <p:cNvPr id="43" name="图片 4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549301" y="1912976"/>
            <a:ext cx="728974" cy="1020563"/>
          </a:xfrm>
          <a:prstGeom prst="rect">
            <a:avLst/>
          </a:prstGeom>
        </p:spPr>
      </p:pic>
      <p:pic>
        <p:nvPicPr>
          <p:cNvPr id="44"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67514"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75203"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3411" y="1389351"/>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 name="矩形 6"/>
          <p:cNvSpPr/>
          <p:nvPr/>
        </p:nvSpPr>
        <p:spPr>
          <a:xfrm>
            <a:off x="556964" y="3470555"/>
            <a:ext cx="8048776" cy="1015663"/>
          </a:xfrm>
          <a:prstGeom prst="rect">
            <a:avLst/>
          </a:prstGeom>
        </p:spPr>
        <p:txBody>
          <a:bodyPr wrap="square">
            <a:spAutoFit/>
          </a:bodyPr>
          <a:lstStyle/>
          <a:p>
            <a:pPr marL="285750" indent="-285750" eaLnBrk="0" hangingPunct="0">
              <a:lnSpc>
                <a:spcPts val="2400"/>
              </a:lnSpc>
              <a:buClr>
                <a:srgbClr val="0070C0"/>
              </a:buClr>
              <a:buFont typeface="Wingdings" pitchFamily="2" charset="2"/>
              <a:buChar char="l"/>
            </a:pP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中继代理收到主机广播发送的发现报文后，就以</a:t>
            </a:r>
            <a:r>
              <a:rPr lang="zh-CN" altLang="en-US" sz="1600" b="1" dirty="0">
                <a:solidFill>
                  <a:srgbClr val="C00000"/>
                </a:solidFill>
                <a:latin typeface="微软雅黑" pitchFamily="34" charset="-122"/>
                <a:ea typeface="微软雅黑" pitchFamily="34" charset="-122"/>
              </a:rPr>
              <a:t>单播</a:t>
            </a:r>
            <a:r>
              <a:rPr lang="zh-CN" altLang="en-US" sz="1600" b="1" dirty="0">
                <a:latin typeface="微软雅黑" pitchFamily="34" charset="-122"/>
                <a:ea typeface="微软雅黑" pitchFamily="34" charset="-122"/>
              </a:rPr>
              <a:t>方式向 </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服务器转发此报文，并等待其回答。</a:t>
            </a:r>
            <a:endParaRPr lang="en-US" altLang="zh-CN" sz="1600" b="1" dirty="0">
              <a:latin typeface="微软雅黑" pitchFamily="34" charset="-122"/>
              <a:ea typeface="微软雅黑" pitchFamily="34" charset="-122"/>
            </a:endParaRPr>
          </a:p>
          <a:p>
            <a:pPr marL="285750" indent="-285750" eaLnBrk="0" hangingPunct="0">
              <a:lnSpc>
                <a:spcPts val="2400"/>
              </a:lnSpc>
              <a:buClr>
                <a:srgbClr val="0070C0"/>
              </a:buClr>
              <a:buFont typeface="Wingdings" pitchFamily="2" charset="2"/>
              <a:buChar char="l"/>
            </a:pPr>
            <a:r>
              <a:rPr lang="zh-CN" altLang="en-US" sz="1600" b="1" dirty="0">
                <a:latin typeface="微软雅黑" pitchFamily="34" charset="-122"/>
                <a:ea typeface="微软雅黑" pitchFamily="34" charset="-122"/>
              </a:rPr>
              <a:t>收到 </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服务器回答的提供报文后，</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中继代理再将其发回给主机。</a:t>
            </a:r>
          </a:p>
        </p:txBody>
      </p:sp>
    </p:spTree>
    <p:extLst>
      <p:ext uri="{BB962C8B-B14F-4D97-AF65-F5344CB8AC3E}">
        <p14:creationId xmlns:p14="http://schemas.microsoft.com/office/powerpoint/2010/main" val="256811246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2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02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63331" y="574901"/>
            <a:ext cx="3417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itchFamily="34" charset="-122"/>
                <a:ea typeface="微软雅黑" pitchFamily="34" charset="-122"/>
              </a:rPr>
              <a:t>租用期 </a:t>
            </a:r>
            <a:r>
              <a:rPr lang="en-US" altLang="zh-CN" sz="2400" b="1" dirty="0">
                <a:solidFill>
                  <a:schemeClr val="bg1"/>
                </a:solidFill>
                <a:latin typeface="微软雅黑" pitchFamily="34" charset="-122"/>
                <a:ea typeface="微软雅黑" pitchFamily="34" charset="-122"/>
              </a:rPr>
              <a:t>(lease period) </a:t>
            </a:r>
            <a:endParaRPr lang="zh-CN" altLang="en-US" sz="24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1002246"/>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服务器分配给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客户的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地址的</a:t>
            </a:r>
            <a:r>
              <a:rPr lang="zh-CN" altLang="en-US" sz="2000" b="1" dirty="0">
                <a:solidFill>
                  <a:srgbClr val="C00000"/>
                </a:solidFill>
                <a:latin typeface="微软雅黑" pitchFamily="34" charset="-122"/>
                <a:ea typeface="微软雅黑" pitchFamily="34" charset="-122"/>
              </a:rPr>
              <a:t>临时的，</a:t>
            </a:r>
            <a:r>
              <a:rPr lang="zh-CN" altLang="en-US" sz="2000" b="1" dirty="0">
                <a:latin typeface="微软雅黑" pitchFamily="34" charset="-122"/>
                <a:ea typeface="微软雅黑" pitchFamily="34" charset="-122"/>
              </a:rPr>
              <a:t>因此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客户只能在一段有限的时间内使用这个分配到的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协议称这段时间为</a:t>
            </a:r>
            <a:r>
              <a:rPr lang="zh-CN" altLang="en-US" sz="2000" b="1" dirty="0">
                <a:solidFill>
                  <a:srgbClr val="C00000"/>
                </a:solidFill>
                <a:latin typeface="微软雅黑" pitchFamily="34" charset="-122"/>
                <a:ea typeface="微软雅黑" pitchFamily="34" charset="-122"/>
              </a:rPr>
              <a:t>租用期。</a:t>
            </a:r>
            <a:r>
              <a:rPr lang="zh-CN" altLang="en-US" sz="2000" b="1" dirty="0">
                <a:latin typeface="微软雅黑" pitchFamily="34" charset="-122"/>
                <a:ea typeface="微软雅黑" pitchFamily="34" charset="-122"/>
              </a:rPr>
              <a:t> </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租用期的数值应由 </a:t>
            </a: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服务器自己决定。</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DHCP </a:t>
            </a:r>
            <a:r>
              <a:rPr lang="zh-CN" altLang="en-US" sz="2000" b="1" dirty="0">
                <a:latin typeface="微软雅黑" pitchFamily="34" charset="-122"/>
                <a:ea typeface="微软雅黑" pitchFamily="34" charset="-122"/>
              </a:rPr>
              <a:t>客户也可在自己发送的报文中（例如，发现报文）提出对租用期的要求。 </a:t>
            </a:r>
          </a:p>
        </p:txBody>
      </p:sp>
    </p:spTree>
    <p:extLst>
      <p:ext uri="{BB962C8B-B14F-4D97-AF65-F5344CB8AC3E}">
        <p14:creationId xmlns:p14="http://schemas.microsoft.com/office/powerpoint/2010/main" val="413061041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162" name="组合 161"/>
          <p:cNvGrpSpPr/>
          <p:nvPr/>
        </p:nvGrpSpPr>
        <p:grpSpPr>
          <a:xfrm>
            <a:off x="1933015" y="1048868"/>
            <a:ext cx="5259764" cy="3324076"/>
            <a:chOff x="-34130" y="587046"/>
            <a:chExt cx="9932621" cy="6277239"/>
          </a:xfrm>
        </p:grpSpPr>
        <p:sp>
          <p:nvSpPr>
            <p:cNvPr id="83"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5"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87"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88"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89"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90"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91"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93"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95"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96"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97"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98"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99"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01"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03"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04"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05"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06"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07"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09"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11"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2"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13"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14"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15"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17"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19"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20"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1"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22"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23"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24"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25"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26"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127"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28"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9"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30"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31"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32"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33"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34"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135"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36"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37"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38"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39"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40"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41"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42"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143"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144"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45"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146"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47"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48"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49"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150"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51"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152"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153"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154"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55"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56"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57"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58"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59"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160"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161"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grpSp>
        <p:nvGrpSpPr>
          <p:cNvPr id="168" name="组合 167"/>
          <p:cNvGrpSpPr/>
          <p:nvPr/>
        </p:nvGrpSpPr>
        <p:grpSpPr>
          <a:xfrm>
            <a:off x="1252728" y="3180649"/>
            <a:ext cx="6757416" cy="1081681"/>
            <a:chOff x="1252728" y="3207283"/>
            <a:chExt cx="6757416" cy="1081681"/>
          </a:xfrm>
        </p:grpSpPr>
        <p:sp>
          <p:nvSpPr>
            <p:cNvPr id="167"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166" name="矩形 165"/>
            <p:cNvSpPr/>
            <p:nvPr/>
          </p:nvSpPr>
          <p:spPr>
            <a:xfrm>
              <a:off x="2304328" y="3317290"/>
              <a:ext cx="4885718" cy="759182"/>
            </a:xfrm>
            <a:prstGeom prst="rect">
              <a:avLst/>
            </a:prstGeom>
            <a:noFill/>
          </p:spPr>
          <p:txBody>
            <a:bodyPr wrap="square">
              <a:spAutoFit/>
            </a:bodyPr>
            <a:lstStyle/>
            <a:p>
              <a:pPr>
                <a:lnSpc>
                  <a:spcPts val="2600"/>
                </a:lnSpc>
              </a:pPr>
              <a:r>
                <a:rPr lang="en-US" altLang="zh-CN" b="1" dirty="0">
                  <a:latin typeface="微软雅黑" pitchFamily="34" charset="-122"/>
                  <a:ea typeface="微软雅黑" pitchFamily="34" charset="-122"/>
                  <a:sym typeface="Wingdings" pitchFamily="2" charset="2"/>
                </a:rPr>
                <a:t></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a:t>
              </a:r>
              <a:r>
                <a:rPr lang="zh-CN" altLang="en-US" b="1" dirty="0">
                  <a:solidFill>
                    <a:srgbClr val="0000FF"/>
                  </a:solidFill>
                  <a:latin typeface="微软雅黑" pitchFamily="34" charset="-122"/>
                  <a:ea typeface="微软雅黑" pitchFamily="34" charset="-122"/>
                </a:rPr>
                <a:t>被动</a:t>
              </a:r>
              <a:r>
                <a:rPr lang="zh-CN" altLang="en-US" b="1" dirty="0">
                  <a:latin typeface="微软雅黑" pitchFamily="34" charset="-122"/>
                  <a:ea typeface="微软雅黑" pitchFamily="34" charset="-122"/>
                </a:rPr>
                <a:t>打开 </a:t>
              </a:r>
              <a:r>
                <a:rPr lang="en-US" altLang="zh-CN" b="1" dirty="0">
                  <a:latin typeface="微软雅黑" pitchFamily="34" charset="-122"/>
                  <a:ea typeface="微软雅黑" pitchFamily="34" charset="-122"/>
                </a:rPr>
                <a:t>UDP </a:t>
              </a:r>
              <a:r>
                <a:rPr lang="zh-CN" altLang="en-US" b="1" dirty="0">
                  <a:latin typeface="微软雅黑" pitchFamily="34" charset="-122"/>
                  <a:ea typeface="微软雅黑" pitchFamily="34" charset="-122"/>
                </a:rPr>
                <a:t>端口 </a:t>
              </a:r>
              <a:r>
                <a:rPr lang="en-US" altLang="zh-CN" b="1" dirty="0">
                  <a:latin typeface="微软雅黑" pitchFamily="34" charset="-122"/>
                  <a:ea typeface="微软雅黑" pitchFamily="34" charset="-122"/>
                </a:rPr>
                <a:t>67</a:t>
              </a:r>
              <a:r>
                <a:rPr lang="zh-CN" altLang="en-US" b="1" dirty="0">
                  <a:latin typeface="微软雅黑" pitchFamily="34" charset="-122"/>
                  <a:ea typeface="微软雅黑" pitchFamily="34" charset="-122"/>
                </a:rPr>
                <a:t>，等待客户端发来的报文。</a:t>
              </a:r>
            </a:p>
          </p:txBody>
        </p:sp>
      </p:grpSp>
    </p:spTree>
    <p:extLst>
      <p:ext uri="{BB962C8B-B14F-4D97-AF65-F5344CB8AC3E}">
        <p14:creationId xmlns:p14="http://schemas.microsoft.com/office/powerpoint/2010/main" val="164015105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lnSpc>
                <a:spcPts val="2800"/>
              </a:lnSpc>
            </a:pPr>
            <a:endParaRPr lang="zh-CN" altLang="zh-CN" sz="2800" b="1" dirty="0">
              <a:solidFill>
                <a:srgbClr val="000099"/>
              </a:solidFill>
            </a:endParaRPr>
          </a:p>
        </p:txBody>
      </p:sp>
      <p:sp>
        <p:nvSpPr>
          <p:cNvPr id="86" name="矩形 85"/>
          <p:cNvSpPr/>
          <p:nvPr/>
        </p:nvSpPr>
        <p:spPr>
          <a:xfrm>
            <a:off x="2281675" y="3284521"/>
            <a:ext cx="4911104" cy="759182"/>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cs typeface="Adobe Arabic" panose="02040503050201020203" pitchFamily="18" charset="-78"/>
              </a:rPr>
              <a:t>❷</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客户从 </a:t>
            </a:r>
            <a:r>
              <a:rPr lang="en-US" altLang="zh-CN" b="1" dirty="0">
                <a:latin typeface="微软雅黑" pitchFamily="34" charset="-122"/>
                <a:ea typeface="微软雅黑" pitchFamily="34" charset="-122"/>
              </a:rPr>
              <a:t>UDP </a:t>
            </a:r>
            <a:r>
              <a:rPr lang="zh-CN" altLang="en-US" b="1" dirty="0">
                <a:latin typeface="微软雅黑" pitchFamily="34" charset="-122"/>
                <a:ea typeface="微软雅黑" pitchFamily="34" charset="-122"/>
              </a:rPr>
              <a:t>端口 </a:t>
            </a:r>
            <a:r>
              <a:rPr lang="en-US" altLang="zh-CN" b="1" dirty="0">
                <a:latin typeface="微软雅黑" pitchFamily="34" charset="-122"/>
                <a:ea typeface="微软雅黑" pitchFamily="34" charset="-122"/>
              </a:rPr>
              <a:t>68 </a:t>
            </a:r>
            <a:r>
              <a:rPr lang="zh-CN" altLang="en-US" b="1" dirty="0">
                <a:latin typeface="微软雅黑" pitchFamily="34" charset="-122"/>
                <a:ea typeface="微软雅黑" pitchFamily="34" charset="-122"/>
              </a:rPr>
              <a:t>发送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发现报文 </a:t>
            </a:r>
            <a:r>
              <a:rPr lang="en-US" altLang="zh-CN" b="1" dirty="0">
                <a:latin typeface="微软雅黑" pitchFamily="34" charset="-122"/>
                <a:ea typeface="微软雅黑" pitchFamily="34" charset="-122"/>
              </a:rPr>
              <a:t>DHCPDISCOVER</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3070172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89103" y="3156056"/>
            <a:ext cx="6134470" cy="1092607"/>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❸：凡收到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发现报文的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a:t>
            </a:r>
            <a:r>
              <a:rPr lang="zh-CN" altLang="en-US" b="1" dirty="0">
                <a:solidFill>
                  <a:srgbClr val="0000FF"/>
                </a:solidFill>
                <a:latin typeface="微软雅黑" pitchFamily="34" charset="-122"/>
                <a:ea typeface="微软雅黑" pitchFamily="34" charset="-122"/>
              </a:rPr>
              <a:t>都发出</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提供报文 </a:t>
            </a:r>
            <a:r>
              <a:rPr lang="en-US" altLang="zh-CN" b="1" dirty="0">
                <a:latin typeface="微软雅黑" pitchFamily="34" charset="-122"/>
                <a:ea typeface="微软雅黑" pitchFamily="34" charset="-122"/>
              </a:rPr>
              <a:t>DHCPOFFER</a:t>
            </a:r>
            <a:r>
              <a:rPr lang="zh-CN" altLang="en-US" b="1" dirty="0">
                <a:latin typeface="微软雅黑" pitchFamily="34" charset="-122"/>
                <a:ea typeface="微软雅黑" pitchFamily="34" charset="-122"/>
              </a:rPr>
              <a:t>，因此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客户可能收到多个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提供报文 。</a:t>
            </a:r>
          </a:p>
        </p:txBody>
      </p:sp>
    </p:spTree>
    <p:extLst>
      <p:ext uri="{BB962C8B-B14F-4D97-AF65-F5344CB8AC3E}">
        <p14:creationId xmlns:p14="http://schemas.microsoft.com/office/powerpoint/2010/main" val="19819794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65668"/>
            <a:ext cx="6116714" cy="1092607"/>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❹：</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客户从几个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服务器中</a:t>
            </a:r>
            <a:r>
              <a:rPr lang="zh-CN" altLang="en-US" b="1" dirty="0">
                <a:solidFill>
                  <a:srgbClr val="0000FF"/>
                </a:solidFill>
                <a:latin typeface="微软雅黑" pitchFamily="34" charset="-122"/>
                <a:ea typeface="微软雅黑" pitchFamily="34" charset="-122"/>
              </a:rPr>
              <a:t>选择其中的一个，</a:t>
            </a:r>
            <a:r>
              <a:rPr lang="zh-CN" altLang="en-US" b="1" dirty="0">
                <a:latin typeface="微软雅黑" pitchFamily="34" charset="-122"/>
                <a:ea typeface="微软雅黑" pitchFamily="34" charset="-122"/>
              </a:rPr>
              <a:t>并向所选择的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服务器发送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请求报文 </a:t>
            </a:r>
            <a:r>
              <a:rPr lang="en-US" altLang="zh-CN" b="1" dirty="0">
                <a:latin typeface="微软雅黑" pitchFamily="34" charset="-122"/>
                <a:ea typeface="微软雅黑" pitchFamily="34" charset="-122"/>
              </a:rPr>
              <a:t>DHCPREQUEST</a:t>
            </a:r>
            <a:r>
              <a:rPr lang="zh-CN" altLang="en-US" b="1" dirty="0">
                <a:latin typeface="微软雅黑" pitchFamily="34" charset="-122"/>
                <a:ea typeface="微软雅黑" pitchFamily="34" charset="-122"/>
              </a:rPr>
              <a:t>。</a:t>
            </a:r>
          </a:p>
        </p:txBody>
      </p:sp>
    </p:spTree>
    <p:extLst>
      <p:ext uri="{BB962C8B-B14F-4D97-AF65-F5344CB8AC3E}">
        <p14:creationId xmlns:p14="http://schemas.microsoft.com/office/powerpoint/2010/main" val="265194116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45" y="3184095"/>
            <a:ext cx="6010182" cy="1092607"/>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❺：被选择的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服务器发送确认报文 </a:t>
            </a:r>
            <a:r>
              <a:rPr lang="en-US" altLang="zh-CN" b="1" dirty="0">
                <a:latin typeface="微软雅黑" pitchFamily="34" charset="-122"/>
                <a:ea typeface="微软雅黑" pitchFamily="34" charset="-122"/>
              </a:rPr>
              <a:t>DHCPACK</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客户可开始使用得到的</a:t>
            </a:r>
            <a:r>
              <a:rPr lang="zh-CN" altLang="en-US" b="1" dirty="0">
                <a:solidFill>
                  <a:srgbClr val="0000FF"/>
                </a:solidFill>
                <a:latin typeface="微软雅黑" pitchFamily="34" charset="-122"/>
                <a:ea typeface="微软雅黑" pitchFamily="34" charset="-122"/>
              </a:rPr>
              <a:t>临时</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地址了，进入已绑定状态。 </a:t>
            </a:r>
          </a:p>
        </p:txBody>
      </p:sp>
    </p:spTree>
    <p:extLst>
      <p:ext uri="{BB962C8B-B14F-4D97-AF65-F5344CB8AC3E}">
        <p14:creationId xmlns:p14="http://schemas.microsoft.com/office/powerpoint/2010/main" val="12710836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89032"/>
            <a:ext cx="6223246" cy="1092607"/>
          </a:xfrm>
          <a:prstGeom prst="rect">
            <a:avLst/>
          </a:prstGeom>
          <a:noFill/>
        </p:spPr>
        <p:txBody>
          <a:bodyPr wrap="square">
            <a:spAutoFit/>
          </a:bodyPr>
          <a:lstStyle/>
          <a:p>
            <a:pPr>
              <a:lnSpc>
                <a:spcPts val="2600"/>
              </a:lnSpc>
            </a:pP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客户现在要根据服务器提供的</a:t>
            </a:r>
            <a:r>
              <a:rPr lang="zh-CN" altLang="en-US" b="1" dirty="0">
                <a:solidFill>
                  <a:srgbClr val="0000FF"/>
                </a:solidFill>
                <a:latin typeface="微软雅黑" pitchFamily="34" charset="-122"/>
                <a:ea typeface="微软雅黑" pitchFamily="34" charset="-122"/>
              </a:rPr>
              <a:t>租用期 </a:t>
            </a:r>
            <a:r>
              <a:rPr lang="en-US" altLang="zh-CN" b="1" dirty="0">
                <a:solidFill>
                  <a:srgbClr val="0000FF"/>
                </a:solidFill>
                <a:latin typeface="微软雅黑" pitchFamily="34" charset="-122"/>
                <a:ea typeface="微软雅黑" pitchFamily="34" charset="-122"/>
              </a:rPr>
              <a:t>T </a:t>
            </a:r>
            <a:r>
              <a:rPr lang="zh-CN" altLang="en-US" b="1" dirty="0">
                <a:latin typeface="微软雅黑" pitchFamily="34" charset="-122"/>
                <a:ea typeface="微软雅黑" pitchFamily="34" charset="-122"/>
              </a:rPr>
              <a:t>设置</a:t>
            </a:r>
            <a:r>
              <a:rPr lang="zh-CN" altLang="en-US" b="1" dirty="0">
                <a:solidFill>
                  <a:srgbClr val="0000FF"/>
                </a:solidFill>
                <a:latin typeface="微软雅黑" pitchFamily="34" charset="-122"/>
                <a:ea typeface="微软雅黑" pitchFamily="34" charset="-122"/>
              </a:rPr>
              <a:t>两个</a:t>
            </a:r>
            <a:r>
              <a:rPr lang="zh-CN" altLang="en-US" b="1" dirty="0">
                <a:latin typeface="微软雅黑" pitchFamily="34" charset="-122"/>
                <a:ea typeface="微软雅黑" pitchFamily="34" charset="-122"/>
              </a:rPr>
              <a:t>计时器 </a:t>
            </a:r>
            <a:r>
              <a:rPr lang="en-US" altLang="zh-CN" b="1" dirty="0">
                <a:latin typeface="微软雅黑" pitchFamily="34" charset="-122"/>
                <a:ea typeface="微软雅黑" pitchFamily="34" charset="-122"/>
              </a:rPr>
              <a:t>T</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T</a:t>
            </a:r>
            <a:r>
              <a:rPr lang="en-US" altLang="zh-CN" b="1" baseline="-25000" dirty="0">
                <a:latin typeface="微软雅黑" pitchFamily="34" charset="-122"/>
                <a:ea typeface="微软雅黑" pitchFamily="34" charset="-122"/>
              </a:rPr>
              <a:t>2</a:t>
            </a:r>
            <a:r>
              <a:rPr lang="zh-CN" altLang="en-US" b="1" dirty="0">
                <a:latin typeface="微软雅黑" pitchFamily="34" charset="-122"/>
                <a:ea typeface="微软雅黑" pitchFamily="34" charset="-122"/>
              </a:rPr>
              <a:t>，它们的超时时间分别是 </a:t>
            </a:r>
            <a:r>
              <a:rPr lang="en-US" altLang="zh-CN" b="1" dirty="0">
                <a:latin typeface="微软雅黑" pitchFamily="34" charset="-122"/>
                <a:ea typeface="微软雅黑" pitchFamily="34" charset="-122"/>
              </a:rPr>
              <a:t>0.5T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0.875T</a:t>
            </a:r>
            <a:r>
              <a:rPr lang="zh-CN" altLang="en-US" b="1" dirty="0">
                <a:latin typeface="微软雅黑" pitchFamily="34" charset="-122"/>
                <a:ea typeface="微软雅黑" pitchFamily="34" charset="-122"/>
              </a:rPr>
              <a:t>。当超时时间到时，就要请求更新租用期。</a:t>
            </a:r>
          </a:p>
        </p:txBody>
      </p:sp>
    </p:spTree>
    <p:extLst>
      <p:ext uri="{BB962C8B-B14F-4D97-AF65-F5344CB8AC3E}">
        <p14:creationId xmlns:p14="http://schemas.microsoft.com/office/powerpoint/2010/main" val="26313531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DHCPNACK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84" y="3253058"/>
            <a:ext cx="6114944" cy="759182"/>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❻：租用期过了</a:t>
            </a:r>
            <a:r>
              <a:rPr lang="zh-CN" altLang="en-US" b="1" dirty="0">
                <a:solidFill>
                  <a:srgbClr val="0000FF"/>
                </a:solidFill>
                <a:latin typeface="微软雅黑" pitchFamily="34" charset="-122"/>
                <a:ea typeface="微软雅黑" pitchFamily="34" charset="-122"/>
              </a:rPr>
              <a:t>一半</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T</a:t>
            </a:r>
            <a:r>
              <a:rPr lang="en-US" altLang="zh-CN" b="1" baseline="-25000" dirty="0">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时间到），</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发送请求报文 </a:t>
            </a:r>
            <a:r>
              <a:rPr lang="en-US" altLang="zh-CN" b="1" dirty="0">
                <a:latin typeface="微软雅黑" pitchFamily="34" charset="-122"/>
                <a:ea typeface="微软雅黑" pitchFamily="34" charset="-122"/>
              </a:rPr>
              <a:t>DHCPREQUEST</a:t>
            </a:r>
            <a:r>
              <a:rPr lang="zh-CN" altLang="en-US" b="1" dirty="0">
                <a:latin typeface="微软雅黑" pitchFamily="34" charset="-122"/>
                <a:ea typeface="微软雅黑" pitchFamily="34" charset="-122"/>
              </a:rPr>
              <a:t>，要求</a:t>
            </a:r>
            <a:r>
              <a:rPr lang="zh-CN" altLang="en-US" b="1" dirty="0">
                <a:solidFill>
                  <a:srgbClr val="0000FF"/>
                </a:solidFill>
                <a:latin typeface="微软雅黑" pitchFamily="34" charset="-122"/>
                <a:ea typeface="微软雅黑" pitchFamily="34" charset="-122"/>
              </a:rPr>
              <a:t>更新</a:t>
            </a:r>
            <a:r>
              <a:rPr lang="zh-CN" altLang="en-US" b="1" dirty="0">
                <a:latin typeface="微软雅黑" pitchFamily="34" charset="-122"/>
                <a:ea typeface="微软雅黑" pitchFamily="34" charset="-122"/>
              </a:rPr>
              <a:t>租用期。 </a:t>
            </a:r>
          </a:p>
        </p:txBody>
      </p:sp>
    </p:spTree>
    <p:extLst>
      <p:ext uri="{BB962C8B-B14F-4D97-AF65-F5344CB8AC3E}">
        <p14:creationId xmlns:p14="http://schemas.microsoft.com/office/powerpoint/2010/main" val="31847310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DHCPACK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grpSp>
        <p:nvGrpSpPr>
          <p:cNvPr id="87" name="组合 86"/>
          <p:cNvGrpSpPr/>
          <p:nvPr/>
        </p:nvGrpSpPr>
        <p:grpSpPr>
          <a:xfrm>
            <a:off x="1252728" y="1098575"/>
            <a:ext cx="6757416" cy="1083034"/>
            <a:chOff x="1252728" y="3207284"/>
            <a:chExt cx="6757416" cy="824984"/>
          </a:xfrm>
          <a:solidFill>
            <a:schemeClr val="accent6">
              <a:lumMod val="60000"/>
              <a:lumOff val="40000"/>
            </a:schemeClr>
          </a:solidFill>
        </p:grpSpPr>
        <p:sp>
          <p:nvSpPr>
            <p:cNvPr id="85" name="Rectangle 88"/>
            <p:cNvSpPr>
              <a:spLocks noChangeArrowheads="1"/>
            </p:cNvSpPr>
            <p:nvPr/>
          </p:nvSpPr>
          <p:spPr bwMode="auto">
            <a:xfrm>
              <a:off x="1252728" y="3207284"/>
              <a:ext cx="6757416" cy="824984"/>
            </a:xfrm>
            <a:prstGeom prst="rect">
              <a:avLst/>
            </a:prstGeom>
            <a:grp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1855" y="3218788"/>
              <a:ext cx="5939161" cy="578295"/>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❼：</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服务器若</a:t>
              </a:r>
              <a:r>
                <a:rPr lang="zh-CN" altLang="en-US" b="1" dirty="0">
                  <a:solidFill>
                    <a:srgbClr val="0000FF"/>
                  </a:solidFill>
                  <a:latin typeface="微软雅黑" pitchFamily="34" charset="-122"/>
                  <a:ea typeface="微软雅黑" pitchFamily="34" charset="-122"/>
                </a:rPr>
                <a:t>同意，</a:t>
              </a:r>
              <a:r>
                <a:rPr lang="zh-CN" altLang="en-US" b="1" dirty="0">
                  <a:latin typeface="微软雅黑" pitchFamily="34" charset="-122"/>
                  <a:ea typeface="微软雅黑" pitchFamily="34" charset="-122"/>
                </a:rPr>
                <a:t>则发回确认报文 </a:t>
              </a:r>
              <a:r>
                <a:rPr lang="en-US" altLang="zh-CN" b="1" dirty="0">
                  <a:latin typeface="微软雅黑" pitchFamily="34" charset="-122"/>
                  <a:ea typeface="微软雅黑" pitchFamily="34" charset="-122"/>
                </a:rPr>
                <a:t>DHCPACK</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客户得到了新的租用期，重新设置计时器。</a:t>
              </a:r>
            </a:p>
          </p:txBody>
        </p:sp>
      </p:grpSp>
    </p:spTree>
    <p:extLst>
      <p:ext uri="{BB962C8B-B14F-4D97-AF65-F5344CB8AC3E}">
        <p14:creationId xmlns:p14="http://schemas.microsoft.com/office/powerpoint/2010/main" val="42459998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DHCPNACK</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grpSp>
        <p:nvGrpSpPr>
          <p:cNvPr id="87" name="组合 86"/>
          <p:cNvGrpSpPr/>
          <p:nvPr/>
        </p:nvGrpSpPr>
        <p:grpSpPr>
          <a:xfrm>
            <a:off x="1252728" y="1098575"/>
            <a:ext cx="6757416" cy="1094614"/>
            <a:chOff x="1252728" y="3207283"/>
            <a:chExt cx="6757416" cy="1094614"/>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95636" y="3209290"/>
              <a:ext cx="6098958" cy="1092607"/>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❽：</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服务器若</a:t>
              </a:r>
              <a:r>
                <a:rPr lang="zh-CN" altLang="en-US" b="1" dirty="0">
                  <a:solidFill>
                    <a:srgbClr val="0000FF"/>
                  </a:solidFill>
                  <a:latin typeface="微软雅黑" pitchFamily="34" charset="-122"/>
                  <a:ea typeface="微软雅黑" pitchFamily="34" charset="-122"/>
                </a:rPr>
                <a:t>不同意，</a:t>
              </a:r>
              <a:r>
                <a:rPr lang="zh-CN" altLang="en-US" b="1" dirty="0">
                  <a:latin typeface="微软雅黑" pitchFamily="34" charset="-122"/>
                  <a:ea typeface="微软雅黑" pitchFamily="34" charset="-122"/>
                </a:rPr>
                <a:t>则发回否认报 </a:t>
              </a:r>
              <a:r>
                <a:rPr lang="en-US" altLang="zh-CN" b="1" dirty="0">
                  <a:latin typeface="微软雅黑" pitchFamily="34" charset="-122"/>
                  <a:ea typeface="微软雅黑" pitchFamily="34" charset="-122"/>
                </a:rPr>
                <a:t>DHCPNACK</a:t>
              </a:r>
              <a:r>
                <a:rPr lang="zh-CN" altLang="en-US" b="1" dirty="0">
                  <a:latin typeface="微软雅黑" pitchFamily="34" charset="-122"/>
                  <a:ea typeface="微软雅黑" pitchFamily="34" charset="-122"/>
                </a:rPr>
                <a:t>。这时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客户必须立即停止使用原来的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地址，而必须重新申请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地址（回到步骤  ❷）。</a:t>
              </a:r>
            </a:p>
          </p:txBody>
        </p:sp>
      </p:grpSp>
    </p:spTree>
    <p:extLst>
      <p:ext uri="{BB962C8B-B14F-4D97-AF65-F5344CB8AC3E}">
        <p14:creationId xmlns:p14="http://schemas.microsoft.com/office/powerpoint/2010/main" val="350871097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grpSp>
        <p:nvGrpSpPr>
          <p:cNvPr id="87" name="组合 86"/>
          <p:cNvGrpSpPr/>
          <p:nvPr/>
        </p:nvGrpSpPr>
        <p:grpSpPr>
          <a:xfrm>
            <a:off x="1252728" y="1083111"/>
            <a:ext cx="6757416" cy="1097145"/>
            <a:chOff x="1252728" y="3191819"/>
            <a:chExt cx="6757416" cy="1097145"/>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02057" y="3191819"/>
              <a:ext cx="6258757" cy="1092607"/>
            </a:xfrm>
            <a:prstGeom prst="rect">
              <a:avLst/>
            </a:prstGeom>
            <a:noFill/>
          </p:spPr>
          <p:txBody>
            <a:bodyPr wrap="square">
              <a:spAutoFit/>
            </a:bodyPr>
            <a:lstStyle/>
            <a:p>
              <a:pPr>
                <a:lnSpc>
                  <a:spcPts val="2600"/>
                </a:lnSpc>
              </a:pPr>
              <a:r>
                <a:rPr lang="zh-CN" altLang="en-US" sz="1600" b="1" dirty="0">
                  <a:latin typeface="微软雅黑" pitchFamily="34" charset="-122"/>
                  <a:ea typeface="微软雅黑" pitchFamily="34" charset="-122"/>
                </a:rPr>
                <a:t>若 </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服务器不响应步骤  ❻ 的请求报文 </a:t>
              </a:r>
              <a:r>
                <a:rPr lang="en-US" altLang="zh-CN" sz="1600" b="1" dirty="0">
                  <a:latin typeface="微软雅黑" pitchFamily="34" charset="-122"/>
                  <a:ea typeface="微软雅黑" pitchFamily="34" charset="-122"/>
                </a:rPr>
                <a:t>DHCPREQUEST</a:t>
              </a:r>
              <a:r>
                <a:rPr lang="zh-CN" altLang="en-US" sz="1600" b="1" dirty="0">
                  <a:latin typeface="微软雅黑" pitchFamily="34" charset="-122"/>
                  <a:ea typeface="微软雅黑" pitchFamily="34" charset="-122"/>
                </a:rPr>
                <a:t>，则在租用期过了 </a:t>
              </a:r>
              <a:r>
                <a:rPr lang="en-US" altLang="zh-CN" sz="1600" b="1" dirty="0">
                  <a:solidFill>
                    <a:srgbClr val="0000FF"/>
                  </a:solidFill>
                  <a:latin typeface="微软雅黑" pitchFamily="34" charset="-122"/>
                  <a:ea typeface="微软雅黑" pitchFamily="34" charset="-122"/>
                </a:rPr>
                <a:t>87.5% </a:t>
              </a:r>
              <a:r>
                <a:rPr lang="zh-CN" altLang="en-US" sz="1600" b="1" dirty="0">
                  <a:latin typeface="微软雅黑" pitchFamily="34" charset="-122"/>
                  <a:ea typeface="微软雅黑" pitchFamily="34" charset="-122"/>
                </a:rPr>
                <a:t>时 </a:t>
              </a:r>
              <a:r>
                <a:rPr lang="en-US" altLang="zh-CN" sz="1600" b="1" dirty="0">
                  <a:latin typeface="微软雅黑" pitchFamily="34" charset="-122"/>
                  <a:ea typeface="微软雅黑" pitchFamily="34" charset="-122"/>
                </a:rPr>
                <a:t>(T</a:t>
              </a:r>
              <a:r>
                <a:rPr lang="en-US" altLang="zh-CN" sz="1600" b="1" baseline="-25000" dirty="0">
                  <a:latin typeface="微软雅黑" pitchFamily="34" charset="-122"/>
                  <a:ea typeface="微软雅黑" pitchFamily="34" charset="-122"/>
                </a:rPr>
                <a:t>2</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时间到</a:t>
              </a:r>
              <a:r>
                <a:rPr lang="en-US" altLang="zh-CN" sz="1600" b="1" dirty="0">
                  <a:latin typeface="微软雅黑" pitchFamily="34" charset="-122"/>
                  <a:ea typeface="微软雅黑" pitchFamily="34" charset="-122"/>
                </a:rPr>
                <a:t>)</a:t>
              </a:r>
              <a:r>
                <a:rPr lang="zh-CN" altLang="en-US" sz="1600" b="1" dirty="0">
                  <a:latin typeface="微软雅黑" pitchFamily="34" charset="-122"/>
                  <a:ea typeface="微软雅黑" pitchFamily="34" charset="-122"/>
                </a:rPr>
                <a:t>，</a:t>
              </a:r>
              <a:r>
                <a:rPr lang="en-US" altLang="zh-CN" sz="1600" b="1" dirty="0">
                  <a:latin typeface="微软雅黑" pitchFamily="34" charset="-122"/>
                  <a:ea typeface="微软雅黑" pitchFamily="34" charset="-122"/>
                </a:rPr>
                <a:t>DHCP </a:t>
              </a:r>
              <a:r>
                <a:rPr lang="zh-CN" altLang="en-US" sz="1600" b="1" dirty="0">
                  <a:latin typeface="微软雅黑" pitchFamily="34" charset="-122"/>
                  <a:ea typeface="微软雅黑" pitchFamily="34" charset="-122"/>
                </a:rPr>
                <a:t>客户必须重新发送请求报文 </a:t>
              </a:r>
              <a:r>
                <a:rPr lang="en-US" altLang="zh-CN" sz="1600" b="1" dirty="0">
                  <a:latin typeface="微软雅黑" pitchFamily="34" charset="-122"/>
                  <a:ea typeface="微软雅黑" pitchFamily="34" charset="-122"/>
                </a:rPr>
                <a:t>DHCPREQUEST</a:t>
              </a:r>
              <a:r>
                <a:rPr lang="zh-CN" altLang="en-US" sz="1600" b="1" dirty="0">
                  <a:latin typeface="微软雅黑" pitchFamily="34" charset="-122"/>
                  <a:ea typeface="微软雅黑" pitchFamily="34" charset="-122"/>
                </a:rPr>
                <a:t>（重复步骤  ❻），然后又继续后面的步骤。 </a:t>
              </a:r>
            </a:p>
          </p:txBody>
        </p:sp>
      </p:grpSp>
    </p:spTree>
    <p:extLst>
      <p:ext uri="{BB962C8B-B14F-4D97-AF65-F5344CB8AC3E}">
        <p14:creationId xmlns:p14="http://schemas.microsoft.com/office/powerpoint/2010/main" val="7135350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DHCP </a:t>
            </a:r>
            <a:r>
              <a:rPr lang="zh-CN" altLang="en-US" sz="2000" b="1" dirty="0">
                <a:solidFill>
                  <a:schemeClr val="bg1"/>
                </a:solidFill>
                <a:latin typeface="微软雅黑" pitchFamily="34" charset="-122"/>
                <a:ea typeface="微软雅黑" pitchFamily="34" charset="-122"/>
              </a:rPr>
              <a:t>协议的工作过程</a:t>
            </a: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itchFamily="34" charset="-122"/>
                  <a:ea typeface="微软雅黑" pitchFamily="34" charset="-122"/>
                </a:rPr>
                <a:t>客户</a:t>
              </a: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DHCPDISCOVER</a:t>
              </a: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DHCPOFFER</a:t>
              </a: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68</a:t>
              </a: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DHCPREQUEST</a:t>
              </a: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DHCPACK</a:t>
              </a: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DHCPREQUEST</a:t>
              </a: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DHCPACK</a:t>
              </a: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itchFamily="34" charset="-122"/>
                <a:ea typeface="微软雅黑"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itchFamily="34" charset="-122"/>
                  <a:ea typeface="微软雅黑" pitchFamily="34" charset="-122"/>
                </a:rPr>
                <a:t>客户</a:t>
              </a: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DHCPRELEASE</a:t>
              </a: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itchFamily="34" charset="-122"/>
                  <a:ea typeface="微软雅黑" pitchFamily="34" charset="-122"/>
                </a:rPr>
                <a:t>服务器</a:t>
              </a: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67</a:t>
              </a: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itchFamily="34" charset="-122"/>
                  <a:ea typeface="微软雅黑" pitchFamily="34" charset="-122"/>
                </a:rPr>
                <a:t>68</a:t>
              </a: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solidFill>
                    <a:srgbClr val="0000FF"/>
                  </a:solidFill>
                  <a:latin typeface="微软雅黑" pitchFamily="34" charset="-122"/>
                  <a:ea typeface="微软雅黑" pitchFamily="34" charset="-122"/>
                </a:rPr>
                <a:t>UDP</a:t>
              </a: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itchFamily="34" charset="-122"/>
                  <a:ea typeface="微软雅黑" pitchFamily="34" charset="-122"/>
                </a:rPr>
                <a:t>服务器</a:t>
              </a: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itchFamily="34" charset="-122"/>
                  <a:ea typeface="微软雅黑" pitchFamily="34" charset="-122"/>
                </a:rPr>
                <a:t>67</a:t>
              </a: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dirty="0">
                  <a:solidFill>
                    <a:srgbClr val="0000FF"/>
                  </a:solidFill>
                  <a:latin typeface="微软雅黑" pitchFamily="34" charset="-122"/>
                  <a:ea typeface="微软雅黑" pitchFamily="34" charset="-122"/>
                </a:rPr>
                <a:t>UDP</a:t>
              </a: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zh-CN" altLang="en-US" sz="1100" b="1" dirty="0">
                  <a:latin typeface="微软雅黑" pitchFamily="34" charset="-122"/>
                  <a:ea typeface="微软雅黑" pitchFamily="34" charset="-122"/>
                </a:rPr>
                <a:t>被动打开</a:t>
              </a: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a:latin typeface="微软雅黑" pitchFamily="34" charset="-122"/>
                  <a:ea typeface="微软雅黑" pitchFamily="34" charset="-122"/>
                  <a:sym typeface="Wingdings" pitchFamily="2" charset="2"/>
                </a:rPr>
                <a:t></a:t>
              </a: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1100" b="1">
                  <a:latin typeface="微软雅黑" pitchFamily="34" charset="-122"/>
                  <a:ea typeface="微软雅黑" pitchFamily="34" charset="-122"/>
                </a:rPr>
                <a:t>…</a:t>
              </a: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ts val="1700"/>
                </a:lnSpc>
              </a:pPr>
              <a:r>
                <a:rPr kumimoji="1" lang="en-US" altLang="zh-CN" sz="2000" b="1" dirty="0">
                  <a:latin typeface="微软雅黑" pitchFamily="34" charset="-122"/>
                  <a:ea typeface="微软雅黑" pitchFamily="34" charset="-122"/>
                  <a:sym typeface="Wingdings" pitchFamily="2" charset="2"/>
                </a:rPr>
                <a:t></a:t>
              </a:r>
            </a:p>
          </p:txBody>
        </p:sp>
      </p:grpSp>
      <p:grpSp>
        <p:nvGrpSpPr>
          <p:cNvPr id="87" name="组合 86"/>
          <p:cNvGrpSpPr/>
          <p:nvPr/>
        </p:nvGrpSpPr>
        <p:grpSpPr>
          <a:xfrm>
            <a:off x="1252728" y="1082845"/>
            <a:ext cx="6757416" cy="1097411"/>
            <a:chOff x="1252728" y="3191553"/>
            <a:chExt cx="6757416" cy="1097411"/>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9001" y="3191553"/>
              <a:ext cx="6036815" cy="1092607"/>
            </a:xfrm>
            <a:prstGeom prst="rect">
              <a:avLst/>
            </a:prstGeom>
            <a:noFill/>
          </p:spPr>
          <p:txBody>
            <a:bodyPr wrap="square">
              <a:spAutoFit/>
            </a:bodyPr>
            <a:lstStyle/>
            <a:p>
              <a:pPr>
                <a:lnSpc>
                  <a:spcPts val="2600"/>
                </a:lnSpc>
              </a:pPr>
              <a:r>
                <a:rPr lang="zh-CN" altLang="en-US" b="1" dirty="0">
                  <a:latin typeface="微软雅黑" pitchFamily="34" charset="-122"/>
                  <a:ea typeface="微软雅黑" pitchFamily="34" charset="-122"/>
                </a:rPr>
                <a:t>❾：</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客户</a:t>
              </a:r>
              <a:r>
                <a:rPr lang="zh-CN" altLang="en-US" b="1" dirty="0">
                  <a:solidFill>
                    <a:srgbClr val="0000FF"/>
                  </a:solidFill>
                  <a:latin typeface="微软雅黑" pitchFamily="34" charset="-122"/>
                  <a:ea typeface="微软雅黑" pitchFamily="34" charset="-122"/>
                </a:rPr>
                <a:t>可随时提前终止</a:t>
              </a:r>
              <a:r>
                <a:rPr lang="zh-CN" altLang="en-US" b="1" dirty="0">
                  <a:latin typeface="微软雅黑" pitchFamily="34" charset="-122"/>
                  <a:ea typeface="微软雅黑" pitchFamily="34" charset="-122"/>
                </a:rPr>
                <a:t>服务器所提供的租用期，这时只需向 </a:t>
              </a:r>
              <a:r>
                <a:rPr lang="en-US" altLang="zh-CN" b="1" dirty="0">
                  <a:latin typeface="微软雅黑" pitchFamily="34" charset="-122"/>
                  <a:ea typeface="微软雅黑" pitchFamily="34" charset="-122"/>
                </a:rPr>
                <a:t>DHCP </a:t>
              </a:r>
              <a:r>
                <a:rPr lang="zh-CN" altLang="en-US" b="1" dirty="0">
                  <a:latin typeface="微软雅黑" pitchFamily="34" charset="-122"/>
                  <a:ea typeface="微软雅黑" pitchFamily="34" charset="-122"/>
                </a:rPr>
                <a:t>服务器发送释放报文 </a:t>
              </a:r>
              <a:r>
                <a:rPr lang="en-US" altLang="zh-CN" b="1" dirty="0">
                  <a:latin typeface="微软雅黑" pitchFamily="34" charset="-122"/>
                  <a:ea typeface="微软雅黑" pitchFamily="34" charset="-122"/>
                </a:rPr>
                <a:t>DHCPRELEASE </a:t>
              </a:r>
              <a:r>
                <a:rPr lang="zh-CN" altLang="en-US" b="1" dirty="0">
                  <a:latin typeface="微软雅黑" pitchFamily="34" charset="-122"/>
                  <a:ea typeface="微软雅黑" pitchFamily="34" charset="-122"/>
                </a:rPr>
                <a:t>即可。</a:t>
              </a:r>
            </a:p>
          </p:txBody>
        </p:sp>
      </p:grpSp>
    </p:spTree>
    <p:extLst>
      <p:ext uri="{BB962C8B-B14F-4D97-AF65-F5344CB8AC3E}">
        <p14:creationId xmlns:p14="http://schemas.microsoft.com/office/powerpoint/2010/main" val="42826535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0"/>
          <p:cNvSpPr>
            <a:spLocks noChangeArrowheads="1"/>
          </p:cNvSpPr>
          <p:nvPr/>
        </p:nvSpPr>
        <p:spPr bwMode="auto">
          <a:xfrm>
            <a:off x="2629135" y="25091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9"/>
          <p:cNvSpPr>
            <a:spLocks noChangeArrowheads="1"/>
          </p:cNvSpPr>
          <p:nvPr/>
        </p:nvSpPr>
        <p:spPr bwMode="auto">
          <a:xfrm>
            <a:off x="2629135" y="20534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Rectangle 9"/>
          <p:cNvSpPr>
            <a:spLocks noChangeArrowheads="1"/>
          </p:cNvSpPr>
          <p:nvPr/>
        </p:nvSpPr>
        <p:spPr bwMode="auto">
          <a:xfrm>
            <a:off x="2629135" y="113118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7" name="Rectangle 10"/>
          <p:cNvSpPr>
            <a:spLocks noChangeArrowheads="1"/>
          </p:cNvSpPr>
          <p:nvPr/>
        </p:nvSpPr>
        <p:spPr bwMode="auto">
          <a:xfrm>
            <a:off x="2629135" y="159493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8" name="Line 16"/>
          <p:cNvSpPr>
            <a:spLocks noChangeShapeType="1"/>
          </p:cNvSpPr>
          <p:nvPr/>
        </p:nvSpPr>
        <p:spPr bwMode="auto">
          <a:xfrm>
            <a:off x="3637198" y="1059744"/>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 name="Rectangle 27"/>
          <p:cNvSpPr>
            <a:spLocks noChangeArrowheads="1"/>
          </p:cNvSpPr>
          <p:nvPr/>
        </p:nvSpPr>
        <p:spPr bwMode="auto">
          <a:xfrm>
            <a:off x="639730" y="113118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0" name="Rectangle 29"/>
          <p:cNvSpPr>
            <a:spLocks noChangeArrowheads="1"/>
          </p:cNvSpPr>
          <p:nvPr/>
        </p:nvSpPr>
        <p:spPr bwMode="auto">
          <a:xfrm>
            <a:off x="648619" y="122611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6.7</a:t>
            </a:r>
          </a:p>
          <a:p>
            <a:pPr eaLnBrk="0" hangingPunct="0"/>
            <a:r>
              <a:rPr lang="zh-CN" altLang="en-US" sz="2000" b="1" dirty="0">
                <a:solidFill>
                  <a:schemeClr val="bg1"/>
                </a:solidFill>
                <a:latin typeface="微软雅黑" pitchFamily="34" charset="-122"/>
                <a:ea typeface="微软雅黑" pitchFamily="34" charset="-122"/>
              </a:rPr>
              <a:t>简单网络管理协议 </a:t>
            </a:r>
            <a:r>
              <a:rPr lang="en-US" altLang="zh-CN" sz="2000" b="1" dirty="0">
                <a:solidFill>
                  <a:schemeClr val="bg1"/>
                </a:solidFill>
                <a:latin typeface="微软雅黑" pitchFamily="34" charset="-122"/>
                <a:ea typeface="微软雅黑" pitchFamily="34" charset="-122"/>
              </a:rPr>
              <a:t>SNMP</a:t>
            </a:r>
            <a:endParaRPr lang="zh-CN" altLang="fr-FR" sz="2000" b="1" dirty="0">
              <a:solidFill>
                <a:schemeClr val="bg1"/>
              </a:solidFill>
              <a:latin typeface="微软雅黑" pitchFamily="34" charset="-122"/>
              <a:ea typeface="微软雅黑" pitchFamily="34" charset="-122"/>
            </a:endParaRPr>
          </a:p>
        </p:txBody>
      </p:sp>
      <p:sp>
        <p:nvSpPr>
          <p:cNvPr id="11" name="Rectangle 8"/>
          <p:cNvSpPr>
            <a:spLocks noChangeArrowheads="1"/>
          </p:cNvSpPr>
          <p:nvPr/>
        </p:nvSpPr>
        <p:spPr bwMode="auto">
          <a:xfrm>
            <a:off x="2700573" y="1006881"/>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itchFamily="34" charset="-122"/>
                <a:ea typeface="微软雅黑" pitchFamily="34" charset="-122"/>
              </a:rPr>
              <a:t>6.7.1                                 </a:t>
            </a:r>
            <a:r>
              <a:rPr lang="zh-CN" altLang="en-US" sz="2000" b="1" dirty="0">
                <a:solidFill>
                  <a:schemeClr val="bg1"/>
                </a:solidFill>
                <a:latin typeface="微软雅黑" pitchFamily="34" charset="-122"/>
                <a:ea typeface="微软雅黑" pitchFamily="34" charset="-122"/>
              </a:rPr>
              <a:t>网络管理的基本概念</a:t>
            </a:r>
          </a:p>
          <a:p>
            <a:pPr eaLnBrk="0" hangingPunct="0">
              <a:lnSpc>
                <a:spcPct val="150000"/>
              </a:lnSpc>
            </a:pPr>
            <a:r>
              <a:rPr lang="en-US" altLang="zh-CN" sz="2000" b="1" dirty="0">
                <a:solidFill>
                  <a:schemeClr val="bg1"/>
                </a:solidFill>
                <a:latin typeface="微软雅黑" pitchFamily="34" charset="-122"/>
                <a:ea typeface="微软雅黑" pitchFamily="34" charset="-122"/>
              </a:rPr>
              <a:t>6.7.2                                    </a:t>
            </a:r>
            <a:r>
              <a:rPr lang="zh-CN" altLang="en-US" sz="2000" b="1" dirty="0">
                <a:solidFill>
                  <a:schemeClr val="bg1"/>
                </a:solidFill>
                <a:latin typeface="微软雅黑" pitchFamily="34" charset="-122"/>
                <a:ea typeface="微软雅黑" pitchFamily="34" charset="-122"/>
              </a:rPr>
              <a:t>管理信息结构 </a:t>
            </a:r>
            <a:r>
              <a:rPr lang="en-US" altLang="zh-CN" sz="2000" b="1" dirty="0">
                <a:solidFill>
                  <a:schemeClr val="bg1"/>
                </a:solidFill>
                <a:latin typeface="微软雅黑" pitchFamily="34" charset="-122"/>
                <a:ea typeface="微软雅黑" pitchFamily="34" charset="-122"/>
              </a:rPr>
              <a:t>SMI</a:t>
            </a:r>
          </a:p>
          <a:p>
            <a:pPr eaLnBrk="0" hangingPunct="0">
              <a:lnSpc>
                <a:spcPct val="150000"/>
              </a:lnSpc>
            </a:pPr>
            <a:r>
              <a:rPr lang="en-US" altLang="zh-CN" sz="2000" b="1" dirty="0">
                <a:solidFill>
                  <a:schemeClr val="bg1"/>
                </a:solidFill>
                <a:latin typeface="微软雅黑" pitchFamily="34" charset="-122"/>
                <a:ea typeface="微软雅黑" pitchFamily="34" charset="-122"/>
              </a:rPr>
              <a:t>6.7.3                                       </a:t>
            </a:r>
            <a:r>
              <a:rPr lang="zh-CN" altLang="en-US" sz="2000" b="1" dirty="0">
                <a:solidFill>
                  <a:schemeClr val="bg1"/>
                </a:solidFill>
                <a:latin typeface="微软雅黑" pitchFamily="34" charset="-122"/>
                <a:ea typeface="微软雅黑" pitchFamily="34" charset="-122"/>
              </a:rPr>
              <a:t>管理信息库 </a:t>
            </a:r>
            <a:r>
              <a:rPr lang="en-US" altLang="zh-CN" sz="2000" b="1" dirty="0">
                <a:solidFill>
                  <a:schemeClr val="bg1"/>
                </a:solidFill>
                <a:latin typeface="微软雅黑" pitchFamily="34" charset="-122"/>
                <a:ea typeface="微软雅黑" pitchFamily="34" charset="-122"/>
              </a:rPr>
              <a:t>MIB</a:t>
            </a:r>
          </a:p>
          <a:p>
            <a:pPr eaLnBrk="0" hangingPunct="0">
              <a:lnSpc>
                <a:spcPct val="150000"/>
              </a:lnSpc>
            </a:pPr>
            <a:r>
              <a:rPr lang="en-US" altLang="zh-CN" sz="2000" b="1" dirty="0">
                <a:solidFill>
                  <a:schemeClr val="bg1"/>
                </a:solidFill>
                <a:latin typeface="微软雅黑" pitchFamily="34" charset="-122"/>
                <a:ea typeface="微软雅黑" pitchFamily="34" charset="-122"/>
              </a:rPr>
              <a:t>6.7.4                  SNMP </a:t>
            </a:r>
            <a:r>
              <a:rPr lang="zh-CN" altLang="en-US" sz="2000" b="1" dirty="0">
                <a:solidFill>
                  <a:schemeClr val="bg1"/>
                </a:solidFill>
                <a:latin typeface="微软雅黑" pitchFamily="34" charset="-122"/>
                <a:ea typeface="微软雅黑" pitchFamily="34" charset="-122"/>
              </a:rPr>
              <a:t>的协议数据单元和报文</a:t>
            </a:r>
          </a:p>
        </p:txBody>
      </p:sp>
    </p:spTree>
    <p:extLst>
      <p:ext uri="{BB962C8B-B14F-4D97-AF65-F5344CB8AC3E}">
        <p14:creationId xmlns:p14="http://schemas.microsoft.com/office/powerpoint/2010/main" val="15643503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5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8" y="568687"/>
            <a:ext cx="38811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6.7.1  </a:t>
            </a:r>
            <a:r>
              <a:rPr lang="zh-CN" altLang="en-US" sz="2400" b="1" dirty="0">
                <a:solidFill>
                  <a:schemeClr val="bg1"/>
                </a:solidFill>
                <a:latin typeface="微软雅黑" pitchFamily="34" charset="-122"/>
                <a:ea typeface="微软雅黑" pitchFamily="34" charset="-122"/>
              </a:rPr>
              <a:t>网络管理的基本概念</a:t>
            </a:r>
          </a:p>
        </p:txBody>
      </p:sp>
      <p:sp>
        <p:nvSpPr>
          <p:cNvPr id="4" name="Rectangle 68"/>
          <p:cNvSpPr>
            <a:spLocks noChangeArrowheads="1"/>
          </p:cNvSpPr>
          <p:nvPr/>
        </p:nvSpPr>
        <p:spPr bwMode="auto">
          <a:xfrm>
            <a:off x="556963" y="1005176"/>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网络管理</a:t>
            </a:r>
            <a:r>
              <a:rPr lang="zh-CN" altLang="en-US" sz="2000" b="1" dirty="0">
                <a:latin typeface="微软雅黑" pitchFamily="34" charset="-122"/>
                <a:ea typeface="微软雅黑" pitchFamily="34" charset="-122"/>
              </a:rPr>
              <a:t>包括对硬件、软件和人力的使用、综合与协调，以便对网络资源进行监视、测试、配置、分析、评价和控制，这样就能以合理的价格满足网络的一些需求，如实时运行性能，服务质量等。</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网络管理常简称为</a:t>
            </a:r>
            <a:r>
              <a:rPr lang="zh-CN" altLang="en-US" sz="2000" b="1" dirty="0">
                <a:solidFill>
                  <a:srgbClr val="C00000"/>
                </a:solidFill>
                <a:latin typeface="微软雅黑" pitchFamily="34" charset="-122"/>
                <a:ea typeface="微软雅黑" pitchFamily="34" charset="-122"/>
              </a:rPr>
              <a:t>网管。</a:t>
            </a:r>
          </a:p>
        </p:txBody>
      </p:sp>
    </p:spTree>
    <p:extLst>
      <p:ext uri="{BB962C8B-B14F-4D97-AF65-F5344CB8AC3E}">
        <p14:creationId xmlns:p14="http://schemas.microsoft.com/office/powerpoint/2010/main" val="17940728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1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6382"/>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网络管理的五大功能</a:t>
            </a:r>
          </a:p>
        </p:txBody>
      </p:sp>
      <p:sp>
        <p:nvSpPr>
          <p:cNvPr id="4" name="Rectangle 68"/>
          <p:cNvSpPr>
            <a:spLocks noChangeArrowheads="1"/>
          </p:cNvSpPr>
          <p:nvPr/>
        </p:nvSpPr>
        <p:spPr bwMode="auto">
          <a:xfrm>
            <a:off x="556962" y="971805"/>
            <a:ext cx="816978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故障管理</a:t>
            </a:r>
            <a:r>
              <a:rPr lang="zh-CN" altLang="en-US" sz="2000" b="1" dirty="0">
                <a:latin typeface="微软雅黑" pitchFamily="34" charset="-122"/>
                <a:ea typeface="微软雅黑" pitchFamily="34" charset="-122"/>
              </a:rPr>
              <a:t>：故障检测、隔离和纠正。</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配置管理</a:t>
            </a:r>
            <a:r>
              <a:rPr lang="zh-CN" altLang="en-US" sz="2000" b="1" dirty="0">
                <a:latin typeface="微软雅黑" pitchFamily="34" charset="-122"/>
                <a:ea typeface="微软雅黑" pitchFamily="34" charset="-122"/>
              </a:rPr>
              <a:t>：初始化网络、并配置网络。</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计费管理</a:t>
            </a:r>
            <a:r>
              <a:rPr lang="zh-CN" altLang="en-US" sz="2000" b="1" dirty="0">
                <a:latin typeface="微软雅黑" pitchFamily="34" charset="-122"/>
                <a:ea typeface="微软雅黑" pitchFamily="34" charset="-122"/>
              </a:rPr>
              <a:t>：记录网络资源的使用。</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性能管理</a:t>
            </a:r>
            <a:r>
              <a:rPr lang="zh-CN" altLang="en-US" sz="2000" b="1" dirty="0">
                <a:latin typeface="微软雅黑" pitchFamily="34" charset="-122"/>
                <a:ea typeface="微软雅黑" pitchFamily="34" charset="-122"/>
              </a:rPr>
              <a:t>：估价系统资源的运行状况及通信效率等。</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网络安全管理</a:t>
            </a:r>
            <a:r>
              <a:rPr lang="zh-CN" altLang="en-US" sz="2000" b="1" dirty="0">
                <a:latin typeface="微软雅黑" pitchFamily="34" charset="-122"/>
                <a:ea typeface="微软雅黑" pitchFamily="34" charset="-122"/>
              </a:rPr>
              <a:t>：对授权机制、访问控制、加密和加密关键字的管理。</a:t>
            </a:r>
          </a:p>
        </p:txBody>
      </p:sp>
    </p:spTree>
    <p:extLst>
      <p:ext uri="{BB962C8B-B14F-4D97-AF65-F5344CB8AC3E}">
        <p14:creationId xmlns:p14="http://schemas.microsoft.com/office/powerpoint/2010/main" val="12510545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网络管理的一般模型</a:t>
            </a:r>
          </a:p>
        </p:txBody>
      </p:sp>
      <p:grpSp>
        <p:nvGrpSpPr>
          <p:cNvPr id="5" name="Group 5"/>
          <p:cNvGrpSpPr>
            <a:grpSpLocks/>
          </p:cNvGrpSpPr>
          <p:nvPr/>
        </p:nvGrpSpPr>
        <p:grpSpPr bwMode="auto">
          <a:xfrm>
            <a:off x="5114868" y="2672006"/>
            <a:ext cx="1313973" cy="1543910"/>
            <a:chOff x="3072" y="2208"/>
            <a:chExt cx="1056" cy="1056"/>
          </a:xfrm>
        </p:grpSpPr>
        <p:grpSp>
          <p:nvGrpSpPr>
            <p:cNvPr id="6" name="Group 6"/>
            <p:cNvGrpSpPr>
              <a:grpSpLocks/>
            </p:cNvGrpSpPr>
            <p:nvPr/>
          </p:nvGrpSpPr>
          <p:grpSpPr bwMode="auto">
            <a:xfrm flipH="1">
              <a:off x="3072" y="2543"/>
              <a:ext cx="888" cy="721"/>
              <a:chOff x="2565" y="2202"/>
              <a:chExt cx="355" cy="297"/>
            </a:xfrm>
          </p:grpSpPr>
          <p:sp>
            <p:nvSpPr>
              <p:cNvPr id="14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nvGrpSpPr>
              <p:cNvPr id="147" name="Group 8"/>
              <p:cNvGrpSpPr>
                <a:grpSpLocks/>
              </p:cNvGrpSpPr>
              <p:nvPr/>
            </p:nvGrpSpPr>
            <p:grpSpPr bwMode="auto">
              <a:xfrm>
                <a:off x="2565" y="2202"/>
                <a:ext cx="351" cy="78"/>
                <a:chOff x="2565" y="2202"/>
                <a:chExt cx="351" cy="78"/>
              </a:xfrm>
            </p:grpSpPr>
            <p:sp>
              <p:nvSpPr>
                <p:cNvPr id="14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5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4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grpSp>
          <p:nvGrpSpPr>
            <p:cNvPr id="7" name="Group 13"/>
            <p:cNvGrpSpPr>
              <a:grpSpLocks/>
            </p:cNvGrpSpPr>
            <p:nvPr/>
          </p:nvGrpSpPr>
          <p:grpSpPr bwMode="auto">
            <a:xfrm flipH="1">
              <a:off x="3225" y="2269"/>
              <a:ext cx="610" cy="417"/>
              <a:chOff x="2615" y="2089"/>
              <a:chExt cx="244" cy="172"/>
            </a:xfrm>
          </p:grpSpPr>
          <p:grpSp>
            <p:nvGrpSpPr>
              <p:cNvPr id="95" name="Group 14"/>
              <p:cNvGrpSpPr>
                <a:grpSpLocks/>
              </p:cNvGrpSpPr>
              <p:nvPr/>
            </p:nvGrpSpPr>
            <p:grpSpPr bwMode="auto">
              <a:xfrm>
                <a:off x="2671" y="2089"/>
                <a:ext cx="188" cy="156"/>
                <a:chOff x="2671" y="2089"/>
                <a:chExt cx="188" cy="156"/>
              </a:xfrm>
            </p:grpSpPr>
            <p:grpSp>
              <p:nvGrpSpPr>
                <p:cNvPr id="128" name="Group 15"/>
                <p:cNvGrpSpPr>
                  <a:grpSpLocks/>
                </p:cNvGrpSpPr>
                <p:nvPr/>
              </p:nvGrpSpPr>
              <p:grpSpPr bwMode="auto">
                <a:xfrm>
                  <a:off x="2671" y="2089"/>
                  <a:ext cx="188" cy="156"/>
                  <a:chOff x="2671" y="2089"/>
                  <a:chExt cx="188" cy="156"/>
                </a:xfrm>
              </p:grpSpPr>
              <p:grpSp>
                <p:nvGrpSpPr>
                  <p:cNvPr id="137" name="Group 16"/>
                  <p:cNvGrpSpPr>
                    <a:grpSpLocks/>
                  </p:cNvGrpSpPr>
                  <p:nvPr/>
                </p:nvGrpSpPr>
                <p:grpSpPr bwMode="auto">
                  <a:xfrm>
                    <a:off x="2671" y="2177"/>
                    <a:ext cx="188" cy="68"/>
                    <a:chOff x="2671" y="2177"/>
                    <a:chExt cx="188" cy="68"/>
                  </a:xfrm>
                </p:grpSpPr>
                <p:sp>
                  <p:nvSpPr>
                    <p:cNvPr id="14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sp>
                <p:nvSpPr>
                  <p:cNvPr id="13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nvGrpSpPr>
                  <p:cNvPr id="139" name="Group 21"/>
                  <p:cNvGrpSpPr>
                    <a:grpSpLocks/>
                  </p:cNvGrpSpPr>
                  <p:nvPr/>
                </p:nvGrpSpPr>
                <p:grpSpPr bwMode="auto">
                  <a:xfrm>
                    <a:off x="2692" y="2089"/>
                    <a:ext cx="153" cy="97"/>
                    <a:chOff x="2692" y="2089"/>
                    <a:chExt cx="153" cy="97"/>
                  </a:xfrm>
                </p:grpSpPr>
                <p:sp>
                  <p:nvSpPr>
                    <p:cNvPr id="14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4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grpSp>
              <p:nvGrpSpPr>
                <p:cNvPr id="129" name="Group 25"/>
                <p:cNvGrpSpPr>
                  <a:grpSpLocks/>
                </p:cNvGrpSpPr>
                <p:nvPr/>
              </p:nvGrpSpPr>
              <p:grpSpPr bwMode="auto">
                <a:xfrm>
                  <a:off x="2678" y="2184"/>
                  <a:ext cx="62" cy="44"/>
                  <a:chOff x="2678" y="2184"/>
                  <a:chExt cx="62" cy="44"/>
                </a:xfrm>
              </p:grpSpPr>
              <p:sp>
                <p:nvSpPr>
                  <p:cNvPr id="13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nvGrpSpPr>
              <p:cNvPr id="96" name="Group 33"/>
              <p:cNvGrpSpPr>
                <a:grpSpLocks/>
              </p:cNvGrpSpPr>
              <p:nvPr/>
            </p:nvGrpSpPr>
            <p:grpSpPr bwMode="auto">
              <a:xfrm>
                <a:off x="2615" y="2185"/>
                <a:ext cx="147" cy="76"/>
                <a:chOff x="2615" y="2185"/>
                <a:chExt cx="147" cy="76"/>
              </a:xfrm>
            </p:grpSpPr>
            <p:grpSp>
              <p:nvGrpSpPr>
                <p:cNvPr id="97" name="Group 34"/>
                <p:cNvGrpSpPr>
                  <a:grpSpLocks/>
                </p:cNvGrpSpPr>
                <p:nvPr/>
              </p:nvGrpSpPr>
              <p:grpSpPr bwMode="auto">
                <a:xfrm>
                  <a:off x="2729" y="2226"/>
                  <a:ext cx="24" cy="18"/>
                  <a:chOff x="2729" y="2226"/>
                  <a:chExt cx="24" cy="18"/>
                </a:xfrm>
              </p:grpSpPr>
              <p:sp>
                <p:nvSpPr>
                  <p:cNvPr id="12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2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grpSp>
            <p:grpSp>
              <p:nvGrpSpPr>
                <p:cNvPr id="98" name="Group 37"/>
                <p:cNvGrpSpPr>
                  <a:grpSpLocks/>
                </p:cNvGrpSpPr>
                <p:nvPr/>
              </p:nvGrpSpPr>
              <p:grpSpPr bwMode="auto">
                <a:xfrm>
                  <a:off x="2615" y="2185"/>
                  <a:ext cx="147" cy="76"/>
                  <a:chOff x="2615" y="2185"/>
                  <a:chExt cx="147" cy="76"/>
                </a:xfrm>
              </p:grpSpPr>
              <p:sp>
                <p:nvSpPr>
                  <p:cNvPr id="9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0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sz="1400" b="1">
                      <a:latin typeface="微软雅黑" pitchFamily="34" charset="-122"/>
                      <a:ea typeface="微软雅黑" pitchFamily="34" charset="-122"/>
                    </a:endParaRPr>
                  </a:p>
                </p:txBody>
              </p:sp>
            </p:grpSp>
          </p:grpSp>
        </p:grpSp>
        <p:grpSp>
          <p:nvGrpSpPr>
            <p:cNvPr id="8" name="Group 65"/>
            <p:cNvGrpSpPr>
              <a:grpSpLocks/>
            </p:cNvGrpSpPr>
            <p:nvPr/>
          </p:nvGrpSpPr>
          <p:grpSpPr bwMode="auto">
            <a:xfrm flipH="1">
              <a:off x="3808" y="2431"/>
              <a:ext cx="87" cy="168"/>
              <a:chOff x="2591" y="2156"/>
              <a:chExt cx="35" cy="69"/>
            </a:xfrm>
          </p:grpSpPr>
          <p:sp>
            <p:nvSpPr>
              <p:cNvPr id="9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9" name="Group 68"/>
            <p:cNvGrpSpPr>
              <a:grpSpLocks/>
            </p:cNvGrpSpPr>
            <p:nvPr/>
          </p:nvGrpSpPr>
          <p:grpSpPr bwMode="auto">
            <a:xfrm flipH="1">
              <a:off x="3798" y="2334"/>
              <a:ext cx="112" cy="119"/>
              <a:chOff x="2585" y="2116"/>
              <a:chExt cx="45" cy="49"/>
            </a:xfrm>
          </p:grpSpPr>
          <p:sp>
            <p:nvSpPr>
              <p:cNvPr id="7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8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8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9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9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0" name="Group 84"/>
            <p:cNvGrpSpPr>
              <a:grpSpLocks/>
            </p:cNvGrpSpPr>
            <p:nvPr/>
          </p:nvGrpSpPr>
          <p:grpSpPr bwMode="auto">
            <a:xfrm flipH="1">
              <a:off x="3535" y="3121"/>
              <a:ext cx="220" cy="111"/>
              <a:chOff x="2647" y="2440"/>
              <a:chExt cx="88" cy="46"/>
            </a:xfrm>
          </p:grpSpPr>
          <p:sp>
            <p:nvSpPr>
              <p:cNvPr id="7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1" name="Group 90"/>
            <p:cNvGrpSpPr>
              <a:grpSpLocks/>
            </p:cNvGrpSpPr>
            <p:nvPr/>
          </p:nvGrpSpPr>
          <p:grpSpPr bwMode="auto">
            <a:xfrm flipH="1">
              <a:off x="3658" y="2929"/>
              <a:ext cx="92" cy="221"/>
              <a:chOff x="2649" y="2361"/>
              <a:chExt cx="37" cy="91"/>
            </a:xfrm>
          </p:grpSpPr>
          <p:sp>
            <p:nvSpPr>
              <p:cNvPr id="7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7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12" name="Group 93"/>
            <p:cNvGrpSpPr>
              <a:grpSpLocks/>
            </p:cNvGrpSpPr>
            <p:nvPr/>
          </p:nvGrpSpPr>
          <p:grpSpPr bwMode="auto">
            <a:xfrm flipH="1">
              <a:off x="3477" y="3152"/>
              <a:ext cx="226" cy="112"/>
              <a:chOff x="2668" y="2453"/>
              <a:chExt cx="90" cy="46"/>
            </a:xfrm>
          </p:grpSpPr>
          <p:sp>
            <p:nvSpPr>
              <p:cNvPr id="6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7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sz="1400" b="1">
                <a:latin typeface="微软雅黑" pitchFamily="34" charset="-122"/>
                <a:ea typeface="微软雅黑" pitchFamily="34" charset="-122"/>
              </a:endParaRPr>
            </a:p>
          </p:txBody>
        </p:sp>
        <p:grpSp>
          <p:nvGrpSpPr>
            <p:cNvPr id="14" name="Group 100"/>
            <p:cNvGrpSpPr>
              <a:grpSpLocks/>
            </p:cNvGrpSpPr>
            <p:nvPr/>
          </p:nvGrpSpPr>
          <p:grpSpPr bwMode="auto">
            <a:xfrm flipH="1">
              <a:off x="3710" y="2866"/>
              <a:ext cx="353" cy="121"/>
              <a:chOff x="2524" y="2335"/>
              <a:chExt cx="141" cy="50"/>
            </a:xfrm>
          </p:grpSpPr>
          <p:sp>
            <p:nvSpPr>
              <p:cNvPr id="6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6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1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nvGrpSpPr>
            <p:cNvPr id="32" name="Group 120"/>
            <p:cNvGrpSpPr>
              <a:grpSpLocks/>
            </p:cNvGrpSpPr>
            <p:nvPr/>
          </p:nvGrpSpPr>
          <p:grpSpPr bwMode="auto">
            <a:xfrm flipH="1">
              <a:off x="3595" y="2572"/>
              <a:ext cx="158" cy="95"/>
              <a:chOff x="2648" y="2214"/>
              <a:chExt cx="63" cy="39"/>
            </a:xfrm>
          </p:grpSpPr>
          <p:sp>
            <p:nvSpPr>
              <p:cNvPr id="5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5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6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3" name="Group 131"/>
            <p:cNvGrpSpPr>
              <a:grpSpLocks/>
            </p:cNvGrpSpPr>
            <p:nvPr/>
          </p:nvGrpSpPr>
          <p:grpSpPr bwMode="auto">
            <a:xfrm flipH="1">
              <a:off x="3730" y="2363"/>
              <a:ext cx="365" cy="408"/>
              <a:chOff x="2511" y="2128"/>
              <a:chExt cx="146" cy="168"/>
            </a:xfrm>
          </p:grpSpPr>
          <p:sp>
            <p:nvSpPr>
              <p:cNvPr id="4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4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4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5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grpSp>
          <p:nvGrpSpPr>
            <p:cNvPr id="34" name="Group 146"/>
            <p:cNvGrpSpPr>
              <a:grpSpLocks/>
            </p:cNvGrpSpPr>
            <p:nvPr/>
          </p:nvGrpSpPr>
          <p:grpSpPr bwMode="auto">
            <a:xfrm flipH="1">
              <a:off x="3933" y="2647"/>
              <a:ext cx="195" cy="260"/>
              <a:chOff x="2498" y="2245"/>
              <a:chExt cx="78" cy="107"/>
            </a:xfrm>
          </p:grpSpPr>
          <p:sp>
            <p:nvSpPr>
              <p:cNvPr id="3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3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3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3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itchFamily="34" charset="-122"/>
                <a:ea typeface="微软雅黑"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管理站</a:t>
            </a: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dirty="0">
                <a:latin typeface="微软雅黑" pitchFamily="34" charset="-122"/>
                <a:ea typeface="微软雅黑" pitchFamily="34" charset="-122"/>
              </a:rPr>
              <a:t>网络</a:t>
            </a:r>
          </a:p>
          <a:p>
            <a:pPr algn="ctr" eaLnBrk="1" hangingPunct="1"/>
            <a:r>
              <a:rPr kumimoji="1" lang="zh-CN" altLang="en-US" sz="1400" b="1" dirty="0">
                <a:latin typeface="微软雅黑" pitchFamily="34" charset="-122"/>
                <a:ea typeface="微软雅黑" pitchFamily="34" charset="-122"/>
              </a:rPr>
              <a:t>管理员      </a:t>
            </a: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管理程序（运行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客户程序）</a:t>
            </a: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rgbClr val="0000FF"/>
                </a:solidFill>
                <a:latin typeface="微软雅黑" pitchFamily="34" charset="-122"/>
                <a:ea typeface="微软雅黑" pitchFamily="34" charset="-122"/>
              </a:rPr>
              <a:t>—— </a:t>
            </a:r>
            <a:r>
              <a:rPr kumimoji="1" lang="zh-CN" altLang="en-US" sz="1200" b="1" dirty="0">
                <a:solidFill>
                  <a:srgbClr val="0000FF"/>
                </a:solidFill>
                <a:latin typeface="微软雅黑" pitchFamily="34" charset="-122"/>
                <a:ea typeface="微软雅黑" pitchFamily="34" charset="-122"/>
              </a:rPr>
              <a:t>代理程序（运行 </a:t>
            </a:r>
            <a:r>
              <a:rPr kumimoji="1" lang="en-US" altLang="zh-CN" sz="1200" b="1" dirty="0">
                <a:solidFill>
                  <a:srgbClr val="0000FF"/>
                </a:solidFill>
                <a:latin typeface="微软雅黑" pitchFamily="34" charset="-122"/>
                <a:ea typeface="微软雅黑" pitchFamily="34" charset="-122"/>
              </a:rPr>
              <a:t>SNMP </a:t>
            </a:r>
            <a:r>
              <a:rPr kumimoji="1" lang="zh-CN" altLang="en-US" sz="1200" b="1" dirty="0">
                <a:solidFill>
                  <a:srgbClr val="0000FF"/>
                </a:solidFill>
                <a:latin typeface="微软雅黑" pitchFamily="34" charset="-122"/>
                <a:ea typeface="微软雅黑" pitchFamily="34" charset="-122"/>
              </a:rPr>
              <a:t>服务器程序）</a:t>
            </a:r>
          </a:p>
        </p:txBody>
      </p:sp>
      <p:pic>
        <p:nvPicPr>
          <p:cNvPr id="171" name="Picture 17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a:latin typeface="微软雅黑" pitchFamily="34" charset="-122"/>
                <a:ea typeface="微软雅黑" pitchFamily="34" charset="-122"/>
              </a:rPr>
              <a:t>A</a:t>
            </a:r>
          </a:p>
        </p:txBody>
      </p:sp>
      <p:pic>
        <p:nvPicPr>
          <p:cNvPr id="174"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itchFamily="34" charset="-122"/>
                <a:ea typeface="微软雅黑" pitchFamily="34" charset="-122"/>
              </a:rPr>
              <a:t>M</a:t>
            </a: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 </a:t>
            </a:r>
            <a:r>
              <a:rPr kumimoji="1" lang="zh-CN" altLang="en-US" sz="1400" b="1">
                <a:latin typeface="微软雅黑" pitchFamily="34" charset="-122"/>
                <a:ea typeface="微软雅黑" pitchFamily="34" charset="-122"/>
              </a:rPr>
              <a:t>被管设备</a:t>
            </a: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itchFamily="34" charset="-122"/>
                <a:ea typeface="微软雅黑" pitchFamily="34" charset="-122"/>
              </a:rPr>
              <a:t>M</a:t>
            </a: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200" b="1" dirty="0">
                <a:latin typeface="微软雅黑" pitchFamily="34" charset="-122"/>
                <a:ea typeface="微软雅黑" pitchFamily="34" charset="-122"/>
              </a:rPr>
              <a:t>A</a:t>
            </a:r>
          </a:p>
        </p:txBody>
      </p:sp>
      <p:sp>
        <p:nvSpPr>
          <p:cNvPr id="185" name="Freeform 186"/>
          <p:cNvSpPr>
            <a:spLocks/>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6" name="Freeform 187"/>
          <p:cNvSpPr>
            <a:spLocks/>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7" name="Freeform 188"/>
          <p:cNvSpPr>
            <a:spLocks/>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8" name="Freeform 189"/>
          <p:cNvSpPr>
            <a:spLocks/>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a:latin typeface="微软雅黑" pitchFamily="34" charset="-122"/>
                <a:ea typeface="微软雅黑" pitchFamily="34" charset="-122"/>
              </a:rPr>
              <a:t>A</a:t>
            </a: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dirty="0">
                <a:latin typeface="微软雅黑" pitchFamily="34" charset="-122"/>
                <a:ea typeface="微软雅黑" pitchFamily="34" charset="-122"/>
              </a:rPr>
              <a:t> </a:t>
            </a:r>
            <a:r>
              <a:rPr kumimoji="1" lang="zh-CN" altLang="en-US" sz="1400" b="1" dirty="0">
                <a:latin typeface="微软雅黑" pitchFamily="34" charset="-122"/>
                <a:ea typeface="微软雅黑" pitchFamily="34" charset="-122"/>
              </a:rPr>
              <a:t>被管设备</a:t>
            </a: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网管协议</a:t>
            </a:r>
          </a:p>
        </p:txBody>
      </p:sp>
      <p:grpSp>
        <p:nvGrpSpPr>
          <p:cNvPr id="193" name="Group 10"/>
          <p:cNvGrpSpPr>
            <a:grpSpLocks/>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19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headEnd/>
              <a:tailEnd/>
            </a:ln>
          </p:spPr>
          <p:txBody>
            <a:bodyPr/>
            <a:lstStyle/>
            <a:p>
              <a:pPr eaLnBrk="1" hangingPunct="1"/>
              <a:endParaRPr lang="zh-CN" altLang="en-US" sz="1400" b="1">
                <a:latin typeface="微软雅黑" pitchFamily="34" charset="-122"/>
                <a:ea typeface="微软雅黑" pitchFamily="34" charset="-122"/>
              </a:endParaRPr>
            </a:p>
          </p:txBody>
        </p:sp>
        <p:sp>
          <p:nvSpPr>
            <p:cNvPr id="20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headEnd/>
              <a:tailEnd/>
            </a:ln>
          </p:spPr>
          <p:txBody>
            <a:bodyPr/>
            <a:lstStyle/>
            <a:p>
              <a:endParaRPr lang="zh-CN" altLang="en-US" sz="1400" b="1">
                <a:latin typeface="微软雅黑" pitchFamily="34" charset="-122"/>
                <a:ea typeface="微软雅黑" pitchFamily="34" charset="-122"/>
              </a:endParaRPr>
            </a:p>
          </p:txBody>
        </p:sp>
        <p:sp>
          <p:nvSpPr>
            <p:cNvPr id="20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sp>
          <p:nvSpPr>
            <p:cNvPr id="20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400" b="1">
                <a:latin typeface="微软雅黑" pitchFamily="34" charset="-122"/>
                <a:ea typeface="微软雅黑"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pic>
        <p:nvPicPr>
          <p:cNvPr id="205" name="图片 20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headEnd/>
            <a:tailEnd/>
          </a:ln>
          <a:effectLst/>
        </p:spPr>
        <p:txBody>
          <a:bodyPr wrap="none" anchor="ctr"/>
          <a:lstStyle/>
          <a:p>
            <a:pPr algn="ctr" eaLnBrk="1" hangingPunct="1"/>
            <a:r>
              <a:rPr kumimoji="1" lang="en-US" altLang="zh-CN" sz="1400" b="1" dirty="0">
                <a:latin typeface="微软雅黑" pitchFamily="34" charset="-122"/>
                <a:ea typeface="微软雅黑" pitchFamily="34" charset="-122"/>
              </a:rPr>
              <a:t>A</a:t>
            </a:r>
          </a:p>
        </p:txBody>
      </p:sp>
      <p:sp>
        <p:nvSpPr>
          <p:cNvPr id="184" name="Freeform 185"/>
          <p:cNvSpPr>
            <a:spLocks/>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Tree>
    <p:extLst>
      <p:ext uri="{BB962C8B-B14F-4D97-AF65-F5344CB8AC3E}">
        <p14:creationId xmlns:p14="http://schemas.microsoft.com/office/powerpoint/2010/main" val="158628014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05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11667" y="578844"/>
            <a:ext cx="33393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网络管理模型中的主要构件</a:t>
            </a:r>
          </a:p>
        </p:txBody>
      </p:sp>
      <p:sp>
        <p:nvSpPr>
          <p:cNvPr id="4" name="Rectangle 68"/>
          <p:cNvSpPr>
            <a:spLocks noChangeArrowheads="1"/>
          </p:cNvSpPr>
          <p:nvPr/>
        </p:nvSpPr>
        <p:spPr bwMode="auto">
          <a:xfrm>
            <a:off x="556962" y="973145"/>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管理站</a:t>
            </a:r>
            <a:r>
              <a:rPr lang="zh-CN" altLang="en-US" sz="2000" b="1" dirty="0">
                <a:latin typeface="微软雅黑" pitchFamily="34" charset="-122"/>
                <a:ea typeface="微软雅黑" pitchFamily="34" charset="-122"/>
              </a:rPr>
              <a:t>也常称为</a:t>
            </a:r>
            <a:r>
              <a:rPr lang="zh-CN" altLang="en-US" sz="2000" b="1" dirty="0">
                <a:solidFill>
                  <a:srgbClr val="0000FF"/>
                </a:solidFill>
                <a:latin typeface="微软雅黑" pitchFamily="34" charset="-122"/>
                <a:ea typeface="微软雅黑" pitchFamily="34" charset="-122"/>
              </a:rPr>
              <a:t>网络运行中心 </a:t>
            </a:r>
            <a:r>
              <a:rPr lang="en-US" altLang="zh-CN" sz="2000" b="1" dirty="0">
                <a:latin typeface="微软雅黑" pitchFamily="34" charset="-122"/>
                <a:ea typeface="微软雅黑" pitchFamily="34" charset="-122"/>
              </a:rPr>
              <a:t>NOC (Network Operations Center)</a:t>
            </a:r>
            <a:r>
              <a:rPr lang="zh-CN" altLang="en-US" sz="2000" b="1" dirty="0">
                <a:latin typeface="微软雅黑" pitchFamily="34" charset="-122"/>
                <a:ea typeface="微软雅黑" pitchFamily="34" charset="-122"/>
              </a:rPr>
              <a:t>，是网络管理系统的核心。</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管理程序</a:t>
            </a:r>
            <a:r>
              <a:rPr lang="zh-CN" altLang="en-US" sz="2000" b="1" dirty="0">
                <a:latin typeface="微软雅黑" pitchFamily="34" charset="-122"/>
                <a:ea typeface="微软雅黑" pitchFamily="34" charset="-122"/>
              </a:rPr>
              <a:t>是管理站中的关键构件，在运行时就成为</a:t>
            </a:r>
            <a:r>
              <a:rPr lang="zh-CN" altLang="en-US" sz="2000" b="1" dirty="0">
                <a:solidFill>
                  <a:srgbClr val="0000FF"/>
                </a:solidFill>
                <a:latin typeface="微软雅黑" pitchFamily="34" charset="-122"/>
                <a:ea typeface="微软雅黑" pitchFamily="34" charset="-122"/>
              </a:rPr>
              <a:t>管理进程</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管理站（硬件）或管理程序（软件）都可称为</a:t>
            </a:r>
            <a:r>
              <a:rPr lang="zh-CN" altLang="en-US" sz="2000" b="1" dirty="0">
                <a:solidFill>
                  <a:srgbClr val="C00000"/>
                </a:solidFill>
                <a:latin typeface="微软雅黑" pitchFamily="34" charset="-122"/>
                <a:ea typeface="微软雅黑" pitchFamily="34" charset="-122"/>
              </a:rPr>
              <a:t>管理者</a:t>
            </a:r>
            <a:r>
              <a:rPr lang="en-US" altLang="zh-CN" sz="2000" b="1" dirty="0">
                <a:latin typeface="微软雅黑" pitchFamily="34" charset="-122"/>
                <a:ea typeface="微软雅黑" pitchFamily="34" charset="-122"/>
              </a:rPr>
              <a:t>(manager)</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Manager</a:t>
            </a:r>
            <a:r>
              <a:rPr lang="en-US" altLang="zh-CN" sz="2000" b="1" dirty="0">
                <a:solidFill>
                  <a:srgbClr val="0000FF"/>
                </a:solidFill>
                <a:latin typeface="微软雅黑" pitchFamily="34" charset="-122"/>
                <a:ea typeface="微软雅黑" pitchFamily="34" charset="-122"/>
              </a:rPr>
              <a:t> </a:t>
            </a:r>
            <a:r>
              <a:rPr lang="zh-CN" altLang="en-US" sz="2000" b="1" dirty="0">
                <a:latin typeface="微软雅黑" pitchFamily="34" charset="-122"/>
                <a:ea typeface="微软雅黑" pitchFamily="34" charset="-122"/>
              </a:rPr>
              <a:t>不是指人，而是指机器或软件。</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网络管理员</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(administrator) </a:t>
            </a:r>
            <a:r>
              <a:rPr lang="zh-CN" altLang="en-US" sz="2000" b="1" dirty="0">
                <a:latin typeface="微软雅黑" pitchFamily="34" charset="-122"/>
                <a:ea typeface="微软雅黑" pitchFamily="34" charset="-122"/>
              </a:rPr>
              <a:t>指的是负责网络管理的人员。</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大型网络往往实行</a:t>
            </a:r>
            <a:r>
              <a:rPr lang="zh-CN" altLang="en-US" sz="2000" b="1" dirty="0">
                <a:solidFill>
                  <a:srgbClr val="C00000"/>
                </a:solidFill>
                <a:latin typeface="微软雅黑" pitchFamily="34" charset="-122"/>
                <a:ea typeface="微软雅黑" pitchFamily="34" charset="-122"/>
              </a:rPr>
              <a:t>多级管理，</a:t>
            </a:r>
            <a:r>
              <a:rPr lang="zh-CN" altLang="en-US" sz="2000" b="1" dirty="0">
                <a:latin typeface="微软雅黑" pitchFamily="34" charset="-122"/>
                <a:ea typeface="微软雅黑" pitchFamily="34" charset="-122"/>
              </a:rPr>
              <a:t>因而有多个管理者，而一个管理者一般只管理本地网络的设备。</a:t>
            </a:r>
          </a:p>
        </p:txBody>
      </p:sp>
    </p:spTree>
    <p:extLst>
      <p:ext uri="{BB962C8B-B14F-4D97-AF65-F5344CB8AC3E}">
        <p14:creationId xmlns:p14="http://schemas.microsoft.com/office/powerpoint/2010/main" val="2845728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9001" y="576681"/>
            <a:ext cx="36247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被管对象 </a:t>
            </a:r>
            <a:r>
              <a:rPr lang="en-US" altLang="zh-CN" sz="2000" b="1" dirty="0">
                <a:solidFill>
                  <a:schemeClr val="bg1"/>
                </a:solidFill>
                <a:latin typeface="微软雅黑" pitchFamily="34" charset="-122"/>
                <a:ea typeface="微软雅黑" pitchFamily="34" charset="-122"/>
              </a:rPr>
              <a:t>(Managed Object)</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80924"/>
            <a:ext cx="787682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网络的每一个被管设备（包括设备中的软件）中可能有多个</a:t>
            </a:r>
            <a:r>
              <a:rPr lang="zh-CN" altLang="en-US" sz="2000" b="1" dirty="0">
                <a:solidFill>
                  <a:srgbClr val="C00000"/>
                </a:solidFill>
                <a:latin typeface="微软雅黑" pitchFamily="34" charset="-122"/>
                <a:ea typeface="微软雅黑" pitchFamily="34" charset="-122"/>
              </a:rPr>
              <a:t>被管对象。</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被管设备有时可称为</a:t>
            </a:r>
            <a:r>
              <a:rPr lang="zh-CN" altLang="en-US" sz="2000" b="1" dirty="0">
                <a:solidFill>
                  <a:srgbClr val="0000FF"/>
                </a:solidFill>
                <a:latin typeface="微软雅黑" pitchFamily="34" charset="-122"/>
                <a:ea typeface="微软雅黑" pitchFamily="34" charset="-122"/>
              </a:rPr>
              <a:t>网络元素</a:t>
            </a:r>
            <a:r>
              <a:rPr lang="zh-CN" altLang="en-US" sz="2000" b="1" dirty="0">
                <a:latin typeface="微软雅黑" pitchFamily="34" charset="-122"/>
                <a:ea typeface="微软雅黑" pitchFamily="34" charset="-122"/>
              </a:rPr>
              <a:t>或</a:t>
            </a:r>
            <a:r>
              <a:rPr lang="zh-CN" altLang="en-US" sz="2000" b="1" dirty="0">
                <a:solidFill>
                  <a:srgbClr val="0000FF"/>
                </a:solidFill>
                <a:latin typeface="微软雅黑" pitchFamily="34" charset="-122"/>
                <a:ea typeface="微软雅黑" pitchFamily="34" charset="-122"/>
              </a:rPr>
              <a:t>网元</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在被管设备中也会有一些不能被管的对象。 </a:t>
            </a:r>
          </a:p>
        </p:txBody>
      </p:sp>
    </p:spTree>
    <p:extLst>
      <p:ext uri="{BB962C8B-B14F-4D97-AF65-F5344CB8AC3E}">
        <p14:creationId xmlns:p14="http://schemas.microsoft.com/office/powerpoint/2010/main" val="36045589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25192" y="577480"/>
            <a:ext cx="17123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代理 </a:t>
            </a:r>
            <a:r>
              <a:rPr lang="en-US" altLang="zh-CN" sz="2000" b="1" dirty="0">
                <a:solidFill>
                  <a:schemeClr val="bg1"/>
                </a:solidFill>
                <a:latin typeface="微软雅黑" pitchFamily="34" charset="-122"/>
                <a:ea typeface="微软雅黑" pitchFamily="34" charset="-122"/>
              </a:rPr>
              <a:t>(agent)</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80925"/>
            <a:ext cx="816090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在每一个被管设备中都要运行一个程序，以便和管理站中的管理程序进行通信。</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这些运行着的程序叫做</a:t>
            </a:r>
            <a:r>
              <a:rPr lang="zh-CN" altLang="en-US" sz="2000" b="1" dirty="0">
                <a:solidFill>
                  <a:srgbClr val="C00000"/>
                </a:solidFill>
                <a:latin typeface="微软雅黑" pitchFamily="34" charset="-122"/>
                <a:ea typeface="微软雅黑" pitchFamily="34" charset="-122"/>
              </a:rPr>
              <a:t>网络管理代理程序，</a:t>
            </a:r>
            <a:r>
              <a:rPr lang="zh-CN" altLang="en-US" sz="2000" b="1" dirty="0">
                <a:latin typeface="微软雅黑" pitchFamily="34" charset="-122"/>
                <a:ea typeface="微软雅黑" pitchFamily="34" charset="-122"/>
              </a:rPr>
              <a:t>或简称为</a:t>
            </a:r>
            <a:r>
              <a:rPr lang="zh-CN" altLang="en-US" sz="2000" b="1" dirty="0">
                <a:solidFill>
                  <a:srgbClr val="C00000"/>
                </a:solidFill>
                <a:latin typeface="微软雅黑" pitchFamily="34" charset="-122"/>
                <a:ea typeface="微软雅黑" pitchFamily="34" charset="-122"/>
              </a:rPr>
              <a:t>代理。</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代理程序在管理程序的命令和控制下在被管设备上采取本地的行动。</a:t>
            </a:r>
          </a:p>
        </p:txBody>
      </p:sp>
    </p:spTree>
    <p:extLst>
      <p:ext uri="{BB962C8B-B14F-4D97-AF65-F5344CB8AC3E}">
        <p14:creationId xmlns:p14="http://schemas.microsoft.com/office/powerpoint/2010/main" val="5084910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68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网络管理协议</a:t>
            </a:r>
          </a:p>
        </p:txBody>
      </p:sp>
      <p:sp>
        <p:nvSpPr>
          <p:cNvPr id="4" name="Rectangle 68"/>
          <p:cNvSpPr>
            <a:spLocks noChangeArrowheads="1"/>
          </p:cNvSpPr>
          <p:nvPr/>
        </p:nvSpPr>
        <p:spPr bwMode="auto">
          <a:xfrm>
            <a:off x="556962" y="971108"/>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网络管理协议</a:t>
            </a:r>
            <a:r>
              <a:rPr lang="zh-CN" altLang="en-US" sz="2000" b="1" dirty="0">
                <a:latin typeface="微软雅黑" pitchFamily="34" charset="-122"/>
                <a:ea typeface="微软雅黑" pitchFamily="34" charset="-122"/>
              </a:rPr>
              <a:t>简称为</a:t>
            </a:r>
            <a:r>
              <a:rPr lang="zh-CN" altLang="en-US" sz="2000" b="1" dirty="0">
                <a:solidFill>
                  <a:srgbClr val="0000FF"/>
                </a:solidFill>
                <a:latin typeface="微软雅黑" pitchFamily="34" charset="-122"/>
                <a:ea typeface="微软雅黑" pitchFamily="34" charset="-122"/>
              </a:rPr>
              <a:t>网管协议。</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网络管理协议是管理程序和代理程序之间进行通信的规则。</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网络管理员利用网络管理协议，通过管理站对网络中的被管设备进行管理。 </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注意：网管协议本身不管理网络。</a:t>
            </a:r>
          </a:p>
        </p:txBody>
      </p:sp>
    </p:spTree>
    <p:extLst>
      <p:ext uri="{BB962C8B-B14F-4D97-AF65-F5344CB8AC3E}">
        <p14:creationId xmlns:p14="http://schemas.microsoft.com/office/powerpoint/2010/main" val="31194960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72583" y="577451"/>
            <a:ext cx="3217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简单网络管理协议 </a:t>
            </a:r>
            <a:r>
              <a:rPr lang="en-US" altLang="zh-CN" sz="2000" b="1" dirty="0">
                <a:solidFill>
                  <a:schemeClr val="bg1"/>
                </a:solidFill>
                <a:latin typeface="微软雅黑" pitchFamily="34" charset="-122"/>
                <a:ea typeface="微软雅黑" pitchFamily="34" charset="-122"/>
              </a:rPr>
              <a:t>SNMP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1752"/>
            <a:ext cx="790345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简单网络管理协议 </a:t>
            </a:r>
            <a:r>
              <a:rPr lang="en-US" altLang="zh-CN" sz="2000" b="1" dirty="0">
                <a:solidFill>
                  <a:srgbClr val="C00000"/>
                </a:solidFill>
                <a:latin typeface="微软雅黑" pitchFamily="34" charset="-122"/>
                <a:ea typeface="微软雅黑" pitchFamily="34" charset="-122"/>
              </a:rPr>
              <a:t>SNMP </a:t>
            </a:r>
            <a:r>
              <a:rPr lang="en-US" altLang="zh-CN" sz="2000" b="1" dirty="0">
                <a:latin typeface="微软雅黑" pitchFamily="34" charset="-122"/>
                <a:ea typeface="微软雅黑" pitchFamily="34" charset="-122"/>
              </a:rPr>
              <a:t>(Simple Network Management Protocol) </a:t>
            </a:r>
            <a:r>
              <a:rPr lang="zh-CN" altLang="en-US" sz="2000" b="1" dirty="0">
                <a:latin typeface="微软雅黑" pitchFamily="34" charset="-122"/>
                <a:ea typeface="微软雅黑" pitchFamily="34" charset="-122"/>
              </a:rPr>
              <a:t>中的管理程序和代理程序按</a:t>
            </a:r>
            <a:r>
              <a:rPr lang="zh-CN" altLang="en-US" sz="2000" b="1" dirty="0">
                <a:solidFill>
                  <a:srgbClr val="C00000"/>
                </a:solidFill>
                <a:latin typeface="微软雅黑" pitchFamily="34" charset="-122"/>
                <a:ea typeface="微软雅黑" pitchFamily="34" charset="-122"/>
              </a:rPr>
              <a:t>客户服务器</a:t>
            </a:r>
            <a:r>
              <a:rPr lang="zh-CN" altLang="en-US" sz="2000" b="1" dirty="0">
                <a:latin typeface="微软雅黑" pitchFamily="34" charset="-122"/>
                <a:ea typeface="微软雅黑" pitchFamily="34" charset="-122"/>
              </a:rPr>
              <a:t>方式工作。</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管理程序运行 </a:t>
            </a:r>
            <a:r>
              <a:rPr lang="en-US" altLang="zh-CN" sz="2000" b="1" dirty="0">
                <a:solidFill>
                  <a:srgbClr val="C00000"/>
                </a:solidFill>
                <a:latin typeface="微软雅黑" pitchFamily="34" charset="-122"/>
                <a:ea typeface="微软雅黑" pitchFamily="34" charset="-122"/>
              </a:rPr>
              <a:t>SNMP </a:t>
            </a:r>
            <a:r>
              <a:rPr lang="zh-CN" altLang="en-US" sz="2000" b="1" dirty="0">
                <a:solidFill>
                  <a:srgbClr val="C00000"/>
                </a:solidFill>
                <a:latin typeface="微软雅黑" pitchFamily="34" charset="-122"/>
                <a:ea typeface="微软雅黑" pitchFamily="34" charset="-122"/>
              </a:rPr>
              <a:t>客户程序，</a:t>
            </a:r>
            <a:r>
              <a:rPr lang="zh-CN" altLang="en-US" sz="2000" b="1" dirty="0">
                <a:latin typeface="微软雅黑" pitchFamily="34" charset="-122"/>
                <a:ea typeface="微软雅黑" pitchFamily="34" charset="-122"/>
              </a:rPr>
              <a:t>向某个代理程序发出请求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或命令</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代理程序运行 </a:t>
            </a:r>
            <a:r>
              <a:rPr lang="en-US" altLang="zh-CN" sz="2000" b="1" dirty="0">
                <a:solidFill>
                  <a:srgbClr val="C00000"/>
                </a:solidFill>
                <a:latin typeface="微软雅黑" pitchFamily="34" charset="-122"/>
                <a:ea typeface="微软雅黑" pitchFamily="34" charset="-122"/>
              </a:rPr>
              <a:t>SNMP </a:t>
            </a:r>
            <a:r>
              <a:rPr lang="zh-CN" altLang="en-US" sz="2000" b="1" dirty="0">
                <a:solidFill>
                  <a:srgbClr val="C00000"/>
                </a:solidFill>
                <a:latin typeface="微软雅黑" pitchFamily="34" charset="-122"/>
                <a:ea typeface="微软雅黑" pitchFamily="34" charset="-122"/>
              </a:rPr>
              <a:t>服务器程序，</a:t>
            </a:r>
            <a:r>
              <a:rPr lang="zh-CN" altLang="en-US" sz="2000" b="1" dirty="0">
                <a:latin typeface="微软雅黑" pitchFamily="34" charset="-122"/>
                <a:ea typeface="微软雅黑" pitchFamily="34" charset="-122"/>
              </a:rPr>
              <a:t>返回响应 </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或执行某个动作</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在网管系统中，往往是一个（或少数几个）客户程序与很多的服务器程序进行交互。</a:t>
            </a:r>
          </a:p>
        </p:txBody>
      </p:sp>
    </p:spTree>
    <p:extLst>
      <p:ext uri="{BB962C8B-B14F-4D97-AF65-F5344CB8AC3E}">
        <p14:creationId xmlns:p14="http://schemas.microsoft.com/office/powerpoint/2010/main" val="153076045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6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040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网络管理的基本原理</a:t>
            </a:r>
          </a:p>
        </p:txBody>
      </p:sp>
      <p:grpSp>
        <p:nvGrpSpPr>
          <p:cNvPr id="5" name="组合 4"/>
          <p:cNvGrpSpPr/>
          <p:nvPr/>
        </p:nvGrpSpPr>
        <p:grpSpPr>
          <a:xfrm>
            <a:off x="976547" y="1395148"/>
            <a:ext cx="7270808" cy="1206008"/>
            <a:chOff x="1154100" y="3809877"/>
            <a:chExt cx="7270808" cy="795008"/>
          </a:xfrm>
        </p:grpSpPr>
        <p:sp>
          <p:nvSpPr>
            <p:cNvPr id="6" name="对角圆角矩形 5"/>
            <p:cNvSpPr/>
            <p:nvPr/>
          </p:nvSpPr>
          <p:spPr>
            <a:xfrm>
              <a:off x="1154100" y="3809877"/>
              <a:ext cx="7270808" cy="795008"/>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482570" y="3948251"/>
              <a:ext cx="6587231" cy="534272"/>
            </a:xfrm>
            <a:prstGeom prst="rect">
              <a:avLst/>
            </a:prstGeom>
          </p:spPr>
          <p:txBody>
            <a:bodyPr wrap="square">
              <a:spAutoFit/>
            </a:bodyPr>
            <a:lstStyle/>
            <a:p>
              <a:pPr eaLnBrk="0" hangingPunct="0">
                <a:lnSpc>
                  <a:spcPts val="2800"/>
                </a:lnSpc>
                <a:buClr>
                  <a:srgbClr val="0070C0"/>
                </a:buClr>
              </a:pPr>
              <a:r>
                <a:rPr lang="zh-CN" altLang="en-US" sz="2000" b="1" dirty="0">
                  <a:solidFill>
                    <a:schemeClr val="bg1"/>
                  </a:solidFill>
                  <a:latin typeface="微软雅黑" pitchFamily="34" charset="-122"/>
                  <a:ea typeface="微软雅黑" pitchFamily="34" charset="-122"/>
                </a:rPr>
                <a:t>若要管理某个对象，就必然会给该对象添加一些软件或硬件，但这种“添加”必须对原有对象的影响尽量小些。</a:t>
              </a:r>
            </a:p>
          </p:txBody>
        </p:sp>
      </p:grpSp>
    </p:spTree>
    <p:extLst>
      <p:ext uri="{BB962C8B-B14F-4D97-AF65-F5344CB8AC3E}">
        <p14:creationId xmlns:p14="http://schemas.microsoft.com/office/powerpoint/2010/main" val="27139649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7" y="577713"/>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的基本功能</a:t>
            </a:r>
          </a:p>
        </p:txBody>
      </p:sp>
      <p:sp>
        <p:nvSpPr>
          <p:cNvPr id="4" name="Rectangle 68"/>
          <p:cNvSpPr>
            <a:spLocks noChangeArrowheads="1"/>
          </p:cNvSpPr>
          <p:nvPr/>
        </p:nvSpPr>
        <p:spPr bwMode="auto">
          <a:xfrm>
            <a:off x="556963" y="97201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最重要的指导思想：</a:t>
            </a:r>
            <a:r>
              <a:rPr lang="zh-CN" altLang="en-US" sz="2000" b="1" dirty="0">
                <a:solidFill>
                  <a:srgbClr val="C00000"/>
                </a:solidFill>
                <a:latin typeface="微软雅黑" pitchFamily="34" charset="-122"/>
                <a:ea typeface="微软雅黑" pitchFamily="34" charset="-122"/>
              </a:rPr>
              <a:t>尽可能简单。</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基本功能：</a:t>
            </a:r>
            <a:endParaRPr lang="en-US" altLang="zh-CN" sz="2000" b="1" dirty="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pitchFamily="34" charset="-122"/>
                <a:ea typeface="微软雅黑" pitchFamily="34" charset="-122"/>
              </a:rPr>
              <a:t>监视网络性能</a:t>
            </a:r>
            <a:endParaRPr lang="en-US" altLang="zh-CN" sz="2000" b="1" dirty="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pitchFamily="34" charset="-122"/>
                <a:ea typeface="微软雅黑" pitchFamily="34" charset="-122"/>
              </a:rPr>
              <a:t>检测分析网络差错</a:t>
            </a:r>
            <a:endParaRPr lang="en-US" altLang="zh-CN" sz="2000" b="1" dirty="0">
              <a:latin typeface="微软雅黑" pitchFamily="34" charset="-122"/>
              <a:ea typeface="微软雅黑" pitchFamily="34" charset="-122"/>
            </a:endParaRPr>
          </a:p>
          <a:p>
            <a:pPr marL="714375" lvl="1" indent="-357188" eaLnBrk="0" hangingPunct="0">
              <a:lnSpc>
                <a:spcPts val="3300"/>
              </a:lnSpc>
              <a:buClr>
                <a:srgbClr val="0066FF"/>
              </a:buClr>
              <a:buFont typeface="+mj-lt"/>
              <a:buAutoNum type="arabicPeriod"/>
            </a:pPr>
            <a:r>
              <a:rPr lang="zh-CN" altLang="en-US" sz="2000" b="1" dirty="0">
                <a:latin typeface="微软雅黑" pitchFamily="34" charset="-122"/>
                <a:ea typeface="微软雅黑" pitchFamily="34" charset="-122"/>
              </a:rPr>
              <a:t>配置网络设备等。</a:t>
            </a:r>
          </a:p>
        </p:txBody>
      </p:sp>
    </p:spTree>
    <p:extLst>
      <p:ext uri="{BB962C8B-B14F-4D97-AF65-F5344CB8AC3E}">
        <p14:creationId xmlns:p14="http://schemas.microsoft.com/office/powerpoint/2010/main" val="18695633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2575710"/>
            <a:ext cx="8048776" cy="1657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09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4035" y="577781"/>
            <a:ext cx="33746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的管理站和委托代理</a:t>
            </a:r>
          </a:p>
        </p:txBody>
      </p:sp>
      <p:sp>
        <p:nvSpPr>
          <p:cNvPr id="4" name="Rectangle 68"/>
          <p:cNvSpPr>
            <a:spLocks noChangeArrowheads="1"/>
          </p:cNvSpPr>
          <p:nvPr/>
        </p:nvSpPr>
        <p:spPr bwMode="auto">
          <a:xfrm>
            <a:off x="556963" y="972082"/>
            <a:ext cx="8258564"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整个系统必须有一个</a:t>
            </a:r>
            <a:r>
              <a:rPr lang="zh-CN" altLang="en-US" sz="2000" b="1" dirty="0">
                <a:solidFill>
                  <a:srgbClr val="C00000"/>
                </a:solidFill>
                <a:latin typeface="微软雅黑" pitchFamily="34" charset="-122"/>
                <a:ea typeface="微软雅黑" pitchFamily="34" charset="-122"/>
              </a:rPr>
              <a:t>管理站。</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若网络元素使用的不是 </a:t>
            </a: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而是另一种网络管理协议，</a:t>
            </a: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协议就无法控制该网络元素。这时可使用</a:t>
            </a:r>
            <a:r>
              <a:rPr lang="zh-CN" altLang="en-US" sz="2000" b="1" dirty="0">
                <a:solidFill>
                  <a:srgbClr val="C00000"/>
                </a:solidFill>
                <a:latin typeface="微软雅黑" pitchFamily="34" charset="-122"/>
                <a:ea typeface="微软雅黑" pitchFamily="34" charset="-122"/>
              </a:rPr>
              <a:t>委托代理 </a:t>
            </a:r>
            <a:r>
              <a:rPr lang="en-US" altLang="zh-CN" sz="2000" b="1" dirty="0">
                <a:latin typeface="微软雅黑" pitchFamily="34" charset="-122"/>
                <a:ea typeface="微软雅黑" pitchFamily="34" charset="-122"/>
              </a:rPr>
              <a:t>(proxy agent)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委托代理能提供协议转换和过滤操作等功能，对被管对象进行管理。</a:t>
            </a:r>
          </a:p>
        </p:txBody>
      </p:sp>
      <p:sp>
        <p:nvSpPr>
          <p:cNvPr id="6" name="矩形 5"/>
          <p:cNvSpPr/>
          <p:nvPr/>
        </p:nvSpPr>
        <p:spPr>
          <a:xfrm>
            <a:off x="1918295" y="2879677"/>
            <a:ext cx="360794" cy="1054905"/>
          </a:xfrm>
          <a:prstGeom prst="rect">
            <a:avLst/>
          </a:prstGeom>
          <a:solidFill>
            <a:srgbClr val="000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itchFamily="34" charset="-122"/>
                <a:ea typeface="微软雅黑" pitchFamily="34" charset="-122"/>
              </a:rPr>
              <a:t>管理站</a:t>
            </a:r>
          </a:p>
        </p:txBody>
      </p:sp>
      <p:sp>
        <p:nvSpPr>
          <p:cNvPr id="8" name="矩形 7"/>
          <p:cNvSpPr/>
          <p:nvPr/>
        </p:nvSpPr>
        <p:spPr>
          <a:xfrm>
            <a:off x="3606331" y="2879677"/>
            <a:ext cx="360794" cy="1054905"/>
          </a:xfrm>
          <a:prstGeom prst="rect">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chemeClr val="bg1"/>
                </a:solidFill>
                <a:latin typeface="微软雅黑" pitchFamily="34" charset="-122"/>
                <a:ea typeface="微软雅黑" pitchFamily="34" charset="-122"/>
              </a:rPr>
              <a:t>委托代理</a:t>
            </a:r>
          </a:p>
        </p:txBody>
      </p:sp>
      <p:sp>
        <p:nvSpPr>
          <p:cNvPr id="9" name="椭圆 8"/>
          <p:cNvSpPr/>
          <p:nvPr/>
        </p:nvSpPr>
        <p:spPr>
          <a:xfrm>
            <a:off x="5519058" y="271435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pitchFamily="34" charset="-122"/>
                <a:ea typeface="微软雅黑" pitchFamily="34" charset="-122"/>
              </a:rPr>
              <a:t>被管设备</a:t>
            </a:r>
          </a:p>
        </p:txBody>
      </p:sp>
      <p:cxnSp>
        <p:nvCxnSpPr>
          <p:cNvPr id="11" name="直接箭头连接符 10"/>
          <p:cNvCxnSpPr>
            <a:endCxn id="9" idx="2"/>
          </p:cNvCxnSpPr>
          <p:nvPr/>
        </p:nvCxnSpPr>
        <p:spPr>
          <a:xfrm flipV="1">
            <a:off x="3967125" y="2937510"/>
            <a:ext cx="1551933" cy="223157"/>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椭圆 12"/>
          <p:cNvSpPr/>
          <p:nvPr/>
        </p:nvSpPr>
        <p:spPr>
          <a:xfrm>
            <a:off x="5519058" y="3572633"/>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pitchFamily="34" charset="-122"/>
                <a:ea typeface="微软雅黑" pitchFamily="34" charset="-122"/>
              </a:rPr>
              <a:t>被管设备</a:t>
            </a:r>
          </a:p>
        </p:txBody>
      </p:sp>
      <p:cxnSp>
        <p:nvCxnSpPr>
          <p:cNvPr id="14" name="直接箭头连接符 13"/>
          <p:cNvCxnSpPr>
            <a:endCxn id="13" idx="2"/>
          </p:cNvCxnSpPr>
          <p:nvPr/>
        </p:nvCxnSpPr>
        <p:spPr>
          <a:xfrm>
            <a:off x="3967125" y="3660283"/>
            <a:ext cx="1551933" cy="135508"/>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6509658" y="318397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a:solidFill>
                  <a:schemeClr val="tx1"/>
                </a:solidFill>
                <a:latin typeface="微软雅黑" pitchFamily="34" charset="-122"/>
                <a:ea typeface="微软雅黑" pitchFamily="34" charset="-122"/>
              </a:rPr>
              <a:t>被管设备</a:t>
            </a:r>
          </a:p>
        </p:txBody>
      </p:sp>
      <p:cxnSp>
        <p:nvCxnSpPr>
          <p:cNvPr id="18" name="直接箭头连接符 17"/>
          <p:cNvCxnSpPr>
            <a:stCxn id="8" idx="3"/>
            <a:endCxn id="17" idx="2"/>
          </p:cNvCxnSpPr>
          <p:nvPr/>
        </p:nvCxnSpPr>
        <p:spPr>
          <a:xfrm>
            <a:off x="3967125" y="3407130"/>
            <a:ext cx="2542533"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6" idx="3"/>
            <a:endCxn id="8" idx="1"/>
          </p:cNvCxnSpPr>
          <p:nvPr/>
        </p:nvCxnSpPr>
        <p:spPr>
          <a:xfrm>
            <a:off x="2279089" y="3407130"/>
            <a:ext cx="1327242"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2530138" y="3132387"/>
            <a:ext cx="747320" cy="307777"/>
          </a:xfrm>
          <a:prstGeom prst="rect">
            <a:avLst/>
          </a:prstGeom>
        </p:spPr>
        <p:txBody>
          <a:bodyPr wrap="none">
            <a:spAutoFit/>
          </a:bodyPr>
          <a:lstStyle/>
          <a:p>
            <a:r>
              <a:rPr lang="en-US" altLang="zh-CN" sz="1400" b="1" dirty="0">
                <a:latin typeface="微软雅黑" pitchFamily="34" charset="-122"/>
                <a:ea typeface="微软雅黑" pitchFamily="34" charset="-122"/>
              </a:rPr>
              <a:t>SNMP</a:t>
            </a:r>
            <a:endParaRPr lang="zh-CN" altLang="en-US" sz="1400" dirty="0"/>
          </a:p>
        </p:txBody>
      </p:sp>
      <p:sp>
        <p:nvSpPr>
          <p:cNvPr id="28" name="矩形 27"/>
          <p:cNvSpPr/>
          <p:nvPr/>
        </p:nvSpPr>
        <p:spPr>
          <a:xfrm>
            <a:off x="4487976" y="3111367"/>
            <a:ext cx="902811" cy="307777"/>
          </a:xfrm>
          <a:prstGeom prst="rect">
            <a:avLst/>
          </a:prstGeom>
        </p:spPr>
        <p:txBody>
          <a:bodyPr wrap="none">
            <a:spAutoFit/>
          </a:bodyPr>
          <a:lstStyle/>
          <a:p>
            <a:r>
              <a:rPr lang="zh-CN" altLang="en-US" sz="1400" b="1" dirty="0">
                <a:latin typeface="微软雅黑" pitchFamily="34" charset="-122"/>
                <a:ea typeface="微软雅黑" pitchFamily="34" charset="-122"/>
              </a:rPr>
              <a:t>专用协议</a:t>
            </a:r>
          </a:p>
        </p:txBody>
      </p:sp>
    </p:spTree>
    <p:extLst>
      <p:ext uri="{BB962C8B-B14F-4D97-AF65-F5344CB8AC3E}">
        <p14:creationId xmlns:p14="http://schemas.microsoft.com/office/powerpoint/2010/main" val="132777934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3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40284" y="579167"/>
            <a:ext cx="26821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网络管理组成</a:t>
            </a:r>
          </a:p>
        </p:txBody>
      </p:sp>
      <p:sp>
        <p:nvSpPr>
          <p:cNvPr id="4" name="Rectangle 68"/>
          <p:cNvSpPr>
            <a:spLocks noChangeArrowheads="1"/>
          </p:cNvSpPr>
          <p:nvPr/>
        </p:nvSpPr>
        <p:spPr bwMode="auto">
          <a:xfrm>
            <a:off x="483810" y="973468"/>
            <a:ext cx="822953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的网络管理由三个部分组成：</a:t>
            </a:r>
          </a:p>
          <a:p>
            <a:pPr marL="720725" indent="-360363" eaLnBrk="0" hangingPunct="0">
              <a:lnSpc>
                <a:spcPts val="3300"/>
              </a:lnSpc>
              <a:buClr>
                <a:srgbClr val="9900CC"/>
              </a:buClr>
              <a:buFont typeface="+mj-lt"/>
              <a:buAutoNum type="arabicPeriod"/>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本身</a:t>
            </a:r>
          </a:p>
          <a:p>
            <a:pPr marL="720725" indent="-36036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管理信息结构 </a:t>
            </a:r>
            <a:r>
              <a:rPr lang="en-US" altLang="zh-CN" sz="2000" b="1" dirty="0">
                <a:latin typeface="微软雅黑" pitchFamily="34" charset="-122"/>
                <a:ea typeface="微软雅黑" pitchFamily="34" charset="-122"/>
              </a:rPr>
              <a:t>SMI (Structure of Management Information)</a:t>
            </a:r>
          </a:p>
          <a:p>
            <a:pPr marL="720725" indent="-360363"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管理信息库 </a:t>
            </a:r>
            <a:r>
              <a:rPr lang="en-US" altLang="zh-CN" sz="2000" b="1" dirty="0">
                <a:latin typeface="微软雅黑" pitchFamily="34" charset="-122"/>
                <a:ea typeface="微软雅黑" pitchFamily="34" charset="-122"/>
              </a:rPr>
              <a:t>MIB (Management Information Base)</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367751452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3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22276" y="576148"/>
            <a:ext cx="31181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简单网络管理协议 </a:t>
            </a:r>
            <a:r>
              <a:rPr lang="en-US" altLang="zh-CN" sz="2000" b="1" dirty="0">
                <a:solidFill>
                  <a:schemeClr val="bg1"/>
                </a:solidFill>
                <a:latin typeface="微软雅黑" pitchFamily="34" charset="-122"/>
                <a:ea typeface="微软雅黑" pitchFamily="34" charset="-122"/>
              </a:rPr>
              <a:t>SNMP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0449"/>
            <a:ext cx="812192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定义了管理站和代理之间所交换的</a:t>
            </a:r>
            <a:r>
              <a:rPr lang="zh-CN" altLang="en-US" sz="2000" b="1" dirty="0">
                <a:solidFill>
                  <a:srgbClr val="C00000"/>
                </a:solidFill>
                <a:latin typeface="微软雅黑" pitchFamily="34" charset="-122"/>
                <a:ea typeface="微软雅黑" pitchFamily="34" charset="-122"/>
              </a:rPr>
              <a:t>分组格式。</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所交换的分组包含各代理中的对象（</a:t>
            </a:r>
            <a:r>
              <a:rPr lang="zh-CN" altLang="en-US" sz="2000" b="1" dirty="0">
                <a:solidFill>
                  <a:srgbClr val="C00000"/>
                </a:solidFill>
                <a:latin typeface="微软雅黑" pitchFamily="34" charset="-122"/>
                <a:ea typeface="微软雅黑" pitchFamily="34" charset="-122"/>
              </a:rPr>
              <a:t>变量</a:t>
            </a:r>
            <a:r>
              <a:rPr lang="zh-CN" altLang="en-US" sz="2000" b="1" dirty="0">
                <a:latin typeface="微软雅黑" pitchFamily="34" charset="-122"/>
                <a:ea typeface="微软雅黑" pitchFamily="34" charset="-122"/>
              </a:rPr>
              <a:t>）名及其状态（</a:t>
            </a:r>
            <a:r>
              <a:rPr lang="zh-CN" altLang="en-US" sz="2000" b="1" dirty="0">
                <a:solidFill>
                  <a:srgbClr val="C00000"/>
                </a:solidFill>
                <a:latin typeface="微软雅黑" pitchFamily="34" charset="-122"/>
                <a:ea typeface="微软雅黑" pitchFamily="34" charset="-122"/>
              </a:rPr>
              <a:t>值</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负责读取和改变这些数值。 </a:t>
            </a:r>
          </a:p>
        </p:txBody>
      </p:sp>
    </p:spTree>
    <p:extLst>
      <p:ext uri="{BB962C8B-B14F-4D97-AF65-F5344CB8AC3E}">
        <p14:creationId xmlns:p14="http://schemas.microsoft.com/office/powerpoint/2010/main" val="776911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28637" y="580321"/>
            <a:ext cx="230543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管理信息结构 </a:t>
            </a:r>
            <a:r>
              <a:rPr lang="en-US" altLang="zh-CN" sz="2000" b="1" dirty="0">
                <a:solidFill>
                  <a:schemeClr val="bg1"/>
                </a:solidFill>
                <a:latin typeface="微软雅黑" pitchFamily="34" charset="-122"/>
                <a:ea typeface="微软雅黑" pitchFamily="34" charset="-122"/>
              </a:rPr>
              <a:t>SMI</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462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定义了命名对象和定义对象类型（包括范围和长度）的</a:t>
            </a:r>
            <a:r>
              <a:rPr lang="zh-CN" altLang="en-US" sz="2000" b="1" dirty="0">
                <a:solidFill>
                  <a:srgbClr val="C00000"/>
                </a:solidFill>
                <a:latin typeface="微软雅黑" pitchFamily="34" charset="-122"/>
                <a:ea typeface="微软雅黑" pitchFamily="34" charset="-122"/>
              </a:rPr>
              <a:t>通用规则，</a:t>
            </a:r>
            <a:r>
              <a:rPr lang="zh-CN" altLang="en-US" sz="2000" b="1" dirty="0">
                <a:latin typeface="微软雅黑" pitchFamily="34" charset="-122"/>
                <a:ea typeface="微软雅黑" pitchFamily="34" charset="-122"/>
              </a:rPr>
              <a:t>以及把对象和对象的值进行</a:t>
            </a:r>
            <a:r>
              <a:rPr lang="zh-CN" altLang="en-US" sz="2000" b="1" dirty="0">
                <a:solidFill>
                  <a:srgbClr val="C00000"/>
                </a:solidFill>
                <a:latin typeface="微软雅黑" pitchFamily="34" charset="-122"/>
                <a:ea typeface="微软雅黑" pitchFamily="34" charset="-122"/>
              </a:rPr>
              <a:t>编码的规则，</a:t>
            </a:r>
            <a:r>
              <a:rPr lang="zh-CN" altLang="en-US" sz="2000" b="1" dirty="0">
                <a:latin typeface="微软雅黑" pitchFamily="34" charset="-122"/>
                <a:ea typeface="微软雅黑" pitchFamily="34" charset="-122"/>
              </a:rPr>
              <a:t>以确保网络管理数据的语法和语义的</a:t>
            </a:r>
            <a:r>
              <a:rPr lang="zh-CN" altLang="en-US" sz="2000" b="1" dirty="0">
                <a:solidFill>
                  <a:srgbClr val="C00000"/>
                </a:solidFill>
                <a:latin typeface="微软雅黑" pitchFamily="34" charset="-122"/>
                <a:ea typeface="微软雅黑" pitchFamily="34" charset="-122"/>
              </a:rPr>
              <a:t>无二义性。</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但从 </a:t>
            </a: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的名称并不能看出它的功能。</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并不定义一个实体应管理的对象数目，也不定义被管对象名以及对象名及其值之间的关联。 </a:t>
            </a:r>
          </a:p>
        </p:txBody>
      </p:sp>
    </p:spTree>
    <p:extLst>
      <p:ext uri="{BB962C8B-B14F-4D97-AF65-F5344CB8AC3E}">
        <p14:creationId xmlns:p14="http://schemas.microsoft.com/office/powerpoint/2010/main" val="217814332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1988294"/>
            <a:ext cx="8048776" cy="221739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546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257"/>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管理信息库 </a:t>
            </a:r>
            <a:r>
              <a:rPr lang="en-US" altLang="zh-CN" sz="2000" b="1" dirty="0">
                <a:solidFill>
                  <a:schemeClr val="bg1"/>
                </a:solidFill>
                <a:latin typeface="微软雅黑" pitchFamily="34" charset="-122"/>
                <a:ea typeface="微软雅黑" pitchFamily="34" charset="-122"/>
              </a:rPr>
              <a:t>MIB</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2" y="977090"/>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MIB </a:t>
            </a:r>
            <a:r>
              <a:rPr lang="zh-CN" altLang="en-US" sz="2000" b="1" dirty="0">
                <a:latin typeface="微软雅黑" pitchFamily="34" charset="-122"/>
                <a:ea typeface="微软雅黑" pitchFamily="34" charset="-122"/>
              </a:rPr>
              <a:t>在被管理的实体中创建了命名对象，并规定了其类型。</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管理程序使用 </a:t>
            </a:r>
            <a:r>
              <a:rPr lang="en-US" altLang="zh-CN" sz="2000" b="1" dirty="0">
                <a:latin typeface="微软雅黑" pitchFamily="34" charset="-122"/>
                <a:ea typeface="微软雅黑" pitchFamily="34" charset="-122"/>
              </a:rPr>
              <a:t>MIB </a:t>
            </a:r>
            <a:r>
              <a:rPr lang="zh-CN" altLang="en-US" sz="2000" b="1" dirty="0">
                <a:latin typeface="微软雅黑" pitchFamily="34" charset="-122"/>
                <a:ea typeface="微软雅黑" pitchFamily="34" charset="-122"/>
              </a:rPr>
              <a:t>中的信息，对网络进行管理。</a:t>
            </a:r>
          </a:p>
        </p:txBody>
      </p:sp>
      <p:grpSp>
        <p:nvGrpSpPr>
          <p:cNvPr id="49" name="组合 48"/>
          <p:cNvGrpSpPr/>
          <p:nvPr/>
        </p:nvGrpSpPr>
        <p:grpSpPr>
          <a:xfrm>
            <a:off x="1835104" y="2207578"/>
            <a:ext cx="5543157" cy="1767025"/>
            <a:chOff x="1835104" y="2394925"/>
            <a:chExt cx="5543157" cy="1767025"/>
          </a:xfrm>
        </p:grpSpPr>
        <p:sp>
          <p:nvSpPr>
            <p:cNvPr id="9" name="Rectangle 6"/>
            <p:cNvSpPr>
              <a:spLocks noChangeArrowheads="1"/>
            </p:cNvSpPr>
            <p:nvPr/>
          </p:nvSpPr>
          <p:spPr bwMode="auto">
            <a:xfrm>
              <a:off x="2887011" y="2394925"/>
              <a:ext cx="3171626" cy="503798"/>
            </a:xfrm>
            <a:prstGeom prst="rect">
              <a:avLst/>
            </a:prstGeom>
            <a:solidFill>
              <a:srgbClr val="0000FF"/>
            </a:solidFill>
            <a:ln w="9525" algn="ctr">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Oval 7"/>
            <p:cNvSpPr>
              <a:spLocks noChangeArrowheads="1"/>
            </p:cNvSpPr>
            <p:nvPr/>
          </p:nvSpPr>
          <p:spPr bwMode="auto">
            <a:xfrm>
              <a:off x="3677027" y="2491209"/>
              <a:ext cx="1677835" cy="316654"/>
            </a:xfrm>
            <a:prstGeom prst="ellipse">
              <a:avLst/>
            </a:prstGeom>
            <a:solidFill>
              <a:srgbClr val="CCFFFF"/>
            </a:solidFill>
            <a:ln w="9525" algn="ctr">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400" b="1" dirty="0">
                  <a:latin typeface="微软雅黑" pitchFamily="34" charset="-122"/>
                  <a:ea typeface="微软雅黑" pitchFamily="34" charset="-122"/>
                </a:rPr>
                <a:t>管理程序</a:t>
              </a:r>
            </a:p>
          </p:txBody>
        </p:sp>
        <p:grpSp>
          <p:nvGrpSpPr>
            <p:cNvPr id="11" name="Group 8"/>
            <p:cNvGrpSpPr>
              <a:grpSpLocks/>
            </p:cNvGrpSpPr>
            <p:nvPr/>
          </p:nvGrpSpPr>
          <p:grpSpPr bwMode="auto">
            <a:xfrm>
              <a:off x="2079045" y="3572038"/>
              <a:ext cx="1452049" cy="589912"/>
              <a:chOff x="818" y="2788"/>
              <a:chExt cx="1203" cy="870"/>
            </a:xfrm>
          </p:grpSpPr>
          <p:sp>
            <p:nvSpPr>
              <p:cNvPr id="29"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代理</a:t>
                </a:r>
              </a:p>
            </p:txBody>
          </p:sp>
          <p:sp>
            <p:nvSpPr>
              <p:cNvPr id="31"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管理信息库 </a:t>
                </a:r>
                <a:r>
                  <a:rPr lang="en-US" altLang="zh-CN" sz="1200" b="1" dirty="0">
                    <a:solidFill>
                      <a:schemeClr val="bg1"/>
                    </a:solidFill>
                    <a:latin typeface="微软雅黑" pitchFamily="34" charset="-122"/>
                    <a:ea typeface="微软雅黑" pitchFamily="34" charset="-122"/>
                  </a:rPr>
                  <a:t>(MIB)</a:t>
                </a:r>
                <a:endParaRPr lang="zh-CN" altLang="en-US" sz="1200" b="1" dirty="0">
                  <a:solidFill>
                    <a:schemeClr val="bg1"/>
                  </a:solidFill>
                  <a:latin typeface="微软雅黑" pitchFamily="34" charset="-122"/>
                  <a:ea typeface="微软雅黑" pitchFamily="34" charset="-122"/>
                </a:endParaRPr>
              </a:p>
            </p:txBody>
          </p:sp>
        </p:grpSp>
        <p:sp>
          <p:nvSpPr>
            <p:cNvPr id="14" name="Line 20"/>
            <p:cNvSpPr>
              <a:spLocks noChangeShapeType="1"/>
            </p:cNvSpPr>
            <p:nvPr/>
          </p:nvSpPr>
          <p:spPr bwMode="auto">
            <a:xfrm>
              <a:off x="1835104" y="3351667"/>
              <a:ext cx="5543157"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5" name="Line 21"/>
            <p:cNvSpPr>
              <a:spLocks noChangeShapeType="1"/>
            </p:cNvSpPr>
            <p:nvPr/>
          </p:nvSpPr>
          <p:spPr bwMode="auto">
            <a:xfrm flipH="1">
              <a:off x="2887011" y="2768536"/>
              <a:ext cx="1034520" cy="803500"/>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6" name="Line 22"/>
            <p:cNvSpPr>
              <a:spLocks noChangeShapeType="1"/>
            </p:cNvSpPr>
            <p:nvPr/>
          </p:nvSpPr>
          <p:spPr bwMode="auto">
            <a:xfrm>
              <a:off x="4574625" y="2790912"/>
              <a:ext cx="226030" cy="775022"/>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7" name="Line 23"/>
            <p:cNvSpPr>
              <a:spLocks noChangeShapeType="1"/>
            </p:cNvSpPr>
            <p:nvPr/>
          </p:nvSpPr>
          <p:spPr bwMode="auto">
            <a:xfrm>
              <a:off x="5146219" y="2751584"/>
              <a:ext cx="1387691" cy="808925"/>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Text Box 24"/>
            <p:cNvSpPr txBox="1">
              <a:spLocks noChangeArrowheads="1"/>
            </p:cNvSpPr>
            <p:nvPr/>
          </p:nvSpPr>
          <p:spPr bwMode="auto">
            <a:xfrm>
              <a:off x="2755539" y="2973988"/>
              <a:ext cx="720469" cy="277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200" b="1" dirty="0">
                  <a:latin typeface="微软雅黑" pitchFamily="34" charset="-122"/>
                  <a:ea typeface="微软雅黑" pitchFamily="34" charset="-122"/>
                </a:rPr>
                <a:t>SNMP</a:t>
              </a:r>
              <a:endParaRPr lang="zh-CN" altLang="en-US" sz="1200" b="1" dirty="0">
                <a:latin typeface="微软雅黑" pitchFamily="34" charset="-122"/>
                <a:ea typeface="微软雅黑" pitchFamily="34" charset="-122"/>
              </a:endParaRPr>
            </a:p>
          </p:txBody>
        </p:sp>
        <p:sp>
          <p:nvSpPr>
            <p:cNvPr id="19" name="Line 25"/>
            <p:cNvSpPr>
              <a:spLocks noChangeShapeType="1"/>
            </p:cNvSpPr>
            <p:nvPr/>
          </p:nvSpPr>
          <p:spPr bwMode="auto">
            <a:xfrm>
              <a:off x="4511598" y="2898723"/>
              <a:ext cx="0" cy="4583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6"/>
            <p:cNvSpPr>
              <a:spLocks noChangeShapeType="1"/>
            </p:cNvSpPr>
            <p:nvPr/>
          </p:nvSpPr>
          <p:spPr bwMode="auto">
            <a:xfrm>
              <a:off x="2806596" y="3351667"/>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27"/>
            <p:cNvSpPr>
              <a:spLocks noChangeShapeType="1"/>
            </p:cNvSpPr>
            <p:nvPr/>
          </p:nvSpPr>
          <p:spPr bwMode="auto">
            <a:xfrm>
              <a:off x="4875636" y="3346920"/>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28"/>
            <p:cNvSpPr>
              <a:spLocks noChangeShapeType="1"/>
            </p:cNvSpPr>
            <p:nvPr/>
          </p:nvSpPr>
          <p:spPr bwMode="auto">
            <a:xfrm>
              <a:off x="6599111" y="3353023"/>
              <a:ext cx="0" cy="22647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41" name="Group 8"/>
            <p:cNvGrpSpPr>
              <a:grpSpLocks/>
            </p:cNvGrpSpPr>
            <p:nvPr/>
          </p:nvGrpSpPr>
          <p:grpSpPr bwMode="auto">
            <a:xfrm>
              <a:off x="4162395" y="3572038"/>
              <a:ext cx="1452049" cy="589912"/>
              <a:chOff x="818" y="2788"/>
              <a:chExt cx="1203" cy="870"/>
            </a:xfrm>
          </p:grpSpPr>
          <p:sp>
            <p:nvSpPr>
              <p:cNvPr id="42"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代理</a:t>
                </a:r>
              </a:p>
            </p:txBody>
          </p:sp>
          <p:sp>
            <p:nvSpPr>
              <p:cNvPr id="44"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管理信息库 </a:t>
                </a:r>
                <a:r>
                  <a:rPr lang="en-US" altLang="zh-CN" sz="1200" b="1" dirty="0">
                    <a:solidFill>
                      <a:schemeClr val="bg1"/>
                    </a:solidFill>
                    <a:latin typeface="微软雅黑" pitchFamily="34" charset="-122"/>
                    <a:ea typeface="微软雅黑" pitchFamily="34" charset="-122"/>
                  </a:rPr>
                  <a:t>(MIB)</a:t>
                </a:r>
                <a:endParaRPr lang="zh-CN" altLang="en-US" sz="1200" b="1" dirty="0">
                  <a:solidFill>
                    <a:schemeClr val="bg1"/>
                  </a:solidFill>
                  <a:latin typeface="微软雅黑" pitchFamily="34" charset="-122"/>
                  <a:ea typeface="微软雅黑" pitchFamily="34" charset="-122"/>
                </a:endParaRPr>
              </a:p>
            </p:txBody>
          </p:sp>
        </p:grpSp>
        <p:grpSp>
          <p:nvGrpSpPr>
            <p:cNvPr id="45" name="Group 8"/>
            <p:cNvGrpSpPr>
              <a:grpSpLocks/>
            </p:cNvGrpSpPr>
            <p:nvPr/>
          </p:nvGrpSpPr>
          <p:grpSpPr bwMode="auto">
            <a:xfrm>
              <a:off x="5873086" y="3572038"/>
              <a:ext cx="1452049" cy="589912"/>
              <a:chOff x="818" y="2788"/>
              <a:chExt cx="1203" cy="870"/>
            </a:xfrm>
          </p:grpSpPr>
          <p:sp>
            <p:nvSpPr>
              <p:cNvPr id="46"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7"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代理</a:t>
                </a:r>
              </a:p>
            </p:txBody>
          </p:sp>
          <p:sp>
            <p:nvSpPr>
              <p:cNvPr id="48"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itchFamily="34" charset="-122"/>
                    <a:ea typeface="微软雅黑" pitchFamily="34" charset="-122"/>
                  </a:rPr>
                  <a:t>管理信息库 </a:t>
                </a:r>
                <a:r>
                  <a:rPr lang="en-US" altLang="zh-CN" sz="1200" b="1" dirty="0">
                    <a:solidFill>
                      <a:schemeClr val="bg1"/>
                    </a:solidFill>
                    <a:latin typeface="微软雅黑" pitchFamily="34" charset="-122"/>
                    <a:ea typeface="微软雅黑" pitchFamily="34" charset="-122"/>
                  </a:rPr>
                  <a:t>(MIB)</a:t>
                </a:r>
                <a:endParaRPr lang="zh-CN" altLang="en-US" sz="1200" b="1" dirty="0">
                  <a:solidFill>
                    <a:schemeClr val="bg1"/>
                  </a:solidFill>
                  <a:latin typeface="微软雅黑" pitchFamily="34" charset="-122"/>
                  <a:ea typeface="微软雅黑" pitchFamily="34" charset="-122"/>
                </a:endParaRPr>
              </a:p>
            </p:txBody>
          </p:sp>
        </p:grpSp>
      </p:grpSp>
    </p:spTree>
    <p:extLst>
      <p:ext uri="{BB962C8B-B14F-4D97-AF65-F5344CB8AC3E}">
        <p14:creationId xmlns:p14="http://schemas.microsoft.com/office/powerpoint/2010/main" val="15481775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0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99536" y="573748"/>
            <a:ext cx="37449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6.7.2   </a:t>
            </a:r>
            <a:r>
              <a:rPr lang="zh-CN" altLang="en-US" sz="2400" b="1" dirty="0">
                <a:solidFill>
                  <a:schemeClr val="bg1"/>
                </a:solidFill>
                <a:latin typeface="微软雅黑" pitchFamily="34" charset="-122"/>
                <a:ea typeface="微软雅黑" pitchFamily="34" charset="-122"/>
              </a:rPr>
              <a:t>管理信息结构 </a:t>
            </a:r>
            <a:r>
              <a:rPr lang="en-US" altLang="zh-CN" sz="2400" b="1" dirty="0">
                <a:solidFill>
                  <a:schemeClr val="bg1"/>
                </a:solidFill>
                <a:latin typeface="微软雅黑" pitchFamily="34" charset="-122"/>
                <a:ea typeface="微软雅黑" pitchFamily="34" charset="-122"/>
              </a:rPr>
              <a:t>SMI</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3" y="1001359"/>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的功能：</a:t>
            </a:r>
          </a:p>
          <a:p>
            <a:pPr marL="3556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被管对象应怎样命名；</a:t>
            </a:r>
          </a:p>
          <a:p>
            <a:pPr marL="3556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用来存储被管对象的数据类型有哪些种；</a:t>
            </a:r>
          </a:p>
          <a:p>
            <a:pPr marL="3556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在网络上传送的管理数据应如何编码。 </a:t>
            </a:r>
          </a:p>
        </p:txBody>
      </p:sp>
    </p:spTree>
    <p:extLst>
      <p:ext uri="{BB962C8B-B14F-4D97-AF65-F5344CB8AC3E}">
        <p14:creationId xmlns:p14="http://schemas.microsoft.com/office/powerpoint/2010/main" val="2701905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规定：所有被管对象必须在</a:t>
            </a:r>
            <a:r>
              <a:rPr lang="zh-CN" altLang="en-US" sz="2000" b="1" dirty="0">
                <a:solidFill>
                  <a:srgbClr val="FFFF00"/>
                </a:solidFill>
                <a:latin typeface="微软雅黑" pitchFamily="34" charset="-122"/>
                <a:ea typeface="微软雅黑" pitchFamily="34" charset="-122"/>
              </a:rPr>
              <a:t>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1070847"/>
            <a:ext cx="7020910" cy="489206"/>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17962493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规定：所有被管对象必须在</a:t>
            </a:r>
            <a:r>
              <a:rPr lang="zh-CN" altLang="en-US" sz="2000" b="1" dirty="0">
                <a:solidFill>
                  <a:srgbClr val="FFFF00"/>
                </a:solidFill>
                <a:latin typeface="微软雅黑" pitchFamily="34" charset="-122"/>
                <a:ea typeface="微软雅黑" pitchFamily="34" charset="-122"/>
              </a:rPr>
              <a:t>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1554307"/>
            <a:ext cx="7020910" cy="76411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4084428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规定：所有被管对象必须在</a:t>
            </a:r>
            <a:r>
              <a:rPr lang="zh-CN" altLang="en-US" sz="2000" b="1" dirty="0">
                <a:solidFill>
                  <a:srgbClr val="FFFF00"/>
                </a:solidFill>
                <a:latin typeface="微软雅黑" pitchFamily="34" charset="-122"/>
                <a:ea typeface="微软雅黑" pitchFamily="34" charset="-122"/>
              </a:rPr>
              <a:t>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0918094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98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66307" y="576769"/>
            <a:ext cx="2230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ASN.1</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1" y="971070"/>
            <a:ext cx="8121928"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标准指明：所有的 </a:t>
            </a:r>
            <a:r>
              <a:rPr lang="en-US" altLang="zh-CN" sz="2000" b="1" dirty="0">
                <a:latin typeface="微软雅黑" pitchFamily="34" charset="-122"/>
                <a:ea typeface="微软雅黑" pitchFamily="34" charset="-122"/>
              </a:rPr>
              <a:t>MIB </a:t>
            </a:r>
            <a:r>
              <a:rPr lang="zh-CN" altLang="en-US" sz="2000" b="1" dirty="0">
                <a:latin typeface="微软雅黑" pitchFamily="34" charset="-122"/>
                <a:ea typeface="微软雅黑" pitchFamily="34" charset="-122"/>
              </a:rPr>
              <a:t>变量必须使用</a:t>
            </a:r>
            <a:r>
              <a:rPr lang="zh-CN" altLang="en-US" sz="2000" b="1" dirty="0">
                <a:solidFill>
                  <a:srgbClr val="C00000"/>
                </a:solidFill>
                <a:latin typeface="微软雅黑" pitchFamily="34" charset="-122"/>
                <a:ea typeface="微软雅黑" pitchFamily="34" charset="-122"/>
              </a:rPr>
              <a:t>抽象语法记法 </a:t>
            </a:r>
            <a:r>
              <a:rPr lang="en-US" altLang="zh-CN" sz="2000" b="1" dirty="0">
                <a:solidFill>
                  <a:srgbClr val="C00000"/>
                </a:solidFill>
                <a:latin typeface="微软雅黑" pitchFamily="34" charset="-122"/>
                <a:ea typeface="微软雅黑" pitchFamily="34" charset="-122"/>
              </a:rPr>
              <a:t>1 </a:t>
            </a:r>
            <a:r>
              <a:rPr lang="en-US" altLang="zh-CN" sz="2000" b="1" dirty="0">
                <a:latin typeface="微软雅黑" pitchFamily="34" charset="-122"/>
                <a:ea typeface="微软雅黑" pitchFamily="34" charset="-122"/>
              </a:rPr>
              <a:t>(</a:t>
            </a:r>
            <a:r>
              <a:rPr lang="en-US" altLang="zh-CN" sz="2000" b="1" dirty="0">
                <a:solidFill>
                  <a:srgbClr val="C00000"/>
                </a:solidFill>
                <a:latin typeface="微软雅黑" pitchFamily="34" charset="-122"/>
                <a:ea typeface="微软雅黑" pitchFamily="34" charset="-122"/>
              </a:rPr>
              <a:t>ASN.1</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来定义。</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SMI </a:t>
            </a:r>
            <a:r>
              <a:rPr lang="zh-CN" altLang="en-US" sz="2000" b="1" dirty="0">
                <a:latin typeface="微软雅黑" pitchFamily="34" charset="-122"/>
                <a:ea typeface="微软雅黑" pitchFamily="34" charset="-122"/>
              </a:rPr>
              <a:t>既是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的子集，又是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的超集。 </a:t>
            </a:r>
          </a:p>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的记法很严格，使得数据的含义</a:t>
            </a:r>
            <a:r>
              <a:rPr lang="zh-CN" altLang="en-US" sz="2000" b="1" dirty="0">
                <a:solidFill>
                  <a:srgbClr val="C00000"/>
                </a:solidFill>
                <a:latin typeface="微软雅黑" pitchFamily="34" charset="-122"/>
                <a:ea typeface="微软雅黑" pitchFamily="34" charset="-122"/>
              </a:rPr>
              <a:t>不存在</a:t>
            </a:r>
            <a:r>
              <a:rPr lang="zh-CN" altLang="en-US" sz="2000" b="1" dirty="0">
                <a:latin typeface="微软雅黑" pitchFamily="34" charset="-122"/>
                <a:ea typeface="微软雅黑" pitchFamily="34" charset="-122"/>
              </a:rPr>
              <a:t>任何可能的</a:t>
            </a:r>
            <a:r>
              <a:rPr lang="zh-CN" altLang="en-US" sz="2000" b="1" dirty="0">
                <a:solidFill>
                  <a:srgbClr val="C00000"/>
                </a:solidFill>
                <a:latin typeface="微软雅黑" pitchFamily="34" charset="-122"/>
                <a:ea typeface="微软雅黑" pitchFamily="34" charset="-122"/>
              </a:rPr>
              <a:t>二义性</a:t>
            </a:r>
            <a:r>
              <a:rPr lang="zh-CN" altLang="en-US" sz="2000" b="1" dirty="0">
                <a:latin typeface="微软雅黑" pitchFamily="34" charset="-122"/>
                <a:ea typeface="微软雅黑" pitchFamily="34" charset="-122"/>
              </a:rPr>
              <a:t>。</a:t>
            </a:r>
          </a:p>
        </p:txBody>
      </p:sp>
    </p:spTree>
    <p:extLst>
      <p:ext uri="{BB962C8B-B14F-4D97-AF65-F5344CB8AC3E}">
        <p14:creationId xmlns:p14="http://schemas.microsoft.com/office/powerpoint/2010/main" val="163645892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32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85117" y="578112"/>
            <a:ext cx="17924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数据类型</a:t>
            </a:r>
          </a:p>
        </p:txBody>
      </p:sp>
      <p:sp>
        <p:nvSpPr>
          <p:cNvPr id="4" name="Rectangle 68"/>
          <p:cNvSpPr>
            <a:spLocks noChangeArrowheads="1"/>
          </p:cNvSpPr>
          <p:nvPr/>
        </p:nvSpPr>
        <p:spPr bwMode="auto">
          <a:xfrm>
            <a:off x="556963" y="2446042"/>
            <a:ext cx="803070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SMI </a:t>
            </a:r>
            <a:r>
              <a:rPr lang="zh-CN" altLang="en-US" sz="2000" b="1" dirty="0">
                <a:solidFill>
                  <a:srgbClr val="0000FF"/>
                </a:solidFill>
                <a:latin typeface="微软雅黑" pitchFamily="34" charset="-122"/>
                <a:ea typeface="微软雅黑" pitchFamily="34" charset="-122"/>
              </a:rPr>
              <a:t>把数据类型分为两大类</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914400" lvl="1" indent="-4572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简单类型</a:t>
            </a:r>
            <a:endParaRPr lang="en-US" altLang="zh-CN" sz="2000" b="1" dirty="0">
              <a:latin typeface="微软雅黑" pitchFamily="34" charset="-122"/>
              <a:ea typeface="微软雅黑" pitchFamily="34" charset="-122"/>
            </a:endParaRPr>
          </a:p>
          <a:p>
            <a:pPr marL="914400" lvl="1" indent="-4572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结构化类型。 </a:t>
            </a:r>
          </a:p>
        </p:txBody>
      </p:sp>
      <p:grpSp>
        <p:nvGrpSpPr>
          <p:cNvPr id="9" name="组合 8"/>
          <p:cNvGrpSpPr/>
          <p:nvPr/>
        </p:nvGrpSpPr>
        <p:grpSpPr>
          <a:xfrm>
            <a:off x="2356587" y="1107030"/>
            <a:ext cx="4453041" cy="1223067"/>
            <a:chOff x="1124801" y="2309534"/>
            <a:chExt cx="4581132" cy="1223067"/>
          </a:xfrm>
        </p:grpSpPr>
        <p:sp>
          <p:nvSpPr>
            <p:cNvPr id="5" name="Text Box 4"/>
            <p:cNvSpPr txBox="1">
              <a:spLocks noChangeArrowheads="1"/>
            </p:cNvSpPr>
            <p:nvPr/>
          </p:nvSpPr>
          <p:spPr bwMode="auto">
            <a:xfrm>
              <a:off x="1124801" y="271448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dirty="0">
                  <a:latin typeface="微软雅黑" pitchFamily="34" charset="-122"/>
                  <a:ea typeface="微软雅黑" pitchFamily="34" charset="-122"/>
                </a:rPr>
                <a:t>数据</a:t>
              </a:r>
            </a:p>
          </p:txBody>
        </p:sp>
        <p:sp>
          <p:nvSpPr>
            <p:cNvPr id="6" name="Text Box 4"/>
            <p:cNvSpPr txBox="1">
              <a:spLocks noChangeArrowheads="1"/>
            </p:cNvSpPr>
            <p:nvPr/>
          </p:nvSpPr>
          <p:spPr bwMode="auto">
            <a:xfrm>
              <a:off x="2039196" y="2309534"/>
              <a:ext cx="26588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pitchFamily="34" charset="-122"/>
                  <a:ea typeface="微软雅黑" pitchFamily="34" charset="-122"/>
                </a:rPr>
                <a:t>类型：</a:t>
              </a:r>
              <a:r>
                <a:rPr lang="zh-CN" altLang="en-US" sz="2000" b="1" dirty="0">
                  <a:latin typeface="微软雅黑" pitchFamily="34" charset="-122"/>
                  <a:ea typeface="微软雅黑" pitchFamily="34" charset="-122"/>
                </a:rPr>
                <a:t>值集合的名字</a:t>
              </a:r>
            </a:p>
          </p:txBody>
        </p:sp>
        <p:sp>
          <p:nvSpPr>
            <p:cNvPr id="7" name="Text Box 4"/>
            <p:cNvSpPr txBox="1">
              <a:spLocks noChangeArrowheads="1"/>
            </p:cNvSpPr>
            <p:nvPr/>
          </p:nvSpPr>
          <p:spPr bwMode="auto">
            <a:xfrm>
              <a:off x="2039196" y="3132491"/>
              <a:ext cx="36667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2000" b="1" dirty="0">
                  <a:solidFill>
                    <a:srgbClr val="C00000"/>
                  </a:solidFill>
                  <a:latin typeface="微软雅黑" pitchFamily="34" charset="-122"/>
                  <a:ea typeface="微软雅黑" pitchFamily="34" charset="-122"/>
                </a:rPr>
                <a:t>值：</a:t>
              </a:r>
              <a:r>
                <a:rPr lang="zh-CN" altLang="en-US" sz="2000" b="1" dirty="0">
                  <a:latin typeface="微软雅黑" pitchFamily="34" charset="-122"/>
                  <a:ea typeface="微软雅黑" pitchFamily="34" charset="-122"/>
                </a:rPr>
                <a:t>某个值集合中的一个元素</a:t>
              </a:r>
            </a:p>
          </p:txBody>
        </p:sp>
        <p:sp>
          <p:nvSpPr>
            <p:cNvPr id="8" name="左大括号 7"/>
            <p:cNvSpPr/>
            <p:nvPr/>
          </p:nvSpPr>
          <p:spPr>
            <a:xfrm>
              <a:off x="1831347" y="2509589"/>
              <a:ext cx="184373" cy="822957"/>
            </a:xfrm>
            <a:prstGeom prst="leftBrace">
              <a:avLst>
                <a:gd name="adj1" fmla="val 27688"/>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extLst>
      <p:ext uri="{BB962C8B-B14F-4D97-AF65-F5344CB8AC3E}">
        <p14:creationId xmlns:p14="http://schemas.microsoft.com/office/powerpoint/2010/main" val="212978649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2764" y="582835"/>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ASN.1 </a:t>
            </a:r>
            <a:r>
              <a:rPr lang="zh-CN" altLang="en-US" sz="2000" b="1" dirty="0">
                <a:solidFill>
                  <a:schemeClr val="bg1"/>
                </a:solidFill>
                <a:latin typeface="微软雅黑" pitchFamily="34" charset="-122"/>
                <a:ea typeface="微软雅黑" pitchFamily="34" charset="-122"/>
              </a:rPr>
              <a:t>部分数据类型</a:t>
            </a:r>
          </a:p>
        </p:txBody>
      </p:sp>
      <p:graphicFrame>
        <p:nvGraphicFramePr>
          <p:cNvPr id="5" name="Group 4"/>
          <p:cNvGraphicFramePr>
            <a:graphicFrameLocks/>
          </p:cNvGraphicFramePr>
          <p:nvPr>
            <p:extLst>
              <p:ext uri="{D42A27DB-BD31-4B8C-83A1-F6EECF244321}">
                <p14:modId xmlns:p14="http://schemas.microsoft.com/office/powerpoint/2010/main" val="1761781977"/>
              </p:ext>
            </p:extLst>
          </p:nvPr>
        </p:nvGraphicFramePr>
        <p:xfrm>
          <a:off x="556963" y="1039842"/>
          <a:ext cx="8048775" cy="3116772"/>
        </p:xfrm>
        <a:graphic>
          <a:graphicData uri="http://schemas.openxmlformats.org/drawingml/2006/table">
            <a:tbl>
              <a:tblPr firstRow="1" bandRow="1">
                <a:tableStyleId>{7DF18680-E054-41AD-8BC1-D1AEF772440D}</a:tableStyleId>
              </a:tblPr>
              <a:tblGrid>
                <a:gridCol w="986078">
                  <a:extLst>
                    <a:ext uri="{9D8B030D-6E8A-4147-A177-3AD203B41FA5}">
                      <a16:colId xmlns:a16="http://schemas.microsoft.com/office/drawing/2014/main" val="20000"/>
                    </a:ext>
                  </a:extLst>
                </a:gridCol>
                <a:gridCol w="2835764">
                  <a:extLst>
                    <a:ext uri="{9D8B030D-6E8A-4147-A177-3AD203B41FA5}">
                      <a16:colId xmlns:a16="http://schemas.microsoft.com/office/drawing/2014/main" val="20001"/>
                    </a:ext>
                  </a:extLst>
                </a:gridCol>
                <a:gridCol w="4226933">
                  <a:extLst>
                    <a:ext uri="{9D8B030D-6E8A-4147-A177-3AD203B41FA5}">
                      <a16:colId xmlns:a16="http://schemas.microsoft.com/office/drawing/2014/main" val="20002"/>
                    </a:ext>
                  </a:extLst>
                </a:gridCol>
              </a:tblGrid>
              <a:tr h="326739">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pitchFamily="34" charset="-122"/>
                          <a:ea typeface="微软雅黑" pitchFamily="34" charset="-122"/>
                        </a:rPr>
                        <a:t>分类</a:t>
                      </a:r>
                      <a:endParaRPr kumimoji="0" lang="zh-CN" altLang="en-US" sz="16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pitchFamily="34" charset="-122"/>
                          <a:ea typeface="微软雅黑" pitchFamily="34" charset="-122"/>
                        </a:rPr>
                        <a:t>数据类型名称</a:t>
                      </a:r>
                      <a:endParaRPr kumimoji="0" lang="zh-CN" altLang="en-US" sz="16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600" b="1" u="none" strike="noStrike" cap="none" normalizeH="0" baseline="0" dirty="0">
                          <a:ln>
                            <a:noFill/>
                          </a:ln>
                          <a:solidFill>
                            <a:schemeClr val="bg1"/>
                          </a:solidFill>
                          <a:effectLst/>
                          <a:latin typeface="微软雅黑" pitchFamily="34" charset="-122"/>
                          <a:ea typeface="微软雅黑" pitchFamily="34" charset="-122"/>
                        </a:rPr>
                        <a:t>含义</a:t>
                      </a:r>
                      <a:endParaRPr kumimoji="0" lang="zh-CN" altLang="en-US" sz="1600" b="1" i="0" u="none" strike="noStrike" cap="none" normalizeH="0" baseline="0" dirty="0">
                        <a:ln>
                          <a:noFill/>
                        </a:ln>
                        <a:solidFill>
                          <a:schemeClr val="bg1"/>
                        </a:solidFill>
                        <a:effectLst/>
                        <a:latin typeface="微软雅黑" pitchFamily="34" charset="-122"/>
                        <a:ea typeface="微软雅黑"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0"/>
                  </a:ext>
                </a:extLst>
              </a:tr>
              <a:tr h="297036">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简单类型</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CCFF"/>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INTEGER</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任意长度整数</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BIT STRING</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0 </a:t>
                      </a:r>
                      <a:r>
                        <a:rPr kumimoji="0" lang="zh-CN" altLang="en-US" sz="1400" b="1" u="none" strike="noStrike" cap="none" normalizeH="0" baseline="0" dirty="0">
                          <a:ln>
                            <a:noFill/>
                          </a:ln>
                          <a:effectLst/>
                          <a:latin typeface="微软雅黑" pitchFamily="34" charset="-122"/>
                          <a:ea typeface="微软雅黑" pitchFamily="34" charset="-122"/>
                        </a:rPr>
                        <a:t>位或多位组成的二进制串</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OCTET STRING</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0 </a:t>
                      </a:r>
                      <a:r>
                        <a:rPr kumimoji="0" lang="zh-CN" altLang="en-US" sz="1400" b="1" u="none" strike="noStrike" cap="none" normalizeH="0" baseline="0" dirty="0">
                          <a:ln>
                            <a:noFill/>
                          </a:ln>
                          <a:effectLst/>
                          <a:latin typeface="微软雅黑" pitchFamily="34" charset="-122"/>
                          <a:ea typeface="微软雅黑" pitchFamily="34" charset="-122"/>
                        </a:rPr>
                        <a:t>位或多位组成的字节串</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NULL</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空值</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343092">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OBJECT IDENTIFIER</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定义的数据类型</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97036">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结构化类型</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SEQUENCE</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由多个数据类型按序组成的值</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SEQUENCE OF</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由同一数据类型按序组成的值</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CHOICE</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可以从多个数据类型中选择一个</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r h="297036">
                <a:tc vMerge="1">
                  <a:txBody>
                    <a:bodyPr/>
                    <a:lstStyle/>
                    <a:p>
                      <a:endParaRPr lang="zh-CN" alt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en-US" altLang="zh-CN" sz="1400" b="1" u="none" strike="noStrike" cap="none" normalizeH="0" baseline="0" dirty="0">
                          <a:ln>
                            <a:noFill/>
                          </a:ln>
                          <a:effectLst/>
                          <a:latin typeface="微软雅黑" pitchFamily="34" charset="-122"/>
                          <a:ea typeface="微软雅黑" pitchFamily="34" charset="-122"/>
                        </a:rPr>
                        <a:t>ANY</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itchFamily="2" charset="2"/>
                        <a:buNone/>
                        <a:tabLst/>
                      </a:pPr>
                      <a:r>
                        <a:rPr kumimoji="0" lang="zh-CN" altLang="en-US" sz="1400" b="1" u="none" strike="noStrike" cap="none" normalizeH="0" baseline="0" dirty="0">
                          <a:ln>
                            <a:noFill/>
                          </a:ln>
                          <a:effectLst/>
                          <a:latin typeface="微软雅黑" pitchFamily="34" charset="-122"/>
                          <a:ea typeface="微软雅黑" pitchFamily="34" charset="-122"/>
                        </a:rPr>
                        <a:t>任何数据类型</a:t>
                      </a:r>
                      <a:endParaRPr kumimoji="0" lang="zh-CN" altLang="en-US" sz="1400" b="1" i="0" u="none" strike="noStrike" cap="none" normalizeH="0" baseline="0" dirty="0">
                        <a:ln>
                          <a:noFill/>
                        </a:ln>
                        <a:solidFill>
                          <a:schemeClr val="tx1"/>
                        </a:solidFill>
                        <a:effectLst/>
                        <a:latin typeface="微软雅黑" pitchFamily="34" charset="-122"/>
                        <a:ea typeface="微软雅黑"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0883756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2569" y="579789"/>
            <a:ext cx="2377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基本编码规则 </a:t>
            </a:r>
            <a:r>
              <a:rPr lang="en-US" altLang="zh-CN" sz="2000" b="1" dirty="0">
                <a:solidFill>
                  <a:schemeClr val="bg1"/>
                </a:solidFill>
                <a:latin typeface="微软雅黑" pitchFamily="34" charset="-122"/>
                <a:ea typeface="微软雅黑" pitchFamily="34" charset="-122"/>
              </a:rPr>
              <a:t>BER</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83810" y="974090"/>
            <a:ext cx="8257854"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ISO </a:t>
            </a:r>
            <a:r>
              <a:rPr lang="zh-CN" altLang="en-US" sz="2000" b="1" dirty="0">
                <a:latin typeface="微软雅黑" pitchFamily="34" charset="-122"/>
                <a:ea typeface="微软雅黑" pitchFamily="34" charset="-122"/>
              </a:rPr>
              <a:t>在制订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语言的同时也为它定义了一种标准的编码方案，即</a:t>
            </a:r>
            <a:r>
              <a:rPr lang="zh-CN" altLang="en-US" sz="2000" b="1" dirty="0">
                <a:solidFill>
                  <a:srgbClr val="C00000"/>
                </a:solidFill>
                <a:latin typeface="微软雅黑" pitchFamily="34" charset="-122"/>
                <a:ea typeface="微软雅黑" pitchFamily="34" charset="-122"/>
              </a:rPr>
              <a:t>基本编码规则 </a:t>
            </a:r>
            <a:r>
              <a:rPr lang="en-US" altLang="zh-CN" sz="2000" b="1" dirty="0">
                <a:solidFill>
                  <a:srgbClr val="C00000"/>
                </a:solidFill>
                <a:latin typeface="微软雅黑" pitchFamily="34" charset="-122"/>
                <a:ea typeface="微软雅黑" pitchFamily="34" charset="-122"/>
              </a:rPr>
              <a:t>BER </a:t>
            </a:r>
            <a:r>
              <a:rPr lang="en-US" altLang="zh-CN" sz="2000" b="1" dirty="0">
                <a:latin typeface="微软雅黑" pitchFamily="34" charset="-122"/>
                <a:ea typeface="微软雅黑" pitchFamily="34" charset="-122"/>
              </a:rPr>
              <a:t>(Basic Encoding Rule)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BER </a:t>
            </a:r>
            <a:r>
              <a:rPr lang="zh-CN" altLang="en-US" sz="2000" b="1" dirty="0">
                <a:solidFill>
                  <a:srgbClr val="0000FF"/>
                </a:solidFill>
                <a:latin typeface="微软雅黑" pitchFamily="34" charset="-122"/>
                <a:ea typeface="微软雅黑" pitchFamily="34" charset="-122"/>
              </a:rPr>
              <a:t>指明了每种数据类型中每个数据的值的表示。</a:t>
            </a:r>
          </a:p>
          <a:p>
            <a:pPr marL="342900" indent="-342900" eaLnBrk="0" hangingPunct="0">
              <a:lnSpc>
                <a:spcPts val="33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SMI </a:t>
            </a:r>
            <a:r>
              <a:rPr lang="zh-CN" altLang="en-US" sz="2000" b="1" dirty="0">
                <a:solidFill>
                  <a:srgbClr val="C00000"/>
                </a:solidFill>
                <a:latin typeface="微软雅黑" pitchFamily="34" charset="-122"/>
                <a:ea typeface="微软雅黑" pitchFamily="34" charset="-122"/>
              </a:rPr>
              <a:t>使用 </a:t>
            </a:r>
            <a:r>
              <a:rPr lang="en-US" altLang="zh-CN" sz="2000" b="1" dirty="0">
                <a:solidFill>
                  <a:srgbClr val="C00000"/>
                </a:solidFill>
                <a:latin typeface="微软雅黑" pitchFamily="34" charset="-122"/>
                <a:ea typeface="微软雅黑" pitchFamily="34" charset="-122"/>
              </a:rPr>
              <a:t>ASN.1 </a:t>
            </a:r>
            <a:r>
              <a:rPr lang="zh-CN" altLang="en-US" sz="2000" b="1" dirty="0">
                <a:solidFill>
                  <a:srgbClr val="C00000"/>
                </a:solidFill>
                <a:latin typeface="微软雅黑" pitchFamily="34" charset="-122"/>
                <a:ea typeface="微软雅黑" pitchFamily="34" charset="-122"/>
              </a:rPr>
              <a:t>制定的 </a:t>
            </a:r>
            <a:r>
              <a:rPr lang="en-US" altLang="zh-CN" sz="2000" b="1" dirty="0">
                <a:solidFill>
                  <a:srgbClr val="C00000"/>
                </a:solidFill>
                <a:latin typeface="微软雅黑" pitchFamily="34" charset="-122"/>
                <a:ea typeface="微软雅黑" pitchFamily="34" charset="-122"/>
              </a:rPr>
              <a:t>BER </a:t>
            </a:r>
            <a:r>
              <a:rPr lang="zh-CN" altLang="en-US" sz="2000" b="1" dirty="0">
                <a:solidFill>
                  <a:srgbClr val="C00000"/>
                </a:solidFill>
                <a:latin typeface="微软雅黑" pitchFamily="34" charset="-122"/>
                <a:ea typeface="微软雅黑" pitchFamily="34" charset="-122"/>
              </a:rPr>
              <a:t>进行数据的编码。</a:t>
            </a:r>
            <a:endParaRPr lang="en-US" altLang="zh-CN" sz="2000" b="1" dirty="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发送端用 </a:t>
            </a:r>
            <a:r>
              <a:rPr lang="en-US" altLang="zh-CN" sz="2000" b="1" dirty="0">
                <a:latin typeface="微软雅黑" pitchFamily="34" charset="-122"/>
                <a:ea typeface="微软雅黑" pitchFamily="34" charset="-122"/>
              </a:rPr>
              <a:t>BER </a:t>
            </a:r>
            <a:r>
              <a:rPr lang="zh-CN" altLang="en-US" sz="2000" b="1" dirty="0">
                <a:solidFill>
                  <a:srgbClr val="C00000"/>
                </a:solidFill>
                <a:latin typeface="微软雅黑" pitchFamily="34" charset="-122"/>
                <a:ea typeface="微软雅黑" pitchFamily="34" charset="-122"/>
              </a:rPr>
              <a:t>编码，</a:t>
            </a:r>
            <a:r>
              <a:rPr lang="zh-CN" altLang="en-US" sz="2000" b="1" dirty="0">
                <a:latin typeface="微软雅黑" pitchFamily="34" charset="-122"/>
                <a:ea typeface="微软雅黑" pitchFamily="34" charset="-122"/>
              </a:rPr>
              <a:t>可将用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所表述的报文转换成</a:t>
            </a:r>
            <a:r>
              <a:rPr lang="zh-CN" altLang="en-US" sz="2000" b="1" dirty="0">
                <a:solidFill>
                  <a:srgbClr val="C00000"/>
                </a:solidFill>
                <a:latin typeface="微软雅黑" pitchFamily="34" charset="-122"/>
                <a:ea typeface="微软雅黑" pitchFamily="34" charset="-122"/>
              </a:rPr>
              <a:t>唯一</a:t>
            </a:r>
            <a:r>
              <a:rPr lang="zh-CN" altLang="en-US" sz="2000" b="1" dirty="0">
                <a:latin typeface="微软雅黑" pitchFamily="34" charset="-122"/>
                <a:ea typeface="微软雅黑" pitchFamily="34" charset="-122"/>
              </a:rPr>
              <a:t>的比特序列。</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接收端用 </a:t>
            </a:r>
            <a:r>
              <a:rPr lang="en-US" altLang="zh-CN" sz="2000" b="1" dirty="0">
                <a:latin typeface="微软雅黑" pitchFamily="34" charset="-122"/>
                <a:ea typeface="微软雅黑" pitchFamily="34" charset="-122"/>
              </a:rPr>
              <a:t>BER </a:t>
            </a:r>
            <a:r>
              <a:rPr lang="zh-CN" altLang="en-US" sz="2000" b="1" dirty="0">
                <a:latin typeface="微软雅黑" pitchFamily="34" charset="-122"/>
                <a:ea typeface="微软雅黑" pitchFamily="34" charset="-122"/>
              </a:rPr>
              <a:t>进行</a:t>
            </a:r>
            <a:r>
              <a:rPr lang="zh-CN" altLang="en-US" sz="2000" b="1" dirty="0">
                <a:solidFill>
                  <a:srgbClr val="C00000"/>
                </a:solidFill>
                <a:latin typeface="微软雅黑" pitchFamily="34" charset="-122"/>
                <a:ea typeface="微软雅黑" pitchFamily="34" charset="-122"/>
              </a:rPr>
              <a:t>解码，</a:t>
            </a:r>
            <a:r>
              <a:rPr lang="zh-CN" altLang="en-US" sz="2000" b="1" dirty="0">
                <a:latin typeface="微软雅黑" pitchFamily="34" charset="-122"/>
                <a:ea typeface="微软雅黑" pitchFamily="34" charset="-122"/>
              </a:rPr>
              <a:t>得到该比特序列所表示的 </a:t>
            </a:r>
            <a:r>
              <a:rPr lang="en-US" altLang="zh-CN" sz="2000" b="1" dirty="0">
                <a:latin typeface="微软雅黑" pitchFamily="34" charset="-122"/>
                <a:ea typeface="微软雅黑" pitchFamily="34" charset="-122"/>
              </a:rPr>
              <a:t>ASN.1 </a:t>
            </a:r>
            <a:r>
              <a:rPr lang="zh-CN" altLang="en-US" sz="2000" b="1" dirty="0">
                <a:latin typeface="微软雅黑" pitchFamily="34" charset="-122"/>
                <a:ea typeface="微软雅黑" pitchFamily="34" charset="-122"/>
              </a:rPr>
              <a:t>报文。 </a:t>
            </a:r>
          </a:p>
        </p:txBody>
      </p:sp>
    </p:spTree>
    <p:extLst>
      <p:ext uri="{BB962C8B-B14F-4D97-AF65-F5344CB8AC3E}">
        <p14:creationId xmlns:p14="http://schemas.microsoft.com/office/powerpoint/2010/main" val="9393379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77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295" y="578563"/>
            <a:ext cx="2602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用 </a:t>
            </a:r>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方法进行编码</a:t>
            </a:r>
          </a:p>
        </p:txBody>
      </p:sp>
      <p:sp>
        <p:nvSpPr>
          <p:cNvPr id="5" name="圆角矩形 4"/>
          <p:cNvSpPr/>
          <p:nvPr/>
        </p:nvSpPr>
        <p:spPr>
          <a:xfrm>
            <a:off x="556963" y="1032834"/>
            <a:ext cx="8048776" cy="30185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38"/>
          <p:cNvSpPr>
            <a:spLocks noChangeArrowheads="1"/>
          </p:cNvSpPr>
          <p:nvPr/>
        </p:nvSpPr>
        <p:spPr bwMode="auto">
          <a:xfrm>
            <a:off x="2298313" y="1488726"/>
            <a:ext cx="5820252" cy="432357"/>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b="1">
              <a:latin typeface="微软雅黑" pitchFamily="34" charset="-122"/>
              <a:ea typeface="微软雅黑" pitchFamily="34" charset="-122"/>
            </a:endParaRPr>
          </a:p>
        </p:txBody>
      </p:sp>
      <p:sp>
        <p:nvSpPr>
          <p:cNvPr id="10" name="Line 39"/>
          <p:cNvSpPr>
            <a:spLocks noChangeShapeType="1"/>
          </p:cNvSpPr>
          <p:nvPr/>
        </p:nvSpPr>
        <p:spPr bwMode="auto">
          <a:xfrm>
            <a:off x="3580875" y="1501789"/>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2" name="Line 41"/>
          <p:cNvSpPr>
            <a:spLocks noChangeShapeType="1"/>
          </p:cNvSpPr>
          <p:nvPr/>
        </p:nvSpPr>
        <p:spPr bwMode="auto">
          <a:xfrm>
            <a:off x="4764415" y="1488726"/>
            <a:ext cx="0" cy="4323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3" name="Text Box 42"/>
          <p:cNvSpPr txBox="1">
            <a:spLocks noChangeArrowheads="1"/>
          </p:cNvSpPr>
          <p:nvPr/>
        </p:nvSpPr>
        <p:spPr bwMode="auto">
          <a:xfrm>
            <a:off x="2528218" y="1520238"/>
            <a:ext cx="39116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latin typeface="微软雅黑" pitchFamily="34" charset="-122"/>
                <a:ea typeface="微软雅黑" pitchFamily="34" charset="-122"/>
              </a:rPr>
              <a:t>标记 </a:t>
            </a:r>
            <a:r>
              <a:rPr lang="en-US" altLang="zh-CN" sz="1800" b="1" dirty="0">
                <a:latin typeface="微软雅黑" pitchFamily="34" charset="-122"/>
                <a:ea typeface="微软雅黑" pitchFamily="34" charset="-122"/>
              </a:rPr>
              <a:t>T         </a:t>
            </a:r>
            <a:r>
              <a:rPr lang="zh-CN" altLang="en-US" sz="1800" b="1" dirty="0">
                <a:latin typeface="微软雅黑" pitchFamily="34" charset="-122"/>
                <a:ea typeface="微软雅黑" pitchFamily="34" charset="-122"/>
              </a:rPr>
              <a:t>长度 </a:t>
            </a:r>
            <a:r>
              <a:rPr lang="en-US" altLang="zh-CN" sz="1800" b="1" dirty="0">
                <a:latin typeface="微软雅黑" pitchFamily="34" charset="-122"/>
                <a:ea typeface="微软雅黑" pitchFamily="34" charset="-122"/>
              </a:rPr>
              <a:t>L                   </a:t>
            </a:r>
            <a:r>
              <a:rPr lang="zh-CN" altLang="en-US" sz="1800" b="1" dirty="0">
                <a:latin typeface="微软雅黑" pitchFamily="34" charset="-122"/>
                <a:ea typeface="微软雅黑" pitchFamily="34" charset="-122"/>
              </a:rPr>
              <a:t>值 </a:t>
            </a:r>
            <a:r>
              <a:rPr lang="en-US" altLang="zh-CN" sz="1800" b="1" dirty="0">
                <a:latin typeface="微软雅黑" pitchFamily="34" charset="-122"/>
                <a:ea typeface="微软雅黑" pitchFamily="34" charset="-122"/>
              </a:rPr>
              <a:t>V</a:t>
            </a:r>
          </a:p>
        </p:txBody>
      </p:sp>
      <p:sp>
        <p:nvSpPr>
          <p:cNvPr id="19" name="Text Box 48"/>
          <p:cNvSpPr txBox="1">
            <a:spLocks noChangeArrowheads="1"/>
          </p:cNvSpPr>
          <p:nvPr/>
        </p:nvSpPr>
        <p:spPr bwMode="auto">
          <a:xfrm>
            <a:off x="1156764" y="1543868"/>
            <a:ext cx="1306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数据元素</a:t>
            </a:r>
          </a:p>
        </p:txBody>
      </p:sp>
      <p:sp>
        <p:nvSpPr>
          <p:cNvPr id="20" name="矩形 19"/>
          <p:cNvSpPr/>
          <p:nvPr/>
        </p:nvSpPr>
        <p:spPr>
          <a:xfrm>
            <a:off x="5785787" y="2213950"/>
            <a:ext cx="1569660" cy="369332"/>
          </a:xfrm>
          <a:prstGeom prst="rect">
            <a:avLst/>
          </a:prstGeom>
        </p:spPr>
        <p:txBody>
          <a:bodyPr wrap="none">
            <a:spAutoFit/>
          </a:bodyPr>
          <a:lstStyle/>
          <a:p>
            <a:r>
              <a:rPr lang="zh-CN" altLang="en-US" b="1" dirty="0">
                <a:latin typeface="微软雅黑" pitchFamily="34" charset="-122"/>
                <a:ea typeface="微软雅黑" pitchFamily="34" charset="-122"/>
              </a:rPr>
              <a:t>定义数据的值</a:t>
            </a:r>
          </a:p>
        </p:txBody>
      </p:sp>
      <p:grpSp>
        <p:nvGrpSpPr>
          <p:cNvPr id="26" name="组合 25"/>
          <p:cNvGrpSpPr/>
          <p:nvPr/>
        </p:nvGrpSpPr>
        <p:grpSpPr>
          <a:xfrm>
            <a:off x="5208439" y="1817107"/>
            <a:ext cx="577348" cy="581509"/>
            <a:chOff x="5208439" y="1841345"/>
            <a:chExt cx="577348" cy="581509"/>
          </a:xfrm>
        </p:grpSpPr>
        <p:cxnSp>
          <p:nvCxnSpPr>
            <p:cNvPr id="22" name="直接连接符 2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组合 26"/>
          <p:cNvGrpSpPr/>
          <p:nvPr/>
        </p:nvGrpSpPr>
        <p:grpSpPr>
          <a:xfrm>
            <a:off x="3759386" y="1817107"/>
            <a:ext cx="577348" cy="1017636"/>
            <a:chOff x="5208439" y="1841345"/>
            <a:chExt cx="577348" cy="581509"/>
          </a:xfrm>
        </p:grpSpPr>
        <p:cxnSp>
          <p:nvCxnSpPr>
            <p:cNvPr id="28" name="直接连接符 27"/>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矩形 29"/>
          <p:cNvSpPr/>
          <p:nvPr/>
        </p:nvSpPr>
        <p:spPr>
          <a:xfrm>
            <a:off x="4317078" y="2638797"/>
            <a:ext cx="2103461" cy="369332"/>
          </a:xfrm>
          <a:prstGeom prst="rect">
            <a:avLst/>
          </a:prstGeom>
        </p:spPr>
        <p:txBody>
          <a:bodyPr wrap="none">
            <a:spAutoFit/>
          </a:bodyPr>
          <a:lstStyle/>
          <a:p>
            <a:r>
              <a:rPr lang="zh-CN" altLang="en-US" b="1" dirty="0">
                <a:latin typeface="微软雅黑" pitchFamily="34" charset="-122"/>
                <a:ea typeface="微软雅黑" pitchFamily="34" charset="-122"/>
              </a:rPr>
              <a:t>定义 </a:t>
            </a:r>
            <a:r>
              <a:rPr lang="en-US" altLang="zh-CN" b="1" dirty="0">
                <a:latin typeface="微软雅黑" pitchFamily="34" charset="-122"/>
                <a:ea typeface="微软雅黑" pitchFamily="34" charset="-122"/>
              </a:rPr>
              <a:t>V </a:t>
            </a:r>
            <a:r>
              <a:rPr lang="zh-CN" altLang="en-US" b="1" dirty="0">
                <a:latin typeface="微软雅黑" pitchFamily="34" charset="-122"/>
                <a:ea typeface="微软雅黑" pitchFamily="34" charset="-122"/>
              </a:rPr>
              <a:t>字段的长度</a:t>
            </a:r>
          </a:p>
        </p:txBody>
      </p:sp>
      <p:grpSp>
        <p:nvGrpSpPr>
          <p:cNvPr id="31" name="组合 30"/>
          <p:cNvGrpSpPr/>
          <p:nvPr/>
        </p:nvGrpSpPr>
        <p:grpSpPr>
          <a:xfrm>
            <a:off x="2512438" y="1817106"/>
            <a:ext cx="577348" cy="1502747"/>
            <a:chOff x="5208439" y="1841345"/>
            <a:chExt cx="577348" cy="581509"/>
          </a:xfrm>
        </p:grpSpPr>
        <p:cxnSp>
          <p:nvCxnSpPr>
            <p:cNvPr id="32" name="直接连接符 3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3045161" y="3135187"/>
            <a:ext cx="1800493" cy="369332"/>
          </a:xfrm>
          <a:prstGeom prst="rect">
            <a:avLst/>
          </a:prstGeom>
        </p:spPr>
        <p:txBody>
          <a:bodyPr wrap="none">
            <a:spAutoFit/>
          </a:bodyPr>
          <a:lstStyle/>
          <a:p>
            <a:r>
              <a:rPr lang="zh-CN" altLang="en-US" b="1" dirty="0">
                <a:latin typeface="微软雅黑" pitchFamily="34" charset="-122"/>
                <a:ea typeface="微软雅黑" pitchFamily="34" charset="-122"/>
              </a:rPr>
              <a:t>定义数据的类型</a:t>
            </a:r>
          </a:p>
        </p:txBody>
      </p:sp>
    </p:spTree>
    <p:extLst>
      <p:ext uri="{BB962C8B-B14F-4D97-AF65-F5344CB8AC3E}">
        <p14:creationId xmlns:p14="http://schemas.microsoft.com/office/powerpoint/2010/main" val="131495329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4960"/>
            <a:ext cx="8048776" cy="316938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7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83560"/>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T </a:t>
            </a:r>
            <a:r>
              <a:rPr lang="zh-CN" altLang="en-US" sz="2000" b="1" dirty="0">
                <a:solidFill>
                  <a:schemeClr val="bg1"/>
                </a:solidFill>
                <a:latin typeface="微软雅黑" pitchFamily="34" charset="-122"/>
                <a:ea typeface="微软雅黑" pitchFamily="34" charset="-122"/>
              </a:rPr>
              <a:t>字段定义数据的类型</a:t>
            </a:r>
          </a:p>
        </p:txBody>
      </p:sp>
      <p:grpSp>
        <p:nvGrpSpPr>
          <p:cNvPr id="21" name="组合 20"/>
          <p:cNvGrpSpPr/>
          <p:nvPr/>
        </p:nvGrpSpPr>
        <p:grpSpPr>
          <a:xfrm>
            <a:off x="1222079" y="1494645"/>
            <a:ext cx="6961801" cy="2013559"/>
            <a:chOff x="1315153" y="2110600"/>
            <a:chExt cx="7617445" cy="2203189"/>
          </a:xfrm>
        </p:grpSpPr>
        <p:sp>
          <p:nvSpPr>
            <p:cNvPr id="8" name="Freeform 36"/>
            <p:cNvSpPr>
              <a:spLocks/>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0000FF"/>
                </a:gs>
                <a:gs pos="100000">
                  <a:srgbClr val="66FF66"/>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9" name="Text Box 37"/>
            <p:cNvSpPr txBox="1">
              <a:spLocks noChangeArrowheads="1"/>
            </p:cNvSpPr>
            <p:nvPr/>
          </p:nvSpPr>
          <p:spPr bwMode="auto">
            <a:xfrm>
              <a:off x="2007624" y="2110600"/>
              <a:ext cx="5220165"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字节          </a:t>
              </a:r>
              <a:r>
                <a:rPr lang="en-US" altLang="zh-CN" sz="1600" b="1" dirty="0">
                  <a:solidFill>
                    <a:srgbClr val="0000FF"/>
                  </a:solidFill>
                  <a:latin typeface="微软雅黑" pitchFamily="34" charset="-122"/>
                  <a:ea typeface="微软雅黑" pitchFamily="34" charset="-122"/>
                </a:rPr>
                <a:t>1               </a:t>
              </a:r>
              <a:r>
                <a:rPr lang="zh-CN" altLang="en-US" sz="1600" b="1" dirty="0">
                  <a:solidFill>
                    <a:srgbClr val="0000FF"/>
                  </a:solidFill>
                  <a:latin typeface="微软雅黑" pitchFamily="34" charset="-122"/>
                  <a:ea typeface="微软雅黑" pitchFamily="34" charset="-122"/>
                </a:rPr>
                <a:t>可变                          可变</a:t>
              </a:r>
            </a:p>
          </p:txBody>
        </p:sp>
        <p:sp>
          <p:nvSpPr>
            <p:cNvPr id="10" name="Rectangle 38"/>
            <p:cNvSpPr>
              <a:spLocks noChangeArrowheads="1"/>
            </p:cNvSpPr>
            <p:nvPr/>
          </p:nvSpPr>
          <p:spPr bwMode="auto">
            <a:xfrm>
              <a:off x="2564210" y="2460626"/>
              <a:ext cx="6368388" cy="473075"/>
            </a:xfrm>
            <a:prstGeom prst="rect">
              <a:avLst/>
            </a:prstGeom>
            <a:solidFill>
              <a:srgbClr val="00FFCC"/>
            </a:solidFill>
            <a:ln w="12700">
              <a:solidFill>
                <a:schemeClr val="tx1"/>
              </a:solidFill>
              <a:miter lim="800000"/>
              <a:headEnd/>
              <a:tailEnd/>
            </a:ln>
            <a:effectLst/>
          </p:spPr>
          <p:txBody>
            <a:bodyPr wrap="none" anchor="ctr"/>
            <a:lstStyle/>
            <a:p>
              <a:pPr eaLnBrk="1" hangingPunct="1"/>
              <a:endParaRPr lang="zh-CN" altLang="en-US" b="1">
                <a:latin typeface="微软雅黑" pitchFamily="34" charset="-122"/>
                <a:ea typeface="微软雅黑" pitchFamily="34" charset="-122"/>
              </a:endParaRPr>
            </a:p>
          </p:txBody>
        </p:sp>
        <p:sp>
          <p:nvSpPr>
            <p:cNvPr id="11" name="Line 39"/>
            <p:cNvSpPr>
              <a:spLocks noChangeShapeType="1"/>
            </p:cNvSpPr>
            <p:nvPr/>
          </p:nvSpPr>
          <p:spPr bwMode="auto">
            <a:xfrm>
              <a:off x="3967560"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2" name="Rectangle 40"/>
            <p:cNvSpPr>
              <a:spLocks noChangeArrowheads="1"/>
            </p:cNvSpPr>
            <p:nvPr/>
          </p:nvSpPr>
          <p:spPr bwMode="auto">
            <a:xfrm>
              <a:off x="2571158" y="2469552"/>
              <a:ext cx="1384431" cy="45720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latin typeface="微软雅黑" pitchFamily="34" charset="-122"/>
                <a:ea typeface="微软雅黑" pitchFamily="34" charset="-122"/>
              </a:endParaRPr>
            </a:p>
          </p:txBody>
        </p:sp>
        <p:sp>
          <p:nvSpPr>
            <p:cNvPr id="13" name="Line 41"/>
            <p:cNvSpPr>
              <a:spLocks noChangeShapeType="1"/>
            </p:cNvSpPr>
            <p:nvPr/>
          </p:nvSpPr>
          <p:spPr bwMode="auto">
            <a:xfrm>
              <a:off x="5262563"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4" name="Text Box 42"/>
            <p:cNvSpPr txBox="1">
              <a:spLocks noChangeArrowheads="1"/>
            </p:cNvSpPr>
            <p:nvPr/>
          </p:nvSpPr>
          <p:spPr bwMode="auto">
            <a:xfrm>
              <a:off x="2862665" y="2508880"/>
              <a:ext cx="4129195"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pitchFamily="34" charset="-122"/>
                  <a:ea typeface="微软雅黑" pitchFamily="34" charset="-122"/>
                </a:rPr>
                <a:t>标记 </a:t>
              </a:r>
              <a:r>
                <a:rPr lang="en-US" altLang="zh-CN" sz="1800" b="1" dirty="0">
                  <a:solidFill>
                    <a:schemeClr val="bg1"/>
                  </a:solidFill>
                  <a:latin typeface="微软雅黑" pitchFamily="34" charset="-122"/>
                  <a:ea typeface="微软雅黑" pitchFamily="34" charset="-122"/>
                </a:rPr>
                <a:t>T       </a:t>
              </a:r>
              <a:r>
                <a:rPr lang="zh-CN" altLang="en-US" sz="1800" b="1" dirty="0">
                  <a:latin typeface="微软雅黑" pitchFamily="34" charset="-122"/>
                  <a:ea typeface="微软雅黑" pitchFamily="34" charset="-122"/>
                </a:rPr>
                <a:t>长度 </a:t>
              </a:r>
              <a:r>
                <a:rPr lang="en-US" altLang="zh-CN" sz="1800" b="1" dirty="0">
                  <a:latin typeface="微软雅黑" pitchFamily="34" charset="-122"/>
                  <a:ea typeface="微软雅黑" pitchFamily="34" charset="-122"/>
                </a:rPr>
                <a:t>L                   </a:t>
              </a:r>
              <a:r>
                <a:rPr lang="zh-CN" altLang="en-US" sz="1800" b="1" dirty="0">
                  <a:latin typeface="微软雅黑" pitchFamily="34" charset="-122"/>
                  <a:ea typeface="微软雅黑" pitchFamily="34" charset="-122"/>
                </a:rPr>
                <a:t>值 </a:t>
              </a:r>
              <a:r>
                <a:rPr lang="en-US" altLang="zh-CN" sz="1800" b="1" dirty="0">
                  <a:latin typeface="微软雅黑" pitchFamily="34" charset="-122"/>
                  <a:ea typeface="微软雅黑" pitchFamily="34" charset="-122"/>
                </a:rPr>
                <a:t>V</a:t>
              </a:r>
            </a:p>
          </p:txBody>
        </p:sp>
        <p:sp>
          <p:nvSpPr>
            <p:cNvPr id="15" name="Rectangle 43"/>
            <p:cNvSpPr>
              <a:spLocks noChangeArrowheads="1"/>
            </p:cNvSpPr>
            <p:nvPr/>
          </p:nvSpPr>
          <p:spPr bwMode="auto">
            <a:xfrm>
              <a:off x="1915849" y="3500439"/>
              <a:ext cx="6045068" cy="473075"/>
            </a:xfrm>
            <a:prstGeom prst="rect">
              <a:avLst/>
            </a:prstGeom>
            <a:solidFill>
              <a:srgbClr val="0000FF"/>
            </a:solidFill>
            <a:ln w="12700">
              <a:solidFill>
                <a:schemeClr val="tx1"/>
              </a:solidFill>
              <a:miter lim="800000"/>
              <a:headEnd/>
              <a:tailEnd/>
            </a:ln>
            <a:effectLst/>
          </p:spPr>
          <p:txBody>
            <a:bodyPr wrap="none" anchor="ctr"/>
            <a:lstStyle/>
            <a:p>
              <a:pPr eaLnBrk="1" hangingPunct="1"/>
              <a:endParaRPr lang="zh-CN" altLang="en-US" b="1">
                <a:latin typeface="微软雅黑" pitchFamily="34" charset="-122"/>
                <a:ea typeface="微软雅黑" pitchFamily="34" charset="-122"/>
              </a:endParaRPr>
            </a:p>
          </p:txBody>
        </p:sp>
        <p:sp>
          <p:nvSpPr>
            <p:cNvPr id="16" name="Text Box 44"/>
            <p:cNvSpPr txBox="1">
              <a:spLocks noChangeArrowheads="1"/>
            </p:cNvSpPr>
            <p:nvPr/>
          </p:nvSpPr>
          <p:spPr bwMode="auto">
            <a:xfrm>
              <a:off x="2344381" y="3548543"/>
              <a:ext cx="4281790"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chemeClr val="bg1"/>
                  </a:solidFill>
                  <a:latin typeface="微软雅黑" pitchFamily="34" charset="-122"/>
                  <a:ea typeface="微软雅黑" pitchFamily="34" charset="-122"/>
                </a:rPr>
                <a:t>类   别       格 式                  编     号</a:t>
              </a:r>
            </a:p>
          </p:txBody>
        </p:sp>
        <p:sp>
          <p:nvSpPr>
            <p:cNvPr id="17" name="Line 45"/>
            <p:cNvSpPr>
              <a:spLocks noChangeShapeType="1"/>
            </p:cNvSpPr>
            <p:nvPr/>
          </p:nvSpPr>
          <p:spPr bwMode="auto">
            <a:xfrm>
              <a:off x="342754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8" name="Line 46"/>
            <p:cNvSpPr>
              <a:spLocks noChangeShapeType="1"/>
            </p:cNvSpPr>
            <p:nvPr/>
          </p:nvSpPr>
          <p:spPr bwMode="auto">
            <a:xfrm>
              <a:off x="450757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itchFamily="34" charset="-122"/>
                <a:ea typeface="微软雅黑" pitchFamily="34" charset="-122"/>
              </a:endParaRPr>
            </a:p>
          </p:txBody>
        </p:sp>
        <p:sp>
          <p:nvSpPr>
            <p:cNvPr id="19" name="Text Box 47"/>
            <p:cNvSpPr txBox="1">
              <a:spLocks noChangeArrowheads="1"/>
            </p:cNvSpPr>
            <p:nvPr/>
          </p:nvSpPr>
          <p:spPr bwMode="auto">
            <a:xfrm>
              <a:off x="1505902" y="3943351"/>
              <a:ext cx="4841306"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位            </a:t>
              </a:r>
              <a:r>
                <a:rPr lang="en-US" altLang="zh-CN" sz="1600" b="1" dirty="0">
                  <a:solidFill>
                    <a:srgbClr val="0000FF"/>
                  </a:solidFill>
                  <a:latin typeface="微软雅黑" pitchFamily="34" charset="-122"/>
                  <a:ea typeface="微软雅黑" pitchFamily="34" charset="-122"/>
                </a:rPr>
                <a:t>2                   1                             5</a:t>
              </a:r>
            </a:p>
          </p:txBody>
        </p:sp>
        <p:sp>
          <p:nvSpPr>
            <p:cNvPr id="20" name="Text Box 48"/>
            <p:cNvSpPr txBox="1">
              <a:spLocks noChangeArrowheads="1"/>
            </p:cNvSpPr>
            <p:nvPr/>
          </p:nvSpPr>
          <p:spPr bwMode="auto">
            <a:xfrm>
              <a:off x="1315153" y="2492375"/>
              <a:ext cx="1429148"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latin typeface="微软雅黑" pitchFamily="34" charset="-122"/>
                  <a:ea typeface="微软雅黑" pitchFamily="34" charset="-122"/>
                </a:rPr>
                <a:t>数据元素</a:t>
              </a:r>
            </a:p>
          </p:txBody>
        </p:sp>
      </p:grpSp>
    </p:spTree>
    <p:extLst>
      <p:ext uri="{BB962C8B-B14F-4D97-AF65-F5344CB8AC3E}">
        <p14:creationId xmlns:p14="http://schemas.microsoft.com/office/powerpoint/2010/main" val="30834162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8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77664"/>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T </a:t>
            </a:r>
            <a:r>
              <a:rPr lang="zh-CN" altLang="en-US" sz="2000" b="1" dirty="0">
                <a:solidFill>
                  <a:schemeClr val="bg1"/>
                </a:solidFill>
                <a:latin typeface="微软雅黑" pitchFamily="34" charset="-122"/>
                <a:ea typeface="微软雅黑" pitchFamily="34" charset="-122"/>
              </a:rPr>
              <a:t>字段定义数据的类型</a:t>
            </a:r>
          </a:p>
        </p:txBody>
      </p:sp>
      <p:graphicFrame>
        <p:nvGraphicFramePr>
          <p:cNvPr id="2" name="表格 1"/>
          <p:cNvGraphicFramePr>
            <a:graphicFrameLocks noGrp="1"/>
          </p:cNvGraphicFramePr>
          <p:nvPr>
            <p:extLst>
              <p:ext uri="{D42A27DB-BD31-4B8C-83A1-F6EECF244321}">
                <p14:modId xmlns:p14="http://schemas.microsoft.com/office/powerpoint/2010/main" val="1686844800"/>
              </p:ext>
            </p:extLst>
          </p:nvPr>
        </p:nvGraphicFramePr>
        <p:xfrm>
          <a:off x="556963" y="1065835"/>
          <a:ext cx="8048775" cy="3119501"/>
        </p:xfrm>
        <a:graphic>
          <a:graphicData uri="http://schemas.openxmlformats.org/drawingml/2006/table">
            <a:tbl>
              <a:tblPr firstRow="1" bandRow="1">
                <a:tableStyleId>{7DF18680-E054-41AD-8BC1-D1AEF772440D}</a:tableStyleId>
              </a:tblPr>
              <a:tblGrid>
                <a:gridCol w="2303476">
                  <a:extLst>
                    <a:ext uri="{9D8B030D-6E8A-4147-A177-3AD203B41FA5}">
                      <a16:colId xmlns:a16="http://schemas.microsoft.com/office/drawing/2014/main" val="20000"/>
                    </a:ext>
                  </a:extLst>
                </a:gridCol>
                <a:gridCol w="696401">
                  <a:extLst>
                    <a:ext uri="{9D8B030D-6E8A-4147-A177-3AD203B41FA5}">
                      <a16:colId xmlns:a16="http://schemas.microsoft.com/office/drawing/2014/main" val="20001"/>
                    </a:ext>
                  </a:extLst>
                </a:gridCol>
                <a:gridCol w="618378">
                  <a:extLst>
                    <a:ext uri="{9D8B030D-6E8A-4147-A177-3AD203B41FA5}">
                      <a16:colId xmlns:a16="http://schemas.microsoft.com/office/drawing/2014/main" val="20002"/>
                    </a:ext>
                  </a:extLst>
                </a:gridCol>
                <a:gridCol w="923026">
                  <a:extLst>
                    <a:ext uri="{9D8B030D-6E8A-4147-A177-3AD203B41FA5}">
                      <a16:colId xmlns:a16="http://schemas.microsoft.com/office/drawing/2014/main" val="20003"/>
                    </a:ext>
                  </a:extLst>
                </a:gridCol>
                <a:gridCol w="1661445">
                  <a:extLst>
                    <a:ext uri="{9D8B030D-6E8A-4147-A177-3AD203B41FA5}">
                      <a16:colId xmlns:a16="http://schemas.microsoft.com/office/drawing/2014/main" val="20004"/>
                    </a:ext>
                  </a:extLst>
                </a:gridCol>
                <a:gridCol w="1846049">
                  <a:extLst>
                    <a:ext uri="{9D8B030D-6E8A-4147-A177-3AD203B41FA5}">
                      <a16:colId xmlns:a16="http://schemas.microsoft.com/office/drawing/2014/main" val="20005"/>
                    </a:ext>
                  </a:extLst>
                </a:gridCol>
              </a:tblGrid>
              <a:tr h="283591">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数据类型</a:t>
                      </a: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类别</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格式</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编号</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a:solidFill>
                            <a:schemeClr val="bg1"/>
                          </a:solidFill>
                          <a:effectLst/>
                          <a:latin typeface="微软雅黑" pitchFamily="34" charset="-122"/>
                          <a:ea typeface="微软雅黑" pitchFamily="34" charset="-122"/>
                        </a:rPr>
                        <a:t>T </a:t>
                      </a:r>
                      <a:r>
                        <a:rPr lang="zh-CN" sz="1400" b="1" dirty="0">
                          <a:solidFill>
                            <a:schemeClr val="bg1"/>
                          </a:solidFill>
                          <a:effectLst/>
                          <a:latin typeface="微软雅黑" pitchFamily="34" charset="-122"/>
                          <a:ea typeface="微软雅黑" pitchFamily="34" charset="-122"/>
                        </a:rPr>
                        <a:t>字段（二进制）</a:t>
                      </a: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a:solidFill>
                            <a:schemeClr val="bg1"/>
                          </a:solidFill>
                          <a:effectLst/>
                          <a:latin typeface="微软雅黑" pitchFamily="34" charset="-122"/>
                          <a:ea typeface="微软雅黑" pitchFamily="34" charset="-122"/>
                        </a:rPr>
                        <a:t>T </a:t>
                      </a:r>
                      <a:r>
                        <a:rPr lang="zh-CN" sz="1400" b="1" dirty="0">
                          <a:solidFill>
                            <a:schemeClr val="bg1"/>
                          </a:solidFill>
                          <a:effectLst/>
                          <a:latin typeface="微软雅黑" pitchFamily="34" charset="-122"/>
                          <a:ea typeface="微软雅黑" pitchFamily="34" charset="-122"/>
                        </a:rPr>
                        <a:t>字段（十六进制）</a:t>
                      </a: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10000"/>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INTEGER</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02</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1"/>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OCTET STRING</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00000100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04</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2"/>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OBJECT IDENTIFIER</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00110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00000110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06</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3"/>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NULL</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00000101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05</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4"/>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Sequence, sequence of</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10000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00110000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30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5"/>
                  </a:ext>
                </a:extLst>
              </a:tr>
              <a:tr h="283591">
                <a:tc>
                  <a:txBody>
                    <a:bodyPr/>
                    <a:lstStyle/>
                    <a:p>
                      <a:pPr algn="l" hangingPunct="0">
                        <a:lnSpc>
                          <a:spcPts val="1800"/>
                        </a:lnSpc>
                        <a:spcAft>
                          <a:spcPts val="0"/>
                        </a:spcAft>
                      </a:pPr>
                      <a:r>
                        <a:rPr lang="en-US" sz="1400" b="1" dirty="0" err="1">
                          <a:solidFill>
                            <a:schemeClr val="tx1"/>
                          </a:solidFill>
                          <a:effectLst/>
                          <a:latin typeface="微软雅黑" pitchFamily="34" charset="-122"/>
                          <a:ea typeface="微软雅黑" pitchFamily="34" charset="-122"/>
                        </a:rPr>
                        <a:t>IPAddress</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01000000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6"/>
                  </a:ext>
                </a:extLst>
              </a:tr>
              <a:tr h="283591">
                <a:tc>
                  <a:txBody>
                    <a:bodyPr/>
                    <a:lstStyle/>
                    <a:p>
                      <a:pPr algn="l" hangingPunct="0">
                        <a:lnSpc>
                          <a:spcPts val="1800"/>
                        </a:lnSpc>
                        <a:spcAft>
                          <a:spcPts val="0"/>
                        </a:spcAft>
                      </a:pPr>
                      <a:r>
                        <a:rPr lang="en-US" sz="1400" b="1">
                          <a:solidFill>
                            <a:schemeClr val="tx1"/>
                          </a:solidFill>
                          <a:effectLst/>
                          <a:latin typeface="微软雅黑" pitchFamily="34" charset="-122"/>
                          <a:ea typeface="微软雅黑" pitchFamily="34" charset="-122"/>
                        </a:rPr>
                        <a:t>Counter</a:t>
                      </a:r>
                      <a:endParaRPr lang="zh-CN" sz="1400" b="1">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01000001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41</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7"/>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Gauge</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01000010</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42</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08"/>
                  </a:ext>
                </a:extLst>
              </a:tr>
              <a:tr h="283591">
                <a:tc>
                  <a:txBody>
                    <a:bodyPr/>
                    <a:lstStyle/>
                    <a:p>
                      <a:pPr algn="l" hangingPunct="0">
                        <a:lnSpc>
                          <a:spcPts val="1800"/>
                        </a:lnSpc>
                        <a:spcAft>
                          <a:spcPts val="0"/>
                        </a:spcAft>
                      </a:pPr>
                      <a:r>
                        <a:rPr lang="en-US" sz="1400" b="1">
                          <a:solidFill>
                            <a:schemeClr val="tx1"/>
                          </a:solidFill>
                          <a:effectLst/>
                          <a:latin typeface="微软雅黑" pitchFamily="34" charset="-122"/>
                          <a:ea typeface="微软雅黑" pitchFamily="34" charset="-122"/>
                        </a:rPr>
                        <a:t>TimeTicks</a:t>
                      </a:r>
                      <a:endParaRPr lang="zh-CN" sz="1400" b="1">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00011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01000011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43</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9"/>
                  </a:ext>
                </a:extLst>
              </a:tr>
              <a:tr h="283591">
                <a:tc>
                  <a:txBody>
                    <a:bodyPr/>
                    <a:lstStyle/>
                    <a:p>
                      <a:pPr algn="l" hangingPunct="0">
                        <a:lnSpc>
                          <a:spcPts val="1800"/>
                        </a:lnSpc>
                        <a:spcAft>
                          <a:spcPts val="0"/>
                        </a:spcAft>
                      </a:pPr>
                      <a:r>
                        <a:rPr lang="en-US" sz="1400" b="1" dirty="0">
                          <a:solidFill>
                            <a:schemeClr val="tx1"/>
                          </a:solidFill>
                          <a:effectLst/>
                          <a:latin typeface="微软雅黑" pitchFamily="34" charset="-122"/>
                          <a:ea typeface="微软雅黑" pitchFamily="34" charset="-122"/>
                        </a:rPr>
                        <a:t>Opaque</a:t>
                      </a:r>
                      <a:endParaRPr lang="zh-CN" sz="1400" b="1" dirty="0">
                        <a:solidFill>
                          <a:schemeClr val="tx1"/>
                        </a:solidFill>
                        <a:effectLst/>
                        <a:latin typeface="微软雅黑" pitchFamily="34" charset="-122"/>
                        <a:ea typeface="微软雅黑"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00100</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itchFamily="34" charset="-122"/>
                          <a:ea typeface="微软雅黑" pitchFamily="34" charset="-122"/>
                        </a:rPr>
                        <a:t>01000100 </a:t>
                      </a:r>
                      <a:endParaRPr lang="zh-CN" sz="1400" b="1">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itchFamily="34" charset="-122"/>
                          <a:ea typeface="微软雅黑" pitchFamily="34" charset="-122"/>
                        </a:rPr>
                        <a:t>44</a:t>
                      </a:r>
                      <a:endParaRPr lang="zh-CN" sz="1400" b="1" dirty="0">
                        <a:solidFill>
                          <a:schemeClr val="tx1"/>
                        </a:solidFill>
                        <a:effectLst/>
                        <a:latin typeface="微软雅黑" pitchFamily="34" charset="-122"/>
                        <a:ea typeface="微软雅黑"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3680322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451538" y="582898"/>
            <a:ext cx="42596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L </a:t>
            </a:r>
            <a:r>
              <a:rPr lang="zh-CN" altLang="en-US" sz="2000" b="1" dirty="0">
                <a:solidFill>
                  <a:schemeClr val="bg1"/>
                </a:solidFill>
                <a:latin typeface="微软雅黑" pitchFamily="34" charset="-122"/>
                <a:ea typeface="微软雅黑" pitchFamily="34" charset="-122"/>
              </a:rPr>
              <a:t>字段定义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字段的长度</a:t>
            </a:r>
          </a:p>
        </p:txBody>
      </p:sp>
      <p:sp>
        <p:nvSpPr>
          <p:cNvPr id="19" name="Text Box 4"/>
          <p:cNvSpPr txBox="1">
            <a:spLocks noChangeArrowheads="1"/>
          </p:cNvSpPr>
          <p:nvPr/>
        </p:nvSpPr>
        <p:spPr bwMode="auto">
          <a:xfrm>
            <a:off x="2245313" y="1521070"/>
            <a:ext cx="25603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 </a:t>
            </a:r>
            <a:r>
              <a:rPr lang="en-US" altLang="zh-CN" sz="1600" b="1" dirty="0">
                <a:solidFill>
                  <a:srgbClr val="0000FF"/>
                </a:solidFill>
                <a:latin typeface="微软雅黑" pitchFamily="34" charset="-122"/>
                <a:ea typeface="微软雅黑" pitchFamily="34" charset="-122"/>
              </a:rPr>
              <a:t>V </a:t>
            </a:r>
            <a:r>
              <a:rPr lang="zh-CN" altLang="en-US" sz="1600" b="1" dirty="0">
                <a:solidFill>
                  <a:srgbClr val="0000FF"/>
                </a:solidFill>
                <a:latin typeface="微软雅黑" pitchFamily="34" charset="-122"/>
                <a:ea typeface="微软雅黑" pitchFamily="34" charset="-122"/>
              </a:rPr>
              <a:t>字段长度 </a:t>
            </a:r>
            <a:r>
              <a:rPr lang="en-US" altLang="zh-CN" sz="1600" b="1" dirty="0">
                <a:solidFill>
                  <a:srgbClr val="0000FF"/>
                </a:solidFill>
                <a:latin typeface="微软雅黑" pitchFamily="34" charset="-122"/>
                <a:ea typeface="微软雅黑" pitchFamily="34" charset="-122"/>
              </a:rPr>
              <a:t>= 2 </a:t>
            </a:r>
            <a:r>
              <a:rPr lang="zh-CN" altLang="en-US" sz="1600" b="1" dirty="0">
                <a:solidFill>
                  <a:srgbClr val="0000FF"/>
                </a:solidFill>
                <a:latin typeface="微软雅黑" pitchFamily="34" charset="-122"/>
                <a:ea typeface="微软雅黑" pitchFamily="34" charset="-122"/>
              </a:rPr>
              <a:t>字节</a:t>
            </a:r>
          </a:p>
        </p:txBody>
      </p:sp>
      <p:sp>
        <p:nvSpPr>
          <p:cNvPr id="20" name="Rectangle 5"/>
          <p:cNvSpPr>
            <a:spLocks noChangeArrowheads="1"/>
          </p:cNvSpPr>
          <p:nvPr/>
        </p:nvSpPr>
        <p:spPr bwMode="auto">
          <a:xfrm>
            <a:off x="2524966" y="2007514"/>
            <a:ext cx="227656" cy="306136"/>
          </a:xfrm>
          <a:prstGeom prst="rect">
            <a:avLst/>
          </a:prstGeom>
          <a:solidFill>
            <a:srgbClr val="0000FF"/>
          </a:solidFill>
          <a:ln w="9525">
            <a:solidFill>
              <a:schemeClr val="tx1"/>
            </a:solidFill>
            <a:miter lim="800000"/>
            <a:headEnd/>
            <a:tailEnd/>
          </a:ln>
          <a:effectLst/>
        </p:spPr>
        <p:txBody>
          <a:bodyPr wrap="none" anchor="ctr"/>
          <a:lstStyle/>
          <a:p>
            <a:pPr algn="ctr" eaLnBrk="1" hangingPunct="1"/>
            <a:r>
              <a:rPr lang="en-US" altLang="zh-CN" sz="1600" b="1">
                <a:solidFill>
                  <a:schemeClr val="bg1"/>
                </a:solidFill>
                <a:latin typeface="微软雅黑" pitchFamily="34" charset="-122"/>
                <a:ea typeface="微软雅黑" pitchFamily="34" charset="-122"/>
              </a:rPr>
              <a:t>0</a:t>
            </a:r>
          </a:p>
        </p:txBody>
      </p:sp>
      <p:sp>
        <p:nvSpPr>
          <p:cNvPr id="21" name="Rectangle 6"/>
          <p:cNvSpPr>
            <a:spLocks noChangeArrowheads="1"/>
          </p:cNvSpPr>
          <p:nvPr/>
        </p:nvSpPr>
        <p:spPr bwMode="auto">
          <a:xfrm>
            <a:off x="2752622"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2" name="Rectangle 7"/>
          <p:cNvSpPr>
            <a:spLocks noChangeArrowheads="1"/>
          </p:cNvSpPr>
          <p:nvPr/>
        </p:nvSpPr>
        <p:spPr bwMode="auto">
          <a:xfrm>
            <a:off x="2980278" y="2007514"/>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3" name="Rectangle 8"/>
          <p:cNvSpPr>
            <a:spLocks noChangeArrowheads="1"/>
          </p:cNvSpPr>
          <p:nvPr/>
        </p:nvSpPr>
        <p:spPr bwMode="auto">
          <a:xfrm>
            <a:off x="3206528"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4" name="Rectangle 9"/>
          <p:cNvSpPr>
            <a:spLocks noChangeArrowheads="1"/>
          </p:cNvSpPr>
          <p:nvPr/>
        </p:nvSpPr>
        <p:spPr bwMode="auto">
          <a:xfrm>
            <a:off x="3434185"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5" name="Rectangle 10"/>
          <p:cNvSpPr>
            <a:spLocks noChangeArrowheads="1"/>
          </p:cNvSpPr>
          <p:nvPr/>
        </p:nvSpPr>
        <p:spPr bwMode="auto">
          <a:xfrm>
            <a:off x="3661841"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6" name="Rectangle 11"/>
          <p:cNvSpPr>
            <a:spLocks noChangeArrowheads="1"/>
          </p:cNvSpPr>
          <p:nvPr/>
        </p:nvSpPr>
        <p:spPr bwMode="auto">
          <a:xfrm>
            <a:off x="3889496" y="2007514"/>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pitchFamily="34" charset="-122"/>
                <a:ea typeface="微软雅黑" pitchFamily="34" charset="-122"/>
              </a:rPr>
              <a:t>1</a:t>
            </a:r>
          </a:p>
        </p:txBody>
      </p:sp>
      <p:sp>
        <p:nvSpPr>
          <p:cNvPr id="27" name="Rectangle 12"/>
          <p:cNvSpPr>
            <a:spLocks noChangeArrowheads="1"/>
          </p:cNvSpPr>
          <p:nvPr/>
        </p:nvSpPr>
        <p:spPr bwMode="auto">
          <a:xfrm>
            <a:off x="4115748" y="2007514"/>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28" name="Rectangle 13"/>
          <p:cNvSpPr>
            <a:spLocks noChangeArrowheads="1"/>
          </p:cNvSpPr>
          <p:nvPr/>
        </p:nvSpPr>
        <p:spPr bwMode="auto">
          <a:xfrm>
            <a:off x="2526371" y="3023210"/>
            <a:ext cx="227656" cy="306136"/>
          </a:xfrm>
          <a:prstGeom prst="rect">
            <a:avLst/>
          </a:prstGeom>
          <a:solidFill>
            <a:srgbClr val="CC00FF"/>
          </a:solidFill>
          <a:ln w="9525" algn="ctr">
            <a:solidFill>
              <a:schemeClr val="tx1"/>
            </a:solidFill>
            <a:miter lim="800000"/>
            <a:headEnd/>
            <a:tailEnd/>
          </a:ln>
          <a:effectLst/>
        </p:spPr>
        <p:txBody>
          <a:bodyPr wrap="none" anchor="ctr"/>
          <a:lstStyle/>
          <a:p>
            <a:pPr algn="ctr" eaLnBrk="1" hangingPunct="1"/>
            <a:r>
              <a:rPr lang="en-US" altLang="zh-CN" sz="1600" b="1" dirty="0">
                <a:solidFill>
                  <a:schemeClr val="bg1"/>
                </a:solidFill>
                <a:latin typeface="微软雅黑" pitchFamily="34" charset="-122"/>
                <a:ea typeface="微软雅黑" pitchFamily="34" charset="-122"/>
              </a:rPr>
              <a:t>1</a:t>
            </a:r>
          </a:p>
        </p:txBody>
      </p:sp>
      <p:sp>
        <p:nvSpPr>
          <p:cNvPr id="29" name="Rectangle 14"/>
          <p:cNvSpPr>
            <a:spLocks noChangeArrowheads="1"/>
          </p:cNvSpPr>
          <p:nvPr/>
        </p:nvSpPr>
        <p:spPr bwMode="auto">
          <a:xfrm>
            <a:off x="2754027"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dirty="0">
                <a:latin typeface="微软雅黑" pitchFamily="34" charset="-122"/>
                <a:ea typeface="微软雅黑" pitchFamily="34" charset="-122"/>
              </a:rPr>
              <a:t>0</a:t>
            </a:r>
          </a:p>
        </p:txBody>
      </p:sp>
      <p:sp>
        <p:nvSpPr>
          <p:cNvPr id="30" name="Rectangle 15"/>
          <p:cNvSpPr>
            <a:spLocks noChangeArrowheads="1"/>
          </p:cNvSpPr>
          <p:nvPr/>
        </p:nvSpPr>
        <p:spPr bwMode="auto">
          <a:xfrm>
            <a:off x="2981683" y="3025805"/>
            <a:ext cx="226251"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1" name="Rectangle 16"/>
          <p:cNvSpPr>
            <a:spLocks noChangeArrowheads="1"/>
          </p:cNvSpPr>
          <p:nvPr/>
        </p:nvSpPr>
        <p:spPr bwMode="auto">
          <a:xfrm>
            <a:off x="3207935"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2" name="Rectangle 17"/>
          <p:cNvSpPr>
            <a:spLocks noChangeArrowheads="1"/>
          </p:cNvSpPr>
          <p:nvPr/>
        </p:nvSpPr>
        <p:spPr bwMode="auto">
          <a:xfrm>
            <a:off x="3435591"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3" name="Rectangle 18"/>
          <p:cNvSpPr>
            <a:spLocks noChangeArrowheads="1"/>
          </p:cNvSpPr>
          <p:nvPr/>
        </p:nvSpPr>
        <p:spPr bwMode="auto">
          <a:xfrm>
            <a:off x="3663247"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4" name="Rectangle 19"/>
          <p:cNvSpPr>
            <a:spLocks noChangeArrowheads="1"/>
          </p:cNvSpPr>
          <p:nvPr/>
        </p:nvSpPr>
        <p:spPr bwMode="auto">
          <a:xfrm>
            <a:off x="3890902" y="3025805"/>
            <a:ext cx="227656"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35" name="Rectangle 20"/>
          <p:cNvSpPr>
            <a:spLocks noChangeArrowheads="1"/>
          </p:cNvSpPr>
          <p:nvPr/>
        </p:nvSpPr>
        <p:spPr bwMode="auto">
          <a:xfrm>
            <a:off x="4118559" y="3025805"/>
            <a:ext cx="226250" cy="306136"/>
          </a:xfrm>
          <a:prstGeom prst="rect">
            <a:avLst/>
          </a:prstGeom>
          <a:solidFill>
            <a:srgbClr val="FFFF00"/>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6" name="Rectangle 21"/>
          <p:cNvSpPr>
            <a:spLocks noChangeArrowheads="1"/>
          </p:cNvSpPr>
          <p:nvPr/>
        </p:nvSpPr>
        <p:spPr bwMode="auto">
          <a:xfrm>
            <a:off x="4497985" y="3025805"/>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dirty="0">
                <a:latin typeface="微软雅黑" pitchFamily="34" charset="-122"/>
                <a:ea typeface="微软雅黑" pitchFamily="34" charset="-122"/>
              </a:rPr>
              <a:t>0</a:t>
            </a:r>
          </a:p>
        </p:txBody>
      </p:sp>
      <p:sp>
        <p:nvSpPr>
          <p:cNvPr id="37" name="Rectangle 22"/>
          <p:cNvSpPr>
            <a:spLocks noChangeArrowheads="1"/>
          </p:cNvSpPr>
          <p:nvPr/>
        </p:nvSpPr>
        <p:spPr bwMode="auto">
          <a:xfrm>
            <a:off x="4724236"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8" name="Rectangle 23"/>
          <p:cNvSpPr>
            <a:spLocks noChangeArrowheads="1"/>
          </p:cNvSpPr>
          <p:nvPr/>
        </p:nvSpPr>
        <p:spPr bwMode="auto">
          <a:xfrm>
            <a:off x="4951893"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39" name="Rectangle 24"/>
          <p:cNvSpPr>
            <a:spLocks noChangeArrowheads="1"/>
          </p:cNvSpPr>
          <p:nvPr/>
        </p:nvSpPr>
        <p:spPr bwMode="auto">
          <a:xfrm>
            <a:off x="5179548"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0" name="Rectangle 25"/>
          <p:cNvSpPr>
            <a:spLocks noChangeArrowheads="1"/>
          </p:cNvSpPr>
          <p:nvPr/>
        </p:nvSpPr>
        <p:spPr bwMode="auto">
          <a:xfrm>
            <a:off x="5407204"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1" name="Rectangle 26"/>
          <p:cNvSpPr>
            <a:spLocks noChangeArrowheads="1"/>
          </p:cNvSpPr>
          <p:nvPr/>
        </p:nvSpPr>
        <p:spPr bwMode="auto">
          <a:xfrm>
            <a:off x="5634860" y="3025805"/>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2" name="Rectangle 27"/>
          <p:cNvSpPr>
            <a:spLocks noChangeArrowheads="1"/>
          </p:cNvSpPr>
          <p:nvPr/>
        </p:nvSpPr>
        <p:spPr bwMode="auto">
          <a:xfrm>
            <a:off x="5861111"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3" name="Rectangle 28"/>
          <p:cNvSpPr>
            <a:spLocks noChangeArrowheads="1"/>
          </p:cNvSpPr>
          <p:nvPr/>
        </p:nvSpPr>
        <p:spPr bwMode="auto">
          <a:xfrm>
            <a:off x="6088768"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44" name="Rectangle 29"/>
          <p:cNvSpPr>
            <a:spLocks noChangeArrowheads="1"/>
          </p:cNvSpPr>
          <p:nvPr/>
        </p:nvSpPr>
        <p:spPr bwMode="auto">
          <a:xfrm>
            <a:off x="6468194"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5" name="Rectangle 30"/>
          <p:cNvSpPr>
            <a:spLocks noChangeArrowheads="1"/>
          </p:cNvSpPr>
          <p:nvPr/>
        </p:nvSpPr>
        <p:spPr bwMode="auto">
          <a:xfrm>
            <a:off x="6695851"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6" name="Rectangle 31"/>
          <p:cNvSpPr>
            <a:spLocks noChangeArrowheads="1"/>
          </p:cNvSpPr>
          <p:nvPr/>
        </p:nvSpPr>
        <p:spPr bwMode="auto">
          <a:xfrm>
            <a:off x="6923507"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7" name="Rectangle 32"/>
          <p:cNvSpPr>
            <a:spLocks noChangeArrowheads="1"/>
          </p:cNvSpPr>
          <p:nvPr/>
        </p:nvSpPr>
        <p:spPr bwMode="auto">
          <a:xfrm>
            <a:off x="7151163" y="3025805"/>
            <a:ext cx="226250"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8" name="Rectangle 33"/>
          <p:cNvSpPr>
            <a:spLocks noChangeArrowheads="1"/>
          </p:cNvSpPr>
          <p:nvPr/>
        </p:nvSpPr>
        <p:spPr bwMode="auto">
          <a:xfrm>
            <a:off x="7377413"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49" name="Rectangle 34"/>
          <p:cNvSpPr>
            <a:spLocks noChangeArrowheads="1"/>
          </p:cNvSpPr>
          <p:nvPr/>
        </p:nvSpPr>
        <p:spPr bwMode="auto">
          <a:xfrm>
            <a:off x="7605069"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50" name="Rectangle 35"/>
          <p:cNvSpPr>
            <a:spLocks noChangeArrowheads="1"/>
          </p:cNvSpPr>
          <p:nvPr/>
        </p:nvSpPr>
        <p:spPr bwMode="auto">
          <a:xfrm>
            <a:off x="7832726" y="3025805"/>
            <a:ext cx="227656"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1</a:t>
            </a:r>
          </a:p>
        </p:txBody>
      </p:sp>
      <p:sp>
        <p:nvSpPr>
          <p:cNvPr id="51" name="Rectangle 36"/>
          <p:cNvSpPr>
            <a:spLocks noChangeArrowheads="1"/>
          </p:cNvSpPr>
          <p:nvPr/>
        </p:nvSpPr>
        <p:spPr bwMode="auto">
          <a:xfrm>
            <a:off x="8060381" y="3025805"/>
            <a:ext cx="226251" cy="306136"/>
          </a:xfrm>
          <a:prstGeom prst="rect">
            <a:avLst/>
          </a:prstGeom>
          <a:solidFill>
            <a:srgbClr val="00FFCC"/>
          </a:solidFill>
          <a:ln w="9525">
            <a:solidFill>
              <a:schemeClr val="tx1"/>
            </a:solidFill>
            <a:miter lim="800000"/>
            <a:headEnd/>
            <a:tailEnd/>
          </a:ln>
          <a:effectLst/>
        </p:spPr>
        <p:txBody>
          <a:bodyPr wrap="none" anchor="ctr"/>
          <a:lstStyle/>
          <a:p>
            <a:pPr algn="ctr" eaLnBrk="1" hangingPunct="1"/>
            <a:r>
              <a:rPr lang="en-US" altLang="zh-CN" sz="1600" b="1">
                <a:latin typeface="微软雅黑" pitchFamily="34" charset="-122"/>
                <a:ea typeface="微软雅黑" pitchFamily="34" charset="-122"/>
              </a:rPr>
              <a:t>0</a:t>
            </a:r>
          </a:p>
        </p:txBody>
      </p:sp>
      <p:sp>
        <p:nvSpPr>
          <p:cNvPr id="52" name="Text Box 37"/>
          <p:cNvSpPr txBox="1">
            <a:spLocks noChangeArrowheads="1"/>
          </p:cNvSpPr>
          <p:nvPr/>
        </p:nvSpPr>
        <p:spPr bwMode="auto">
          <a:xfrm>
            <a:off x="779603" y="1991949"/>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00000"/>
                </a:solidFill>
                <a:latin typeface="微软雅黑" pitchFamily="34" charset="-122"/>
                <a:ea typeface="微软雅黑" pitchFamily="34" charset="-122"/>
              </a:rPr>
              <a:t>单字节的 </a:t>
            </a:r>
            <a:r>
              <a:rPr lang="en-US" altLang="zh-CN" sz="1600" b="1" dirty="0">
                <a:solidFill>
                  <a:srgbClr val="C00000"/>
                </a:solidFill>
                <a:latin typeface="微软雅黑" pitchFamily="34" charset="-122"/>
                <a:ea typeface="微软雅黑" pitchFamily="34" charset="-122"/>
              </a:rPr>
              <a:t>L </a:t>
            </a:r>
            <a:r>
              <a:rPr lang="zh-CN" altLang="en-US" sz="1600" b="1" dirty="0">
                <a:solidFill>
                  <a:srgbClr val="C00000"/>
                </a:solidFill>
                <a:latin typeface="微软雅黑" pitchFamily="34" charset="-122"/>
                <a:ea typeface="微软雅黑" pitchFamily="34" charset="-122"/>
              </a:rPr>
              <a:t>字段</a:t>
            </a:r>
          </a:p>
        </p:txBody>
      </p:sp>
      <p:sp>
        <p:nvSpPr>
          <p:cNvPr id="53" name="AutoShape 38"/>
          <p:cNvSpPr>
            <a:spLocks/>
          </p:cNvSpPr>
          <p:nvPr/>
        </p:nvSpPr>
        <p:spPr bwMode="auto">
          <a:xfrm rot="16200000">
            <a:off x="3487153" y="1075270"/>
            <a:ext cx="175120" cy="1590782"/>
          </a:xfrm>
          <a:prstGeom prst="rightBrace">
            <a:avLst>
              <a:gd name="adj1" fmla="val 69876"/>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4" name="AutoShape 39"/>
          <p:cNvSpPr>
            <a:spLocks/>
          </p:cNvSpPr>
          <p:nvPr/>
        </p:nvSpPr>
        <p:spPr bwMode="auto">
          <a:xfrm rot="16200000">
            <a:off x="6344638" y="1020464"/>
            <a:ext cx="120638" cy="3791458"/>
          </a:xfrm>
          <a:prstGeom prst="rightBrace">
            <a:avLst>
              <a:gd name="adj1" fmla="val 241757"/>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5" name="Text Box 40"/>
          <p:cNvSpPr txBox="1">
            <a:spLocks noChangeArrowheads="1"/>
          </p:cNvSpPr>
          <p:nvPr/>
        </p:nvSpPr>
        <p:spPr bwMode="auto">
          <a:xfrm>
            <a:off x="5119120" y="2580871"/>
            <a:ext cx="281359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 </a:t>
            </a:r>
            <a:r>
              <a:rPr lang="en-US" altLang="zh-CN" sz="1600" b="1" dirty="0">
                <a:solidFill>
                  <a:srgbClr val="0000FF"/>
                </a:solidFill>
                <a:latin typeface="微软雅黑" pitchFamily="34" charset="-122"/>
                <a:ea typeface="微软雅黑" pitchFamily="34" charset="-122"/>
              </a:rPr>
              <a:t>V </a:t>
            </a:r>
            <a:r>
              <a:rPr lang="zh-CN" altLang="en-US" sz="1600" b="1" dirty="0">
                <a:solidFill>
                  <a:srgbClr val="0000FF"/>
                </a:solidFill>
                <a:latin typeface="微软雅黑" pitchFamily="34" charset="-122"/>
                <a:ea typeface="微软雅黑" pitchFamily="34" charset="-122"/>
              </a:rPr>
              <a:t>字段长度 </a:t>
            </a:r>
            <a:r>
              <a:rPr lang="en-US" altLang="zh-CN" sz="1600" b="1" dirty="0">
                <a:solidFill>
                  <a:srgbClr val="0000FF"/>
                </a:solidFill>
                <a:latin typeface="微软雅黑" pitchFamily="34" charset="-122"/>
                <a:ea typeface="微软雅黑" pitchFamily="34" charset="-122"/>
              </a:rPr>
              <a:t>= 262 </a:t>
            </a:r>
            <a:r>
              <a:rPr lang="zh-CN" altLang="en-US" sz="1600" b="1" dirty="0">
                <a:solidFill>
                  <a:srgbClr val="0000FF"/>
                </a:solidFill>
                <a:latin typeface="微软雅黑" pitchFamily="34" charset="-122"/>
                <a:ea typeface="微软雅黑" pitchFamily="34" charset="-122"/>
              </a:rPr>
              <a:t>字节</a:t>
            </a:r>
          </a:p>
        </p:txBody>
      </p:sp>
      <p:sp>
        <p:nvSpPr>
          <p:cNvPr id="56" name="Text Box 41"/>
          <p:cNvSpPr txBox="1">
            <a:spLocks noChangeArrowheads="1"/>
          </p:cNvSpPr>
          <p:nvPr/>
        </p:nvSpPr>
        <p:spPr bwMode="auto">
          <a:xfrm>
            <a:off x="779603" y="3023211"/>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a:solidFill>
                  <a:srgbClr val="C00000"/>
                </a:solidFill>
                <a:latin typeface="微软雅黑" pitchFamily="34" charset="-122"/>
                <a:ea typeface="微软雅黑" pitchFamily="34" charset="-122"/>
              </a:rPr>
              <a:t>多字节的 </a:t>
            </a:r>
            <a:r>
              <a:rPr lang="en-US" altLang="zh-CN" sz="1600" b="1">
                <a:solidFill>
                  <a:srgbClr val="C00000"/>
                </a:solidFill>
                <a:latin typeface="微软雅黑" pitchFamily="34" charset="-122"/>
                <a:ea typeface="微软雅黑" pitchFamily="34" charset="-122"/>
              </a:rPr>
              <a:t>L </a:t>
            </a:r>
            <a:r>
              <a:rPr lang="zh-CN" altLang="en-US" sz="1600" b="1">
                <a:solidFill>
                  <a:srgbClr val="C00000"/>
                </a:solidFill>
                <a:latin typeface="微软雅黑" pitchFamily="34" charset="-122"/>
                <a:ea typeface="微软雅黑" pitchFamily="34" charset="-122"/>
              </a:rPr>
              <a:t>字段</a:t>
            </a:r>
          </a:p>
        </p:txBody>
      </p:sp>
      <p:sp>
        <p:nvSpPr>
          <p:cNvPr id="57" name="AutoShape 42"/>
          <p:cNvSpPr>
            <a:spLocks/>
          </p:cNvSpPr>
          <p:nvPr/>
        </p:nvSpPr>
        <p:spPr bwMode="auto">
          <a:xfrm rot="16200000">
            <a:off x="3476884" y="2107182"/>
            <a:ext cx="147879" cy="1590782"/>
          </a:xfrm>
          <a:prstGeom prst="rightBrace">
            <a:avLst>
              <a:gd name="adj1" fmla="val 82749"/>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itchFamily="34" charset="-122"/>
              <a:ea typeface="微软雅黑" pitchFamily="34" charset="-122"/>
            </a:endParaRPr>
          </a:p>
        </p:txBody>
      </p:sp>
      <p:sp>
        <p:nvSpPr>
          <p:cNvPr id="58" name="Line 43"/>
          <p:cNvSpPr>
            <a:spLocks noChangeShapeType="1"/>
          </p:cNvSpPr>
          <p:nvPr/>
        </p:nvSpPr>
        <p:spPr bwMode="auto">
          <a:xfrm flipV="1">
            <a:off x="4495175" y="3610836"/>
            <a:ext cx="379145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itchFamily="34" charset="-122"/>
              <a:ea typeface="微软雅黑" pitchFamily="34" charset="-122"/>
            </a:endParaRPr>
          </a:p>
        </p:txBody>
      </p:sp>
      <p:sp>
        <p:nvSpPr>
          <p:cNvPr id="59" name="Text Box 44"/>
          <p:cNvSpPr txBox="1">
            <a:spLocks noChangeArrowheads="1"/>
          </p:cNvSpPr>
          <p:nvPr/>
        </p:nvSpPr>
        <p:spPr bwMode="auto">
          <a:xfrm>
            <a:off x="2436433" y="2552333"/>
            <a:ext cx="235806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0000FF"/>
                </a:solidFill>
                <a:latin typeface="微软雅黑" pitchFamily="34" charset="-122"/>
                <a:ea typeface="微软雅黑" pitchFamily="34" charset="-122"/>
              </a:rPr>
              <a:t>指出后续字节数 </a:t>
            </a:r>
            <a:r>
              <a:rPr lang="en-US" altLang="zh-CN" sz="1600" b="1" dirty="0">
                <a:solidFill>
                  <a:srgbClr val="0000FF"/>
                </a:solidFill>
                <a:latin typeface="微软雅黑" pitchFamily="34" charset="-122"/>
                <a:ea typeface="微软雅黑" pitchFamily="34" charset="-122"/>
              </a:rPr>
              <a:t>= 2</a:t>
            </a:r>
          </a:p>
        </p:txBody>
      </p:sp>
      <p:sp>
        <p:nvSpPr>
          <p:cNvPr id="60" name="Text Box 45"/>
          <p:cNvSpPr txBox="1">
            <a:spLocks noChangeArrowheads="1"/>
          </p:cNvSpPr>
          <p:nvPr/>
        </p:nvSpPr>
        <p:spPr bwMode="auto">
          <a:xfrm>
            <a:off x="5497143" y="3434420"/>
            <a:ext cx="1728500" cy="338554"/>
          </a:xfrm>
          <a:prstGeom prst="rect">
            <a:avLst/>
          </a:prstGeom>
          <a:solidFill>
            <a:srgbClr val="C3E3F9"/>
          </a:solidFill>
          <a:ln>
            <a:noFill/>
          </a:ln>
          <a:effec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600" b="1" dirty="0">
                <a:solidFill>
                  <a:srgbClr val="CC00CC"/>
                </a:solidFill>
                <a:latin typeface="微软雅黑" pitchFamily="34" charset="-122"/>
                <a:ea typeface="微软雅黑" pitchFamily="34" charset="-122"/>
              </a:rPr>
              <a:t>后续字节数 </a:t>
            </a:r>
            <a:r>
              <a:rPr lang="en-US" altLang="zh-CN" sz="1600" b="1" dirty="0">
                <a:solidFill>
                  <a:srgbClr val="CC00CC"/>
                </a:solidFill>
                <a:latin typeface="微软雅黑" pitchFamily="34" charset="-122"/>
                <a:ea typeface="微软雅黑" pitchFamily="34" charset="-122"/>
              </a:rPr>
              <a:t>= 2</a:t>
            </a:r>
          </a:p>
        </p:txBody>
      </p:sp>
    </p:spTree>
    <p:extLst>
      <p:ext uri="{BB962C8B-B14F-4D97-AF65-F5344CB8AC3E}">
        <p14:creationId xmlns:p14="http://schemas.microsoft.com/office/powerpoint/2010/main" val="124287092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096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65727" y="576475"/>
            <a:ext cx="363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字段定义数据的值</a:t>
            </a:r>
          </a:p>
        </p:txBody>
      </p:sp>
      <p:graphicFrame>
        <p:nvGraphicFramePr>
          <p:cNvPr id="5" name="表格 4"/>
          <p:cNvGraphicFramePr>
            <a:graphicFrameLocks noGrp="1"/>
          </p:cNvGraphicFramePr>
          <p:nvPr>
            <p:extLst>
              <p:ext uri="{D42A27DB-BD31-4B8C-83A1-F6EECF244321}">
                <p14:modId xmlns:p14="http://schemas.microsoft.com/office/powerpoint/2010/main" val="3984821246"/>
              </p:ext>
            </p:extLst>
          </p:nvPr>
        </p:nvGraphicFramePr>
        <p:xfrm>
          <a:off x="556964" y="1035483"/>
          <a:ext cx="8048775" cy="3052071"/>
        </p:xfrm>
        <a:graphic>
          <a:graphicData uri="http://schemas.openxmlformats.org/drawingml/2006/table">
            <a:tbl>
              <a:tblPr firstRow="1" bandRow="1">
                <a:tableStyleId>{BC89EF96-8CEA-46FF-86C4-4CE0E7609802}</a:tableStyleId>
              </a:tblPr>
              <a:tblGrid>
                <a:gridCol w="2199678">
                  <a:extLst>
                    <a:ext uri="{9D8B030D-6E8A-4147-A177-3AD203B41FA5}">
                      <a16:colId xmlns:a16="http://schemas.microsoft.com/office/drawing/2014/main" val="20000"/>
                    </a:ext>
                  </a:extLst>
                </a:gridCol>
                <a:gridCol w="901836">
                  <a:extLst>
                    <a:ext uri="{9D8B030D-6E8A-4147-A177-3AD203B41FA5}">
                      <a16:colId xmlns:a16="http://schemas.microsoft.com/office/drawing/2014/main" val="20001"/>
                    </a:ext>
                  </a:extLst>
                </a:gridCol>
                <a:gridCol w="4947261">
                  <a:extLst>
                    <a:ext uri="{9D8B030D-6E8A-4147-A177-3AD203B41FA5}">
                      <a16:colId xmlns:a16="http://schemas.microsoft.com/office/drawing/2014/main" val="20002"/>
                    </a:ext>
                  </a:extLst>
                </a:gridCol>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pitchFamily="34" charset="-122"/>
                          <a:ea typeface="微软雅黑" pitchFamily="34" charset="-122"/>
                        </a:rPr>
                        <a:t>类</a:t>
                      </a:r>
                      <a:r>
                        <a:rPr lang="en-US" sz="1400" b="1" kern="1200" dirty="0">
                          <a:solidFill>
                            <a:schemeClr val="bg1"/>
                          </a:solidFill>
                          <a:effectLst/>
                          <a:latin typeface="微软雅黑" pitchFamily="34" charset="-122"/>
                          <a:ea typeface="微软雅黑" pitchFamily="34" charset="-122"/>
                        </a:rPr>
                        <a:t>   </a:t>
                      </a:r>
                      <a:r>
                        <a:rPr lang="zh-CN" sz="1400" b="1" kern="1200" dirty="0">
                          <a:solidFill>
                            <a:schemeClr val="bg1"/>
                          </a:solidFill>
                          <a:effectLst/>
                          <a:latin typeface="微软雅黑" pitchFamily="34" charset="-122"/>
                          <a:ea typeface="微软雅黑" pitchFamily="34" charset="-122"/>
                        </a:rPr>
                        <a:t>型</a:t>
                      </a:r>
                      <a:endParaRPr lang="zh-CN" sz="1400" b="1" kern="1200" dirty="0">
                        <a:solidFill>
                          <a:schemeClr val="bg1"/>
                        </a:solidFill>
                        <a:effectLst/>
                        <a:latin typeface="微软雅黑" pitchFamily="34" charset="-122"/>
                        <a:ea typeface="微软雅黑"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大</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itchFamily="34" charset="-122"/>
                          <a:ea typeface="微软雅黑" pitchFamily="34" charset="-122"/>
                        </a:rPr>
                        <a:t>说</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明</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extLst>
                  <a:ext uri="{0D108BD9-81ED-4DB2-BD59-A6C34878D82A}">
                    <a16:rowId xmlns:a16="http://schemas.microsoft.com/office/drawing/2014/main" val="10000"/>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INTEGER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在</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–2</a:t>
                      </a:r>
                      <a:r>
                        <a:rPr lang="en-US" sz="1400" b="1" baseline="30000" dirty="0">
                          <a:effectLst/>
                          <a:latin typeface="微软雅黑" pitchFamily="34" charset="-122"/>
                          <a:ea typeface="微软雅黑" pitchFamily="34" charset="-122"/>
                        </a:rPr>
                        <a:t>31 </a:t>
                      </a:r>
                      <a:r>
                        <a:rPr lang="zh-CN" sz="1400" b="1" dirty="0">
                          <a:effectLst/>
                          <a:latin typeface="微软雅黑" pitchFamily="34" charset="-122"/>
                          <a:ea typeface="微软雅黑" pitchFamily="34" charset="-122"/>
                        </a:rPr>
                        <a:t>到</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2</a:t>
                      </a:r>
                      <a:r>
                        <a:rPr lang="en-US" sz="1400" b="1" baseline="30000" dirty="0">
                          <a:effectLst/>
                          <a:latin typeface="微软雅黑" pitchFamily="34" charset="-122"/>
                          <a:ea typeface="微软雅黑" pitchFamily="34" charset="-122"/>
                        </a:rPr>
                        <a:t>31</a:t>
                      </a:r>
                      <a:r>
                        <a:rPr lang="en-US" sz="1400" b="1" dirty="0">
                          <a:effectLst/>
                          <a:latin typeface="微软雅黑" pitchFamily="34" charset="-122"/>
                          <a:ea typeface="微软雅黑" pitchFamily="34" charset="-122"/>
                        </a:rPr>
                        <a:t> – 1 </a:t>
                      </a:r>
                      <a:r>
                        <a:rPr lang="zh-CN" sz="1400" b="1" dirty="0">
                          <a:effectLst/>
                          <a:latin typeface="微软雅黑" pitchFamily="34" charset="-122"/>
                          <a:ea typeface="微软雅黑" pitchFamily="34" charset="-122"/>
                        </a:rPr>
                        <a:t>之间的整数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Interger32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和</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INTEGER </a:t>
                      </a:r>
                      <a:r>
                        <a:rPr lang="zh-CN" sz="1400" b="1" dirty="0">
                          <a:effectLst/>
                          <a:latin typeface="微软雅黑" pitchFamily="34" charset="-122"/>
                          <a:ea typeface="微软雅黑" pitchFamily="34" charset="-122"/>
                        </a:rPr>
                        <a:t>相同</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2"/>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Unsigned32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在</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0 </a:t>
                      </a:r>
                      <a:r>
                        <a:rPr lang="zh-CN" sz="1400" b="1" dirty="0">
                          <a:effectLst/>
                          <a:latin typeface="微软雅黑" pitchFamily="34" charset="-122"/>
                          <a:ea typeface="微软雅黑" pitchFamily="34" charset="-122"/>
                        </a:rPr>
                        <a:t>到</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2</a:t>
                      </a:r>
                      <a:r>
                        <a:rPr lang="en-US" sz="1400" b="1" baseline="30000" dirty="0">
                          <a:effectLst/>
                          <a:latin typeface="微软雅黑" pitchFamily="34" charset="-122"/>
                          <a:ea typeface="微软雅黑" pitchFamily="34" charset="-122"/>
                        </a:rPr>
                        <a:t>32</a:t>
                      </a:r>
                      <a:r>
                        <a:rPr lang="en-US" sz="1400" b="1" dirty="0">
                          <a:effectLst/>
                          <a:latin typeface="微软雅黑" pitchFamily="34" charset="-122"/>
                          <a:ea typeface="微软雅黑" pitchFamily="34" charset="-122"/>
                        </a:rPr>
                        <a:t> – 1 </a:t>
                      </a:r>
                      <a:r>
                        <a:rPr lang="zh-CN" sz="1400" b="1" dirty="0">
                          <a:effectLst/>
                          <a:latin typeface="微软雅黑" pitchFamily="34" charset="-122"/>
                          <a:ea typeface="微软雅黑" pitchFamily="34" charset="-122"/>
                        </a:rPr>
                        <a:t>之间的无符号数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OCTET STRING</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不超过</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65535 </a:t>
                      </a:r>
                      <a:r>
                        <a:rPr lang="zh-CN" sz="1400" b="1" dirty="0">
                          <a:effectLst/>
                          <a:latin typeface="微软雅黑" pitchFamily="34" charset="-122"/>
                          <a:ea typeface="微软雅黑" pitchFamily="34" charset="-122"/>
                        </a:rPr>
                        <a:t>字节长的字节串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4"/>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OBJECT IDENTIFIER</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对象标识符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7461">
                <a:tc>
                  <a:txBody>
                    <a:bodyPr/>
                    <a:lstStyle/>
                    <a:p>
                      <a:pPr algn="l" hangingPunct="0">
                        <a:lnSpc>
                          <a:spcPts val="1800"/>
                        </a:lnSpc>
                        <a:spcAft>
                          <a:spcPts val="0"/>
                        </a:spcAft>
                      </a:pPr>
                      <a:r>
                        <a:rPr lang="en-US" sz="1400" b="1" dirty="0" err="1">
                          <a:effectLst/>
                          <a:latin typeface="微软雅黑" pitchFamily="34" charset="-122"/>
                          <a:ea typeface="微软雅黑" pitchFamily="34" charset="-122"/>
                        </a:rPr>
                        <a:t>IPAddress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由</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个整数组成的</a:t>
                      </a:r>
                      <a:r>
                        <a:rPr lang="en-US" sz="1400" b="1" dirty="0">
                          <a:effectLst/>
                          <a:latin typeface="微软雅黑" pitchFamily="34" charset="-122"/>
                          <a:ea typeface="微软雅黑" pitchFamily="34" charset="-122"/>
                        </a:rPr>
                        <a:t>IP</a:t>
                      </a:r>
                      <a:r>
                        <a:rPr lang="zh-CN" sz="1400" b="1" dirty="0">
                          <a:effectLst/>
                          <a:latin typeface="微软雅黑" pitchFamily="34" charset="-122"/>
                          <a:ea typeface="微软雅黑"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6"/>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Counter32</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可从</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0 </a:t>
                      </a:r>
                      <a:r>
                        <a:rPr lang="zh-CN" sz="1400" b="1" dirty="0">
                          <a:effectLst/>
                          <a:latin typeface="微软雅黑" pitchFamily="34" charset="-122"/>
                          <a:ea typeface="微软雅黑" pitchFamily="34" charset="-122"/>
                        </a:rPr>
                        <a:t>增加到</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2</a:t>
                      </a:r>
                      <a:r>
                        <a:rPr lang="en-US" sz="1400" b="1" baseline="30000" dirty="0">
                          <a:effectLst/>
                          <a:latin typeface="微软雅黑" pitchFamily="34" charset="-122"/>
                          <a:ea typeface="微软雅黑" pitchFamily="34" charset="-122"/>
                        </a:rPr>
                        <a:t>32 </a:t>
                      </a:r>
                      <a:r>
                        <a:rPr lang="zh-CN" sz="1400" b="1" dirty="0">
                          <a:effectLst/>
                          <a:latin typeface="微软雅黑" pitchFamily="34" charset="-122"/>
                          <a:ea typeface="微软雅黑" pitchFamily="34" charset="-122"/>
                        </a:rPr>
                        <a:t>的整数；当它到达最大值时就返回到</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0</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7461">
                <a:tc>
                  <a:txBody>
                    <a:bodyPr/>
                    <a:lstStyle/>
                    <a:p>
                      <a:pPr algn="l" hangingPunct="0">
                        <a:lnSpc>
                          <a:spcPts val="1800"/>
                        </a:lnSpc>
                        <a:spcAft>
                          <a:spcPts val="0"/>
                        </a:spcAft>
                      </a:pPr>
                      <a:r>
                        <a:rPr lang="en-US" sz="1400" b="1" dirty="0" err="1">
                          <a:effectLst/>
                          <a:latin typeface="微软雅黑" pitchFamily="34" charset="-122"/>
                          <a:ea typeface="微软雅黑" pitchFamily="34" charset="-122"/>
                        </a:rPr>
                        <a:t>TimeTicks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a:effectLst/>
                          <a:latin typeface="微软雅黑" pitchFamily="34" charset="-122"/>
                          <a:ea typeface="微软雅黑" pitchFamily="34" charset="-122"/>
                        </a:rPr>
                        <a:t>4 </a:t>
                      </a:r>
                      <a:r>
                        <a:rPr lang="zh-CN" sz="1400" b="1" dirty="0">
                          <a:effectLst/>
                          <a:latin typeface="微软雅黑" pitchFamily="34" charset="-122"/>
                          <a:ea typeface="微软雅黑" pitchFamily="34" charset="-122"/>
                        </a:rPr>
                        <a:t>字节</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记录时间的计数值，以</a:t>
                      </a:r>
                      <a:r>
                        <a:rPr lang="en-US" altLang="zh-CN" sz="1400" b="1" dirty="0">
                          <a:effectLst/>
                          <a:latin typeface="微软雅黑" pitchFamily="34" charset="-122"/>
                          <a:ea typeface="微软雅黑" pitchFamily="34" charset="-122"/>
                        </a:rPr>
                        <a:t> </a:t>
                      </a:r>
                      <a:r>
                        <a:rPr lang="en-US" sz="1400" b="1" dirty="0">
                          <a:effectLst/>
                          <a:latin typeface="微软雅黑" pitchFamily="34" charset="-122"/>
                          <a:ea typeface="微软雅黑" pitchFamily="34" charset="-122"/>
                        </a:rPr>
                        <a:t>1/100 </a:t>
                      </a:r>
                      <a:r>
                        <a:rPr lang="zh-CN" sz="1400" b="1" dirty="0">
                          <a:effectLst/>
                          <a:latin typeface="微软雅黑" pitchFamily="34" charset="-122"/>
                          <a:ea typeface="微软雅黑" pitchFamily="34" charset="-122"/>
                        </a:rPr>
                        <a:t>秒为单位</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08"/>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BITS</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a:effectLst/>
                          <a:latin typeface="微软雅黑" pitchFamily="34" charset="-122"/>
                          <a:ea typeface="微软雅黑"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比特串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77461">
                <a:tc>
                  <a:txBody>
                    <a:bodyPr/>
                    <a:lstStyle/>
                    <a:p>
                      <a:pPr algn="l" hangingPunct="0">
                        <a:lnSpc>
                          <a:spcPts val="1800"/>
                        </a:lnSpc>
                        <a:spcAft>
                          <a:spcPts val="0"/>
                        </a:spcAft>
                      </a:pPr>
                      <a:r>
                        <a:rPr lang="en-US" sz="1400" b="1" dirty="0">
                          <a:effectLst/>
                          <a:latin typeface="微软雅黑" pitchFamily="34" charset="-122"/>
                          <a:ea typeface="微软雅黑" pitchFamily="34" charset="-122"/>
                        </a:rPr>
                        <a:t>Opaque</a:t>
                      </a:r>
                      <a:endParaRPr lang="zh-CN" sz="14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a:effectLst/>
                          <a:latin typeface="微软雅黑" pitchFamily="34" charset="-122"/>
                          <a:ea typeface="微软雅黑" pitchFamily="34" charset="-122"/>
                        </a:rPr>
                        <a:t>可变</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itchFamily="34" charset="-122"/>
                          <a:ea typeface="微软雅黑" pitchFamily="34" charset="-122"/>
                        </a:rPr>
                        <a:t>不解释的串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411535028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字段定义数据的值</a:t>
            </a: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en-US" altLang="zh-CN" sz="2000" b="1" dirty="0">
                <a:latin typeface="微软雅黑" pitchFamily="34" charset="-122"/>
                <a:ea typeface="微软雅黑" pitchFamily="34" charset="-122"/>
              </a:rPr>
              <a:t>INTEGER 15</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T </a:t>
            </a:r>
            <a:r>
              <a:rPr lang="zh-CN" altLang="en-US" sz="2000" b="1" dirty="0">
                <a:latin typeface="微软雅黑" pitchFamily="34" charset="-122"/>
                <a:ea typeface="微软雅黑" pitchFamily="34" charset="-122"/>
              </a:rPr>
              <a:t>字段是 </a:t>
            </a:r>
            <a:r>
              <a:rPr lang="en-US" altLang="zh-CN" sz="2000" b="1" dirty="0">
                <a:latin typeface="微软雅黑" pitchFamily="34" charset="-122"/>
                <a:ea typeface="微软雅黑" pitchFamily="34" charset="-122"/>
              </a:rPr>
              <a:t>02</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INTEGER </a:t>
            </a:r>
            <a:r>
              <a:rPr lang="zh-CN" altLang="en-US" sz="2000" b="1" dirty="0">
                <a:latin typeface="微软雅黑" pitchFamily="34" charset="-122"/>
                <a:ea typeface="微软雅黑" pitchFamily="34" charset="-122"/>
              </a:rPr>
              <a:t>类型要用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字节编码。最后得出 </a:t>
            </a:r>
            <a:r>
              <a:rPr lang="en-US" altLang="zh-CN" sz="2000" b="1" dirty="0">
                <a:latin typeface="微软雅黑" pitchFamily="34" charset="-122"/>
                <a:ea typeface="微软雅黑" pitchFamily="34" charset="-122"/>
              </a:rPr>
              <a:t>TLV </a:t>
            </a:r>
            <a:r>
              <a:rPr lang="zh-CN" altLang="en-US" sz="2000" b="1" dirty="0">
                <a:latin typeface="微软雅黑" pitchFamily="34" charset="-122"/>
                <a:ea typeface="微软雅黑" pitchFamily="34" charset="-122"/>
              </a:rPr>
              <a:t>编码为 </a:t>
            </a:r>
            <a:r>
              <a:rPr lang="en-US" altLang="zh-CN" sz="2000" b="1" dirty="0">
                <a:latin typeface="微软雅黑" pitchFamily="34" charset="-122"/>
                <a:ea typeface="微软雅黑" pitchFamily="34" charset="-122"/>
              </a:rPr>
              <a:t>02 04 00 00 00 0F</a:t>
            </a:r>
            <a:r>
              <a:rPr lang="zh-CN" altLang="en-US" sz="2000" b="1" dirty="0">
                <a:latin typeface="微软雅黑" pitchFamily="34" charset="-122"/>
                <a:ea typeface="微软雅黑" pitchFamily="34" charset="-122"/>
              </a:rPr>
              <a:t>。</a:t>
            </a:r>
          </a:p>
        </p:txBody>
      </p:sp>
      <p:grpSp>
        <p:nvGrpSpPr>
          <p:cNvPr id="14" name="组合 13"/>
          <p:cNvGrpSpPr/>
          <p:nvPr/>
        </p:nvGrpSpPr>
        <p:grpSpPr>
          <a:xfrm>
            <a:off x="1819921" y="2016696"/>
            <a:ext cx="5495279" cy="613023"/>
            <a:chOff x="1494111" y="2655888"/>
            <a:chExt cx="5495279" cy="812526"/>
          </a:xfrm>
        </p:grpSpPr>
        <p:sp>
          <p:nvSpPr>
            <p:cNvPr id="5" name="Rectangle 38"/>
            <p:cNvSpPr>
              <a:spLocks noChangeArrowheads="1"/>
            </p:cNvSpPr>
            <p:nvPr/>
          </p:nvSpPr>
          <p:spPr bwMode="auto">
            <a:xfrm>
              <a:off x="1494111" y="2655888"/>
              <a:ext cx="5495279"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grpSp>
          <p:nvGrpSpPr>
            <p:cNvPr id="13" name="组合 12"/>
            <p:cNvGrpSpPr/>
            <p:nvPr/>
          </p:nvGrpSpPr>
          <p:grpSpPr>
            <a:xfrm>
              <a:off x="3031573" y="2655888"/>
              <a:ext cx="1324693" cy="812526"/>
              <a:chOff x="3031573" y="2655888"/>
              <a:chExt cx="1324693" cy="569913"/>
            </a:xfrm>
          </p:grpSpPr>
          <p:sp>
            <p:nvSpPr>
              <p:cNvPr id="6"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sp>
            <p:nvSpPr>
              <p:cNvPr id="7"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grpSp>
      </p:grpSp>
      <p:sp>
        <p:nvSpPr>
          <p:cNvPr id="9"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T</a:t>
            </a:r>
          </a:p>
          <a:p>
            <a:pPr algn="ctr"/>
            <a:r>
              <a:rPr kumimoji="1" lang="en-US" altLang="zh-CN" sz="1600" b="1" dirty="0">
                <a:latin typeface="微软雅黑" pitchFamily="34" charset="-122"/>
                <a:ea typeface="微软雅黑" pitchFamily="34" charset="-122"/>
              </a:rPr>
              <a:t>02</a:t>
            </a:r>
          </a:p>
        </p:txBody>
      </p:sp>
      <p:sp>
        <p:nvSpPr>
          <p:cNvPr id="10"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L</a:t>
            </a:r>
          </a:p>
          <a:p>
            <a:pPr algn="ctr"/>
            <a:r>
              <a:rPr kumimoji="1" lang="en-US" altLang="zh-CN" sz="1600" b="1" dirty="0">
                <a:latin typeface="微软雅黑" pitchFamily="34" charset="-122"/>
                <a:ea typeface="微软雅黑" pitchFamily="34" charset="-122"/>
              </a:rPr>
              <a:t>04</a:t>
            </a:r>
          </a:p>
        </p:txBody>
      </p:sp>
      <p:sp>
        <p:nvSpPr>
          <p:cNvPr id="11" name="Text Box 58"/>
          <p:cNvSpPr txBox="1">
            <a:spLocks noChangeArrowheads="1"/>
          </p:cNvSpPr>
          <p:nvPr/>
        </p:nvSpPr>
        <p:spPr bwMode="auto">
          <a:xfrm>
            <a:off x="5299792" y="2044944"/>
            <a:ext cx="136768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V</a:t>
            </a:r>
          </a:p>
          <a:p>
            <a:pPr algn="ctr"/>
            <a:r>
              <a:rPr kumimoji="1" lang="en-US" altLang="zh-CN" sz="1600" b="1" dirty="0">
                <a:latin typeface="微软雅黑" pitchFamily="34" charset="-122"/>
                <a:ea typeface="微软雅黑" pitchFamily="34" charset="-122"/>
              </a:rPr>
              <a:t>00 00 00 0F</a:t>
            </a:r>
          </a:p>
        </p:txBody>
      </p:sp>
    </p:spTree>
    <p:extLst>
      <p:ext uri="{BB962C8B-B14F-4D97-AF65-F5344CB8AC3E}">
        <p14:creationId xmlns:p14="http://schemas.microsoft.com/office/powerpoint/2010/main" val="316122744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字段定义数据的值</a:t>
            </a: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例如，</a:t>
            </a:r>
            <a:r>
              <a:rPr lang="en-US" altLang="zh-CN" sz="2000" b="1" dirty="0" err="1">
                <a:latin typeface="微软雅黑" pitchFamily="34" charset="-122"/>
                <a:ea typeface="微软雅黑" pitchFamily="34" charset="-122"/>
              </a:rPr>
              <a:t>IPAddress</a:t>
            </a:r>
            <a:r>
              <a:rPr lang="en-US" altLang="zh-CN" sz="2000" b="1" dirty="0">
                <a:latin typeface="微软雅黑" pitchFamily="34" charset="-122"/>
                <a:ea typeface="微软雅黑" pitchFamily="34" charset="-122"/>
              </a:rPr>
              <a:t> = 192.1.2.3</a:t>
            </a:r>
            <a:r>
              <a:rPr lang="zh-CN" altLang="en-US" sz="2000" b="1" dirty="0">
                <a:latin typeface="微软雅黑" pitchFamily="34" charset="-122"/>
                <a:ea typeface="微软雅黑" pitchFamily="34" charset="-122"/>
              </a:rPr>
              <a:t>，其 </a:t>
            </a:r>
            <a:r>
              <a:rPr lang="en-US" altLang="zh-CN" sz="2000" b="1" dirty="0">
                <a:latin typeface="微软雅黑" pitchFamily="34" charset="-122"/>
                <a:ea typeface="微软雅黑" pitchFamily="34" charset="-122"/>
              </a:rPr>
              <a:t>T </a:t>
            </a:r>
            <a:r>
              <a:rPr lang="zh-CN" altLang="en-US" sz="2000" b="1" dirty="0">
                <a:latin typeface="微软雅黑" pitchFamily="34" charset="-122"/>
                <a:ea typeface="微软雅黑" pitchFamily="34" charset="-122"/>
              </a:rPr>
              <a:t>字段是 </a:t>
            </a:r>
            <a:r>
              <a:rPr lang="en-US" altLang="zh-CN" sz="2000" b="1" dirty="0">
                <a:latin typeface="微软雅黑" pitchFamily="34" charset="-122"/>
                <a:ea typeface="微软雅黑" pitchFamily="34" charset="-122"/>
              </a:rPr>
              <a:t>40</a:t>
            </a:r>
            <a:r>
              <a:rPr lang="zh-CN" altLang="en-US" sz="2000" b="1" dirty="0">
                <a:latin typeface="微软雅黑" pitchFamily="34" charset="-122"/>
                <a:ea typeface="微软雅黑" pitchFamily="34" charset="-122"/>
              </a:rPr>
              <a:t>，</a:t>
            </a:r>
            <a:r>
              <a:rPr lang="en-US" altLang="zh-CN" sz="2000" b="1" dirty="0">
                <a:latin typeface="微软雅黑" pitchFamily="34" charset="-122"/>
                <a:ea typeface="微软雅黑" pitchFamily="34" charset="-122"/>
              </a:rPr>
              <a:t>V </a:t>
            </a:r>
            <a:r>
              <a:rPr lang="zh-CN" altLang="en-US" sz="2000" b="1" dirty="0">
                <a:latin typeface="微软雅黑" pitchFamily="34" charset="-122"/>
                <a:ea typeface="微软雅黑" pitchFamily="34" charset="-122"/>
              </a:rPr>
              <a:t>字段需要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字节表示，因此得出 </a:t>
            </a:r>
            <a:r>
              <a:rPr lang="en-US" altLang="zh-CN" sz="2000" b="1" dirty="0">
                <a:latin typeface="微软雅黑" pitchFamily="34" charset="-122"/>
                <a:ea typeface="微软雅黑" pitchFamily="34" charset="-122"/>
              </a:rPr>
              <a:t>TLV </a:t>
            </a:r>
            <a:r>
              <a:rPr lang="zh-CN" altLang="en-US" sz="2000" b="1" dirty="0">
                <a:latin typeface="微软雅黑" pitchFamily="34" charset="-122"/>
                <a:ea typeface="微软雅黑" pitchFamily="34" charset="-122"/>
              </a:rPr>
              <a:t>编码是 </a:t>
            </a:r>
            <a:r>
              <a:rPr lang="en-US" altLang="zh-CN" sz="2000" b="1" dirty="0">
                <a:latin typeface="微软雅黑" pitchFamily="34" charset="-122"/>
                <a:ea typeface="微软雅黑" pitchFamily="34" charset="-122"/>
              </a:rPr>
              <a:t>40 04 C0 01 02 03</a:t>
            </a:r>
            <a:r>
              <a:rPr lang="zh-CN" altLang="en-US" sz="2000" b="1" dirty="0">
                <a:latin typeface="微软雅黑" pitchFamily="34" charset="-122"/>
                <a:ea typeface="微软雅黑" pitchFamily="34" charset="-122"/>
              </a:rPr>
              <a:t>。 </a:t>
            </a:r>
          </a:p>
        </p:txBody>
      </p:sp>
      <p:grpSp>
        <p:nvGrpSpPr>
          <p:cNvPr id="10" name="组合 9"/>
          <p:cNvGrpSpPr/>
          <p:nvPr/>
        </p:nvGrpSpPr>
        <p:grpSpPr>
          <a:xfrm>
            <a:off x="1819922" y="2016696"/>
            <a:ext cx="5513033" cy="613023"/>
            <a:chOff x="1494112" y="2655888"/>
            <a:chExt cx="5513033" cy="812526"/>
          </a:xfrm>
        </p:grpSpPr>
        <p:sp>
          <p:nvSpPr>
            <p:cNvPr id="11" name="Rectangle 38"/>
            <p:cNvSpPr>
              <a:spLocks noChangeArrowheads="1"/>
            </p:cNvSpPr>
            <p:nvPr/>
          </p:nvSpPr>
          <p:spPr bwMode="auto">
            <a:xfrm>
              <a:off x="1494112" y="2655888"/>
              <a:ext cx="5513033" cy="812526"/>
            </a:xfrm>
            <a:prstGeom prst="rect">
              <a:avLst/>
            </a:prstGeom>
            <a:solidFill>
              <a:srgbClr val="99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grpSp>
          <p:nvGrpSpPr>
            <p:cNvPr id="12" name="组合 11"/>
            <p:cNvGrpSpPr/>
            <p:nvPr/>
          </p:nvGrpSpPr>
          <p:grpSpPr>
            <a:xfrm>
              <a:off x="3031573" y="2655888"/>
              <a:ext cx="1324693" cy="812526"/>
              <a:chOff x="3031573" y="2655888"/>
              <a:chExt cx="1324693" cy="569913"/>
            </a:xfrm>
          </p:grpSpPr>
          <p:sp>
            <p:nvSpPr>
              <p:cNvPr id="13" name="Line 39"/>
              <p:cNvSpPr>
                <a:spLocks noChangeShapeType="1"/>
              </p:cNvSpPr>
              <p:nvPr/>
            </p:nvSpPr>
            <p:spPr bwMode="auto">
              <a:xfrm>
                <a:off x="3031573"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sp>
            <p:nvSpPr>
              <p:cNvPr id="14" name="Line 40"/>
              <p:cNvSpPr>
                <a:spLocks noChangeShapeType="1"/>
              </p:cNvSpPr>
              <p:nvPr/>
            </p:nvSpPr>
            <p:spPr bwMode="auto">
              <a:xfrm>
                <a:off x="4356266" y="2655888"/>
                <a:ext cx="0" cy="569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effectLst/>
                  <a:uLnTx/>
                  <a:uFillTx/>
                  <a:latin typeface="微软雅黑" pitchFamily="34" charset="-122"/>
                  <a:ea typeface="微软雅黑" pitchFamily="34" charset="-122"/>
                </a:endParaRPr>
              </a:p>
            </p:txBody>
          </p:sp>
        </p:grpSp>
      </p:grpSp>
      <p:sp>
        <p:nvSpPr>
          <p:cNvPr id="15"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T</a:t>
            </a:r>
          </a:p>
          <a:p>
            <a:pPr algn="ctr"/>
            <a:r>
              <a:rPr kumimoji="1" lang="en-US" altLang="zh-CN" sz="1600" b="1" dirty="0">
                <a:latin typeface="微软雅黑" pitchFamily="34" charset="-122"/>
                <a:ea typeface="微软雅黑" pitchFamily="34" charset="-122"/>
              </a:rPr>
              <a:t>40</a:t>
            </a:r>
          </a:p>
        </p:txBody>
      </p:sp>
      <p:sp>
        <p:nvSpPr>
          <p:cNvPr id="16"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L</a:t>
            </a:r>
          </a:p>
          <a:p>
            <a:pPr algn="ctr"/>
            <a:r>
              <a:rPr kumimoji="1" lang="en-US" altLang="zh-CN" sz="1600" b="1" dirty="0">
                <a:latin typeface="微软雅黑" pitchFamily="34" charset="-122"/>
                <a:ea typeface="微软雅黑" pitchFamily="34" charset="-122"/>
              </a:rPr>
              <a:t>04</a:t>
            </a:r>
          </a:p>
        </p:txBody>
      </p:sp>
      <p:sp>
        <p:nvSpPr>
          <p:cNvPr id="17" name="Text Box 58"/>
          <p:cNvSpPr txBox="1">
            <a:spLocks noChangeArrowheads="1"/>
          </p:cNvSpPr>
          <p:nvPr/>
        </p:nvSpPr>
        <p:spPr bwMode="auto">
          <a:xfrm>
            <a:off x="5294181" y="2044944"/>
            <a:ext cx="137890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a:latin typeface="微软雅黑" pitchFamily="34" charset="-122"/>
                <a:ea typeface="微软雅黑" pitchFamily="34" charset="-122"/>
              </a:rPr>
              <a:t>V</a:t>
            </a:r>
          </a:p>
          <a:p>
            <a:pPr algn="ctr"/>
            <a:r>
              <a:rPr kumimoji="1" lang="en-US" altLang="zh-CN" sz="1600" b="1" dirty="0">
                <a:latin typeface="微软雅黑" pitchFamily="34" charset="-122"/>
                <a:ea typeface="微软雅黑" pitchFamily="34" charset="-122"/>
              </a:rPr>
              <a:t>C0 01 02 03</a:t>
            </a:r>
          </a:p>
        </p:txBody>
      </p:sp>
    </p:spTree>
    <p:extLst>
      <p:ext uri="{BB962C8B-B14F-4D97-AF65-F5344CB8AC3E}">
        <p14:creationId xmlns:p14="http://schemas.microsoft.com/office/powerpoint/2010/main" val="75877962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101469"/>
            <a:ext cx="8048776" cy="236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43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85243" y="581164"/>
            <a:ext cx="5792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中的 </a:t>
            </a:r>
            <a:r>
              <a:rPr lang="en-US" altLang="zh-CN" sz="2000" b="1" dirty="0">
                <a:solidFill>
                  <a:schemeClr val="bg1"/>
                </a:solidFill>
                <a:latin typeface="微软雅黑" pitchFamily="34" charset="-122"/>
                <a:ea typeface="微软雅黑" pitchFamily="34" charset="-122"/>
              </a:rPr>
              <a:t>V </a:t>
            </a:r>
            <a:r>
              <a:rPr lang="zh-CN" altLang="en-US" sz="2000" b="1" dirty="0">
                <a:solidFill>
                  <a:schemeClr val="bg1"/>
                </a:solidFill>
                <a:latin typeface="微软雅黑" pitchFamily="34" charset="-122"/>
                <a:ea typeface="微软雅黑" pitchFamily="34" charset="-122"/>
              </a:rPr>
              <a:t>字段可嵌套其他数据元素的 </a:t>
            </a:r>
            <a:r>
              <a:rPr lang="en-US" altLang="zh-CN" sz="2000" b="1" dirty="0">
                <a:solidFill>
                  <a:schemeClr val="bg1"/>
                </a:solidFill>
                <a:latin typeface="微软雅黑" pitchFamily="34" charset="-122"/>
                <a:ea typeface="微软雅黑" pitchFamily="34" charset="-122"/>
              </a:rPr>
              <a:t>TLV </a:t>
            </a:r>
            <a:r>
              <a:rPr lang="zh-CN" altLang="en-US" sz="2000" b="1" dirty="0">
                <a:solidFill>
                  <a:schemeClr val="bg1"/>
                </a:solidFill>
                <a:latin typeface="微软雅黑" pitchFamily="34" charset="-122"/>
                <a:ea typeface="微软雅黑" pitchFamily="34" charset="-122"/>
              </a:rPr>
              <a:t>字段</a:t>
            </a:r>
          </a:p>
        </p:txBody>
      </p:sp>
      <p:grpSp>
        <p:nvGrpSpPr>
          <p:cNvPr id="8" name="组合 7"/>
          <p:cNvGrpSpPr/>
          <p:nvPr/>
        </p:nvGrpSpPr>
        <p:grpSpPr>
          <a:xfrm>
            <a:off x="1082567" y="2024558"/>
            <a:ext cx="6663558" cy="925513"/>
            <a:chOff x="1082567" y="2669299"/>
            <a:chExt cx="6663558" cy="925513"/>
          </a:xfrm>
        </p:grpSpPr>
        <p:sp>
          <p:nvSpPr>
            <p:cNvPr id="18" name="Freeform 5"/>
            <p:cNvSpPr>
              <a:spLocks/>
            </p:cNvSpPr>
            <p:nvPr/>
          </p:nvSpPr>
          <p:spPr bwMode="auto">
            <a:xfrm>
              <a:off x="1088006" y="2669299"/>
              <a:ext cx="6656306" cy="352425"/>
            </a:xfrm>
            <a:custGeom>
              <a:avLst/>
              <a:gdLst>
                <a:gd name="T0" fmla="*/ 0 w 3672"/>
                <a:gd name="T1" fmla="*/ 222 h 222"/>
                <a:gd name="T2" fmla="*/ 2556 w 3672"/>
                <a:gd name="T3" fmla="*/ 0 h 222"/>
                <a:gd name="T4" fmla="*/ 3564 w 3672"/>
                <a:gd name="T5" fmla="*/ 6 h 222"/>
                <a:gd name="T6" fmla="*/ 3672 w 3672"/>
                <a:gd name="T7" fmla="*/ 222 h 222"/>
                <a:gd name="T8" fmla="*/ 0 w 3672"/>
                <a:gd name="T9" fmla="*/ 222 h 222"/>
              </a:gdLst>
              <a:ahLst/>
              <a:cxnLst>
                <a:cxn ang="0">
                  <a:pos x="T0" y="T1"/>
                </a:cxn>
                <a:cxn ang="0">
                  <a:pos x="T2" y="T3"/>
                </a:cxn>
                <a:cxn ang="0">
                  <a:pos x="T4" y="T5"/>
                </a:cxn>
                <a:cxn ang="0">
                  <a:pos x="T6" y="T7"/>
                </a:cxn>
                <a:cxn ang="0">
                  <a:pos x="T8" y="T9"/>
                </a:cxn>
              </a:cxnLst>
              <a:rect l="0" t="0" r="r" b="b"/>
              <a:pathLst>
                <a:path w="3672" h="222">
                  <a:moveTo>
                    <a:pt x="0" y="222"/>
                  </a:moveTo>
                  <a:lnTo>
                    <a:pt x="2556" y="0"/>
                  </a:lnTo>
                  <a:lnTo>
                    <a:pt x="3564" y="6"/>
                  </a:lnTo>
                  <a:lnTo>
                    <a:pt x="3672" y="222"/>
                  </a:lnTo>
                  <a:lnTo>
                    <a:pt x="0" y="222"/>
                  </a:lnTo>
                  <a:close/>
                </a:path>
              </a:pathLst>
            </a:custGeom>
            <a:gradFill rotWithShape="1">
              <a:gsLst>
                <a:gs pos="0">
                  <a:srgbClr val="00CCFF"/>
                </a:gs>
                <a:gs pos="100000">
                  <a:srgbClr val="66FF66"/>
                </a:gs>
              </a:gsLst>
              <a:lin ang="5400000" scaled="1"/>
            </a:gradFill>
            <a:ln>
              <a:noFill/>
            </a:ln>
            <a:effectLst/>
            <a:extLst>
              <a:ext uri="{91240B29-F687-4F45-9708-019B960494DF}">
                <a14:hiddenLine xmlns:a14="http://schemas.microsoft.com/office/drawing/2010/main" w="19050" cap="flat" cmpd="sng">
                  <a:solidFill>
                    <a:srgbClr val="333399"/>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19" name="Rectangle 9"/>
            <p:cNvSpPr>
              <a:spLocks noChangeArrowheads="1"/>
            </p:cNvSpPr>
            <p:nvPr/>
          </p:nvSpPr>
          <p:spPr bwMode="auto">
            <a:xfrm>
              <a:off x="1102597" y="3024899"/>
              <a:ext cx="6643528" cy="569913"/>
            </a:xfrm>
            <a:prstGeom prst="rect">
              <a:avLst/>
            </a:prstGeom>
            <a:solidFill>
              <a:srgbClr val="0000FF"/>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1" name="Text Box 14"/>
            <p:cNvSpPr txBox="1">
              <a:spLocks noChangeArrowheads="1"/>
            </p:cNvSpPr>
            <p:nvPr/>
          </p:nvSpPr>
          <p:spPr bwMode="auto">
            <a:xfrm>
              <a:off x="3858732" y="3162514"/>
              <a:ext cx="1002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itchFamily="34" charset="-122"/>
                  <a:ea typeface="微软雅黑" pitchFamily="34" charset="-122"/>
                </a:rPr>
                <a:t>           V</a:t>
              </a:r>
            </a:p>
          </p:txBody>
        </p:sp>
        <p:sp>
          <p:nvSpPr>
            <p:cNvPr id="22" name="Text Box 15"/>
            <p:cNvSpPr txBox="1">
              <a:spLocks noChangeArrowheads="1"/>
            </p:cNvSpPr>
            <p:nvPr/>
          </p:nvSpPr>
          <p:spPr bwMode="auto">
            <a:xfrm>
              <a:off x="300083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itchFamily="34" charset="-122"/>
                  <a:ea typeface="微软雅黑" pitchFamily="34" charset="-122"/>
                </a:rPr>
                <a:t>L</a:t>
              </a:r>
            </a:p>
          </p:txBody>
        </p:sp>
        <p:sp>
          <p:nvSpPr>
            <p:cNvPr id="23" name="Text Box 16"/>
            <p:cNvSpPr txBox="1">
              <a:spLocks noChangeArrowheads="1"/>
            </p:cNvSpPr>
            <p:nvPr/>
          </p:nvSpPr>
          <p:spPr bwMode="auto">
            <a:xfrm>
              <a:off x="1429427" y="3170338"/>
              <a:ext cx="922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pitchFamily="34" charset="-122"/>
                  <a:ea typeface="微软雅黑" pitchFamily="34" charset="-122"/>
                </a:rPr>
                <a:t>          T</a:t>
              </a:r>
            </a:p>
          </p:txBody>
        </p:sp>
        <p:sp>
          <p:nvSpPr>
            <p:cNvPr id="24" name="Text Box 17"/>
            <p:cNvSpPr txBox="1">
              <a:spLocks noChangeArrowheads="1"/>
            </p:cNvSpPr>
            <p:nvPr/>
          </p:nvSpPr>
          <p:spPr bwMode="auto">
            <a:xfrm>
              <a:off x="6107905" y="3162514"/>
              <a:ext cx="31290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pitchFamily="34" charset="-122"/>
                  <a:ea typeface="微软雅黑" pitchFamily="34" charset="-122"/>
                </a:rPr>
                <a:t>T</a:t>
              </a:r>
            </a:p>
          </p:txBody>
        </p:sp>
        <p:sp>
          <p:nvSpPr>
            <p:cNvPr id="25" name="Text Box 18"/>
            <p:cNvSpPr txBox="1">
              <a:spLocks noChangeArrowheads="1"/>
            </p:cNvSpPr>
            <p:nvPr/>
          </p:nvSpPr>
          <p:spPr bwMode="auto">
            <a:xfrm>
              <a:off x="676041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itchFamily="34" charset="-122"/>
                  <a:ea typeface="微软雅黑" pitchFamily="34" charset="-122"/>
                </a:rPr>
                <a:t>L</a:t>
              </a:r>
            </a:p>
          </p:txBody>
        </p:sp>
        <p:sp>
          <p:nvSpPr>
            <p:cNvPr id="31" name="Line 93"/>
            <p:cNvSpPr>
              <a:spLocks noChangeShapeType="1"/>
            </p:cNvSpPr>
            <p:nvPr/>
          </p:nvSpPr>
          <p:spPr bwMode="auto">
            <a:xfrm>
              <a:off x="585566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2" name="Line 94"/>
            <p:cNvSpPr>
              <a:spLocks noChangeShapeType="1"/>
            </p:cNvSpPr>
            <p:nvPr/>
          </p:nvSpPr>
          <p:spPr bwMode="auto">
            <a:xfrm>
              <a:off x="2928124"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3" name="Line 95"/>
            <p:cNvSpPr>
              <a:spLocks noChangeShapeType="1"/>
            </p:cNvSpPr>
            <p:nvPr/>
          </p:nvSpPr>
          <p:spPr bwMode="auto">
            <a:xfrm>
              <a:off x="339943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4" name="Line 96"/>
            <p:cNvSpPr>
              <a:spLocks noChangeShapeType="1"/>
            </p:cNvSpPr>
            <p:nvPr/>
          </p:nvSpPr>
          <p:spPr bwMode="auto">
            <a:xfrm>
              <a:off x="6722145"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7" name="Line 107"/>
            <p:cNvSpPr>
              <a:spLocks noChangeShapeType="1"/>
            </p:cNvSpPr>
            <p:nvPr/>
          </p:nvSpPr>
          <p:spPr bwMode="auto">
            <a:xfrm flipV="1">
              <a:off x="1082567" y="2686761"/>
              <a:ext cx="4644187"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8" name="Line 108"/>
            <p:cNvSpPr>
              <a:spLocks noChangeShapeType="1"/>
            </p:cNvSpPr>
            <p:nvPr/>
          </p:nvSpPr>
          <p:spPr bwMode="auto">
            <a:xfrm flipH="1">
              <a:off x="5855665" y="2672474"/>
              <a:ext cx="679563" cy="352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9" name="Line 109"/>
            <p:cNvSpPr>
              <a:spLocks noChangeShapeType="1"/>
            </p:cNvSpPr>
            <p:nvPr/>
          </p:nvSpPr>
          <p:spPr bwMode="auto">
            <a:xfrm>
              <a:off x="7544913" y="2686761"/>
              <a:ext cx="201212" cy="338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1" name="Line 96"/>
            <p:cNvSpPr>
              <a:spLocks noChangeShapeType="1"/>
            </p:cNvSpPr>
            <p:nvPr/>
          </p:nvSpPr>
          <p:spPr bwMode="auto">
            <a:xfrm>
              <a:off x="7184601" y="3024899"/>
              <a:ext cx="0" cy="5699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42" name="Text Box 18"/>
            <p:cNvSpPr txBox="1">
              <a:spLocks noChangeArrowheads="1"/>
            </p:cNvSpPr>
            <p:nvPr/>
          </p:nvSpPr>
          <p:spPr bwMode="auto">
            <a:xfrm>
              <a:off x="7274836" y="3162514"/>
              <a:ext cx="3321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itchFamily="34" charset="-122"/>
                  <a:ea typeface="微软雅黑" pitchFamily="34" charset="-122"/>
                </a:rPr>
                <a:t>V</a:t>
              </a:r>
            </a:p>
          </p:txBody>
        </p:sp>
      </p:grpSp>
      <p:grpSp>
        <p:nvGrpSpPr>
          <p:cNvPr id="7" name="组合 6"/>
          <p:cNvGrpSpPr/>
          <p:nvPr/>
        </p:nvGrpSpPr>
        <p:grpSpPr>
          <a:xfrm>
            <a:off x="3808897" y="1484808"/>
            <a:ext cx="3736015" cy="552450"/>
            <a:chOff x="3808897" y="2129549"/>
            <a:chExt cx="3736015" cy="552450"/>
          </a:xfrm>
        </p:grpSpPr>
        <p:sp>
          <p:nvSpPr>
            <p:cNvPr id="20" name="Rectangle 10"/>
            <p:cNvSpPr>
              <a:spLocks noChangeArrowheads="1"/>
            </p:cNvSpPr>
            <p:nvPr/>
          </p:nvSpPr>
          <p:spPr bwMode="auto">
            <a:xfrm>
              <a:off x="3827024" y="2129549"/>
              <a:ext cx="3717888" cy="552450"/>
            </a:xfrm>
            <a:prstGeom prst="rect">
              <a:avLst/>
            </a:prstGeom>
            <a:solidFill>
              <a:srgbClr val="FFFF00"/>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26" name="Text Box 20"/>
            <p:cNvSpPr txBox="1">
              <a:spLocks noChangeArrowheads="1"/>
            </p:cNvSpPr>
            <p:nvPr/>
          </p:nvSpPr>
          <p:spPr bwMode="auto">
            <a:xfrm>
              <a:off x="3808897" y="224077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itchFamily="34" charset="-122"/>
                  <a:ea typeface="微软雅黑" pitchFamily="34" charset="-122"/>
                </a:rPr>
                <a:t>         T</a:t>
              </a:r>
            </a:p>
          </p:txBody>
        </p:sp>
        <p:sp>
          <p:nvSpPr>
            <p:cNvPr id="27" name="Rectangle 21"/>
            <p:cNvSpPr>
              <a:spLocks noChangeArrowheads="1"/>
            </p:cNvSpPr>
            <p:nvPr/>
          </p:nvSpPr>
          <p:spPr bwMode="auto">
            <a:xfrm>
              <a:off x="5732193" y="2142249"/>
              <a:ext cx="1812719" cy="5334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chemeClr val="bg1"/>
                </a:solidFill>
                <a:latin typeface="微软雅黑" pitchFamily="34" charset="-122"/>
                <a:ea typeface="微软雅黑" pitchFamily="34" charset="-122"/>
              </a:endParaRPr>
            </a:p>
          </p:txBody>
        </p:sp>
        <p:sp>
          <p:nvSpPr>
            <p:cNvPr id="28" name="Text Box 22"/>
            <p:cNvSpPr txBox="1">
              <a:spLocks noChangeArrowheads="1"/>
            </p:cNvSpPr>
            <p:nvPr/>
          </p:nvSpPr>
          <p:spPr bwMode="auto">
            <a:xfrm>
              <a:off x="5222818" y="2240779"/>
              <a:ext cx="3882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itchFamily="34" charset="-122"/>
                  <a:ea typeface="微软雅黑" pitchFamily="34" charset="-122"/>
                </a:rPr>
                <a:t>  L</a:t>
              </a:r>
            </a:p>
          </p:txBody>
        </p:sp>
        <p:sp>
          <p:nvSpPr>
            <p:cNvPr id="29" name="Text Box 23"/>
            <p:cNvSpPr txBox="1">
              <a:spLocks noChangeArrowheads="1"/>
            </p:cNvSpPr>
            <p:nvPr/>
          </p:nvSpPr>
          <p:spPr bwMode="auto">
            <a:xfrm>
              <a:off x="5730380" y="2220036"/>
              <a:ext cx="1694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chemeClr val="bg1"/>
                  </a:solidFill>
                  <a:latin typeface="微软雅黑" pitchFamily="34" charset="-122"/>
                  <a:ea typeface="微软雅黑" pitchFamily="34" charset="-122"/>
                </a:rPr>
                <a:t>  name       value</a:t>
              </a:r>
            </a:p>
          </p:txBody>
        </p:sp>
        <p:sp>
          <p:nvSpPr>
            <p:cNvPr id="30" name="Line 90"/>
            <p:cNvSpPr>
              <a:spLocks noChangeShapeType="1"/>
            </p:cNvSpPr>
            <p:nvPr/>
          </p:nvSpPr>
          <p:spPr bwMode="auto">
            <a:xfrm>
              <a:off x="5222818"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5" name="Line 105"/>
            <p:cNvSpPr>
              <a:spLocks noChangeShapeType="1"/>
            </p:cNvSpPr>
            <p:nvPr/>
          </p:nvSpPr>
          <p:spPr bwMode="auto">
            <a:xfrm>
              <a:off x="5726754"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sp>
          <p:nvSpPr>
            <p:cNvPr id="36" name="Line 106"/>
            <p:cNvSpPr>
              <a:spLocks noChangeShapeType="1"/>
            </p:cNvSpPr>
            <p:nvPr/>
          </p:nvSpPr>
          <p:spPr bwMode="auto">
            <a:xfrm>
              <a:off x="6535227" y="2129549"/>
              <a:ext cx="0" cy="552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itchFamily="34" charset="-122"/>
                <a:ea typeface="微软雅黑" pitchFamily="34" charset="-122"/>
              </a:endParaRPr>
            </a:p>
          </p:txBody>
        </p:sp>
      </p:grpSp>
    </p:spTree>
    <p:extLst>
      <p:ext uri="{BB962C8B-B14F-4D97-AF65-F5344CB8AC3E}">
        <p14:creationId xmlns:p14="http://schemas.microsoft.com/office/powerpoint/2010/main" val="8454228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87087" y="572858"/>
            <a:ext cx="3369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6.7.3  </a:t>
            </a:r>
            <a:r>
              <a:rPr lang="zh-CN" altLang="en-US" sz="2400" b="1" dirty="0">
                <a:solidFill>
                  <a:schemeClr val="bg1"/>
                </a:solidFill>
                <a:latin typeface="微软雅黑" pitchFamily="34" charset="-122"/>
                <a:ea typeface="微软雅黑" pitchFamily="34" charset="-122"/>
              </a:rPr>
              <a:t>管理信息库 </a:t>
            </a:r>
            <a:r>
              <a:rPr lang="en-US" altLang="zh-CN" sz="2400" b="1" dirty="0">
                <a:solidFill>
                  <a:schemeClr val="bg1"/>
                </a:solidFill>
                <a:latin typeface="微软雅黑" pitchFamily="34" charset="-122"/>
                <a:ea typeface="微软雅黑" pitchFamily="34" charset="-122"/>
              </a:rPr>
              <a:t>MIB</a:t>
            </a:r>
            <a:endParaRPr lang="zh-CN" altLang="en-US" sz="2400" b="1" dirty="0">
              <a:solidFill>
                <a:schemeClr val="bg1"/>
              </a:solidFill>
              <a:latin typeface="微软雅黑" pitchFamily="34" charset="-122"/>
              <a:ea typeface="微软雅黑" pitchFamily="34" charset="-122"/>
            </a:endParaRPr>
          </a:p>
        </p:txBody>
      </p:sp>
      <p:sp>
        <p:nvSpPr>
          <p:cNvPr id="7" name="Rectangle 68"/>
          <p:cNvSpPr>
            <a:spLocks noChangeArrowheads="1"/>
          </p:cNvSpPr>
          <p:nvPr/>
        </p:nvSpPr>
        <p:spPr bwMode="auto">
          <a:xfrm>
            <a:off x="556963" y="1009347"/>
            <a:ext cx="81342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被管对象必须维持可供管理程序读写的若干控制和状态信息。这些信息总称为</a:t>
            </a:r>
            <a:r>
              <a:rPr lang="zh-CN" altLang="en-US" sz="2000" b="1" dirty="0">
                <a:solidFill>
                  <a:srgbClr val="C00000"/>
                </a:solidFill>
                <a:latin typeface="微软雅黑" pitchFamily="34" charset="-122"/>
                <a:ea typeface="微软雅黑" pitchFamily="34" charset="-122"/>
              </a:rPr>
              <a:t>管理信息库 </a:t>
            </a:r>
            <a:r>
              <a:rPr lang="en-US" altLang="zh-CN" sz="2000" b="1" dirty="0">
                <a:latin typeface="微软雅黑" pitchFamily="34" charset="-122"/>
                <a:ea typeface="微软雅黑" pitchFamily="34" charset="-122"/>
              </a:rPr>
              <a:t>MIB (Management Information Base) </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管理程序使用 </a:t>
            </a:r>
            <a:r>
              <a:rPr lang="en-US" altLang="zh-CN" sz="2000" b="1" dirty="0">
                <a:latin typeface="微软雅黑" pitchFamily="34" charset="-122"/>
                <a:ea typeface="微软雅黑" pitchFamily="34" charset="-122"/>
              </a:rPr>
              <a:t>MIB </a:t>
            </a:r>
            <a:r>
              <a:rPr lang="zh-CN" altLang="en-US" sz="2000" b="1" dirty="0">
                <a:latin typeface="微软雅黑" pitchFamily="34" charset="-122"/>
                <a:ea typeface="微软雅黑" pitchFamily="34" charset="-122"/>
              </a:rPr>
              <a:t>中这些信息的</a:t>
            </a:r>
            <a:r>
              <a:rPr lang="zh-CN" altLang="en-US" sz="2000" b="1" dirty="0">
                <a:solidFill>
                  <a:srgbClr val="C00000"/>
                </a:solidFill>
                <a:latin typeface="微软雅黑" pitchFamily="34" charset="-122"/>
                <a:ea typeface="微软雅黑" pitchFamily="34" charset="-122"/>
              </a:rPr>
              <a:t>值</a:t>
            </a:r>
            <a:r>
              <a:rPr lang="zh-CN" altLang="en-US" sz="2000" b="1" dirty="0">
                <a:latin typeface="微软雅黑" pitchFamily="34" charset="-122"/>
                <a:ea typeface="微软雅黑" pitchFamily="34" charset="-122"/>
              </a:rPr>
              <a:t>对网络进行管理（如读取或重新设置这些值）。</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只有在 </a:t>
            </a:r>
            <a:r>
              <a:rPr lang="en-US" altLang="zh-CN" sz="2000" b="1" dirty="0">
                <a:solidFill>
                  <a:srgbClr val="0000FF"/>
                </a:solidFill>
                <a:latin typeface="微软雅黑" pitchFamily="34" charset="-122"/>
                <a:ea typeface="微软雅黑" pitchFamily="34" charset="-122"/>
              </a:rPr>
              <a:t>MIB </a:t>
            </a:r>
            <a:r>
              <a:rPr lang="zh-CN" altLang="en-US" sz="2000" b="1" dirty="0">
                <a:solidFill>
                  <a:srgbClr val="0000FF"/>
                </a:solidFill>
                <a:latin typeface="微软雅黑" pitchFamily="34" charset="-122"/>
                <a:ea typeface="微软雅黑" pitchFamily="34" charset="-122"/>
              </a:rPr>
              <a:t>中的对象才是 </a:t>
            </a:r>
            <a:r>
              <a:rPr lang="en-US" altLang="zh-CN" sz="2000" b="1" dirty="0">
                <a:solidFill>
                  <a:srgbClr val="0000FF"/>
                </a:solidFill>
                <a:latin typeface="微软雅黑" pitchFamily="34" charset="-122"/>
                <a:ea typeface="微软雅黑" pitchFamily="34" charset="-122"/>
              </a:rPr>
              <a:t>SNMP </a:t>
            </a:r>
            <a:r>
              <a:rPr lang="zh-CN" altLang="en-US" sz="2000" b="1" dirty="0">
                <a:solidFill>
                  <a:srgbClr val="0000FF"/>
                </a:solidFill>
                <a:latin typeface="微软雅黑" pitchFamily="34" charset="-122"/>
                <a:ea typeface="微软雅黑" pitchFamily="34" charset="-122"/>
              </a:rPr>
              <a:t>所能够管理的。</a:t>
            </a:r>
          </a:p>
        </p:txBody>
      </p:sp>
    </p:spTree>
    <p:extLst>
      <p:ext uri="{BB962C8B-B14F-4D97-AF65-F5344CB8AC3E}">
        <p14:creationId xmlns:p14="http://schemas.microsoft.com/office/powerpoint/2010/main" val="303325308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SMI </a:t>
            </a:r>
            <a:r>
              <a:rPr lang="zh-CN" altLang="en-US" sz="2000" b="1" dirty="0">
                <a:solidFill>
                  <a:schemeClr val="bg1"/>
                </a:solidFill>
                <a:latin typeface="微软雅黑" pitchFamily="34" charset="-122"/>
                <a:ea typeface="微软雅黑" pitchFamily="34" charset="-122"/>
              </a:rPr>
              <a:t>规定：所有被管对象必须在</a:t>
            </a:r>
            <a:r>
              <a:rPr lang="zh-CN" altLang="en-US" sz="2000" b="1" dirty="0">
                <a:solidFill>
                  <a:srgbClr val="FFFF00"/>
                </a:solidFill>
                <a:latin typeface="微软雅黑" pitchFamily="34" charset="-122"/>
                <a:ea typeface="微软雅黑" pitchFamily="34" charset="-122"/>
              </a:rPr>
              <a:t>命名树</a:t>
            </a:r>
            <a:r>
              <a:rPr lang="zh-CN" altLang="en-US" sz="2000" b="1" dirty="0">
                <a:solidFill>
                  <a:schemeClr val="bg1"/>
                </a:solidFill>
                <a:latin typeface="微软雅黑" pitchFamily="34" charset="-122"/>
                <a:ea typeface="微软雅黑" pitchFamily="34" charset="-122"/>
              </a:rPr>
              <a:t>上</a:t>
            </a: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1200" b="1" dirty="0">
                  <a:solidFill>
                    <a:schemeClr val="tx1"/>
                  </a:solidFill>
                  <a:latin typeface="微软雅黑" pitchFamily="34" charset="-122"/>
                  <a:ea typeface="微软雅黑" pitchFamily="34" charset="-122"/>
                </a:rPr>
                <a:t>根</a:t>
              </a: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iso</a:t>
              </a:r>
              <a:r>
                <a:rPr kumimoji="1" lang="en-US" altLang="zh-CN" sz="1000" b="1" dirty="0">
                  <a:solidFill>
                    <a:schemeClr val="tx1"/>
                  </a:solidFill>
                  <a:latin typeface="微软雅黑" pitchFamily="34" charset="-122"/>
                  <a:ea typeface="微软雅黑" pitchFamily="34" charset="-122"/>
                </a:rPr>
                <a:t> (1)</a:t>
              </a: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itu-t (0)</a:t>
              </a: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iso/itu-t (2)</a:t>
              </a: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dod (6)</a:t>
              </a: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internet (1)           </a:t>
              </a:r>
              <a:r>
                <a:rPr kumimoji="1" lang="en-US" altLang="zh-CN" sz="1000" b="1">
                  <a:solidFill>
                    <a:schemeClr val="tx1"/>
                  </a:solidFill>
                  <a:latin typeface="微软雅黑" pitchFamily="34" charset="-122"/>
                  <a:ea typeface="微软雅黑" pitchFamily="34" charset="-122"/>
                  <a:sym typeface="Symbol" pitchFamily="18" charset="2"/>
                </a:rPr>
                <a:t>1.3.6.1 (iso.org.dod.internet)</a:t>
              </a:r>
              <a:endParaRPr kumimoji="1" lang="en-US" altLang="zh-CN" sz="1000" b="1">
                <a:solidFill>
                  <a:schemeClr val="tx1"/>
                </a:solidFill>
                <a:latin typeface="微软雅黑" pitchFamily="34" charset="-122"/>
                <a:ea typeface="微软雅黑"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mgmt (2)</a:t>
              </a: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mib-2 (1)           </a:t>
              </a:r>
              <a:r>
                <a:rPr kumimoji="1" lang="en-US" altLang="zh-CN" sz="1000" b="1">
                  <a:solidFill>
                    <a:schemeClr val="tx1"/>
                  </a:solidFill>
                  <a:latin typeface="微软雅黑" pitchFamily="34" charset="-122"/>
                  <a:ea typeface="微软雅黑" pitchFamily="34" charset="-122"/>
                  <a:sym typeface="Symbol" pitchFamily="18" charset="2"/>
                </a:rPr>
                <a:t>1.3.6.1.2.1 (iso.org.dod.internet.mgmt.mib-2)</a:t>
              </a: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org (3)</a:t>
              </a: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system(1)</a:t>
              </a:r>
              <a:endParaRPr kumimoji="1" lang="en-US" altLang="zh-CN" sz="1000" b="1" dirty="0">
                <a:solidFill>
                  <a:schemeClr val="tx1"/>
                </a:solidFill>
                <a:latin typeface="微软雅黑" pitchFamily="34" charset="-122"/>
                <a:ea typeface="微软雅黑" pitchFamily="34" charset="-122"/>
                <a:sym typeface="Symbol"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interface(2)</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at(3)</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ip(4)</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icmp(5)</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tcp(6)</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udp(7)</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egp(8)</a:t>
              </a:r>
              <a:endParaRPr kumimoji="1" lang="en-US" altLang="zh-CN" sz="1000" b="1">
                <a:solidFill>
                  <a:schemeClr val="tx1"/>
                </a:solidFill>
                <a:latin typeface="微软雅黑" pitchFamily="34" charset="-122"/>
                <a:ea typeface="微软雅黑" pitchFamily="34" charset="-122"/>
                <a:sym typeface="Symbol"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rPr>
                <a:t>…</a:t>
              </a: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rPr>
                <a:t>…</a:t>
              </a: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itchFamily="34" charset="-122"/>
                <a:ea typeface="微软雅黑"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err="1">
                  <a:solidFill>
                    <a:schemeClr val="tx1"/>
                  </a:solidFill>
                  <a:latin typeface="微软雅黑" pitchFamily="34" charset="-122"/>
                  <a:ea typeface="微软雅黑" pitchFamily="34" charset="-122"/>
                </a:rPr>
                <a:t>ipInReceives</a:t>
              </a:r>
              <a:r>
                <a:rPr kumimoji="1" lang="en-US" altLang="zh-CN" sz="1000" b="1" dirty="0">
                  <a:solidFill>
                    <a:schemeClr val="tx1"/>
                  </a:solidFill>
                  <a:latin typeface="微软雅黑" pitchFamily="34" charset="-122"/>
                  <a:ea typeface="微软雅黑" pitchFamily="34" charset="-122"/>
                </a:rPr>
                <a:t>(3) </a:t>
              </a: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headEnd/>
              <a:tailEnd/>
            </a:ln>
            <a:effectLst/>
          </p:spPr>
          <p:txBody>
            <a:bodyPr wrap="none" anchor="ctr"/>
            <a:lstStyle/>
            <a:p>
              <a:pPr eaLnBrk="1" hangingPunct="1"/>
              <a:endParaRPr lang="zh-CN" altLang="en-US" sz="1000" b="1">
                <a:latin typeface="微软雅黑" pitchFamily="34" charset="-122"/>
                <a:ea typeface="微软雅黑"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dirty="0">
                  <a:solidFill>
                    <a:schemeClr val="tx1"/>
                  </a:solidFill>
                  <a:latin typeface="微软雅黑" pitchFamily="34" charset="-122"/>
                  <a:ea typeface="微软雅黑" pitchFamily="34" charset="-122"/>
                  <a:sym typeface="Symbol" pitchFamily="18" charset="2"/>
                </a:rPr>
                <a:t>1.3.6.1.2.1.4.3</a:t>
              </a: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000" b="1">
                  <a:solidFill>
                    <a:schemeClr val="tx1"/>
                  </a:solidFill>
                  <a:latin typeface="微软雅黑" pitchFamily="34" charset="-122"/>
                  <a:ea typeface="微软雅黑" pitchFamily="34" charset="-122"/>
                  <a:sym typeface="Symbol" pitchFamily="18" charset="2"/>
                </a:rPr>
                <a:t>(iso.org.dod.internet.mgmt.mib-2.ip.ipinreceives)</a:t>
              </a: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itchFamily="34" charset="-122"/>
                <a:ea typeface="微软雅黑"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767755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488476" y="575260"/>
            <a:ext cx="41857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节点 </a:t>
            </a:r>
            <a:r>
              <a:rPr lang="en-US" altLang="zh-CN" sz="2000" b="1" dirty="0">
                <a:solidFill>
                  <a:schemeClr val="bg1"/>
                </a:solidFill>
                <a:latin typeface="微软雅黑" pitchFamily="34" charset="-122"/>
                <a:ea typeface="微软雅黑" pitchFamily="34" charset="-122"/>
              </a:rPr>
              <a:t>mib-2 </a:t>
            </a:r>
            <a:r>
              <a:rPr lang="zh-CN" altLang="en-US" sz="2000" b="1" dirty="0">
                <a:solidFill>
                  <a:schemeClr val="bg1"/>
                </a:solidFill>
                <a:latin typeface="微软雅黑" pitchFamily="34" charset="-122"/>
                <a:ea typeface="微软雅黑" pitchFamily="34" charset="-122"/>
              </a:rPr>
              <a:t>所包含的信息类别举例</a:t>
            </a:r>
          </a:p>
        </p:txBody>
      </p:sp>
      <p:graphicFrame>
        <p:nvGraphicFramePr>
          <p:cNvPr id="4" name="内容占位符 6"/>
          <p:cNvGraphicFramePr>
            <a:graphicFrameLocks/>
          </p:cNvGraphicFramePr>
          <p:nvPr>
            <p:extLst>
              <p:ext uri="{D42A27DB-BD31-4B8C-83A1-F6EECF244321}">
                <p14:modId xmlns:p14="http://schemas.microsoft.com/office/powerpoint/2010/main" val="1976540579"/>
              </p:ext>
            </p:extLst>
          </p:nvPr>
        </p:nvGraphicFramePr>
        <p:xfrm>
          <a:off x="556964" y="1054660"/>
          <a:ext cx="8048776" cy="2819906"/>
        </p:xfrm>
        <a:graphic>
          <a:graphicData uri="http://schemas.openxmlformats.org/drawingml/2006/table">
            <a:tbl>
              <a:tblPr/>
              <a:tblGrid>
                <a:gridCol w="2465810">
                  <a:extLst>
                    <a:ext uri="{9D8B030D-6E8A-4147-A177-3AD203B41FA5}">
                      <a16:colId xmlns:a16="http://schemas.microsoft.com/office/drawing/2014/main" val="20000"/>
                    </a:ext>
                  </a:extLst>
                </a:gridCol>
                <a:gridCol w="1395741">
                  <a:extLst>
                    <a:ext uri="{9D8B030D-6E8A-4147-A177-3AD203B41FA5}">
                      <a16:colId xmlns:a16="http://schemas.microsoft.com/office/drawing/2014/main" val="20001"/>
                    </a:ext>
                  </a:extLst>
                </a:gridCol>
                <a:gridCol w="4187225">
                  <a:extLst>
                    <a:ext uri="{9D8B030D-6E8A-4147-A177-3AD203B41FA5}">
                      <a16:colId xmlns:a16="http://schemas.microsoft.com/office/drawing/2014/main" val="20002"/>
                    </a:ext>
                  </a:extLst>
                </a:gridCol>
              </a:tblGrid>
              <a:tr h="369799">
                <a:tc>
                  <a:txBody>
                    <a:bodyPr/>
                    <a:lstStyle/>
                    <a:p>
                      <a:pPr algn="ctr" hangingPunct="0">
                        <a:lnSpc>
                          <a:spcPct val="100000"/>
                        </a:lnSpc>
                        <a:spcAft>
                          <a:spcPts val="0"/>
                        </a:spcAft>
                      </a:pPr>
                      <a:r>
                        <a:rPr lang="zh-CN" sz="1600" b="1" dirty="0">
                          <a:solidFill>
                            <a:schemeClr val="bg1"/>
                          </a:solidFill>
                          <a:effectLst/>
                          <a:latin typeface="微软雅黑" pitchFamily="34" charset="-122"/>
                          <a:ea typeface="微软雅黑" pitchFamily="34" charset="-122"/>
                        </a:rPr>
                        <a:t>类</a:t>
                      </a:r>
                      <a:r>
                        <a:rPr lang="en-US" sz="1600" b="1" dirty="0">
                          <a:solidFill>
                            <a:schemeClr val="bg1"/>
                          </a:solidFill>
                          <a:effectLst/>
                          <a:latin typeface="微软雅黑" pitchFamily="34" charset="-122"/>
                          <a:ea typeface="微软雅黑" pitchFamily="34" charset="-122"/>
                        </a:rPr>
                        <a:t>   </a:t>
                      </a:r>
                      <a:r>
                        <a:rPr lang="zh-CN" sz="1600" b="1" dirty="0">
                          <a:solidFill>
                            <a:schemeClr val="bg1"/>
                          </a:solidFill>
                          <a:effectLst/>
                          <a:latin typeface="微软雅黑" pitchFamily="34" charset="-122"/>
                          <a:ea typeface="微软雅黑" pitchFamily="34" charset="-122"/>
                        </a:rPr>
                        <a:t>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pitchFamily="34" charset="-122"/>
                          <a:ea typeface="微软雅黑" pitchFamily="34" charset="-122"/>
                        </a:rPr>
                        <a:t>标</a:t>
                      </a:r>
                      <a:r>
                        <a:rPr lang="en-US" sz="1600" b="1" dirty="0">
                          <a:solidFill>
                            <a:schemeClr val="bg1"/>
                          </a:solidFill>
                          <a:effectLst/>
                          <a:latin typeface="微软雅黑" pitchFamily="34" charset="-122"/>
                          <a:ea typeface="微软雅黑" pitchFamily="34" charset="-122"/>
                        </a:rPr>
                        <a:t>  </a:t>
                      </a:r>
                      <a:r>
                        <a:rPr lang="zh-CN" sz="1600" b="1" dirty="0">
                          <a:solidFill>
                            <a:schemeClr val="bg1"/>
                          </a:solidFill>
                          <a:effectLst/>
                          <a:latin typeface="微软雅黑" pitchFamily="34" charset="-122"/>
                          <a:ea typeface="微软雅黑" pitchFamily="34" charset="-122"/>
                        </a:rPr>
                        <a:t>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pitchFamily="34" charset="-122"/>
                          <a:ea typeface="微软雅黑" pitchFamily="34" charset="-122"/>
                        </a:rPr>
                        <a:t>所包含的信息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95839">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system</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1600" b="1">
                          <a:effectLst/>
                          <a:latin typeface="微软雅黑" pitchFamily="34" charset="-122"/>
                          <a:ea typeface="微软雅黑" pitchFamily="34" charset="-122"/>
                        </a:rPr>
                        <a:t>(1)</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a:effectLst/>
                          <a:latin typeface="微软雅黑" pitchFamily="34" charset="-122"/>
                          <a:ea typeface="微软雅黑" pitchFamily="34" charset="-122"/>
                        </a:rPr>
                        <a:t>主机或路由器的操作系统</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95839">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interfaces</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(2)</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zh-CN" sz="1600" b="1" dirty="0">
                          <a:effectLst/>
                          <a:latin typeface="微软雅黑" pitchFamily="34" charset="-122"/>
                          <a:ea typeface="微软雅黑" pitchFamily="34" charset="-122"/>
                        </a:rPr>
                        <a:t>各种网络接口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379234">
                <a:tc>
                  <a:txBody>
                    <a:bodyPr/>
                    <a:lstStyle/>
                    <a:p>
                      <a:pPr algn="just" hangingPunct="0">
                        <a:lnSpc>
                          <a:spcPct val="100000"/>
                        </a:lnSpc>
                        <a:spcAft>
                          <a:spcPts val="0"/>
                        </a:spcAft>
                      </a:pPr>
                      <a:r>
                        <a:rPr lang="en-US" sz="1600" b="1">
                          <a:effectLst/>
                          <a:latin typeface="微软雅黑" pitchFamily="34" charset="-122"/>
                          <a:ea typeface="微软雅黑" pitchFamily="34" charset="-122"/>
                        </a:rPr>
                        <a:t>address translation</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(3)</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pitchFamily="34" charset="-122"/>
                          <a:ea typeface="微软雅黑" pitchFamily="34" charset="-122"/>
                        </a:rPr>
                        <a:t>地址转换（例如，</a:t>
                      </a:r>
                      <a:r>
                        <a:rPr lang="en-US" sz="1600" b="1" dirty="0">
                          <a:effectLst/>
                          <a:latin typeface="微软雅黑" pitchFamily="34" charset="-122"/>
                          <a:ea typeface="微软雅黑" pitchFamily="34" charset="-122"/>
                        </a:rPr>
                        <a:t>ARP </a:t>
                      </a:r>
                      <a:r>
                        <a:rPr lang="zh-CN" sz="1600" b="1" dirty="0">
                          <a:effectLst/>
                          <a:latin typeface="微软雅黑" pitchFamily="34" charset="-122"/>
                          <a:ea typeface="微软雅黑" pitchFamily="34" charset="-122"/>
                        </a:rPr>
                        <a:t>映射）</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ip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(4)</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IP </a:t>
                      </a:r>
                      <a:r>
                        <a:rPr lang="zh-CN" sz="1600" b="1" dirty="0">
                          <a:effectLst/>
                          <a:latin typeface="微软雅黑" pitchFamily="34" charset="-122"/>
                          <a:ea typeface="微软雅黑"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95839">
                <a:tc>
                  <a:txBody>
                    <a:bodyPr/>
                    <a:lstStyle/>
                    <a:p>
                      <a:pPr algn="just" hangingPunct="0">
                        <a:lnSpc>
                          <a:spcPct val="100000"/>
                        </a:lnSpc>
                        <a:spcAft>
                          <a:spcPts val="0"/>
                        </a:spcAft>
                      </a:pPr>
                      <a:r>
                        <a:rPr lang="en-US" sz="1600" b="1">
                          <a:effectLst/>
                          <a:latin typeface="微软雅黑" pitchFamily="34" charset="-122"/>
                          <a:ea typeface="微软雅黑" pitchFamily="34" charset="-122"/>
                        </a:rPr>
                        <a:t>icmp</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(5)</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ICMP </a:t>
                      </a:r>
                      <a:r>
                        <a:rPr lang="zh-CN" sz="1600" b="1" dirty="0">
                          <a:effectLst/>
                          <a:latin typeface="微软雅黑" pitchFamily="34" charset="-122"/>
                          <a:ea typeface="微软雅黑"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tcp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(6)</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TCP </a:t>
                      </a:r>
                      <a:r>
                        <a:rPr lang="zh-CN" sz="1600" b="1" dirty="0">
                          <a:effectLst/>
                          <a:latin typeface="微软雅黑" pitchFamily="34" charset="-122"/>
                          <a:ea typeface="微软雅黑"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95839">
                <a:tc>
                  <a:txBody>
                    <a:bodyPr/>
                    <a:lstStyle/>
                    <a:p>
                      <a:pPr algn="just" hangingPunct="0">
                        <a:lnSpc>
                          <a:spcPct val="100000"/>
                        </a:lnSpc>
                        <a:spcAft>
                          <a:spcPts val="0"/>
                        </a:spcAft>
                      </a:pPr>
                      <a:r>
                        <a:rPr lang="en-US" sz="1600" b="1">
                          <a:effectLst/>
                          <a:latin typeface="微软雅黑" pitchFamily="34" charset="-122"/>
                          <a:ea typeface="微软雅黑" pitchFamily="34" charset="-122"/>
                        </a:rPr>
                        <a:t>udp</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itchFamily="34" charset="-122"/>
                          <a:ea typeface="微软雅黑" pitchFamily="34" charset="-122"/>
                        </a:rPr>
                        <a:t>(7)</a:t>
                      </a:r>
                      <a:endParaRPr lang="zh-CN" sz="16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UDP </a:t>
                      </a:r>
                      <a:r>
                        <a:rPr lang="zh-CN" sz="1600" b="1" dirty="0">
                          <a:effectLst/>
                          <a:latin typeface="微软雅黑" pitchFamily="34" charset="-122"/>
                          <a:ea typeface="微软雅黑"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295839">
                <a:tc>
                  <a:txBody>
                    <a:bodyPr/>
                    <a:lstStyle/>
                    <a:p>
                      <a:pPr algn="just" hangingPunct="0">
                        <a:lnSpc>
                          <a:spcPct val="100000"/>
                        </a:lnSpc>
                        <a:spcAft>
                          <a:spcPts val="0"/>
                        </a:spcAft>
                      </a:pPr>
                      <a:r>
                        <a:rPr lang="en-US" sz="1600" b="1" dirty="0" err="1">
                          <a:effectLst/>
                          <a:latin typeface="微软雅黑" pitchFamily="34" charset="-122"/>
                          <a:ea typeface="微软雅黑" pitchFamily="34" charset="-122"/>
                        </a:rPr>
                        <a:t>egp</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itchFamily="34" charset="-122"/>
                          <a:ea typeface="微软雅黑" pitchFamily="34" charset="-122"/>
                        </a:rPr>
                        <a:t>(8)</a:t>
                      </a:r>
                      <a:endParaRPr lang="zh-CN" sz="16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a:effectLst/>
                          <a:latin typeface="微软雅黑" pitchFamily="34" charset="-122"/>
                          <a:ea typeface="微软雅黑" pitchFamily="34" charset="-122"/>
                        </a:rPr>
                        <a:t>EGP </a:t>
                      </a:r>
                      <a:r>
                        <a:rPr lang="zh-CN" sz="1600" b="1" dirty="0">
                          <a:effectLst/>
                          <a:latin typeface="微软雅黑" pitchFamily="34" charset="-122"/>
                          <a:ea typeface="微软雅黑" pitchFamily="34" charset="-122"/>
                        </a:rPr>
                        <a:t>软件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5153296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764"/>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MIB </a:t>
            </a:r>
            <a:r>
              <a:rPr lang="zh-CN" altLang="en-US" sz="2000" b="1" dirty="0">
                <a:solidFill>
                  <a:schemeClr val="bg1"/>
                </a:solidFill>
                <a:latin typeface="微软雅黑" pitchFamily="34" charset="-122"/>
                <a:ea typeface="微软雅黑" pitchFamily="34" charset="-122"/>
              </a:rPr>
              <a:t>变量的例子</a:t>
            </a:r>
          </a:p>
        </p:txBody>
      </p:sp>
      <p:graphicFrame>
        <p:nvGraphicFramePr>
          <p:cNvPr id="5" name="表格 4"/>
          <p:cNvGraphicFramePr>
            <a:graphicFrameLocks noGrp="1"/>
          </p:cNvGraphicFramePr>
          <p:nvPr>
            <p:extLst>
              <p:ext uri="{D42A27DB-BD31-4B8C-83A1-F6EECF244321}">
                <p14:modId xmlns:p14="http://schemas.microsoft.com/office/powerpoint/2010/main" val="2043738461"/>
              </p:ext>
            </p:extLst>
          </p:nvPr>
        </p:nvGraphicFramePr>
        <p:xfrm>
          <a:off x="556963" y="1005312"/>
          <a:ext cx="8048776" cy="3336607"/>
        </p:xfrm>
        <a:graphic>
          <a:graphicData uri="http://schemas.openxmlformats.org/drawingml/2006/table">
            <a:tbl>
              <a:tblPr firstRow="1" bandRow="1">
                <a:tableStyleId>{BDBED569-4797-4DF1-A0F4-6AAB3CD982D8}</a:tableStyleId>
              </a:tblPr>
              <a:tblGrid>
                <a:gridCol w="2356125">
                  <a:extLst>
                    <a:ext uri="{9D8B030D-6E8A-4147-A177-3AD203B41FA5}">
                      <a16:colId xmlns:a16="http://schemas.microsoft.com/office/drawing/2014/main" val="20000"/>
                    </a:ext>
                  </a:extLst>
                </a:gridCol>
                <a:gridCol w="1581292">
                  <a:extLst>
                    <a:ext uri="{9D8B030D-6E8A-4147-A177-3AD203B41FA5}">
                      <a16:colId xmlns:a16="http://schemas.microsoft.com/office/drawing/2014/main" val="20001"/>
                    </a:ext>
                  </a:extLst>
                </a:gridCol>
                <a:gridCol w="4111359">
                  <a:extLst>
                    <a:ext uri="{9D8B030D-6E8A-4147-A177-3AD203B41FA5}">
                      <a16:colId xmlns:a16="http://schemas.microsoft.com/office/drawing/2014/main" val="20002"/>
                    </a:ext>
                  </a:extLst>
                </a:gridCol>
              </a:tblGrid>
              <a:tr h="229552">
                <a:tc>
                  <a:txBody>
                    <a:bodyPr/>
                    <a:lstStyle/>
                    <a:p>
                      <a:pPr algn="ctr" hangingPunct="0">
                        <a:lnSpc>
                          <a:spcPts val="1500"/>
                        </a:lnSpc>
                        <a:spcAft>
                          <a:spcPts val="0"/>
                        </a:spcAft>
                      </a:pPr>
                      <a:r>
                        <a:rPr lang="en-US" sz="1400" b="1" dirty="0">
                          <a:solidFill>
                            <a:schemeClr val="bg1"/>
                          </a:solidFill>
                          <a:effectLst/>
                          <a:latin typeface="微软雅黑" pitchFamily="34" charset="-122"/>
                          <a:ea typeface="微软雅黑" pitchFamily="34" charset="-122"/>
                        </a:rPr>
                        <a:t>MIB </a:t>
                      </a:r>
                      <a:r>
                        <a:rPr lang="zh-CN" sz="1400" b="1" dirty="0">
                          <a:solidFill>
                            <a:schemeClr val="bg1"/>
                          </a:solidFill>
                          <a:effectLst/>
                          <a:latin typeface="微软雅黑" pitchFamily="34" charset="-122"/>
                          <a:ea typeface="微软雅黑" pitchFamily="34" charset="-122"/>
                        </a:rPr>
                        <a:t>变量</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itchFamily="34" charset="-122"/>
                          <a:ea typeface="微软雅黑" pitchFamily="34" charset="-122"/>
                        </a:rPr>
                        <a:t>所属类别</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itchFamily="34" charset="-122"/>
                          <a:ea typeface="微软雅黑" pitchFamily="34" charset="-122"/>
                        </a:rPr>
                        <a:t>意</a:t>
                      </a:r>
                      <a:r>
                        <a:rPr lang="en-US" sz="1400" b="1" dirty="0">
                          <a:solidFill>
                            <a:schemeClr val="bg1"/>
                          </a:solidFill>
                          <a:effectLst/>
                          <a:latin typeface="微软雅黑" pitchFamily="34" charset="-122"/>
                          <a:ea typeface="微软雅黑" pitchFamily="34" charset="-122"/>
                        </a:rPr>
                        <a:t>    </a:t>
                      </a:r>
                      <a:r>
                        <a:rPr lang="zh-CN" sz="1400" b="1" dirty="0">
                          <a:solidFill>
                            <a:schemeClr val="bg1"/>
                          </a:solidFill>
                          <a:effectLst/>
                          <a:latin typeface="微软雅黑" pitchFamily="34" charset="-122"/>
                          <a:ea typeface="微软雅黑" pitchFamily="34" charset="-122"/>
                        </a:rPr>
                        <a:t>义</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extLst>
                  <a:ext uri="{0D108BD9-81ED-4DB2-BD59-A6C34878D82A}">
                    <a16:rowId xmlns:a16="http://schemas.microsoft.com/office/drawing/2014/main" val="10000"/>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sysUpTime</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tabLst>
                          <a:tab pos="2637155" algn="ctr"/>
                          <a:tab pos="5274310" algn="r"/>
                          <a:tab pos="266700" algn="l"/>
                        </a:tabLst>
                      </a:pPr>
                      <a:r>
                        <a:rPr lang="en-US" sz="1200" b="1">
                          <a:effectLst/>
                          <a:latin typeface="微软雅黑" pitchFamily="34" charset="-122"/>
                          <a:ea typeface="微软雅黑" pitchFamily="34" charset="-122"/>
                        </a:rPr>
                        <a:t>system</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距上次重启动的时间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ifNumber</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interfaces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网络接口数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2"/>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ifMtu</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a:effectLst/>
                          <a:latin typeface="微软雅黑" pitchFamily="34" charset="-122"/>
                          <a:ea typeface="微软雅黑" pitchFamily="34" charset="-122"/>
                        </a:rPr>
                        <a:t>interfaces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特定接口的最大传送单元</a:t>
                      </a:r>
                      <a:r>
                        <a:rPr lang="en-US" altLang="zh-CN" sz="1200" b="1" dirty="0">
                          <a:effectLst/>
                          <a:latin typeface="微软雅黑" pitchFamily="34" charset="-122"/>
                          <a:ea typeface="微软雅黑" pitchFamily="34" charset="-122"/>
                        </a:rPr>
                        <a:t> </a:t>
                      </a:r>
                      <a:r>
                        <a:rPr lang="en-US" sz="1200" b="1" dirty="0">
                          <a:effectLst/>
                          <a:latin typeface="微软雅黑" pitchFamily="34" charset="-122"/>
                          <a:ea typeface="微软雅黑" pitchFamily="34" charset="-122"/>
                        </a:rPr>
                        <a:t>MTU</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ipDefaultTTL</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pitchFamily="34" charset="-122"/>
                          <a:ea typeface="微软雅黑" pitchFamily="34" charset="-122"/>
                        </a:rPr>
                        <a:t>ip</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pitchFamily="34" charset="-122"/>
                          <a:ea typeface="微软雅黑" pitchFamily="34" charset="-122"/>
                        </a:rPr>
                        <a:t>IP </a:t>
                      </a:r>
                      <a:r>
                        <a:rPr lang="zh-CN" sz="1200" b="1" dirty="0">
                          <a:effectLst/>
                          <a:latin typeface="微软雅黑" pitchFamily="34" charset="-122"/>
                          <a:ea typeface="微软雅黑" pitchFamily="34" charset="-122"/>
                        </a:rPr>
                        <a:t>在生存时间字段中使用的值</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4"/>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ipInReceives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pitchFamily="34" charset="-122"/>
                          <a:ea typeface="微软雅黑" pitchFamily="34" charset="-122"/>
                        </a:rPr>
                        <a:t>ip</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接收到的数据报数目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ipForwDatagrams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转发的数据报数目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6"/>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ipOutNoRoutes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路由选择失败的数目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ipReasmOKs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重装的数据报数目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08"/>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ipFragOKs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分片的数据报数目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ipRoutingTable</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pitchFamily="34" charset="-122"/>
                          <a:ea typeface="微软雅黑" pitchFamily="34" charset="-122"/>
                        </a:rPr>
                        <a:t>IP </a:t>
                      </a:r>
                      <a:r>
                        <a:rPr lang="zh-CN" sz="1200" b="1" dirty="0">
                          <a:effectLst/>
                          <a:latin typeface="微软雅黑" pitchFamily="34" charset="-122"/>
                          <a:ea typeface="微软雅黑" pitchFamily="34" charset="-122"/>
                        </a:rPr>
                        <a:t>路由表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0"/>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icmpInEchos</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icmp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收到的</a:t>
                      </a:r>
                      <a:r>
                        <a:rPr lang="en-US" altLang="zh-CN" sz="1200" b="1" dirty="0">
                          <a:effectLst/>
                          <a:latin typeface="微软雅黑" pitchFamily="34" charset="-122"/>
                          <a:ea typeface="微软雅黑" pitchFamily="34" charset="-122"/>
                        </a:rPr>
                        <a:t> </a:t>
                      </a:r>
                      <a:r>
                        <a:rPr lang="en-US" sz="1200" b="1" dirty="0">
                          <a:effectLst/>
                          <a:latin typeface="微软雅黑" pitchFamily="34" charset="-122"/>
                          <a:ea typeface="微软雅黑" pitchFamily="34" charset="-122"/>
                        </a:rPr>
                        <a:t>ICMP </a:t>
                      </a:r>
                      <a:r>
                        <a:rPr lang="zh-CN" sz="1200" b="1" dirty="0">
                          <a:effectLst/>
                          <a:latin typeface="微软雅黑" pitchFamily="34" charset="-122"/>
                          <a:ea typeface="微软雅黑" pitchFamily="34" charset="-122"/>
                        </a:rPr>
                        <a:t>回送请求数目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tcpRtoMin</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a:effectLst/>
                          <a:latin typeface="微软雅黑" pitchFamily="34" charset="-122"/>
                          <a:ea typeface="微软雅黑" pitchFamily="34" charset="-122"/>
                        </a:rPr>
                        <a:t>TCP </a:t>
                      </a:r>
                      <a:r>
                        <a:rPr lang="zh-CN" sz="1200" b="1" dirty="0">
                          <a:effectLst/>
                          <a:latin typeface="微软雅黑" pitchFamily="34" charset="-122"/>
                          <a:ea typeface="微软雅黑" pitchFamily="34" charset="-122"/>
                        </a:rPr>
                        <a:t>允许的最小重传时间</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2"/>
                  </a:ext>
                </a:extLst>
              </a:tr>
              <a:tr h="207137">
                <a:tc>
                  <a:txBody>
                    <a:bodyPr/>
                    <a:lstStyle/>
                    <a:p>
                      <a:pPr algn="just" hangingPunct="0">
                        <a:lnSpc>
                          <a:spcPts val="1500"/>
                        </a:lnSpc>
                        <a:spcAft>
                          <a:spcPts val="0"/>
                        </a:spcAft>
                      </a:pPr>
                      <a:r>
                        <a:rPr lang="en-US" sz="1200" b="1">
                          <a:effectLst/>
                          <a:latin typeface="微软雅黑" pitchFamily="34" charset="-122"/>
                          <a:ea typeface="微软雅黑" pitchFamily="34" charset="-122"/>
                        </a:rPr>
                        <a:t>tcpMaxConn</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允许的最大</a:t>
                      </a:r>
                      <a:r>
                        <a:rPr lang="en-US" altLang="zh-CN" sz="1200" b="1" dirty="0">
                          <a:effectLst/>
                          <a:latin typeface="微软雅黑" pitchFamily="34" charset="-122"/>
                          <a:ea typeface="微软雅黑" pitchFamily="34" charset="-122"/>
                        </a:rPr>
                        <a:t> </a:t>
                      </a:r>
                      <a:r>
                        <a:rPr lang="en-US" sz="1200" b="1" dirty="0">
                          <a:effectLst/>
                          <a:latin typeface="微软雅黑" pitchFamily="34" charset="-122"/>
                          <a:ea typeface="微软雅黑" pitchFamily="34" charset="-122"/>
                        </a:rPr>
                        <a:t>TCP </a:t>
                      </a:r>
                      <a:r>
                        <a:rPr lang="zh-CN" sz="1200" b="1" dirty="0">
                          <a:effectLst/>
                          <a:latin typeface="微软雅黑" pitchFamily="34" charset="-122"/>
                          <a:ea typeface="微软雅黑" pitchFamily="34" charset="-122"/>
                        </a:rPr>
                        <a:t>连接数目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tcpInSegs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tcp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已收到的</a:t>
                      </a:r>
                      <a:r>
                        <a:rPr lang="en-US" altLang="zh-CN" sz="1200" b="1" dirty="0">
                          <a:effectLst/>
                          <a:latin typeface="微软雅黑" pitchFamily="34" charset="-122"/>
                          <a:ea typeface="微软雅黑" pitchFamily="34" charset="-122"/>
                        </a:rPr>
                        <a:t> </a:t>
                      </a:r>
                      <a:r>
                        <a:rPr lang="en-US" sz="1200" b="1" dirty="0">
                          <a:effectLst/>
                          <a:latin typeface="微软雅黑" pitchFamily="34" charset="-122"/>
                          <a:ea typeface="微软雅黑" pitchFamily="34" charset="-122"/>
                        </a:rPr>
                        <a:t>TCP </a:t>
                      </a:r>
                      <a:r>
                        <a:rPr lang="zh-CN" sz="1200" b="1" dirty="0">
                          <a:effectLst/>
                          <a:latin typeface="微软雅黑" pitchFamily="34" charset="-122"/>
                          <a:ea typeface="微软雅黑" pitchFamily="34" charset="-122"/>
                        </a:rPr>
                        <a:t>报文段数目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extLst>
                  <a:ext uri="{0D108BD9-81ED-4DB2-BD59-A6C34878D82A}">
                    <a16:rowId xmlns:a16="http://schemas.microsoft.com/office/drawing/2014/main" val="10014"/>
                  </a:ext>
                </a:extLst>
              </a:tr>
              <a:tr h="207137">
                <a:tc>
                  <a:txBody>
                    <a:bodyPr/>
                    <a:lstStyle/>
                    <a:p>
                      <a:pPr algn="just" hangingPunct="0">
                        <a:lnSpc>
                          <a:spcPts val="1500"/>
                        </a:lnSpc>
                        <a:spcAft>
                          <a:spcPts val="0"/>
                        </a:spcAft>
                      </a:pPr>
                      <a:r>
                        <a:rPr lang="en-US" sz="1200" b="1" dirty="0" err="1">
                          <a:effectLst/>
                          <a:latin typeface="微软雅黑" pitchFamily="34" charset="-122"/>
                          <a:ea typeface="微软雅黑" pitchFamily="34" charset="-122"/>
                        </a:rPr>
                        <a:t>udpInDatagrams</a:t>
                      </a:r>
                      <a:endParaRPr lang="zh-CN" sz="1200" b="1" dirty="0">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itchFamily="34" charset="-122"/>
                          <a:ea typeface="微软雅黑" pitchFamily="34" charset="-122"/>
                        </a:rPr>
                        <a:t>udp</a:t>
                      </a:r>
                      <a:endParaRPr lang="zh-CN" sz="1200" b="1">
                        <a:effectLst/>
                        <a:latin typeface="微软雅黑" pitchFamily="34" charset="-122"/>
                        <a:ea typeface="微软雅黑"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itchFamily="34" charset="-122"/>
                          <a:ea typeface="微软雅黑" pitchFamily="34" charset="-122"/>
                        </a:rPr>
                        <a:t>已收到的</a:t>
                      </a:r>
                      <a:r>
                        <a:rPr lang="en-US" altLang="zh-CN" sz="1200" b="1" dirty="0">
                          <a:effectLst/>
                          <a:latin typeface="微软雅黑" pitchFamily="34" charset="-122"/>
                          <a:ea typeface="微软雅黑" pitchFamily="34" charset="-122"/>
                        </a:rPr>
                        <a:t> </a:t>
                      </a:r>
                      <a:r>
                        <a:rPr lang="en-US" sz="1200" b="1" dirty="0">
                          <a:effectLst/>
                          <a:latin typeface="微软雅黑" pitchFamily="34" charset="-122"/>
                          <a:ea typeface="微软雅黑" pitchFamily="34" charset="-122"/>
                        </a:rPr>
                        <a:t>UDP </a:t>
                      </a:r>
                      <a:r>
                        <a:rPr lang="zh-CN" sz="1200" b="1" dirty="0">
                          <a:effectLst/>
                          <a:latin typeface="微软雅黑" pitchFamily="34" charset="-122"/>
                          <a:ea typeface="微软雅黑" pitchFamily="34" charset="-122"/>
                        </a:rPr>
                        <a:t>数据报数目</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bl>
          </a:graphicData>
        </a:graphic>
      </p:graphicFrame>
    </p:spTree>
    <p:extLst>
      <p:ext uri="{BB962C8B-B14F-4D97-AF65-F5344CB8AC3E}">
        <p14:creationId xmlns:p14="http://schemas.microsoft.com/office/powerpoint/2010/main" val="186272060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28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9242" y="610590"/>
            <a:ext cx="44855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itchFamily="34" charset="-122"/>
                <a:ea typeface="微软雅黑" pitchFamily="34" charset="-122"/>
              </a:rPr>
              <a:t>6.7.4  SNMP </a:t>
            </a:r>
            <a:r>
              <a:rPr lang="zh-CN" altLang="en-US" sz="2000" b="1" dirty="0">
                <a:solidFill>
                  <a:schemeClr val="bg1"/>
                </a:solidFill>
                <a:latin typeface="微软雅黑" pitchFamily="34" charset="-122"/>
                <a:ea typeface="微软雅黑" pitchFamily="34" charset="-122"/>
              </a:rPr>
              <a:t>的协议数据单元和报文</a:t>
            </a:r>
          </a:p>
        </p:txBody>
      </p:sp>
      <p:sp>
        <p:nvSpPr>
          <p:cNvPr id="4" name="Rectangle 68"/>
          <p:cNvSpPr>
            <a:spLocks noChangeArrowheads="1"/>
          </p:cNvSpPr>
          <p:nvPr/>
        </p:nvSpPr>
        <p:spPr bwMode="auto">
          <a:xfrm>
            <a:off x="483810" y="1010503"/>
            <a:ext cx="812192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的操作只有</a:t>
            </a:r>
            <a:r>
              <a:rPr lang="zh-CN" altLang="en-US" sz="2000" b="1" dirty="0">
                <a:solidFill>
                  <a:srgbClr val="C00000"/>
                </a:solidFill>
                <a:latin typeface="微软雅黑" pitchFamily="34" charset="-122"/>
                <a:ea typeface="微软雅黑" pitchFamily="34" charset="-122"/>
              </a:rPr>
              <a:t>两种</a:t>
            </a:r>
            <a:r>
              <a:rPr lang="zh-CN" altLang="en-US" sz="2000" b="1" dirty="0">
                <a:latin typeface="微软雅黑" pitchFamily="34" charset="-122"/>
                <a:ea typeface="微软雅黑" pitchFamily="34" charset="-122"/>
              </a:rPr>
              <a:t>基本的管理功能：</a:t>
            </a:r>
          </a:p>
          <a:p>
            <a:pPr marL="633413"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读</a:t>
            </a:r>
            <a:r>
              <a:rPr lang="zh-CN" altLang="en-US" sz="2000" b="1" dirty="0">
                <a:latin typeface="微软雅黑" pitchFamily="34" charset="-122"/>
                <a:ea typeface="微软雅黑" pitchFamily="34" charset="-122"/>
              </a:rPr>
              <a:t>”操作，用 </a:t>
            </a:r>
            <a:r>
              <a:rPr lang="en-US" altLang="zh-CN" sz="2000" b="1" dirty="0">
                <a:latin typeface="微软雅黑" pitchFamily="34" charset="-122"/>
                <a:ea typeface="微软雅黑" pitchFamily="34" charset="-122"/>
              </a:rPr>
              <a:t>get </a:t>
            </a:r>
            <a:r>
              <a:rPr lang="zh-CN" altLang="en-US" sz="2000" b="1" dirty="0">
                <a:latin typeface="微软雅黑" pitchFamily="34" charset="-122"/>
                <a:ea typeface="微软雅黑" pitchFamily="34" charset="-122"/>
              </a:rPr>
              <a:t>报文来检测各被管对象的状况；</a:t>
            </a:r>
          </a:p>
          <a:p>
            <a:pPr marL="633413" indent="-342900" eaLnBrk="0" hangingPunct="0">
              <a:lnSpc>
                <a:spcPts val="3300"/>
              </a:lnSpc>
              <a:buClr>
                <a:srgbClr val="9900CC"/>
              </a:buClr>
              <a:buFont typeface="+mj-lt"/>
              <a:buAutoNum type="arabicPeriod"/>
            </a:pP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写</a:t>
            </a:r>
            <a:r>
              <a:rPr lang="zh-CN" altLang="en-US" sz="2000" b="1" dirty="0">
                <a:latin typeface="微软雅黑" pitchFamily="34" charset="-122"/>
                <a:ea typeface="微软雅黑" pitchFamily="34" charset="-122"/>
              </a:rPr>
              <a:t>”操作，用 </a:t>
            </a:r>
            <a:r>
              <a:rPr lang="en-US" altLang="zh-CN" sz="2000" b="1" dirty="0">
                <a:latin typeface="微软雅黑" pitchFamily="34" charset="-122"/>
                <a:ea typeface="微软雅黑" pitchFamily="34" charset="-122"/>
              </a:rPr>
              <a:t>set </a:t>
            </a:r>
            <a:r>
              <a:rPr lang="zh-CN" altLang="en-US" sz="2000" b="1" dirty="0">
                <a:latin typeface="微软雅黑" pitchFamily="34" charset="-122"/>
                <a:ea typeface="微软雅黑" pitchFamily="34" charset="-122"/>
              </a:rPr>
              <a:t>报文来改变各被管对象的状况。</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的这些功能通过</a:t>
            </a:r>
            <a:r>
              <a:rPr lang="zh-CN" altLang="en-US" sz="2000" b="1" dirty="0">
                <a:solidFill>
                  <a:srgbClr val="C00000"/>
                </a:solidFill>
                <a:latin typeface="微软雅黑" pitchFamily="34" charset="-122"/>
                <a:ea typeface="微软雅黑" pitchFamily="34" charset="-122"/>
              </a:rPr>
              <a:t>探询</a:t>
            </a:r>
            <a:r>
              <a:rPr lang="zh-CN" altLang="en-US" sz="2000" b="1" dirty="0">
                <a:latin typeface="微软雅黑" pitchFamily="34" charset="-122"/>
                <a:ea typeface="微软雅黑" pitchFamily="34" charset="-122"/>
              </a:rPr>
              <a:t>操作来实现。</a:t>
            </a:r>
          </a:p>
        </p:txBody>
      </p:sp>
    </p:spTree>
    <p:extLst>
      <p:ext uri="{BB962C8B-B14F-4D97-AF65-F5344CB8AC3E}">
        <p14:creationId xmlns:p14="http://schemas.microsoft.com/office/powerpoint/2010/main" val="32135137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6" y="581618"/>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的探询操作</a:t>
            </a:r>
          </a:p>
        </p:txBody>
      </p:sp>
      <p:sp>
        <p:nvSpPr>
          <p:cNvPr id="4" name="Rectangle 68"/>
          <p:cNvSpPr>
            <a:spLocks noChangeArrowheads="1"/>
          </p:cNvSpPr>
          <p:nvPr/>
        </p:nvSpPr>
        <p:spPr bwMode="auto">
          <a:xfrm>
            <a:off x="483810" y="921055"/>
            <a:ext cx="8121929"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管理进程</a:t>
            </a:r>
            <a:r>
              <a:rPr lang="zh-CN" altLang="en-US" sz="2000" b="1" dirty="0">
                <a:solidFill>
                  <a:srgbClr val="C00000"/>
                </a:solidFill>
                <a:latin typeface="微软雅黑" pitchFamily="34" charset="-122"/>
                <a:ea typeface="微软雅黑" pitchFamily="34" charset="-122"/>
              </a:rPr>
              <a:t>定时</a:t>
            </a:r>
            <a:r>
              <a:rPr lang="zh-CN" altLang="en-US" sz="2000" b="1" dirty="0">
                <a:latin typeface="微软雅黑" pitchFamily="34" charset="-122"/>
                <a:ea typeface="微软雅黑" pitchFamily="34" charset="-122"/>
              </a:rPr>
              <a:t>向被管理设备</a:t>
            </a:r>
            <a:r>
              <a:rPr lang="zh-CN" altLang="en-US" sz="2000" b="1" dirty="0">
                <a:solidFill>
                  <a:srgbClr val="C00000"/>
                </a:solidFill>
                <a:latin typeface="微软雅黑" pitchFamily="34" charset="-122"/>
                <a:ea typeface="微软雅黑" pitchFamily="34" charset="-122"/>
              </a:rPr>
              <a:t>周期性</a:t>
            </a:r>
            <a:r>
              <a:rPr lang="zh-CN" altLang="en-US" sz="2000" b="1" dirty="0">
                <a:latin typeface="微软雅黑" pitchFamily="34" charset="-122"/>
                <a:ea typeface="微软雅黑" pitchFamily="34" charset="-122"/>
              </a:rPr>
              <a:t>地发送探询信息。</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好处：</a:t>
            </a:r>
          </a:p>
          <a:p>
            <a:pPr marL="715963" indent="-342900"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可使系统相对简单。</a:t>
            </a:r>
          </a:p>
          <a:p>
            <a:pPr marL="715963" indent="-342900"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能限制通过网络所产生的管理信息的通信量。</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缺点：</a:t>
            </a:r>
            <a:endParaRPr lang="en-US" altLang="zh-CN" sz="2000" b="1" dirty="0">
              <a:solidFill>
                <a:srgbClr val="0000FF"/>
              </a:solidFill>
              <a:latin typeface="微软雅黑" pitchFamily="34" charset="-122"/>
              <a:ea typeface="微软雅黑"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不够灵活，而且所能管理的设备数目不能太多。</a:t>
            </a:r>
            <a:endParaRPr lang="en-US" altLang="zh-CN" sz="2000" b="1" dirty="0">
              <a:latin typeface="微软雅黑" pitchFamily="34" charset="-122"/>
              <a:ea typeface="微软雅黑" pitchFamily="34" charset="-122"/>
            </a:endParaRPr>
          </a:p>
          <a:p>
            <a:pPr marL="714375" lvl="1" indent="-357188" eaLnBrk="0" hangingPunct="0">
              <a:lnSpc>
                <a:spcPts val="3000"/>
              </a:lnSpc>
              <a:buClr>
                <a:srgbClr val="800080"/>
              </a:buClr>
              <a:buFont typeface="+mj-lt"/>
              <a:buAutoNum type="arabicPeriod"/>
            </a:pPr>
            <a:r>
              <a:rPr lang="zh-CN" altLang="en-US" sz="2000" b="1" dirty="0">
                <a:latin typeface="微软雅黑" pitchFamily="34" charset="-122"/>
                <a:ea typeface="微软雅黑" pitchFamily="34" charset="-122"/>
              </a:rPr>
              <a:t>开销也较大。</a:t>
            </a:r>
          </a:p>
        </p:txBody>
      </p:sp>
    </p:spTree>
    <p:extLst>
      <p:ext uri="{BB962C8B-B14F-4D97-AF65-F5344CB8AC3E}">
        <p14:creationId xmlns:p14="http://schemas.microsoft.com/office/powerpoint/2010/main" val="256420337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27784" y="576800"/>
            <a:ext cx="15071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陷阱 </a:t>
            </a:r>
            <a:r>
              <a:rPr lang="en-US" altLang="zh-CN" sz="2000" b="1" dirty="0">
                <a:solidFill>
                  <a:schemeClr val="bg1"/>
                </a:solidFill>
                <a:latin typeface="微软雅黑" pitchFamily="34" charset="-122"/>
                <a:ea typeface="微软雅黑" pitchFamily="34" charset="-122"/>
              </a:rPr>
              <a:t>(trap)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1101"/>
            <a:ext cx="7914376" cy="29233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允许</a:t>
            </a:r>
            <a:r>
              <a:rPr lang="zh-CN" altLang="en-US" sz="2000" b="1" dirty="0">
                <a:solidFill>
                  <a:srgbClr val="C00000"/>
                </a:solidFill>
                <a:latin typeface="微软雅黑" pitchFamily="34" charset="-122"/>
                <a:ea typeface="微软雅黑" pitchFamily="34" charset="-122"/>
              </a:rPr>
              <a:t>不经过询问</a:t>
            </a:r>
            <a:r>
              <a:rPr lang="zh-CN" altLang="en-US" sz="2000" b="1" dirty="0">
                <a:latin typeface="微软雅黑" pitchFamily="34" charset="-122"/>
                <a:ea typeface="微软雅黑" pitchFamily="34" charset="-122"/>
              </a:rPr>
              <a:t>就能发送某些信息。这种信息称为</a:t>
            </a:r>
            <a:r>
              <a:rPr lang="zh-CN" altLang="en-US" sz="2000" b="1" dirty="0">
                <a:solidFill>
                  <a:srgbClr val="C00000"/>
                </a:solidFill>
                <a:latin typeface="微软雅黑" pitchFamily="34" charset="-122"/>
                <a:ea typeface="微软雅黑" pitchFamily="34" charset="-122"/>
              </a:rPr>
              <a:t>陷阱，</a:t>
            </a:r>
            <a:r>
              <a:rPr lang="zh-CN" altLang="en-US" sz="2000" b="1" dirty="0">
                <a:latin typeface="微软雅黑" pitchFamily="34" charset="-122"/>
                <a:ea typeface="微软雅黑" pitchFamily="34" charset="-122"/>
              </a:rPr>
              <a:t>表示它能够捕捉“事件”。</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当被管对象的代理检测到有事件发生时，就检查其门限值。代理只向管理进程报告达到某些门限值的事件（即</a:t>
            </a:r>
            <a:r>
              <a:rPr lang="zh-CN" altLang="en-US" sz="2000" b="1" dirty="0">
                <a:solidFill>
                  <a:srgbClr val="C00000"/>
                </a:solidFill>
                <a:latin typeface="微软雅黑" pitchFamily="34" charset="-122"/>
                <a:ea typeface="微软雅黑" pitchFamily="34" charset="-122"/>
              </a:rPr>
              <a:t>过滤</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过滤的好处：</a:t>
            </a:r>
          </a:p>
          <a:p>
            <a:pPr marL="715963" indent="-342900" eaLnBrk="0" hangingPunct="0">
              <a:lnSpc>
                <a:spcPts val="3200"/>
              </a:lnSpc>
              <a:buClr>
                <a:srgbClr val="800080"/>
              </a:buClr>
              <a:buFont typeface="+mj-lt"/>
              <a:buAutoNum type="arabicPeriod"/>
            </a:pPr>
            <a:r>
              <a:rPr lang="zh-CN" altLang="en-US" sz="2000" b="1" dirty="0">
                <a:latin typeface="微软雅黑" pitchFamily="34" charset="-122"/>
                <a:ea typeface="微软雅黑" pitchFamily="34" charset="-122"/>
              </a:rPr>
              <a:t>仅在严重事件发生时才发送陷阱；</a:t>
            </a:r>
          </a:p>
          <a:p>
            <a:pPr marL="715963" indent="-342900" eaLnBrk="0" hangingPunct="0">
              <a:lnSpc>
                <a:spcPts val="3200"/>
              </a:lnSpc>
              <a:buClr>
                <a:srgbClr val="800080"/>
              </a:buClr>
              <a:buFont typeface="+mj-lt"/>
              <a:buAutoNum type="arabicPeriod"/>
            </a:pPr>
            <a:r>
              <a:rPr lang="zh-CN" altLang="en-US" sz="2000" b="1" dirty="0">
                <a:latin typeface="微软雅黑" pitchFamily="34" charset="-122"/>
                <a:ea typeface="微软雅黑" pitchFamily="34" charset="-122"/>
              </a:rPr>
              <a:t>陷阱信息很简单且所需字节数很少。 </a:t>
            </a:r>
          </a:p>
        </p:txBody>
      </p:sp>
    </p:spTree>
    <p:extLst>
      <p:ext uri="{BB962C8B-B14F-4D97-AF65-F5344CB8AC3E}">
        <p14:creationId xmlns:p14="http://schemas.microsoft.com/office/powerpoint/2010/main" val="3963091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5795" y="57748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是有效的网络管理协议</a:t>
            </a:r>
          </a:p>
        </p:txBody>
      </p:sp>
      <p:sp>
        <p:nvSpPr>
          <p:cNvPr id="4" name="Rectangle 68"/>
          <p:cNvSpPr>
            <a:spLocks noChangeArrowheads="1"/>
          </p:cNvSpPr>
          <p:nvPr/>
        </p:nvSpPr>
        <p:spPr bwMode="auto">
          <a:xfrm>
            <a:off x="556964" y="971781"/>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探询</a:t>
            </a:r>
            <a:r>
              <a:rPr lang="zh-CN" altLang="en-US" sz="2000" b="1" dirty="0">
                <a:latin typeface="微软雅黑" pitchFamily="34" charset="-122"/>
                <a:ea typeface="微软雅黑" pitchFamily="34" charset="-122"/>
              </a:rPr>
              <a:t>（至少是周期性地）以维持对网络资源的实时监视。</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同时也采用</a:t>
            </a:r>
            <a:r>
              <a:rPr lang="zh-CN" altLang="en-US" sz="2000" b="1" dirty="0">
                <a:solidFill>
                  <a:srgbClr val="C00000"/>
                </a:solidFill>
                <a:latin typeface="微软雅黑" pitchFamily="34" charset="-122"/>
                <a:ea typeface="微软雅黑" pitchFamily="34" charset="-122"/>
              </a:rPr>
              <a:t>陷阱</a:t>
            </a:r>
            <a:r>
              <a:rPr lang="zh-CN" altLang="en-US" sz="2000" b="1" dirty="0">
                <a:latin typeface="微软雅黑" pitchFamily="34" charset="-122"/>
                <a:ea typeface="微软雅黑" pitchFamily="34" charset="-122"/>
              </a:rPr>
              <a:t>机制报告特殊事件，使得 </a:t>
            </a:r>
            <a:r>
              <a:rPr lang="en-US" altLang="zh-CN" sz="2000" b="1" dirty="0">
                <a:latin typeface="微软雅黑" pitchFamily="34" charset="-122"/>
                <a:ea typeface="微软雅黑" pitchFamily="34" charset="-122"/>
              </a:rPr>
              <a:t>SNMP </a:t>
            </a:r>
            <a:r>
              <a:rPr lang="zh-CN" altLang="en-US" sz="2000" b="1" dirty="0">
                <a:latin typeface="微软雅黑" pitchFamily="34" charset="-122"/>
                <a:ea typeface="微软雅黑" pitchFamily="34" charset="-122"/>
              </a:rPr>
              <a:t>成为一种有效的网络管理协议。 </a:t>
            </a:r>
          </a:p>
        </p:txBody>
      </p:sp>
    </p:spTree>
    <p:extLst>
      <p:ext uri="{BB962C8B-B14F-4D97-AF65-F5344CB8AC3E}">
        <p14:creationId xmlns:p14="http://schemas.microsoft.com/office/powerpoint/2010/main" val="282971586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17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54949" y="581962"/>
            <a:ext cx="32528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使用无连接的 </a:t>
            </a:r>
            <a:r>
              <a:rPr lang="en-US" altLang="zh-CN" sz="2000" b="1" dirty="0">
                <a:solidFill>
                  <a:schemeClr val="bg1"/>
                </a:solidFill>
                <a:latin typeface="微软雅黑" pitchFamily="34" charset="-122"/>
                <a:ea typeface="微软雅黑" pitchFamily="34" charset="-122"/>
              </a:rPr>
              <a:t>UDP</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6263"/>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运行</a:t>
            </a:r>
            <a:r>
              <a:rPr lang="zh-CN" altLang="en-US" sz="2000" b="1" dirty="0">
                <a:solidFill>
                  <a:srgbClr val="C00000"/>
                </a:solidFill>
                <a:latin typeface="微软雅黑" pitchFamily="34" charset="-122"/>
                <a:ea typeface="微软雅黑" pitchFamily="34" charset="-122"/>
              </a:rPr>
              <a:t>代理程序</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服务器</a:t>
            </a:r>
            <a:r>
              <a:rPr lang="zh-CN" altLang="en-US" sz="2000" b="1" dirty="0">
                <a:latin typeface="微软雅黑" pitchFamily="34" charset="-122"/>
                <a:ea typeface="微软雅黑" pitchFamily="34" charset="-122"/>
              </a:rPr>
              <a:t>端用 </a:t>
            </a:r>
            <a:r>
              <a:rPr lang="en-US" altLang="zh-CN" sz="2000" b="1" dirty="0">
                <a:latin typeface="微软雅黑" pitchFamily="34" charset="-122"/>
                <a:ea typeface="微软雅黑" pitchFamily="34" charset="-122"/>
              </a:rPr>
              <a:t>UDP </a:t>
            </a:r>
            <a:r>
              <a:rPr lang="zh-CN" altLang="en-US" sz="2000" b="1" dirty="0">
                <a:solidFill>
                  <a:srgbClr val="C00000"/>
                </a:solidFill>
                <a:latin typeface="微软雅黑" pitchFamily="34" charset="-122"/>
                <a:ea typeface="微软雅黑" pitchFamily="34" charset="-122"/>
              </a:rPr>
              <a:t>熟知端口 </a:t>
            </a:r>
            <a:r>
              <a:rPr lang="en-US" altLang="zh-CN" sz="2000" b="1" dirty="0">
                <a:latin typeface="微软雅黑" pitchFamily="34" charset="-122"/>
                <a:ea typeface="微软雅黑" pitchFamily="34" charset="-122"/>
              </a:rPr>
              <a:t>161 </a:t>
            </a:r>
            <a:r>
              <a:rPr lang="zh-CN" altLang="en-US" sz="2000" b="1" dirty="0">
                <a:latin typeface="微软雅黑" pitchFamily="34" charset="-122"/>
                <a:ea typeface="微软雅黑" pitchFamily="34" charset="-122"/>
              </a:rPr>
              <a:t>接收 </a:t>
            </a:r>
            <a:r>
              <a:rPr lang="en-US" altLang="zh-CN" sz="2000" b="1" dirty="0">
                <a:latin typeface="微软雅黑" pitchFamily="34" charset="-122"/>
                <a:ea typeface="微软雅黑" pitchFamily="34" charset="-122"/>
              </a:rPr>
              <a:t>get </a:t>
            </a:r>
            <a:r>
              <a:rPr lang="zh-CN" altLang="en-US" sz="2000" b="1" dirty="0">
                <a:latin typeface="微软雅黑" pitchFamily="34" charset="-122"/>
                <a:ea typeface="微软雅黑" pitchFamily="34" charset="-122"/>
              </a:rPr>
              <a:t>或 </a:t>
            </a:r>
            <a:r>
              <a:rPr lang="en-US" altLang="zh-CN" sz="2000" b="1" dirty="0">
                <a:latin typeface="微软雅黑" pitchFamily="34" charset="-122"/>
                <a:ea typeface="微软雅黑" pitchFamily="34" charset="-122"/>
              </a:rPr>
              <a:t>set </a:t>
            </a:r>
            <a:r>
              <a:rPr lang="zh-CN" altLang="en-US" sz="2000" b="1" dirty="0">
                <a:latin typeface="微软雅黑" pitchFamily="34" charset="-122"/>
                <a:ea typeface="微软雅黑" pitchFamily="34" charset="-122"/>
              </a:rPr>
              <a:t>报文，发送响应报文。与熟知端口通信的</a:t>
            </a:r>
            <a:r>
              <a:rPr lang="zh-CN" altLang="en-US" sz="2000" b="1" dirty="0">
                <a:solidFill>
                  <a:srgbClr val="0000FF"/>
                </a:solidFill>
                <a:latin typeface="微软雅黑" pitchFamily="34" charset="-122"/>
                <a:ea typeface="微软雅黑" pitchFamily="34" charset="-122"/>
              </a:rPr>
              <a:t>客户端</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临时端口。</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运行</a:t>
            </a:r>
            <a:r>
              <a:rPr lang="zh-CN" altLang="en-US" sz="2000" b="1" dirty="0">
                <a:solidFill>
                  <a:srgbClr val="C00000"/>
                </a:solidFill>
                <a:latin typeface="微软雅黑" pitchFamily="34" charset="-122"/>
                <a:ea typeface="微软雅黑" pitchFamily="34" charset="-122"/>
              </a:rPr>
              <a:t>管理程序</a:t>
            </a:r>
            <a:r>
              <a:rPr lang="zh-CN" altLang="en-US" sz="2000" b="1" dirty="0">
                <a:latin typeface="微软雅黑" pitchFamily="34" charset="-122"/>
                <a:ea typeface="微软雅黑" pitchFamily="34" charset="-122"/>
              </a:rPr>
              <a:t>的</a:t>
            </a:r>
            <a:r>
              <a:rPr lang="zh-CN" altLang="en-US" sz="2000" b="1" dirty="0">
                <a:solidFill>
                  <a:srgbClr val="0000FF"/>
                </a:solidFill>
                <a:latin typeface="微软雅黑" pitchFamily="34" charset="-122"/>
                <a:ea typeface="微软雅黑" pitchFamily="34" charset="-122"/>
              </a:rPr>
              <a:t>客户端</a:t>
            </a:r>
            <a:r>
              <a:rPr lang="zh-CN" altLang="en-US" sz="2000" b="1" dirty="0">
                <a:latin typeface="微软雅黑" pitchFamily="34" charset="-122"/>
                <a:ea typeface="微软雅黑" pitchFamily="34" charset="-122"/>
              </a:rPr>
              <a:t>则使用 </a:t>
            </a:r>
            <a:r>
              <a:rPr lang="en-US" altLang="zh-CN" sz="2000" b="1" dirty="0">
                <a:latin typeface="微软雅黑" pitchFamily="34" charset="-122"/>
                <a:ea typeface="微软雅黑" pitchFamily="34" charset="-122"/>
              </a:rPr>
              <a:t>UDP </a:t>
            </a:r>
            <a:r>
              <a:rPr lang="zh-CN" altLang="en-US" sz="2000" b="1" dirty="0">
                <a:solidFill>
                  <a:srgbClr val="C00000"/>
                </a:solidFill>
                <a:latin typeface="微软雅黑" pitchFamily="34" charset="-122"/>
                <a:ea typeface="微软雅黑" pitchFamily="34" charset="-122"/>
              </a:rPr>
              <a:t>熟知端口 </a:t>
            </a:r>
            <a:r>
              <a:rPr lang="en-US" altLang="zh-CN" sz="2000" b="1" dirty="0">
                <a:latin typeface="微软雅黑" pitchFamily="34" charset="-122"/>
                <a:ea typeface="微软雅黑" pitchFamily="34" charset="-122"/>
              </a:rPr>
              <a:t>162 </a:t>
            </a:r>
            <a:r>
              <a:rPr lang="zh-CN" altLang="en-US" sz="2000" b="1" dirty="0">
                <a:latin typeface="微软雅黑" pitchFamily="34" charset="-122"/>
                <a:ea typeface="微软雅黑" pitchFamily="34" charset="-122"/>
              </a:rPr>
              <a:t>来接收来自各代理的 </a:t>
            </a:r>
            <a:r>
              <a:rPr lang="en-US" altLang="zh-CN" sz="2000" b="1" dirty="0">
                <a:latin typeface="微软雅黑" pitchFamily="34" charset="-122"/>
                <a:ea typeface="微软雅黑" pitchFamily="34" charset="-122"/>
              </a:rPr>
              <a:t>trap </a:t>
            </a:r>
            <a:r>
              <a:rPr lang="zh-CN" altLang="en-US" sz="2000" b="1" dirty="0">
                <a:latin typeface="微软雅黑" pitchFamily="34" charset="-122"/>
                <a:ea typeface="微软雅黑" pitchFamily="34" charset="-122"/>
              </a:rPr>
              <a:t>报文。 </a:t>
            </a:r>
          </a:p>
        </p:txBody>
      </p:sp>
    </p:spTree>
    <p:extLst>
      <p:ext uri="{BB962C8B-B14F-4D97-AF65-F5344CB8AC3E}">
        <p14:creationId xmlns:p14="http://schemas.microsoft.com/office/powerpoint/2010/main" val="43367873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96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022804" y="580753"/>
            <a:ext cx="51171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SNMPv1 </a:t>
            </a:r>
            <a:r>
              <a:rPr lang="zh-CN" altLang="en-US" sz="2000" b="1" dirty="0">
                <a:solidFill>
                  <a:schemeClr val="bg1"/>
                </a:solidFill>
                <a:latin typeface="微软雅黑" pitchFamily="34" charset="-122"/>
                <a:ea typeface="微软雅黑" pitchFamily="34" charset="-122"/>
              </a:rPr>
              <a:t>定义的协议数据单元 </a:t>
            </a:r>
            <a:r>
              <a:rPr lang="en-US" altLang="zh-CN" sz="2000" b="1" dirty="0">
                <a:solidFill>
                  <a:schemeClr val="bg1"/>
                </a:solidFill>
                <a:latin typeface="微软雅黑" pitchFamily="34" charset="-122"/>
                <a:ea typeface="微软雅黑" pitchFamily="34" charset="-122"/>
              </a:rPr>
              <a:t>(PDU) </a:t>
            </a:r>
            <a:r>
              <a:rPr lang="zh-CN" altLang="en-US" sz="2000" b="1" dirty="0">
                <a:solidFill>
                  <a:schemeClr val="bg1"/>
                </a:solidFill>
                <a:latin typeface="微软雅黑" pitchFamily="34" charset="-122"/>
                <a:ea typeface="微软雅黑" pitchFamily="34" charset="-122"/>
              </a:rPr>
              <a:t>类型</a:t>
            </a:r>
          </a:p>
        </p:txBody>
      </p:sp>
      <p:sp>
        <p:nvSpPr>
          <p:cNvPr id="5" name="Text Box 4"/>
          <p:cNvSpPr txBox="1">
            <a:spLocks noChangeArrowheads="1"/>
          </p:cNvSpPr>
          <p:nvPr/>
        </p:nvSpPr>
        <p:spPr bwMode="auto">
          <a:xfrm>
            <a:off x="492955" y="1023595"/>
            <a:ext cx="8048775" cy="3065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tabLst>
                <a:tab pos="3676650" algn="l"/>
              </a:tabLst>
              <a:defRPr sz="3600">
                <a:solidFill>
                  <a:schemeClr val="tx1"/>
                </a:solidFill>
                <a:latin typeface="Tahoma" pitchFamily="34" charset="0"/>
                <a:ea typeface="宋体" charset="-122"/>
              </a:defRPr>
            </a:lvl1pPr>
            <a:lvl2pPr marL="800100" indent="-342900">
              <a:tabLst>
                <a:tab pos="3676650" algn="l"/>
              </a:tabLst>
              <a:defRPr sz="3600">
                <a:solidFill>
                  <a:schemeClr val="tx1"/>
                </a:solidFill>
                <a:latin typeface="Tahoma" pitchFamily="34" charset="0"/>
                <a:ea typeface="宋体" charset="-122"/>
              </a:defRPr>
            </a:lvl2pPr>
            <a:lvl3pPr marL="1257300" indent="-342900">
              <a:tabLst>
                <a:tab pos="3676650" algn="l"/>
              </a:tabLst>
              <a:defRPr sz="3600">
                <a:solidFill>
                  <a:schemeClr val="tx1"/>
                </a:solidFill>
                <a:latin typeface="Tahoma" pitchFamily="34" charset="0"/>
                <a:ea typeface="宋体" charset="-122"/>
              </a:defRPr>
            </a:lvl3pPr>
            <a:lvl4pPr marL="1714500" indent="-342900">
              <a:tabLst>
                <a:tab pos="3676650" algn="l"/>
              </a:tabLst>
              <a:defRPr sz="3600">
                <a:solidFill>
                  <a:schemeClr val="tx1"/>
                </a:solidFill>
                <a:latin typeface="Tahoma" pitchFamily="34" charset="0"/>
                <a:ea typeface="宋体" charset="-122"/>
              </a:defRPr>
            </a:lvl4pPr>
            <a:lvl5pPr marL="2171700" indent="-342900">
              <a:tabLst>
                <a:tab pos="3676650" algn="l"/>
              </a:tabLst>
              <a:defRPr sz="3600">
                <a:solidFill>
                  <a:schemeClr val="tx1"/>
                </a:solidFill>
                <a:latin typeface="Tahoma" pitchFamily="34" charset="0"/>
                <a:ea typeface="宋体" charset="-122"/>
              </a:defRPr>
            </a:lvl5pPr>
            <a:lvl6pPr marL="26289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6pPr>
            <a:lvl7pPr marL="30861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7pPr>
            <a:lvl8pPr marL="35433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8pPr>
            <a:lvl9pPr marL="40005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9pPr>
          </a:lstStyle>
          <a:p>
            <a:pPr>
              <a:lnSpc>
                <a:spcPct val="150000"/>
              </a:lnSpc>
              <a:tabLst>
                <a:tab pos="1162050" algn="l"/>
                <a:tab pos="3319463" algn="l"/>
              </a:tabLst>
            </a:pPr>
            <a:r>
              <a:rPr lang="en-US" altLang="zh-CN" sz="1400" b="1" dirty="0">
                <a:latin typeface="微软雅黑" pitchFamily="34" charset="-122"/>
                <a:ea typeface="微软雅黑" pitchFamily="34" charset="-122"/>
              </a:rPr>
              <a:t>    PDU </a:t>
            </a:r>
            <a:r>
              <a:rPr lang="zh-CN" altLang="en-US" sz="1400" b="1" dirty="0">
                <a:latin typeface="微软雅黑" pitchFamily="34" charset="-122"/>
                <a:ea typeface="微软雅黑" pitchFamily="34" charset="-122"/>
              </a:rPr>
              <a:t>编号 </a:t>
            </a:r>
            <a:r>
              <a:rPr lang="en-US" altLang="zh-CN" sz="1400" b="1" dirty="0">
                <a:latin typeface="微软雅黑" pitchFamily="34" charset="-122"/>
                <a:ea typeface="微软雅黑" pitchFamily="34" charset="-122"/>
              </a:rPr>
              <a:t>(T</a:t>
            </a:r>
            <a:r>
              <a:rPr lang="zh-CN" altLang="en-US" sz="1400" b="1" dirty="0">
                <a:latin typeface="微软雅黑" pitchFamily="34" charset="-122"/>
                <a:ea typeface="微软雅黑" pitchFamily="34" charset="-122"/>
              </a:rPr>
              <a:t>字段</a:t>
            </a:r>
            <a:r>
              <a:rPr lang="en-US" altLang="zh-CN" sz="1400" b="1" dirty="0">
                <a:latin typeface="微软雅黑" pitchFamily="34" charset="-122"/>
                <a:ea typeface="微软雅黑" pitchFamily="34" charset="-122"/>
              </a:rPr>
              <a:t>)           PDU </a:t>
            </a:r>
            <a:r>
              <a:rPr lang="zh-CN" altLang="en-US" sz="1400" b="1" dirty="0">
                <a:latin typeface="微软雅黑" pitchFamily="34" charset="-122"/>
                <a:ea typeface="微软雅黑" pitchFamily="34" charset="-122"/>
              </a:rPr>
              <a:t>名称</a:t>
            </a:r>
            <a:r>
              <a:rPr lang="en-US" altLang="zh-CN" sz="1400" b="1" dirty="0">
                <a:latin typeface="微软雅黑" pitchFamily="34" charset="-122"/>
                <a:ea typeface="微软雅黑" pitchFamily="34" charset="-122"/>
              </a:rPr>
              <a:t>	                             </a:t>
            </a:r>
            <a:r>
              <a:rPr lang="zh-CN" altLang="en-US" sz="1400" b="1" dirty="0">
                <a:latin typeface="微软雅黑" pitchFamily="34" charset="-122"/>
                <a:ea typeface="微软雅黑" pitchFamily="34" charset="-122"/>
              </a:rPr>
              <a:t>用途</a:t>
            </a:r>
          </a:p>
          <a:p>
            <a:pPr eaLnBrk="1" hangingPunct="1">
              <a:lnSpc>
                <a:spcPct val="150000"/>
              </a:lnSpc>
              <a:spcAft>
                <a:spcPct val="30000"/>
              </a:spcAft>
              <a:tabLst>
                <a:tab pos="1162050" algn="l"/>
                <a:tab pos="3319463" algn="l"/>
              </a:tabLst>
            </a:pPr>
            <a:r>
              <a:rPr lang="en-US" altLang="zh-CN" sz="1400" b="1" dirty="0">
                <a:solidFill>
                  <a:srgbClr val="0000FF"/>
                </a:solidFill>
                <a:latin typeface="微软雅黑" pitchFamily="34" charset="-122"/>
                <a:ea typeface="微软雅黑" pitchFamily="34" charset="-122"/>
              </a:rPr>
              <a:t>  0  (A0)       	               </a:t>
            </a:r>
            <a:r>
              <a:rPr lang="en-US" altLang="zh-CN" sz="1400" b="1" dirty="0" err="1">
                <a:solidFill>
                  <a:srgbClr val="0000FF"/>
                </a:solidFill>
                <a:latin typeface="微软雅黑" pitchFamily="34" charset="-122"/>
                <a:ea typeface="微软雅黑" pitchFamily="34" charset="-122"/>
              </a:rPr>
              <a:t>GetRequest</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用来查询一个或一组变量的值</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1  (A1)       	               </a:t>
            </a:r>
            <a:r>
              <a:rPr lang="en-US" altLang="zh-CN" sz="1400" b="1" dirty="0" err="1">
                <a:solidFill>
                  <a:srgbClr val="0000FF"/>
                </a:solidFill>
                <a:latin typeface="微软雅黑" pitchFamily="34" charset="-122"/>
                <a:ea typeface="微软雅黑" pitchFamily="34" charset="-122"/>
              </a:rPr>
              <a:t>GetNextRequest</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允许在 </a:t>
            </a:r>
            <a:r>
              <a:rPr lang="en-US" altLang="zh-CN" sz="1400" b="1" dirty="0">
                <a:solidFill>
                  <a:srgbClr val="0000FF"/>
                </a:solidFill>
                <a:latin typeface="微软雅黑" pitchFamily="34" charset="-122"/>
                <a:ea typeface="微软雅黑" pitchFamily="34" charset="-122"/>
              </a:rPr>
              <a:t>MIB </a:t>
            </a:r>
            <a:r>
              <a:rPr lang="zh-CN" altLang="en-US" sz="1400" b="1" dirty="0">
                <a:solidFill>
                  <a:srgbClr val="0000FF"/>
                </a:solidFill>
                <a:latin typeface="微软雅黑" pitchFamily="34" charset="-122"/>
                <a:ea typeface="微软雅黑" pitchFamily="34" charset="-122"/>
              </a:rPr>
              <a:t>树上读取下一个变量，此操作可反复进行 </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2  (A2)       	               </a:t>
            </a:r>
            <a:r>
              <a:rPr lang="en-US" altLang="zh-CN" sz="1400" b="1" dirty="0" err="1">
                <a:solidFill>
                  <a:srgbClr val="0000FF"/>
                </a:solidFill>
                <a:latin typeface="微软雅黑" pitchFamily="34" charset="-122"/>
                <a:ea typeface="微软雅黑" pitchFamily="34" charset="-122"/>
              </a:rPr>
              <a:t>Reponse</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代理向管理者或管理者向管理者发送响应</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3  (A3)       	               </a:t>
            </a:r>
            <a:r>
              <a:rPr lang="en-US" altLang="zh-CN" sz="1400" b="1" dirty="0" err="1">
                <a:solidFill>
                  <a:srgbClr val="0000FF"/>
                </a:solidFill>
                <a:latin typeface="微软雅黑" pitchFamily="34" charset="-122"/>
                <a:ea typeface="微软雅黑" pitchFamily="34" charset="-122"/>
              </a:rPr>
              <a:t>SetRequest</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对一个或多个变量值进行设置</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5  (A5)       	               </a:t>
            </a:r>
            <a:r>
              <a:rPr lang="en-US" altLang="zh-CN" sz="1400" b="1" dirty="0" err="1">
                <a:solidFill>
                  <a:srgbClr val="0000FF"/>
                </a:solidFill>
                <a:latin typeface="微软雅黑" pitchFamily="34" charset="-122"/>
                <a:ea typeface="微软雅黑" pitchFamily="34" charset="-122"/>
              </a:rPr>
              <a:t>GetBulkRequest</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管理者从代理读取大数据块的值</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6  (A6)      	               </a:t>
            </a:r>
            <a:r>
              <a:rPr lang="en-US" altLang="zh-CN" sz="1400" b="1" dirty="0" err="1">
                <a:solidFill>
                  <a:srgbClr val="0000FF"/>
                </a:solidFill>
                <a:latin typeface="微软雅黑" pitchFamily="34" charset="-122"/>
                <a:ea typeface="微软雅黑" pitchFamily="34" charset="-122"/>
              </a:rPr>
              <a:t>InformRequest</a:t>
            </a:r>
            <a:r>
              <a:rPr lang="en-US" altLang="zh-CN" sz="1400" b="1" dirty="0">
                <a:solidFill>
                  <a:srgbClr val="0000FF"/>
                </a:solidFill>
                <a:latin typeface="微软雅黑" pitchFamily="34" charset="-122"/>
                <a:ea typeface="微软雅黑" pitchFamily="34" charset="-122"/>
              </a:rPr>
              <a:t>	      </a:t>
            </a:r>
            <a:r>
              <a:rPr lang="zh-CN" altLang="en-US" sz="1400" b="1" dirty="0">
                <a:solidFill>
                  <a:srgbClr val="0000FF"/>
                </a:solidFill>
                <a:latin typeface="微软雅黑" pitchFamily="34" charset="-122"/>
                <a:ea typeface="微软雅黑" pitchFamily="34" charset="-122"/>
              </a:rPr>
              <a:t>管理者从另一管理者读取代理的变量</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7  (A7)      	               SNMPv2Trap	      </a:t>
            </a:r>
            <a:r>
              <a:rPr lang="zh-CN" altLang="en-US" sz="1400" b="1" dirty="0">
                <a:solidFill>
                  <a:srgbClr val="0000FF"/>
                </a:solidFill>
                <a:latin typeface="微软雅黑" pitchFamily="34" charset="-122"/>
                <a:ea typeface="微软雅黑" pitchFamily="34" charset="-122"/>
              </a:rPr>
              <a:t>代理向管理者报告异常事件</a:t>
            </a:r>
          </a:p>
          <a:p>
            <a:pPr eaLnBrk="1" hangingPunct="1">
              <a:lnSpc>
                <a:spcPct val="150000"/>
              </a:lnSpc>
              <a:tabLst>
                <a:tab pos="1162050" algn="l"/>
                <a:tab pos="3319463" algn="l"/>
              </a:tabLst>
            </a:pPr>
            <a:r>
              <a:rPr lang="zh-CN" altLang="en-US" sz="1400" b="1" dirty="0">
                <a:solidFill>
                  <a:srgbClr val="0000FF"/>
                </a:solidFill>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8  (A8)      	               Report	      </a:t>
            </a:r>
            <a:r>
              <a:rPr lang="zh-CN" altLang="en-US" sz="1400" b="1" dirty="0">
                <a:solidFill>
                  <a:srgbClr val="0000FF"/>
                </a:solidFill>
                <a:latin typeface="微软雅黑" pitchFamily="34" charset="-122"/>
                <a:ea typeface="微软雅黑" pitchFamily="34" charset="-122"/>
              </a:rPr>
              <a:t>管理者之间报告某些差错 </a:t>
            </a:r>
          </a:p>
        </p:txBody>
      </p:sp>
      <p:sp>
        <p:nvSpPr>
          <p:cNvPr id="7" name="Line 6"/>
          <p:cNvSpPr>
            <a:spLocks noChangeShapeType="1"/>
          </p:cNvSpPr>
          <p:nvPr/>
        </p:nvSpPr>
        <p:spPr bwMode="auto">
          <a:xfrm>
            <a:off x="2387591"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2" name="Line 6"/>
          <p:cNvSpPr>
            <a:spLocks noChangeShapeType="1"/>
          </p:cNvSpPr>
          <p:nvPr/>
        </p:nvSpPr>
        <p:spPr bwMode="auto">
          <a:xfrm>
            <a:off x="4113204" y="1087843"/>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3" name="Line 5"/>
          <p:cNvSpPr>
            <a:spLocks noChangeShapeType="1"/>
          </p:cNvSpPr>
          <p:nvPr/>
        </p:nvSpPr>
        <p:spPr bwMode="auto">
          <a:xfrm>
            <a:off x="585216" y="108784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4" name="Line 5"/>
          <p:cNvSpPr>
            <a:spLocks noChangeShapeType="1"/>
          </p:cNvSpPr>
          <p:nvPr/>
        </p:nvSpPr>
        <p:spPr bwMode="auto">
          <a:xfrm>
            <a:off x="585216" y="40753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5" name="Line 5"/>
          <p:cNvSpPr>
            <a:spLocks noChangeShapeType="1"/>
          </p:cNvSpPr>
          <p:nvPr/>
        </p:nvSpPr>
        <p:spPr bwMode="auto">
          <a:xfrm>
            <a:off x="585216" y="139416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6" name="Line 6"/>
          <p:cNvSpPr>
            <a:spLocks noChangeShapeType="1"/>
          </p:cNvSpPr>
          <p:nvPr/>
        </p:nvSpPr>
        <p:spPr bwMode="auto">
          <a:xfrm>
            <a:off x="585272"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7" name="Line 6"/>
          <p:cNvSpPr>
            <a:spLocks noChangeShapeType="1"/>
          </p:cNvSpPr>
          <p:nvPr/>
        </p:nvSpPr>
        <p:spPr bwMode="auto">
          <a:xfrm>
            <a:off x="8540440" y="1092397"/>
            <a:ext cx="0" cy="299349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itchFamily="34" charset="-122"/>
              <a:ea typeface="微软雅黑" pitchFamily="34" charset="-122"/>
            </a:endParaRPr>
          </a:p>
        </p:txBody>
      </p:sp>
      <p:sp>
        <p:nvSpPr>
          <p:cNvPr id="18" name="Line 5"/>
          <p:cNvSpPr>
            <a:spLocks noChangeShapeType="1"/>
          </p:cNvSpPr>
          <p:nvPr/>
        </p:nvSpPr>
        <p:spPr bwMode="auto">
          <a:xfrm>
            <a:off x="585216" y="174369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19" name="Line 5"/>
          <p:cNvSpPr>
            <a:spLocks noChangeShapeType="1"/>
          </p:cNvSpPr>
          <p:nvPr/>
        </p:nvSpPr>
        <p:spPr bwMode="auto">
          <a:xfrm>
            <a:off x="585216" y="2095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0" name="Line 5"/>
          <p:cNvSpPr>
            <a:spLocks noChangeShapeType="1"/>
          </p:cNvSpPr>
          <p:nvPr/>
        </p:nvSpPr>
        <p:spPr bwMode="auto">
          <a:xfrm>
            <a:off x="585216" y="2419197"/>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1" name="Line 5"/>
          <p:cNvSpPr>
            <a:spLocks noChangeShapeType="1"/>
          </p:cNvSpPr>
          <p:nvPr/>
        </p:nvSpPr>
        <p:spPr bwMode="auto">
          <a:xfrm>
            <a:off x="585216" y="273466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2" name="Line 5"/>
          <p:cNvSpPr>
            <a:spLocks noChangeShapeType="1"/>
          </p:cNvSpPr>
          <p:nvPr/>
        </p:nvSpPr>
        <p:spPr bwMode="auto">
          <a:xfrm>
            <a:off x="585216" y="3048981"/>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3" name="Line 5"/>
          <p:cNvSpPr>
            <a:spLocks noChangeShapeType="1"/>
          </p:cNvSpPr>
          <p:nvPr/>
        </p:nvSpPr>
        <p:spPr bwMode="auto">
          <a:xfrm>
            <a:off x="585216" y="338273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
        <p:nvSpPr>
          <p:cNvPr id="24" name="Line 5"/>
          <p:cNvSpPr>
            <a:spLocks noChangeShapeType="1"/>
          </p:cNvSpPr>
          <p:nvPr/>
        </p:nvSpPr>
        <p:spPr bwMode="auto">
          <a:xfrm>
            <a:off x="585216" y="3697053"/>
            <a:ext cx="7956514" cy="458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a:latin typeface="微软雅黑" pitchFamily="34" charset="-122"/>
                <a:ea typeface="微软雅黑" pitchFamily="34" charset="-122"/>
              </a:rPr>
              <a:t> </a:t>
            </a:r>
            <a:endParaRPr lang="zh-CN" altLang="en-US" sz="1400" dirty="0">
              <a:latin typeface="微软雅黑" pitchFamily="34" charset="-122"/>
              <a:ea typeface="微软雅黑" pitchFamily="34" charset="-122"/>
            </a:endParaRPr>
          </a:p>
        </p:txBody>
      </p:sp>
    </p:spTree>
    <p:extLst>
      <p:ext uri="{BB962C8B-B14F-4D97-AF65-F5344CB8AC3E}">
        <p14:creationId xmlns:p14="http://schemas.microsoft.com/office/powerpoint/2010/main" val="17421772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2317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368519" y="582898"/>
            <a:ext cx="24256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SNMP </a:t>
            </a:r>
            <a:r>
              <a:rPr lang="zh-CN" altLang="en-US" sz="2000" b="1" dirty="0">
                <a:solidFill>
                  <a:schemeClr val="bg1"/>
                </a:solidFill>
                <a:latin typeface="微软雅黑" pitchFamily="34" charset="-122"/>
                <a:ea typeface="微软雅黑" pitchFamily="34" charset="-122"/>
              </a:rPr>
              <a:t>的报文格式</a:t>
            </a:r>
          </a:p>
        </p:txBody>
      </p:sp>
      <p:grpSp>
        <p:nvGrpSpPr>
          <p:cNvPr id="60" name="组合 59"/>
          <p:cNvGrpSpPr/>
          <p:nvPr/>
        </p:nvGrpSpPr>
        <p:grpSpPr>
          <a:xfrm>
            <a:off x="714611" y="1275095"/>
            <a:ext cx="7636988" cy="2750850"/>
            <a:chOff x="284287" y="1433308"/>
            <a:chExt cx="9493249" cy="3419476"/>
          </a:xfrm>
        </p:grpSpPr>
        <p:grpSp>
          <p:nvGrpSpPr>
            <p:cNvPr id="5" name="Group 142"/>
            <p:cNvGrpSpPr>
              <a:grpSpLocks/>
            </p:cNvGrpSpPr>
            <p:nvPr/>
          </p:nvGrpSpPr>
          <p:grpSpPr bwMode="auto">
            <a:xfrm>
              <a:off x="7266640" y="4061197"/>
              <a:ext cx="2510896" cy="344488"/>
              <a:chOff x="4177" y="2324"/>
              <a:chExt cx="1460" cy="217"/>
            </a:xfrm>
          </p:grpSpPr>
          <p:sp>
            <p:nvSpPr>
              <p:cNvPr id="6" name="Line 119"/>
              <p:cNvSpPr>
                <a:spLocks noChangeShapeType="1"/>
              </p:cNvSpPr>
              <p:nvPr/>
            </p:nvSpPr>
            <p:spPr bwMode="auto">
              <a:xfrm flipV="1">
                <a:off x="4177" y="2444"/>
                <a:ext cx="146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7" name="Rectangle 122"/>
              <p:cNvSpPr>
                <a:spLocks noChangeArrowheads="1"/>
              </p:cNvSpPr>
              <p:nvPr/>
            </p:nvSpPr>
            <p:spPr bwMode="auto">
              <a:xfrm>
                <a:off x="4593" y="2324"/>
                <a:ext cx="579"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a:solidFill>
                      <a:srgbClr val="0000FF"/>
                    </a:solidFill>
                    <a:latin typeface="微软雅黑" pitchFamily="34" charset="-122"/>
                    <a:ea typeface="微软雅黑" pitchFamily="34" charset="-122"/>
                  </a:rPr>
                  <a:t>变量绑定</a:t>
                </a:r>
              </a:p>
            </p:txBody>
          </p:sp>
        </p:grpSp>
        <p:grpSp>
          <p:nvGrpSpPr>
            <p:cNvPr id="8" name="Group 141"/>
            <p:cNvGrpSpPr>
              <a:grpSpLocks/>
            </p:cNvGrpSpPr>
            <p:nvPr/>
          </p:nvGrpSpPr>
          <p:grpSpPr bwMode="auto">
            <a:xfrm>
              <a:off x="4100504" y="4061197"/>
              <a:ext cx="3154098" cy="344488"/>
              <a:chOff x="2336" y="2324"/>
              <a:chExt cx="1834" cy="217"/>
            </a:xfrm>
          </p:grpSpPr>
          <p:sp>
            <p:nvSpPr>
              <p:cNvPr id="9" name="Line 138"/>
              <p:cNvSpPr>
                <a:spLocks noChangeShapeType="1"/>
              </p:cNvSpPr>
              <p:nvPr/>
            </p:nvSpPr>
            <p:spPr bwMode="auto">
              <a:xfrm flipV="1">
                <a:off x="2336" y="2444"/>
                <a:ext cx="183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0" name="Rectangle 139"/>
              <p:cNvSpPr>
                <a:spLocks noChangeArrowheads="1"/>
              </p:cNvSpPr>
              <p:nvPr/>
            </p:nvSpPr>
            <p:spPr bwMode="auto">
              <a:xfrm>
                <a:off x="3032" y="2324"/>
                <a:ext cx="357"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pitchFamily="34" charset="-122"/>
                    <a:ea typeface="微软雅黑" pitchFamily="34" charset="-122"/>
                  </a:rPr>
                  <a:t>首部</a:t>
                </a:r>
              </a:p>
            </p:txBody>
          </p:sp>
        </p:grpSp>
        <p:sp>
          <p:nvSpPr>
            <p:cNvPr id="11" name="Rectangle 88"/>
            <p:cNvSpPr>
              <a:spLocks noChangeArrowheads="1"/>
            </p:cNvSpPr>
            <p:nvPr/>
          </p:nvSpPr>
          <p:spPr bwMode="auto">
            <a:xfrm>
              <a:off x="299764" y="3567478"/>
              <a:ext cx="9458854" cy="441325"/>
            </a:xfrm>
            <a:prstGeom prst="rect">
              <a:avLst/>
            </a:prstGeom>
            <a:solidFill>
              <a:srgbClr val="00FFCC"/>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109"/>
            <p:cNvSpPr>
              <a:spLocks noChangeArrowheads="1"/>
            </p:cNvSpPr>
            <p:nvPr/>
          </p:nvSpPr>
          <p:spPr bwMode="auto">
            <a:xfrm>
              <a:off x="2968881" y="3562715"/>
              <a:ext cx="6791458" cy="446090"/>
            </a:xfrm>
            <a:prstGeom prst="rect">
              <a:avLst/>
            </a:prstGeom>
            <a:solidFill>
              <a:srgbClr val="00B050"/>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Rectangle 111"/>
            <p:cNvSpPr>
              <a:spLocks noChangeArrowheads="1"/>
            </p:cNvSpPr>
            <p:nvPr/>
          </p:nvSpPr>
          <p:spPr bwMode="auto">
            <a:xfrm>
              <a:off x="284287" y="3642089"/>
              <a:ext cx="9164115" cy="31069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200" b="1" dirty="0">
                  <a:latin typeface="微软雅黑" pitchFamily="34" charset="-122"/>
                  <a:ea typeface="微软雅黑" pitchFamily="34" charset="-122"/>
                </a:rPr>
                <a:t>上下文引擎 </a:t>
              </a:r>
              <a:r>
                <a:rPr kumimoji="1" lang="en-US" altLang="zh-CN" sz="1200" b="1" dirty="0">
                  <a:latin typeface="微软雅黑" pitchFamily="34" charset="-122"/>
                  <a:ea typeface="微软雅黑" pitchFamily="34" charset="-122"/>
                </a:rPr>
                <a:t>ID      </a:t>
              </a:r>
              <a:r>
                <a:rPr kumimoji="1" lang="zh-CN" altLang="en-US" sz="1200" b="1" dirty="0">
                  <a:latin typeface="微软雅黑" pitchFamily="34" charset="-122"/>
                  <a:ea typeface="微软雅黑" pitchFamily="34" charset="-122"/>
                </a:rPr>
                <a:t>上下文名      </a:t>
              </a:r>
              <a:r>
                <a:rPr kumimoji="1" lang="en-US" altLang="zh-CN" sz="1200" b="1" dirty="0">
                  <a:solidFill>
                    <a:schemeClr val="bg1"/>
                  </a:solidFill>
                  <a:latin typeface="微软雅黑" pitchFamily="34" charset="-122"/>
                  <a:ea typeface="微软雅黑" pitchFamily="34" charset="-122"/>
                </a:rPr>
                <a:t>PDU </a:t>
              </a:r>
              <a:r>
                <a:rPr kumimoji="1" lang="zh-CN" altLang="en-US" sz="1200" b="1" dirty="0">
                  <a:solidFill>
                    <a:schemeClr val="bg1"/>
                  </a:solidFill>
                  <a:latin typeface="微软雅黑" pitchFamily="34" charset="-122"/>
                  <a:ea typeface="微软雅黑" pitchFamily="34" charset="-122"/>
                </a:rPr>
                <a:t>类型     请求 </a:t>
              </a:r>
              <a:r>
                <a:rPr kumimoji="1" lang="en-US" altLang="zh-CN" sz="1200" b="1" dirty="0">
                  <a:solidFill>
                    <a:schemeClr val="bg1"/>
                  </a:solidFill>
                  <a:latin typeface="微软雅黑" pitchFamily="34" charset="-122"/>
                  <a:ea typeface="微软雅黑" pitchFamily="34" charset="-122"/>
                </a:rPr>
                <a:t>ID      </a:t>
              </a:r>
              <a:r>
                <a:rPr kumimoji="1" lang="zh-CN" altLang="en-US" sz="1200" b="1" dirty="0">
                  <a:solidFill>
                    <a:schemeClr val="bg1"/>
                  </a:solidFill>
                  <a:latin typeface="微软雅黑" pitchFamily="34" charset="-122"/>
                  <a:ea typeface="微软雅黑" pitchFamily="34" charset="-122"/>
                </a:rPr>
                <a:t>差错状态      差错索引       名      值      名     值  </a:t>
              </a:r>
            </a:p>
          </p:txBody>
        </p:sp>
        <p:sp>
          <p:nvSpPr>
            <p:cNvPr id="14" name="Line 89"/>
            <p:cNvSpPr>
              <a:spLocks noChangeShapeType="1"/>
            </p:cNvSpPr>
            <p:nvPr/>
          </p:nvSpPr>
          <p:spPr bwMode="auto">
            <a:xfrm>
              <a:off x="2074589" y="2005377"/>
              <a:ext cx="718701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5" name="Line 90"/>
            <p:cNvSpPr>
              <a:spLocks noChangeShapeType="1"/>
            </p:cNvSpPr>
            <p:nvPr/>
          </p:nvSpPr>
          <p:spPr bwMode="auto">
            <a:xfrm>
              <a:off x="2741869" y="2370502"/>
              <a:ext cx="65042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6" name="Line 91"/>
            <p:cNvSpPr>
              <a:spLocks noChangeShapeType="1"/>
            </p:cNvSpPr>
            <p:nvPr/>
          </p:nvSpPr>
          <p:spPr bwMode="auto">
            <a:xfrm>
              <a:off x="2759066" y="2238739"/>
              <a:ext cx="0" cy="3111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7" name="Line 92"/>
            <p:cNvSpPr>
              <a:spLocks noChangeShapeType="1"/>
            </p:cNvSpPr>
            <p:nvPr/>
          </p:nvSpPr>
          <p:spPr bwMode="auto">
            <a:xfrm>
              <a:off x="9261599" y="1537065"/>
              <a:ext cx="0" cy="9937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Rectangle 93"/>
            <p:cNvSpPr>
              <a:spLocks noChangeArrowheads="1"/>
            </p:cNvSpPr>
            <p:nvPr/>
          </p:nvSpPr>
          <p:spPr bwMode="auto">
            <a:xfrm>
              <a:off x="4726508" y="1830179"/>
              <a:ext cx="128923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solidFill>
                    <a:srgbClr val="0000FF"/>
                  </a:solidFill>
                  <a:latin typeface="微软雅黑" pitchFamily="34" charset="-122"/>
                  <a:ea typeface="微软雅黑" pitchFamily="34" charset="-122"/>
                </a:rPr>
                <a:t>UDP </a:t>
              </a:r>
              <a:r>
                <a:rPr kumimoji="1" lang="zh-CN" altLang="en-US" sz="1200" b="1">
                  <a:solidFill>
                    <a:srgbClr val="0000FF"/>
                  </a:solidFill>
                  <a:latin typeface="微软雅黑" pitchFamily="34" charset="-122"/>
                  <a:ea typeface="微软雅黑" pitchFamily="34" charset="-122"/>
                </a:rPr>
                <a:t>数据报</a:t>
              </a:r>
            </a:p>
          </p:txBody>
        </p:sp>
        <p:sp>
          <p:nvSpPr>
            <p:cNvPr id="19" name="Line 94"/>
            <p:cNvSpPr>
              <a:spLocks noChangeShapeType="1"/>
            </p:cNvSpPr>
            <p:nvPr/>
          </p:nvSpPr>
          <p:spPr bwMode="auto">
            <a:xfrm>
              <a:off x="1390112" y="1459277"/>
              <a:ext cx="0" cy="10906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0" name="Line 95"/>
            <p:cNvSpPr>
              <a:spLocks noChangeShapeType="1"/>
            </p:cNvSpPr>
            <p:nvPr/>
          </p:nvSpPr>
          <p:spPr bwMode="auto">
            <a:xfrm flipV="1">
              <a:off x="1391832" y="1619614"/>
              <a:ext cx="7871486" cy="0"/>
            </a:xfrm>
            <a:prstGeom prst="line">
              <a:avLst/>
            </a:prstGeom>
            <a:noFill/>
            <a:ln w="12700">
              <a:solidFill>
                <a:schemeClr val="tx1"/>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1" name="Rectangle 96"/>
            <p:cNvSpPr>
              <a:spLocks noChangeArrowheads="1"/>
            </p:cNvSpPr>
            <p:nvPr/>
          </p:nvSpPr>
          <p:spPr bwMode="auto">
            <a:xfrm>
              <a:off x="4451343" y="1433308"/>
              <a:ext cx="105211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pitchFamily="34" charset="-122"/>
                  <a:ea typeface="微软雅黑" pitchFamily="34" charset="-122"/>
                </a:rPr>
                <a:t>IP </a:t>
              </a:r>
              <a:r>
                <a:rPr kumimoji="1" lang="zh-CN" altLang="en-US" sz="1200" b="1" dirty="0">
                  <a:solidFill>
                    <a:srgbClr val="0000FF"/>
                  </a:solidFill>
                  <a:latin typeface="微软雅黑" pitchFamily="34" charset="-122"/>
                  <a:ea typeface="微软雅黑" pitchFamily="34" charset="-122"/>
                </a:rPr>
                <a:t>数据报</a:t>
              </a:r>
            </a:p>
          </p:txBody>
        </p:sp>
        <p:sp>
          <p:nvSpPr>
            <p:cNvPr id="22" name="Rectangle 97"/>
            <p:cNvSpPr>
              <a:spLocks noChangeArrowheads="1"/>
            </p:cNvSpPr>
            <p:nvPr/>
          </p:nvSpPr>
          <p:spPr bwMode="auto">
            <a:xfrm>
              <a:off x="5208052" y="2190545"/>
              <a:ext cx="1271299"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C00FF"/>
                  </a:solidFill>
                  <a:latin typeface="微软雅黑" pitchFamily="34" charset="-122"/>
                  <a:ea typeface="微软雅黑" pitchFamily="34" charset="-122"/>
                </a:rPr>
                <a:t>SNMP </a:t>
              </a:r>
              <a:r>
                <a:rPr kumimoji="1" lang="zh-CN" altLang="en-US" sz="1200" b="1" dirty="0">
                  <a:solidFill>
                    <a:srgbClr val="CC00FF"/>
                  </a:solidFill>
                  <a:latin typeface="微软雅黑" pitchFamily="34" charset="-122"/>
                  <a:ea typeface="微软雅黑" pitchFamily="34" charset="-122"/>
                </a:rPr>
                <a:t>报文</a:t>
              </a:r>
            </a:p>
          </p:txBody>
        </p:sp>
        <p:sp>
          <p:nvSpPr>
            <p:cNvPr id="23" name="Line 98"/>
            <p:cNvSpPr>
              <a:spLocks noChangeShapeType="1"/>
            </p:cNvSpPr>
            <p:nvPr/>
          </p:nvSpPr>
          <p:spPr bwMode="auto">
            <a:xfrm>
              <a:off x="2074589" y="1849802"/>
              <a:ext cx="0" cy="685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4" name="Rectangle 99"/>
            <p:cNvSpPr>
              <a:spLocks noChangeArrowheads="1"/>
            </p:cNvSpPr>
            <p:nvPr/>
          </p:nvSpPr>
          <p:spPr bwMode="auto">
            <a:xfrm>
              <a:off x="1390112" y="2602277"/>
              <a:ext cx="7871487" cy="563562"/>
            </a:xfrm>
            <a:prstGeom prst="rect">
              <a:avLst/>
            </a:prstGeom>
            <a:solidFill>
              <a:srgbClr val="99FFCC"/>
            </a:solidFill>
            <a:ln w="9525">
              <a:solidFill>
                <a:schemeClr val="folHlink"/>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5" name="Rectangle 100"/>
            <p:cNvSpPr>
              <a:spLocks noChangeArrowheads="1"/>
            </p:cNvSpPr>
            <p:nvPr/>
          </p:nvSpPr>
          <p:spPr bwMode="auto">
            <a:xfrm>
              <a:off x="1410749" y="2602276"/>
              <a:ext cx="613731"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itchFamily="34" charset="-122"/>
                  <a:ea typeface="微软雅黑" pitchFamily="34" charset="-122"/>
                </a:rPr>
                <a:t>  IP </a:t>
              </a:r>
            </a:p>
            <a:p>
              <a:pPr defTabSz="762000">
                <a:lnSpc>
                  <a:spcPct val="90000"/>
                </a:lnSpc>
              </a:pPr>
              <a:r>
                <a:rPr kumimoji="1" lang="zh-CN" altLang="en-US" sz="1200" b="1">
                  <a:latin typeface="微软雅黑" pitchFamily="34" charset="-122"/>
                  <a:ea typeface="微软雅黑" pitchFamily="34" charset="-122"/>
                </a:rPr>
                <a:t>首部</a:t>
              </a:r>
            </a:p>
          </p:txBody>
        </p:sp>
        <p:sp>
          <p:nvSpPr>
            <p:cNvPr id="26" name="Rectangle 101"/>
            <p:cNvSpPr>
              <a:spLocks noChangeArrowheads="1"/>
            </p:cNvSpPr>
            <p:nvPr/>
          </p:nvSpPr>
          <p:spPr bwMode="auto">
            <a:xfrm>
              <a:off x="2088347" y="2603864"/>
              <a:ext cx="715356"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itchFamily="34" charset="-122"/>
                  <a:ea typeface="微软雅黑" pitchFamily="34" charset="-122"/>
                </a:rPr>
                <a:t>UDP </a:t>
              </a:r>
            </a:p>
            <a:p>
              <a:pPr defTabSz="762000">
                <a:lnSpc>
                  <a:spcPct val="90000"/>
                </a:lnSpc>
              </a:pPr>
              <a:r>
                <a:rPr kumimoji="1" lang="zh-CN" altLang="en-US" sz="1200" b="1">
                  <a:latin typeface="微软雅黑" pitchFamily="34" charset="-122"/>
                  <a:ea typeface="微软雅黑" pitchFamily="34" charset="-122"/>
                </a:rPr>
                <a:t>首部</a:t>
              </a:r>
            </a:p>
          </p:txBody>
        </p:sp>
        <p:sp>
          <p:nvSpPr>
            <p:cNvPr id="27"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28"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0"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1" name="Rectangle 105"/>
            <p:cNvSpPr>
              <a:spLocks noChangeArrowheads="1"/>
            </p:cNvSpPr>
            <p:nvPr/>
          </p:nvSpPr>
          <p:spPr bwMode="auto">
            <a:xfrm>
              <a:off x="5555448" y="2729276"/>
              <a:ext cx="2285550"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solidFill>
                    <a:schemeClr val="bg1"/>
                  </a:solidFill>
                  <a:latin typeface="微软雅黑" pitchFamily="34" charset="-122"/>
                  <a:ea typeface="微软雅黑" pitchFamily="34" charset="-122"/>
                </a:rPr>
                <a:t>SNMP </a:t>
              </a:r>
              <a:r>
                <a:rPr kumimoji="1" lang="zh-CN" altLang="en-US" sz="1200" b="1" dirty="0">
                  <a:solidFill>
                    <a:schemeClr val="bg1"/>
                  </a:solidFill>
                  <a:latin typeface="微软雅黑" pitchFamily="34" charset="-122"/>
                  <a:ea typeface="微软雅黑" pitchFamily="34" charset="-122"/>
                </a:rPr>
                <a:t>报文的数据部分 </a:t>
              </a:r>
            </a:p>
          </p:txBody>
        </p:sp>
        <p:sp>
          <p:nvSpPr>
            <p:cNvPr id="32" name="Rectangle 145"/>
            <p:cNvSpPr>
              <a:spLocks noChangeArrowheads="1"/>
            </p:cNvSpPr>
            <p:nvPr/>
          </p:nvSpPr>
          <p:spPr bwMode="auto">
            <a:xfrm>
              <a:off x="2759065" y="2602276"/>
              <a:ext cx="1918473" cy="563563"/>
            </a:xfrm>
            <a:prstGeom prst="rect">
              <a:avLst/>
            </a:prstGeom>
            <a:solidFill>
              <a:srgbClr val="CC00CC"/>
            </a:solidFill>
            <a:ln w="9525">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33"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4" name="Rectangle 107"/>
            <p:cNvSpPr>
              <a:spLocks noChangeArrowheads="1"/>
            </p:cNvSpPr>
            <p:nvPr/>
          </p:nvSpPr>
          <p:spPr bwMode="auto">
            <a:xfrm>
              <a:off x="2726390" y="2749914"/>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pitchFamily="34" charset="-122"/>
                  <a:ea typeface="微软雅黑" pitchFamily="34" charset="-122"/>
                </a:rPr>
                <a:t>版本</a:t>
              </a:r>
            </a:p>
          </p:txBody>
        </p:sp>
        <p:sp>
          <p:nvSpPr>
            <p:cNvPr id="35" name="Rectangle 108"/>
            <p:cNvSpPr>
              <a:spLocks noChangeArrowheads="1"/>
            </p:cNvSpPr>
            <p:nvPr/>
          </p:nvSpPr>
          <p:spPr bwMode="auto">
            <a:xfrm>
              <a:off x="3355835" y="2738803"/>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a:solidFill>
                    <a:schemeClr val="bg1"/>
                  </a:solidFill>
                  <a:latin typeface="微软雅黑" pitchFamily="34" charset="-122"/>
                  <a:ea typeface="微软雅黑" pitchFamily="34" charset="-122"/>
                </a:rPr>
                <a:t>首部</a:t>
              </a:r>
            </a:p>
          </p:txBody>
        </p:sp>
        <p:sp>
          <p:nvSpPr>
            <p:cNvPr id="36"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37" name="Text Box 112"/>
            <p:cNvSpPr txBox="1">
              <a:spLocks noChangeArrowheads="1"/>
            </p:cNvSpPr>
            <p:nvPr/>
          </p:nvSpPr>
          <p:spPr bwMode="auto">
            <a:xfrm>
              <a:off x="9342804" y="3563478"/>
              <a:ext cx="412873" cy="344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200" b="1" dirty="0">
                  <a:solidFill>
                    <a:schemeClr val="bg1"/>
                  </a:solidFill>
                  <a:latin typeface="微软雅黑" pitchFamily="34" charset="-122"/>
                  <a:ea typeface="微软雅黑" pitchFamily="34" charset="-122"/>
                </a:rPr>
                <a:t>…</a:t>
              </a:r>
            </a:p>
          </p:txBody>
        </p:sp>
        <p:sp>
          <p:nvSpPr>
            <p:cNvPr id="38" name="Rectangle 113"/>
            <p:cNvSpPr>
              <a:spLocks noChangeArrowheads="1"/>
            </p:cNvSpPr>
            <p:nvPr/>
          </p:nvSpPr>
          <p:spPr bwMode="auto">
            <a:xfrm>
              <a:off x="1304122" y="2291127"/>
              <a:ext cx="906648"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itchFamily="34" charset="-122"/>
                  <a:ea typeface="微软雅黑" pitchFamily="34" charset="-122"/>
                </a:rPr>
                <a:t>20 </a:t>
              </a:r>
              <a:r>
                <a:rPr kumimoji="1" lang="zh-CN" altLang="en-US" sz="1200" b="1">
                  <a:latin typeface="微软雅黑" pitchFamily="34" charset="-122"/>
                  <a:ea typeface="微软雅黑" pitchFamily="34" charset="-122"/>
                </a:rPr>
                <a:t>字节</a:t>
              </a:r>
            </a:p>
          </p:txBody>
        </p:sp>
        <p:sp>
          <p:nvSpPr>
            <p:cNvPr id="39" name="Rectangle 114"/>
            <p:cNvSpPr>
              <a:spLocks noChangeArrowheads="1"/>
            </p:cNvSpPr>
            <p:nvPr/>
          </p:nvSpPr>
          <p:spPr bwMode="auto">
            <a:xfrm>
              <a:off x="2050511" y="2291127"/>
              <a:ext cx="789082"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itchFamily="34" charset="-122"/>
                  <a:ea typeface="微软雅黑" pitchFamily="34" charset="-122"/>
                </a:rPr>
                <a:t>8 </a:t>
              </a:r>
              <a:r>
                <a:rPr kumimoji="1" lang="zh-CN" altLang="en-US" sz="1200" b="1">
                  <a:latin typeface="微软雅黑" pitchFamily="34" charset="-122"/>
                  <a:ea typeface="微软雅黑" pitchFamily="34" charset="-122"/>
                </a:rPr>
                <a:t>字节</a:t>
              </a:r>
            </a:p>
          </p:txBody>
        </p:sp>
        <p:sp>
          <p:nvSpPr>
            <p:cNvPr id="40" name="Line 115"/>
            <p:cNvSpPr>
              <a:spLocks noChangeShapeType="1"/>
            </p:cNvSpPr>
            <p:nvPr/>
          </p:nvSpPr>
          <p:spPr bwMode="auto">
            <a:xfrm flipH="1">
              <a:off x="9760338"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1" name="Line 118"/>
            <p:cNvSpPr>
              <a:spLocks noChangeShapeType="1"/>
            </p:cNvSpPr>
            <p:nvPr/>
          </p:nvSpPr>
          <p:spPr bwMode="auto">
            <a:xfrm flipV="1">
              <a:off x="3003277" y="4499339"/>
              <a:ext cx="677254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2"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3" name="Rectangle 121"/>
            <p:cNvSpPr>
              <a:spLocks noChangeArrowheads="1"/>
            </p:cNvSpPr>
            <p:nvPr/>
          </p:nvSpPr>
          <p:spPr bwMode="auto">
            <a:xfrm>
              <a:off x="5834054" y="4386058"/>
              <a:ext cx="1315137"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00000"/>
                  </a:solidFill>
                  <a:latin typeface="微软雅黑" pitchFamily="34" charset="-122"/>
                  <a:ea typeface="微软雅黑" pitchFamily="34" charset="-122"/>
                </a:rPr>
                <a:t>SNMP PDU</a:t>
              </a:r>
            </a:p>
          </p:txBody>
        </p:sp>
        <p:sp>
          <p:nvSpPr>
            <p:cNvPr id="44"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6"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7"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8"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49"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0"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1"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2"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3" name="Line 132"/>
            <p:cNvSpPr>
              <a:spLocks noChangeShapeType="1"/>
            </p:cNvSpPr>
            <p:nvPr/>
          </p:nvSpPr>
          <p:spPr bwMode="auto">
            <a:xfrm flipH="1">
              <a:off x="7254601"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4" name="Line 133"/>
            <p:cNvSpPr>
              <a:spLocks noChangeShapeType="1"/>
            </p:cNvSpPr>
            <p:nvPr/>
          </p:nvSpPr>
          <p:spPr bwMode="auto">
            <a:xfrm flipH="1">
              <a:off x="2968880" y="408341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5"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6" name="Rectangle 135"/>
            <p:cNvSpPr>
              <a:spLocks noChangeArrowheads="1"/>
            </p:cNvSpPr>
            <p:nvPr/>
          </p:nvSpPr>
          <p:spPr bwMode="auto">
            <a:xfrm>
              <a:off x="903595" y="4278108"/>
              <a:ext cx="1378901" cy="5746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1200" b="1" dirty="0">
                  <a:solidFill>
                    <a:srgbClr val="0000FF"/>
                  </a:solidFill>
                  <a:latin typeface="微软雅黑" pitchFamily="34" charset="-122"/>
                  <a:ea typeface="微软雅黑" pitchFamily="34" charset="-122"/>
                </a:rPr>
                <a:t>有关加密信息</a:t>
              </a:r>
            </a:p>
            <a:p>
              <a:pPr algn="ctr" defTabSz="762000"/>
              <a:r>
                <a:rPr kumimoji="1" lang="zh-CN" altLang="en-US" sz="1200" b="1" dirty="0">
                  <a:solidFill>
                    <a:srgbClr val="0000FF"/>
                  </a:solidFill>
                  <a:latin typeface="微软雅黑" pitchFamily="34" charset="-122"/>
                  <a:ea typeface="微软雅黑" pitchFamily="34" charset="-122"/>
                </a:rPr>
                <a:t>的字段</a:t>
              </a:r>
            </a:p>
          </p:txBody>
        </p:sp>
        <p:sp>
          <p:nvSpPr>
            <p:cNvPr id="57" name="AutoShape 136"/>
            <p:cNvSpPr>
              <a:spLocks/>
            </p:cNvSpPr>
            <p:nvPr/>
          </p:nvSpPr>
          <p:spPr bwMode="auto">
            <a:xfrm rot="-5400000">
              <a:off x="1500972" y="2877444"/>
              <a:ext cx="225425" cy="2627842"/>
            </a:xfrm>
            <a:prstGeom prst="leftBrace">
              <a:avLst>
                <a:gd name="adj1" fmla="val 89671"/>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58" name="Line 137"/>
            <p:cNvSpPr>
              <a:spLocks noChangeShapeType="1"/>
            </p:cNvSpPr>
            <p:nvPr/>
          </p:nvSpPr>
          <p:spPr bwMode="auto">
            <a:xfrm flipH="1">
              <a:off x="4100503" y="4083414"/>
              <a:ext cx="0" cy="2984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59" name="Freeform 143"/>
            <p:cNvSpPr>
              <a:spLocks/>
            </p:cNvSpPr>
            <p:nvPr/>
          </p:nvSpPr>
          <p:spPr bwMode="auto">
            <a:xfrm>
              <a:off x="320400" y="3153141"/>
              <a:ext cx="9431338" cy="409574"/>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5400000" scaled="1"/>
              <a:tileRect/>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9" name="Rectangle 144"/>
            <p:cNvSpPr>
              <a:spLocks noChangeArrowheads="1"/>
            </p:cNvSpPr>
            <p:nvPr/>
          </p:nvSpPr>
          <p:spPr bwMode="auto">
            <a:xfrm>
              <a:off x="4683513" y="2602276"/>
              <a:ext cx="4572926" cy="550864"/>
            </a:xfrm>
            <a:prstGeom prst="rect">
              <a:avLst/>
            </a:prstGeom>
            <a:solidFill>
              <a:srgbClr val="0000FF"/>
            </a:solidFill>
            <a:ln w="9525">
              <a:solidFill>
                <a:schemeClr val="tx1"/>
              </a:solidFill>
              <a:miter lim="800000"/>
              <a:headEnd/>
              <a:tailEnd/>
            </a:ln>
            <a:effectLst/>
          </p:spPr>
          <p:txBody>
            <a:bodyPr wrap="none" anchor="ctr"/>
            <a:lstStyle/>
            <a:p>
              <a:pPr eaLnBrk="1" hangingPunct="1"/>
              <a:endParaRPr lang="zh-CN" altLang="en-US" sz="1200" b="1">
                <a:solidFill>
                  <a:schemeClr val="bg1"/>
                </a:solidFill>
                <a:latin typeface="微软雅黑" pitchFamily="34" charset="-122"/>
                <a:ea typeface="微软雅黑" pitchFamily="34" charset="-122"/>
              </a:endParaRPr>
            </a:p>
          </p:txBody>
        </p:sp>
      </p:grpSp>
      <p:sp>
        <p:nvSpPr>
          <p:cNvPr id="61" name="Rectangle 124"/>
          <p:cNvSpPr>
            <a:spLocks noChangeArrowheads="1"/>
          </p:cNvSpPr>
          <p:nvPr/>
        </p:nvSpPr>
        <p:spPr bwMode="auto">
          <a:xfrm>
            <a:off x="3748055" y="2229538"/>
            <a:ext cx="493725" cy="4253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200" b="1" dirty="0">
                <a:solidFill>
                  <a:schemeClr val="bg1"/>
                </a:solidFill>
                <a:latin typeface="微软雅黑" pitchFamily="34" charset="-122"/>
                <a:ea typeface="微软雅黑" pitchFamily="34" charset="-122"/>
              </a:rPr>
              <a:t>安全</a:t>
            </a:r>
          </a:p>
          <a:p>
            <a:pPr algn="ctr" defTabSz="762000">
              <a:lnSpc>
                <a:spcPct val="90000"/>
              </a:lnSpc>
            </a:pPr>
            <a:r>
              <a:rPr kumimoji="1" lang="zh-CN" altLang="en-US" sz="1200" b="1" dirty="0">
                <a:solidFill>
                  <a:schemeClr val="bg1"/>
                </a:solidFill>
                <a:latin typeface="微软雅黑" pitchFamily="34" charset="-122"/>
                <a:ea typeface="微软雅黑" pitchFamily="34" charset="-122"/>
              </a:rPr>
              <a:t>参数</a:t>
            </a:r>
          </a:p>
        </p:txBody>
      </p:sp>
    </p:spTree>
    <p:extLst>
      <p:ext uri="{BB962C8B-B14F-4D97-AF65-F5344CB8AC3E}">
        <p14:creationId xmlns:p14="http://schemas.microsoft.com/office/powerpoint/2010/main" val="335997918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2119"/>
            <a:ext cx="8048776" cy="24384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494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99811" y="581732"/>
            <a:ext cx="37630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a:solidFill>
                  <a:schemeClr val="bg1"/>
                </a:solidFill>
                <a:latin typeface="微软雅黑" pitchFamily="34" charset="-122"/>
                <a:ea typeface="微软雅黑" pitchFamily="34" charset="-122"/>
              </a:rPr>
              <a:t>报文 </a:t>
            </a:r>
            <a:r>
              <a:rPr lang="en-US" altLang="zh-CN" sz="2000" b="1" dirty="0">
                <a:solidFill>
                  <a:schemeClr val="bg1"/>
                </a:solidFill>
                <a:latin typeface="微软雅黑" pitchFamily="34" charset="-122"/>
                <a:ea typeface="微软雅黑" pitchFamily="34" charset="-122"/>
              </a:rPr>
              <a:t>ASN.1 </a:t>
            </a:r>
            <a:r>
              <a:rPr lang="zh-CN" altLang="en-US" sz="2000" b="1" dirty="0">
                <a:solidFill>
                  <a:schemeClr val="bg1"/>
                </a:solidFill>
                <a:latin typeface="微软雅黑" pitchFamily="34" charset="-122"/>
                <a:ea typeface="微软雅黑" pitchFamily="34" charset="-122"/>
              </a:rPr>
              <a:t>定义</a:t>
            </a:r>
          </a:p>
        </p:txBody>
      </p:sp>
      <p:sp>
        <p:nvSpPr>
          <p:cNvPr id="5" name="矩形 4"/>
          <p:cNvSpPr/>
          <p:nvPr/>
        </p:nvSpPr>
        <p:spPr>
          <a:xfrm>
            <a:off x="903285" y="1246382"/>
            <a:ext cx="7533684" cy="1938992"/>
          </a:xfrm>
          <a:prstGeom prst="rect">
            <a:avLst/>
          </a:prstGeom>
        </p:spPr>
        <p:txBody>
          <a:bodyPr wrap="square">
            <a:spAutoFit/>
          </a:bodyPr>
          <a:lstStyle/>
          <a:p>
            <a:pPr hangingPunct="0">
              <a:lnSpc>
                <a:spcPts val="2400"/>
              </a:lnSpc>
            </a:pPr>
            <a:r>
              <a:rPr lang="en-US" altLang="zh-CN" sz="1400" b="1" dirty="0">
                <a:latin typeface="微软雅黑" pitchFamily="34" charset="-122"/>
                <a:ea typeface="微软雅黑" pitchFamily="34" charset="-122"/>
              </a:rPr>
              <a:t>Get-request-PDU ::</a:t>
            </a:r>
            <a:r>
              <a:rPr lang="en-US" altLang="zh-CN" sz="1400" b="1" dirty="0">
                <a:latin typeface="微软雅黑" pitchFamily="34" charset="-122"/>
                <a:ea typeface="微软雅黑" pitchFamily="34" charset="-122"/>
                <a:sym typeface="Symbol"/>
              </a:rPr>
              <a:t></a:t>
            </a:r>
            <a:r>
              <a:rPr lang="en-US" altLang="zh-CN" sz="1400" b="1" dirty="0">
                <a:latin typeface="微软雅黑" pitchFamily="34" charset="-122"/>
                <a:ea typeface="微软雅黑" pitchFamily="34" charset="-122"/>
              </a:rPr>
              <a:t> [0]                      --[0] </a:t>
            </a:r>
            <a:r>
              <a:rPr lang="zh-CN" altLang="zh-CN" sz="1400" b="1" dirty="0">
                <a:latin typeface="微软雅黑" pitchFamily="34" charset="-122"/>
                <a:ea typeface="微软雅黑" pitchFamily="34" charset="-122"/>
              </a:rPr>
              <a:t>表示上下文类，编号为</a:t>
            </a:r>
            <a:r>
              <a:rPr lang="en-US" altLang="zh-CN" sz="1400" b="1" dirty="0">
                <a:latin typeface="微软雅黑" pitchFamily="34" charset="-122"/>
                <a:ea typeface="微软雅黑" pitchFamily="34" charset="-122"/>
              </a:rPr>
              <a:t> 0</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IMPLICIT SEQUENCE {                      --</a:t>
            </a:r>
            <a:r>
              <a:rPr lang="zh-CN" altLang="zh-CN" sz="1400" b="1" dirty="0">
                <a:latin typeface="微软雅黑" pitchFamily="34" charset="-122"/>
                <a:ea typeface="微软雅黑" pitchFamily="34" charset="-122"/>
              </a:rPr>
              <a:t>类型是</a:t>
            </a:r>
            <a:r>
              <a:rPr lang="en-US" altLang="zh-CN" sz="1400" b="1" dirty="0">
                <a:latin typeface="微软雅黑" pitchFamily="34" charset="-122"/>
                <a:ea typeface="微软雅黑" pitchFamily="34" charset="-122"/>
              </a:rPr>
              <a:t> SEQUENCE</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request-id</a:t>
            </a:r>
            <a:r>
              <a:rPr lang="en-US" altLang="zh-CN" sz="1400" b="1" dirty="0">
                <a:latin typeface="微软雅黑" pitchFamily="34" charset="-122"/>
                <a:ea typeface="微软雅黑" pitchFamily="34" charset="-122"/>
              </a:rPr>
              <a:t>      integer32,                --</a:t>
            </a:r>
            <a:r>
              <a:rPr lang="zh-CN" altLang="zh-CN" sz="1400" b="1" dirty="0">
                <a:latin typeface="微软雅黑" pitchFamily="34" charset="-122"/>
                <a:ea typeface="微软雅黑" pitchFamily="34" charset="-122"/>
              </a:rPr>
              <a:t>变量</a:t>
            </a:r>
            <a:r>
              <a:rPr lang="en-US" altLang="zh-CN" sz="1400" b="1" dirty="0">
                <a:latin typeface="微软雅黑" pitchFamily="34" charset="-122"/>
                <a:ea typeface="微软雅黑" pitchFamily="34" charset="-122"/>
              </a:rPr>
              <a:t> request-id </a:t>
            </a:r>
            <a:r>
              <a:rPr lang="zh-CN" altLang="zh-CN" sz="1400" b="1" dirty="0">
                <a:latin typeface="微软雅黑" pitchFamily="34" charset="-122"/>
                <a:ea typeface="微软雅黑" pitchFamily="34" charset="-122"/>
              </a:rPr>
              <a:t>的类型是</a:t>
            </a:r>
            <a:r>
              <a:rPr lang="en-US" altLang="zh-CN" sz="1400" b="1" dirty="0">
                <a:latin typeface="微软雅黑" pitchFamily="34" charset="-122"/>
                <a:ea typeface="微软雅黑" pitchFamily="34" charset="-122"/>
              </a:rPr>
              <a:t> integer32</a:t>
            </a:r>
            <a:endParaRPr lang="zh-CN" altLang="zh-CN" sz="1400" b="1" dirty="0">
              <a:latin typeface="微软雅黑" pitchFamily="34" charset="-122"/>
              <a:ea typeface="微软雅黑" pitchFamily="34" charset="-122"/>
            </a:endParaRP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error-status</a:t>
            </a:r>
            <a:r>
              <a:rPr lang="en-US" altLang="zh-CN" sz="1400" b="1" dirty="0">
                <a:latin typeface="微软雅黑" pitchFamily="34" charset="-122"/>
                <a:ea typeface="微软雅黑" pitchFamily="34" charset="-122"/>
              </a:rPr>
              <a:t>   INTEGER {0..18},     --</a:t>
            </a:r>
            <a:r>
              <a:rPr lang="zh-CN" altLang="zh-CN" sz="1400" b="1" dirty="0">
                <a:latin typeface="微软雅黑" pitchFamily="34" charset="-122"/>
                <a:ea typeface="微软雅黑" pitchFamily="34" charset="-122"/>
              </a:rPr>
              <a:t>变量</a:t>
            </a:r>
            <a:r>
              <a:rPr lang="en-US" altLang="zh-CN" sz="1400" b="1" dirty="0">
                <a:latin typeface="微软雅黑" pitchFamily="34" charset="-122"/>
                <a:ea typeface="微软雅黑" pitchFamily="34" charset="-122"/>
              </a:rPr>
              <a:t> error-status </a:t>
            </a:r>
            <a:r>
              <a:rPr lang="zh-CN" altLang="zh-CN" sz="1400" b="1" dirty="0">
                <a:latin typeface="微软雅黑" pitchFamily="34" charset="-122"/>
                <a:ea typeface="微软雅黑" pitchFamily="34" charset="-122"/>
              </a:rPr>
              <a:t>取值为</a:t>
            </a:r>
            <a:r>
              <a:rPr lang="en-US" altLang="zh-CN" sz="1400" b="1" dirty="0">
                <a:latin typeface="微软雅黑" pitchFamily="34" charset="-122"/>
                <a:ea typeface="微软雅黑" pitchFamily="34" charset="-122"/>
              </a:rPr>
              <a:t> 0 ~ 18 </a:t>
            </a:r>
            <a:r>
              <a:rPr lang="zh-CN" altLang="zh-CN" sz="1400" b="1" dirty="0">
                <a:latin typeface="微软雅黑" pitchFamily="34" charset="-122"/>
                <a:ea typeface="微软雅黑" pitchFamily="34" charset="-122"/>
              </a:rPr>
              <a:t>的整数</a:t>
            </a: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error-index</a:t>
            </a:r>
            <a:r>
              <a:rPr lang="en-US" altLang="zh-CN" sz="1400" b="1" dirty="0">
                <a:latin typeface="微软雅黑" pitchFamily="34" charset="-122"/>
                <a:ea typeface="微软雅黑" pitchFamily="34" charset="-122"/>
              </a:rPr>
              <a:t>    INTEGER {0..max-bindings}, </a:t>
            </a:r>
            <a:r>
              <a:rPr lang="en-US" altLang="zh-CN" sz="1050" b="1" dirty="0">
                <a:latin typeface="微软雅黑" pitchFamily="34" charset="-122"/>
                <a:ea typeface="微软雅黑" pitchFamily="34" charset="-122"/>
              </a:rPr>
              <a:t>--</a:t>
            </a:r>
            <a:r>
              <a:rPr lang="zh-CN" altLang="zh-CN" sz="1050" b="1" dirty="0">
                <a:latin typeface="微软雅黑" pitchFamily="34" charset="-122"/>
                <a:ea typeface="微软雅黑" pitchFamily="34" charset="-122"/>
              </a:rPr>
              <a:t>变量</a:t>
            </a:r>
            <a:r>
              <a:rPr lang="en-US" altLang="zh-CN" sz="1050" b="1" dirty="0">
                <a:latin typeface="微软雅黑" pitchFamily="34" charset="-122"/>
                <a:ea typeface="微软雅黑" pitchFamily="34" charset="-122"/>
              </a:rPr>
              <a:t> error-index </a:t>
            </a:r>
            <a:r>
              <a:rPr lang="zh-CN" altLang="zh-CN" sz="1050" b="1" dirty="0">
                <a:latin typeface="微软雅黑" pitchFamily="34" charset="-122"/>
                <a:ea typeface="微软雅黑" pitchFamily="34" charset="-122"/>
              </a:rPr>
              <a:t>取值为</a:t>
            </a:r>
            <a:r>
              <a:rPr lang="en-US" altLang="zh-CN" sz="1050" b="1" dirty="0">
                <a:latin typeface="微软雅黑" pitchFamily="34" charset="-122"/>
                <a:ea typeface="微软雅黑" pitchFamily="34" charset="-122"/>
              </a:rPr>
              <a:t> 0 ~ max-bindings</a:t>
            </a:r>
            <a:r>
              <a:rPr lang="zh-CN" altLang="zh-CN" sz="1050" b="1" dirty="0">
                <a:latin typeface="微软雅黑" pitchFamily="34" charset="-122"/>
                <a:ea typeface="微软雅黑" pitchFamily="34" charset="-122"/>
              </a:rPr>
              <a:t>的整数</a:t>
            </a:r>
          </a:p>
          <a:p>
            <a:pPr hangingPunct="0">
              <a:lnSpc>
                <a:spcPts val="2400"/>
              </a:lnSpc>
            </a:pPr>
            <a:r>
              <a:rPr lang="en-US" altLang="zh-CN" sz="1400" b="1" dirty="0">
                <a:latin typeface="微软雅黑" pitchFamily="34" charset="-122"/>
                <a:ea typeface="微软雅黑" pitchFamily="34" charset="-122"/>
              </a:rPr>
              <a:t>    </a:t>
            </a:r>
            <a:r>
              <a:rPr lang="en-US" altLang="zh-CN" sz="1400" b="1" dirty="0">
                <a:solidFill>
                  <a:srgbClr val="0000FF"/>
                </a:solidFill>
                <a:latin typeface="微软雅黑" pitchFamily="34" charset="-122"/>
                <a:ea typeface="微软雅黑" pitchFamily="34" charset="-122"/>
              </a:rPr>
              <a:t>variable-bindings</a:t>
            </a:r>
            <a:r>
              <a:rPr lang="en-US" altLang="zh-CN" sz="1400" b="1" dirty="0">
                <a:latin typeface="微软雅黑" pitchFamily="34" charset="-122"/>
                <a:ea typeface="微软雅黑" pitchFamily="34" charset="-122"/>
              </a:rPr>
              <a:t>  </a:t>
            </a:r>
            <a:r>
              <a:rPr lang="en-US" altLang="zh-CN" sz="1400" b="1" dirty="0" err="1">
                <a:latin typeface="微软雅黑" pitchFamily="34" charset="-122"/>
                <a:ea typeface="微软雅黑" pitchFamily="34" charset="-122"/>
              </a:rPr>
              <a:t>VarBindList</a:t>
            </a:r>
            <a:r>
              <a:rPr lang="en-US" altLang="zh-CN" sz="1400" b="1" dirty="0">
                <a:latin typeface="微软雅黑" pitchFamily="34" charset="-122"/>
                <a:ea typeface="微软雅黑" pitchFamily="34" charset="-122"/>
              </a:rPr>
              <a:t> }   --</a:t>
            </a:r>
            <a:r>
              <a:rPr lang="zh-CN" altLang="zh-CN" sz="1400" b="1" dirty="0">
                <a:latin typeface="微软雅黑" pitchFamily="34" charset="-122"/>
                <a:ea typeface="微软雅黑" pitchFamily="34" charset="-122"/>
              </a:rPr>
              <a:t>变量</a:t>
            </a:r>
            <a:r>
              <a:rPr lang="en-US" altLang="zh-CN" sz="1400" b="1" dirty="0">
                <a:latin typeface="微软雅黑" pitchFamily="34" charset="-122"/>
                <a:ea typeface="微软雅黑" pitchFamily="34" charset="-122"/>
              </a:rPr>
              <a:t> variable-binding </a:t>
            </a:r>
            <a:r>
              <a:rPr lang="zh-CN" altLang="zh-CN" sz="1400" b="1" dirty="0">
                <a:latin typeface="微软雅黑" pitchFamily="34" charset="-122"/>
                <a:ea typeface="微软雅黑" pitchFamily="34" charset="-122"/>
              </a:rPr>
              <a:t>的类型是</a:t>
            </a:r>
            <a:r>
              <a:rPr lang="en-US" altLang="zh-CN" sz="1400" b="1" dirty="0">
                <a:latin typeface="微软雅黑" pitchFamily="34" charset="-122"/>
                <a:ea typeface="微软雅黑" pitchFamily="34" charset="-122"/>
              </a:rPr>
              <a:t> </a:t>
            </a:r>
            <a:r>
              <a:rPr lang="en-US" altLang="zh-CN" sz="1400" b="1" dirty="0" err="1">
                <a:latin typeface="微软雅黑" pitchFamily="34" charset="-122"/>
                <a:ea typeface="微软雅黑" pitchFamily="34" charset="-122"/>
              </a:rPr>
              <a:t>VarBindList</a:t>
            </a:r>
            <a:endParaRPr lang="zh-CN" altLang="zh-CN" sz="1400" b="1" dirty="0">
              <a:latin typeface="微软雅黑" pitchFamily="34" charset="-122"/>
              <a:ea typeface="微软雅黑" pitchFamily="34" charset="-122"/>
            </a:endParaRPr>
          </a:p>
        </p:txBody>
      </p:sp>
    </p:spTree>
    <p:extLst>
      <p:ext uri="{BB962C8B-B14F-4D97-AF65-F5344CB8AC3E}">
        <p14:creationId xmlns:p14="http://schemas.microsoft.com/office/powerpoint/2010/main" val="116557080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19849" y="582898"/>
            <a:ext cx="3723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a:solidFill>
                  <a:schemeClr val="bg1"/>
                </a:solidFill>
                <a:latin typeface="微软雅黑" pitchFamily="34" charset="-122"/>
                <a:ea typeface="微软雅黑" pitchFamily="34" charset="-122"/>
              </a:rPr>
              <a:t>报文的 </a:t>
            </a:r>
            <a:r>
              <a:rPr lang="en-US" altLang="zh-CN" sz="2000" b="1" dirty="0">
                <a:solidFill>
                  <a:schemeClr val="bg1"/>
                </a:solidFill>
                <a:latin typeface="微软雅黑" pitchFamily="34" charset="-122"/>
                <a:ea typeface="微软雅黑" pitchFamily="34" charset="-122"/>
              </a:rPr>
              <a:t>BER </a:t>
            </a:r>
            <a:r>
              <a:rPr lang="zh-CN" altLang="en-US" sz="2000" b="1" dirty="0">
                <a:solidFill>
                  <a:schemeClr val="bg1"/>
                </a:solidFill>
                <a:latin typeface="微软雅黑" pitchFamily="34" charset="-122"/>
                <a:ea typeface="微软雅黑" pitchFamily="34" charset="-122"/>
              </a:rPr>
              <a:t>编码</a:t>
            </a:r>
          </a:p>
        </p:txBody>
      </p:sp>
      <p:sp>
        <p:nvSpPr>
          <p:cNvPr id="61" name="Freeform 200"/>
          <p:cNvSpPr>
            <a:spLocks/>
          </p:cNvSpPr>
          <p:nvPr/>
        </p:nvSpPr>
        <p:spPr bwMode="auto">
          <a:xfrm>
            <a:off x="1163991" y="2087402"/>
            <a:ext cx="6375405" cy="18956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chemeClr val="tx2">
                  <a:lumMod val="60000"/>
                  <a:lumOff val="40000"/>
                </a:schemeClr>
              </a:gs>
              <a:gs pos="100000">
                <a:srgbClr val="00FFCC"/>
              </a:gs>
            </a:gsLst>
            <a:lin ang="5400000" scaled="1"/>
          </a:gradFill>
          <a:ln>
            <a:noFill/>
          </a:ln>
          <a:effectLst/>
        </p:spPr>
        <p:txBody>
          <a:bodyPr wrap="none" anchor="ctr"/>
          <a:lstStyle/>
          <a:p>
            <a:pPr algn="ctr"/>
            <a:endParaRPr lang="zh-CN" altLang="en-US" sz="1100" b="1">
              <a:latin typeface="微软雅黑" pitchFamily="34" charset="-122"/>
              <a:ea typeface="微软雅黑" pitchFamily="34" charset="-122"/>
            </a:endParaRPr>
          </a:p>
        </p:txBody>
      </p:sp>
      <p:sp>
        <p:nvSpPr>
          <p:cNvPr id="62" name="Rectangle 195"/>
          <p:cNvSpPr>
            <a:spLocks noChangeArrowheads="1"/>
          </p:cNvSpPr>
          <p:nvPr/>
        </p:nvSpPr>
        <p:spPr bwMode="auto">
          <a:xfrm>
            <a:off x="6846316" y="3599577"/>
            <a:ext cx="847098" cy="414664"/>
          </a:xfrm>
          <a:prstGeom prst="rect">
            <a:avLst/>
          </a:prstGeom>
          <a:solidFill>
            <a:srgbClr val="FF99FF"/>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3" name="Rectangle 168"/>
          <p:cNvSpPr>
            <a:spLocks noChangeArrowheads="1"/>
          </p:cNvSpPr>
          <p:nvPr/>
        </p:nvSpPr>
        <p:spPr bwMode="auto">
          <a:xfrm>
            <a:off x="5141618" y="2930731"/>
            <a:ext cx="2425780" cy="412509"/>
          </a:xfrm>
          <a:prstGeom prst="rect">
            <a:avLst/>
          </a:prstGeom>
          <a:solidFill>
            <a:srgbClr val="CC00CC"/>
          </a:solidFill>
          <a:ln w="19050">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4" name="Rectangle 197"/>
          <p:cNvSpPr>
            <a:spLocks noChangeArrowheads="1"/>
          </p:cNvSpPr>
          <p:nvPr/>
        </p:nvSpPr>
        <p:spPr bwMode="auto">
          <a:xfrm>
            <a:off x="6913989" y="2947963"/>
            <a:ext cx="648742" cy="382352"/>
          </a:xfrm>
          <a:prstGeom prst="rect">
            <a:avLst/>
          </a:prstGeom>
          <a:solidFill>
            <a:srgbClr val="FF99FF"/>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5" name="Rectangle 198"/>
          <p:cNvSpPr>
            <a:spLocks noChangeArrowheads="1"/>
          </p:cNvSpPr>
          <p:nvPr/>
        </p:nvSpPr>
        <p:spPr bwMode="auto">
          <a:xfrm>
            <a:off x="6380762" y="2941501"/>
            <a:ext cx="512226" cy="388814"/>
          </a:xfrm>
          <a:prstGeom prst="rect">
            <a:avLst/>
          </a:prstGeom>
          <a:solidFill>
            <a:srgbClr val="00FFCC"/>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6" name="Rectangle 134"/>
          <p:cNvSpPr>
            <a:spLocks noChangeArrowheads="1"/>
          </p:cNvSpPr>
          <p:nvPr/>
        </p:nvSpPr>
        <p:spPr bwMode="auto">
          <a:xfrm>
            <a:off x="1154656" y="2274809"/>
            <a:ext cx="6412743" cy="412510"/>
          </a:xfrm>
          <a:prstGeom prst="rect">
            <a:avLst/>
          </a:prstGeom>
          <a:solidFill>
            <a:srgbClr val="0000FF"/>
          </a:solidFill>
          <a:ln w="19050">
            <a:solidFill>
              <a:schemeClr val="tx1"/>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68" name="Freeform 190"/>
          <p:cNvSpPr>
            <a:spLocks/>
          </p:cNvSpPr>
          <p:nvPr/>
        </p:nvSpPr>
        <p:spPr bwMode="auto">
          <a:xfrm>
            <a:off x="2963198" y="1531646"/>
            <a:ext cx="4191152" cy="305881"/>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0070C0"/>
              </a:gs>
              <a:gs pos="100000">
                <a:srgbClr val="00CCFF"/>
              </a:gs>
            </a:gsLst>
            <a:lin ang="5400000" scaled="1"/>
          </a:gradFill>
          <a:ln>
            <a:noFill/>
          </a:ln>
          <a:effectLst/>
        </p:spPr>
        <p:txBody>
          <a:bodyPr/>
          <a:lstStyle/>
          <a:p>
            <a:pPr algn="ctr"/>
            <a:endParaRPr lang="zh-CN" altLang="en-US" sz="1100" b="1">
              <a:latin typeface="微软雅黑" pitchFamily="34" charset="-122"/>
              <a:ea typeface="微软雅黑" pitchFamily="34" charset="-122"/>
            </a:endParaRPr>
          </a:p>
        </p:txBody>
      </p:sp>
      <p:sp>
        <p:nvSpPr>
          <p:cNvPr id="69" name="Rectangle 192"/>
          <p:cNvSpPr>
            <a:spLocks noChangeArrowheads="1"/>
          </p:cNvSpPr>
          <p:nvPr/>
        </p:nvSpPr>
        <p:spPr bwMode="auto">
          <a:xfrm>
            <a:off x="3240898" y="3603885"/>
            <a:ext cx="3599584" cy="400662"/>
          </a:xfrm>
          <a:prstGeom prst="rect">
            <a:avLst/>
          </a:prstGeom>
          <a:solidFill>
            <a:srgbClr val="00FFCC"/>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71" name="Text Box 119"/>
          <p:cNvSpPr txBox="1">
            <a:spLocks noChangeArrowheads="1"/>
          </p:cNvSpPr>
          <p:nvPr/>
        </p:nvSpPr>
        <p:spPr bwMode="auto">
          <a:xfrm>
            <a:off x="4733237"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L</a:t>
            </a:r>
          </a:p>
          <a:p>
            <a:pPr algn="ctr" eaLnBrk="1" hangingPunct="1"/>
            <a:r>
              <a:rPr kumimoji="1" lang="en-US" altLang="zh-CN" sz="1100" b="1" dirty="0">
                <a:latin typeface="微软雅黑" pitchFamily="34" charset="-122"/>
                <a:ea typeface="微软雅黑" pitchFamily="34" charset="-122"/>
              </a:rPr>
              <a:t>09</a:t>
            </a:r>
          </a:p>
        </p:txBody>
      </p:sp>
      <p:sp>
        <p:nvSpPr>
          <p:cNvPr id="72" name="Text Box 120"/>
          <p:cNvSpPr txBox="1">
            <a:spLocks noChangeArrowheads="1"/>
          </p:cNvSpPr>
          <p:nvPr/>
        </p:nvSpPr>
        <p:spPr bwMode="auto">
          <a:xfrm>
            <a:off x="3191892" y="3590962"/>
            <a:ext cx="156805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T</a:t>
            </a:r>
          </a:p>
          <a:p>
            <a:pPr algn="ctr" eaLnBrk="1" hangingPunct="1"/>
            <a:r>
              <a:rPr kumimoji="1" lang="en-US" altLang="zh-CN" sz="1100" b="1" dirty="0">
                <a:latin typeface="微软雅黑" pitchFamily="34" charset="-122"/>
                <a:ea typeface="微软雅黑" pitchFamily="34" charset="-122"/>
              </a:rPr>
              <a:t>OBJECT IDENTIFIER</a:t>
            </a:r>
          </a:p>
        </p:txBody>
      </p:sp>
      <p:sp>
        <p:nvSpPr>
          <p:cNvPr id="82" name="Rectangle 136"/>
          <p:cNvSpPr>
            <a:spLocks noChangeArrowheads="1"/>
          </p:cNvSpPr>
          <p:nvPr/>
        </p:nvSpPr>
        <p:spPr bwMode="auto">
          <a:xfrm>
            <a:off x="2955032" y="1849376"/>
            <a:ext cx="4216822" cy="243413"/>
          </a:xfrm>
          <a:prstGeom prst="rect">
            <a:avLst/>
          </a:prstGeom>
          <a:solidFill>
            <a:srgbClr val="0066FF"/>
          </a:solidFill>
          <a:ln w="19050">
            <a:solidFill>
              <a:schemeClr val="tx2"/>
            </a:solidFill>
            <a:miter lim="800000"/>
            <a:headEnd/>
            <a:tailEnd/>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83" name="Line 137"/>
          <p:cNvSpPr>
            <a:spLocks noChangeShapeType="1"/>
          </p:cNvSpPr>
          <p:nvPr/>
        </p:nvSpPr>
        <p:spPr bwMode="auto">
          <a:xfrm>
            <a:off x="3876806" y="1849376"/>
            <a:ext cx="1166"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4" name="Line 138"/>
          <p:cNvSpPr>
            <a:spLocks noChangeShapeType="1"/>
          </p:cNvSpPr>
          <p:nvPr/>
        </p:nvSpPr>
        <p:spPr bwMode="auto">
          <a:xfrm>
            <a:off x="4865086"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5" name="Line 139"/>
          <p:cNvSpPr>
            <a:spLocks noChangeShapeType="1"/>
          </p:cNvSpPr>
          <p:nvPr/>
        </p:nvSpPr>
        <p:spPr bwMode="auto">
          <a:xfrm>
            <a:off x="5854534" y="1849376"/>
            <a:ext cx="1167"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86" name="Text Box 141"/>
          <p:cNvSpPr txBox="1">
            <a:spLocks noChangeArrowheads="1"/>
          </p:cNvSpPr>
          <p:nvPr/>
        </p:nvSpPr>
        <p:spPr bwMode="auto">
          <a:xfrm>
            <a:off x="2945340" y="1837528"/>
            <a:ext cx="91403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request-id</a:t>
            </a:r>
          </a:p>
        </p:txBody>
      </p:sp>
      <p:sp>
        <p:nvSpPr>
          <p:cNvPr id="87" name="Text Box 142"/>
          <p:cNvSpPr txBox="1">
            <a:spLocks noChangeArrowheads="1"/>
          </p:cNvSpPr>
          <p:nvPr/>
        </p:nvSpPr>
        <p:spPr bwMode="auto">
          <a:xfrm>
            <a:off x="3835363" y="1837528"/>
            <a:ext cx="102463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error-status</a:t>
            </a:r>
          </a:p>
        </p:txBody>
      </p:sp>
      <p:sp>
        <p:nvSpPr>
          <p:cNvPr id="88" name="Text Box 143"/>
          <p:cNvSpPr txBox="1">
            <a:spLocks noChangeArrowheads="1"/>
          </p:cNvSpPr>
          <p:nvPr/>
        </p:nvSpPr>
        <p:spPr bwMode="auto">
          <a:xfrm>
            <a:off x="4849044" y="1837528"/>
            <a:ext cx="9877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error-index</a:t>
            </a:r>
          </a:p>
        </p:txBody>
      </p:sp>
      <p:sp>
        <p:nvSpPr>
          <p:cNvPr id="89" name="Text Box 144"/>
          <p:cNvSpPr txBox="1">
            <a:spLocks noChangeArrowheads="1"/>
          </p:cNvSpPr>
          <p:nvPr/>
        </p:nvSpPr>
        <p:spPr bwMode="auto">
          <a:xfrm>
            <a:off x="5799225" y="1837528"/>
            <a:ext cx="142539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variable-bindings</a:t>
            </a:r>
          </a:p>
        </p:txBody>
      </p:sp>
      <p:sp>
        <p:nvSpPr>
          <p:cNvPr id="90" name="Line 145"/>
          <p:cNvSpPr>
            <a:spLocks noChangeShapeType="1"/>
          </p:cNvSpPr>
          <p:nvPr/>
        </p:nvSpPr>
        <p:spPr bwMode="auto">
          <a:xfrm flipH="1">
            <a:off x="4273517"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1" name="Line 146"/>
          <p:cNvSpPr>
            <a:spLocks noChangeShapeType="1"/>
          </p:cNvSpPr>
          <p:nvPr/>
        </p:nvSpPr>
        <p:spPr bwMode="auto">
          <a:xfrm>
            <a:off x="3119550"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2" name="Line 147"/>
          <p:cNvSpPr>
            <a:spLocks noChangeShapeType="1"/>
          </p:cNvSpPr>
          <p:nvPr/>
        </p:nvSpPr>
        <p:spPr bwMode="auto">
          <a:xfrm flipH="1">
            <a:off x="1875740" y="2274808"/>
            <a:ext cx="3501" cy="4049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3" name="Line 148"/>
          <p:cNvSpPr>
            <a:spLocks noChangeShapeType="1"/>
          </p:cNvSpPr>
          <p:nvPr/>
        </p:nvSpPr>
        <p:spPr bwMode="auto">
          <a:xfrm>
            <a:off x="220827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4" name="Line 149"/>
          <p:cNvSpPr>
            <a:spLocks noChangeShapeType="1"/>
          </p:cNvSpPr>
          <p:nvPr/>
        </p:nvSpPr>
        <p:spPr bwMode="auto">
          <a:xfrm>
            <a:off x="6579118"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95" name="Line 150"/>
          <p:cNvSpPr>
            <a:spLocks noChangeShapeType="1"/>
          </p:cNvSpPr>
          <p:nvPr/>
        </p:nvSpPr>
        <p:spPr bwMode="auto">
          <a:xfrm>
            <a:off x="6908156"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0" name="Line 155"/>
          <p:cNvSpPr>
            <a:spLocks noChangeShapeType="1"/>
          </p:cNvSpPr>
          <p:nvPr/>
        </p:nvSpPr>
        <p:spPr bwMode="auto">
          <a:xfrm>
            <a:off x="3823132" y="2274808"/>
            <a:ext cx="0" cy="4103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1" name="Line 156"/>
          <p:cNvSpPr>
            <a:spLocks noChangeShapeType="1"/>
          </p:cNvSpPr>
          <p:nvPr/>
        </p:nvSpPr>
        <p:spPr bwMode="auto">
          <a:xfrm>
            <a:off x="4064660"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3" name="Line 158"/>
          <p:cNvSpPr>
            <a:spLocks noChangeShapeType="1"/>
          </p:cNvSpPr>
          <p:nvPr/>
        </p:nvSpPr>
        <p:spPr bwMode="auto">
          <a:xfrm>
            <a:off x="5453154" y="2282348"/>
            <a:ext cx="0" cy="3952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5" name="Line 160"/>
          <p:cNvSpPr>
            <a:spLocks noChangeShapeType="1"/>
          </p:cNvSpPr>
          <p:nvPr/>
        </p:nvSpPr>
        <p:spPr bwMode="auto">
          <a:xfrm>
            <a:off x="4986433" y="2274809"/>
            <a:ext cx="0" cy="3952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6" name="Line 161"/>
          <p:cNvSpPr>
            <a:spLocks noChangeShapeType="1"/>
          </p:cNvSpPr>
          <p:nvPr/>
        </p:nvSpPr>
        <p:spPr bwMode="auto">
          <a:xfrm>
            <a:off x="5227962" y="2274809"/>
            <a:ext cx="0" cy="402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7" name="Line 162"/>
          <p:cNvSpPr>
            <a:spLocks noChangeShapeType="1"/>
          </p:cNvSpPr>
          <p:nvPr/>
        </p:nvSpPr>
        <p:spPr bwMode="auto">
          <a:xfrm flipV="1">
            <a:off x="1154656" y="2092788"/>
            <a:ext cx="1800375" cy="1798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8" name="Line 163"/>
          <p:cNvSpPr>
            <a:spLocks noChangeShapeType="1"/>
          </p:cNvSpPr>
          <p:nvPr/>
        </p:nvSpPr>
        <p:spPr bwMode="auto">
          <a:xfrm flipV="1">
            <a:off x="3119550" y="2092788"/>
            <a:ext cx="758421" cy="1766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09" name="Line 164"/>
          <p:cNvSpPr>
            <a:spLocks noChangeShapeType="1"/>
          </p:cNvSpPr>
          <p:nvPr/>
        </p:nvSpPr>
        <p:spPr bwMode="auto">
          <a:xfrm flipV="1">
            <a:off x="4273517" y="2092788"/>
            <a:ext cx="592735"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0" name="Line 165"/>
          <p:cNvSpPr>
            <a:spLocks noChangeShapeType="1"/>
          </p:cNvSpPr>
          <p:nvPr/>
        </p:nvSpPr>
        <p:spPr bwMode="auto">
          <a:xfrm flipV="1">
            <a:off x="5448487" y="2092788"/>
            <a:ext cx="406047" cy="1820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1" name="Rectangle 199"/>
          <p:cNvSpPr>
            <a:spLocks noChangeArrowheads="1"/>
          </p:cNvSpPr>
          <p:nvPr/>
        </p:nvSpPr>
        <p:spPr bwMode="auto">
          <a:xfrm>
            <a:off x="6910490" y="2279117"/>
            <a:ext cx="649908" cy="404970"/>
          </a:xfrm>
          <a:prstGeom prst="rect">
            <a:avLst/>
          </a:prstGeom>
          <a:solidFill>
            <a:srgbClr val="CC00CC"/>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13" name="Line 167"/>
          <p:cNvSpPr>
            <a:spLocks noChangeShapeType="1"/>
          </p:cNvSpPr>
          <p:nvPr/>
        </p:nvSpPr>
        <p:spPr bwMode="auto">
          <a:xfrm>
            <a:off x="7171853" y="2092788"/>
            <a:ext cx="395546" cy="19279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4" name="Line 169"/>
          <p:cNvSpPr>
            <a:spLocks noChangeShapeType="1"/>
          </p:cNvSpPr>
          <p:nvPr/>
        </p:nvSpPr>
        <p:spPr bwMode="auto">
          <a:xfrm>
            <a:off x="6051724"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5" name="Line 170"/>
          <p:cNvSpPr>
            <a:spLocks noChangeShapeType="1"/>
          </p:cNvSpPr>
          <p:nvPr/>
        </p:nvSpPr>
        <p:spPr bwMode="auto">
          <a:xfrm flipV="1">
            <a:off x="5134618" y="2687318"/>
            <a:ext cx="1771205" cy="2477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6" name="Line 171"/>
          <p:cNvSpPr>
            <a:spLocks noChangeShapeType="1"/>
          </p:cNvSpPr>
          <p:nvPr/>
        </p:nvSpPr>
        <p:spPr bwMode="auto">
          <a:xfrm>
            <a:off x="7559232" y="2687319"/>
            <a:ext cx="0" cy="2434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7" name="Rectangle 172"/>
          <p:cNvSpPr>
            <a:spLocks noChangeArrowheads="1"/>
          </p:cNvSpPr>
          <p:nvPr/>
        </p:nvSpPr>
        <p:spPr bwMode="auto">
          <a:xfrm>
            <a:off x="3239731" y="3598500"/>
            <a:ext cx="4459517" cy="425433"/>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18" name="Line 173"/>
          <p:cNvSpPr>
            <a:spLocks noChangeShapeType="1"/>
          </p:cNvSpPr>
          <p:nvPr/>
        </p:nvSpPr>
        <p:spPr bwMode="auto">
          <a:xfrm>
            <a:off x="6842815"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19" name="Line 174"/>
          <p:cNvSpPr>
            <a:spLocks noChangeShapeType="1"/>
          </p:cNvSpPr>
          <p:nvPr/>
        </p:nvSpPr>
        <p:spPr bwMode="auto">
          <a:xfrm>
            <a:off x="473440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0" name="Rectangle 201"/>
          <p:cNvSpPr>
            <a:spLocks noChangeArrowheads="1"/>
          </p:cNvSpPr>
          <p:nvPr/>
        </p:nvSpPr>
        <p:spPr bwMode="auto">
          <a:xfrm>
            <a:off x="3688950" y="1166527"/>
            <a:ext cx="420049" cy="365119"/>
          </a:xfrm>
          <a:prstGeom prst="rect">
            <a:avLst/>
          </a:prstGeom>
          <a:solidFill>
            <a:srgbClr val="009900"/>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1" name="Line 175"/>
          <p:cNvSpPr>
            <a:spLocks noChangeShapeType="1"/>
          </p:cNvSpPr>
          <p:nvPr/>
        </p:nvSpPr>
        <p:spPr bwMode="auto">
          <a:xfrm>
            <a:off x="5045940"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2" name="Line 176"/>
          <p:cNvSpPr>
            <a:spLocks noChangeShapeType="1"/>
          </p:cNvSpPr>
          <p:nvPr/>
        </p:nvSpPr>
        <p:spPr bwMode="auto">
          <a:xfrm>
            <a:off x="7408714" y="3598500"/>
            <a:ext cx="0" cy="4254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23" name="Rectangle 202"/>
          <p:cNvSpPr>
            <a:spLocks noChangeArrowheads="1"/>
          </p:cNvSpPr>
          <p:nvPr/>
        </p:nvSpPr>
        <p:spPr bwMode="auto">
          <a:xfrm>
            <a:off x="4120666" y="1172990"/>
            <a:ext cx="420049" cy="358656"/>
          </a:xfrm>
          <a:prstGeom prst="rect">
            <a:avLst/>
          </a:prstGeom>
          <a:solidFill>
            <a:srgbClr val="CC00CC"/>
          </a:solidFill>
          <a:ln>
            <a:no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5" name="Rectangle 189"/>
          <p:cNvSpPr>
            <a:spLocks noChangeArrowheads="1"/>
          </p:cNvSpPr>
          <p:nvPr/>
        </p:nvSpPr>
        <p:spPr bwMode="auto">
          <a:xfrm>
            <a:off x="4550049" y="1176221"/>
            <a:ext cx="997199" cy="355426"/>
          </a:xfrm>
          <a:prstGeom prst="rect">
            <a:avLst/>
          </a:prstGeom>
          <a:solidFill>
            <a:srgbClr val="0066FF"/>
          </a:solidFill>
          <a:ln>
            <a:solidFill>
              <a:schemeClr val="tx1"/>
            </a:solidFill>
          </a:ln>
          <a:effec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8" name="Rectangle 135"/>
          <p:cNvSpPr>
            <a:spLocks noChangeArrowheads="1"/>
          </p:cNvSpPr>
          <p:nvPr/>
        </p:nvSpPr>
        <p:spPr bwMode="auto">
          <a:xfrm>
            <a:off x="3676116" y="1168681"/>
            <a:ext cx="1871132" cy="365119"/>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itchFamily="34" charset="-122"/>
              <a:ea typeface="微软雅黑" pitchFamily="34" charset="-122"/>
            </a:endParaRPr>
          </a:p>
        </p:txBody>
      </p:sp>
      <p:sp>
        <p:nvSpPr>
          <p:cNvPr id="129" name="Line 177"/>
          <p:cNvSpPr>
            <a:spLocks noChangeShapeType="1"/>
          </p:cNvSpPr>
          <p:nvPr/>
        </p:nvSpPr>
        <p:spPr bwMode="auto">
          <a:xfrm>
            <a:off x="4547716"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0" name="Line 178"/>
          <p:cNvSpPr>
            <a:spLocks noChangeShapeType="1"/>
          </p:cNvSpPr>
          <p:nvPr/>
        </p:nvSpPr>
        <p:spPr bwMode="auto">
          <a:xfrm>
            <a:off x="4111332" y="1170836"/>
            <a:ext cx="0" cy="3629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1" name="Line 179"/>
          <p:cNvSpPr>
            <a:spLocks noChangeShapeType="1"/>
          </p:cNvSpPr>
          <p:nvPr/>
        </p:nvSpPr>
        <p:spPr bwMode="auto">
          <a:xfrm>
            <a:off x="6381928" y="2930731"/>
            <a:ext cx="0" cy="4125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2" name="Line 180"/>
          <p:cNvSpPr>
            <a:spLocks noChangeShapeType="1"/>
          </p:cNvSpPr>
          <p:nvPr/>
        </p:nvSpPr>
        <p:spPr bwMode="auto">
          <a:xfrm>
            <a:off x="6908156" y="2930731"/>
            <a:ext cx="0" cy="412509"/>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3" name="Line 181"/>
          <p:cNvSpPr>
            <a:spLocks noChangeShapeType="1"/>
          </p:cNvSpPr>
          <p:nvPr/>
        </p:nvSpPr>
        <p:spPr bwMode="auto">
          <a:xfrm flipV="1">
            <a:off x="3239732" y="3345394"/>
            <a:ext cx="3142197" cy="2509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4" name="Line 182"/>
          <p:cNvSpPr>
            <a:spLocks noChangeShapeType="1"/>
          </p:cNvSpPr>
          <p:nvPr/>
        </p:nvSpPr>
        <p:spPr bwMode="auto">
          <a:xfrm flipH="1">
            <a:off x="6853316" y="3335701"/>
            <a:ext cx="54840" cy="25310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5" name="Line 183"/>
          <p:cNvSpPr>
            <a:spLocks noChangeShapeType="1"/>
          </p:cNvSpPr>
          <p:nvPr/>
        </p:nvSpPr>
        <p:spPr bwMode="auto">
          <a:xfrm>
            <a:off x="7567399" y="3345394"/>
            <a:ext cx="131849" cy="2531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itchFamily="34" charset="-122"/>
              <a:ea typeface="微软雅黑" pitchFamily="34" charset="-122"/>
            </a:endParaRPr>
          </a:p>
        </p:txBody>
      </p:sp>
      <p:sp>
        <p:nvSpPr>
          <p:cNvPr id="136" name="Text Box 184"/>
          <p:cNvSpPr txBox="1">
            <a:spLocks noChangeArrowheads="1"/>
          </p:cNvSpPr>
          <p:nvPr/>
        </p:nvSpPr>
        <p:spPr bwMode="auto">
          <a:xfrm>
            <a:off x="2070452" y="2643160"/>
            <a:ext cx="113832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a:latin typeface="微软雅黑" pitchFamily="34" charset="-122"/>
                <a:ea typeface="微软雅黑" pitchFamily="34" charset="-122"/>
              </a:rPr>
              <a:t>request-ID</a:t>
            </a:r>
          </a:p>
        </p:txBody>
      </p:sp>
      <p:sp>
        <p:nvSpPr>
          <p:cNvPr id="137" name="Text Box 185"/>
          <p:cNvSpPr txBox="1">
            <a:spLocks noChangeArrowheads="1"/>
          </p:cNvSpPr>
          <p:nvPr/>
        </p:nvSpPr>
        <p:spPr bwMode="auto">
          <a:xfrm>
            <a:off x="4969740" y="4004547"/>
            <a:ext cx="195117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50" b="1" dirty="0">
                <a:latin typeface="微软雅黑" pitchFamily="34" charset="-122"/>
                <a:ea typeface="微软雅黑" pitchFamily="34" charset="-122"/>
              </a:rPr>
              <a:t>1.  3.  6.  1.  2.  1.  7.  1.  0</a:t>
            </a:r>
          </a:p>
        </p:txBody>
      </p:sp>
      <p:sp>
        <p:nvSpPr>
          <p:cNvPr id="138" name="Text Box 186"/>
          <p:cNvSpPr txBox="1">
            <a:spLocks noChangeArrowheads="1"/>
          </p:cNvSpPr>
          <p:nvPr/>
        </p:nvSpPr>
        <p:spPr bwMode="auto">
          <a:xfrm>
            <a:off x="2007949" y="1211314"/>
            <a:ext cx="16969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400" b="1" dirty="0" err="1">
                <a:latin typeface="微软雅黑" pitchFamily="34" charset="-122"/>
                <a:ea typeface="微软雅黑" pitchFamily="34" charset="-122"/>
              </a:rPr>
              <a:t>GetRequest</a:t>
            </a:r>
            <a:r>
              <a:rPr kumimoji="1" lang="en-US" altLang="zh-CN" sz="1400" b="1" dirty="0">
                <a:latin typeface="微软雅黑" pitchFamily="34" charset="-122"/>
                <a:ea typeface="微软雅黑" pitchFamily="34" charset="-122"/>
              </a:rPr>
              <a:t>-PDU</a:t>
            </a:r>
          </a:p>
        </p:txBody>
      </p:sp>
      <p:sp>
        <p:nvSpPr>
          <p:cNvPr id="139" name="Freeform 193"/>
          <p:cNvSpPr>
            <a:spLocks/>
          </p:cNvSpPr>
          <p:nvPr/>
        </p:nvSpPr>
        <p:spPr bwMode="auto">
          <a:xfrm>
            <a:off x="5145119" y="2681932"/>
            <a:ext cx="2429281" cy="245567"/>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FF66FF"/>
              </a:gs>
            </a:gsLst>
            <a:lin ang="5400000" scaled="1"/>
          </a:gradFill>
          <a:ln>
            <a:noFill/>
          </a:ln>
          <a:effectLst/>
        </p:spPr>
        <p:txBody>
          <a:bodyPr/>
          <a:lstStyle/>
          <a:p>
            <a:pPr algn="ctr"/>
            <a:endParaRPr lang="zh-CN" altLang="en-US" sz="1100" b="1">
              <a:latin typeface="微软雅黑" pitchFamily="34" charset="-122"/>
              <a:ea typeface="微软雅黑" pitchFamily="34" charset="-122"/>
            </a:endParaRPr>
          </a:p>
        </p:txBody>
      </p:sp>
      <p:sp>
        <p:nvSpPr>
          <p:cNvPr id="140" name="Freeform 194"/>
          <p:cNvSpPr>
            <a:spLocks/>
          </p:cNvSpPr>
          <p:nvPr/>
        </p:nvSpPr>
        <p:spPr bwMode="auto">
          <a:xfrm>
            <a:off x="3228064" y="3341085"/>
            <a:ext cx="3674258" cy="258491"/>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00B0F0"/>
              </a:gs>
              <a:gs pos="100000">
                <a:srgbClr val="99FFCC"/>
              </a:gs>
            </a:gsLst>
            <a:lin ang="5400000" scaled="1"/>
          </a:gradFill>
          <a:ln>
            <a:noFill/>
          </a:ln>
          <a:effectLst/>
        </p:spPr>
        <p:txBody>
          <a:bodyPr/>
          <a:lstStyle/>
          <a:p>
            <a:pPr algn="ctr"/>
            <a:endParaRPr lang="zh-CN" altLang="en-US" sz="1100" b="1">
              <a:latin typeface="微软雅黑" pitchFamily="34" charset="-122"/>
              <a:ea typeface="微软雅黑" pitchFamily="34" charset="-122"/>
            </a:endParaRPr>
          </a:p>
        </p:txBody>
      </p:sp>
      <p:sp>
        <p:nvSpPr>
          <p:cNvPr id="141" name="Freeform 196"/>
          <p:cNvSpPr>
            <a:spLocks/>
          </p:cNvSpPr>
          <p:nvPr/>
        </p:nvSpPr>
        <p:spPr bwMode="auto">
          <a:xfrm>
            <a:off x="6853316" y="3341085"/>
            <a:ext cx="840097" cy="258491"/>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7030A0"/>
              </a:gs>
              <a:gs pos="100000">
                <a:srgbClr val="FF00FF"/>
              </a:gs>
            </a:gsLst>
            <a:lin ang="5400000" scaled="1"/>
          </a:gradFill>
          <a:ln>
            <a:noFill/>
          </a:ln>
          <a:effectLst/>
        </p:spPr>
        <p:txBody>
          <a:bodyPr/>
          <a:lstStyle/>
          <a:p>
            <a:pPr algn="ctr"/>
            <a:endParaRPr lang="zh-CN" altLang="en-US" sz="1100" b="1">
              <a:latin typeface="微软雅黑" pitchFamily="34" charset="-122"/>
              <a:ea typeface="微软雅黑" pitchFamily="34" charset="-122"/>
            </a:endParaRPr>
          </a:p>
        </p:txBody>
      </p:sp>
      <p:sp>
        <p:nvSpPr>
          <p:cNvPr id="143" name="Text Box 127"/>
          <p:cNvSpPr txBox="1">
            <a:spLocks noChangeArrowheads="1"/>
          </p:cNvSpPr>
          <p:nvPr/>
        </p:nvSpPr>
        <p:spPr bwMode="auto">
          <a:xfrm>
            <a:off x="3712555" y="1128203"/>
            <a:ext cx="37702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 T</a:t>
            </a:r>
          </a:p>
          <a:p>
            <a:pPr algn="ctr" eaLnBrk="1" hangingPunct="1"/>
            <a:r>
              <a:rPr kumimoji="1" lang="en-US" altLang="zh-CN" sz="1100" b="1">
                <a:solidFill>
                  <a:schemeClr val="bg1"/>
                </a:solidFill>
                <a:latin typeface="微软雅黑" pitchFamily="34" charset="-122"/>
                <a:ea typeface="微软雅黑" pitchFamily="34" charset="-122"/>
              </a:rPr>
              <a:t>A0</a:t>
            </a:r>
          </a:p>
        </p:txBody>
      </p:sp>
      <p:sp>
        <p:nvSpPr>
          <p:cNvPr id="144" name="Text Box 128"/>
          <p:cNvSpPr txBox="1">
            <a:spLocks noChangeArrowheads="1"/>
          </p:cNvSpPr>
          <p:nvPr/>
        </p:nvSpPr>
        <p:spPr bwMode="auto">
          <a:xfrm>
            <a:off x="4139986" y="1128203"/>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  L</a:t>
            </a:r>
          </a:p>
          <a:p>
            <a:pPr algn="ctr" eaLnBrk="1" hangingPunct="1"/>
            <a:r>
              <a:rPr kumimoji="1" lang="en-US" altLang="zh-CN" sz="1100" b="1">
                <a:solidFill>
                  <a:schemeClr val="bg1"/>
                </a:solidFill>
                <a:latin typeface="微软雅黑" pitchFamily="34" charset="-122"/>
                <a:ea typeface="微软雅黑" pitchFamily="34" charset="-122"/>
              </a:rPr>
              <a:t>1D</a:t>
            </a:r>
          </a:p>
        </p:txBody>
      </p:sp>
      <p:sp>
        <p:nvSpPr>
          <p:cNvPr id="146" name="Text Box 129"/>
          <p:cNvSpPr txBox="1">
            <a:spLocks noChangeArrowheads="1"/>
          </p:cNvSpPr>
          <p:nvPr/>
        </p:nvSpPr>
        <p:spPr bwMode="auto">
          <a:xfrm>
            <a:off x="4557995" y="1134553"/>
            <a:ext cx="100380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err="1">
                <a:solidFill>
                  <a:schemeClr val="bg1"/>
                </a:solidFill>
                <a:latin typeface="微软雅黑" pitchFamily="34" charset="-122"/>
                <a:ea typeface="微软雅黑" pitchFamily="34" charset="-122"/>
              </a:rPr>
              <a:t>GetRequest</a:t>
            </a:r>
            <a:endParaRPr kumimoji="1" lang="en-US" altLang="zh-CN" sz="1100" b="1" dirty="0">
              <a:solidFill>
                <a:schemeClr val="bg1"/>
              </a:solidFill>
              <a:latin typeface="微软雅黑" pitchFamily="34" charset="-122"/>
              <a:ea typeface="微软雅黑" pitchFamily="34" charset="-122"/>
            </a:endParaRPr>
          </a:p>
          <a:p>
            <a:pPr algn="ctr" eaLnBrk="1" hangingPunct="1"/>
            <a:r>
              <a:rPr kumimoji="1" lang="en-US" altLang="zh-CN" sz="1100" b="1" dirty="0">
                <a:solidFill>
                  <a:schemeClr val="bg1"/>
                </a:solidFill>
                <a:latin typeface="微软雅黑" pitchFamily="34" charset="-122"/>
                <a:ea typeface="微软雅黑" pitchFamily="34" charset="-122"/>
              </a:rPr>
              <a:t>-PDU</a:t>
            </a:r>
          </a:p>
        </p:txBody>
      </p:sp>
      <p:sp>
        <p:nvSpPr>
          <p:cNvPr id="147" name="Text Box 123"/>
          <p:cNvSpPr txBox="1">
            <a:spLocks noChangeArrowheads="1"/>
          </p:cNvSpPr>
          <p:nvPr/>
        </p:nvSpPr>
        <p:spPr bwMode="auto">
          <a:xfrm>
            <a:off x="4945214"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L</a:t>
            </a:r>
          </a:p>
          <a:p>
            <a:pPr algn="ctr" eaLnBrk="1" hangingPunct="1"/>
            <a:r>
              <a:rPr kumimoji="1" lang="en-US" altLang="zh-CN" sz="1100" b="1" dirty="0">
                <a:solidFill>
                  <a:schemeClr val="bg1"/>
                </a:solidFill>
                <a:latin typeface="微软雅黑" pitchFamily="34" charset="-122"/>
                <a:ea typeface="微软雅黑" pitchFamily="34" charset="-122"/>
              </a:rPr>
              <a:t>01</a:t>
            </a:r>
          </a:p>
        </p:txBody>
      </p:sp>
      <p:sp>
        <p:nvSpPr>
          <p:cNvPr id="148" name="Text Box 130"/>
          <p:cNvSpPr txBox="1">
            <a:spLocks noChangeArrowheads="1"/>
          </p:cNvSpPr>
          <p:nvPr/>
        </p:nvSpPr>
        <p:spPr bwMode="auto">
          <a:xfrm>
            <a:off x="6579118" y="2264039"/>
            <a:ext cx="34977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L</a:t>
            </a:r>
          </a:p>
          <a:p>
            <a:pPr algn="ctr" eaLnBrk="1" hangingPunct="1"/>
            <a:r>
              <a:rPr kumimoji="1" lang="en-US" altLang="zh-CN" sz="1100" b="1" dirty="0">
                <a:solidFill>
                  <a:schemeClr val="bg1"/>
                </a:solidFill>
                <a:latin typeface="微软雅黑" pitchFamily="34" charset="-122"/>
                <a:ea typeface="微软雅黑" pitchFamily="34" charset="-122"/>
              </a:rPr>
              <a:t>0F</a:t>
            </a:r>
          </a:p>
        </p:txBody>
      </p:sp>
      <p:sp>
        <p:nvSpPr>
          <p:cNvPr id="150" name="Text Box 132"/>
          <p:cNvSpPr txBox="1">
            <a:spLocks noChangeArrowheads="1"/>
          </p:cNvSpPr>
          <p:nvPr/>
        </p:nvSpPr>
        <p:spPr bwMode="auto">
          <a:xfrm>
            <a:off x="3076380"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T</a:t>
            </a: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151" name="Text Box 133"/>
          <p:cNvSpPr txBox="1">
            <a:spLocks noChangeArrowheads="1"/>
          </p:cNvSpPr>
          <p:nvPr/>
        </p:nvSpPr>
        <p:spPr bwMode="auto">
          <a:xfrm>
            <a:off x="3775562"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L</a:t>
            </a:r>
          </a:p>
          <a:p>
            <a:pPr algn="ctr" eaLnBrk="1" hangingPunct="1"/>
            <a:r>
              <a:rPr kumimoji="1" lang="en-US" altLang="zh-CN" sz="1100" b="1" dirty="0">
                <a:solidFill>
                  <a:schemeClr val="bg1"/>
                </a:solidFill>
                <a:latin typeface="微软雅黑" pitchFamily="34" charset="-122"/>
                <a:ea typeface="微软雅黑" pitchFamily="34" charset="-122"/>
              </a:rPr>
              <a:t>01</a:t>
            </a:r>
          </a:p>
        </p:txBody>
      </p:sp>
      <p:sp>
        <p:nvSpPr>
          <p:cNvPr id="153" name="Text Box 152"/>
          <p:cNvSpPr txBox="1">
            <a:spLocks noChangeArrowheads="1"/>
          </p:cNvSpPr>
          <p:nvPr/>
        </p:nvSpPr>
        <p:spPr bwMode="auto">
          <a:xfrm>
            <a:off x="2163313" y="2264039"/>
            <a:ext cx="101502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V</a:t>
            </a:r>
          </a:p>
          <a:p>
            <a:pPr algn="ctr" eaLnBrk="1" hangingPunct="1"/>
            <a:r>
              <a:rPr kumimoji="1" lang="en-US" altLang="zh-CN" sz="1100" b="1" dirty="0">
                <a:solidFill>
                  <a:schemeClr val="bg1"/>
                </a:solidFill>
                <a:latin typeface="微软雅黑" pitchFamily="34" charset="-122"/>
                <a:ea typeface="微软雅黑" pitchFamily="34" charset="-122"/>
              </a:rPr>
              <a:t>05 AE 56 02</a:t>
            </a:r>
          </a:p>
        </p:txBody>
      </p:sp>
      <p:sp>
        <p:nvSpPr>
          <p:cNvPr id="154" name="Text Box 153"/>
          <p:cNvSpPr txBox="1">
            <a:spLocks noChangeArrowheads="1"/>
          </p:cNvSpPr>
          <p:nvPr/>
        </p:nvSpPr>
        <p:spPr bwMode="auto">
          <a:xfrm>
            <a:off x="4000756"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V</a:t>
            </a:r>
          </a:p>
          <a:p>
            <a:pPr algn="ctr" eaLnBrk="1" hangingPunct="1"/>
            <a:r>
              <a:rPr kumimoji="1" lang="en-US" altLang="zh-CN" sz="1100" b="1" dirty="0">
                <a:solidFill>
                  <a:schemeClr val="bg1"/>
                </a:solidFill>
                <a:latin typeface="微软雅黑" pitchFamily="34" charset="-122"/>
                <a:ea typeface="微软雅黑" pitchFamily="34" charset="-122"/>
              </a:rPr>
              <a:t>00</a:t>
            </a:r>
          </a:p>
        </p:txBody>
      </p:sp>
      <p:sp>
        <p:nvSpPr>
          <p:cNvPr id="155" name="Text Box 154"/>
          <p:cNvSpPr txBox="1">
            <a:spLocks noChangeArrowheads="1"/>
          </p:cNvSpPr>
          <p:nvPr/>
        </p:nvSpPr>
        <p:spPr bwMode="auto">
          <a:xfrm>
            <a:off x="5430199" y="2264039"/>
            <a:ext cx="122661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T</a:t>
            </a:r>
          </a:p>
          <a:p>
            <a:pPr algn="ctr" eaLnBrk="1" hangingPunct="1"/>
            <a:r>
              <a:rPr kumimoji="1" lang="en-US" altLang="zh-CN" sz="1100" b="1" dirty="0">
                <a:solidFill>
                  <a:schemeClr val="bg1"/>
                </a:solidFill>
                <a:latin typeface="微软雅黑" pitchFamily="34" charset="-122"/>
                <a:ea typeface="微软雅黑" pitchFamily="34" charset="-122"/>
              </a:rPr>
              <a:t>SEQUENCE OF </a:t>
            </a:r>
          </a:p>
        </p:txBody>
      </p:sp>
      <p:sp>
        <p:nvSpPr>
          <p:cNvPr id="156" name="Text Box 157"/>
          <p:cNvSpPr txBox="1">
            <a:spLocks noChangeArrowheads="1"/>
          </p:cNvSpPr>
          <p:nvPr/>
        </p:nvSpPr>
        <p:spPr bwMode="auto">
          <a:xfrm>
            <a:off x="4239679"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T</a:t>
            </a: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157" name="Text Box 159"/>
          <p:cNvSpPr txBox="1">
            <a:spLocks noChangeArrowheads="1"/>
          </p:cNvSpPr>
          <p:nvPr/>
        </p:nvSpPr>
        <p:spPr bwMode="auto">
          <a:xfrm>
            <a:off x="5157708"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V</a:t>
            </a:r>
          </a:p>
          <a:p>
            <a:pPr algn="ctr" eaLnBrk="1" hangingPunct="1"/>
            <a:r>
              <a:rPr kumimoji="1" lang="en-US" altLang="zh-CN" sz="1100" b="1" dirty="0">
                <a:solidFill>
                  <a:schemeClr val="bg1"/>
                </a:solidFill>
                <a:latin typeface="微软雅黑" pitchFamily="34" charset="-122"/>
                <a:ea typeface="微软雅黑" pitchFamily="34" charset="-122"/>
              </a:rPr>
              <a:t>00</a:t>
            </a:r>
          </a:p>
        </p:txBody>
      </p:sp>
      <p:sp>
        <p:nvSpPr>
          <p:cNvPr id="159" name="Text Box 118"/>
          <p:cNvSpPr txBox="1">
            <a:spLocks noChangeArrowheads="1"/>
          </p:cNvSpPr>
          <p:nvPr/>
        </p:nvSpPr>
        <p:spPr bwMode="auto">
          <a:xfrm>
            <a:off x="5009194" y="3590962"/>
            <a:ext cx="19062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000" b="1" dirty="0">
                <a:latin typeface="微软雅黑" pitchFamily="34" charset="-122"/>
                <a:ea typeface="微软雅黑" pitchFamily="34" charset="-122"/>
              </a:rPr>
              <a:t>V</a:t>
            </a:r>
          </a:p>
          <a:p>
            <a:pPr algn="ctr" eaLnBrk="1" hangingPunct="1"/>
            <a:r>
              <a:rPr kumimoji="1" lang="en-US" altLang="zh-CN" sz="1000" b="1" dirty="0">
                <a:latin typeface="微软雅黑" pitchFamily="34" charset="-122"/>
                <a:ea typeface="微软雅黑" pitchFamily="34" charset="-122"/>
              </a:rPr>
              <a:t>01 03 06 01 02 01 01 01 00</a:t>
            </a:r>
          </a:p>
        </p:txBody>
      </p:sp>
      <p:sp>
        <p:nvSpPr>
          <p:cNvPr id="162" name="Text Box 131"/>
          <p:cNvSpPr txBox="1">
            <a:spLocks noChangeArrowheads="1"/>
          </p:cNvSpPr>
          <p:nvPr/>
        </p:nvSpPr>
        <p:spPr bwMode="auto">
          <a:xfrm>
            <a:off x="1869659"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L</a:t>
            </a:r>
          </a:p>
          <a:p>
            <a:pPr algn="ctr" eaLnBrk="1" hangingPunct="1"/>
            <a:r>
              <a:rPr kumimoji="1" lang="en-US" altLang="zh-CN" sz="1100" b="1" dirty="0">
                <a:solidFill>
                  <a:schemeClr val="bg1"/>
                </a:solidFill>
                <a:latin typeface="微软雅黑" pitchFamily="34" charset="-122"/>
                <a:ea typeface="微软雅黑" pitchFamily="34" charset="-122"/>
              </a:rPr>
              <a:t>04</a:t>
            </a:r>
          </a:p>
        </p:txBody>
      </p:sp>
      <p:sp>
        <p:nvSpPr>
          <p:cNvPr id="163" name="Text Box 151"/>
          <p:cNvSpPr txBox="1">
            <a:spLocks noChangeArrowheads="1"/>
          </p:cNvSpPr>
          <p:nvPr/>
        </p:nvSpPr>
        <p:spPr bwMode="auto">
          <a:xfrm>
            <a:off x="1110318"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T</a:t>
            </a:r>
          </a:p>
          <a:p>
            <a:pPr algn="ctr" eaLnBrk="1" hangingPunct="1"/>
            <a:r>
              <a:rPr kumimoji="1" lang="en-US" altLang="zh-CN" sz="1100" b="1" dirty="0">
                <a:solidFill>
                  <a:schemeClr val="bg1"/>
                </a:solidFill>
                <a:latin typeface="微软雅黑" pitchFamily="34" charset="-122"/>
                <a:ea typeface="微软雅黑" pitchFamily="34" charset="-122"/>
              </a:rPr>
              <a:t>INTEGER</a:t>
            </a:r>
          </a:p>
        </p:txBody>
      </p:sp>
      <p:sp>
        <p:nvSpPr>
          <p:cNvPr id="96" name="Text Box 124"/>
          <p:cNvSpPr txBox="1">
            <a:spLocks noChangeArrowheads="1"/>
          </p:cNvSpPr>
          <p:nvPr/>
        </p:nvSpPr>
        <p:spPr bwMode="auto">
          <a:xfrm>
            <a:off x="5129951" y="2911344"/>
            <a:ext cx="949299"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T</a:t>
            </a:r>
          </a:p>
          <a:p>
            <a:pPr algn="ctr" eaLnBrk="1" hangingPunct="1"/>
            <a:r>
              <a:rPr kumimoji="1" lang="en-US" altLang="zh-CN" sz="1100" b="1" dirty="0">
                <a:solidFill>
                  <a:schemeClr val="bg1"/>
                </a:solidFill>
                <a:latin typeface="微软雅黑" pitchFamily="34" charset="-122"/>
                <a:ea typeface="微软雅黑" pitchFamily="34" charset="-122"/>
              </a:rPr>
              <a:t>SEQUENCE</a:t>
            </a:r>
          </a:p>
        </p:txBody>
      </p:sp>
      <p:sp>
        <p:nvSpPr>
          <p:cNvPr id="97" name="Text Box 125"/>
          <p:cNvSpPr txBox="1">
            <a:spLocks noChangeArrowheads="1"/>
          </p:cNvSpPr>
          <p:nvPr/>
        </p:nvSpPr>
        <p:spPr bwMode="auto">
          <a:xfrm>
            <a:off x="6051724" y="2911344"/>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solidFill>
                  <a:schemeClr val="bg1"/>
                </a:solidFill>
                <a:latin typeface="微软雅黑" pitchFamily="34" charset="-122"/>
                <a:ea typeface="微软雅黑" pitchFamily="34" charset="-122"/>
              </a:rPr>
              <a:t>L</a:t>
            </a:r>
          </a:p>
          <a:p>
            <a:pPr algn="ctr" eaLnBrk="1" hangingPunct="1"/>
            <a:r>
              <a:rPr kumimoji="1" lang="en-US" altLang="zh-CN" sz="1100" b="1" dirty="0">
                <a:solidFill>
                  <a:schemeClr val="bg1"/>
                </a:solidFill>
                <a:latin typeface="微软雅黑" pitchFamily="34" charset="-122"/>
                <a:ea typeface="微软雅黑" pitchFamily="34" charset="-122"/>
              </a:rPr>
              <a:t>0D</a:t>
            </a:r>
          </a:p>
        </p:txBody>
      </p:sp>
      <p:sp>
        <p:nvSpPr>
          <p:cNvPr id="98" name="Text Box 166"/>
          <p:cNvSpPr txBox="1">
            <a:spLocks noChangeArrowheads="1"/>
          </p:cNvSpPr>
          <p:nvPr/>
        </p:nvSpPr>
        <p:spPr bwMode="auto">
          <a:xfrm>
            <a:off x="6877820" y="2348048"/>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a:solidFill>
                  <a:schemeClr val="bg1"/>
                </a:solidFill>
                <a:latin typeface="微软雅黑" pitchFamily="34" charset="-122"/>
                <a:ea typeface="微软雅黑" pitchFamily="34" charset="-122"/>
              </a:rPr>
              <a:t>VarBind</a:t>
            </a:r>
          </a:p>
        </p:txBody>
      </p:sp>
      <p:sp>
        <p:nvSpPr>
          <p:cNvPr id="99" name="Text Box 126"/>
          <p:cNvSpPr txBox="1">
            <a:spLocks noChangeArrowheads="1"/>
          </p:cNvSpPr>
          <p:nvPr/>
        </p:nvSpPr>
        <p:spPr bwMode="auto">
          <a:xfrm>
            <a:off x="6374894" y="3010433"/>
            <a:ext cx="116410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name     value</a:t>
            </a:r>
          </a:p>
        </p:txBody>
      </p:sp>
      <p:sp>
        <p:nvSpPr>
          <p:cNvPr id="102" name="Text Box 121"/>
          <p:cNvSpPr txBox="1">
            <a:spLocks noChangeArrowheads="1"/>
          </p:cNvSpPr>
          <p:nvPr/>
        </p:nvSpPr>
        <p:spPr bwMode="auto">
          <a:xfrm>
            <a:off x="6842815" y="3590962"/>
            <a:ext cx="56778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T</a:t>
            </a:r>
          </a:p>
          <a:p>
            <a:pPr algn="ctr" eaLnBrk="1" hangingPunct="1"/>
            <a:r>
              <a:rPr kumimoji="1" lang="en-US" altLang="zh-CN" sz="1100" b="1" dirty="0">
                <a:latin typeface="微软雅黑" pitchFamily="34" charset="-122"/>
                <a:ea typeface="微软雅黑" pitchFamily="34" charset="-122"/>
              </a:rPr>
              <a:t>NULL</a:t>
            </a:r>
          </a:p>
        </p:txBody>
      </p:sp>
      <p:sp>
        <p:nvSpPr>
          <p:cNvPr id="104" name="Text Box 122"/>
          <p:cNvSpPr txBox="1">
            <a:spLocks noChangeArrowheads="1"/>
          </p:cNvSpPr>
          <p:nvPr/>
        </p:nvSpPr>
        <p:spPr bwMode="auto">
          <a:xfrm>
            <a:off x="7386546"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100" b="1" dirty="0">
                <a:latin typeface="微软雅黑" pitchFamily="34" charset="-122"/>
                <a:ea typeface="微软雅黑" pitchFamily="34" charset="-122"/>
              </a:rPr>
              <a:t>L</a:t>
            </a:r>
          </a:p>
          <a:p>
            <a:pPr algn="ctr" eaLnBrk="1" hangingPunct="1"/>
            <a:r>
              <a:rPr kumimoji="1" lang="en-US" altLang="zh-CN" sz="1100" b="1" dirty="0">
                <a:latin typeface="微软雅黑" pitchFamily="34" charset="-122"/>
                <a:ea typeface="微软雅黑" pitchFamily="34" charset="-122"/>
              </a:rPr>
              <a:t>00</a:t>
            </a:r>
          </a:p>
        </p:txBody>
      </p:sp>
    </p:spTree>
    <p:extLst>
      <p:ext uri="{BB962C8B-B14F-4D97-AF65-F5344CB8AC3E}">
        <p14:creationId xmlns:p14="http://schemas.microsoft.com/office/powerpoint/2010/main" val="34313518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7042"/>
            <a:ext cx="8048776" cy="28632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383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33901" y="580624"/>
            <a:ext cx="40949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Get-request </a:t>
            </a:r>
            <a:r>
              <a:rPr lang="zh-CN" altLang="en-US" sz="2000" b="1" dirty="0">
                <a:solidFill>
                  <a:schemeClr val="bg1"/>
                </a:solidFill>
                <a:latin typeface="微软雅黑" pitchFamily="34" charset="-122"/>
                <a:ea typeface="微软雅黑" pitchFamily="34" charset="-122"/>
              </a:rPr>
              <a:t>报文的十六进制编码</a:t>
            </a:r>
          </a:p>
        </p:txBody>
      </p:sp>
      <p:sp>
        <p:nvSpPr>
          <p:cNvPr id="5" name="Rectangle 1"/>
          <p:cNvSpPr>
            <a:spLocks noChangeArrowheads="1"/>
          </p:cNvSpPr>
          <p:nvPr/>
        </p:nvSpPr>
        <p:spPr bwMode="auto">
          <a:xfrm>
            <a:off x="819807" y="1122955"/>
            <a:ext cx="778593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114300" algn="l" defTabSz="914400" rtl="0" eaLnBrk="1" fontAlgn="base" latinLnBrk="0" hangingPunct="1">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A0 1D                          -- </a:t>
            </a:r>
            <a:r>
              <a:rPr kumimoji="0" lang="en-US" altLang="zh-CN" sz="1400" b="1" i="0" u="none" strike="noStrike" cap="none" normalizeH="0" baseline="0" dirty="0" err="1">
                <a:ln>
                  <a:noFill/>
                </a:ln>
                <a:solidFill>
                  <a:schemeClr val="tx1"/>
                </a:solidFill>
                <a:effectLst/>
                <a:latin typeface="微软雅黑" pitchFamily="34" charset="-122"/>
                <a:ea typeface="微软雅黑" pitchFamily="34" charset="-122"/>
                <a:cs typeface="Times New Roman" pitchFamily="18" charset="0"/>
              </a:rPr>
              <a:t>GetRequest</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-PDU</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，上下文类型，长度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1D</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 = 29</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02 04 05 AE 56 02      -- INTEGER</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04</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request-id = 05 AE 56 02 </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02 01 00                      -- INTEGER</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01</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error status = 00</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02 01 00                      -- INTEGER</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01</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error index = 00</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30 0F                           -- SEQUENCE OF</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0F</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 = 15</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30 0D                   	    -- SEQUENCE</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0D</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 = 13</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06 09 01 03 06 01 02 01 07 01 00    </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 OBJECT IDENTIFIER</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2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09</a:t>
            </a:r>
            <a:r>
              <a:rPr kumimoji="0" lang="en-US" altLang="zh-CN" sz="12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r>
              <a:rPr kumimoji="0" lang="zh-CN" altLang="en-US" sz="12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a:t>
            </a:r>
            <a:r>
              <a:rPr kumimoji="0" lang="en-US" altLang="zh-CN" sz="1200" b="1" i="0" u="none" strike="noStrike" cap="none" normalizeH="0" baseline="0" dirty="0" err="1">
                <a:ln>
                  <a:noFill/>
                </a:ln>
                <a:solidFill>
                  <a:schemeClr val="tx1"/>
                </a:solidFill>
                <a:effectLst/>
                <a:latin typeface="微软雅黑" pitchFamily="34" charset="-122"/>
                <a:ea typeface="微软雅黑" pitchFamily="34" charset="-122"/>
                <a:cs typeface="Times New Roman" pitchFamily="18" charset="0"/>
              </a:rPr>
              <a:t>udpInDatagrams</a:t>
            </a:r>
            <a:endParaRPr kumimoji="0" lang="en-US" altLang="zh-CN" sz="1200" b="1" i="0" u="none" strike="noStrike" cap="none" normalizeH="0" baseline="0" dirty="0">
              <a:ln>
                <a:noFill/>
              </a:ln>
              <a:solidFill>
                <a:schemeClr val="tx1"/>
              </a:solidFill>
              <a:effectLst/>
              <a:latin typeface="微软雅黑" pitchFamily="34" charset="-122"/>
              <a:ea typeface="微软雅黑"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05 00                       	</a:t>
            </a:r>
            <a:r>
              <a:rPr kumimoji="0" lang="en-US" altLang="zh-CN" sz="1400" b="1" i="0" u="none" strike="noStrike" cap="none" normalizeH="0" dirty="0">
                <a:ln>
                  <a:noFill/>
                </a:ln>
                <a:solidFill>
                  <a:schemeClr val="tx1"/>
                </a:solidFill>
                <a:effectLst/>
                <a:latin typeface="微软雅黑" pitchFamily="34" charset="-122"/>
                <a:ea typeface="微软雅黑" pitchFamily="34" charset="-122"/>
                <a:cs typeface="Times New Roman" pitchFamily="18" charset="0"/>
              </a:rPr>
              <a:t>    </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 NULL</a:t>
            </a:r>
            <a:r>
              <a:rPr kumimoji="0" lang="zh-CN" altLang="en-US"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类型，长度</a:t>
            </a:r>
            <a:r>
              <a:rPr kumimoji="0" lang="en-US" altLang="zh-CN" sz="1400" b="1" i="0" u="none" strike="noStrike" cap="none" normalizeH="0" baseline="0" dirty="0">
                <a:ln>
                  <a:noFill/>
                </a:ln>
                <a:solidFill>
                  <a:schemeClr val="tx1"/>
                </a:solidFill>
                <a:effectLst/>
                <a:latin typeface="微软雅黑" pitchFamily="34" charset="-122"/>
                <a:ea typeface="微软雅黑" pitchFamily="34" charset="-122"/>
                <a:cs typeface="Times New Roman" pitchFamily="18" charset="0"/>
              </a:rPr>
              <a:t>00</a:t>
            </a:r>
            <a:r>
              <a:rPr kumimoji="0" lang="en-US" altLang="zh-CN" sz="1400" b="1" i="0" u="none" strike="noStrike" cap="none" normalizeH="0" baseline="-30000" dirty="0">
                <a:ln>
                  <a:noFill/>
                </a:ln>
                <a:solidFill>
                  <a:schemeClr val="tx1"/>
                </a:solidFill>
                <a:effectLst/>
                <a:latin typeface="微软雅黑" pitchFamily="34" charset="-122"/>
                <a:ea typeface="微软雅黑" pitchFamily="34" charset="-122"/>
                <a:cs typeface="Times New Roman" pitchFamily="18" charset="0"/>
              </a:rPr>
              <a:t>16</a:t>
            </a:r>
            <a:endParaRPr kumimoji="0" lang="en-US" altLang="zh-CN" sz="1400" b="1" i="0" u="none" strike="noStrike" cap="none" normalizeH="0" baseline="0" dirty="0">
              <a:ln>
                <a:noFill/>
              </a:ln>
              <a:solidFill>
                <a:schemeClr val="tx1"/>
              </a:solidFill>
              <a:effectLst/>
              <a:latin typeface="微软雅黑" pitchFamily="34" charset="-122"/>
              <a:ea typeface="微软雅黑" pitchFamily="34" charset="-122"/>
            </a:endParaRPr>
          </a:p>
        </p:txBody>
      </p:sp>
    </p:spTree>
    <p:extLst>
      <p:ext uri="{BB962C8B-B14F-4D97-AF65-F5344CB8AC3E}">
        <p14:creationId xmlns:p14="http://schemas.microsoft.com/office/powerpoint/2010/main" val="344823125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2629135" y="129417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175793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Line 16"/>
          <p:cNvSpPr>
            <a:spLocks noChangeShapeType="1"/>
          </p:cNvSpPr>
          <p:nvPr/>
        </p:nvSpPr>
        <p:spPr bwMode="auto">
          <a:xfrm>
            <a:off x="3637198" y="1222738"/>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4176"/>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389108"/>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6.8</a:t>
            </a:r>
          </a:p>
          <a:p>
            <a:pPr eaLnBrk="0" hangingPunct="0"/>
            <a:r>
              <a:rPr lang="zh-CN" altLang="en-US" sz="2000" b="1" dirty="0">
                <a:solidFill>
                  <a:schemeClr val="bg1"/>
                </a:solidFill>
                <a:latin typeface="微软雅黑" pitchFamily="34" charset="-122"/>
                <a:ea typeface="微软雅黑" pitchFamily="34" charset="-122"/>
              </a:rPr>
              <a:t>应用进程跨越网络的</a:t>
            </a:r>
            <a:endParaRPr lang="en-US" altLang="zh-CN" sz="2000" b="1" dirty="0">
              <a:solidFill>
                <a:schemeClr val="bg1"/>
              </a:solidFill>
              <a:latin typeface="微软雅黑" pitchFamily="34" charset="-122"/>
              <a:ea typeface="微软雅黑" pitchFamily="34" charset="-122"/>
            </a:endParaRPr>
          </a:p>
          <a:p>
            <a:pPr eaLnBrk="0" hangingPunct="0"/>
            <a:r>
              <a:rPr lang="zh-CN" altLang="en-US" sz="2000" b="1" dirty="0">
                <a:solidFill>
                  <a:schemeClr val="bg1"/>
                </a:solidFill>
                <a:latin typeface="微软雅黑" pitchFamily="34" charset="-122"/>
                <a:ea typeface="微软雅黑" pitchFamily="34" charset="-122"/>
              </a:rPr>
              <a:t>通信</a:t>
            </a:r>
            <a:endParaRPr lang="zh-CN" altLang="fr-FR" sz="2000" b="1" dirty="0">
              <a:solidFill>
                <a:schemeClr val="bg1"/>
              </a:solidFill>
              <a:latin typeface="微软雅黑" pitchFamily="34" charset="-122"/>
              <a:ea typeface="微软雅黑" pitchFamily="34" charset="-122"/>
            </a:endParaRPr>
          </a:p>
        </p:txBody>
      </p:sp>
      <p:sp>
        <p:nvSpPr>
          <p:cNvPr id="9" name="Rectangle 8"/>
          <p:cNvSpPr>
            <a:spLocks noChangeArrowheads="1"/>
          </p:cNvSpPr>
          <p:nvPr/>
        </p:nvSpPr>
        <p:spPr bwMode="auto">
          <a:xfrm>
            <a:off x="2700573" y="1169875"/>
            <a:ext cx="5756006" cy="96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itchFamily="34" charset="-122"/>
                <a:ea typeface="微软雅黑" pitchFamily="34" charset="-122"/>
              </a:rPr>
              <a:t>6.8.1                           </a:t>
            </a:r>
            <a:r>
              <a:rPr lang="zh-CN" altLang="en-US" sz="2000" b="1" dirty="0">
                <a:solidFill>
                  <a:schemeClr val="bg1"/>
                </a:solidFill>
                <a:latin typeface="微软雅黑" pitchFamily="34" charset="-122"/>
                <a:ea typeface="微软雅黑" pitchFamily="34" charset="-122"/>
              </a:rPr>
              <a:t>系统调用和应用编程接口</a:t>
            </a:r>
          </a:p>
          <a:p>
            <a:pPr eaLnBrk="0" hangingPunct="0">
              <a:lnSpc>
                <a:spcPct val="150000"/>
              </a:lnSpc>
            </a:pPr>
            <a:r>
              <a:rPr lang="en-US" altLang="zh-CN" sz="2000" b="1" dirty="0">
                <a:solidFill>
                  <a:schemeClr val="bg1"/>
                </a:solidFill>
                <a:latin typeface="微软雅黑" pitchFamily="34" charset="-122"/>
                <a:ea typeface="微软雅黑" pitchFamily="34" charset="-122"/>
              </a:rPr>
              <a:t>6.8.2                                  </a:t>
            </a:r>
            <a:r>
              <a:rPr lang="zh-CN" altLang="en-US" sz="2000" b="1" dirty="0">
                <a:solidFill>
                  <a:schemeClr val="bg1"/>
                </a:solidFill>
                <a:latin typeface="微软雅黑" pitchFamily="34" charset="-122"/>
                <a:ea typeface="微软雅黑" pitchFamily="34" charset="-122"/>
              </a:rPr>
              <a:t>几种常用的系统调用</a:t>
            </a:r>
          </a:p>
        </p:txBody>
      </p:sp>
    </p:spTree>
    <p:extLst>
      <p:ext uri="{BB962C8B-B14F-4D97-AF65-F5344CB8AC3E}">
        <p14:creationId xmlns:p14="http://schemas.microsoft.com/office/powerpoint/2010/main" val="5033898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3631" y="572682"/>
            <a:ext cx="4496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6.8.1  </a:t>
            </a:r>
            <a:r>
              <a:rPr lang="zh-CN" altLang="en-US" sz="2400" b="1" dirty="0">
                <a:solidFill>
                  <a:schemeClr val="bg1"/>
                </a:solidFill>
                <a:latin typeface="微软雅黑" pitchFamily="34" charset="-122"/>
                <a:ea typeface="微软雅黑" pitchFamily="34" charset="-122"/>
              </a:rPr>
              <a:t>系统调用和应用编程接口</a:t>
            </a:r>
          </a:p>
        </p:txBody>
      </p:sp>
      <p:sp>
        <p:nvSpPr>
          <p:cNvPr id="4" name="Rectangle 68"/>
          <p:cNvSpPr>
            <a:spLocks noChangeArrowheads="1"/>
          </p:cNvSpPr>
          <p:nvPr/>
        </p:nvSpPr>
        <p:spPr bwMode="auto">
          <a:xfrm>
            <a:off x="556963" y="1009171"/>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大多数操作系统使用</a:t>
            </a:r>
            <a:r>
              <a:rPr lang="zh-CN" altLang="en-US" sz="2000" b="1" dirty="0">
                <a:solidFill>
                  <a:srgbClr val="C00000"/>
                </a:solidFill>
                <a:latin typeface="微软雅黑" pitchFamily="34" charset="-122"/>
                <a:ea typeface="微软雅黑" pitchFamily="34" charset="-122"/>
              </a:rPr>
              <a:t>系统调用 </a:t>
            </a:r>
            <a:r>
              <a:rPr lang="en-US" altLang="zh-CN" sz="2000" b="1" dirty="0">
                <a:latin typeface="微软雅黑" pitchFamily="34" charset="-122"/>
                <a:ea typeface="微软雅黑" pitchFamily="34" charset="-122"/>
              </a:rPr>
              <a:t>(system call ) </a:t>
            </a:r>
            <a:r>
              <a:rPr lang="zh-CN" altLang="en-US" sz="2000" b="1" dirty="0">
                <a:latin typeface="微软雅黑" pitchFamily="34" charset="-122"/>
                <a:ea typeface="微软雅黑" pitchFamily="34" charset="-122"/>
              </a:rPr>
              <a:t>的机制在应用程序和操作系统之间传递控制权。</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对程序员来说，每一个系统调用和一般程序设计中的函数调用非常相似，只是系统调用是将控制权传递给了操作系统。 </a:t>
            </a:r>
          </a:p>
        </p:txBody>
      </p:sp>
    </p:spTree>
    <p:extLst>
      <p:ext uri="{BB962C8B-B14F-4D97-AF65-F5344CB8AC3E}">
        <p14:creationId xmlns:p14="http://schemas.microsoft.com/office/powerpoint/2010/main" val="22694908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26943" y="582898"/>
            <a:ext cx="41088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多个应用进程使用系统调用的机制 </a:t>
            </a:r>
          </a:p>
        </p:txBody>
      </p:sp>
      <p:sp>
        <p:nvSpPr>
          <p:cNvPr id="5" name="Rectangle 3"/>
          <p:cNvSpPr>
            <a:spLocks noChangeArrowheads="1"/>
          </p:cNvSpPr>
          <p:nvPr/>
        </p:nvSpPr>
        <p:spPr bwMode="auto">
          <a:xfrm>
            <a:off x="1384729" y="1509223"/>
            <a:ext cx="4452402" cy="2393411"/>
          </a:xfrm>
          <a:prstGeom prst="rect">
            <a:avLst/>
          </a:prstGeom>
          <a:solidFill>
            <a:srgbClr val="99FFCC"/>
          </a:solidFill>
          <a:ln w="63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6" name="Oval 4"/>
          <p:cNvSpPr>
            <a:spLocks noChangeArrowheads="1"/>
          </p:cNvSpPr>
          <p:nvPr/>
        </p:nvSpPr>
        <p:spPr bwMode="auto">
          <a:xfrm>
            <a:off x="1590938"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dirty="0">
                <a:solidFill>
                  <a:schemeClr val="bg1"/>
                </a:solidFill>
                <a:latin typeface="微软雅黑" pitchFamily="34" charset="-122"/>
                <a:ea typeface="微软雅黑" pitchFamily="34" charset="-122"/>
              </a:rPr>
              <a:t>应用程序 </a:t>
            </a:r>
            <a:r>
              <a:rPr kumimoji="1" lang="en-US" altLang="zh-CN" sz="1400" b="1" dirty="0">
                <a:solidFill>
                  <a:schemeClr val="bg1"/>
                </a:solidFill>
                <a:latin typeface="微软雅黑" pitchFamily="34" charset="-122"/>
                <a:ea typeface="微软雅黑" pitchFamily="34" charset="-122"/>
              </a:rPr>
              <a:t>1</a:t>
            </a:r>
          </a:p>
        </p:txBody>
      </p:sp>
      <p:sp>
        <p:nvSpPr>
          <p:cNvPr id="7" name="Oval 5"/>
          <p:cNvSpPr>
            <a:spLocks noChangeArrowheads="1"/>
          </p:cNvSpPr>
          <p:nvPr/>
        </p:nvSpPr>
        <p:spPr bwMode="auto">
          <a:xfrm>
            <a:off x="2896520" y="1659023"/>
            <a:ext cx="1099374"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应用程序 </a:t>
            </a:r>
            <a:r>
              <a:rPr kumimoji="1" lang="en-US" altLang="zh-CN" sz="1400" b="1">
                <a:solidFill>
                  <a:schemeClr val="bg1"/>
                </a:solidFill>
                <a:latin typeface="微软雅黑" pitchFamily="34" charset="-122"/>
                <a:ea typeface="微软雅黑" pitchFamily="34" charset="-122"/>
              </a:rPr>
              <a:t>2</a:t>
            </a:r>
          </a:p>
        </p:txBody>
      </p:sp>
      <p:sp>
        <p:nvSpPr>
          <p:cNvPr id="8" name="Oval 6"/>
          <p:cNvSpPr>
            <a:spLocks noChangeArrowheads="1"/>
          </p:cNvSpPr>
          <p:nvPr/>
        </p:nvSpPr>
        <p:spPr bwMode="auto">
          <a:xfrm>
            <a:off x="4544971" y="1659023"/>
            <a:ext cx="1099373" cy="523734"/>
          </a:xfrm>
          <a:prstGeom prst="ellipse">
            <a:avLst/>
          </a:prstGeom>
          <a:solidFill>
            <a:srgbClr val="0066FF"/>
          </a:solidFill>
          <a:ln w="9525">
            <a:solidFill>
              <a:srgbClr val="333399"/>
            </a:solidFill>
            <a:round/>
            <a:headEnd/>
            <a:tailEnd/>
          </a:ln>
          <a:effec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应用程序 </a:t>
            </a:r>
            <a:r>
              <a:rPr kumimoji="1" lang="en-US" altLang="zh-CN" sz="1400" b="1">
                <a:solidFill>
                  <a:schemeClr val="bg1"/>
                </a:solidFill>
                <a:latin typeface="微软雅黑" pitchFamily="34" charset="-122"/>
                <a:ea typeface="微软雅黑" pitchFamily="34" charset="-122"/>
              </a:rPr>
              <a:t>n</a:t>
            </a:r>
          </a:p>
        </p:txBody>
      </p:sp>
      <p:sp>
        <p:nvSpPr>
          <p:cNvPr id="9" name="Text Box 7"/>
          <p:cNvSpPr txBox="1">
            <a:spLocks noChangeArrowheads="1"/>
          </p:cNvSpPr>
          <p:nvPr/>
        </p:nvSpPr>
        <p:spPr bwMode="auto">
          <a:xfrm>
            <a:off x="4064223" y="1652266"/>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400" b="1">
                <a:latin typeface="微软雅黑" pitchFamily="34" charset="-122"/>
                <a:ea typeface="微软雅黑" pitchFamily="34" charset="-122"/>
              </a:rPr>
              <a:t>…</a:t>
            </a:r>
          </a:p>
        </p:txBody>
      </p:sp>
      <p:sp>
        <p:nvSpPr>
          <p:cNvPr id="10" name="Line 8"/>
          <p:cNvSpPr>
            <a:spLocks noChangeShapeType="1"/>
          </p:cNvSpPr>
          <p:nvPr/>
        </p:nvSpPr>
        <p:spPr bwMode="auto">
          <a:xfrm>
            <a:off x="1384729" y="2706492"/>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1" name="Rectangle 9"/>
          <p:cNvSpPr>
            <a:spLocks noChangeArrowheads="1"/>
          </p:cNvSpPr>
          <p:nvPr/>
        </p:nvSpPr>
        <p:spPr bwMode="auto">
          <a:xfrm>
            <a:off x="1401812" y="2720008"/>
            <a:ext cx="4435319" cy="275946"/>
          </a:xfrm>
          <a:prstGeom prst="rect">
            <a:avLst/>
          </a:prstGeom>
          <a:solidFill>
            <a:srgbClr val="CC00CC"/>
          </a:solidFill>
          <a:ln w="9525">
            <a:solidFill>
              <a:schemeClr val="tx1"/>
            </a:solidFill>
            <a:miter lim="800000"/>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12" name="Line 10"/>
          <p:cNvSpPr>
            <a:spLocks noChangeShapeType="1"/>
          </p:cNvSpPr>
          <p:nvPr/>
        </p:nvSpPr>
        <p:spPr bwMode="auto">
          <a:xfrm>
            <a:off x="1384729" y="3004964"/>
            <a:ext cx="44658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3" name="Text Box 11"/>
          <p:cNvSpPr txBox="1">
            <a:spLocks noChangeArrowheads="1"/>
          </p:cNvSpPr>
          <p:nvPr/>
        </p:nvSpPr>
        <p:spPr bwMode="auto">
          <a:xfrm>
            <a:off x="2391625" y="2690724"/>
            <a:ext cx="26468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dirty="0">
                <a:solidFill>
                  <a:schemeClr val="bg1"/>
                </a:solidFill>
                <a:latin typeface="微软雅黑" pitchFamily="34" charset="-122"/>
                <a:ea typeface="微软雅黑" pitchFamily="34" charset="-122"/>
              </a:rPr>
              <a:t>由应用程序调用的系统函数</a:t>
            </a:r>
          </a:p>
        </p:txBody>
      </p:sp>
      <p:sp>
        <p:nvSpPr>
          <p:cNvPr id="14" name="Line 12"/>
          <p:cNvSpPr>
            <a:spLocks noChangeShapeType="1"/>
          </p:cNvSpPr>
          <p:nvPr/>
        </p:nvSpPr>
        <p:spPr bwMode="auto">
          <a:xfrm>
            <a:off x="2140014"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3"/>
          <p:cNvSpPr>
            <a:spLocks noChangeShapeType="1"/>
          </p:cNvSpPr>
          <p:nvPr/>
        </p:nvSpPr>
        <p:spPr bwMode="auto">
          <a:xfrm>
            <a:off x="344559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4"/>
          <p:cNvSpPr>
            <a:spLocks noChangeShapeType="1"/>
          </p:cNvSpPr>
          <p:nvPr/>
        </p:nvSpPr>
        <p:spPr bwMode="auto">
          <a:xfrm>
            <a:off x="5095267" y="2182757"/>
            <a:ext cx="0"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5"/>
          <p:cNvSpPr>
            <a:spLocks noChangeShapeType="1"/>
          </p:cNvSpPr>
          <p:nvPr/>
        </p:nvSpPr>
        <p:spPr bwMode="auto">
          <a:xfrm>
            <a:off x="2415773" y="2182757"/>
            <a:ext cx="1029824" cy="52373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6"/>
          <p:cNvSpPr>
            <a:spLocks noChangeShapeType="1"/>
          </p:cNvSpPr>
          <p:nvPr/>
        </p:nvSpPr>
        <p:spPr bwMode="auto">
          <a:xfrm flipH="1">
            <a:off x="3531008" y="2157978"/>
            <a:ext cx="1226271" cy="553019"/>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9" name="Line 17"/>
          <p:cNvSpPr>
            <a:spLocks noChangeShapeType="1"/>
          </p:cNvSpPr>
          <p:nvPr/>
        </p:nvSpPr>
        <p:spPr bwMode="auto">
          <a:xfrm flipH="1">
            <a:off x="2171739" y="2029579"/>
            <a:ext cx="2413497" cy="661145"/>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Line 18"/>
          <p:cNvSpPr>
            <a:spLocks noChangeShapeType="1"/>
          </p:cNvSpPr>
          <p:nvPr/>
        </p:nvSpPr>
        <p:spPr bwMode="auto">
          <a:xfrm>
            <a:off x="3745759" y="2168115"/>
            <a:ext cx="539315" cy="530492"/>
          </a:xfrm>
          <a:prstGeom prst="line">
            <a:avLst/>
          </a:prstGeom>
          <a:noFill/>
          <a:ln w="28575">
            <a:solidFill>
              <a:srgbClr val="0099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nvGrpSpPr>
          <p:cNvPr id="21" name="Group 26"/>
          <p:cNvGrpSpPr>
            <a:grpSpLocks/>
          </p:cNvGrpSpPr>
          <p:nvPr/>
        </p:nvGrpSpPr>
        <p:grpSpPr bwMode="auto">
          <a:xfrm>
            <a:off x="5868854" y="1749130"/>
            <a:ext cx="1703357" cy="479809"/>
            <a:chOff x="4004" y="1563"/>
            <a:chExt cx="1396" cy="426"/>
          </a:xfrm>
        </p:grpSpPr>
        <p:sp>
          <p:nvSpPr>
            <p:cNvPr id="22" name="Text Box 19"/>
            <p:cNvSpPr txBox="1">
              <a:spLocks noChangeArrowheads="1"/>
            </p:cNvSpPr>
            <p:nvPr/>
          </p:nvSpPr>
          <p:spPr bwMode="auto">
            <a:xfrm>
              <a:off x="4366" y="1563"/>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a:latin typeface="微软雅黑" pitchFamily="34" charset="-122"/>
                  <a:ea typeface="微软雅黑" pitchFamily="34" charset="-122"/>
                </a:rPr>
                <a:t>用户地址空间</a:t>
              </a:r>
            </a:p>
            <a:p>
              <a:pPr eaLnBrk="1" hangingPunct="1">
                <a:lnSpc>
                  <a:spcPct val="90000"/>
                </a:lnSpc>
              </a:pPr>
              <a:r>
                <a:rPr kumimoji="1" lang="zh-CN" altLang="en-US" sz="1400" b="1" dirty="0">
                  <a:latin typeface="微软雅黑" pitchFamily="34" charset="-122"/>
                  <a:ea typeface="微软雅黑" pitchFamily="34" charset="-122"/>
                </a:rPr>
                <a:t>中的应用程序</a:t>
              </a:r>
            </a:p>
          </p:txBody>
        </p:sp>
        <p:sp>
          <p:nvSpPr>
            <p:cNvPr id="23" name="Line 20"/>
            <p:cNvSpPr>
              <a:spLocks noChangeShapeType="1"/>
            </p:cNvSpPr>
            <p:nvPr/>
          </p:nvSpPr>
          <p:spPr bwMode="auto">
            <a:xfrm rot="5400000">
              <a:off x="4201" y="1551"/>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grpSp>
      <p:grpSp>
        <p:nvGrpSpPr>
          <p:cNvPr id="24" name="Group 27"/>
          <p:cNvGrpSpPr>
            <a:grpSpLocks/>
          </p:cNvGrpSpPr>
          <p:nvPr/>
        </p:nvGrpSpPr>
        <p:grpSpPr bwMode="auto">
          <a:xfrm>
            <a:off x="5868854" y="2704243"/>
            <a:ext cx="1703357" cy="307483"/>
            <a:chOff x="4004" y="2411"/>
            <a:chExt cx="1396" cy="273"/>
          </a:xfrm>
        </p:grpSpPr>
        <p:sp>
          <p:nvSpPr>
            <p:cNvPr id="25" name="Line 21"/>
            <p:cNvSpPr>
              <a:spLocks noChangeShapeType="1"/>
            </p:cNvSpPr>
            <p:nvPr/>
          </p:nvSpPr>
          <p:spPr bwMode="auto">
            <a:xfrm rot="5400000">
              <a:off x="4201" y="2348"/>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Text Box 23"/>
            <p:cNvSpPr txBox="1">
              <a:spLocks noChangeArrowheads="1"/>
            </p:cNvSpPr>
            <p:nvPr/>
          </p:nvSpPr>
          <p:spPr bwMode="auto">
            <a:xfrm>
              <a:off x="4366" y="2411"/>
              <a:ext cx="1034" cy="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系统调用接口</a:t>
              </a:r>
            </a:p>
          </p:txBody>
        </p:sp>
      </p:grpSp>
      <p:grpSp>
        <p:nvGrpSpPr>
          <p:cNvPr id="27" name="Group 28"/>
          <p:cNvGrpSpPr>
            <a:grpSpLocks/>
          </p:cNvGrpSpPr>
          <p:nvPr/>
        </p:nvGrpSpPr>
        <p:grpSpPr bwMode="auto">
          <a:xfrm>
            <a:off x="5868854" y="3193062"/>
            <a:ext cx="1703357" cy="479809"/>
            <a:chOff x="4004" y="2845"/>
            <a:chExt cx="1396" cy="426"/>
          </a:xfrm>
        </p:grpSpPr>
        <p:sp>
          <p:nvSpPr>
            <p:cNvPr id="28" name="Line 22"/>
            <p:cNvSpPr>
              <a:spLocks noChangeShapeType="1"/>
            </p:cNvSpPr>
            <p:nvPr/>
          </p:nvSpPr>
          <p:spPr bwMode="auto">
            <a:xfrm rot="5400000">
              <a:off x="4201" y="2845"/>
              <a:ext cx="0" cy="394"/>
            </a:xfrm>
            <a:prstGeom prst="line">
              <a:avLst/>
            </a:prstGeom>
            <a:noFill/>
            <a:ln w="28575">
              <a:solidFill>
                <a:srgbClr val="00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Text Box 24"/>
            <p:cNvSpPr txBox="1">
              <a:spLocks noChangeArrowheads="1"/>
            </p:cNvSpPr>
            <p:nvPr/>
          </p:nvSpPr>
          <p:spPr bwMode="auto">
            <a:xfrm>
              <a:off x="4366" y="2845"/>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1400" b="1" dirty="0">
                  <a:latin typeface="微软雅黑" pitchFamily="34" charset="-122"/>
                  <a:ea typeface="微软雅黑" pitchFamily="34" charset="-122"/>
                </a:rPr>
                <a:t>系统地址空间</a:t>
              </a:r>
            </a:p>
            <a:p>
              <a:pPr eaLnBrk="1" hangingPunct="1">
                <a:lnSpc>
                  <a:spcPct val="90000"/>
                </a:lnSpc>
              </a:pPr>
              <a:r>
                <a:rPr kumimoji="1" lang="zh-CN" altLang="en-US" sz="1400" b="1" dirty="0">
                  <a:latin typeface="微软雅黑" pitchFamily="34" charset="-122"/>
                  <a:ea typeface="微软雅黑" pitchFamily="34" charset="-122"/>
                </a:rPr>
                <a:t>中的协议软件</a:t>
              </a:r>
            </a:p>
          </p:txBody>
        </p:sp>
      </p:grpSp>
      <p:sp>
        <p:nvSpPr>
          <p:cNvPr id="30" name="Text Box 25"/>
          <p:cNvSpPr txBox="1">
            <a:spLocks noChangeArrowheads="1"/>
          </p:cNvSpPr>
          <p:nvPr/>
        </p:nvSpPr>
        <p:spPr bwMode="auto">
          <a:xfrm>
            <a:off x="1938687" y="3264016"/>
            <a:ext cx="323300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a:latin typeface="微软雅黑" pitchFamily="34" charset="-122"/>
                <a:ea typeface="微软雅黑" pitchFamily="34" charset="-122"/>
              </a:rPr>
              <a:t>包括 </a:t>
            </a:r>
            <a:r>
              <a:rPr kumimoji="1" lang="en-US" altLang="zh-CN" sz="1400" b="1">
                <a:latin typeface="微软雅黑" pitchFamily="34" charset="-122"/>
                <a:ea typeface="微软雅黑" pitchFamily="34" charset="-122"/>
              </a:rPr>
              <a:t>TCP/IP </a:t>
            </a:r>
            <a:r>
              <a:rPr kumimoji="1" lang="zh-CN" altLang="en-US" sz="1400" b="1">
                <a:latin typeface="微软雅黑" pitchFamily="34" charset="-122"/>
                <a:ea typeface="微软雅黑" pitchFamily="34" charset="-122"/>
              </a:rPr>
              <a:t>协议软件的操作系统内核</a:t>
            </a:r>
          </a:p>
        </p:txBody>
      </p:sp>
    </p:spTree>
    <p:extLst>
      <p:ext uri="{BB962C8B-B14F-4D97-AF65-F5344CB8AC3E}">
        <p14:creationId xmlns:p14="http://schemas.microsoft.com/office/powerpoint/2010/main" val="41097792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21"/>
                                        </p:tgtEl>
                                        <p:attrNameLst>
                                          <p:attrName>style.visibility</p:attrName>
                                        </p:attrNameLst>
                                      </p:cBhvr>
                                      <p:to>
                                        <p:strVal val="visible"/>
                                      </p:to>
                                    </p:set>
                                  </p:childTnLst>
                                </p:cTn>
                              </p:par>
                            </p:childTnLst>
                          </p:cTn>
                        </p:par>
                        <p:par>
                          <p:cTn id="7" fill="hold">
                            <p:stCondLst>
                              <p:cond delay="1000"/>
                            </p:stCondLst>
                            <p:childTnLst>
                              <p:par>
                                <p:cTn id="8" presetID="35" presetClass="emph" presetSubtype="0" repeatCount="3000" fill="hold" nodeType="afterEffect">
                                  <p:stCondLst>
                                    <p:cond delay="0"/>
                                  </p:stCondLst>
                                  <p:childTnLst>
                                    <p:anim calcmode="discrete" valueType="str">
                                      <p:cBhvr>
                                        <p:cTn id="9" dur="1000" fill="hold"/>
                                        <p:tgtEl>
                                          <p:spTgt spid="21"/>
                                        </p:tgtEl>
                                        <p:attrNameLst>
                                          <p:attrName>style.visibility</p:attrName>
                                        </p:attrNameLst>
                                      </p:cBhvr>
                                      <p:tavLst>
                                        <p:tav tm="0">
                                          <p:val>
                                            <p:strVal val="hidden"/>
                                          </p:val>
                                        </p:tav>
                                        <p:tav tm="50000">
                                          <p:val>
                                            <p:strVal val="visible"/>
                                          </p:val>
                                        </p:tav>
                                      </p:tavLst>
                                    </p:anim>
                                  </p:childTnLst>
                                </p:cTn>
                              </p:par>
                            </p:childTnLst>
                          </p:cTn>
                        </p:par>
                        <p:par>
                          <p:cTn id="10" fill="hold">
                            <p:stCondLst>
                              <p:cond delay="4000"/>
                            </p:stCondLst>
                            <p:childTnLst>
                              <p:par>
                                <p:cTn id="11" presetID="1" presetClass="entr" presetSubtype="0" fill="hold" nodeType="afterEffect">
                                  <p:stCondLst>
                                    <p:cond delay="1000"/>
                                  </p:stCondLst>
                                  <p:childTnLst>
                                    <p:set>
                                      <p:cBhvr>
                                        <p:cTn id="12" dur="1" fill="hold">
                                          <p:stCondLst>
                                            <p:cond delay="0"/>
                                          </p:stCondLst>
                                        </p:cTn>
                                        <p:tgtEl>
                                          <p:spTgt spid="24"/>
                                        </p:tgtEl>
                                        <p:attrNameLst>
                                          <p:attrName>style.visibility</p:attrName>
                                        </p:attrNameLst>
                                      </p:cBhvr>
                                      <p:to>
                                        <p:strVal val="visible"/>
                                      </p:to>
                                    </p:set>
                                  </p:childTnLst>
                                </p:cTn>
                              </p:par>
                            </p:childTnLst>
                          </p:cTn>
                        </p:par>
                        <p:par>
                          <p:cTn id="13" fill="hold">
                            <p:stCondLst>
                              <p:cond delay="5000"/>
                            </p:stCondLst>
                            <p:childTnLst>
                              <p:par>
                                <p:cTn id="14" presetID="35" presetClass="emph" presetSubtype="0" repeatCount="3000" fill="hold" nodeType="afterEffect">
                                  <p:stCondLst>
                                    <p:cond delay="0"/>
                                  </p:stCondLst>
                                  <p:childTnLst>
                                    <p:anim calcmode="discrete" valueType="str">
                                      <p:cBhvr>
                                        <p:cTn id="15" dur="1000" fill="hold"/>
                                        <p:tgtEl>
                                          <p:spTgt spid="24"/>
                                        </p:tgtEl>
                                        <p:attrNameLst>
                                          <p:attrName>style.visibility</p:attrName>
                                        </p:attrNameLst>
                                      </p:cBhvr>
                                      <p:tavLst>
                                        <p:tav tm="0">
                                          <p:val>
                                            <p:strVal val="hidden"/>
                                          </p:val>
                                        </p:tav>
                                        <p:tav tm="50000">
                                          <p:val>
                                            <p:strVal val="visible"/>
                                          </p:val>
                                        </p:tav>
                                      </p:tavLst>
                                    </p:anim>
                                  </p:childTnLst>
                                </p:cTn>
                              </p:par>
                            </p:childTnLst>
                          </p:cTn>
                        </p:par>
                        <p:par>
                          <p:cTn id="16" fill="hold">
                            <p:stCondLst>
                              <p:cond delay="8000"/>
                            </p:stCondLst>
                            <p:childTnLst>
                              <p:par>
                                <p:cTn id="17" presetID="1" presetClass="entr" presetSubtype="0" fill="hold" nodeType="afterEffect">
                                  <p:stCondLst>
                                    <p:cond delay="1000"/>
                                  </p:stCondLst>
                                  <p:childTnLst>
                                    <p:set>
                                      <p:cBhvr>
                                        <p:cTn id="18" dur="1" fill="hold">
                                          <p:stCondLst>
                                            <p:cond delay="0"/>
                                          </p:stCondLst>
                                        </p:cTn>
                                        <p:tgtEl>
                                          <p:spTgt spid="27"/>
                                        </p:tgtEl>
                                        <p:attrNameLst>
                                          <p:attrName>style.visibility</p:attrName>
                                        </p:attrNameLst>
                                      </p:cBhvr>
                                      <p:to>
                                        <p:strVal val="visible"/>
                                      </p:to>
                                    </p:set>
                                  </p:childTnLst>
                                </p:cTn>
                              </p:par>
                            </p:childTnLst>
                          </p:cTn>
                        </p:par>
                        <p:par>
                          <p:cTn id="19" fill="hold">
                            <p:stCondLst>
                              <p:cond delay="9000"/>
                            </p:stCondLst>
                            <p:childTnLst>
                              <p:par>
                                <p:cTn id="20" presetID="35" presetClass="emph" presetSubtype="0" repeatCount="3000" fill="hold" nodeType="afterEffect">
                                  <p:stCondLst>
                                    <p:cond delay="0"/>
                                  </p:stCondLst>
                                  <p:childTnLst>
                                    <p:anim calcmode="discrete" valueType="str">
                                      <p:cBhvr>
                                        <p:cTn id="21"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4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57491" y="582429"/>
            <a:ext cx="2247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应用编程接口 </a:t>
            </a:r>
            <a:r>
              <a:rPr lang="en-US" altLang="zh-CN" sz="2000" b="1" dirty="0">
                <a:solidFill>
                  <a:schemeClr val="bg1"/>
                </a:solidFill>
                <a:latin typeface="微软雅黑" pitchFamily="34" charset="-122"/>
                <a:ea typeface="微软雅黑" pitchFamily="34" charset="-122"/>
              </a:rPr>
              <a:t>API</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474666" y="931010"/>
            <a:ext cx="8276142"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系统调用接口</a:t>
            </a:r>
            <a:r>
              <a:rPr lang="zh-CN" altLang="en-US" sz="2000" b="1" dirty="0">
                <a:latin typeface="微软雅黑" pitchFamily="34" charset="-122"/>
                <a:ea typeface="微软雅黑" pitchFamily="34" charset="-122"/>
              </a:rPr>
              <a:t>实际上就是应用进程的控制权和操作系统的控制权进行转换的一个接口。</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使用系统调用之前要编写一些程序，特别是需要设置系统调用中的许多参数，因此这种系统调用接口又称为</a:t>
            </a:r>
            <a:r>
              <a:rPr lang="zh-CN" altLang="en-US" sz="2000" b="1" dirty="0">
                <a:solidFill>
                  <a:srgbClr val="C00000"/>
                </a:solidFill>
                <a:latin typeface="微软雅黑" pitchFamily="34" charset="-122"/>
                <a:ea typeface="微软雅黑" pitchFamily="34" charset="-122"/>
              </a:rPr>
              <a:t>应用编程接口 </a:t>
            </a:r>
            <a:r>
              <a:rPr lang="en-US" altLang="zh-CN" sz="2000" b="1" dirty="0">
                <a:solidFill>
                  <a:srgbClr val="C00000"/>
                </a:solidFill>
                <a:latin typeface="微软雅黑" pitchFamily="34" charset="-122"/>
                <a:ea typeface="微软雅黑" pitchFamily="34" charset="-122"/>
              </a:rPr>
              <a:t>API </a:t>
            </a:r>
            <a:r>
              <a:rPr lang="en-US" altLang="zh-CN" sz="2000" b="1" dirty="0">
                <a:latin typeface="微软雅黑" pitchFamily="34" charset="-122"/>
                <a:ea typeface="微软雅黑" pitchFamily="34" charset="-122"/>
              </a:rPr>
              <a:t>(Application Programming Interface) </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p14="http://schemas.microsoft.com/office/powerpoint/2010/main" val="34804624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6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62538" y="579391"/>
            <a:ext cx="28376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几种应用编程接口 </a:t>
            </a:r>
            <a:r>
              <a:rPr lang="en-US" altLang="zh-CN" sz="2000" b="1" dirty="0">
                <a:solidFill>
                  <a:schemeClr val="bg1"/>
                </a:solidFill>
                <a:latin typeface="微软雅黑" pitchFamily="34" charset="-122"/>
                <a:ea typeface="微软雅黑" pitchFamily="34" charset="-122"/>
              </a:rPr>
              <a:t>API</a:t>
            </a:r>
            <a:endParaRPr lang="zh-CN" altLang="en-US" sz="2000" b="1" dirty="0">
              <a:solidFill>
                <a:schemeClr val="bg1"/>
              </a:solidFill>
              <a:latin typeface="微软雅黑" pitchFamily="34" charset="-122"/>
              <a:ea typeface="微软雅黑" pitchFamily="34" charset="-122"/>
            </a:endParaRPr>
          </a:p>
        </p:txBody>
      </p:sp>
      <p:sp>
        <p:nvSpPr>
          <p:cNvPr id="4" name="Rectangle 68"/>
          <p:cNvSpPr>
            <a:spLocks noChangeArrowheads="1"/>
          </p:cNvSpPr>
          <p:nvPr/>
        </p:nvSpPr>
        <p:spPr bwMode="auto">
          <a:xfrm>
            <a:off x="556963" y="97369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Berkeley </a:t>
            </a:r>
            <a:r>
              <a:rPr lang="en-US" altLang="zh-CN" sz="2000" b="1" dirty="0">
                <a:latin typeface="微软雅黑" pitchFamily="34" charset="-122"/>
                <a:ea typeface="微软雅黑" pitchFamily="34" charset="-122"/>
              </a:rPr>
              <a:t>UNIX </a:t>
            </a:r>
            <a:r>
              <a:rPr lang="zh-CN" altLang="en-US" sz="2000" b="1" dirty="0">
                <a:latin typeface="微软雅黑" pitchFamily="34" charset="-122"/>
                <a:ea typeface="微软雅黑" pitchFamily="34" charset="-122"/>
              </a:rPr>
              <a:t>操作系统定义了一种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，它又称为</a:t>
            </a:r>
            <a:r>
              <a:rPr lang="zh-CN" altLang="en-US" sz="2000" b="1" dirty="0">
                <a:solidFill>
                  <a:srgbClr val="C00000"/>
                </a:solidFill>
                <a:latin typeface="微软雅黑" pitchFamily="34" charset="-122"/>
                <a:ea typeface="微软雅黑" pitchFamily="34" charset="-122"/>
              </a:rPr>
              <a:t>套接字接口 </a:t>
            </a:r>
            <a:r>
              <a:rPr lang="en-US" altLang="zh-CN" sz="2000" b="1" dirty="0">
                <a:latin typeface="微软雅黑" pitchFamily="34" charset="-122"/>
                <a:ea typeface="微软雅黑" pitchFamily="34" charset="-122"/>
              </a:rPr>
              <a:t>(socket interface)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微软</a:t>
            </a:r>
            <a:r>
              <a:rPr lang="zh-CN" altLang="en-US" sz="2000" b="1" dirty="0">
                <a:latin typeface="微软雅黑" pitchFamily="34" charset="-122"/>
                <a:ea typeface="微软雅黑" pitchFamily="34" charset="-122"/>
              </a:rPr>
              <a:t>公司在其操作系统中采用了套接字接口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，形成了一个稍有不同的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，并称之为  </a:t>
            </a:r>
            <a:r>
              <a:rPr lang="en-US" altLang="zh-CN" sz="2000" b="1" dirty="0">
                <a:solidFill>
                  <a:srgbClr val="C00000"/>
                </a:solidFill>
                <a:latin typeface="微软雅黑" pitchFamily="34" charset="-122"/>
                <a:ea typeface="微软雅黑" pitchFamily="34" charset="-122"/>
              </a:rPr>
              <a:t>Windows Socket</a:t>
            </a:r>
            <a:r>
              <a:rPr lang="zh-CN" altLang="en-US" sz="2000" b="1" dirty="0">
                <a:solidFill>
                  <a:srgbClr val="C00000"/>
                </a:solidFill>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AT&amp;T </a:t>
            </a:r>
            <a:r>
              <a:rPr lang="zh-CN" altLang="en-US" sz="2000" b="1" dirty="0">
                <a:latin typeface="微软雅黑" pitchFamily="34" charset="-122"/>
                <a:ea typeface="微软雅黑" pitchFamily="34" charset="-122"/>
              </a:rPr>
              <a:t>为其 </a:t>
            </a:r>
            <a:r>
              <a:rPr lang="en-US" altLang="zh-CN" sz="2000" b="1" dirty="0">
                <a:latin typeface="微软雅黑" pitchFamily="34" charset="-122"/>
                <a:ea typeface="微软雅黑" pitchFamily="34" charset="-122"/>
              </a:rPr>
              <a:t>UNIX </a:t>
            </a:r>
            <a:r>
              <a:rPr lang="zh-CN" altLang="en-US" sz="2000" b="1" dirty="0">
                <a:latin typeface="微软雅黑" pitchFamily="34" charset="-122"/>
                <a:ea typeface="微软雅黑" pitchFamily="34" charset="-122"/>
              </a:rPr>
              <a:t>系统 </a:t>
            </a:r>
            <a:r>
              <a:rPr lang="en-US" altLang="zh-CN" sz="2000" b="1" dirty="0">
                <a:latin typeface="微软雅黑" pitchFamily="34" charset="-122"/>
                <a:ea typeface="微软雅黑" pitchFamily="34" charset="-122"/>
              </a:rPr>
              <a:t>V </a:t>
            </a:r>
            <a:r>
              <a:rPr lang="zh-CN" altLang="en-US" sz="2000" b="1" dirty="0">
                <a:latin typeface="微软雅黑" pitchFamily="34" charset="-122"/>
                <a:ea typeface="微软雅黑" pitchFamily="34" charset="-122"/>
              </a:rPr>
              <a:t>定义了一种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，简写为 </a:t>
            </a:r>
            <a:r>
              <a:rPr lang="en-US" altLang="zh-CN" sz="2000" b="1" dirty="0">
                <a:solidFill>
                  <a:srgbClr val="C00000"/>
                </a:solidFill>
                <a:latin typeface="微软雅黑" pitchFamily="34" charset="-122"/>
                <a:ea typeface="微软雅黑" pitchFamily="34" charset="-122"/>
              </a:rPr>
              <a:t>TLI</a:t>
            </a:r>
            <a:r>
              <a:rPr lang="en-US" altLang="zh-CN" sz="2000" b="1" dirty="0">
                <a:latin typeface="微软雅黑" pitchFamily="34" charset="-122"/>
                <a:ea typeface="微软雅黑" pitchFamily="34" charset="-122"/>
              </a:rPr>
              <a:t> (Transport Layer Interface)</a:t>
            </a:r>
            <a:r>
              <a:rPr lang="zh-CN" altLang="en-US" sz="2000" b="1" dirty="0">
                <a:latin typeface="微软雅黑" pitchFamily="34" charset="-122"/>
                <a:ea typeface="微软雅黑" pitchFamily="34" charset="-122"/>
              </a:rPr>
              <a:t>。 </a:t>
            </a:r>
          </a:p>
        </p:txBody>
      </p:sp>
    </p:spTree>
    <p:extLst>
      <p:ext uri="{BB962C8B-B14F-4D97-AF65-F5344CB8AC3E}">
        <p14:creationId xmlns:p14="http://schemas.microsoft.com/office/powerpoint/2010/main" val="15693426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55183" y="582898"/>
            <a:ext cx="38523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应用进程通过套接字接入到网络</a:t>
            </a:r>
          </a:p>
        </p:txBody>
      </p:sp>
      <p:sp>
        <p:nvSpPr>
          <p:cNvPr id="5" name="AutoShape 71"/>
          <p:cNvSpPr>
            <a:spLocks noChangeArrowheads="1"/>
          </p:cNvSpPr>
          <p:nvPr/>
        </p:nvSpPr>
        <p:spPr bwMode="auto">
          <a:xfrm>
            <a:off x="1977318" y="1694767"/>
            <a:ext cx="372733" cy="972704"/>
          </a:xfrm>
          <a:prstGeom prst="upArrow">
            <a:avLst>
              <a:gd name="adj1" fmla="val 50000"/>
              <a:gd name="adj2" fmla="val 70678"/>
            </a:avLst>
          </a:prstGeom>
          <a:solidFill>
            <a:srgbClr val="00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sz="1400" b="1">
              <a:latin typeface="微软雅黑" pitchFamily="34" charset="-122"/>
              <a:ea typeface="微软雅黑" pitchFamily="34" charset="-122"/>
            </a:endParaRPr>
          </a:p>
        </p:txBody>
      </p:sp>
      <p:graphicFrame>
        <p:nvGraphicFramePr>
          <p:cNvPr id="6" name="Object 72"/>
          <p:cNvGraphicFramePr>
            <a:graphicFrameLocks noChangeAspect="1"/>
          </p:cNvGraphicFramePr>
          <p:nvPr>
            <p:extLst>
              <p:ext uri="{D42A27DB-BD31-4B8C-83A1-F6EECF244321}">
                <p14:modId xmlns:p14="http://schemas.microsoft.com/office/powerpoint/2010/main" val="4206705044"/>
              </p:ext>
            </p:extLst>
          </p:nvPr>
        </p:nvGraphicFramePr>
        <p:xfrm>
          <a:off x="4158128" y="2372394"/>
          <a:ext cx="2448672" cy="1651498"/>
        </p:xfrm>
        <a:graphic>
          <a:graphicData uri="http://schemas.openxmlformats.org/presentationml/2006/ole">
            <mc:AlternateContent xmlns:mc="http://schemas.openxmlformats.org/markup-compatibility/2006">
              <mc:Choice xmlns:v="urn:schemas-microsoft-com:vml" Requires="v">
                <p:oleObj name="VISIO" r:id="rId2" imgW="1687068" imgH="964692" progId="">
                  <p:embed/>
                </p:oleObj>
              </mc:Choice>
              <mc:Fallback>
                <p:oleObj name="VISIO" r:id="rId2" imgW="1687068" imgH="964692" progId="">
                  <p:embed/>
                  <p:pic>
                    <p:nvPicPr>
                      <p:cNvPr id="0" name="Picture 7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58128" y="2372394"/>
                        <a:ext cx="2448672" cy="1651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73"/>
          <p:cNvSpPr>
            <a:spLocks noChangeArrowheads="1"/>
          </p:cNvSpPr>
          <p:nvPr/>
        </p:nvSpPr>
        <p:spPr bwMode="auto">
          <a:xfrm>
            <a:off x="2673509" y="2181120"/>
            <a:ext cx="1394909" cy="534171"/>
          </a:xfrm>
          <a:prstGeom prst="rect">
            <a:avLst/>
          </a:prstGeom>
          <a:solidFill>
            <a:srgbClr val="00FFCC"/>
          </a:solidFill>
          <a:ln w="12700">
            <a:solidFill>
              <a:schemeClr val="tx1"/>
            </a:solidFill>
            <a:miter lim="800000"/>
            <a:headEnd/>
            <a:tailEnd/>
          </a:ln>
          <a:effectLst/>
        </p:spPr>
        <p:txBody>
          <a:bodyPr wrap="none" anchor="ctr"/>
          <a:lstStyle/>
          <a:p>
            <a:pPr algn="ctr" eaLnBrk="1" hangingPunct="1"/>
            <a:r>
              <a:rPr kumimoji="1" lang="zh-CN" altLang="en-US" sz="1400" b="1" dirty="0">
                <a:latin typeface="微软雅黑" pitchFamily="34" charset="-122"/>
                <a:ea typeface="微软雅黑" pitchFamily="34" charset="-122"/>
              </a:rPr>
              <a:t>应用进程</a:t>
            </a:r>
          </a:p>
        </p:txBody>
      </p:sp>
      <p:sp>
        <p:nvSpPr>
          <p:cNvPr id="8" name="Rectangle 74"/>
          <p:cNvSpPr>
            <a:spLocks noChangeArrowheads="1"/>
          </p:cNvSpPr>
          <p:nvPr/>
        </p:nvSpPr>
        <p:spPr bwMode="auto">
          <a:xfrm>
            <a:off x="2673509" y="3058186"/>
            <a:ext cx="1394909" cy="825749"/>
          </a:xfrm>
          <a:prstGeom prst="rect">
            <a:avLst/>
          </a:prstGeom>
          <a:solidFill>
            <a:srgbClr val="0000FF"/>
          </a:solidFill>
          <a:ln w="12700">
            <a:solidFill>
              <a:schemeClr val="tx1"/>
            </a:solidFill>
            <a:miter lim="800000"/>
            <a:headEnd/>
            <a:tailEnd/>
          </a:ln>
          <a:effectLst/>
        </p:spPr>
        <p:txBody>
          <a:bodyPr wrap="none" anchor="ctr"/>
          <a:lstStyle/>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a:p>
            <a:pPr algn="ctr" eaLnBrk="1" hangingPunct="1">
              <a:spcAft>
                <a:spcPct val="30000"/>
              </a:spcAft>
            </a:pPr>
            <a:r>
              <a:rPr kumimoji="1" lang="en-US" altLang="zh-CN" sz="1400" b="1">
                <a:solidFill>
                  <a:schemeClr val="bg1"/>
                </a:solidFill>
                <a:latin typeface="微软雅黑" pitchFamily="34" charset="-122"/>
                <a:ea typeface="微软雅黑" pitchFamily="34" charset="-122"/>
              </a:rPr>
              <a:t>TCP</a:t>
            </a:r>
          </a:p>
          <a:p>
            <a:pPr algn="ctr" eaLnBrk="1" hangingPunct="1"/>
            <a:endParaRPr kumimoji="1" lang="en-US" altLang="zh-CN" sz="1400" b="1">
              <a:solidFill>
                <a:schemeClr val="bg1"/>
              </a:solidFill>
              <a:latin typeface="微软雅黑" pitchFamily="34" charset="-122"/>
              <a:ea typeface="微软雅黑" pitchFamily="34" charset="-122"/>
            </a:endParaRPr>
          </a:p>
        </p:txBody>
      </p:sp>
      <p:sp>
        <p:nvSpPr>
          <p:cNvPr id="9" name="Line 75"/>
          <p:cNvSpPr>
            <a:spLocks noChangeShapeType="1"/>
          </p:cNvSpPr>
          <p:nvPr/>
        </p:nvSpPr>
        <p:spPr bwMode="auto">
          <a:xfrm>
            <a:off x="4068418" y="3396417"/>
            <a:ext cx="2634408" cy="5831"/>
          </a:xfrm>
          <a:prstGeom prst="line">
            <a:avLst/>
          </a:prstGeom>
          <a:noFill/>
          <a:ln w="5715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7" name="Text Box 103"/>
          <p:cNvSpPr txBox="1">
            <a:spLocks noChangeArrowheads="1"/>
          </p:cNvSpPr>
          <p:nvPr/>
        </p:nvSpPr>
        <p:spPr bwMode="auto">
          <a:xfrm>
            <a:off x="913053" y="1893040"/>
            <a:ext cx="1082348"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由应用程序</a:t>
            </a:r>
          </a:p>
          <a:p>
            <a:pPr algn="ctr" eaLnBrk="1" hangingPunct="1"/>
            <a:r>
              <a:rPr kumimoji="1" lang="zh-CN" altLang="en-US" sz="1400" b="1">
                <a:latin typeface="微软雅黑" pitchFamily="34" charset="-122"/>
                <a:ea typeface="微软雅黑" pitchFamily="34" charset="-122"/>
              </a:rPr>
              <a:t>控制</a:t>
            </a:r>
          </a:p>
        </p:txBody>
      </p:sp>
      <p:sp>
        <p:nvSpPr>
          <p:cNvPr id="38" name="Text Box 104"/>
          <p:cNvSpPr txBox="1">
            <a:spLocks noChangeArrowheads="1"/>
          </p:cNvSpPr>
          <p:nvPr/>
        </p:nvSpPr>
        <p:spPr bwMode="auto">
          <a:xfrm>
            <a:off x="5023984" y="2963388"/>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互联网</a:t>
            </a:r>
          </a:p>
        </p:txBody>
      </p:sp>
      <p:sp>
        <p:nvSpPr>
          <p:cNvPr id="39" name="Text Box 105"/>
          <p:cNvSpPr txBox="1">
            <a:spLocks noChangeArrowheads="1"/>
          </p:cNvSpPr>
          <p:nvPr/>
        </p:nvSpPr>
        <p:spPr bwMode="auto">
          <a:xfrm>
            <a:off x="913053" y="3108337"/>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400" b="1">
                <a:latin typeface="微软雅黑" pitchFamily="34" charset="-122"/>
                <a:ea typeface="微软雅黑" pitchFamily="34" charset="-122"/>
              </a:rPr>
              <a:t>由操作系统</a:t>
            </a:r>
          </a:p>
          <a:p>
            <a:pPr algn="ctr" eaLnBrk="1" hangingPunct="1"/>
            <a:r>
              <a:rPr kumimoji="1" lang="zh-CN" altLang="en-US" sz="1400" b="1">
                <a:latin typeface="微软雅黑" pitchFamily="34" charset="-122"/>
                <a:ea typeface="微软雅黑" pitchFamily="34" charset="-122"/>
              </a:rPr>
              <a:t>控制</a:t>
            </a:r>
          </a:p>
        </p:txBody>
      </p:sp>
      <p:sp>
        <p:nvSpPr>
          <p:cNvPr id="40" name="Text Box 106"/>
          <p:cNvSpPr txBox="1">
            <a:spLocks noChangeArrowheads="1"/>
          </p:cNvSpPr>
          <p:nvPr/>
        </p:nvSpPr>
        <p:spPr bwMode="auto">
          <a:xfrm>
            <a:off x="3119460" y="151165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客户</a:t>
            </a:r>
          </a:p>
        </p:txBody>
      </p:sp>
      <p:sp>
        <p:nvSpPr>
          <p:cNvPr id="41" name="Text Box 107"/>
          <p:cNvSpPr txBox="1">
            <a:spLocks noChangeArrowheads="1"/>
          </p:cNvSpPr>
          <p:nvPr/>
        </p:nvSpPr>
        <p:spPr bwMode="auto">
          <a:xfrm>
            <a:off x="7025253" y="120387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400" b="1" dirty="0">
                <a:latin typeface="微软雅黑" pitchFamily="34" charset="-122"/>
                <a:ea typeface="微软雅黑" pitchFamily="34" charset="-122"/>
              </a:rPr>
              <a:t>服务器</a:t>
            </a:r>
          </a:p>
        </p:txBody>
      </p:sp>
      <p:sp>
        <p:nvSpPr>
          <p:cNvPr id="42" name="Rectangle 108"/>
          <p:cNvSpPr>
            <a:spLocks noChangeArrowheads="1"/>
          </p:cNvSpPr>
          <p:nvPr/>
        </p:nvSpPr>
        <p:spPr bwMode="auto">
          <a:xfrm>
            <a:off x="2996966" y="2675635"/>
            <a:ext cx="747995" cy="429203"/>
          </a:xfrm>
          <a:prstGeom prst="rect">
            <a:avLst/>
          </a:prstGeom>
          <a:solidFill>
            <a:srgbClr val="CC00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套接字</a:t>
            </a:r>
          </a:p>
        </p:txBody>
      </p:sp>
      <p:sp>
        <p:nvSpPr>
          <p:cNvPr id="43" name="Rectangle 109"/>
          <p:cNvSpPr>
            <a:spLocks noChangeArrowheads="1"/>
          </p:cNvSpPr>
          <p:nvPr/>
        </p:nvSpPr>
        <p:spPr bwMode="auto">
          <a:xfrm>
            <a:off x="6692718" y="3073347"/>
            <a:ext cx="1396172" cy="825749"/>
          </a:xfrm>
          <a:prstGeom prst="rect">
            <a:avLst/>
          </a:prstGeom>
          <a:solidFill>
            <a:srgbClr val="0000FF"/>
          </a:solidFill>
          <a:ln w="12700" algn="ctr">
            <a:solidFill>
              <a:schemeClr val="tx1"/>
            </a:solidFill>
            <a:miter lim="800000"/>
            <a:headEnd/>
            <a:tailEnd/>
          </a:ln>
          <a:effectLst/>
        </p:spPr>
        <p:txBody>
          <a:bodyPr wrap="none" anchor="ctr"/>
          <a:lstStyle/>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a:p>
            <a:pPr algn="ctr" eaLnBrk="1" hangingPunct="1">
              <a:spcAft>
                <a:spcPct val="30000"/>
              </a:spcAft>
            </a:pPr>
            <a:r>
              <a:rPr kumimoji="1" lang="en-US" altLang="zh-CN" sz="1400" b="1">
                <a:solidFill>
                  <a:schemeClr val="bg1"/>
                </a:solidFill>
                <a:latin typeface="微软雅黑" pitchFamily="34" charset="-122"/>
                <a:ea typeface="微软雅黑" pitchFamily="34" charset="-122"/>
              </a:rPr>
              <a:t>TCP</a:t>
            </a:r>
          </a:p>
          <a:p>
            <a:pPr algn="ctr" eaLnBrk="1" hangingPunct="1">
              <a:spcAft>
                <a:spcPct val="30000"/>
              </a:spcAft>
            </a:pPr>
            <a:endParaRPr kumimoji="1" lang="en-US" altLang="zh-CN" sz="1400" b="1">
              <a:solidFill>
                <a:schemeClr val="bg1"/>
              </a:solidFill>
              <a:latin typeface="微软雅黑" pitchFamily="34" charset="-122"/>
              <a:ea typeface="微软雅黑" pitchFamily="34" charset="-122"/>
            </a:endParaRPr>
          </a:p>
        </p:txBody>
      </p:sp>
      <p:sp>
        <p:nvSpPr>
          <p:cNvPr id="44" name="Rectangle 110"/>
          <p:cNvSpPr>
            <a:spLocks noChangeArrowheads="1"/>
          </p:cNvSpPr>
          <p:nvPr/>
        </p:nvSpPr>
        <p:spPr bwMode="auto">
          <a:xfrm>
            <a:off x="6692718" y="2181120"/>
            <a:ext cx="1396172" cy="534171"/>
          </a:xfrm>
          <a:prstGeom prst="rect">
            <a:avLst/>
          </a:prstGeom>
          <a:solidFill>
            <a:srgbClr val="00FFCC"/>
          </a:solidFill>
          <a:ln w="12700" algn="ctr">
            <a:solidFill>
              <a:schemeClr val="tx1"/>
            </a:solidFill>
            <a:miter lim="800000"/>
            <a:headEnd/>
            <a:tailEnd/>
          </a:ln>
          <a:effectLst/>
        </p:spPr>
        <p:txBody>
          <a:bodyPr wrap="none" anchor="ctr"/>
          <a:lstStyle/>
          <a:p>
            <a:pPr algn="ctr" eaLnBrk="1" hangingPunct="1"/>
            <a:r>
              <a:rPr kumimoji="1" lang="zh-CN" altLang="en-US" sz="1400" b="1">
                <a:latin typeface="微软雅黑" pitchFamily="34" charset="-122"/>
                <a:ea typeface="微软雅黑" pitchFamily="34" charset="-122"/>
              </a:rPr>
              <a:t>应用进程</a:t>
            </a:r>
          </a:p>
        </p:txBody>
      </p:sp>
      <p:sp>
        <p:nvSpPr>
          <p:cNvPr id="45" name="Rectangle 111"/>
          <p:cNvSpPr>
            <a:spLocks noChangeArrowheads="1"/>
          </p:cNvSpPr>
          <p:nvPr/>
        </p:nvSpPr>
        <p:spPr bwMode="auto">
          <a:xfrm>
            <a:off x="7017438" y="2675635"/>
            <a:ext cx="746731" cy="429203"/>
          </a:xfrm>
          <a:prstGeom prst="rect">
            <a:avLst/>
          </a:prstGeom>
          <a:solidFill>
            <a:srgbClr val="CC00CC"/>
          </a:solidFill>
          <a:ln w="2857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itchFamily="34" charset="-122"/>
                <a:ea typeface="微软雅黑" pitchFamily="34" charset="-122"/>
              </a:rPr>
              <a:t>套接字</a:t>
            </a:r>
          </a:p>
        </p:txBody>
      </p:sp>
      <p:sp>
        <p:nvSpPr>
          <p:cNvPr id="73" name="Line 139"/>
          <p:cNvSpPr>
            <a:spLocks noChangeShapeType="1"/>
          </p:cNvSpPr>
          <p:nvPr/>
        </p:nvSpPr>
        <p:spPr bwMode="auto">
          <a:xfrm>
            <a:off x="933664" y="3073347"/>
            <a:ext cx="1790386"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74" name="AutoShape 140"/>
          <p:cNvSpPr>
            <a:spLocks noChangeArrowheads="1"/>
          </p:cNvSpPr>
          <p:nvPr/>
        </p:nvSpPr>
        <p:spPr bwMode="auto">
          <a:xfrm flipV="1">
            <a:off x="1978582" y="3074514"/>
            <a:ext cx="373997" cy="889896"/>
          </a:xfrm>
          <a:prstGeom prst="upArrow">
            <a:avLst>
              <a:gd name="adj1" fmla="val 50000"/>
              <a:gd name="adj2" fmla="val 64443"/>
            </a:avLst>
          </a:prstGeom>
          <a:solidFill>
            <a:srgbClr val="0000FF"/>
          </a:solidFill>
          <a:ln w="12700" algn="ctr">
            <a:solidFill>
              <a:schemeClr val="tx1"/>
            </a:solidFill>
            <a:miter lim="800000"/>
            <a:headEnd/>
            <a:tailEnd/>
          </a:ln>
          <a:effectLst/>
        </p:spPr>
        <p:txBody>
          <a:bodyPr wrap="none" anchor="ctr"/>
          <a:lstStyle/>
          <a:p>
            <a:pPr eaLnBrk="1" hangingPunct="1"/>
            <a:endParaRPr lang="zh-CN" altLang="en-US" sz="1400" b="1">
              <a:latin typeface="微软雅黑" pitchFamily="34" charset="-122"/>
              <a:ea typeface="微软雅黑" pitchFamily="34" charset="-122"/>
            </a:endParaRPr>
          </a:p>
        </p:txBody>
      </p:sp>
      <p:sp>
        <p:nvSpPr>
          <p:cNvPr id="75" name="Line 141"/>
          <p:cNvSpPr>
            <a:spLocks noChangeShapeType="1"/>
          </p:cNvSpPr>
          <p:nvPr/>
        </p:nvSpPr>
        <p:spPr bwMode="auto">
          <a:xfrm>
            <a:off x="933664" y="2667471"/>
            <a:ext cx="1715839"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pic>
        <p:nvPicPr>
          <p:cNvPr id="7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88017" y="1762850"/>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78" name="图片 7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082937" y="1480714"/>
            <a:ext cx="619871" cy="867819"/>
          </a:xfrm>
          <a:prstGeom prst="rect">
            <a:avLst/>
          </a:prstGeom>
        </p:spPr>
      </p:pic>
    </p:spTree>
    <p:extLst>
      <p:ext uri="{BB962C8B-B14F-4D97-AF65-F5344CB8AC3E}">
        <p14:creationId xmlns:p14="http://schemas.microsoft.com/office/powerpoint/2010/main" val="3191315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2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80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套接字的作用</a:t>
            </a:r>
          </a:p>
        </p:txBody>
      </p:sp>
      <p:sp>
        <p:nvSpPr>
          <p:cNvPr id="4" name="Rectangle 68"/>
          <p:cNvSpPr>
            <a:spLocks noChangeArrowheads="1"/>
          </p:cNvSpPr>
          <p:nvPr/>
        </p:nvSpPr>
        <p:spPr bwMode="auto">
          <a:xfrm>
            <a:off x="556962" y="971244"/>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当应用进程需要使用网络进行通信时就发出系统调用，请求操作系统为其</a:t>
            </a:r>
            <a:r>
              <a:rPr lang="zh-CN" altLang="en-US" sz="2000" b="1" dirty="0">
                <a:solidFill>
                  <a:srgbClr val="0000FF"/>
                </a:solidFill>
                <a:latin typeface="微软雅黑" pitchFamily="34" charset="-122"/>
                <a:ea typeface="微软雅黑" pitchFamily="34" charset="-122"/>
              </a:rPr>
              <a:t>创建</a:t>
            </a:r>
            <a:r>
              <a:rPr lang="zh-CN" altLang="en-US" sz="2000" b="1" dirty="0">
                <a:solidFill>
                  <a:srgbClr val="C00000"/>
                </a:solidFill>
                <a:latin typeface="微软雅黑" pitchFamily="34" charset="-122"/>
                <a:ea typeface="微软雅黑" pitchFamily="34" charset="-122"/>
              </a:rPr>
              <a:t>套接字</a:t>
            </a:r>
            <a:r>
              <a:rPr lang="zh-CN" altLang="en-US" sz="2000" b="1" dirty="0">
                <a:latin typeface="微软雅黑" pitchFamily="34" charset="-122"/>
                <a:ea typeface="微软雅黑" pitchFamily="34" charset="-122"/>
              </a:rPr>
              <a:t>，以便把网络通信所需要的系统资源分配给该应用进程。</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操作系统为这些资源的总和用一个</a:t>
            </a:r>
            <a:r>
              <a:rPr lang="zh-CN" altLang="en-US" sz="2000" b="1" dirty="0">
                <a:solidFill>
                  <a:srgbClr val="C00000"/>
                </a:solidFill>
                <a:latin typeface="微软雅黑" pitchFamily="34" charset="-122"/>
                <a:ea typeface="微软雅黑" pitchFamily="34" charset="-122"/>
              </a:rPr>
              <a:t>套接字描述符</a:t>
            </a:r>
            <a:r>
              <a:rPr lang="zh-CN" altLang="en-US" sz="2000" b="1" dirty="0">
                <a:latin typeface="微软雅黑" pitchFamily="34" charset="-122"/>
                <a:ea typeface="微软雅黑" pitchFamily="34" charset="-122"/>
              </a:rPr>
              <a:t>的号码来表示。</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应用进程所进行的网络操作都必须使用这个套接字描述符。</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通信完毕后，应用进程通过一个</a:t>
            </a:r>
            <a:r>
              <a:rPr lang="zh-CN" altLang="en-US" sz="2000" b="1" dirty="0">
                <a:solidFill>
                  <a:srgbClr val="0000FF"/>
                </a:solidFill>
                <a:latin typeface="微软雅黑" pitchFamily="34" charset="-122"/>
                <a:ea typeface="微软雅黑" pitchFamily="34" charset="-122"/>
              </a:rPr>
              <a:t>关闭</a:t>
            </a:r>
            <a:r>
              <a:rPr lang="zh-CN" altLang="en-US" sz="2000" b="1" dirty="0">
                <a:latin typeface="微软雅黑" pitchFamily="34" charset="-122"/>
                <a:ea typeface="微软雅黑" pitchFamily="34" charset="-122"/>
              </a:rPr>
              <a:t>套接字的系统调用通知操作系统回收与该套接字描述符相关的所有资源。</a:t>
            </a:r>
          </a:p>
        </p:txBody>
      </p:sp>
    </p:spTree>
    <p:extLst>
      <p:ext uri="{BB962C8B-B14F-4D97-AF65-F5344CB8AC3E}">
        <p14:creationId xmlns:p14="http://schemas.microsoft.com/office/powerpoint/2010/main" val="194375568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060358" y="582898"/>
            <a:ext cx="30419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调用 </a:t>
            </a:r>
            <a:r>
              <a:rPr lang="en-US" altLang="zh-CN" sz="2000" b="1" dirty="0">
                <a:solidFill>
                  <a:schemeClr val="bg1"/>
                </a:solidFill>
                <a:latin typeface="微软雅黑" pitchFamily="34" charset="-122"/>
                <a:ea typeface="微软雅黑" pitchFamily="34" charset="-122"/>
              </a:rPr>
              <a:t>socket </a:t>
            </a:r>
            <a:r>
              <a:rPr lang="zh-CN" altLang="en-US" sz="2000" b="1" dirty="0">
                <a:solidFill>
                  <a:schemeClr val="bg1"/>
                </a:solidFill>
                <a:latin typeface="微软雅黑" pitchFamily="34" charset="-122"/>
                <a:ea typeface="微软雅黑" pitchFamily="34" charset="-122"/>
              </a:rPr>
              <a:t>创建套接字</a:t>
            </a:r>
          </a:p>
        </p:txBody>
      </p:sp>
      <p:sp>
        <p:nvSpPr>
          <p:cNvPr id="5" name="Rectangle 4"/>
          <p:cNvSpPr>
            <a:spLocks noChangeArrowheads="1"/>
          </p:cNvSpPr>
          <p:nvPr/>
        </p:nvSpPr>
        <p:spPr bwMode="auto">
          <a:xfrm>
            <a:off x="1835081" y="1837418"/>
            <a:ext cx="1979702" cy="2055845"/>
          </a:xfrm>
          <a:prstGeom prst="rect">
            <a:avLst/>
          </a:prstGeom>
          <a:solidFill>
            <a:srgbClr val="99FFCC"/>
          </a:solidFill>
          <a:ln w="19050">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6" name="Text Box 5"/>
          <p:cNvSpPr txBox="1">
            <a:spLocks noChangeArrowheads="1"/>
          </p:cNvSpPr>
          <p:nvPr/>
        </p:nvSpPr>
        <p:spPr bwMode="auto">
          <a:xfrm>
            <a:off x="1792263" y="1385976"/>
            <a:ext cx="2031325"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pitchFamily="34" charset="-122"/>
                <a:ea typeface="微软雅黑" pitchFamily="34" charset="-122"/>
              </a:rPr>
              <a:t>套接字描述符表</a:t>
            </a:r>
          </a:p>
          <a:p>
            <a:pPr algn="ctr" eaLnBrk="1" hangingPunct="1"/>
            <a:r>
              <a:rPr lang="zh-CN" altLang="en-US" sz="1200" b="1" dirty="0">
                <a:solidFill>
                  <a:srgbClr val="0000FF"/>
                </a:solidFill>
                <a:latin typeface="微软雅黑" pitchFamily="34" charset="-122"/>
                <a:ea typeface="微软雅黑" pitchFamily="34" charset="-122"/>
              </a:rPr>
              <a:t>（每一个进程一个描述符）</a:t>
            </a:r>
          </a:p>
        </p:txBody>
      </p:sp>
      <p:sp>
        <p:nvSpPr>
          <p:cNvPr id="7" name="Line 6"/>
          <p:cNvSpPr>
            <a:spLocks noChangeShapeType="1"/>
          </p:cNvSpPr>
          <p:nvPr/>
        </p:nvSpPr>
        <p:spPr bwMode="auto">
          <a:xfrm>
            <a:off x="1835081"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8" name="Line 7"/>
          <p:cNvSpPr>
            <a:spLocks noChangeShapeType="1"/>
          </p:cNvSpPr>
          <p:nvPr/>
        </p:nvSpPr>
        <p:spPr bwMode="auto">
          <a:xfrm>
            <a:off x="1835081"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9" name="Line 8"/>
          <p:cNvSpPr>
            <a:spLocks noChangeShapeType="1"/>
          </p:cNvSpPr>
          <p:nvPr/>
        </p:nvSpPr>
        <p:spPr bwMode="auto">
          <a:xfrm>
            <a:off x="1835081"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0" name="Line 9"/>
          <p:cNvSpPr>
            <a:spLocks noChangeShapeType="1"/>
          </p:cNvSpPr>
          <p:nvPr/>
        </p:nvSpPr>
        <p:spPr bwMode="auto">
          <a:xfrm>
            <a:off x="1835081"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1" name="Line 10"/>
          <p:cNvSpPr>
            <a:spLocks noChangeShapeType="1"/>
          </p:cNvSpPr>
          <p:nvPr/>
        </p:nvSpPr>
        <p:spPr bwMode="auto">
          <a:xfrm>
            <a:off x="1835081"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2" name="Text Box 11"/>
          <p:cNvSpPr txBox="1">
            <a:spLocks noChangeArrowheads="1"/>
          </p:cNvSpPr>
          <p:nvPr/>
        </p:nvSpPr>
        <p:spPr bwMode="auto">
          <a:xfrm>
            <a:off x="1433840" y="1813330"/>
            <a:ext cx="474810" cy="146540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30000"/>
              </a:lnSpc>
            </a:pPr>
            <a:r>
              <a:rPr lang="en-US" altLang="zh-CN" sz="1400" b="1" dirty="0">
                <a:latin typeface="微软雅黑" pitchFamily="34" charset="-122"/>
                <a:ea typeface="微软雅黑" pitchFamily="34" charset="-122"/>
              </a:rPr>
              <a:t>0</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1</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2</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3</a:t>
            </a:r>
            <a:r>
              <a:rPr lang="zh-CN" altLang="en-US" sz="1400" b="1" dirty="0">
                <a:latin typeface="微软雅黑" pitchFamily="34" charset="-122"/>
                <a:ea typeface="微软雅黑" pitchFamily="34" charset="-122"/>
              </a:rPr>
              <a:t>：</a:t>
            </a:r>
          </a:p>
          <a:p>
            <a:pPr eaLnBrk="1" hangingPunct="1">
              <a:lnSpc>
                <a:spcPct val="130000"/>
              </a:lnSpc>
            </a:pPr>
            <a:r>
              <a:rPr lang="en-US" altLang="zh-CN" sz="1400" b="1" dirty="0">
                <a:latin typeface="微软雅黑" pitchFamily="34" charset="-122"/>
                <a:ea typeface="微软雅黑" pitchFamily="34" charset="-122"/>
              </a:rPr>
              <a:t>4</a:t>
            </a:r>
            <a:r>
              <a:rPr lang="zh-CN" altLang="en-US" sz="1400" b="1" dirty="0">
                <a:latin typeface="微软雅黑" pitchFamily="34" charset="-122"/>
                <a:ea typeface="微软雅黑" pitchFamily="34" charset="-122"/>
              </a:rPr>
              <a:t>：</a:t>
            </a:r>
          </a:p>
        </p:txBody>
      </p:sp>
      <p:sp>
        <p:nvSpPr>
          <p:cNvPr id="15" name="Rectangle 15"/>
          <p:cNvSpPr>
            <a:spLocks noChangeArrowheads="1"/>
          </p:cNvSpPr>
          <p:nvPr/>
        </p:nvSpPr>
        <p:spPr bwMode="auto">
          <a:xfrm>
            <a:off x="5454370" y="1837417"/>
            <a:ext cx="1979702" cy="2399027"/>
          </a:xfrm>
          <a:prstGeom prst="rect">
            <a:avLst/>
          </a:prstGeom>
          <a:solidFill>
            <a:srgbClr val="00CCFF"/>
          </a:solidFill>
          <a:ln w="19050">
            <a:solidFill>
              <a:schemeClr val="tx1"/>
            </a:solidFill>
            <a:miter lim="800000"/>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6" name="Rectangle 16"/>
          <p:cNvSpPr>
            <a:spLocks noChangeArrowheads="1"/>
          </p:cNvSpPr>
          <p:nvPr/>
        </p:nvSpPr>
        <p:spPr bwMode="auto">
          <a:xfrm>
            <a:off x="5461407" y="2409027"/>
            <a:ext cx="1970320" cy="1136723"/>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7" name="Line 17"/>
          <p:cNvSpPr>
            <a:spLocks noChangeShapeType="1"/>
          </p:cNvSpPr>
          <p:nvPr/>
        </p:nvSpPr>
        <p:spPr bwMode="auto">
          <a:xfrm>
            <a:off x="5454370" y="2123222"/>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8" name="Line 18"/>
          <p:cNvSpPr>
            <a:spLocks noChangeShapeType="1"/>
          </p:cNvSpPr>
          <p:nvPr/>
        </p:nvSpPr>
        <p:spPr bwMode="auto">
          <a:xfrm>
            <a:off x="5454370" y="240902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9"/>
          <p:cNvSpPr>
            <a:spLocks noChangeShapeType="1"/>
          </p:cNvSpPr>
          <p:nvPr/>
        </p:nvSpPr>
        <p:spPr bwMode="auto">
          <a:xfrm>
            <a:off x="5454370" y="2694831"/>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20"/>
          <p:cNvSpPr>
            <a:spLocks noChangeShapeType="1"/>
          </p:cNvSpPr>
          <p:nvPr/>
        </p:nvSpPr>
        <p:spPr bwMode="auto">
          <a:xfrm>
            <a:off x="5454370" y="2980636"/>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Line 21"/>
          <p:cNvSpPr>
            <a:spLocks noChangeShapeType="1"/>
          </p:cNvSpPr>
          <p:nvPr/>
        </p:nvSpPr>
        <p:spPr bwMode="auto">
          <a:xfrm>
            <a:off x="5454370" y="3266440"/>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2" name="Line 22"/>
          <p:cNvSpPr>
            <a:spLocks noChangeShapeType="1"/>
          </p:cNvSpPr>
          <p:nvPr/>
        </p:nvSpPr>
        <p:spPr bwMode="auto">
          <a:xfrm>
            <a:off x="5454370" y="3551163"/>
            <a:ext cx="19797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nvGrpSpPr>
          <p:cNvPr id="41" name="组合 40"/>
          <p:cNvGrpSpPr/>
          <p:nvPr/>
        </p:nvGrpSpPr>
        <p:grpSpPr>
          <a:xfrm>
            <a:off x="2797956" y="1985733"/>
            <a:ext cx="1406182" cy="863909"/>
            <a:chOff x="2797956" y="2003489"/>
            <a:chExt cx="1243178" cy="863909"/>
          </a:xfrm>
        </p:grpSpPr>
        <p:sp>
          <p:nvSpPr>
            <p:cNvPr id="13" name="Line 13"/>
            <p:cNvSpPr>
              <a:spLocks noChangeShapeType="1"/>
            </p:cNvSpPr>
            <p:nvPr/>
          </p:nvSpPr>
          <p:spPr bwMode="auto">
            <a:xfrm>
              <a:off x="2797956" y="2003489"/>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Line 24"/>
            <p:cNvSpPr>
              <a:spLocks noChangeShapeType="1"/>
            </p:cNvSpPr>
            <p:nvPr/>
          </p:nvSpPr>
          <p:spPr bwMode="auto">
            <a:xfrm>
              <a:off x="2797956" y="2290376"/>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5" name="Line 27"/>
            <p:cNvSpPr>
              <a:spLocks noChangeShapeType="1"/>
            </p:cNvSpPr>
            <p:nvPr/>
          </p:nvSpPr>
          <p:spPr bwMode="auto">
            <a:xfrm>
              <a:off x="2797956" y="257942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30"/>
            <p:cNvSpPr>
              <a:spLocks noChangeShapeType="1"/>
            </p:cNvSpPr>
            <p:nvPr/>
          </p:nvSpPr>
          <p:spPr bwMode="auto">
            <a:xfrm>
              <a:off x="2797956" y="2867398"/>
              <a:ext cx="1243178" cy="0"/>
            </a:xfrm>
            <a:prstGeom prst="line">
              <a:avLst/>
            </a:prstGeom>
            <a:noFill/>
            <a:ln w="38100">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29" name="Text Box 33"/>
          <p:cNvSpPr txBox="1">
            <a:spLocks noChangeArrowheads="1"/>
          </p:cNvSpPr>
          <p:nvPr/>
        </p:nvSpPr>
        <p:spPr bwMode="auto">
          <a:xfrm>
            <a:off x="4027352" y="1150664"/>
            <a:ext cx="1107997"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dirty="0">
                <a:latin typeface="微软雅黑" pitchFamily="34" charset="-122"/>
                <a:ea typeface="微软雅黑" pitchFamily="34" charset="-122"/>
              </a:rPr>
              <a:t>操作系统</a:t>
            </a:r>
          </a:p>
        </p:txBody>
      </p:sp>
      <p:sp>
        <p:nvSpPr>
          <p:cNvPr id="30" name="Text Box 34"/>
          <p:cNvSpPr txBox="1">
            <a:spLocks noChangeArrowheads="1"/>
          </p:cNvSpPr>
          <p:nvPr/>
        </p:nvSpPr>
        <p:spPr bwMode="auto">
          <a:xfrm>
            <a:off x="5710405" y="1533209"/>
            <a:ext cx="1415772"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dirty="0">
                <a:solidFill>
                  <a:srgbClr val="0000FF"/>
                </a:solidFill>
                <a:latin typeface="微软雅黑" pitchFamily="34" charset="-122"/>
                <a:ea typeface="微软雅黑" pitchFamily="34" charset="-122"/>
              </a:rPr>
              <a:t>套接字的数据结构</a:t>
            </a:r>
          </a:p>
        </p:txBody>
      </p:sp>
      <p:sp>
        <p:nvSpPr>
          <p:cNvPr id="31" name="Text Box 35"/>
          <p:cNvSpPr txBox="1">
            <a:spLocks noChangeArrowheads="1"/>
          </p:cNvSpPr>
          <p:nvPr/>
        </p:nvSpPr>
        <p:spPr bwMode="auto">
          <a:xfrm>
            <a:off x="5507340" y="1849327"/>
            <a:ext cx="1423403"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协议族：</a:t>
            </a:r>
            <a:r>
              <a:rPr lang="en-US" altLang="zh-CN" sz="1200" b="1">
                <a:latin typeface="微软雅黑" pitchFamily="34" charset="-122"/>
                <a:ea typeface="微软雅黑" pitchFamily="34" charset="-122"/>
              </a:rPr>
              <a:t>PF_INET</a:t>
            </a:r>
          </a:p>
        </p:txBody>
      </p:sp>
      <p:sp>
        <p:nvSpPr>
          <p:cNvPr id="32" name="Text Box 36"/>
          <p:cNvSpPr txBox="1">
            <a:spLocks noChangeArrowheads="1"/>
          </p:cNvSpPr>
          <p:nvPr/>
        </p:nvSpPr>
        <p:spPr bwMode="auto">
          <a:xfrm>
            <a:off x="5534616" y="2128635"/>
            <a:ext cx="1807481"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服务：</a:t>
            </a:r>
            <a:r>
              <a:rPr lang="en-US" altLang="zh-CN" sz="1200" b="1">
                <a:latin typeface="微软雅黑" pitchFamily="34" charset="-122"/>
                <a:ea typeface="微软雅黑" pitchFamily="34" charset="-122"/>
              </a:rPr>
              <a:t>SOCK_STREAM</a:t>
            </a:r>
          </a:p>
        </p:txBody>
      </p:sp>
      <p:sp>
        <p:nvSpPr>
          <p:cNvPr id="33" name="Text Box 37"/>
          <p:cNvSpPr txBox="1">
            <a:spLocks noChangeArrowheads="1"/>
          </p:cNvSpPr>
          <p:nvPr/>
        </p:nvSpPr>
        <p:spPr bwMode="auto">
          <a:xfrm>
            <a:off x="5539205" y="240794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dirty="0">
                <a:latin typeface="微软雅黑" pitchFamily="34" charset="-122"/>
                <a:ea typeface="微软雅黑" pitchFamily="34" charset="-122"/>
              </a:rPr>
              <a:t>本地 </a:t>
            </a:r>
            <a:r>
              <a:rPr lang="en-US" altLang="zh-CN" sz="1200" b="1" dirty="0">
                <a:latin typeface="微软雅黑" pitchFamily="34" charset="-122"/>
                <a:ea typeface="微软雅黑" pitchFamily="34" charset="-122"/>
              </a:rPr>
              <a:t>IP </a:t>
            </a:r>
            <a:r>
              <a:rPr lang="zh-CN" altLang="en-US" sz="1200" b="1" dirty="0">
                <a:latin typeface="微软雅黑" pitchFamily="34" charset="-122"/>
                <a:ea typeface="微软雅黑" pitchFamily="34" charset="-122"/>
              </a:rPr>
              <a:t>地址：</a:t>
            </a:r>
          </a:p>
        </p:txBody>
      </p:sp>
      <p:sp>
        <p:nvSpPr>
          <p:cNvPr id="34" name="Text Box 38"/>
          <p:cNvSpPr txBox="1">
            <a:spLocks noChangeArrowheads="1"/>
          </p:cNvSpPr>
          <p:nvPr/>
        </p:nvSpPr>
        <p:spPr bwMode="auto">
          <a:xfrm>
            <a:off x="5539205" y="268725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远地 </a:t>
            </a:r>
            <a:r>
              <a:rPr lang="en-US" altLang="zh-CN" sz="1200" b="1">
                <a:latin typeface="微软雅黑" pitchFamily="34" charset="-122"/>
                <a:ea typeface="微软雅黑" pitchFamily="34" charset="-122"/>
              </a:rPr>
              <a:t>IP </a:t>
            </a:r>
            <a:r>
              <a:rPr lang="zh-CN" altLang="en-US" sz="1200" b="1">
                <a:latin typeface="微软雅黑" pitchFamily="34" charset="-122"/>
                <a:ea typeface="微软雅黑" pitchFamily="34" charset="-122"/>
              </a:rPr>
              <a:t>地址：</a:t>
            </a:r>
          </a:p>
        </p:txBody>
      </p:sp>
      <p:sp>
        <p:nvSpPr>
          <p:cNvPr id="35" name="Text Box 39"/>
          <p:cNvSpPr txBox="1">
            <a:spLocks noChangeArrowheads="1"/>
          </p:cNvSpPr>
          <p:nvPr/>
        </p:nvSpPr>
        <p:spPr bwMode="auto">
          <a:xfrm>
            <a:off x="5539205" y="2965480"/>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本地端口：</a:t>
            </a:r>
          </a:p>
        </p:txBody>
      </p:sp>
      <p:sp>
        <p:nvSpPr>
          <p:cNvPr id="36" name="Text Box 40"/>
          <p:cNvSpPr txBox="1">
            <a:spLocks noChangeArrowheads="1"/>
          </p:cNvSpPr>
          <p:nvPr/>
        </p:nvSpPr>
        <p:spPr bwMode="auto">
          <a:xfrm>
            <a:off x="5539205" y="3246954"/>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200" b="1">
                <a:latin typeface="微软雅黑" pitchFamily="34" charset="-122"/>
                <a:ea typeface="微软雅黑" pitchFamily="34" charset="-122"/>
              </a:rPr>
              <a:t>远地端口：</a:t>
            </a:r>
          </a:p>
        </p:txBody>
      </p:sp>
      <p:sp>
        <p:nvSpPr>
          <p:cNvPr id="37" name="Text Box 41"/>
          <p:cNvSpPr txBox="1">
            <a:spLocks noChangeArrowheads="1"/>
          </p:cNvSpPr>
          <p:nvPr/>
        </p:nvSpPr>
        <p:spPr bwMode="auto">
          <a:xfrm rot="5400000">
            <a:off x="2645580" y="33179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dirty="0">
                <a:latin typeface="微软雅黑" pitchFamily="34" charset="-122"/>
                <a:ea typeface="微软雅黑" pitchFamily="34" charset="-122"/>
                <a:sym typeface="Symbol" pitchFamily="18" charset="2"/>
              </a:rPr>
              <a:t></a:t>
            </a:r>
          </a:p>
        </p:txBody>
      </p:sp>
      <p:sp>
        <p:nvSpPr>
          <p:cNvPr id="38" name="Text Box 42"/>
          <p:cNvSpPr txBox="1">
            <a:spLocks noChangeArrowheads="1"/>
          </p:cNvSpPr>
          <p:nvPr/>
        </p:nvSpPr>
        <p:spPr bwMode="auto">
          <a:xfrm rot="5400000">
            <a:off x="6319991" y="36600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latin typeface="微软雅黑" pitchFamily="34" charset="-122"/>
                <a:ea typeface="微软雅黑" pitchFamily="34" charset="-122"/>
                <a:sym typeface="Symbol" pitchFamily="18" charset="2"/>
              </a:rPr>
              <a:t></a:t>
            </a:r>
          </a:p>
        </p:txBody>
      </p:sp>
      <p:sp>
        <p:nvSpPr>
          <p:cNvPr id="39" name="Freeform 43"/>
          <p:cNvSpPr>
            <a:spLocks/>
          </p:cNvSpPr>
          <p:nvPr/>
        </p:nvSpPr>
        <p:spPr bwMode="auto">
          <a:xfrm>
            <a:off x="2797957" y="1984650"/>
            <a:ext cx="2658759" cy="1151879"/>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4" name="Oval 14"/>
          <p:cNvSpPr>
            <a:spLocks noChangeArrowheads="1"/>
          </p:cNvSpPr>
          <p:nvPr/>
        </p:nvSpPr>
        <p:spPr bwMode="auto">
          <a:xfrm>
            <a:off x="2747526" y="1925108"/>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4" name="Oval 25"/>
          <p:cNvSpPr>
            <a:spLocks noChangeArrowheads="1"/>
          </p:cNvSpPr>
          <p:nvPr/>
        </p:nvSpPr>
        <p:spPr bwMode="auto">
          <a:xfrm>
            <a:off x="2747526" y="2213077"/>
            <a:ext cx="112590" cy="112590"/>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6" name="Oval 28"/>
          <p:cNvSpPr>
            <a:spLocks noChangeArrowheads="1"/>
          </p:cNvSpPr>
          <p:nvPr/>
        </p:nvSpPr>
        <p:spPr bwMode="auto">
          <a:xfrm>
            <a:off x="2747526" y="2501047"/>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8" name="Oval 31"/>
          <p:cNvSpPr>
            <a:spLocks noChangeArrowheads="1"/>
          </p:cNvSpPr>
          <p:nvPr/>
        </p:nvSpPr>
        <p:spPr bwMode="auto">
          <a:xfrm>
            <a:off x="2747526" y="2789018"/>
            <a:ext cx="112590" cy="113672"/>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40" name="Oval 44"/>
          <p:cNvSpPr>
            <a:spLocks noChangeArrowheads="1"/>
          </p:cNvSpPr>
          <p:nvPr/>
        </p:nvSpPr>
        <p:spPr bwMode="auto">
          <a:xfrm>
            <a:off x="2747526" y="3056417"/>
            <a:ext cx="112590" cy="113673"/>
          </a:xfrm>
          <a:prstGeom prst="ellipse">
            <a:avLst/>
          </a:prstGeom>
          <a:solidFill>
            <a:srgbClr val="FFFF00"/>
          </a:solidFill>
          <a:ln w="9525">
            <a:solidFill>
              <a:schemeClr val="tx1"/>
            </a:solidFill>
            <a:round/>
            <a:headEnd/>
            <a:tailEnd/>
          </a:ln>
          <a:effectLst/>
        </p:spPr>
        <p:txBody>
          <a:bodyPr wrap="none" anchor="ctr"/>
          <a:lstStyle/>
          <a:p>
            <a:pPr eaLnBrk="1" hangingPunct="1"/>
            <a:endParaRPr lang="zh-CN" altLang="en-US" sz="1200" b="1">
              <a:latin typeface="微软雅黑" pitchFamily="34" charset="-122"/>
              <a:ea typeface="微软雅黑" pitchFamily="34" charset="-122"/>
            </a:endParaRPr>
          </a:p>
        </p:txBody>
      </p:sp>
    </p:spTree>
    <p:extLst>
      <p:ext uri="{BB962C8B-B14F-4D97-AF65-F5344CB8AC3E}">
        <p14:creationId xmlns:p14="http://schemas.microsoft.com/office/powerpoint/2010/main" val="151864018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11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70840"/>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6.8.2  </a:t>
            </a:r>
            <a:r>
              <a:rPr lang="zh-CN" altLang="en-US" sz="2400" b="1" dirty="0">
                <a:solidFill>
                  <a:schemeClr val="bg1"/>
                </a:solidFill>
                <a:latin typeface="微软雅黑" pitchFamily="34" charset="-122"/>
                <a:ea typeface="微软雅黑" pitchFamily="34" charset="-122"/>
              </a:rPr>
              <a:t>几种常用的系统调用</a:t>
            </a:r>
          </a:p>
        </p:txBody>
      </p:sp>
      <p:sp>
        <p:nvSpPr>
          <p:cNvPr id="9" name="Rectangle 68"/>
          <p:cNvSpPr>
            <a:spLocks noChangeArrowheads="1"/>
          </p:cNvSpPr>
          <p:nvPr/>
        </p:nvSpPr>
        <p:spPr bwMode="auto">
          <a:xfrm>
            <a:off x="557380" y="1009867"/>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当应用进程需要使用网络进行通信时，就发出系统调用。</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TCP/IP</a:t>
            </a:r>
            <a:r>
              <a:rPr lang="zh-CN" altLang="en-US" sz="2000" b="1" dirty="0">
                <a:latin typeface="微软雅黑" pitchFamily="34" charset="-122"/>
                <a:ea typeface="微软雅黑" pitchFamily="34" charset="-122"/>
              </a:rPr>
              <a:t> 应用编程接口 </a:t>
            </a:r>
            <a:r>
              <a:rPr lang="en-US" altLang="zh-CN" sz="2000" b="1" dirty="0">
                <a:latin typeface="微软雅黑" pitchFamily="34" charset="-122"/>
                <a:ea typeface="微软雅黑" pitchFamily="34" charset="-122"/>
              </a:rPr>
              <a:t>API</a:t>
            </a:r>
            <a:r>
              <a:rPr lang="zh-CN" altLang="en-US" sz="2000" b="1" dirty="0">
                <a:latin typeface="微软雅黑" pitchFamily="34" charset="-122"/>
                <a:ea typeface="微软雅黑" pitchFamily="34" charset="-122"/>
              </a:rPr>
              <a:t>，就可以编写基于互联网的网络应用程序了。</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调用 </a:t>
            </a:r>
            <a:r>
              <a:rPr lang="en-US" altLang="zh-CN" sz="2000" b="1" dirty="0">
                <a:latin typeface="微软雅黑" pitchFamily="34" charset="-122"/>
                <a:ea typeface="微软雅黑" pitchFamily="34" charset="-122"/>
              </a:rPr>
              <a:t>API </a:t>
            </a:r>
            <a:r>
              <a:rPr lang="zh-CN" altLang="en-US" sz="2000" b="1" dirty="0">
                <a:latin typeface="微软雅黑" pitchFamily="34" charset="-122"/>
                <a:ea typeface="微软雅黑" pitchFamily="34" charset="-122"/>
              </a:rPr>
              <a:t>时，用户可以使用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服务，也可以使用 </a:t>
            </a:r>
            <a:r>
              <a:rPr lang="en-US" altLang="zh-CN" sz="2000" b="1" dirty="0">
                <a:latin typeface="微软雅黑" pitchFamily="34" charset="-122"/>
                <a:ea typeface="微软雅黑" pitchFamily="34" charset="-122"/>
              </a:rPr>
              <a:t>UDP </a:t>
            </a:r>
            <a:r>
              <a:rPr lang="zh-CN" altLang="en-US" sz="2000" b="1" dirty="0">
                <a:latin typeface="微软雅黑" pitchFamily="34" charset="-122"/>
                <a:ea typeface="微软雅黑" pitchFamily="34" charset="-122"/>
              </a:rPr>
              <a:t>等其他服务。</a:t>
            </a:r>
          </a:p>
        </p:txBody>
      </p:sp>
    </p:spTree>
    <p:extLst>
      <p:ext uri="{BB962C8B-B14F-4D97-AF65-F5344CB8AC3E}">
        <p14:creationId xmlns:p14="http://schemas.microsoft.com/office/powerpoint/2010/main" val="259141301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86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62719"/>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6.8.2  </a:t>
            </a:r>
            <a:r>
              <a:rPr lang="zh-CN" altLang="en-US" sz="2400" b="1" dirty="0">
                <a:solidFill>
                  <a:schemeClr val="bg1"/>
                </a:solidFill>
                <a:latin typeface="微软雅黑" pitchFamily="34" charset="-122"/>
                <a:ea typeface="微软雅黑" pitchFamily="34" charset="-122"/>
              </a:rPr>
              <a:t>几种常用的系统调用</a:t>
            </a:r>
          </a:p>
        </p:txBody>
      </p:sp>
      <p:sp>
        <p:nvSpPr>
          <p:cNvPr id="9" name="Rectangle 68"/>
          <p:cNvSpPr>
            <a:spLocks noChangeArrowheads="1"/>
          </p:cNvSpPr>
          <p:nvPr/>
        </p:nvSpPr>
        <p:spPr bwMode="auto">
          <a:xfrm>
            <a:off x="557380" y="1010624"/>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提供</a:t>
            </a:r>
            <a:r>
              <a:rPr lang="zh-CN" altLang="en-US" sz="2000" b="1" dirty="0">
                <a:solidFill>
                  <a:srgbClr val="C00000"/>
                </a:solidFill>
                <a:latin typeface="微软雅黑" pitchFamily="34" charset="-122"/>
                <a:ea typeface="微软雅黑" pitchFamily="34" charset="-122"/>
              </a:rPr>
              <a:t>面向连接</a:t>
            </a:r>
            <a:r>
              <a:rPr lang="zh-CN" altLang="en-US" sz="2000" b="1" dirty="0">
                <a:latin typeface="微软雅黑" pitchFamily="34" charset="-122"/>
                <a:ea typeface="微软雅黑" pitchFamily="34" charset="-122"/>
              </a:rPr>
              <a:t>的服务。</a:t>
            </a: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服务需要经历 </a:t>
            </a:r>
            <a:r>
              <a:rPr lang="en-US" altLang="zh-CN" sz="2000" b="1" dirty="0">
                <a:solidFill>
                  <a:srgbClr val="C00000"/>
                </a:solidFill>
                <a:latin typeface="微软雅黑" pitchFamily="34" charset="-122"/>
                <a:ea typeface="微软雅黑" pitchFamily="34" charset="-122"/>
              </a:rPr>
              <a:t>3 </a:t>
            </a:r>
            <a:r>
              <a:rPr lang="zh-CN" altLang="en-US" sz="2000" b="1" dirty="0">
                <a:solidFill>
                  <a:srgbClr val="C00000"/>
                </a:solidFill>
                <a:latin typeface="微软雅黑" pitchFamily="34" charset="-122"/>
                <a:ea typeface="微软雅黑" pitchFamily="34" charset="-122"/>
              </a:rPr>
              <a:t>个阶段：</a:t>
            </a:r>
          </a:p>
          <a:p>
            <a:pPr marL="630238" lvl="1" indent="-357188"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连接建立阶段</a:t>
            </a:r>
          </a:p>
          <a:p>
            <a:pPr marL="630238" lvl="1" indent="-357188"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数据传送阶段</a:t>
            </a:r>
          </a:p>
          <a:p>
            <a:pPr marL="630238" lvl="1" indent="-357188"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和 连接释放阶段</a:t>
            </a:r>
          </a:p>
        </p:txBody>
      </p:sp>
    </p:spTree>
    <p:extLst>
      <p:ext uri="{BB962C8B-B14F-4D97-AF65-F5344CB8AC3E}">
        <p14:creationId xmlns:p14="http://schemas.microsoft.com/office/powerpoint/2010/main" val="16915135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52" name="组合 51"/>
          <p:cNvGrpSpPr/>
          <p:nvPr/>
        </p:nvGrpSpPr>
        <p:grpSpPr>
          <a:xfrm>
            <a:off x="2441293" y="1366814"/>
            <a:ext cx="2903178" cy="905585"/>
            <a:chOff x="2492362" y="1366814"/>
            <a:chExt cx="2903178" cy="905585"/>
          </a:xfrm>
        </p:grpSpPr>
        <p:cxnSp>
          <p:nvCxnSpPr>
            <p:cNvPr id="37" name="直接箭头连接符 36"/>
            <p:cNvCxnSpPr/>
            <p:nvPr/>
          </p:nvCxnSpPr>
          <p:spPr>
            <a:xfrm flipH="1">
              <a:off x="3102390" y="1936773"/>
              <a:ext cx="270776" cy="3356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3" idx="3"/>
            </p:cNvCxnSpPr>
            <p:nvPr/>
          </p:nvCxnSpPr>
          <p:spPr>
            <a:xfrm flipV="1">
              <a:off x="4702003" y="1473451"/>
              <a:ext cx="693537" cy="1857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 name="矩形 2"/>
            <p:cNvSpPr/>
            <p:nvPr/>
          </p:nvSpPr>
          <p:spPr>
            <a:xfrm>
              <a:off x="2492362" y="1366814"/>
              <a:ext cx="2209641" cy="584775"/>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通信之前，</a:t>
              </a: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C00000"/>
                  </a:solidFill>
                  <a:latin typeface="微软雅黑" panose="020B0503020204020204" pitchFamily="34" charset="-122"/>
                  <a:ea typeface="微软雅黑" panose="020B0503020204020204" pitchFamily="34" charset="-122"/>
                </a:rPr>
                <a:t>服务器</a:t>
              </a:r>
              <a:r>
                <a:rPr lang="zh-CN" altLang="en-US" sz="1600" b="1" dirty="0">
                  <a:latin typeface="微软雅黑" panose="020B0503020204020204" pitchFamily="34" charset="-122"/>
                  <a:ea typeface="微软雅黑" panose="020B0503020204020204" pitchFamily="34" charset="-122"/>
                </a:rPr>
                <a:t>先创建套接字</a:t>
              </a:r>
            </a:p>
          </p:txBody>
        </p:sp>
      </p:grpSp>
    </p:spTree>
    <p:extLst>
      <p:ext uri="{BB962C8B-B14F-4D97-AF65-F5344CB8AC3E}">
        <p14:creationId xmlns:p14="http://schemas.microsoft.com/office/powerpoint/2010/main" val="10955375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0"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8" name="组合 47"/>
          <p:cNvGrpSpPr/>
          <p:nvPr/>
        </p:nvGrpSpPr>
        <p:grpSpPr>
          <a:xfrm>
            <a:off x="1648624" y="1371358"/>
            <a:ext cx="3741746" cy="830997"/>
            <a:chOff x="1648624" y="1371358"/>
            <a:chExt cx="3741746" cy="830997"/>
          </a:xfrm>
        </p:grpSpPr>
        <p:cxnSp>
          <p:nvCxnSpPr>
            <p:cNvPr id="46" name="直接箭头连接符 45"/>
            <p:cNvCxnSpPr/>
            <p:nvPr/>
          </p:nvCxnSpPr>
          <p:spPr>
            <a:xfrm>
              <a:off x="4773046" y="1858323"/>
              <a:ext cx="61732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矩形 44"/>
            <p:cNvSpPr/>
            <p:nvPr/>
          </p:nvSpPr>
          <p:spPr>
            <a:xfrm>
              <a:off x="1648624" y="1371358"/>
              <a:ext cx="3139984" cy="830997"/>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bind</a:t>
              </a:r>
              <a:r>
                <a:rPr lang="zh-CN" altLang="en-US" sz="1600" b="1" dirty="0">
                  <a:latin typeface="微软雅黑" panose="020B0503020204020204" pitchFamily="34" charset="-122"/>
                  <a:ea typeface="微软雅黑" panose="020B0503020204020204" pitchFamily="34" charset="-122"/>
                </a:rPr>
                <a:t>，把熟知端口号和本地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地址填写到已创建的套接字中。</a:t>
              </a:r>
            </a:p>
          </p:txBody>
        </p:sp>
      </p:grpSp>
    </p:spTree>
    <p:extLst>
      <p:ext uri="{BB962C8B-B14F-4D97-AF65-F5344CB8AC3E}">
        <p14:creationId xmlns:p14="http://schemas.microsoft.com/office/powerpoint/2010/main" val="390303946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5" name="组合 44"/>
          <p:cNvGrpSpPr/>
          <p:nvPr/>
        </p:nvGrpSpPr>
        <p:grpSpPr>
          <a:xfrm>
            <a:off x="1074198" y="1371358"/>
            <a:ext cx="4314903" cy="1077218"/>
            <a:chOff x="1074198" y="1371358"/>
            <a:chExt cx="4314903" cy="1077218"/>
          </a:xfrm>
        </p:grpSpPr>
        <p:cxnSp>
          <p:nvCxnSpPr>
            <p:cNvPr id="47" name="直接箭头连接符 46"/>
            <p:cNvCxnSpPr/>
            <p:nvPr/>
          </p:nvCxnSpPr>
          <p:spPr>
            <a:xfrm>
              <a:off x="4773046" y="1858323"/>
              <a:ext cx="616055" cy="4064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074198" y="1371358"/>
              <a:ext cx="3714410"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listen</a:t>
              </a:r>
              <a:r>
                <a:rPr lang="zh-CN" altLang="en-US" sz="1600" b="1" dirty="0">
                  <a:latin typeface="微软雅黑" panose="020B0503020204020204" pitchFamily="34" charset="-122"/>
                  <a:ea typeface="微软雅黑" panose="020B0503020204020204" pitchFamily="34" charset="-122"/>
                </a:rPr>
                <a:t>（收听），把套接字设置为被动方式，以便随时接受客户的服务请求。</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服务器不使用 </a:t>
              </a:r>
              <a:r>
                <a:rPr lang="en-US" altLang="zh-CN" sz="1600" b="1" dirty="0">
                  <a:latin typeface="微软雅黑" panose="020B0503020204020204" pitchFamily="34" charset="-122"/>
                  <a:ea typeface="微软雅黑" panose="020B0503020204020204" pitchFamily="34" charset="-122"/>
                </a:rPr>
                <a:t>listen </a:t>
              </a:r>
              <a:r>
                <a:rPr lang="zh-CN" altLang="en-US" sz="1600" b="1" dirty="0">
                  <a:latin typeface="微软雅黑" panose="020B0503020204020204" pitchFamily="34" charset="-122"/>
                  <a:ea typeface="微软雅黑" panose="020B0503020204020204" pitchFamily="34" charset="-122"/>
                </a:rPr>
                <a:t>系统调用。</a:t>
              </a:r>
            </a:p>
          </p:txBody>
        </p:sp>
      </p:grpSp>
    </p:spTree>
    <p:extLst>
      <p:ext uri="{BB962C8B-B14F-4D97-AF65-F5344CB8AC3E}">
        <p14:creationId xmlns:p14="http://schemas.microsoft.com/office/powerpoint/2010/main" val="103168147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5" name="组合 44"/>
          <p:cNvGrpSpPr/>
          <p:nvPr/>
        </p:nvGrpSpPr>
        <p:grpSpPr>
          <a:xfrm>
            <a:off x="1597982" y="1365082"/>
            <a:ext cx="3810246" cy="1347363"/>
            <a:chOff x="1597982" y="1425503"/>
            <a:chExt cx="3810246" cy="1347363"/>
          </a:xfrm>
        </p:grpSpPr>
        <p:cxnSp>
          <p:nvCxnSpPr>
            <p:cNvPr id="47" name="直接箭头连接符 46"/>
            <p:cNvCxnSpPr/>
            <p:nvPr/>
          </p:nvCxnSpPr>
          <p:spPr>
            <a:xfrm>
              <a:off x="4773046" y="2201507"/>
              <a:ext cx="635182" cy="5713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597982" y="1425503"/>
              <a:ext cx="3196442"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accept</a:t>
              </a:r>
              <a:r>
                <a:rPr lang="zh-CN" altLang="en-US" sz="1600" b="1" dirty="0">
                  <a:latin typeface="微软雅黑" panose="020B0503020204020204" pitchFamily="34" charset="-122"/>
                  <a:ea typeface="微软雅黑" panose="020B0503020204020204" pitchFamily="34" charset="-122"/>
                </a:rPr>
                <a:t>（接受），以便把远地客户进程发来的连接请求提取出来。</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服务器不使用 </a:t>
              </a:r>
              <a:r>
                <a:rPr lang="en-US" altLang="zh-CN" sz="1600" b="1" dirty="0">
                  <a:latin typeface="微软雅黑" panose="020B0503020204020204" pitchFamily="34" charset="-122"/>
                  <a:ea typeface="微软雅黑" panose="020B0503020204020204" pitchFamily="34" charset="-122"/>
                </a:rPr>
                <a:t>accept </a:t>
              </a:r>
              <a:r>
                <a:rPr lang="zh-CN" altLang="en-US" sz="1600" b="1" dirty="0">
                  <a:latin typeface="微软雅黑" panose="020B0503020204020204" pitchFamily="34" charset="-122"/>
                  <a:ea typeface="微软雅黑" panose="020B0503020204020204" pitchFamily="34" charset="-122"/>
                </a:rPr>
                <a:t>系统调用</a:t>
              </a:r>
            </a:p>
          </p:txBody>
        </p:sp>
      </p:grpSp>
    </p:spTree>
    <p:extLst>
      <p:ext uri="{BB962C8B-B14F-4D97-AF65-F5344CB8AC3E}">
        <p14:creationId xmlns:p14="http://schemas.microsoft.com/office/powerpoint/2010/main" val="41208679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1454"/>
            <a:ext cx="8041893" cy="308939"/>
          </a:xfrm>
          <a:prstGeom prst="roundRect">
            <a:avLst>
              <a:gd name="adj" fmla="val 16667"/>
            </a:avLst>
          </a:prstGeom>
          <a:solidFill>
            <a:srgbClr val="ABEBD7"/>
          </a:soli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0070"/>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itchFamily="34" charset="-122"/>
                <a:ea typeface="微软雅黑" pitchFamily="34" charset="-122"/>
              </a:rPr>
              <a:t>并发方式工作的服务器</a:t>
            </a:r>
          </a:p>
        </p:txBody>
      </p:sp>
      <p:grpSp>
        <p:nvGrpSpPr>
          <p:cNvPr id="38" name="组合 37"/>
          <p:cNvGrpSpPr/>
          <p:nvPr/>
        </p:nvGrpSpPr>
        <p:grpSpPr>
          <a:xfrm>
            <a:off x="2225985" y="1756712"/>
            <a:ext cx="5132411" cy="2493859"/>
            <a:chOff x="896012" y="2273448"/>
            <a:chExt cx="8602292" cy="4179888"/>
          </a:xfrm>
        </p:grpSpPr>
        <p:sp>
          <p:nvSpPr>
            <p:cNvPr id="5" name="Text Box 4"/>
            <p:cNvSpPr txBox="1">
              <a:spLocks noChangeArrowheads="1"/>
            </p:cNvSpPr>
            <p:nvPr/>
          </p:nvSpPr>
          <p:spPr bwMode="auto">
            <a:xfrm>
              <a:off x="1193681" y="5170635"/>
              <a:ext cx="1857081"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接受连接请求</a:t>
              </a:r>
            </a:p>
            <a:p>
              <a:pPr algn="ctr" eaLnBrk="1" hangingPunct="1"/>
              <a:r>
                <a:rPr lang="zh-CN" altLang="en-US" sz="1200" b="1">
                  <a:latin typeface="微软雅黑" pitchFamily="34" charset="-122"/>
                  <a:ea typeface="微软雅黑" pitchFamily="34" charset="-122"/>
                </a:rPr>
                <a:t>的套接字</a:t>
              </a:r>
            </a:p>
          </p:txBody>
        </p:sp>
        <p:sp>
          <p:nvSpPr>
            <p:cNvPr id="6" name="Rectangle 5"/>
            <p:cNvSpPr>
              <a:spLocks noChangeArrowheads="1"/>
            </p:cNvSpPr>
            <p:nvPr/>
          </p:nvSpPr>
          <p:spPr bwMode="auto">
            <a:xfrm>
              <a:off x="1081750" y="2273448"/>
              <a:ext cx="6462977" cy="4179888"/>
            </a:xfrm>
            <a:prstGeom prst="rect">
              <a:avLst/>
            </a:prstGeom>
            <a:solidFill>
              <a:srgbClr val="00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7" name="Rectangle 36"/>
            <p:cNvSpPr>
              <a:spLocks noChangeArrowheads="1"/>
            </p:cNvSpPr>
            <p:nvPr/>
          </p:nvSpPr>
          <p:spPr bwMode="auto">
            <a:xfrm>
              <a:off x="1085189" y="4940448"/>
              <a:ext cx="2013876" cy="150495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8" name="Oval 6"/>
            <p:cNvSpPr>
              <a:spLocks noChangeArrowheads="1"/>
            </p:cNvSpPr>
            <p:nvPr/>
          </p:nvSpPr>
          <p:spPr bwMode="auto">
            <a:xfrm>
              <a:off x="1635523" y="2735387"/>
              <a:ext cx="923528" cy="836612"/>
            </a:xfrm>
            <a:prstGeom prst="ellipse">
              <a:avLst/>
            </a:prstGeom>
            <a:solidFill>
              <a:srgbClr val="FF66FF"/>
            </a:solidFill>
            <a:ln w="38100" cmpd="dbl">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M</a:t>
              </a:r>
            </a:p>
          </p:txBody>
        </p:sp>
        <p:sp>
          <p:nvSpPr>
            <p:cNvPr id="9" name="Oval 7"/>
            <p:cNvSpPr>
              <a:spLocks noChangeArrowheads="1"/>
            </p:cNvSpPr>
            <p:nvPr/>
          </p:nvSpPr>
          <p:spPr bwMode="auto">
            <a:xfrm>
              <a:off x="3389710"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pitchFamily="34" charset="-122"/>
                  <a:ea typeface="微软雅黑" pitchFamily="34" charset="-122"/>
                </a:rPr>
                <a:t>S</a:t>
              </a:r>
              <a:r>
                <a:rPr lang="en-US" altLang="zh-CN" sz="1200" b="1" baseline="-25000" dirty="0">
                  <a:latin typeface="微软雅黑" pitchFamily="34" charset="-122"/>
                  <a:ea typeface="微软雅黑" pitchFamily="34" charset="-122"/>
                </a:rPr>
                <a:t>1</a:t>
              </a:r>
            </a:p>
          </p:txBody>
        </p:sp>
        <p:sp>
          <p:nvSpPr>
            <p:cNvPr id="10" name="Rectangle 37"/>
            <p:cNvSpPr>
              <a:spLocks noChangeArrowheads="1"/>
            </p:cNvSpPr>
            <p:nvPr/>
          </p:nvSpPr>
          <p:spPr bwMode="auto">
            <a:xfrm>
              <a:off x="3086702" y="4938861"/>
              <a:ext cx="4447381"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1" name="Rectangle 8"/>
            <p:cNvSpPr>
              <a:spLocks noChangeArrowheads="1"/>
            </p:cNvSpPr>
            <p:nvPr/>
          </p:nvSpPr>
          <p:spPr bwMode="auto">
            <a:xfrm>
              <a:off x="3480858" y="4946799"/>
              <a:ext cx="462625"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2" name="Rectangle 9"/>
            <p:cNvSpPr>
              <a:spLocks noChangeArrowheads="1"/>
            </p:cNvSpPr>
            <p:nvPr/>
          </p:nvSpPr>
          <p:spPr bwMode="auto">
            <a:xfrm>
              <a:off x="4820577" y="4946799"/>
              <a:ext cx="462623"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3" name="Rectangle 10"/>
            <p:cNvSpPr>
              <a:spLocks noChangeArrowheads="1"/>
            </p:cNvSpPr>
            <p:nvPr/>
          </p:nvSpPr>
          <p:spPr bwMode="auto">
            <a:xfrm>
              <a:off x="6160294" y="4946799"/>
              <a:ext cx="460904" cy="250825"/>
            </a:xfrm>
            <a:prstGeom prst="rect">
              <a:avLst/>
            </a:prstGeom>
            <a:solidFill>
              <a:srgbClr val="00CCFF"/>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14" name="Text Box 11"/>
            <p:cNvSpPr txBox="1">
              <a:spLocks noChangeArrowheads="1"/>
            </p:cNvSpPr>
            <p:nvPr/>
          </p:nvSpPr>
          <p:spPr bwMode="auto">
            <a:xfrm>
              <a:off x="3169659"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5" name="Text Box 12"/>
            <p:cNvSpPr txBox="1">
              <a:spLocks noChangeArrowheads="1"/>
            </p:cNvSpPr>
            <p:nvPr/>
          </p:nvSpPr>
          <p:spPr bwMode="auto">
            <a:xfrm>
              <a:off x="4555811"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6" name="Text Box 13"/>
            <p:cNvSpPr txBox="1">
              <a:spLocks noChangeArrowheads="1"/>
            </p:cNvSpPr>
            <p:nvPr/>
          </p:nvSpPr>
          <p:spPr bwMode="auto">
            <a:xfrm>
              <a:off x="5936806"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连接</a:t>
              </a:r>
            </a:p>
            <a:p>
              <a:pPr algn="ctr" eaLnBrk="1" hangingPunct="1"/>
              <a:r>
                <a:rPr lang="zh-CN" altLang="en-US" sz="1200" b="1">
                  <a:latin typeface="微软雅黑" pitchFamily="34" charset="-122"/>
                  <a:ea typeface="微软雅黑" pitchFamily="34" charset="-122"/>
                </a:rPr>
                <a:t>套接字</a:t>
              </a:r>
            </a:p>
          </p:txBody>
        </p:sp>
        <p:sp>
          <p:nvSpPr>
            <p:cNvPr id="17" name="Line 14"/>
            <p:cNvSpPr>
              <a:spLocks noChangeShapeType="1"/>
            </p:cNvSpPr>
            <p:nvPr/>
          </p:nvSpPr>
          <p:spPr bwMode="auto">
            <a:xfrm>
              <a:off x="1081750" y="4946798"/>
              <a:ext cx="6462977"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itchFamily="34" charset="-122"/>
                <a:ea typeface="微软雅黑" pitchFamily="34" charset="-122"/>
              </a:endParaRPr>
            </a:p>
          </p:txBody>
        </p:sp>
        <p:sp>
          <p:nvSpPr>
            <p:cNvPr id="18"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19"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0"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1" name="Rectangle 18"/>
            <p:cNvSpPr>
              <a:spLocks noChangeArrowheads="1"/>
            </p:cNvSpPr>
            <p:nvPr/>
          </p:nvSpPr>
          <p:spPr bwMode="auto">
            <a:xfrm>
              <a:off x="1864254" y="4946799"/>
              <a:ext cx="462625" cy="250825"/>
            </a:xfrm>
            <a:prstGeom prst="rect">
              <a:avLst/>
            </a:prstGeom>
            <a:solidFill>
              <a:srgbClr val="00C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itchFamily="34" charset="-122"/>
                <a:ea typeface="微软雅黑" pitchFamily="34" charset="-122"/>
              </a:endParaRPr>
            </a:p>
          </p:txBody>
        </p:sp>
        <p:sp>
          <p:nvSpPr>
            <p:cNvPr id="22" name="Line 19"/>
            <p:cNvSpPr>
              <a:spLocks noChangeShapeType="1"/>
            </p:cNvSpPr>
            <p:nvPr/>
          </p:nvSpPr>
          <p:spPr bwMode="auto">
            <a:xfrm flipV="1">
              <a:off x="2096427" y="3571998"/>
              <a:ext cx="0" cy="137480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3" name="Oval 20"/>
            <p:cNvSpPr>
              <a:spLocks noChangeArrowheads="1"/>
            </p:cNvSpPr>
            <p:nvPr/>
          </p:nvSpPr>
          <p:spPr bwMode="auto">
            <a:xfrm>
              <a:off x="4719108" y="3694260"/>
              <a:ext cx="646642" cy="585788"/>
            </a:xfrm>
            <a:prstGeom prst="ellipse">
              <a:avLst/>
            </a:prstGeom>
            <a:solidFill>
              <a:srgbClr val="66FF66"/>
            </a:solidFill>
            <a:ln w="12700"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S</a:t>
              </a:r>
              <a:r>
                <a:rPr lang="en-US" altLang="zh-CN" sz="1200" b="1" baseline="-25000">
                  <a:latin typeface="微软雅黑" pitchFamily="34" charset="-122"/>
                  <a:ea typeface="微软雅黑" pitchFamily="34" charset="-122"/>
                </a:rPr>
                <a:t>2</a:t>
              </a:r>
            </a:p>
          </p:txBody>
        </p:sp>
        <p:sp>
          <p:nvSpPr>
            <p:cNvPr id="24" name="Oval 21"/>
            <p:cNvSpPr>
              <a:spLocks noChangeArrowheads="1"/>
            </p:cNvSpPr>
            <p:nvPr/>
          </p:nvSpPr>
          <p:spPr bwMode="auto">
            <a:xfrm>
              <a:off x="6048508" y="3694260"/>
              <a:ext cx="646642" cy="585788"/>
            </a:xfrm>
            <a:prstGeom prst="ellipse">
              <a:avLst/>
            </a:prstGeom>
            <a:solidFill>
              <a:srgbClr val="66FF66"/>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itchFamily="34" charset="-122"/>
                  <a:ea typeface="微软雅黑" pitchFamily="34" charset="-122"/>
                </a:rPr>
                <a:t>S</a:t>
              </a:r>
              <a:r>
                <a:rPr lang="en-US" altLang="zh-CN" sz="1200" b="1" baseline="-25000">
                  <a:latin typeface="微软雅黑" pitchFamily="34" charset="-122"/>
                  <a:ea typeface="微软雅黑" pitchFamily="34" charset="-122"/>
                </a:rPr>
                <a:t>3</a:t>
              </a:r>
            </a:p>
          </p:txBody>
        </p:sp>
        <p:sp>
          <p:nvSpPr>
            <p:cNvPr id="25" name="Line 22"/>
            <p:cNvSpPr>
              <a:spLocks noChangeShapeType="1"/>
            </p:cNvSpPr>
            <p:nvPr/>
          </p:nvSpPr>
          <p:spPr bwMode="auto">
            <a:xfrm>
              <a:off x="2467902" y="3442750"/>
              <a:ext cx="1012957" cy="334061"/>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6" name="Line 23"/>
            <p:cNvSpPr>
              <a:spLocks noChangeShapeType="1"/>
            </p:cNvSpPr>
            <p:nvPr/>
          </p:nvSpPr>
          <p:spPr bwMode="auto">
            <a:xfrm>
              <a:off x="2528094" y="3325959"/>
              <a:ext cx="2240889" cy="492125"/>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7" name="Line 24"/>
            <p:cNvSpPr>
              <a:spLocks noChangeShapeType="1"/>
            </p:cNvSpPr>
            <p:nvPr/>
          </p:nvSpPr>
          <p:spPr bwMode="auto">
            <a:xfrm>
              <a:off x="2559050" y="3153693"/>
              <a:ext cx="3508375" cy="708842"/>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28" name="Text Box 25"/>
            <p:cNvSpPr txBox="1">
              <a:spLocks noChangeArrowheads="1"/>
            </p:cNvSpPr>
            <p:nvPr/>
          </p:nvSpPr>
          <p:spPr bwMode="auto">
            <a:xfrm>
              <a:off x="8157079" y="5450036"/>
              <a:ext cx="1341225" cy="464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操作系统</a:t>
              </a:r>
            </a:p>
          </p:txBody>
        </p:sp>
        <p:sp>
          <p:nvSpPr>
            <p:cNvPr id="29" name="Line 26"/>
            <p:cNvSpPr>
              <a:spLocks noChangeShapeType="1"/>
            </p:cNvSpPr>
            <p:nvPr/>
          </p:nvSpPr>
          <p:spPr bwMode="auto">
            <a:xfrm flipH="1">
              <a:off x="7637596" y="5699273"/>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0" name="Line 27"/>
            <p:cNvSpPr>
              <a:spLocks noChangeShapeType="1"/>
            </p:cNvSpPr>
            <p:nvPr/>
          </p:nvSpPr>
          <p:spPr bwMode="auto">
            <a:xfrm flipH="1">
              <a:off x="7637596" y="3443435"/>
              <a:ext cx="553773" cy="0"/>
            </a:xfrm>
            <a:prstGeom prst="line">
              <a:avLst/>
            </a:prstGeom>
            <a:noFill/>
            <a:ln w="952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1" name="Text Box 28"/>
            <p:cNvSpPr txBox="1">
              <a:spLocks noChangeArrowheads="1"/>
            </p:cNvSpPr>
            <p:nvPr/>
          </p:nvSpPr>
          <p:spPr bwMode="auto">
            <a:xfrm>
              <a:off x="8112365" y="3119585"/>
              <a:ext cx="1341225"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200" b="1">
                  <a:latin typeface="微软雅黑" pitchFamily="34" charset="-122"/>
                  <a:ea typeface="微软雅黑" pitchFamily="34" charset="-122"/>
                </a:rPr>
                <a:t>服务器</a:t>
              </a:r>
            </a:p>
            <a:p>
              <a:pPr algn="ctr" eaLnBrk="1" hangingPunct="1"/>
              <a:r>
                <a:rPr lang="zh-CN" altLang="en-US" sz="1200" b="1">
                  <a:latin typeface="微软雅黑" pitchFamily="34" charset="-122"/>
                  <a:ea typeface="微软雅黑" pitchFamily="34" charset="-122"/>
                </a:rPr>
                <a:t>应用进程</a:t>
              </a:r>
            </a:p>
          </p:txBody>
        </p:sp>
        <p:sp>
          <p:nvSpPr>
            <p:cNvPr id="32" name="Text Box 29"/>
            <p:cNvSpPr txBox="1">
              <a:spLocks noChangeArrowheads="1"/>
            </p:cNvSpPr>
            <p:nvPr/>
          </p:nvSpPr>
          <p:spPr bwMode="auto">
            <a:xfrm>
              <a:off x="4607993" y="3142838"/>
              <a:ext cx="2115009"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pitchFamily="34" charset="-122"/>
                  <a:ea typeface="微软雅黑" pitchFamily="34" charset="-122"/>
                </a:rPr>
                <a:t>从属服务器进程</a:t>
              </a:r>
            </a:p>
          </p:txBody>
        </p:sp>
        <p:sp>
          <p:nvSpPr>
            <p:cNvPr id="33" name="Text Box 30"/>
            <p:cNvSpPr txBox="1">
              <a:spLocks noChangeArrowheads="1"/>
            </p:cNvSpPr>
            <p:nvPr/>
          </p:nvSpPr>
          <p:spPr bwMode="auto">
            <a:xfrm>
              <a:off x="1172500" y="2289448"/>
              <a:ext cx="1857081"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latin typeface="微软雅黑" pitchFamily="34" charset="-122"/>
                  <a:ea typeface="微软雅黑" pitchFamily="34" charset="-122"/>
                </a:rPr>
                <a:t>主服务器进程</a:t>
              </a:r>
            </a:p>
          </p:txBody>
        </p:sp>
        <p:sp>
          <p:nvSpPr>
            <p:cNvPr id="34" name="Text Box 31"/>
            <p:cNvSpPr txBox="1">
              <a:spLocks noChangeArrowheads="1"/>
            </p:cNvSpPr>
            <p:nvPr/>
          </p:nvSpPr>
          <p:spPr bwMode="auto">
            <a:xfrm>
              <a:off x="896012" y="5853260"/>
              <a:ext cx="2372936" cy="459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200" b="1" dirty="0">
                  <a:solidFill>
                    <a:schemeClr val="bg1"/>
                  </a:solidFill>
                  <a:latin typeface="微软雅黑" pitchFamily="34" charset="-122"/>
                  <a:ea typeface="微软雅黑" pitchFamily="34" charset="-122"/>
                </a:rPr>
                <a:t>（原来的套接字）</a:t>
              </a:r>
            </a:p>
          </p:txBody>
        </p:sp>
        <p:sp>
          <p:nvSpPr>
            <p:cNvPr id="35" name="Line 32"/>
            <p:cNvSpPr>
              <a:spLocks noChangeShapeType="1"/>
            </p:cNvSpPr>
            <p:nvPr/>
          </p:nvSpPr>
          <p:spPr bwMode="auto">
            <a:xfrm>
              <a:off x="3389709" y="6145953"/>
              <a:ext cx="33243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sp>
          <p:nvSpPr>
            <p:cNvPr id="36" name="Text Box 33"/>
            <p:cNvSpPr txBox="1">
              <a:spLocks noChangeArrowheads="1"/>
            </p:cNvSpPr>
            <p:nvPr/>
          </p:nvSpPr>
          <p:spPr bwMode="auto">
            <a:xfrm>
              <a:off x="3943484" y="5895943"/>
              <a:ext cx="2313828" cy="479746"/>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fontAlgn="ctr" hangingPunct="1">
                <a:lnSpc>
                  <a:spcPct val="105000"/>
                </a:lnSpc>
              </a:pPr>
              <a:r>
                <a:rPr lang="en-US" altLang="zh-CN" sz="1200" b="1" dirty="0">
                  <a:solidFill>
                    <a:srgbClr val="0000CC"/>
                  </a:solidFill>
                  <a:latin typeface="微软雅黑" pitchFamily="34" charset="-122"/>
                  <a:ea typeface="微软雅黑" pitchFamily="34" charset="-122"/>
                </a:rPr>
                <a:t>(</a:t>
              </a:r>
              <a:r>
                <a:rPr lang="zh-CN" altLang="en-US" sz="1200" b="1" dirty="0">
                  <a:solidFill>
                    <a:srgbClr val="0000CC"/>
                  </a:solidFill>
                  <a:latin typeface="微软雅黑" pitchFamily="34" charset="-122"/>
                  <a:ea typeface="微软雅黑" pitchFamily="34" charset="-122"/>
                </a:rPr>
                <a:t>新创建的套接字</a:t>
              </a:r>
              <a:r>
                <a:rPr lang="en-US" altLang="zh-CN" sz="1200" b="1" dirty="0">
                  <a:solidFill>
                    <a:srgbClr val="0000CC"/>
                  </a:solidFill>
                  <a:latin typeface="微软雅黑" pitchFamily="34" charset="-122"/>
                  <a:ea typeface="微软雅黑" pitchFamily="34" charset="-122"/>
                </a:rPr>
                <a:t>)</a:t>
              </a:r>
            </a:p>
          </p:txBody>
        </p:sp>
        <p:sp>
          <p:nvSpPr>
            <p:cNvPr id="37" name="Line 34"/>
            <p:cNvSpPr>
              <a:spLocks noChangeShapeType="1"/>
            </p:cNvSpPr>
            <p:nvPr/>
          </p:nvSpPr>
          <p:spPr bwMode="auto">
            <a:xfrm>
              <a:off x="3097498" y="4946798"/>
              <a:ext cx="0" cy="1506538"/>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itchFamily="34" charset="-122"/>
                <a:ea typeface="微软雅黑" pitchFamily="34" charset="-122"/>
              </a:endParaRPr>
            </a:p>
          </p:txBody>
        </p:sp>
      </p:grpSp>
      <p:sp>
        <p:nvSpPr>
          <p:cNvPr id="39" name="矩形 38"/>
          <p:cNvSpPr/>
          <p:nvPr/>
        </p:nvSpPr>
        <p:spPr>
          <a:xfrm>
            <a:off x="1273621" y="1136438"/>
            <a:ext cx="6805059" cy="584775"/>
          </a:xfrm>
          <a:prstGeom prst="rect">
            <a:avLst/>
          </a:prstGeom>
          <a:solidFill>
            <a:srgbClr val="FFFF99"/>
          </a:solidFill>
          <a:ln>
            <a:solidFill>
              <a:schemeClr val="tx1"/>
            </a:solidFill>
          </a:ln>
        </p:spPr>
        <p:txBody>
          <a:bodyPr wrap="square">
            <a:spAutoFit/>
          </a:bodyPr>
          <a:lstStyle/>
          <a:p>
            <a:r>
              <a:rPr kumimoji="1" lang="zh-CN" altLang="en-US" sz="1600" b="1" dirty="0">
                <a:latin typeface="微软雅黑" pitchFamily="34" charset="-122"/>
                <a:ea typeface="微软雅黑" pitchFamily="34" charset="-122"/>
              </a:rPr>
              <a:t>调用 </a:t>
            </a:r>
            <a:r>
              <a:rPr kumimoji="1" lang="en-US" altLang="zh-CN" sz="1600" b="1" dirty="0">
                <a:latin typeface="微软雅黑" pitchFamily="34" charset="-122"/>
                <a:ea typeface="微软雅黑" pitchFamily="34" charset="-122"/>
              </a:rPr>
              <a:t>accept </a:t>
            </a:r>
            <a:r>
              <a:rPr kumimoji="1" lang="zh-CN" altLang="en-US" sz="1600" b="1" dirty="0">
                <a:latin typeface="微软雅黑" pitchFamily="34" charset="-122"/>
                <a:ea typeface="微软雅黑" pitchFamily="34" charset="-122"/>
              </a:rPr>
              <a:t>要完成的动作较多。这是因为一个服务器必须能够</a:t>
            </a:r>
            <a:r>
              <a:rPr kumimoji="1" lang="zh-CN" altLang="en-US" sz="1600" b="1" dirty="0">
                <a:solidFill>
                  <a:srgbClr val="C00000"/>
                </a:solidFill>
                <a:latin typeface="微软雅黑" pitchFamily="34" charset="-122"/>
                <a:ea typeface="微软雅黑" pitchFamily="34" charset="-122"/>
              </a:rPr>
              <a:t>同时</a:t>
            </a:r>
            <a:r>
              <a:rPr kumimoji="1" lang="zh-CN" altLang="en-US" sz="1600" b="1" dirty="0">
                <a:latin typeface="微软雅黑" pitchFamily="34" charset="-122"/>
                <a:ea typeface="微软雅黑" pitchFamily="34" charset="-122"/>
              </a:rPr>
              <a:t>处理多个连接。这样的服务器常称为</a:t>
            </a:r>
            <a:r>
              <a:rPr kumimoji="1" lang="zh-CN" altLang="en-US" sz="1600" b="1" dirty="0">
                <a:solidFill>
                  <a:srgbClr val="C00000"/>
                </a:solidFill>
                <a:latin typeface="微软雅黑" pitchFamily="34" charset="-122"/>
                <a:ea typeface="微软雅黑" pitchFamily="34" charset="-122"/>
              </a:rPr>
              <a:t>并发方式 </a:t>
            </a:r>
            <a:r>
              <a:rPr kumimoji="1" lang="en-US" altLang="zh-CN" sz="1600" b="1" dirty="0">
                <a:latin typeface="微软雅黑" pitchFamily="34" charset="-122"/>
                <a:ea typeface="微软雅黑" pitchFamily="34" charset="-122"/>
              </a:rPr>
              <a:t>(concurrent) </a:t>
            </a:r>
            <a:r>
              <a:rPr kumimoji="1" lang="zh-CN" altLang="en-US" sz="1600" b="1" dirty="0">
                <a:latin typeface="微软雅黑" pitchFamily="34" charset="-122"/>
                <a:ea typeface="微软雅黑" pitchFamily="34" charset="-122"/>
              </a:rPr>
              <a:t>工作的服务器。</a:t>
            </a:r>
          </a:p>
        </p:txBody>
      </p:sp>
    </p:spTree>
    <p:extLst>
      <p:ext uri="{BB962C8B-B14F-4D97-AF65-F5344CB8AC3E}">
        <p14:creationId xmlns:p14="http://schemas.microsoft.com/office/powerpoint/2010/main" val="38469464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连接建立阶段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recv</a:t>
            </a: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5" name="组合 44"/>
          <p:cNvGrpSpPr/>
          <p:nvPr/>
        </p:nvGrpSpPr>
        <p:grpSpPr>
          <a:xfrm>
            <a:off x="2614866" y="1365082"/>
            <a:ext cx="2679394" cy="1327664"/>
            <a:chOff x="2614866" y="1425503"/>
            <a:chExt cx="2679394" cy="1327664"/>
          </a:xfrm>
        </p:grpSpPr>
        <p:cxnSp>
          <p:nvCxnSpPr>
            <p:cNvPr id="47" name="直接箭头连接符 46"/>
            <p:cNvCxnSpPr/>
            <p:nvPr/>
          </p:nvCxnSpPr>
          <p:spPr>
            <a:xfrm flipH="1">
              <a:off x="3227534" y="2248102"/>
              <a:ext cx="265478" cy="5050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客户进程</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connect</a:t>
              </a:r>
              <a:r>
                <a:rPr lang="zh-CN" altLang="en-US" sz="1600" b="1" dirty="0">
                  <a:latin typeface="微软雅黑" panose="020B0503020204020204" pitchFamily="34" charset="-122"/>
                  <a:ea typeface="微软雅黑" panose="020B0503020204020204" pitchFamily="34" charset="-122"/>
                </a:rPr>
                <a:t>，以便和远地服务器建立连接（这就是主动打开）。</a:t>
              </a:r>
            </a:p>
          </p:txBody>
        </p:sp>
      </p:grpSp>
    </p:spTree>
    <p:extLst>
      <p:ext uri="{BB962C8B-B14F-4D97-AF65-F5344CB8AC3E}">
        <p14:creationId xmlns:p14="http://schemas.microsoft.com/office/powerpoint/2010/main" val="190485518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63330" y="1019340"/>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821372" y="575768"/>
            <a:ext cx="1519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传送阶段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recv</a:t>
            </a:r>
            <a:endParaRPr lang="en-US" altLang="zh-CN" sz="1400" b="1" dirty="0">
              <a:solidFill>
                <a:srgbClr val="0000FF"/>
              </a:solidFill>
              <a:latin typeface="微软雅黑" pitchFamily="34" charset="-122"/>
              <a:ea typeface="微软雅黑"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solidFill>
                  <a:srgbClr val="0000FF"/>
                </a:solidFill>
                <a:latin typeface="微软雅黑" pitchFamily="34" charset="-122"/>
                <a:ea typeface="微软雅黑" pitchFamily="34" charset="-122"/>
              </a:rPr>
              <a:t>recv</a:t>
            </a:r>
            <a:endParaRPr lang="en-US" altLang="zh-CN" sz="1400" b="1" dirty="0">
              <a:solidFill>
                <a:srgbClr val="0000FF"/>
              </a:solidFill>
              <a:latin typeface="微软雅黑" pitchFamily="34" charset="-122"/>
              <a:ea typeface="微软雅黑"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5" name="组合 44"/>
          <p:cNvGrpSpPr/>
          <p:nvPr/>
        </p:nvGrpSpPr>
        <p:grpSpPr>
          <a:xfrm>
            <a:off x="2614866" y="1365082"/>
            <a:ext cx="2927724" cy="1812832"/>
            <a:chOff x="2614866" y="1425503"/>
            <a:chExt cx="2927724" cy="1812832"/>
          </a:xfrm>
        </p:grpSpPr>
        <p:cxnSp>
          <p:nvCxnSpPr>
            <p:cNvPr id="47" name="直接箭头连接符 46"/>
            <p:cNvCxnSpPr/>
            <p:nvPr/>
          </p:nvCxnSpPr>
          <p:spPr>
            <a:xfrm flipH="1">
              <a:off x="3108983" y="2243423"/>
              <a:ext cx="691938" cy="9475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778029" y="2243423"/>
              <a:ext cx="764561" cy="9949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C00000"/>
                  </a:solidFill>
                  <a:latin typeface="微软雅黑" panose="020B0503020204020204" pitchFamily="34" charset="-122"/>
                  <a:ea typeface="微软雅黑" panose="020B0503020204020204" pitchFamily="34" charset="-122"/>
                </a:rPr>
                <a:t>服务器</a:t>
              </a:r>
              <a:r>
                <a:rPr lang="zh-CN" altLang="en-US" sz="1600" b="1" dirty="0">
                  <a:latin typeface="微软雅黑" panose="020B0503020204020204" pitchFamily="34" charset="-122"/>
                  <a:ea typeface="微软雅黑" panose="020B0503020204020204" pitchFamily="34" charset="-122"/>
                </a:rPr>
                <a:t>在 </a:t>
              </a:r>
              <a:r>
                <a:rPr lang="en-US" altLang="zh-CN" sz="1600" b="1" dirty="0">
                  <a:latin typeface="微软雅黑" panose="020B0503020204020204" pitchFamily="34" charset="-122"/>
                  <a:ea typeface="微软雅黑" panose="020B0503020204020204" pitchFamily="34" charset="-122"/>
                </a:rPr>
                <a:t>TCP </a:t>
              </a:r>
              <a:r>
                <a:rPr lang="zh-CN" altLang="en-US" sz="1600" b="1" dirty="0">
                  <a:latin typeface="微软雅黑" panose="020B0503020204020204" pitchFamily="34" charset="-122"/>
                  <a:ea typeface="微软雅黑" panose="020B0503020204020204" pitchFamily="34" charset="-122"/>
                </a:rPr>
                <a:t>连接上使用 </a:t>
              </a:r>
              <a:r>
                <a:rPr lang="en-US" altLang="zh-CN" sz="1600" b="1" dirty="0">
                  <a:latin typeface="微软雅黑" panose="020B0503020204020204" pitchFamily="34" charset="-122"/>
                  <a:ea typeface="微软雅黑" panose="020B0503020204020204" pitchFamily="34" charset="-122"/>
                </a:rPr>
                <a:t>send </a:t>
              </a:r>
              <a:r>
                <a:rPr lang="zh-CN" altLang="en-US" sz="1600" b="1" dirty="0">
                  <a:latin typeface="微软雅黑" panose="020B0503020204020204" pitchFamily="34" charset="-122"/>
                  <a:ea typeface="微软雅黑" panose="020B0503020204020204" pitchFamily="34" charset="-122"/>
                </a:rPr>
                <a:t>传送数据，使用 </a:t>
              </a:r>
              <a:r>
                <a:rPr lang="en-US" altLang="zh-CN" sz="1600" b="1" dirty="0" err="1">
                  <a:latin typeface="微软雅黑" panose="020B0503020204020204" pitchFamily="34" charset="-122"/>
                  <a:ea typeface="微软雅黑" panose="020B0503020204020204" pitchFamily="34" charset="-122"/>
                </a:rPr>
                <a:t>recv</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接收数据。</a:t>
              </a:r>
            </a:p>
          </p:txBody>
        </p:sp>
      </p:grpSp>
    </p:spTree>
    <p:extLst>
      <p:ext uri="{BB962C8B-B14F-4D97-AF65-F5344CB8AC3E}">
        <p14:creationId xmlns:p14="http://schemas.microsoft.com/office/powerpoint/2010/main" val="317327636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21" grpId="0"/>
      <p:bldP spid="22"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a:solidFill>
                  <a:srgbClr val="0000FF"/>
                </a:solidFill>
                <a:latin typeface="微软雅黑" pitchFamily="34" charset="-122"/>
                <a:ea typeface="微软雅黑" pitchFamily="34" charset="-122"/>
              </a:rPr>
              <a:t>服务器端</a:t>
            </a: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600" b="1" dirty="0">
                <a:solidFill>
                  <a:srgbClr val="0000FF"/>
                </a:solidFill>
                <a:latin typeface="微软雅黑" pitchFamily="34" charset="-122"/>
                <a:ea typeface="微软雅黑" pitchFamily="34" charset="-122"/>
              </a:rPr>
              <a:t>客户端</a:t>
            </a: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连接释放阶段</a:t>
            </a: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bind</a:t>
            </a: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listen</a:t>
            </a: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accept</a:t>
            </a: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pitchFamily="34" charset="-122"/>
                <a:ea typeface="微软雅黑" pitchFamily="34" charset="-122"/>
              </a:rPr>
              <a:t>recv</a:t>
            </a:r>
            <a:endParaRPr lang="en-US" altLang="zh-CN" sz="1400" b="1" dirty="0">
              <a:latin typeface="微软雅黑" pitchFamily="34" charset="-122"/>
              <a:ea typeface="微软雅黑"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send</a:t>
            </a:r>
          </a:p>
        </p:txBody>
      </p:sp>
      <p:sp>
        <p:nvSpPr>
          <p:cNvPr id="12" name="Text Box 11"/>
          <p:cNvSpPr txBox="1">
            <a:spLocks noChangeArrowheads="1"/>
          </p:cNvSpPr>
          <p:nvPr/>
        </p:nvSpPr>
        <p:spPr bwMode="auto">
          <a:xfrm>
            <a:off x="5390761"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solidFill>
                  <a:srgbClr val="C00000"/>
                </a:solidFill>
                <a:latin typeface="微软雅黑" pitchFamily="34" charset="-122"/>
                <a:ea typeface="微软雅黑" pitchFamily="34" charset="-122"/>
              </a:rPr>
              <a:t>close</a:t>
            </a: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socket</a:t>
            </a: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err="1">
                <a:latin typeface="微软雅黑" pitchFamily="34" charset="-122"/>
                <a:ea typeface="微软雅黑" pitchFamily="34" charset="-122"/>
              </a:rPr>
              <a:t>recv</a:t>
            </a:r>
            <a:endParaRPr lang="en-US" altLang="zh-CN" sz="1400" b="1" dirty="0">
              <a:latin typeface="微软雅黑" pitchFamily="34" charset="-122"/>
              <a:ea typeface="微软雅黑"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latin typeface="微软雅黑" pitchFamily="34" charset="-122"/>
                <a:ea typeface="微软雅黑" pitchFamily="34" charset="-122"/>
              </a:rPr>
              <a:t>send</a:t>
            </a:r>
          </a:p>
        </p:txBody>
      </p:sp>
      <p:sp>
        <p:nvSpPr>
          <p:cNvPr id="23" name="Text Box 22"/>
          <p:cNvSpPr txBox="1">
            <a:spLocks noChangeArrowheads="1"/>
          </p:cNvSpPr>
          <p:nvPr/>
        </p:nvSpPr>
        <p:spPr bwMode="auto">
          <a:xfrm>
            <a:off x="2601046"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dirty="0">
                <a:solidFill>
                  <a:srgbClr val="C00000"/>
                </a:solidFill>
                <a:latin typeface="微软雅黑" pitchFamily="34" charset="-122"/>
                <a:ea typeface="微软雅黑" pitchFamily="34" charset="-122"/>
              </a:rPr>
              <a:t>close</a:t>
            </a: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1400" b="1">
                <a:latin typeface="微软雅黑" pitchFamily="34" charset="-122"/>
                <a:ea typeface="微软雅黑" pitchFamily="34" charset="-122"/>
              </a:rPr>
              <a:t>connect</a:t>
            </a: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29" name="Freeform 28"/>
          <p:cNvSpPr>
            <a:spLocks/>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0" name="Freeform 29"/>
          <p:cNvSpPr>
            <a:spLocks/>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1" name="Freeform 30"/>
          <p:cNvSpPr>
            <a:spLocks/>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itchFamily="34" charset="-122"/>
              <a:ea typeface="微软雅黑"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400" b="1" dirty="0">
                <a:latin typeface="微软雅黑" pitchFamily="34" charset="-122"/>
                <a:ea typeface="微软雅黑" pitchFamily="34" charset="-122"/>
              </a:rPr>
              <a:t>连接建立请求</a:t>
            </a: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连接建立</a:t>
            </a: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数据传送</a:t>
            </a: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400" b="1" dirty="0">
                <a:solidFill>
                  <a:srgbClr val="C00000"/>
                </a:solidFill>
                <a:latin typeface="微软雅黑" pitchFamily="34" charset="-122"/>
                <a:ea typeface="微软雅黑" pitchFamily="34" charset="-122"/>
              </a:rPr>
              <a:t>连接释放</a:t>
            </a:r>
          </a:p>
        </p:txBody>
      </p:sp>
      <p:grpSp>
        <p:nvGrpSpPr>
          <p:cNvPr id="45" name="组合 44"/>
          <p:cNvGrpSpPr/>
          <p:nvPr/>
        </p:nvGrpSpPr>
        <p:grpSpPr>
          <a:xfrm>
            <a:off x="2228295" y="1365082"/>
            <a:ext cx="3337380" cy="2787731"/>
            <a:chOff x="2228295" y="1425503"/>
            <a:chExt cx="3337380" cy="2787731"/>
          </a:xfrm>
        </p:grpSpPr>
        <p:cxnSp>
          <p:nvCxnSpPr>
            <p:cNvPr id="47" name="直接箭头连接符 46"/>
            <p:cNvCxnSpPr/>
            <p:nvPr/>
          </p:nvCxnSpPr>
          <p:spPr>
            <a:xfrm flipH="1">
              <a:off x="3082773" y="2010278"/>
              <a:ext cx="519829"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666774" y="2010278"/>
              <a:ext cx="898901"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228295" y="1425503"/>
              <a:ext cx="3065965" cy="58477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或</a:t>
              </a:r>
              <a:r>
                <a:rPr lang="zh-CN" altLang="en-US" sz="1600" b="1" dirty="0">
                  <a:solidFill>
                    <a:srgbClr val="C00000"/>
                  </a:solidFill>
                  <a:latin typeface="微软雅黑" panose="020B0503020204020204" pitchFamily="34" charset="-122"/>
                  <a:ea typeface="微软雅黑" panose="020B0503020204020204" pitchFamily="34" charset="-122"/>
                </a:rPr>
                <a:t>服务器</a:t>
              </a:r>
              <a:r>
                <a:rPr lang="zh-CN" altLang="en-US" sz="1600" b="1" dirty="0">
                  <a:latin typeface="微软雅黑" panose="020B0503020204020204" pitchFamily="34" charset="-122"/>
                  <a:ea typeface="微软雅黑" panose="020B0503020204020204" pitchFamily="34" charset="-122"/>
                </a:rPr>
                <a:t>通信结束，调用 </a:t>
              </a:r>
              <a:r>
                <a:rPr lang="en-US" altLang="zh-CN" sz="1600" b="1" dirty="0">
                  <a:latin typeface="微软雅黑" panose="020B0503020204020204" pitchFamily="34" charset="-122"/>
                  <a:ea typeface="微软雅黑" panose="020B0503020204020204" pitchFamily="34" charset="-122"/>
                </a:rPr>
                <a:t>close </a:t>
              </a:r>
              <a:r>
                <a:rPr lang="zh-CN" altLang="en-US" sz="1600" b="1" dirty="0">
                  <a:latin typeface="微软雅黑" panose="020B0503020204020204" pitchFamily="34" charset="-122"/>
                  <a:ea typeface="微软雅黑" panose="020B0503020204020204" pitchFamily="34" charset="-122"/>
                </a:rPr>
                <a:t>释放连接和撤销套接字。</a:t>
              </a:r>
            </a:p>
          </p:txBody>
        </p:sp>
      </p:grpSp>
    </p:spTree>
    <p:extLst>
      <p:ext uri="{BB962C8B-B14F-4D97-AF65-F5344CB8AC3E}">
        <p14:creationId xmlns:p14="http://schemas.microsoft.com/office/powerpoint/2010/main" val="112458070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0"/>
          <p:cNvSpPr>
            <a:spLocks noChangeArrowheads="1"/>
          </p:cNvSpPr>
          <p:nvPr/>
        </p:nvSpPr>
        <p:spPr bwMode="auto">
          <a:xfrm>
            <a:off x="2629135" y="266899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3" name="Rectangle 9"/>
          <p:cNvSpPr>
            <a:spLocks noChangeArrowheads="1"/>
          </p:cNvSpPr>
          <p:nvPr/>
        </p:nvSpPr>
        <p:spPr bwMode="auto">
          <a:xfrm>
            <a:off x="2629135" y="221328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4" name="Rectangle 9"/>
          <p:cNvSpPr>
            <a:spLocks noChangeArrowheads="1"/>
          </p:cNvSpPr>
          <p:nvPr/>
        </p:nvSpPr>
        <p:spPr bwMode="auto">
          <a:xfrm>
            <a:off x="2629135" y="129098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5" name="Rectangle 10"/>
          <p:cNvSpPr>
            <a:spLocks noChangeArrowheads="1"/>
          </p:cNvSpPr>
          <p:nvPr/>
        </p:nvSpPr>
        <p:spPr bwMode="auto">
          <a:xfrm>
            <a:off x="2629135" y="175473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6" name="Line 16"/>
          <p:cNvSpPr>
            <a:spLocks noChangeShapeType="1"/>
          </p:cNvSpPr>
          <p:nvPr/>
        </p:nvSpPr>
        <p:spPr bwMode="auto">
          <a:xfrm>
            <a:off x="3637198" y="1219543"/>
            <a:ext cx="0" cy="2150510"/>
          </a:xfrm>
          <a:prstGeom prst="line">
            <a:avLst/>
          </a:prstGeom>
          <a:noFill/>
          <a:ln w="28575" algn="ctr">
            <a:solidFill>
              <a:srgbClr val="FFFF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098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8" name="Rectangle 29"/>
          <p:cNvSpPr>
            <a:spLocks noChangeArrowheads="1"/>
          </p:cNvSpPr>
          <p:nvPr/>
        </p:nvSpPr>
        <p:spPr bwMode="auto">
          <a:xfrm>
            <a:off x="648619" y="1385913"/>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a:solidFill>
                  <a:srgbClr val="FFFF00"/>
                </a:solidFill>
                <a:latin typeface="微软雅黑" pitchFamily="34" charset="-122"/>
                <a:ea typeface="微软雅黑" pitchFamily="34" charset="-122"/>
              </a:rPr>
              <a:t>6.9</a:t>
            </a:r>
          </a:p>
          <a:p>
            <a:pPr eaLnBrk="0" hangingPunct="0"/>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应用</a:t>
            </a:r>
            <a:endParaRPr lang="zh-CN" altLang="fr-FR" sz="2000" b="1" dirty="0">
              <a:solidFill>
                <a:schemeClr val="bg1"/>
              </a:solidFill>
              <a:latin typeface="微软雅黑" pitchFamily="34" charset="-122"/>
              <a:ea typeface="微软雅黑" pitchFamily="34" charset="-122"/>
            </a:endParaRPr>
          </a:p>
        </p:txBody>
      </p:sp>
      <p:sp>
        <p:nvSpPr>
          <p:cNvPr id="9" name="Rectangle 8"/>
          <p:cNvSpPr>
            <a:spLocks noChangeArrowheads="1"/>
          </p:cNvSpPr>
          <p:nvPr/>
        </p:nvSpPr>
        <p:spPr bwMode="auto">
          <a:xfrm>
            <a:off x="2700573" y="1166680"/>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itchFamily="34" charset="-122"/>
                <a:ea typeface="微软雅黑" pitchFamily="34" charset="-122"/>
              </a:rPr>
              <a:t>6.9.1         </a:t>
            </a:r>
            <a:r>
              <a:rPr lang="zh-CN" altLang="en-US" sz="2000" b="1" dirty="0">
                <a:solidFill>
                  <a:schemeClr val="bg1"/>
                </a:solidFill>
                <a:latin typeface="微软雅黑" pitchFamily="34" charset="-122"/>
                <a:ea typeface="微软雅黑" pitchFamily="34" charset="-122"/>
              </a:rPr>
              <a:t>具有集中目录服务器的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工作方式</a:t>
            </a:r>
          </a:p>
          <a:p>
            <a:pPr eaLnBrk="0" hangingPunct="0">
              <a:lnSpc>
                <a:spcPct val="150000"/>
              </a:lnSpc>
            </a:pPr>
            <a:r>
              <a:rPr lang="en-US" altLang="zh-CN" sz="2000" b="1" dirty="0">
                <a:solidFill>
                  <a:schemeClr val="bg1"/>
                </a:solidFill>
                <a:latin typeface="微软雅黑" pitchFamily="34" charset="-122"/>
                <a:ea typeface="微软雅黑" pitchFamily="34" charset="-122"/>
              </a:rPr>
              <a:t>6.9.2      </a:t>
            </a:r>
            <a:r>
              <a:rPr lang="zh-CN" altLang="en-US" sz="2000" b="1" dirty="0">
                <a:solidFill>
                  <a:schemeClr val="bg1"/>
                </a:solidFill>
                <a:latin typeface="微软雅黑" pitchFamily="34" charset="-122"/>
                <a:ea typeface="微软雅黑" pitchFamily="34" charset="-122"/>
              </a:rPr>
              <a:t>具有全分布式结构的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文件共享程序</a:t>
            </a:r>
          </a:p>
          <a:p>
            <a:pPr eaLnBrk="0" hangingPunct="0">
              <a:lnSpc>
                <a:spcPct val="150000"/>
              </a:lnSpc>
            </a:pPr>
            <a:r>
              <a:rPr lang="en-US" altLang="zh-CN" sz="2000" b="1" dirty="0">
                <a:solidFill>
                  <a:schemeClr val="bg1"/>
                </a:solidFill>
                <a:latin typeface="微软雅黑" pitchFamily="34" charset="-122"/>
                <a:ea typeface="微软雅黑" pitchFamily="34" charset="-122"/>
              </a:rPr>
              <a:t>6.9.3                                 P2P </a:t>
            </a:r>
            <a:r>
              <a:rPr lang="zh-CN" altLang="en-US" sz="2000" b="1" dirty="0">
                <a:solidFill>
                  <a:schemeClr val="bg1"/>
                </a:solidFill>
                <a:latin typeface="微软雅黑" pitchFamily="34" charset="-122"/>
                <a:ea typeface="微软雅黑" pitchFamily="34" charset="-122"/>
              </a:rPr>
              <a:t>文件分发的分析</a:t>
            </a:r>
          </a:p>
          <a:p>
            <a:pPr eaLnBrk="0" hangingPunct="0">
              <a:lnSpc>
                <a:spcPct val="150000"/>
              </a:lnSpc>
            </a:pPr>
            <a:r>
              <a:rPr lang="en-US" altLang="zh-CN" sz="2000" b="1" dirty="0">
                <a:solidFill>
                  <a:schemeClr val="bg1"/>
                </a:solidFill>
                <a:latin typeface="微软雅黑" pitchFamily="34" charset="-122"/>
                <a:ea typeface="微软雅黑" pitchFamily="34" charset="-122"/>
              </a:rPr>
              <a:t>6.9.4                          </a:t>
            </a:r>
            <a:r>
              <a:rPr lang="zh-CN" altLang="en-US" sz="2000" b="1" dirty="0">
                <a:solidFill>
                  <a:schemeClr val="bg1"/>
                </a:solidFill>
                <a:latin typeface="微软雅黑" pitchFamily="34" charset="-122"/>
                <a:ea typeface="微软雅黑" pitchFamily="34" charset="-122"/>
              </a:rPr>
              <a:t>在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对等方中搜索对象</a:t>
            </a:r>
          </a:p>
        </p:txBody>
      </p:sp>
    </p:spTree>
    <p:extLst>
      <p:ext uri="{BB962C8B-B14F-4D97-AF65-F5344CB8AC3E}">
        <p14:creationId xmlns:p14="http://schemas.microsoft.com/office/powerpoint/2010/main" val="164888908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214099" y="583069"/>
            <a:ext cx="27158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工作方式概述</a:t>
            </a:r>
          </a:p>
        </p:txBody>
      </p:sp>
      <p:sp>
        <p:nvSpPr>
          <p:cNvPr id="5" name="圆角矩形 4"/>
          <p:cNvSpPr/>
          <p:nvPr/>
        </p:nvSpPr>
        <p:spPr>
          <a:xfrm>
            <a:off x="556963" y="1092329"/>
            <a:ext cx="8048776" cy="3107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2648991" y="1185337"/>
            <a:ext cx="4946636" cy="2904070"/>
            <a:chOff x="2648991" y="1185337"/>
            <a:chExt cx="4946636" cy="2904070"/>
          </a:xfrm>
        </p:grpSpPr>
        <p:pic>
          <p:nvPicPr>
            <p:cNvPr id="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48991" y="2033162"/>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3860" y="118533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0204" y="1257345"/>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1812" y="3157959"/>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84060" y="359000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6228" y="3157959"/>
              <a:ext cx="499399" cy="499400"/>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457"/>
            <p:cNvGrpSpPr>
              <a:grpSpLocks/>
            </p:cNvGrpSpPr>
            <p:nvPr/>
          </p:nvGrpSpPr>
          <p:grpSpPr bwMode="auto">
            <a:xfrm>
              <a:off x="3955835" y="1672987"/>
              <a:ext cx="2715518" cy="1325336"/>
              <a:chOff x="1776" y="2768"/>
              <a:chExt cx="1824" cy="736"/>
            </a:xfrm>
            <a:solidFill>
              <a:schemeClr val="bg1">
                <a:lumMod val="95000"/>
              </a:schemeClr>
            </a:solidFill>
            <a:effectLst>
              <a:outerShdw blurRad="50800" dist="38100" dir="5400000" algn="t" rotWithShape="0">
                <a:prstClr val="black">
                  <a:alpha val="40000"/>
                </a:prstClr>
              </a:outerShdw>
            </a:effectLst>
          </p:grpSpPr>
          <p:grpSp>
            <p:nvGrpSpPr>
              <p:cNvPr id="14" name="Group 458"/>
              <p:cNvGrpSpPr>
                <a:grpSpLocks/>
              </p:cNvGrpSpPr>
              <p:nvPr/>
            </p:nvGrpSpPr>
            <p:grpSpPr bwMode="auto">
              <a:xfrm>
                <a:off x="1787" y="2783"/>
                <a:ext cx="1813" cy="721"/>
                <a:chOff x="1787" y="2783"/>
                <a:chExt cx="1813" cy="721"/>
              </a:xfrm>
              <a:grpFill/>
            </p:grpSpPr>
            <p:sp>
              <p:nvSpPr>
                <p:cNvPr id="24"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5"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6"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7"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8"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9"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0"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1"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2"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15"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6"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7"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8"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9"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0"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1"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2"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3"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33" name="Text Box 477"/>
            <p:cNvSpPr txBox="1">
              <a:spLocks noChangeArrowheads="1"/>
            </p:cNvSpPr>
            <p:nvPr/>
          </p:nvSpPr>
          <p:spPr bwMode="auto">
            <a:xfrm>
              <a:off x="5014834" y="2241015"/>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600" b="1" dirty="0">
                  <a:solidFill>
                    <a:sysClr val="windowText" lastClr="000000"/>
                  </a:solidFill>
                  <a:latin typeface="微软雅黑" pitchFamily="34" charset="-122"/>
                  <a:ea typeface="微软雅黑" pitchFamily="34" charset="-122"/>
                </a:rPr>
                <a:t>互联网</a:t>
              </a:r>
            </a:p>
          </p:txBody>
        </p:sp>
        <p:sp>
          <p:nvSpPr>
            <p:cNvPr id="34" name="Line 479"/>
            <p:cNvSpPr>
              <a:spLocks noChangeShapeType="1"/>
            </p:cNvSpPr>
            <p:nvPr/>
          </p:nvSpPr>
          <p:spPr bwMode="auto">
            <a:xfrm>
              <a:off x="3135758" y="2235925"/>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5" name="Line 480"/>
            <p:cNvSpPr>
              <a:spLocks noChangeShapeType="1"/>
            </p:cNvSpPr>
            <p:nvPr/>
          </p:nvSpPr>
          <p:spPr bwMode="auto">
            <a:xfrm rot="10800000">
              <a:off x="3032965" y="2322752"/>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7" name="Text Box 2748"/>
            <p:cNvSpPr txBox="1">
              <a:spLocks noChangeArrowheads="1"/>
            </p:cNvSpPr>
            <p:nvPr/>
          </p:nvSpPr>
          <p:spPr bwMode="auto">
            <a:xfrm>
              <a:off x="6994268" y="216355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dirty="0">
                  <a:solidFill>
                    <a:srgbClr val="0000FF"/>
                  </a:solidFill>
                  <a:latin typeface="微软雅黑" pitchFamily="34" charset="-122"/>
                  <a:ea typeface="微软雅黑" pitchFamily="34" charset="-122"/>
                  <a:sym typeface="Symbol" pitchFamily="18" charset="2"/>
                </a:rPr>
                <a:t></a:t>
              </a:r>
            </a:p>
          </p:txBody>
        </p:sp>
        <p:sp>
          <p:nvSpPr>
            <p:cNvPr id="38" name="Line 2750"/>
            <p:cNvSpPr>
              <a:spLocks noChangeShapeType="1"/>
            </p:cNvSpPr>
            <p:nvPr/>
          </p:nvSpPr>
          <p:spPr bwMode="auto">
            <a:xfrm rot="816166">
              <a:off x="4273247" y="1510783"/>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39" name="Line 2751"/>
            <p:cNvSpPr>
              <a:spLocks noChangeShapeType="1"/>
            </p:cNvSpPr>
            <p:nvPr/>
          </p:nvSpPr>
          <p:spPr bwMode="auto">
            <a:xfrm rot="11616166">
              <a:off x="4147864" y="1580436"/>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0" name="Line 2753"/>
            <p:cNvSpPr>
              <a:spLocks noChangeShapeType="1"/>
            </p:cNvSpPr>
            <p:nvPr/>
          </p:nvSpPr>
          <p:spPr bwMode="auto">
            <a:xfrm rot="18950026">
              <a:off x="3700549" y="2924651"/>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1" name="Line 2754"/>
            <p:cNvSpPr>
              <a:spLocks noChangeShapeType="1"/>
            </p:cNvSpPr>
            <p:nvPr/>
          </p:nvSpPr>
          <p:spPr bwMode="auto">
            <a:xfrm rot="8150026">
              <a:off x="3691512" y="3032467"/>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2" name="Line 2756"/>
            <p:cNvSpPr>
              <a:spLocks noChangeShapeType="1"/>
            </p:cNvSpPr>
            <p:nvPr/>
          </p:nvSpPr>
          <p:spPr bwMode="auto">
            <a:xfrm rot="13567995">
              <a:off x="5278444" y="3228884"/>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3" name="Line 2757"/>
            <p:cNvSpPr>
              <a:spLocks noChangeShapeType="1"/>
            </p:cNvSpPr>
            <p:nvPr/>
          </p:nvSpPr>
          <p:spPr bwMode="auto">
            <a:xfrm rot="2767995">
              <a:off x="5384142" y="3215526"/>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4" name="Line 2759"/>
            <p:cNvSpPr>
              <a:spLocks noChangeShapeType="1"/>
            </p:cNvSpPr>
            <p:nvPr/>
          </p:nvSpPr>
          <p:spPr bwMode="auto">
            <a:xfrm rot="18997895">
              <a:off x="6107691" y="1610013"/>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5" name="Line 2760"/>
            <p:cNvSpPr>
              <a:spLocks noChangeShapeType="1"/>
            </p:cNvSpPr>
            <p:nvPr/>
          </p:nvSpPr>
          <p:spPr bwMode="auto">
            <a:xfrm rot="8197895">
              <a:off x="6269221" y="1662491"/>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6" name="Line 2762"/>
            <p:cNvSpPr>
              <a:spLocks noChangeShapeType="1"/>
            </p:cNvSpPr>
            <p:nvPr/>
          </p:nvSpPr>
          <p:spPr bwMode="auto">
            <a:xfrm rot="1048487">
              <a:off x="6466899" y="2913201"/>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7" name="Line 2763"/>
            <p:cNvSpPr>
              <a:spLocks noChangeShapeType="1"/>
            </p:cNvSpPr>
            <p:nvPr/>
          </p:nvSpPr>
          <p:spPr bwMode="auto">
            <a:xfrm rot="11848487">
              <a:off x="6336996" y="2976174"/>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1" name="Text Box 2767"/>
            <p:cNvSpPr txBox="1">
              <a:spLocks noChangeArrowheads="1"/>
            </p:cNvSpPr>
            <p:nvPr/>
          </p:nvSpPr>
          <p:spPr bwMode="auto">
            <a:xfrm>
              <a:off x="6575502" y="1626950"/>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u</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2" name="Text Box 2768"/>
            <p:cNvSpPr txBox="1">
              <a:spLocks noChangeArrowheads="1"/>
            </p:cNvSpPr>
            <p:nvPr/>
          </p:nvSpPr>
          <p:spPr bwMode="auto">
            <a:xfrm>
              <a:off x="6517729" y="2955183"/>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baseline="-25000">
                  <a:solidFill>
                    <a:srgbClr val="0000FF"/>
                  </a:solidFill>
                  <a:latin typeface="微软雅黑" pitchFamily="34" charset="-122"/>
                  <a:ea typeface="微软雅黑" pitchFamily="34" charset="-122"/>
                </a:rPr>
                <a:t>5</a:t>
              </a:r>
            </a:p>
          </p:txBody>
        </p:sp>
        <p:sp>
          <p:nvSpPr>
            <p:cNvPr id="53" name="Text Box 2769"/>
            <p:cNvSpPr txBox="1">
              <a:spLocks noChangeArrowheads="1"/>
            </p:cNvSpPr>
            <p:nvPr/>
          </p:nvSpPr>
          <p:spPr bwMode="auto">
            <a:xfrm>
              <a:off x="5326397" y="321470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4</a:t>
              </a:r>
            </a:p>
          </p:txBody>
        </p:sp>
        <p:sp>
          <p:nvSpPr>
            <p:cNvPr id="54" name="Text Box 2770"/>
            <p:cNvSpPr txBox="1">
              <a:spLocks noChangeArrowheads="1"/>
            </p:cNvSpPr>
            <p:nvPr/>
          </p:nvSpPr>
          <p:spPr bwMode="auto">
            <a:xfrm>
              <a:off x="3853043" y="272483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3</a:t>
              </a:r>
            </a:p>
          </p:txBody>
        </p:sp>
        <p:sp>
          <p:nvSpPr>
            <p:cNvPr id="55" name="Text Box 2771"/>
            <p:cNvSpPr txBox="1">
              <a:spLocks noChangeArrowheads="1"/>
            </p:cNvSpPr>
            <p:nvPr/>
          </p:nvSpPr>
          <p:spPr bwMode="auto">
            <a:xfrm>
              <a:off x="3341341" y="2029910"/>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2</a:t>
              </a:r>
            </a:p>
          </p:txBody>
        </p:sp>
        <p:sp>
          <p:nvSpPr>
            <p:cNvPr id="56" name="Text Box 2772"/>
            <p:cNvSpPr txBox="1">
              <a:spLocks noChangeArrowheads="1"/>
            </p:cNvSpPr>
            <p:nvPr/>
          </p:nvSpPr>
          <p:spPr bwMode="auto">
            <a:xfrm>
              <a:off x="4468665" y="1303418"/>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1</a:t>
              </a:r>
            </a:p>
          </p:txBody>
        </p:sp>
        <p:sp>
          <p:nvSpPr>
            <p:cNvPr id="57" name="Text Box 2773"/>
            <p:cNvSpPr txBox="1">
              <a:spLocks noChangeArrowheads="1"/>
            </p:cNvSpPr>
            <p:nvPr/>
          </p:nvSpPr>
          <p:spPr bwMode="auto">
            <a:xfrm>
              <a:off x="6217802" y="1398434"/>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d</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8" name="Text Box 2774"/>
            <p:cNvSpPr txBox="1">
              <a:spLocks noChangeArrowheads="1"/>
            </p:cNvSpPr>
            <p:nvPr/>
          </p:nvSpPr>
          <p:spPr bwMode="auto">
            <a:xfrm>
              <a:off x="4217361" y="1574870"/>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1</a:t>
              </a:r>
            </a:p>
          </p:txBody>
        </p:sp>
        <p:sp>
          <p:nvSpPr>
            <p:cNvPr id="59" name="Text Box 2775"/>
            <p:cNvSpPr txBox="1">
              <a:spLocks noChangeArrowheads="1"/>
            </p:cNvSpPr>
            <p:nvPr/>
          </p:nvSpPr>
          <p:spPr bwMode="auto">
            <a:xfrm>
              <a:off x="6740472" y="273859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5</a:t>
              </a:r>
            </a:p>
          </p:txBody>
        </p:sp>
        <p:sp>
          <p:nvSpPr>
            <p:cNvPr id="60" name="Text Box 2776"/>
            <p:cNvSpPr txBox="1">
              <a:spLocks noChangeArrowheads="1"/>
            </p:cNvSpPr>
            <p:nvPr/>
          </p:nvSpPr>
          <p:spPr bwMode="auto">
            <a:xfrm>
              <a:off x="5697652" y="3128835"/>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d</a:t>
              </a:r>
              <a:r>
                <a:rPr kumimoji="1" lang="en-US" altLang="zh-CN" sz="1400" b="1" baseline="-25000">
                  <a:solidFill>
                    <a:srgbClr val="0000FF"/>
                  </a:solidFill>
                  <a:latin typeface="微软雅黑" pitchFamily="34" charset="-122"/>
                  <a:ea typeface="微软雅黑" pitchFamily="34" charset="-122"/>
                </a:rPr>
                <a:t>4</a:t>
              </a:r>
            </a:p>
          </p:txBody>
        </p:sp>
        <p:sp>
          <p:nvSpPr>
            <p:cNvPr id="61" name="Text Box 2777"/>
            <p:cNvSpPr txBox="1">
              <a:spLocks noChangeArrowheads="1"/>
            </p:cNvSpPr>
            <p:nvPr/>
          </p:nvSpPr>
          <p:spPr bwMode="auto">
            <a:xfrm>
              <a:off x="4068849" y="300726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3</a:t>
              </a:r>
            </a:p>
          </p:txBody>
        </p:sp>
        <p:sp>
          <p:nvSpPr>
            <p:cNvPr id="62" name="Text Box 2778"/>
            <p:cNvSpPr txBox="1">
              <a:spLocks noChangeArrowheads="1"/>
            </p:cNvSpPr>
            <p:nvPr/>
          </p:nvSpPr>
          <p:spPr bwMode="auto">
            <a:xfrm>
              <a:off x="3289381" y="238604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2</a:t>
              </a:r>
            </a:p>
          </p:txBody>
        </p:sp>
      </p:grpSp>
      <p:sp>
        <p:nvSpPr>
          <p:cNvPr id="4" name="矩形 3"/>
          <p:cNvSpPr/>
          <p:nvPr/>
        </p:nvSpPr>
        <p:spPr>
          <a:xfrm>
            <a:off x="734437" y="1558776"/>
            <a:ext cx="1773087" cy="2092881"/>
          </a:xfrm>
          <a:prstGeom prst="rect">
            <a:avLst/>
          </a:prstGeom>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P2P </a:t>
            </a:r>
            <a:r>
              <a:rPr lang="zh-CN" altLang="en-US" b="1" dirty="0">
                <a:latin typeface="微软雅黑" panose="020B0503020204020204" pitchFamily="34" charset="-122"/>
                <a:ea typeface="微软雅黑" panose="020B0503020204020204" pitchFamily="34" charset="-122"/>
              </a:rPr>
              <a:t>工作方式下，所有的音频</a:t>
            </a:r>
            <a:r>
              <a:rPr lang="en-US" altLang="zh-CN" b="1" dirty="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视频文件都是在普通的互联网</a:t>
            </a:r>
            <a:r>
              <a:rPr lang="zh-CN" altLang="en-US" b="1" dirty="0">
                <a:solidFill>
                  <a:srgbClr val="C00000"/>
                </a:solidFill>
                <a:latin typeface="微软雅黑" panose="020B0503020204020204" pitchFamily="34" charset="-122"/>
                <a:ea typeface="微软雅黑" panose="020B0503020204020204" pitchFamily="34" charset="-122"/>
              </a:rPr>
              <a:t>用户之间传输。</a:t>
            </a:r>
          </a:p>
        </p:txBody>
      </p:sp>
    </p:spTree>
    <p:extLst>
      <p:ext uri="{BB962C8B-B14F-4D97-AF65-F5344CB8AC3E}">
        <p14:creationId xmlns:p14="http://schemas.microsoft.com/office/powerpoint/2010/main" val="266849264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519728" y="573924"/>
            <a:ext cx="61045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6.9.1 </a:t>
            </a:r>
            <a:r>
              <a:rPr lang="zh-CN" altLang="en-US" sz="2400" b="1" dirty="0">
                <a:solidFill>
                  <a:schemeClr val="bg1"/>
                </a:solidFill>
                <a:latin typeface="微软雅黑" pitchFamily="34" charset="-122"/>
                <a:ea typeface="微软雅黑" pitchFamily="34" charset="-122"/>
              </a:rPr>
              <a:t>具有集中目录服务器的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工作方式</a:t>
            </a:r>
          </a:p>
        </p:txBody>
      </p:sp>
      <p:sp>
        <p:nvSpPr>
          <p:cNvPr id="4" name="Rectangle 68"/>
          <p:cNvSpPr>
            <a:spLocks noChangeArrowheads="1"/>
          </p:cNvSpPr>
          <p:nvPr/>
        </p:nvSpPr>
        <p:spPr bwMode="auto">
          <a:xfrm>
            <a:off x="556963" y="1010413"/>
            <a:ext cx="778825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Napster </a:t>
            </a:r>
            <a:r>
              <a:rPr lang="zh-CN" altLang="en-US" sz="2000" b="1" dirty="0">
                <a:solidFill>
                  <a:srgbClr val="0000FF"/>
                </a:solidFill>
                <a:latin typeface="微软雅黑" pitchFamily="34" charset="-122"/>
                <a:ea typeface="微软雅黑" pitchFamily="34" charset="-122"/>
              </a:rPr>
              <a:t>最早</a:t>
            </a:r>
            <a:r>
              <a:rPr lang="zh-CN" altLang="en-US" sz="2000" b="1" dirty="0">
                <a:latin typeface="微软雅黑" pitchFamily="34" charset="-122"/>
                <a:ea typeface="微软雅黑" pitchFamily="34" charset="-122"/>
              </a:rPr>
              <a:t>使用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技术，提供免费下载 </a:t>
            </a:r>
            <a:r>
              <a:rPr lang="en-US" altLang="zh-CN" sz="2000" b="1" dirty="0">
                <a:latin typeface="微软雅黑" pitchFamily="34" charset="-122"/>
                <a:ea typeface="微软雅黑" pitchFamily="34" charset="-122"/>
              </a:rPr>
              <a:t>MP3 </a:t>
            </a:r>
            <a:r>
              <a:rPr lang="zh-CN" altLang="en-US" sz="2000" b="1" dirty="0">
                <a:latin typeface="微软雅黑" pitchFamily="34" charset="-122"/>
                <a:ea typeface="微软雅黑" pitchFamily="34" charset="-122"/>
              </a:rPr>
              <a:t>音乐。</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将所有音乐文件的索引信息都集中存放在 </a:t>
            </a: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目录服务器中。</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使用者只要查找目录服务器，就可知道应从何处下载所要的 </a:t>
            </a:r>
            <a:r>
              <a:rPr lang="en-US" altLang="zh-CN" sz="2000" b="1" dirty="0">
                <a:latin typeface="微软雅黑" pitchFamily="34" charset="-122"/>
                <a:ea typeface="微软雅黑" pitchFamily="34" charset="-122"/>
              </a:rPr>
              <a:t>MP3 </a:t>
            </a:r>
            <a:r>
              <a:rPr lang="zh-CN" altLang="en-US" sz="2000" b="1" dirty="0">
                <a:latin typeface="微软雅黑" pitchFamily="34" charset="-122"/>
                <a:ea typeface="微软雅黑" pitchFamily="34" charset="-122"/>
              </a:rPr>
              <a:t>文件。</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用户要及时向 </a:t>
            </a: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的目录服务器报告自己存有的音乐文件。</a:t>
            </a:r>
            <a:endParaRPr lang="en-US" altLang="zh-CN" sz="2000" b="1" dirty="0">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的文件传输是</a:t>
            </a:r>
            <a:r>
              <a:rPr lang="zh-CN" altLang="en-US" sz="2000" b="1" dirty="0">
                <a:solidFill>
                  <a:srgbClr val="C00000"/>
                </a:solidFill>
                <a:latin typeface="微软雅黑" pitchFamily="34" charset="-122"/>
                <a:ea typeface="微软雅黑" pitchFamily="34" charset="-122"/>
              </a:rPr>
              <a:t>分散</a:t>
            </a:r>
            <a:r>
              <a:rPr lang="zh-CN" altLang="en-US" sz="2000" b="1" dirty="0">
                <a:latin typeface="微软雅黑" pitchFamily="34" charset="-122"/>
                <a:ea typeface="微软雅黑" pitchFamily="34" charset="-122"/>
              </a:rPr>
              <a:t>的，文件的定位则是</a:t>
            </a:r>
            <a:r>
              <a:rPr lang="zh-CN" altLang="en-US" sz="2000" b="1" dirty="0">
                <a:solidFill>
                  <a:srgbClr val="C00000"/>
                </a:solidFill>
                <a:latin typeface="微软雅黑" pitchFamily="34" charset="-122"/>
                <a:ea typeface="微软雅黑" pitchFamily="34" charset="-122"/>
              </a:rPr>
              <a:t>集中</a:t>
            </a:r>
            <a:r>
              <a:rPr lang="zh-CN" altLang="en-US" sz="2000" b="1" dirty="0">
                <a:latin typeface="微软雅黑" pitchFamily="34" charset="-122"/>
                <a:ea typeface="微软雅黑" pitchFamily="34" charset="-122"/>
              </a:rPr>
              <a:t>的。</a:t>
            </a:r>
          </a:p>
        </p:txBody>
      </p:sp>
    </p:spTree>
    <p:extLst>
      <p:ext uri="{BB962C8B-B14F-4D97-AF65-F5344CB8AC3E}">
        <p14:creationId xmlns:p14="http://schemas.microsoft.com/office/powerpoint/2010/main" val="38534252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6"/>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Napster </a:t>
            </a:r>
            <a:r>
              <a:rPr lang="zh-CN" altLang="en-US" sz="2000" b="1" dirty="0">
                <a:solidFill>
                  <a:schemeClr val="bg1"/>
                </a:solidFill>
                <a:latin typeface="微软雅黑" pitchFamily="34" charset="-122"/>
                <a:ea typeface="微软雅黑" pitchFamily="34" charset="-122"/>
              </a:rPr>
              <a:t>的工作过程</a:t>
            </a:r>
          </a:p>
        </p:txBody>
      </p:sp>
      <p:sp>
        <p:nvSpPr>
          <p:cNvPr id="5" name="圆角矩形 4"/>
          <p:cNvSpPr/>
          <p:nvPr/>
        </p:nvSpPr>
        <p:spPr>
          <a:xfrm>
            <a:off x="714703" y="1031527"/>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ext uri="{D42A27DB-BD31-4B8C-83A1-F6EECF244321}">
                <p14:modId xmlns:p14="http://schemas.microsoft.com/office/powerpoint/2010/main" val="1858729976"/>
              </p:ext>
            </p:extLst>
          </p:nvPr>
        </p:nvGraphicFramePr>
        <p:xfrm>
          <a:off x="2812570" y="1986319"/>
          <a:ext cx="575345" cy="1000249"/>
        </p:xfrm>
        <a:graphic>
          <a:graphicData uri="http://schemas.openxmlformats.org/presentationml/2006/ole">
            <mc:AlternateContent xmlns:mc="http://schemas.openxmlformats.org/markup-compatibility/2006">
              <mc:Choice xmlns:v="urn:schemas-microsoft-com:vml" Requires="v">
                <p:oleObj name="Microsoft ClipArt Gallery" r:id="rId2" imgW="2735263" imgH="3825875" progId="">
                  <p:embed/>
                </p:oleObj>
              </mc:Choice>
              <mc:Fallback>
                <p:oleObj name="Microsoft ClipArt Gallery" r:id="rId2" imgW="2735263" imgH="3825875" progId="">
                  <p:embed/>
                  <p:pic>
                    <p:nvPicPr>
                      <p:cNvPr id="0" name="Picture 7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2570" y="1986319"/>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 name="Text Box 6"/>
          <p:cNvSpPr txBox="1">
            <a:spLocks noChangeArrowheads="1"/>
          </p:cNvSpPr>
          <p:nvPr/>
        </p:nvSpPr>
        <p:spPr bwMode="auto">
          <a:xfrm>
            <a:off x="2254816" y="1495249"/>
            <a:ext cx="1493550" cy="523220"/>
          </a:xfrm>
          <a:prstGeom prst="rect">
            <a:avLst/>
          </a:prstGeom>
          <a:noFill/>
          <a:ln w="9525">
            <a:noFill/>
            <a:miter lim="800000"/>
            <a:headEnd/>
            <a:tailEnd/>
          </a:ln>
        </p:spPr>
        <p:txBody>
          <a:bodyPr wrap="none">
            <a:spAutoFit/>
          </a:bodyPr>
          <a:lstStyle/>
          <a:p>
            <a:pPr algn="ctr"/>
            <a:r>
              <a:rPr kumimoji="1" lang="en-US" altLang="zh-CN" sz="1400" b="1" dirty="0">
                <a:latin typeface="微软雅黑" pitchFamily="34" charset="-122"/>
                <a:ea typeface="微软雅黑" pitchFamily="34" charset="-122"/>
                <a:cs typeface="Times New Roman" pitchFamily="18" charset="0"/>
              </a:rPr>
              <a:t>Napster </a:t>
            </a:r>
            <a:r>
              <a:rPr kumimoji="1" lang="zh-CN" altLang="en-US" sz="1400" b="1" dirty="0">
                <a:latin typeface="微软雅黑" pitchFamily="34" charset="-122"/>
                <a:ea typeface="微软雅黑" pitchFamily="34" charset="-122"/>
                <a:cs typeface="Times New Roman" pitchFamily="18" charset="0"/>
              </a:rPr>
              <a:t>集中式</a:t>
            </a:r>
          </a:p>
          <a:p>
            <a:pPr algn="ctr"/>
            <a:r>
              <a:rPr kumimoji="1" lang="zh-CN" altLang="en-US" sz="1400" b="1" dirty="0">
                <a:latin typeface="微软雅黑" pitchFamily="34" charset="-122"/>
                <a:ea typeface="微软雅黑" pitchFamily="34" charset="-122"/>
                <a:cs typeface="Times New Roman" pitchFamily="18" charset="0"/>
              </a:rPr>
              <a:t>目录服务器</a:t>
            </a:r>
          </a:p>
        </p:txBody>
      </p:sp>
      <p:pic>
        <p:nvPicPr>
          <p:cNvPr id="10" name="Picture 9"/>
          <p:cNvPicPr>
            <a:picLocks noChangeArrowheads="1"/>
          </p:cNvPicPr>
          <p:nvPr/>
        </p:nvPicPr>
        <p:blipFill>
          <a:blip r:embed="rId4" cstate="print"/>
          <a:srcRect/>
          <a:stretch>
            <a:fillRect/>
          </a:stretch>
        </p:blipFill>
        <p:spPr bwMode="auto">
          <a:xfrm>
            <a:off x="4784684" y="1215251"/>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3"/>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4" cstate="print"/>
          <a:srcRect/>
          <a:stretch>
            <a:fillRect/>
          </a:stretch>
        </p:blipFill>
        <p:spPr bwMode="auto">
          <a:xfrm>
            <a:off x="5908914" y="1431275"/>
            <a:ext cx="432469" cy="427137"/>
          </a:xfrm>
          <a:prstGeom prst="rect">
            <a:avLst/>
          </a:prstGeom>
          <a:noFill/>
          <a:ln w="9525">
            <a:noFill/>
            <a:miter lim="800000"/>
            <a:headEnd/>
            <a:tailEnd/>
          </a:ln>
        </p:spPr>
      </p:pic>
      <p:pic>
        <p:nvPicPr>
          <p:cNvPr id="13" name="Picture 9"/>
          <p:cNvPicPr>
            <a:picLocks noChangeArrowheads="1"/>
          </p:cNvPicPr>
          <p:nvPr/>
        </p:nvPicPr>
        <p:blipFill>
          <a:blip r:embed="rId4" cstate="print"/>
          <a:srcRect/>
          <a:stretch>
            <a:fillRect/>
          </a:stretch>
        </p:blipFill>
        <p:spPr bwMode="auto">
          <a:xfrm>
            <a:off x="6628994" y="2490375"/>
            <a:ext cx="432469" cy="427137"/>
          </a:xfrm>
          <a:prstGeom prst="rect">
            <a:avLst/>
          </a:prstGeom>
          <a:noFill/>
          <a:ln w="9525">
            <a:noFill/>
            <a:miter lim="800000"/>
            <a:headEnd/>
            <a:tailEnd/>
          </a:ln>
        </p:spPr>
      </p:pic>
      <p:pic>
        <p:nvPicPr>
          <p:cNvPr id="14" name="Picture 9"/>
          <p:cNvPicPr>
            <a:picLocks noChangeArrowheads="1"/>
          </p:cNvPicPr>
          <p:nvPr/>
        </p:nvPicPr>
        <p:blipFill>
          <a:blip r:embed="rId4" cstate="print"/>
          <a:srcRect/>
          <a:stretch>
            <a:fillRect/>
          </a:stretch>
        </p:blipFill>
        <p:spPr bwMode="auto">
          <a:xfrm>
            <a:off x="5764898" y="3282463"/>
            <a:ext cx="432469" cy="427137"/>
          </a:xfrm>
          <a:prstGeom prst="rect">
            <a:avLst/>
          </a:prstGeom>
          <a:noFill/>
          <a:ln w="9525">
            <a:noFill/>
            <a:miter lim="800000"/>
            <a:headEnd/>
            <a:tailEnd/>
          </a:ln>
        </p:spPr>
      </p:pic>
      <p:pic>
        <p:nvPicPr>
          <p:cNvPr id="15" name="Picture 9"/>
          <p:cNvPicPr>
            <a:picLocks noChangeArrowheads="1"/>
          </p:cNvPicPr>
          <p:nvPr/>
        </p:nvPicPr>
        <p:blipFill>
          <a:blip r:embed="rId4" cstate="print"/>
          <a:srcRect/>
          <a:stretch>
            <a:fillRect/>
          </a:stretch>
        </p:blipFill>
        <p:spPr bwMode="auto">
          <a:xfrm>
            <a:off x="4036706" y="3619921"/>
            <a:ext cx="432469" cy="427137"/>
          </a:xfrm>
          <a:prstGeom prst="rect">
            <a:avLst/>
          </a:prstGeom>
          <a:noFill/>
          <a:ln w="9525">
            <a:noFill/>
            <a:miter lim="800000"/>
            <a:headEnd/>
            <a:tailEnd/>
          </a:ln>
        </p:spPr>
      </p:pic>
      <p:pic>
        <p:nvPicPr>
          <p:cNvPr id="16" name="Picture 9"/>
          <p:cNvPicPr>
            <a:picLocks noChangeArrowheads="1"/>
          </p:cNvPicPr>
          <p:nvPr/>
        </p:nvPicPr>
        <p:blipFill>
          <a:blip r:embed="rId4" cstate="print"/>
          <a:srcRect/>
          <a:stretch>
            <a:fillRect/>
          </a:stretch>
        </p:blipFill>
        <p:spPr bwMode="auto">
          <a:xfrm>
            <a:off x="2920794" y="3393387"/>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1"/>
            <a:ext cx="28886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C</a:t>
            </a:r>
          </a:p>
        </p:txBody>
      </p:sp>
      <p:sp>
        <p:nvSpPr>
          <p:cNvPr id="18" name="Text Box 13"/>
          <p:cNvSpPr txBox="1">
            <a:spLocks noChangeArrowheads="1"/>
          </p:cNvSpPr>
          <p:nvPr/>
        </p:nvSpPr>
        <p:spPr bwMode="auto">
          <a:xfrm>
            <a:off x="6989034" y="2490375"/>
            <a:ext cx="290464"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B</a:t>
            </a:r>
          </a:p>
        </p:txBody>
      </p:sp>
      <p:sp>
        <p:nvSpPr>
          <p:cNvPr id="19" name="Text Box 13"/>
          <p:cNvSpPr txBox="1">
            <a:spLocks noChangeArrowheads="1"/>
          </p:cNvSpPr>
          <p:nvPr/>
        </p:nvSpPr>
        <p:spPr bwMode="auto">
          <a:xfrm>
            <a:off x="5144724" y="1215251"/>
            <a:ext cx="30008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A</a:t>
            </a:r>
          </a:p>
        </p:txBody>
      </p:sp>
      <p:cxnSp>
        <p:nvCxnSpPr>
          <p:cNvPr id="20" name="直接箭头连接符 19"/>
          <p:cNvCxnSpPr/>
          <p:nvPr/>
        </p:nvCxnSpPr>
        <p:spPr>
          <a:xfrm flipH="1" flipV="1">
            <a:off x="3384061" y="2716979"/>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1"/>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5"/>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谁有文件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3" name="TextBox 22"/>
          <p:cNvSpPr txBox="1"/>
          <p:nvPr/>
        </p:nvSpPr>
        <p:spPr>
          <a:xfrm rot="3562759">
            <a:off x="4820450" y="2421954"/>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请求文件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4" name="TextBox 23"/>
          <p:cNvSpPr txBox="1"/>
          <p:nvPr/>
        </p:nvSpPr>
        <p:spPr>
          <a:xfrm>
            <a:off x="5476866" y="3210455"/>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5" name="TextBox 24"/>
          <p:cNvSpPr txBox="1"/>
          <p:nvPr/>
        </p:nvSpPr>
        <p:spPr>
          <a:xfrm>
            <a:off x="5951112" y="3057147"/>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6" name="TextBox 25"/>
          <p:cNvSpPr txBox="1"/>
          <p:nvPr/>
        </p:nvSpPr>
        <p:spPr>
          <a:xfrm>
            <a:off x="3244618" y="279178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7" name="TextBox 26"/>
          <p:cNvSpPr txBox="1"/>
          <p:nvPr/>
        </p:nvSpPr>
        <p:spPr>
          <a:xfrm>
            <a:off x="4756786" y="1626279"/>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8" name="TextBox 27"/>
          <p:cNvSpPr txBox="1"/>
          <p:nvPr/>
        </p:nvSpPr>
        <p:spPr>
          <a:xfrm rot="1111699">
            <a:off x="3681883" y="329960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B</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C</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cxnSp>
        <p:nvCxnSpPr>
          <p:cNvPr id="29" name="直接箭头连接符 28"/>
          <p:cNvCxnSpPr/>
          <p:nvPr/>
        </p:nvCxnSpPr>
        <p:spPr>
          <a:xfrm flipH="1" flipV="1">
            <a:off x="5116826" y="1626279"/>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90"/>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 lastClr="FFFFFF"/>
                </a:solidFill>
                <a:effectLst/>
                <a:uLnTx/>
                <a:uFillTx/>
                <a:latin typeface="微软雅黑" pitchFamily="34" charset="-122"/>
                <a:ea typeface="微软雅黑" pitchFamily="34" charset="-122"/>
              </a:endParaRPr>
            </a:p>
          </p:txBody>
        </p:sp>
      </p:grpSp>
      <p:grpSp>
        <p:nvGrpSpPr>
          <p:cNvPr id="34" name="组合 33"/>
          <p:cNvGrpSpPr/>
          <p:nvPr/>
        </p:nvGrpSpPr>
        <p:grpSpPr>
          <a:xfrm>
            <a:off x="3742318" y="1800008"/>
            <a:ext cx="4540548" cy="656590"/>
            <a:chOff x="3703202" y="3664310"/>
            <a:chExt cx="4540548" cy="656590"/>
          </a:xfrm>
        </p:grpSpPr>
        <p:sp>
          <p:nvSpPr>
            <p:cNvPr id="4" name="矩形 3"/>
            <p:cNvSpPr/>
            <p:nvPr/>
          </p:nvSpPr>
          <p:spPr>
            <a:xfrm>
              <a:off x="3703202" y="3664310"/>
              <a:ext cx="4540548" cy="656590"/>
            </a:xfrm>
            <a:prstGeom prst="rect">
              <a:avLst/>
            </a:prstGeom>
            <a:solidFill>
              <a:srgbClr val="0000FF"/>
            </a:solidFill>
          </p:spPr>
          <p:txBody>
            <a:bodyPr wrap="square">
              <a:spAutoFit/>
            </a:bodyPr>
            <a:lstStyle/>
            <a:p>
              <a:pPr marL="452438">
                <a:lnSpc>
                  <a:spcPts val="2200"/>
                </a:lnSpc>
              </a:pPr>
              <a:r>
                <a:rPr lang="zh-CN" altLang="en-US" sz="1600" b="1" dirty="0">
                  <a:solidFill>
                    <a:schemeClr val="bg1"/>
                  </a:solidFill>
                  <a:latin typeface="微软雅黑" pitchFamily="34" charset="-122"/>
                  <a:ea typeface="微软雅黑" pitchFamily="34" charset="-122"/>
                </a:rPr>
                <a:t>用户 </a:t>
              </a:r>
              <a:r>
                <a:rPr lang="en-US" altLang="zh-CN" sz="1600" b="1" dirty="0">
                  <a:solidFill>
                    <a:schemeClr val="bg1"/>
                  </a:solidFill>
                  <a:latin typeface="微软雅黑" pitchFamily="34" charset="-122"/>
                  <a:ea typeface="微软雅黑" pitchFamily="34" charset="-122"/>
                </a:rPr>
                <a:t>X </a:t>
              </a:r>
              <a:r>
                <a:rPr lang="zh-CN" altLang="en-US" sz="1600" b="1" dirty="0">
                  <a:solidFill>
                    <a:schemeClr val="bg1"/>
                  </a:solidFill>
                  <a:latin typeface="微软雅黑" pitchFamily="34" charset="-122"/>
                  <a:ea typeface="微软雅黑" pitchFamily="34" charset="-122"/>
                </a:rPr>
                <a:t>向 </a:t>
              </a:r>
              <a:r>
                <a:rPr lang="en-US" altLang="zh-CN" sz="1600" b="1" dirty="0">
                  <a:solidFill>
                    <a:schemeClr val="bg1"/>
                  </a:solidFill>
                  <a:latin typeface="微软雅黑" pitchFamily="34" charset="-122"/>
                  <a:ea typeface="微软雅黑" pitchFamily="34" charset="-122"/>
                </a:rPr>
                <a:t>Napster </a:t>
              </a:r>
              <a:r>
                <a:rPr lang="zh-CN" altLang="en-US" sz="1600" b="1" dirty="0">
                  <a:solidFill>
                    <a:schemeClr val="bg1"/>
                  </a:solidFill>
                  <a:latin typeface="微软雅黑" pitchFamily="34" charset="-122"/>
                  <a:ea typeface="微软雅黑" pitchFamily="34" charset="-122"/>
                </a:rPr>
                <a:t>目录服务器查询（采用客户服务器方式）谁有音乐文件 </a:t>
              </a:r>
              <a:r>
                <a:rPr lang="en-US" altLang="zh-CN" sz="1600" b="1" dirty="0">
                  <a:solidFill>
                    <a:schemeClr val="bg1"/>
                  </a:solidFill>
                  <a:latin typeface="微软雅黑" pitchFamily="34" charset="-122"/>
                  <a:ea typeface="微软雅黑" pitchFamily="34" charset="-122"/>
                </a:rPr>
                <a:t>MP3#</a:t>
              </a:r>
              <a:r>
                <a:rPr lang="zh-CN" altLang="en-US" sz="1600" b="1" dirty="0">
                  <a:solidFill>
                    <a:schemeClr val="bg1"/>
                  </a:solidFill>
                  <a:latin typeface="微软雅黑" pitchFamily="34" charset="-122"/>
                  <a:ea typeface="微软雅黑" pitchFamily="34" charset="-122"/>
                </a:rPr>
                <a:t>。</a:t>
              </a:r>
            </a:p>
          </p:txBody>
        </p:sp>
        <p:sp>
          <p:nvSpPr>
            <p:cNvPr id="33" name="TextBox 32"/>
            <p:cNvSpPr txBox="1"/>
            <p:nvPr/>
          </p:nvSpPr>
          <p:spPr>
            <a:xfrm>
              <a:off x="3790252" y="3760902"/>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Tree>
    <p:extLst>
      <p:ext uri="{BB962C8B-B14F-4D97-AF65-F5344CB8AC3E}">
        <p14:creationId xmlns:p14="http://schemas.microsoft.com/office/powerpoint/2010/main" val="157705798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Napster </a:t>
            </a:r>
            <a:r>
              <a:rPr lang="zh-CN" altLang="en-US" sz="2000" b="1" dirty="0">
                <a:solidFill>
                  <a:schemeClr val="bg1"/>
                </a:solidFill>
                <a:latin typeface="微软雅黑" pitchFamily="34" charset="-122"/>
                <a:ea typeface="微软雅黑" pitchFamily="34" charset="-122"/>
              </a:rPr>
              <a:t>的工作过程</a:t>
            </a: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ext uri="{D42A27DB-BD31-4B8C-83A1-F6EECF244321}">
                <p14:modId xmlns:p14="http://schemas.microsoft.com/office/powerpoint/2010/main" val="149499988"/>
              </p:ext>
            </p:extLst>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name="Microsoft ClipArt Gallery" r:id="rId2" imgW="2735263" imgH="3825875" progId="">
                  <p:embed/>
                </p:oleObj>
              </mc:Choice>
              <mc:Fallback>
                <p:oleObj name="Microsoft ClipArt Gallery" r:id="rId2" imgW="2735263" imgH="3825875" progId="">
                  <p:embed/>
                  <p:pic>
                    <p:nvPicPr>
                      <p:cNvPr id="0" name="Picture 7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2570" y="1986318"/>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0" name="Picture 9"/>
          <p:cNvPicPr>
            <a:picLocks noChangeArrowheads="1"/>
          </p:cNvPicPr>
          <p:nvPr/>
        </p:nvPicPr>
        <p:blipFill>
          <a:blip r:embed="rId4"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4"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4"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4"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4"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4"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C</a:t>
            </a: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B</a:t>
            </a: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A</a:t>
            </a: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谁有文件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请求文件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B</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C</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 lastClr="FFFFFF"/>
                </a:solidFill>
                <a:effectLst/>
                <a:uLnTx/>
                <a:uFillTx/>
                <a:latin typeface="微软雅黑" pitchFamily="34" charset="-122"/>
                <a:ea typeface="微软雅黑" pitchFamily="34" charset="-122"/>
              </a:endParaRPr>
            </a:p>
          </p:txBody>
        </p:sp>
      </p:grpSp>
      <p:grpSp>
        <p:nvGrpSpPr>
          <p:cNvPr id="7" name="组合 6"/>
          <p:cNvGrpSpPr/>
          <p:nvPr/>
        </p:nvGrpSpPr>
        <p:grpSpPr>
          <a:xfrm>
            <a:off x="3737691" y="1211357"/>
            <a:ext cx="4326691" cy="1220847"/>
            <a:chOff x="3737691" y="1255747"/>
            <a:chExt cx="4326691" cy="1220847"/>
          </a:xfrm>
        </p:grpSpPr>
        <p:sp>
          <p:nvSpPr>
            <p:cNvPr id="4" name="矩形 3"/>
            <p:cNvSpPr/>
            <p:nvPr/>
          </p:nvSpPr>
          <p:spPr>
            <a:xfrm>
              <a:off x="3737691" y="1255747"/>
              <a:ext cx="4326691" cy="1220847"/>
            </a:xfrm>
            <a:prstGeom prst="rect">
              <a:avLst/>
            </a:prstGeom>
            <a:solidFill>
              <a:srgbClr val="0000FF"/>
            </a:solidFill>
          </p:spPr>
          <p:txBody>
            <a:bodyPr wrap="square">
              <a:spAutoFit/>
            </a:bodyPr>
            <a:lstStyle/>
            <a:p>
              <a:pPr marL="452438">
                <a:lnSpc>
                  <a:spcPts val="2200"/>
                </a:lnSpc>
              </a:pPr>
              <a:r>
                <a:rPr lang="en-US" altLang="zh-CN" sz="1600" b="1" dirty="0">
                  <a:solidFill>
                    <a:schemeClr val="bg1"/>
                  </a:solidFill>
                  <a:latin typeface="微软雅黑" pitchFamily="34" charset="-122"/>
                  <a:ea typeface="微软雅黑" pitchFamily="34" charset="-122"/>
                </a:rPr>
                <a:t>Napster </a:t>
              </a:r>
              <a:r>
                <a:rPr lang="zh-CN" altLang="en-US" sz="1600" b="1" dirty="0">
                  <a:solidFill>
                    <a:schemeClr val="bg1"/>
                  </a:solidFill>
                  <a:latin typeface="微软雅黑" pitchFamily="34" charset="-122"/>
                  <a:ea typeface="微软雅黑" pitchFamily="34" charset="-122"/>
                </a:rPr>
                <a:t>目录服务器回答 </a:t>
              </a:r>
              <a:r>
                <a:rPr lang="en-US" altLang="zh-CN" sz="1600" b="1" dirty="0">
                  <a:solidFill>
                    <a:schemeClr val="bg1"/>
                  </a:solidFill>
                  <a:latin typeface="微软雅黑" pitchFamily="34" charset="-122"/>
                  <a:ea typeface="微软雅黑" pitchFamily="34" charset="-122"/>
                </a:rPr>
                <a:t>X</a:t>
              </a:r>
              <a:r>
                <a:rPr lang="zh-CN" altLang="en-US" sz="1600" b="1" dirty="0">
                  <a:solidFill>
                    <a:schemeClr val="bg1"/>
                  </a:solidFill>
                  <a:latin typeface="微软雅黑" pitchFamily="34" charset="-122"/>
                  <a:ea typeface="微软雅黑" pitchFamily="34" charset="-122"/>
                </a:rPr>
                <a:t>：有三个地点有文件 </a:t>
              </a:r>
              <a:r>
                <a:rPr lang="en-US" altLang="zh-CN" sz="1600" b="1" dirty="0">
                  <a:solidFill>
                    <a:schemeClr val="bg1"/>
                  </a:solidFill>
                  <a:latin typeface="微软雅黑" pitchFamily="34" charset="-122"/>
                  <a:ea typeface="微软雅黑" pitchFamily="34" charset="-122"/>
                </a:rPr>
                <a:t>MP3#</a:t>
              </a:r>
              <a:r>
                <a:rPr lang="zh-CN" altLang="en-US" sz="1600" b="1" dirty="0">
                  <a:solidFill>
                    <a:schemeClr val="bg1"/>
                  </a:solidFill>
                  <a:latin typeface="微软雅黑" pitchFamily="34" charset="-122"/>
                  <a:ea typeface="微软雅黑" pitchFamily="34" charset="-122"/>
                </a:rPr>
                <a:t>，即 </a:t>
              </a:r>
              <a:r>
                <a:rPr lang="en-US" altLang="zh-CN" sz="1600" b="1" dirty="0">
                  <a:solidFill>
                    <a:schemeClr val="bg1"/>
                  </a:solidFill>
                  <a:latin typeface="微软雅黑" pitchFamily="34" charset="-122"/>
                  <a:ea typeface="微软雅黑" pitchFamily="34" charset="-122"/>
                </a:rPr>
                <a:t>A, B </a:t>
              </a:r>
              <a:r>
                <a:rPr lang="zh-CN" altLang="en-US" sz="1600" b="1" dirty="0">
                  <a:solidFill>
                    <a:schemeClr val="bg1"/>
                  </a:solidFill>
                  <a:latin typeface="微软雅黑" pitchFamily="34" charset="-122"/>
                  <a:ea typeface="微软雅黑" pitchFamily="34" charset="-122"/>
                </a:rPr>
                <a:t>和 </a:t>
              </a:r>
              <a:r>
                <a:rPr lang="en-US" altLang="zh-CN" sz="1600" b="1" dirty="0">
                  <a:solidFill>
                    <a:schemeClr val="bg1"/>
                  </a:solidFill>
                  <a:latin typeface="微软雅黑" pitchFamily="34" charset="-122"/>
                  <a:ea typeface="微软雅黑" pitchFamily="34" charset="-122"/>
                </a:rPr>
                <a:t>C</a:t>
              </a:r>
              <a:r>
                <a:rPr lang="zh-CN" altLang="en-US" sz="1600" b="1" dirty="0">
                  <a:solidFill>
                    <a:schemeClr val="bg1"/>
                  </a:solidFill>
                  <a:latin typeface="微软雅黑" pitchFamily="34" charset="-122"/>
                  <a:ea typeface="微软雅黑" pitchFamily="34" charset="-122"/>
                </a:rPr>
                <a:t>（给出了这三个地点的 </a:t>
              </a:r>
              <a:r>
                <a:rPr lang="en-US" altLang="zh-CN" sz="1600" b="1" dirty="0">
                  <a:solidFill>
                    <a:schemeClr val="bg1"/>
                  </a:solidFill>
                  <a:latin typeface="微软雅黑" pitchFamily="34" charset="-122"/>
                  <a:ea typeface="微软雅黑" pitchFamily="34" charset="-122"/>
                </a:rPr>
                <a:t>IP </a:t>
              </a:r>
              <a:r>
                <a:rPr lang="zh-CN" altLang="en-US" sz="1600" b="1" dirty="0">
                  <a:solidFill>
                    <a:schemeClr val="bg1"/>
                  </a:solidFill>
                  <a:latin typeface="微软雅黑" pitchFamily="34" charset="-122"/>
                  <a:ea typeface="微软雅黑" pitchFamily="34" charset="-122"/>
                </a:rPr>
                <a:t>地址）。于是用户 </a:t>
              </a:r>
              <a:r>
                <a:rPr lang="en-US" altLang="zh-CN" sz="1600" b="1" dirty="0">
                  <a:solidFill>
                    <a:schemeClr val="bg1"/>
                  </a:solidFill>
                  <a:latin typeface="微软雅黑" pitchFamily="34" charset="-122"/>
                  <a:ea typeface="微软雅黑" pitchFamily="34" charset="-122"/>
                </a:rPr>
                <a:t>X </a:t>
              </a:r>
              <a:r>
                <a:rPr lang="zh-CN" altLang="en-US" sz="1600" b="1" dirty="0">
                  <a:solidFill>
                    <a:schemeClr val="bg1"/>
                  </a:solidFill>
                  <a:latin typeface="微软雅黑" pitchFamily="34" charset="-122"/>
                  <a:ea typeface="微软雅黑" pitchFamily="34" charset="-122"/>
                </a:rPr>
                <a:t>得知所需的文件 </a:t>
              </a:r>
              <a:r>
                <a:rPr lang="en-US" altLang="zh-CN" sz="1600" b="1" dirty="0">
                  <a:solidFill>
                    <a:schemeClr val="bg1"/>
                  </a:solidFill>
                  <a:latin typeface="微软雅黑" pitchFamily="34" charset="-122"/>
                  <a:ea typeface="微软雅黑" pitchFamily="34" charset="-122"/>
                </a:rPr>
                <a:t>MP3# </a:t>
              </a:r>
              <a:r>
                <a:rPr lang="zh-CN" altLang="en-US" sz="1600" b="1" dirty="0">
                  <a:solidFill>
                    <a:schemeClr val="bg1"/>
                  </a:solidFill>
                  <a:latin typeface="微软雅黑" pitchFamily="34" charset="-122"/>
                  <a:ea typeface="微软雅黑" pitchFamily="34" charset="-122"/>
                </a:rPr>
                <a:t>的三个下载地点。</a:t>
              </a:r>
            </a:p>
          </p:txBody>
        </p:sp>
        <p:sp>
          <p:nvSpPr>
            <p:cNvPr id="35" name="TextBox 34"/>
            <p:cNvSpPr txBox="1"/>
            <p:nvPr/>
          </p:nvSpPr>
          <p:spPr>
            <a:xfrm>
              <a:off x="3798061" y="1626188"/>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headEnd/>
            <a:tailEnd/>
          </a:ln>
        </p:spPr>
        <p:txBody>
          <a:bodyPr wrap="none">
            <a:spAutoFit/>
          </a:bodyPr>
          <a:lstStyle/>
          <a:p>
            <a:pPr algn="ctr"/>
            <a:r>
              <a:rPr kumimoji="1" lang="en-US" altLang="zh-CN" sz="1400" b="1" dirty="0">
                <a:latin typeface="微软雅黑" pitchFamily="34" charset="-122"/>
                <a:ea typeface="微软雅黑" pitchFamily="34" charset="-122"/>
                <a:cs typeface="Times New Roman" pitchFamily="18" charset="0"/>
              </a:rPr>
              <a:t>Napster </a:t>
            </a:r>
            <a:r>
              <a:rPr kumimoji="1" lang="zh-CN" altLang="en-US" sz="1400" b="1" dirty="0">
                <a:latin typeface="微软雅黑" pitchFamily="34" charset="-122"/>
                <a:ea typeface="微软雅黑" pitchFamily="34" charset="-122"/>
                <a:cs typeface="Times New Roman" pitchFamily="18" charset="0"/>
              </a:rPr>
              <a:t>集中式</a:t>
            </a:r>
          </a:p>
          <a:p>
            <a:pPr algn="ctr"/>
            <a:r>
              <a:rPr kumimoji="1" lang="zh-CN" altLang="en-US" sz="1400" b="1" dirty="0">
                <a:latin typeface="微软雅黑" pitchFamily="34" charset="-122"/>
                <a:ea typeface="微软雅黑" pitchFamily="34" charset="-122"/>
                <a:cs typeface="Times New Roman" pitchFamily="18" charset="0"/>
              </a:rPr>
              <a:t>目录服务器</a:t>
            </a:r>
          </a:p>
        </p:txBody>
      </p:sp>
    </p:spTree>
    <p:extLst>
      <p:ext uri="{BB962C8B-B14F-4D97-AF65-F5344CB8AC3E}">
        <p14:creationId xmlns:p14="http://schemas.microsoft.com/office/powerpoint/2010/main" val="42463016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Napster </a:t>
            </a:r>
            <a:r>
              <a:rPr lang="zh-CN" altLang="en-US" sz="2000" b="1" dirty="0">
                <a:solidFill>
                  <a:schemeClr val="bg1"/>
                </a:solidFill>
                <a:latin typeface="微软雅黑" pitchFamily="34" charset="-122"/>
                <a:ea typeface="微软雅黑" pitchFamily="34" charset="-122"/>
              </a:rPr>
              <a:t>的工作过程</a:t>
            </a: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ext uri="{D42A27DB-BD31-4B8C-83A1-F6EECF244321}">
                <p14:modId xmlns:p14="http://schemas.microsoft.com/office/powerpoint/2010/main" val="2912699077"/>
              </p:ext>
            </p:extLst>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name="Microsoft ClipArt Gallery" r:id="rId2" imgW="2735263" imgH="3825875" progId="">
                  <p:embed/>
                </p:oleObj>
              </mc:Choice>
              <mc:Fallback>
                <p:oleObj name="Microsoft ClipArt Gallery" r:id="rId2" imgW="2735263" imgH="3825875" progId="">
                  <p:embed/>
                  <p:pic>
                    <p:nvPicPr>
                      <p:cNvPr id="0" name="Picture 7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2570" y="1986318"/>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0" name="Picture 9"/>
          <p:cNvPicPr>
            <a:picLocks noChangeArrowheads="1"/>
          </p:cNvPicPr>
          <p:nvPr/>
        </p:nvPicPr>
        <p:blipFill>
          <a:blip r:embed="rId4"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4"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4"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4"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4"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4"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C</a:t>
            </a: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B</a:t>
            </a: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A</a:t>
            </a: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谁有文件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请求文件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B</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C</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 lastClr="FFFFFF"/>
                </a:solidFill>
                <a:effectLst/>
                <a:uLnTx/>
                <a:uFillTx/>
                <a:latin typeface="微软雅黑" pitchFamily="34" charset="-122"/>
                <a:ea typeface="微软雅黑"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headEnd/>
            <a:tailEnd/>
          </a:ln>
        </p:spPr>
        <p:txBody>
          <a:bodyPr wrap="none">
            <a:spAutoFit/>
          </a:bodyPr>
          <a:lstStyle/>
          <a:p>
            <a:pPr algn="ctr"/>
            <a:r>
              <a:rPr kumimoji="1" lang="en-US" altLang="zh-CN" sz="1400" b="1" dirty="0">
                <a:latin typeface="微软雅黑" pitchFamily="34" charset="-122"/>
                <a:ea typeface="微软雅黑" pitchFamily="34" charset="-122"/>
                <a:cs typeface="Times New Roman" pitchFamily="18" charset="0"/>
              </a:rPr>
              <a:t>Napster </a:t>
            </a:r>
            <a:r>
              <a:rPr kumimoji="1" lang="zh-CN" altLang="en-US" sz="1400" b="1" dirty="0">
                <a:latin typeface="微软雅黑" pitchFamily="34" charset="-122"/>
                <a:ea typeface="微软雅黑" pitchFamily="34" charset="-122"/>
                <a:cs typeface="Times New Roman" pitchFamily="18" charset="0"/>
              </a:rPr>
              <a:t>集中式</a:t>
            </a:r>
          </a:p>
          <a:p>
            <a:pPr algn="ctr"/>
            <a:r>
              <a:rPr kumimoji="1" lang="zh-CN" altLang="en-US" sz="1400" b="1" dirty="0">
                <a:latin typeface="微软雅黑" pitchFamily="34" charset="-122"/>
                <a:ea typeface="微软雅黑" pitchFamily="34" charset="-122"/>
                <a:cs typeface="Times New Roman" pitchFamily="18" charset="0"/>
              </a:rPr>
              <a:t>目录服务器</a:t>
            </a:r>
          </a:p>
        </p:txBody>
      </p:sp>
      <p:grpSp>
        <p:nvGrpSpPr>
          <p:cNvPr id="7" name="组合 6"/>
          <p:cNvGrpSpPr/>
          <p:nvPr/>
        </p:nvGrpSpPr>
        <p:grpSpPr>
          <a:xfrm>
            <a:off x="1015810" y="1375405"/>
            <a:ext cx="3592532" cy="1220847"/>
            <a:chOff x="1015810" y="1419795"/>
            <a:chExt cx="3592532" cy="1220847"/>
          </a:xfrm>
        </p:grpSpPr>
        <p:sp>
          <p:nvSpPr>
            <p:cNvPr id="4" name="矩形 3"/>
            <p:cNvSpPr/>
            <p:nvPr/>
          </p:nvSpPr>
          <p:spPr>
            <a:xfrm>
              <a:off x="1015810" y="1419795"/>
              <a:ext cx="3592532" cy="1220847"/>
            </a:xfrm>
            <a:prstGeom prst="rect">
              <a:avLst/>
            </a:prstGeom>
            <a:solidFill>
              <a:srgbClr val="0000FF"/>
            </a:solidFill>
          </p:spPr>
          <p:txBody>
            <a:bodyPr wrap="square">
              <a:spAutoFit/>
            </a:bodyPr>
            <a:lstStyle/>
            <a:p>
              <a:pPr marL="452438">
                <a:lnSpc>
                  <a:spcPts val="2200"/>
                </a:lnSpc>
              </a:pPr>
              <a:r>
                <a:rPr lang="zh-CN" altLang="en-US" sz="1600" b="1" dirty="0">
                  <a:solidFill>
                    <a:schemeClr val="bg1"/>
                  </a:solidFill>
                  <a:latin typeface="微软雅黑" pitchFamily="34" charset="-122"/>
                  <a:ea typeface="微软雅黑" pitchFamily="34" charset="-122"/>
                </a:rPr>
                <a:t>用户 </a:t>
              </a:r>
              <a:r>
                <a:rPr lang="en-US" altLang="zh-CN" sz="1600" b="1" dirty="0">
                  <a:solidFill>
                    <a:schemeClr val="bg1"/>
                  </a:solidFill>
                  <a:latin typeface="微软雅黑" pitchFamily="34" charset="-122"/>
                  <a:ea typeface="微软雅黑" pitchFamily="34" charset="-122"/>
                </a:rPr>
                <a:t>X </a:t>
              </a:r>
              <a:r>
                <a:rPr lang="zh-CN" altLang="en-US" sz="1600" b="1" dirty="0">
                  <a:solidFill>
                    <a:schemeClr val="bg1"/>
                  </a:solidFill>
                  <a:latin typeface="微软雅黑" pitchFamily="34" charset="-122"/>
                  <a:ea typeface="微软雅黑" pitchFamily="34" charset="-122"/>
                </a:rPr>
                <a:t>可以</a:t>
              </a:r>
              <a:r>
                <a:rPr lang="zh-CN" altLang="en-US" sz="1600" b="1" dirty="0">
                  <a:solidFill>
                    <a:srgbClr val="FFFF00"/>
                  </a:solidFill>
                  <a:latin typeface="微软雅黑" pitchFamily="34" charset="-122"/>
                  <a:ea typeface="微软雅黑" pitchFamily="34" charset="-122"/>
                </a:rPr>
                <a:t>随机</a:t>
              </a:r>
              <a:r>
                <a:rPr lang="zh-CN" altLang="en-US" sz="1600" b="1" dirty="0">
                  <a:solidFill>
                    <a:schemeClr val="bg1"/>
                  </a:solidFill>
                  <a:latin typeface="微软雅黑" pitchFamily="34" charset="-122"/>
                  <a:ea typeface="微软雅黑" pitchFamily="34" charset="-122"/>
                </a:rPr>
                <a:t>地选择三个地点中的任一个。假定 </a:t>
              </a:r>
              <a:r>
                <a:rPr lang="en-US" altLang="zh-CN" sz="1600" b="1" dirty="0">
                  <a:solidFill>
                    <a:schemeClr val="bg1"/>
                  </a:solidFill>
                  <a:latin typeface="微软雅黑" pitchFamily="34" charset="-122"/>
                  <a:ea typeface="微软雅黑" pitchFamily="34" charset="-122"/>
                </a:rPr>
                <a:t>X </a:t>
              </a:r>
              <a:r>
                <a:rPr lang="zh-CN" altLang="en-US" sz="1600" b="1" dirty="0">
                  <a:solidFill>
                    <a:schemeClr val="bg1"/>
                  </a:solidFill>
                  <a:latin typeface="微软雅黑" pitchFamily="34" charset="-122"/>
                  <a:ea typeface="微软雅黑" pitchFamily="34" charset="-122"/>
                </a:rPr>
                <a:t>向 </a:t>
              </a:r>
              <a:r>
                <a:rPr lang="en-US" altLang="zh-CN" sz="1600" b="1" dirty="0">
                  <a:solidFill>
                    <a:schemeClr val="bg1"/>
                  </a:solidFill>
                  <a:latin typeface="微软雅黑" pitchFamily="34" charset="-122"/>
                  <a:ea typeface="微软雅黑" pitchFamily="34" charset="-122"/>
                </a:rPr>
                <a:t>A </a:t>
              </a:r>
              <a:r>
                <a:rPr lang="zh-CN" altLang="en-US" sz="1600" b="1" dirty="0">
                  <a:solidFill>
                    <a:schemeClr val="bg1"/>
                  </a:solidFill>
                  <a:latin typeface="微软雅黑" pitchFamily="34" charset="-122"/>
                  <a:ea typeface="微软雅黑" pitchFamily="34" charset="-122"/>
                </a:rPr>
                <a:t>发送下载文件 </a:t>
              </a:r>
              <a:r>
                <a:rPr lang="en-US" altLang="zh-CN" sz="1600" b="1" dirty="0">
                  <a:solidFill>
                    <a:schemeClr val="bg1"/>
                  </a:solidFill>
                  <a:latin typeface="微软雅黑" pitchFamily="34" charset="-122"/>
                  <a:ea typeface="微软雅黑" pitchFamily="34" charset="-122"/>
                </a:rPr>
                <a:t>MP3# </a:t>
              </a:r>
              <a:r>
                <a:rPr lang="zh-CN" altLang="en-US" sz="1600" b="1" dirty="0">
                  <a:solidFill>
                    <a:schemeClr val="bg1"/>
                  </a:solidFill>
                  <a:latin typeface="微软雅黑" pitchFamily="34" charset="-122"/>
                  <a:ea typeface="微软雅黑" pitchFamily="34" charset="-122"/>
                </a:rPr>
                <a:t>的请求报文。双方都使用 </a:t>
              </a:r>
              <a:r>
                <a:rPr lang="en-US" altLang="zh-CN" sz="1600" b="1" dirty="0">
                  <a:solidFill>
                    <a:schemeClr val="bg1"/>
                  </a:solidFill>
                  <a:latin typeface="微软雅黑" pitchFamily="34" charset="-122"/>
                  <a:ea typeface="微软雅黑" pitchFamily="34" charset="-122"/>
                </a:rPr>
                <a:t>P2P </a:t>
              </a:r>
              <a:r>
                <a:rPr lang="zh-CN" altLang="en-US" sz="1600" b="1" dirty="0">
                  <a:solidFill>
                    <a:schemeClr val="bg1"/>
                  </a:solidFill>
                  <a:latin typeface="微软雅黑" pitchFamily="34" charset="-122"/>
                  <a:ea typeface="微软雅黑" pitchFamily="34" charset="-122"/>
                </a:rPr>
                <a:t>方式通信。</a:t>
              </a:r>
            </a:p>
          </p:txBody>
        </p:sp>
        <p:sp>
          <p:nvSpPr>
            <p:cNvPr id="33" name="TextBox 32"/>
            <p:cNvSpPr txBox="1"/>
            <p:nvPr/>
          </p:nvSpPr>
          <p:spPr>
            <a:xfrm>
              <a:off x="1105843" y="1765640"/>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Tree>
    <p:extLst>
      <p:ext uri="{BB962C8B-B14F-4D97-AF65-F5344CB8AC3E}">
        <p14:creationId xmlns:p14="http://schemas.microsoft.com/office/powerpoint/2010/main" val="141453123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Napster </a:t>
            </a:r>
            <a:r>
              <a:rPr lang="zh-CN" altLang="en-US" sz="2000" b="1" dirty="0">
                <a:solidFill>
                  <a:schemeClr val="bg1"/>
                </a:solidFill>
                <a:latin typeface="微软雅黑" pitchFamily="34" charset="-122"/>
                <a:ea typeface="微软雅黑" pitchFamily="34" charset="-122"/>
              </a:rPr>
              <a:t>的工作过程</a:t>
            </a: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zh-CN" altLang="en-US"/>
          </a:p>
        </p:txBody>
      </p:sp>
      <p:graphicFrame>
        <p:nvGraphicFramePr>
          <p:cNvPr id="8" name="Object 5">
            <a:hlinkClick r:id="" action="ppaction://ole?verb=0"/>
          </p:cNvPr>
          <p:cNvGraphicFramePr>
            <a:graphicFrameLocks/>
          </p:cNvGraphicFramePr>
          <p:nvPr>
            <p:extLst>
              <p:ext uri="{D42A27DB-BD31-4B8C-83A1-F6EECF244321}">
                <p14:modId xmlns:p14="http://schemas.microsoft.com/office/powerpoint/2010/main" val="3938535677"/>
              </p:ext>
            </p:extLst>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name="Microsoft ClipArt Gallery" r:id="rId2" imgW="2735263" imgH="3825875" progId="">
                  <p:embed/>
                </p:oleObj>
              </mc:Choice>
              <mc:Fallback>
                <p:oleObj name="Microsoft ClipArt Gallery" r:id="rId2" imgW="2735263" imgH="3825875" progId="">
                  <p:embed/>
                  <p:pic>
                    <p:nvPicPr>
                      <p:cNvPr id="0" name="Picture 7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2570" y="1986318"/>
                        <a:ext cx="575345" cy="1000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0" name="Picture 9"/>
          <p:cNvPicPr>
            <a:picLocks noChangeArrowheads="1"/>
          </p:cNvPicPr>
          <p:nvPr/>
        </p:nvPicPr>
        <p:blipFill>
          <a:blip r:embed="rId4"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X</a:t>
            </a:r>
          </a:p>
        </p:txBody>
      </p:sp>
      <p:pic>
        <p:nvPicPr>
          <p:cNvPr id="12" name="Picture 9"/>
          <p:cNvPicPr>
            <a:picLocks noChangeArrowheads="1"/>
          </p:cNvPicPr>
          <p:nvPr/>
        </p:nvPicPr>
        <p:blipFill>
          <a:blip r:embed="rId4"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4"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4"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4"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4"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C</a:t>
            </a: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B</a:t>
            </a: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headEnd/>
            <a:tailEnd/>
          </a:ln>
        </p:spPr>
        <p:txBody>
          <a:bodyPr wrap="none">
            <a:spAutoFit/>
          </a:bodyPr>
          <a:lstStyle/>
          <a:p>
            <a:r>
              <a:rPr lang="en-US" altLang="zh-CN" sz="1200" b="1" dirty="0">
                <a:latin typeface="微软雅黑" pitchFamily="34" charset="-122"/>
                <a:ea typeface="微软雅黑" pitchFamily="34" charset="-122"/>
                <a:cs typeface="Times New Roman" pitchFamily="18" charset="0"/>
              </a:rPr>
              <a:t>A</a:t>
            </a: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谁有文件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请求文件 </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sym typeface="Wingdings"/>
              </a:rPr>
              <a:t></a:t>
            </a:r>
            <a:endParaRPr kumimoji="0" lang="zh-CN" altLang="en-US" b="1" i="0" u="none" strike="noStrike" kern="0" cap="none" spc="0" normalizeH="0" baseline="0" noProof="0" dirty="0">
              <a:ln>
                <a:noFill/>
              </a:ln>
              <a:solidFill>
                <a:srgbClr val="CC00CC"/>
              </a:solidFill>
              <a:effectLst/>
              <a:uLnTx/>
              <a:uFillTx/>
              <a:latin typeface="微软雅黑" pitchFamily="34" charset="-122"/>
              <a:ea typeface="微软雅黑"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A</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B</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C</a:t>
            </a:r>
            <a:r>
              <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有。</a:t>
            </a:r>
          </a:p>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itchFamily="34" charset="-122"/>
                <a:ea typeface="微软雅黑" pitchFamily="34" charset="-122"/>
                <a:cs typeface="Times New Roman"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 lastClr="FFFFFF"/>
                </a:solidFill>
                <a:effectLst/>
                <a:uLnTx/>
                <a:uFillTx/>
                <a:latin typeface="微软雅黑" pitchFamily="34" charset="-122"/>
                <a:ea typeface="微软雅黑" pitchFamily="34" charset="-122"/>
              </a:endParaRPr>
            </a:p>
          </p:txBody>
        </p:sp>
      </p:grpSp>
      <p:sp>
        <p:nvSpPr>
          <p:cNvPr id="35" name="Text Box 6"/>
          <p:cNvSpPr txBox="1">
            <a:spLocks noChangeArrowheads="1"/>
          </p:cNvSpPr>
          <p:nvPr/>
        </p:nvSpPr>
        <p:spPr bwMode="auto">
          <a:xfrm>
            <a:off x="2254816" y="1495249"/>
            <a:ext cx="1493550" cy="523220"/>
          </a:xfrm>
          <a:prstGeom prst="rect">
            <a:avLst/>
          </a:prstGeom>
          <a:noFill/>
          <a:ln w="9525">
            <a:noFill/>
            <a:miter lim="800000"/>
            <a:headEnd/>
            <a:tailEnd/>
          </a:ln>
        </p:spPr>
        <p:txBody>
          <a:bodyPr wrap="none">
            <a:spAutoFit/>
          </a:bodyPr>
          <a:lstStyle/>
          <a:p>
            <a:pPr algn="ctr"/>
            <a:r>
              <a:rPr kumimoji="1" lang="en-US" altLang="zh-CN" sz="1400" b="1" dirty="0">
                <a:latin typeface="微软雅黑" pitchFamily="34" charset="-122"/>
                <a:ea typeface="微软雅黑" pitchFamily="34" charset="-122"/>
                <a:cs typeface="Times New Roman" pitchFamily="18" charset="0"/>
              </a:rPr>
              <a:t>Napster </a:t>
            </a:r>
            <a:r>
              <a:rPr kumimoji="1" lang="zh-CN" altLang="en-US" sz="1400" b="1" dirty="0">
                <a:latin typeface="微软雅黑" pitchFamily="34" charset="-122"/>
                <a:ea typeface="微软雅黑" pitchFamily="34" charset="-122"/>
                <a:cs typeface="Times New Roman" pitchFamily="18" charset="0"/>
              </a:rPr>
              <a:t>集中式</a:t>
            </a:r>
          </a:p>
          <a:p>
            <a:pPr algn="ctr"/>
            <a:r>
              <a:rPr kumimoji="1" lang="zh-CN" altLang="en-US" sz="1400" b="1" dirty="0">
                <a:latin typeface="微软雅黑" pitchFamily="34" charset="-122"/>
                <a:ea typeface="微软雅黑" pitchFamily="34" charset="-122"/>
                <a:cs typeface="Times New Roman" pitchFamily="18" charset="0"/>
              </a:rPr>
              <a:t>目录服务器</a:t>
            </a:r>
          </a:p>
        </p:txBody>
      </p:sp>
      <p:grpSp>
        <p:nvGrpSpPr>
          <p:cNvPr id="7" name="组合 6"/>
          <p:cNvGrpSpPr/>
          <p:nvPr/>
        </p:nvGrpSpPr>
        <p:grpSpPr>
          <a:xfrm>
            <a:off x="1057850" y="1501525"/>
            <a:ext cx="3592532" cy="656590"/>
            <a:chOff x="1057850" y="1545915"/>
            <a:chExt cx="3592532" cy="656590"/>
          </a:xfrm>
        </p:grpSpPr>
        <p:sp>
          <p:nvSpPr>
            <p:cNvPr id="4" name="矩形 3"/>
            <p:cNvSpPr/>
            <p:nvPr/>
          </p:nvSpPr>
          <p:spPr>
            <a:xfrm>
              <a:off x="1057850" y="1545915"/>
              <a:ext cx="3592532" cy="656590"/>
            </a:xfrm>
            <a:prstGeom prst="rect">
              <a:avLst/>
            </a:prstGeom>
            <a:solidFill>
              <a:srgbClr val="0000FF"/>
            </a:solidFill>
          </p:spPr>
          <p:txBody>
            <a:bodyPr wrap="square">
              <a:spAutoFit/>
            </a:bodyPr>
            <a:lstStyle/>
            <a:p>
              <a:pPr marL="452438">
                <a:lnSpc>
                  <a:spcPts val="2200"/>
                </a:lnSpc>
              </a:pPr>
              <a:r>
                <a:rPr lang="zh-CN" altLang="en-US" sz="1600" b="1" dirty="0">
                  <a:solidFill>
                    <a:schemeClr val="bg1"/>
                  </a:solidFill>
                  <a:latin typeface="微软雅黑" pitchFamily="34" charset="-122"/>
                  <a:ea typeface="微软雅黑" pitchFamily="34" charset="-122"/>
                </a:rPr>
                <a:t>对等方 </a:t>
              </a:r>
              <a:r>
                <a:rPr lang="en-US" altLang="zh-CN" sz="1600" b="1" dirty="0">
                  <a:solidFill>
                    <a:schemeClr val="bg1"/>
                  </a:solidFill>
                  <a:latin typeface="微软雅黑" pitchFamily="34" charset="-122"/>
                  <a:ea typeface="微软雅黑" pitchFamily="34" charset="-122"/>
                </a:rPr>
                <a:t>A</a:t>
              </a:r>
              <a:r>
                <a:rPr lang="zh-CN" altLang="en-US" sz="1600" b="1" dirty="0">
                  <a:solidFill>
                    <a:schemeClr val="bg1"/>
                  </a:solidFill>
                  <a:latin typeface="微软雅黑" pitchFamily="34" charset="-122"/>
                  <a:ea typeface="微软雅黑" pitchFamily="34" charset="-122"/>
                </a:rPr>
                <a:t>（现在作为服务器）把文件 </a:t>
              </a:r>
              <a:r>
                <a:rPr lang="en-US" altLang="zh-CN" sz="1600" b="1" dirty="0">
                  <a:solidFill>
                    <a:schemeClr val="bg1"/>
                  </a:solidFill>
                  <a:latin typeface="微软雅黑" pitchFamily="34" charset="-122"/>
                  <a:ea typeface="微软雅黑" pitchFamily="34" charset="-122"/>
                </a:rPr>
                <a:t>MP3# </a:t>
              </a:r>
              <a:r>
                <a:rPr lang="zh-CN" altLang="en-US" sz="1600" b="1" dirty="0">
                  <a:solidFill>
                    <a:schemeClr val="bg1"/>
                  </a:solidFill>
                  <a:latin typeface="微软雅黑" pitchFamily="34" charset="-122"/>
                  <a:ea typeface="微软雅黑" pitchFamily="34" charset="-122"/>
                </a:rPr>
                <a:t>发送给 </a:t>
              </a:r>
              <a:r>
                <a:rPr lang="en-US" altLang="zh-CN" sz="1600" b="1" dirty="0">
                  <a:solidFill>
                    <a:schemeClr val="bg1"/>
                  </a:solidFill>
                  <a:latin typeface="微软雅黑" pitchFamily="34" charset="-122"/>
                  <a:ea typeface="微软雅黑" pitchFamily="34" charset="-122"/>
                </a:rPr>
                <a:t>X</a:t>
              </a:r>
              <a:r>
                <a:rPr lang="zh-CN" altLang="en-US" sz="1600" b="1" dirty="0">
                  <a:solidFill>
                    <a:schemeClr val="bg1"/>
                  </a:solidFill>
                  <a:latin typeface="微软雅黑" pitchFamily="34" charset="-122"/>
                  <a:ea typeface="微软雅黑" pitchFamily="34" charset="-122"/>
                </a:rPr>
                <a:t>。</a:t>
              </a:r>
            </a:p>
          </p:txBody>
        </p:sp>
        <p:sp>
          <p:nvSpPr>
            <p:cNvPr id="34" name="TextBox 33"/>
            <p:cNvSpPr txBox="1"/>
            <p:nvPr/>
          </p:nvSpPr>
          <p:spPr>
            <a:xfrm>
              <a:off x="1130719" y="1651093"/>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sym typeface="Wingdings"/>
                </a:rPr>
                <a:t></a:t>
              </a:r>
              <a:endParaRPr kumimoji="0" lang="zh-CN" altLang="en-US" sz="2400" b="1" i="0" u="none" strike="noStrike" kern="0" cap="none" spc="0" normalizeH="0" baseline="0" noProof="0" dirty="0">
                <a:ln>
                  <a:noFill/>
                </a:ln>
                <a:solidFill>
                  <a:schemeClr val="bg1"/>
                </a:solidFill>
                <a:effectLst/>
                <a:uLnTx/>
                <a:uFillTx/>
                <a:latin typeface="微软雅黑" pitchFamily="34" charset="-122"/>
                <a:ea typeface="微软雅黑" pitchFamily="34" charset="-122"/>
              </a:endParaRPr>
            </a:p>
          </p:txBody>
        </p:sp>
      </p:grpSp>
    </p:spTree>
    <p:extLst>
      <p:ext uri="{BB962C8B-B14F-4D97-AF65-F5344CB8AC3E}">
        <p14:creationId xmlns:p14="http://schemas.microsoft.com/office/powerpoint/2010/main" val="1187104853"/>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78380" y="576596"/>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集中式目录服务器的缺点</a:t>
            </a:r>
          </a:p>
        </p:txBody>
      </p:sp>
      <p:sp>
        <p:nvSpPr>
          <p:cNvPr id="4" name="Rectangle 68"/>
          <p:cNvSpPr>
            <a:spLocks noChangeArrowheads="1"/>
          </p:cNvSpPr>
          <p:nvPr/>
        </p:nvSpPr>
        <p:spPr bwMode="auto">
          <a:xfrm>
            <a:off x="483810" y="970897"/>
            <a:ext cx="8212134"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可靠性差。</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会成为性能的瓶颈。</a:t>
            </a:r>
          </a:p>
        </p:txBody>
      </p:sp>
    </p:spTree>
    <p:extLst>
      <p:ext uri="{BB962C8B-B14F-4D97-AF65-F5344CB8AC3E}">
        <p14:creationId xmlns:p14="http://schemas.microsoft.com/office/powerpoint/2010/main" val="330218881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8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365839" y="568509"/>
            <a:ext cx="64123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6.9.2 </a:t>
            </a:r>
            <a:r>
              <a:rPr lang="zh-CN" altLang="en-US" sz="2400" b="1" dirty="0">
                <a:solidFill>
                  <a:schemeClr val="bg1"/>
                </a:solidFill>
                <a:latin typeface="微软雅黑" pitchFamily="34" charset="-122"/>
                <a:ea typeface="微软雅黑" pitchFamily="34" charset="-122"/>
              </a:rPr>
              <a:t>具有全分布式结构的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文件共享程序</a:t>
            </a:r>
          </a:p>
        </p:txBody>
      </p:sp>
      <p:sp>
        <p:nvSpPr>
          <p:cNvPr id="4" name="Rectangle 68"/>
          <p:cNvSpPr>
            <a:spLocks noChangeArrowheads="1"/>
          </p:cNvSpPr>
          <p:nvPr/>
        </p:nvSpPr>
        <p:spPr bwMode="auto">
          <a:xfrm>
            <a:off x="511242" y="1004998"/>
            <a:ext cx="8138981"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是</a:t>
            </a:r>
            <a:r>
              <a:rPr lang="zh-CN" altLang="en-US" sz="2000" b="1" dirty="0">
                <a:solidFill>
                  <a:srgbClr val="0000FF"/>
                </a:solidFill>
                <a:latin typeface="微软雅黑" pitchFamily="34" charset="-122"/>
                <a:ea typeface="微软雅黑" pitchFamily="34" charset="-122"/>
              </a:rPr>
              <a:t>第二代</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文件共享程序，采用</a:t>
            </a:r>
            <a:r>
              <a:rPr lang="zh-CN" altLang="en-US" sz="2000" b="1" dirty="0">
                <a:solidFill>
                  <a:srgbClr val="C00000"/>
                </a:solidFill>
                <a:latin typeface="微软雅黑" pitchFamily="34" charset="-122"/>
                <a:ea typeface="微软雅黑" pitchFamily="34" charset="-122"/>
              </a:rPr>
              <a:t>全分布</a:t>
            </a:r>
            <a:r>
              <a:rPr lang="zh-CN" altLang="en-US" sz="2000" b="1" dirty="0">
                <a:latin typeface="微软雅黑" pitchFamily="34" charset="-122"/>
                <a:ea typeface="微软雅黑" pitchFamily="34" charset="-122"/>
              </a:rPr>
              <a:t>方法定位内容的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文件共享应用程序。 </a:t>
            </a:r>
          </a:p>
          <a:p>
            <a:pPr marL="285750" indent="-28575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最大的</a:t>
            </a:r>
            <a:r>
              <a:rPr lang="zh-CN" altLang="en-US" sz="2000" b="1" dirty="0">
                <a:solidFill>
                  <a:srgbClr val="C00000"/>
                </a:solidFill>
                <a:latin typeface="微软雅黑" pitchFamily="34" charset="-122"/>
                <a:ea typeface="微软雅黑" pitchFamily="34" charset="-122"/>
              </a:rPr>
              <a:t>区别</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不使用</a:t>
            </a:r>
            <a:r>
              <a:rPr lang="zh-CN" altLang="en-US" sz="2000" b="1" dirty="0">
                <a:latin typeface="微软雅黑" pitchFamily="34" charset="-122"/>
                <a:ea typeface="微软雅黑" pitchFamily="34" charset="-122"/>
              </a:rPr>
              <a:t>集中式的目录服务器，而是使用</a:t>
            </a:r>
            <a:r>
              <a:rPr lang="zh-CN" altLang="en-US" sz="2000" b="1" dirty="0">
                <a:solidFill>
                  <a:srgbClr val="C00000"/>
                </a:solidFill>
                <a:latin typeface="微软雅黑" pitchFamily="34" charset="-122"/>
                <a:ea typeface="微软雅黑" pitchFamily="34" charset="-122"/>
              </a:rPr>
              <a:t>洪泛法</a:t>
            </a:r>
            <a:r>
              <a:rPr lang="zh-CN" altLang="en-US" sz="2000" b="1" dirty="0">
                <a:latin typeface="微软雅黑" pitchFamily="34" charset="-122"/>
                <a:ea typeface="微软雅黑" pitchFamily="34" charset="-122"/>
              </a:rPr>
              <a:t>在大量 </a:t>
            </a: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用户之间进行查询。</a:t>
            </a:r>
          </a:p>
          <a:p>
            <a:pPr marL="285750" indent="-28575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为了不使查询的通信量过大，</a:t>
            </a: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设计了一种</a:t>
            </a:r>
            <a:r>
              <a:rPr lang="zh-CN" altLang="en-US" sz="2000" b="1" dirty="0">
                <a:solidFill>
                  <a:srgbClr val="C00000"/>
                </a:solidFill>
                <a:latin typeface="微软雅黑" pitchFamily="34" charset="-122"/>
                <a:ea typeface="微软雅黑" pitchFamily="34" charset="-122"/>
              </a:rPr>
              <a:t>有限范围</a:t>
            </a:r>
            <a:r>
              <a:rPr lang="zh-CN" altLang="en-US" sz="2000" b="1" dirty="0">
                <a:latin typeface="微软雅黑" pitchFamily="34" charset="-122"/>
                <a:ea typeface="微软雅黑" pitchFamily="34" charset="-122"/>
              </a:rPr>
              <a:t>的洪泛查询，减少了倾注到互联网的查询流量，但也影响到查询定位的准确性。</a:t>
            </a:r>
            <a:endParaRPr lang="en-US" altLang="zh-CN" sz="2000" b="1" dirty="0">
              <a:latin typeface="微软雅黑" pitchFamily="34" charset="-122"/>
              <a:ea typeface="微软雅黑" pitchFamily="34" charset="-122"/>
            </a:endParaRPr>
          </a:p>
          <a:p>
            <a:pPr marL="285750" indent="-28575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第三代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文件共享程序采用分散定位和分散传输技术。例如 </a:t>
            </a:r>
            <a:r>
              <a:rPr lang="en-US" altLang="zh-CN" sz="2000" b="1" dirty="0" err="1">
                <a:latin typeface="微软雅黑" pitchFamily="34" charset="-122"/>
                <a:ea typeface="微软雅黑" pitchFamily="34" charset="-122"/>
              </a:rPr>
              <a:t>KaZaA</a:t>
            </a:r>
            <a:r>
              <a:rPr lang="zh-CN" altLang="en-US" sz="2000" b="1" dirty="0">
                <a:latin typeface="微软雅黑" pitchFamily="34" charset="-122"/>
                <a:ea typeface="微软雅黑" pitchFamily="34" charset="-122"/>
              </a:rPr>
              <a:t>，电骡 </a:t>
            </a:r>
            <a:r>
              <a:rPr lang="en-US" altLang="zh-CN" sz="2000" b="1" dirty="0" err="1">
                <a:latin typeface="微软雅黑" pitchFamily="34" charset="-122"/>
                <a:ea typeface="微软雅黑" pitchFamily="34" charset="-122"/>
              </a:rPr>
              <a:t>eMule</a:t>
            </a:r>
            <a:r>
              <a:rPr lang="zh-CN" altLang="en-US" sz="2000" b="1" dirty="0">
                <a:latin typeface="微软雅黑" pitchFamily="34" charset="-122"/>
                <a:ea typeface="微软雅黑" pitchFamily="34" charset="-122"/>
              </a:rPr>
              <a:t>，比特洪流 </a:t>
            </a:r>
            <a:r>
              <a:rPr lang="en-US" altLang="zh-CN" sz="2000" b="1" dirty="0">
                <a:latin typeface="微软雅黑" pitchFamily="34" charset="-122"/>
                <a:ea typeface="微软雅黑" pitchFamily="34" charset="-122"/>
              </a:rPr>
              <a:t>BT (Bit Torrent) </a:t>
            </a:r>
            <a:r>
              <a:rPr lang="zh-CN" altLang="en-US" sz="2000" b="1" dirty="0">
                <a:latin typeface="微软雅黑" pitchFamily="34" charset="-122"/>
                <a:ea typeface="微软雅黑" pitchFamily="34" charset="-122"/>
              </a:rPr>
              <a:t>等。</a:t>
            </a:r>
          </a:p>
        </p:txBody>
      </p:sp>
    </p:spTree>
    <p:extLst>
      <p:ext uri="{BB962C8B-B14F-4D97-AF65-F5344CB8AC3E}">
        <p14:creationId xmlns:p14="http://schemas.microsoft.com/office/powerpoint/2010/main" val="122255249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110639" y="1080056"/>
            <a:ext cx="5495100"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4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49242" y="2325241"/>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27984"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6" y="34174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3"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32240" y="305743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956376"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956376" y="16172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028384" y="240936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53912" y="121266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0" name="图片 36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46711" y="1276805"/>
            <a:ext cx="485811" cy="680135"/>
          </a:xfrm>
          <a:prstGeom prst="rect">
            <a:avLst/>
          </a:prstGeom>
        </p:spPr>
      </p:pic>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512939" y="575054"/>
            <a:ext cx="41368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使用 </a:t>
            </a:r>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的比特洪流 </a:t>
            </a:r>
            <a:r>
              <a:rPr lang="en-US" altLang="zh-CN" sz="2000" b="1" dirty="0">
                <a:solidFill>
                  <a:schemeClr val="bg1"/>
                </a:solidFill>
                <a:latin typeface="微软雅黑" pitchFamily="34" charset="-122"/>
                <a:ea typeface="微软雅黑" pitchFamily="34" charset="-122"/>
              </a:rPr>
              <a:t>BT </a:t>
            </a:r>
            <a:r>
              <a:rPr lang="zh-CN" altLang="en-US" sz="2000" b="1" dirty="0">
                <a:solidFill>
                  <a:schemeClr val="bg1"/>
                </a:solidFill>
                <a:latin typeface="微软雅黑" pitchFamily="34" charset="-122"/>
                <a:ea typeface="微软雅黑" pitchFamily="34" charset="-122"/>
              </a:rPr>
              <a:t>主要特点</a:t>
            </a:r>
          </a:p>
        </p:txBody>
      </p:sp>
      <p:sp>
        <p:nvSpPr>
          <p:cNvPr id="4" name="Rectangle 68"/>
          <p:cNvSpPr>
            <a:spLocks noChangeArrowheads="1"/>
          </p:cNvSpPr>
          <p:nvPr/>
        </p:nvSpPr>
        <p:spPr bwMode="auto">
          <a:xfrm>
            <a:off x="521449" y="984615"/>
            <a:ext cx="2564159" cy="37600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388" indent="-179388" eaLnBrk="0" hangingPunct="0">
              <a:lnSpc>
                <a:spcPts val="2200"/>
              </a:lnSpc>
              <a:buClr>
                <a:srgbClr val="0070C0"/>
              </a:buClr>
              <a:buFont typeface="Wingdings" pitchFamily="2" charset="2"/>
              <a:buChar char="l"/>
            </a:pPr>
            <a:r>
              <a:rPr lang="en-US" altLang="zh-CN" sz="1600" b="1" dirty="0" err="1">
                <a:latin typeface="微软雅黑" pitchFamily="34" charset="-122"/>
                <a:ea typeface="微软雅黑" pitchFamily="34" charset="-122"/>
              </a:rPr>
              <a:t>BitTorrent</a:t>
            </a:r>
            <a:r>
              <a:rPr lang="en-US" altLang="zh-CN" sz="1600" b="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所有对等方集合称为一个</a:t>
            </a:r>
            <a:r>
              <a:rPr lang="zh-CN" altLang="en-US" sz="1600" b="1" dirty="0">
                <a:solidFill>
                  <a:srgbClr val="0000FF"/>
                </a:solidFill>
                <a:latin typeface="微软雅黑" pitchFamily="34" charset="-122"/>
                <a:ea typeface="微软雅黑" pitchFamily="34" charset="-122"/>
              </a:rPr>
              <a:t>洪流 </a:t>
            </a:r>
            <a:r>
              <a:rPr lang="en-US" altLang="zh-CN" sz="1600" b="1" dirty="0">
                <a:latin typeface="微软雅黑" pitchFamily="34" charset="-122"/>
                <a:ea typeface="微软雅黑" pitchFamily="34" charset="-122"/>
              </a:rPr>
              <a:t>(torrent)</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marL="179388" indent="-179388" eaLnBrk="0" hangingPunct="0">
              <a:lnSpc>
                <a:spcPts val="2200"/>
              </a:lnSpc>
              <a:buClr>
                <a:srgbClr val="0070C0"/>
              </a:buClr>
              <a:buFont typeface="Wingdings" pitchFamily="2" charset="2"/>
              <a:buChar char="l"/>
            </a:pPr>
            <a:r>
              <a:rPr lang="zh-CN" altLang="en-US" sz="1600" b="1" dirty="0">
                <a:latin typeface="微软雅黑" pitchFamily="34" charset="-122"/>
                <a:ea typeface="微软雅黑" pitchFamily="34" charset="-122"/>
              </a:rPr>
              <a:t>下载文件的数据单元为长度固定的</a:t>
            </a:r>
            <a:r>
              <a:rPr lang="zh-CN" altLang="en-US" sz="1600" b="1" dirty="0">
                <a:solidFill>
                  <a:srgbClr val="0000FF"/>
                </a:solidFill>
                <a:latin typeface="微软雅黑" pitchFamily="34" charset="-122"/>
                <a:ea typeface="微软雅黑" pitchFamily="34" charset="-122"/>
              </a:rPr>
              <a:t>文件块</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(chunk)</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marL="179388" indent="-179388" eaLnBrk="0" hangingPunct="0">
              <a:lnSpc>
                <a:spcPts val="2200"/>
              </a:lnSpc>
              <a:buClr>
                <a:srgbClr val="0070C0"/>
              </a:buClr>
              <a:buFont typeface="Wingdings" pitchFamily="2" charset="2"/>
              <a:buChar char="l"/>
            </a:pPr>
            <a:r>
              <a:rPr lang="zh-CN" altLang="en-US" sz="1600" b="1" dirty="0">
                <a:latin typeface="微软雅黑" pitchFamily="34" charset="-122"/>
                <a:ea typeface="微软雅黑" pitchFamily="34" charset="-122"/>
              </a:rPr>
              <a:t>基础设施结点，叫做</a:t>
            </a:r>
            <a:r>
              <a:rPr lang="zh-CN" altLang="en-US" sz="1600" b="1" dirty="0">
                <a:solidFill>
                  <a:srgbClr val="0000FF"/>
                </a:solidFill>
                <a:latin typeface="微软雅黑" pitchFamily="34" charset="-122"/>
                <a:ea typeface="微软雅黑" pitchFamily="34" charset="-122"/>
              </a:rPr>
              <a:t>追踪器</a:t>
            </a:r>
            <a:r>
              <a:rPr lang="zh-CN" altLang="en-US" sz="1600" b="1" dirty="0">
                <a:latin typeface="微软雅黑" pitchFamily="34" charset="-122"/>
                <a:ea typeface="微软雅黑" pitchFamily="34" charset="-122"/>
              </a:rPr>
              <a:t> </a:t>
            </a:r>
            <a:r>
              <a:rPr lang="en-US" altLang="zh-CN" sz="1600" b="1" dirty="0">
                <a:latin typeface="微软雅黑" pitchFamily="34" charset="-122"/>
                <a:ea typeface="微软雅黑" pitchFamily="34" charset="-122"/>
              </a:rPr>
              <a:t>(tracker)</a:t>
            </a:r>
            <a:r>
              <a:rPr lang="zh-CN" altLang="en-US" sz="1600" b="1" dirty="0">
                <a:latin typeface="微软雅黑" pitchFamily="34" charset="-122"/>
                <a:ea typeface="微软雅黑" pitchFamily="34" charset="-122"/>
              </a:rPr>
              <a:t>。</a:t>
            </a:r>
            <a:endParaRPr lang="en-US" altLang="zh-CN" sz="1600" b="1" dirty="0">
              <a:latin typeface="微软雅黑" pitchFamily="34" charset="-122"/>
              <a:ea typeface="微软雅黑" pitchFamily="34" charset="-122"/>
            </a:endParaRPr>
          </a:p>
          <a:p>
            <a:pPr marL="179388" indent="-179388" eaLnBrk="0" hangingPunct="0">
              <a:lnSpc>
                <a:spcPts val="2200"/>
              </a:lnSpc>
              <a:buClr>
                <a:srgbClr val="0070C0"/>
              </a:buClr>
              <a:buFont typeface="Wingdings" pitchFamily="2" charset="2"/>
              <a:buChar char="l"/>
            </a:pP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和对等方建立了 </a:t>
            </a:r>
            <a:r>
              <a:rPr lang="en-US" altLang="zh-CN" sz="1600" b="1" dirty="0">
                <a:solidFill>
                  <a:srgbClr val="C00000"/>
                </a:solidFill>
                <a:latin typeface="微软雅黑" pitchFamily="34" charset="-122"/>
                <a:ea typeface="微软雅黑" pitchFamily="34" charset="-122"/>
              </a:rPr>
              <a:t>TCP </a:t>
            </a:r>
            <a:r>
              <a:rPr lang="zh-CN" altLang="en-US" sz="1600" b="1" dirty="0">
                <a:solidFill>
                  <a:srgbClr val="C00000"/>
                </a:solidFill>
                <a:latin typeface="微软雅黑" pitchFamily="34" charset="-122"/>
                <a:ea typeface="微软雅黑" pitchFamily="34" charset="-122"/>
              </a:rPr>
              <a:t>连接。</a:t>
            </a:r>
            <a:r>
              <a:rPr lang="zh-CN" altLang="en-US" sz="1600" b="1" dirty="0">
                <a:latin typeface="微软雅黑" pitchFamily="34" charset="-122"/>
                <a:ea typeface="微软雅黑" pitchFamily="34" charset="-122"/>
              </a:rPr>
              <a:t>所有与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建立了 </a:t>
            </a:r>
            <a:r>
              <a:rPr lang="en-US" altLang="zh-CN" sz="1600" b="1" dirty="0">
                <a:latin typeface="微软雅黑" pitchFamily="34" charset="-122"/>
                <a:ea typeface="微软雅黑" pitchFamily="34" charset="-122"/>
              </a:rPr>
              <a:t>TCP </a:t>
            </a:r>
            <a:r>
              <a:rPr lang="zh-CN" altLang="en-US" sz="1600" b="1" dirty="0">
                <a:latin typeface="微软雅黑" pitchFamily="34" charset="-122"/>
                <a:ea typeface="微软雅黑" pitchFamily="34" charset="-122"/>
              </a:rPr>
              <a:t>连接的对等方为</a:t>
            </a:r>
            <a:r>
              <a:rPr lang="zh-CN" altLang="en-US" sz="1600" b="1" dirty="0">
                <a:solidFill>
                  <a:srgbClr val="0000FF"/>
                </a:solidFill>
                <a:latin typeface="微软雅黑" pitchFamily="34" charset="-122"/>
                <a:ea typeface="微软雅黑" pitchFamily="34" charset="-122"/>
              </a:rPr>
              <a:t>相邻对等方</a:t>
            </a:r>
            <a:r>
              <a:rPr lang="en-US" altLang="zh-CN" sz="1600" b="1" dirty="0">
                <a:latin typeface="微软雅黑" pitchFamily="34" charset="-122"/>
                <a:ea typeface="微软雅黑" pitchFamily="34" charset="-122"/>
              </a:rPr>
              <a:t>(neighboring peers)</a:t>
            </a:r>
            <a:r>
              <a:rPr lang="zh-CN" altLang="en-US" sz="1600" b="1" dirty="0">
                <a:latin typeface="微软雅黑" pitchFamily="34" charset="-122"/>
                <a:ea typeface="微软雅黑" pitchFamily="34" charset="-122"/>
              </a:rPr>
              <a:t>。</a:t>
            </a:r>
          </a:p>
        </p:txBody>
      </p:sp>
      <p:sp>
        <p:nvSpPr>
          <p:cNvPr id="459" name="Text Box 457"/>
          <p:cNvSpPr txBox="1">
            <a:spLocks noChangeArrowheads="1"/>
          </p:cNvSpPr>
          <p:nvPr/>
        </p:nvSpPr>
        <p:spPr bwMode="auto">
          <a:xfrm>
            <a:off x="4876873" y="2325350"/>
            <a:ext cx="10823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交换文件块</a:t>
            </a:r>
          </a:p>
        </p:txBody>
      </p:sp>
      <p:sp>
        <p:nvSpPr>
          <p:cNvPr id="461" name="Text Box 459"/>
          <p:cNvSpPr txBox="1">
            <a:spLocks noChangeArrowheads="1"/>
          </p:cNvSpPr>
          <p:nvPr/>
        </p:nvSpPr>
        <p:spPr bwMode="auto">
          <a:xfrm>
            <a:off x="4596810" y="149141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追踪器</a:t>
            </a:r>
          </a:p>
        </p:txBody>
      </p:sp>
      <p:sp>
        <p:nvSpPr>
          <p:cNvPr id="2727" name="Line 2725"/>
          <p:cNvSpPr>
            <a:spLocks noChangeShapeType="1"/>
          </p:cNvSpPr>
          <p:nvPr/>
        </p:nvSpPr>
        <p:spPr bwMode="auto">
          <a:xfrm rot="816166">
            <a:off x="3857631" y="2991881"/>
            <a:ext cx="2015690" cy="24857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2728" name="Text Box 2726"/>
          <p:cNvSpPr txBox="1">
            <a:spLocks noChangeArrowheads="1"/>
          </p:cNvSpPr>
          <p:nvPr/>
        </p:nvSpPr>
        <p:spPr bwMode="auto">
          <a:xfrm>
            <a:off x="3110639" y="2325241"/>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1400" b="1" dirty="0">
                <a:solidFill>
                  <a:sysClr val="windowText" lastClr="000000"/>
                </a:solidFill>
                <a:latin typeface="微软雅黑" pitchFamily="34" charset="-122"/>
                <a:ea typeface="微软雅黑" pitchFamily="34" charset="-122"/>
              </a:rPr>
              <a:t>A</a:t>
            </a:r>
            <a:endParaRPr kumimoji="1" lang="en-US" altLang="zh-CN" sz="1400" b="1" i="1" dirty="0">
              <a:solidFill>
                <a:sysClr val="windowText" lastClr="000000"/>
              </a:solidFill>
              <a:latin typeface="微软雅黑" pitchFamily="34" charset="-122"/>
              <a:ea typeface="微软雅黑" pitchFamily="34" charset="-122"/>
            </a:endParaRPr>
          </a:p>
        </p:txBody>
      </p:sp>
      <p:sp>
        <p:nvSpPr>
          <p:cNvPr id="2729" name="Line 2727"/>
          <p:cNvSpPr>
            <a:spLocks noChangeShapeType="1"/>
          </p:cNvSpPr>
          <p:nvPr/>
        </p:nvSpPr>
        <p:spPr bwMode="auto">
          <a:xfrm rot="816166" flipV="1">
            <a:off x="4034334" y="2234092"/>
            <a:ext cx="3996187" cy="82108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2730" name="Line 2728"/>
          <p:cNvSpPr>
            <a:spLocks noChangeShapeType="1"/>
          </p:cNvSpPr>
          <p:nvPr/>
        </p:nvSpPr>
        <p:spPr bwMode="auto">
          <a:xfrm rot="816166" flipV="1">
            <a:off x="4026584" y="1496943"/>
            <a:ext cx="2258355" cy="1194749"/>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2731" name="Line 2729"/>
          <p:cNvSpPr>
            <a:spLocks noChangeShapeType="1"/>
          </p:cNvSpPr>
          <p:nvPr/>
        </p:nvSpPr>
        <p:spPr bwMode="auto">
          <a:xfrm rot="816166" flipV="1">
            <a:off x="3732390" y="1808544"/>
            <a:ext cx="370744" cy="73185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38" name="Line 3637"/>
          <p:cNvSpPr>
            <a:spLocks noChangeShapeType="1"/>
          </p:cNvSpPr>
          <p:nvPr/>
        </p:nvSpPr>
        <p:spPr bwMode="auto">
          <a:xfrm rot="816166">
            <a:off x="6476590" y="2001298"/>
            <a:ext cx="1703238" cy="134908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39" name="Line 3638"/>
          <p:cNvSpPr>
            <a:spLocks noChangeShapeType="1"/>
          </p:cNvSpPr>
          <p:nvPr/>
        </p:nvSpPr>
        <p:spPr bwMode="auto">
          <a:xfrm rot="816166" flipV="1">
            <a:off x="6866178" y="1672115"/>
            <a:ext cx="1090939" cy="107523"/>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0" name="Line 3639"/>
          <p:cNvSpPr>
            <a:spLocks noChangeShapeType="1"/>
          </p:cNvSpPr>
          <p:nvPr/>
        </p:nvSpPr>
        <p:spPr bwMode="auto">
          <a:xfrm rot="816166" flipH="1">
            <a:off x="5177790" y="1687145"/>
            <a:ext cx="1152312" cy="214237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1" name="Line 3640"/>
          <p:cNvSpPr>
            <a:spLocks noChangeShapeType="1"/>
          </p:cNvSpPr>
          <p:nvPr/>
        </p:nvSpPr>
        <p:spPr bwMode="auto">
          <a:xfrm rot="816166">
            <a:off x="6817907" y="1915140"/>
            <a:ext cx="1277756" cy="41972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2" name="Line 3641"/>
          <p:cNvSpPr>
            <a:spLocks noChangeShapeType="1"/>
          </p:cNvSpPr>
          <p:nvPr/>
        </p:nvSpPr>
        <p:spPr bwMode="auto">
          <a:xfrm rot="816166" flipV="1">
            <a:off x="6338869" y="3325434"/>
            <a:ext cx="462178" cy="297134"/>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3" name="Line 3642"/>
          <p:cNvSpPr>
            <a:spLocks noChangeShapeType="1"/>
          </p:cNvSpPr>
          <p:nvPr/>
        </p:nvSpPr>
        <p:spPr bwMode="auto">
          <a:xfrm rot="816166" flipV="1">
            <a:off x="4951085" y="3622568"/>
            <a:ext cx="807871" cy="29829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4" name="Line 3643"/>
          <p:cNvSpPr>
            <a:spLocks noChangeShapeType="1"/>
          </p:cNvSpPr>
          <p:nvPr/>
        </p:nvSpPr>
        <p:spPr bwMode="auto">
          <a:xfrm rot="816166">
            <a:off x="7106660" y="3585570"/>
            <a:ext cx="884274" cy="15955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5" name="Line 3644"/>
          <p:cNvSpPr>
            <a:spLocks noChangeShapeType="1"/>
          </p:cNvSpPr>
          <p:nvPr/>
        </p:nvSpPr>
        <p:spPr bwMode="auto">
          <a:xfrm rot="816166" flipH="1" flipV="1">
            <a:off x="8239901" y="2975188"/>
            <a:ext cx="70846" cy="59895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6" name="Line 3645"/>
          <p:cNvSpPr>
            <a:spLocks noChangeShapeType="1"/>
          </p:cNvSpPr>
          <p:nvPr/>
        </p:nvSpPr>
        <p:spPr bwMode="auto">
          <a:xfrm rot="816166" flipH="1">
            <a:off x="7388475" y="1980811"/>
            <a:ext cx="457168" cy="115269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itchFamily="34" charset="-122"/>
              <a:ea typeface="微软雅黑" pitchFamily="34" charset="-122"/>
            </a:endParaRPr>
          </a:p>
        </p:txBody>
      </p:sp>
      <p:sp>
        <p:nvSpPr>
          <p:cNvPr id="3647" name="Text Box 3646"/>
          <p:cNvSpPr txBox="1">
            <a:spLocks noChangeArrowheads="1"/>
          </p:cNvSpPr>
          <p:nvPr/>
        </p:nvSpPr>
        <p:spPr bwMode="auto">
          <a:xfrm>
            <a:off x="3270551" y="1533376"/>
            <a:ext cx="7232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1400" b="1" dirty="0">
                <a:solidFill>
                  <a:sysClr val="windowText" lastClr="000000"/>
                </a:solidFill>
                <a:latin typeface="微软雅黑" pitchFamily="34" charset="-122"/>
                <a:ea typeface="微软雅黑" pitchFamily="34" charset="-122"/>
              </a:rPr>
              <a:t>获得</a:t>
            </a:r>
          </a:p>
          <a:p>
            <a:pPr algn="ctr"/>
            <a:r>
              <a:rPr kumimoji="1" lang="zh-CN" altLang="en-US" sz="1400" b="1" dirty="0">
                <a:solidFill>
                  <a:sysClr val="windowText" lastClr="000000"/>
                </a:solidFill>
                <a:latin typeface="微软雅黑" pitchFamily="34" charset="-122"/>
                <a:ea typeface="微软雅黑" pitchFamily="34" charset="-122"/>
              </a:rPr>
              <a:t>对等方</a:t>
            </a:r>
          </a:p>
          <a:p>
            <a:pPr algn="ctr"/>
            <a:r>
              <a:rPr kumimoji="1" lang="zh-CN" altLang="en-US" sz="1400" b="1" dirty="0">
                <a:solidFill>
                  <a:sysClr val="windowText" lastClr="000000"/>
                </a:solidFill>
                <a:latin typeface="微软雅黑" pitchFamily="34" charset="-122"/>
                <a:ea typeface="微软雅黑" pitchFamily="34" charset="-122"/>
              </a:rPr>
              <a:t>列表</a:t>
            </a:r>
          </a:p>
        </p:txBody>
      </p:sp>
    </p:spTree>
    <p:extLst>
      <p:ext uri="{BB962C8B-B14F-4D97-AF65-F5344CB8AC3E}">
        <p14:creationId xmlns:p14="http://schemas.microsoft.com/office/powerpoint/2010/main" val="1321432997"/>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795984" y="575054"/>
            <a:ext cx="55707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相邻关系是逻辑的，对等方的数目是动态变化的</a:t>
            </a:r>
          </a:p>
        </p:txBody>
      </p:sp>
      <p:grpSp>
        <p:nvGrpSpPr>
          <p:cNvPr id="6" name="组合 5"/>
          <p:cNvGrpSpPr/>
          <p:nvPr/>
        </p:nvGrpSpPr>
        <p:grpSpPr>
          <a:xfrm>
            <a:off x="1012053" y="1189440"/>
            <a:ext cx="7199791" cy="2805511"/>
            <a:chOff x="107950" y="117307"/>
            <a:chExt cx="8928100" cy="4607093"/>
          </a:xfrm>
        </p:grpSpPr>
        <p:sp>
          <p:nvSpPr>
            <p:cNvPr id="32" name="平行四边形 5697"/>
            <p:cNvSpPr>
              <a:spLocks noChangeArrowheads="1"/>
            </p:cNvSpPr>
            <p:nvPr/>
          </p:nvSpPr>
          <p:spPr bwMode="auto">
            <a:xfrm>
              <a:off x="107950" y="2565400"/>
              <a:ext cx="8928100" cy="2159000"/>
            </a:xfrm>
            <a:prstGeom prst="parallelogram">
              <a:avLst>
                <a:gd name="adj" fmla="val 76618"/>
              </a:avLst>
            </a:prstGeom>
            <a:solidFill>
              <a:schemeClr val="bg1">
                <a:lumMod val="95000"/>
              </a:schemeClr>
            </a:solidFill>
            <a:ln w="9525" algn="ctr">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33" name="平行四边形 5697"/>
            <p:cNvSpPr>
              <a:spLocks noChangeArrowheads="1"/>
            </p:cNvSpPr>
            <p:nvPr/>
          </p:nvSpPr>
          <p:spPr bwMode="auto">
            <a:xfrm>
              <a:off x="107950" y="260350"/>
              <a:ext cx="8928100" cy="2160588"/>
            </a:xfrm>
            <a:prstGeom prst="parallelogram">
              <a:avLst>
                <a:gd name="adj" fmla="val 76561"/>
              </a:avLst>
            </a:prstGeom>
            <a:solidFill>
              <a:srgbClr val="66FF66"/>
            </a:solidFill>
            <a:ln w="9525" algn="ctr">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34" name="直接连接符 8002"/>
            <p:cNvCxnSpPr>
              <a:cxnSpLocks noChangeShapeType="1"/>
              <a:stCxn id="518" idx="1"/>
            </p:cNvCxnSpPr>
            <p:nvPr/>
          </p:nvCxnSpPr>
          <p:spPr bwMode="auto">
            <a:xfrm flipH="1" flipV="1">
              <a:off x="2987675" y="3933825"/>
              <a:ext cx="176213" cy="4635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5" name="直接连接符 8006"/>
            <p:cNvCxnSpPr>
              <a:cxnSpLocks noChangeShapeType="1"/>
              <a:stCxn id="521" idx="2"/>
            </p:cNvCxnSpPr>
            <p:nvPr/>
          </p:nvCxnSpPr>
          <p:spPr bwMode="auto">
            <a:xfrm flipH="1">
              <a:off x="5076825" y="3249613"/>
              <a:ext cx="1150938"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6" name="直接连接符 8000"/>
            <p:cNvCxnSpPr>
              <a:cxnSpLocks noChangeShapeType="1"/>
              <a:stCxn id="516" idx="6"/>
            </p:cNvCxnSpPr>
            <p:nvPr/>
          </p:nvCxnSpPr>
          <p:spPr bwMode="auto">
            <a:xfrm flipV="1">
              <a:off x="1042988" y="3860800"/>
              <a:ext cx="1368425" cy="5397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7998"/>
            <p:cNvCxnSpPr>
              <a:cxnSpLocks noChangeShapeType="1"/>
              <a:stCxn id="517" idx="5"/>
            </p:cNvCxnSpPr>
            <p:nvPr/>
          </p:nvCxnSpPr>
          <p:spPr bwMode="auto">
            <a:xfrm>
              <a:off x="2163763" y="3036888"/>
              <a:ext cx="392112" cy="53657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8004"/>
            <p:cNvCxnSpPr>
              <a:cxnSpLocks noChangeShapeType="1"/>
              <a:stCxn id="518" idx="3"/>
            </p:cNvCxnSpPr>
            <p:nvPr/>
          </p:nvCxnSpPr>
          <p:spPr bwMode="auto">
            <a:xfrm flipV="1">
              <a:off x="3163888" y="3500438"/>
              <a:ext cx="1552575" cy="10493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9" name="直接连接符 8015"/>
            <p:cNvCxnSpPr>
              <a:cxnSpLocks noChangeShapeType="1"/>
              <a:stCxn id="519" idx="2"/>
            </p:cNvCxnSpPr>
            <p:nvPr/>
          </p:nvCxnSpPr>
          <p:spPr bwMode="auto">
            <a:xfrm flipH="1" flipV="1">
              <a:off x="4932363" y="3429000"/>
              <a:ext cx="792162" cy="900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8013"/>
            <p:cNvCxnSpPr>
              <a:cxnSpLocks noChangeShapeType="1"/>
              <a:stCxn id="519" idx="7"/>
            </p:cNvCxnSpPr>
            <p:nvPr/>
          </p:nvCxnSpPr>
          <p:spPr bwMode="auto">
            <a:xfrm flipV="1">
              <a:off x="5908675" y="3933825"/>
              <a:ext cx="750888" cy="3190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直接连接符 8011"/>
            <p:cNvCxnSpPr>
              <a:cxnSpLocks noChangeShapeType="1"/>
              <a:stCxn id="522" idx="2"/>
            </p:cNvCxnSpPr>
            <p:nvPr/>
          </p:nvCxnSpPr>
          <p:spPr bwMode="auto">
            <a:xfrm flipH="1">
              <a:off x="7308850" y="3536950"/>
              <a:ext cx="503238" cy="2524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2" name="直接连接符 8008"/>
            <p:cNvCxnSpPr>
              <a:cxnSpLocks noChangeShapeType="1"/>
              <a:stCxn id="520" idx="4"/>
            </p:cNvCxnSpPr>
            <p:nvPr/>
          </p:nvCxnSpPr>
          <p:spPr bwMode="auto">
            <a:xfrm flipH="1">
              <a:off x="7019925" y="3070225"/>
              <a:ext cx="180975" cy="6461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3" name="Text Box 510"/>
            <p:cNvSpPr txBox="1">
              <a:spLocks noChangeArrowheads="1"/>
            </p:cNvSpPr>
            <p:nvPr/>
          </p:nvSpPr>
          <p:spPr bwMode="auto">
            <a:xfrm rot="20956220">
              <a:off x="2819913" y="661909"/>
              <a:ext cx="115480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TCP </a:t>
              </a:r>
              <a:r>
                <a:rPr lang="zh-CN" altLang="en-US" sz="1100" b="1" dirty="0">
                  <a:latin typeface="微软雅黑" panose="020B0503020204020204" pitchFamily="34" charset="-122"/>
                  <a:ea typeface="微软雅黑" panose="020B0503020204020204" pitchFamily="34" charset="-122"/>
                </a:rPr>
                <a:t>连接</a:t>
              </a:r>
            </a:p>
          </p:txBody>
        </p:sp>
        <p:graphicFrame>
          <p:nvGraphicFramePr>
            <p:cNvPr id="44" name="Object 1188">
              <a:hlinkClick r:id="" action="ppaction://ole?verb=0"/>
            </p:cNvPr>
            <p:cNvGraphicFramePr>
              <a:graphicFrameLocks/>
            </p:cNvGraphicFramePr>
            <p:nvPr>
              <p:extLst>
                <p:ext uri="{D42A27DB-BD31-4B8C-83A1-F6EECF244321}">
                  <p14:modId xmlns:p14="http://schemas.microsoft.com/office/powerpoint/2010/main" val="1214934849"/>
                </p:ext>
              </p:extLst>
            </p:nvPr>
          </p:nvGraphicFramePr>
          <p:xfrm>
            <a:off x="1979613" y="404813"/>
            <a:ext cx="360362" cy="647700"/>
          </p:xfrm>
          <a:graphic>
            <a:graphicData uri="http://schemas.openxmlformats.org/presentationml/2006/ole">
              <mc:AlternateContent xmlns:mc="http://schemas.openxmlformats.org/markup-compatibility/2006">
                <mc:Choice xmlns:v="urn:schemas-microsoft-com:vml" Requires="v">
                  <p:oleObj name="Microsoft ClipArt Gallery" r:id="rId3" imgW="2735263" imgH="3825875" progId="">
                    <p:embed/>
                  </p:oleObj>
                </mc:Choice>
                <mc:Fallback>
                  <p:oleObj name="Microsoft ClipArt Gallery" r:id="rId3" imgW="2735263" imgH="3825875" progId="">
                    <p:embed/>
                    <p:pic>
                      <p:nvPicPr>
                        <p:cNvPr id="0" name="Picture 9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9613" y="404813"/>
                          <a:ext cx="360362"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 name="Text Box 1189"/>
            <p:cNvSpPr txBox="1">
              <a:spLocks noChangeArrowheads="1"/>
            </p:cNvSpPr>
            <p:nvPr/>
          </p:nvSpPr>
          <p:spPr bwMode="auto">
            <a:xfrm>
              <a:off x="2268539" y="333375"/>
              <a:ext cx="913458"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追踪器</a:t>
              </a:r>
            </a:p>
          </p:txBody>
        </p:sp>
        <p:grpSp>
          <p:nvGrpSpPr>
            <p:cNvPr id="46" name="Group 2096"/>
            <p:cNvGrpSpPr>
              <a:grpSpLocks/>
            </p:cNvGrpSpPr>
            <p:nvPr/>
          </p:nvGrpSpPr>
          <p:grpSpPr bwMode="auto">
            <a:xfrm>
              <a:off x="6659563" y="549275"/>
              <a:ext cx="433387" cy="328613"/>
              <a:chOff x="624" y="2968"/>
              <a:chExt cx="1331" cy="920"/>
            </a:xfrm>
          </p:grpSpPr>
          <p:sp>
            <p:nvSpPr>
              <p:cNvPr id="47"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9" name="Group 2109"/>
              <p:cNvGrpSpPr>
                <a:grpSpLocks/>
              </p:cNvGrpSpPr>
              <p:nvPr/>
            </p:nvGrpSpPr>
            <p:grpSpPr bwMode="auto">
              <a:xfrm>
                <a:off x="700" y="3526"/>
                <a:ext cx="515" cy="270"/>
                <a:chOff x="700" y="3526"/>
                <a:chExt cx="515" cy="270"/>
              </a:xfrm>
            </p:grpSpPr>
            <p:grpSp>
              <p:nvGrpSpPr>
                <p:cNvPr id="85" name="Group 2110"/>
                <p:cNvGrpSpPr>
                  <a:grpSpLocks/>
                </p:cNvGrpSpPr>
                <p:nvPr/>
              </p:nvGrpSpPr>
              <p:grpSpPr bwMode="auto">
                <a:xfrm>
                  <a:off x="737" y="3534"/>
                  <a:ext cx="49" cy="23"/>
                  <a:chOff x="737" y="3534"/>
                  <a:chExt cx="49" cy="23"/>
                </a:xfrm>
              </p:grpSpPr>
              <p:sp>
                <p:nvSpPr>
                  <p:cNvPr id="4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 name="Group 2114"/>
                <p:cNvGrpSpPr>
                  <a:grpSpLocks/>
                </p:cNvGrpSpPr>
                <p:nvPr/>
              </p:nvGrpSpPr>
              <p:grpSpPr bwMode="auto">
                <a:xfrm>
                  <a:off x="748" y="3547"/>
                  <a:ext cx="50" cy="23"/>
                  <a:chOff x="748" y="3547"/>
                  <a:chExt cx="50" cy="23"/>
                </a:xfrm>
              </p:grpSpPr>
              <p:sp>
                <p:nvSpPr>
                  <p:cNvPr id="4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87"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1" name="Group 2122"/>
                <p:cNvGrpSpPr>
                  <a:grpSpLocks/>
                </p:cNvGrpSpPr>
                <p:nvPr/>
              </p:nvGrpSpPr>
              <p:grpSpPr bwMode="auto">
                <a:xfrm>
                  <a:off x="872" y="3547"/>
                  <a:ext cx="50" cy="23"/>
                  <a:chOff x="872" y="3547"/>
                  <a:chExt cx="50" cy="23"/>
                </a:xfrm>
              </p:grpSpPr>
              <p:sp>
                <p:nvSpPr>
                  <p:cNvPr id="4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 name="Group 2126"/>
                <p:cNvGrpSpPr>
                  <a:grpSpLocks/>
                </p:cNvGrpSpPr>
                <p:nvPr/>
              </p:nvGrpSpPr>
              <p:grpSpPr bwMode="auto">
                <a:xfrm>
                  <a:off x="885" y="3559"/>
                  <a:ext cx="50" cy="23"/>
                  <a:chOff x="885" y="3559"/>
                  <a:chExt cx="50" cy="23"/>
                </a:xfrm>
              </p:grpSpPr>
              <p:sp>
                <p:nvSpPr>
                  <p:cNvPr id="4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 name="Group 2130"/>
                <p:cNvGrpSpPr>
                  <a:grpSpLocks/>
                </p:cNvGrpSpPr>
                <p:nvPr/>
              </p:nvGrpSpPr>
              <p:grpSpPr bwMode="auto">
                <a:xfrm>
                  <a:off x="898" y="3571"/>
                  <a:ext cx="49" cy="23"/>
                  <a:chOff x="898" y="3571"/>
                  <a:chExt cx="49" cy="23"/>
                </a:xfrm>
              </p:grpSpPr>
              <p:sp>
                <p:nvSpPr>
                  <p:cNvPr id="4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 name="Group 2134"/>
                <p:cNvGrpSpPr>
                  <a:grpSpLocks/>
                </p:cNvGrpSpPr>
                <p:nvPr/>
              </p:nvGrpSpPr>
              <p:grpSpPr bwMode="auto">
                <a:xfrm>
                  <a:off x="911" y="3585"/>
                  <a:ext cx="49" cy="23"/>
                  <a:chOff x="911" y="3585"/>
                  <a:chExt cx="49" cy="23"/>
                </a:xfrm>
              </p:grpSpPr>
              <p:sp>
                <p:nvSpPr>
                  <p:cNvPr id="4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 name="Group 2138"/>
                <p:cNvGrpSpPr>
                  <a:grpSpLocks/>
                </p:cNvGrpSpPr>
                <p:nvPr/>
              </p:nvGrpSpPr>
              <p:grpSpPr bwMode="auto">
                <a:xfrm>
                  <a:off x="923" y="3600"/>
                  <a:ext cx="99" cy="73"/>
                  <a:chOff x="923" y="3600"/>
                  <a:chExt cx="99" cy="73"/>
                </a:xfrm>
              </p:grpSpPr>
              <p:grpSp>
                <p:nvGrpSpPr>
                  <p:cNvPr id="463" name="Group 2139"/>
                  <p:cNvGrpSpPr>
                    <a:grpSpLocks/>
                  </p:cNvGrpSpPr>
                  <p:nvPr/>
                </p:nvGrpSpPr>
                <p:grpSpPr bwMode="auto">
                  <a:xfrm>
                    <a:off x="923" y="3600"/>
                    <a:ext cx="49" cy="23"/>
                    <a:chOff x="923" y="3600"/>
                    <a:chExt cx="49" cy="23"/>
                  </a:xfrm>
                </p:grpSpPr>
                <p:sp>
                  <p:nvSpPr>
                    <p:cNvPr id="4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4" name="Group 2143"/>
                  <p:cNvGrpSpPr>
                    <a:grpSpLocks/>
                  </p:cNvGrpSpPr>
                  <p:nvPr/>
                </p:nvGrpSpPr>
                <p:grpSpPr bwMode="auto">
                  <a:xfrm>
                    <a:off x="935" y="3612"/>
                    <a:ext cx="48" cy="23"/>
                    <a:chOff x="935" y="3612"/>
                    <a:chExt cx="48" cy="23"/>
                  </a:xfrm>
                </p:grpSpPr>
                <p:sp>
                  <p:nvSpPr>
                    <p:cNvPr id="4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5" name="Group 2147"/>
                  <p:cNvGrpSpPr>
                    <a:grpSpLocks/>
                  </p:cNvGrpSpPr>
                  <p:nvPr/>
                </p:nvGrpSpPr>
                <p:grpSpPr bwMode="auto">
                  <a:xfrm>
                    <a:off x="947" y="3625"/>
                    <a:ext cx="50" cy="22"/>
                    <a:chOff x="947" y="3625"/>
                    <a:chExt cx="50" cy="22"/>
                  </a:xfrm>
                </p:grpSpPr>
                <p:sp>
                  <p:nvSpPr>
                    <p:cNvPr id="4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6" name="Group 2151"/>
                  <p:cNvGrpSpPr>
                    <a:grpSpLocks/>
                  </p:cNvGrpSpPr>
                  <p:nvPr/>
                </p:nvGrpSpPr>
                <p:grpSpPr bwMode="auto">
                  <a:xfrm>
                    <a:off x="960" y="3637"/>
                    <a:ext cx="50" cy="23"/>
                    <a:chOff x="960" y="3637"/>
                    <a:chExt cx="50" cy="23"/>
                  </a:xfrm>
                </p:grpSpPr>
                <p:sp>
                  <p:nvSpPr>
                    <p:cNvPr id="4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7" name="Group 2155"/>
                  <p:cNvGrpSpPr>
                    <a:grpSpLocks/>
                  </p:cNvGrpSpPr>
                  <p:nvPr/>
                </p:nvGrpSpPr>
                <p:grpSpPr bwMode="auto">
                  <a:xfrm>
                    <a:off x="973" y="3650"/>
                    <a:ext cx="49" cy="23"/>
                    <a:chOff x="973" y="3650"/>
                    <a:chExt cx="49" cy="23"/>
                  </a:xfrm>
                </p:grpSpPr>
                <p:sp>
                  <p:nvSpPr>
                    <p:cNvPr id="4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6" name="Group 2159"/>
                <p:cNvGrpSpPr>
                  <a:grpSpLocks/>
                </p:cNvGrpSpPr>
                <p:nvPr/>
              </p:nvGrpSpPr>
              <p:grpSpPr bwMode="auto">
                <a:xfrm>
                  <a:off x="985" y="3665"/>
                  <a:ext cx="100" cy="73"/>
                  <a:chOff x="985" y="3665"/>
                  <a:chExt cx="100" cy="73"/>
                </a:xfrm>
              </p:grpSpPr>
              <p:grpSp>
                <p:nvGrpSpPr>
                  <p:cNvPr id="441" name="Group 2160"/>
                  <p:cNvGrpSpPr>
                    <a:grpSpLocks/>
                  </p:cNvGrpSpPr>
                  <p:nvPr/>
                </p:nvGrpSpPr>
                <p:grpSpPr bwMode="auto">
                  <a:xfrm>
                    <a:off x="985" y="3665"/>
                    <a:ext cx="50" cy="23"/>
                    <a:chOff x="985" y="3665"/>
                    <a:chExt cx="50" cy="23"/>
                  </a:xfrm>
                </p:grpSpPr>
                <p:sp>
                  <p:nvSpPr>
                    <p:cNvPr id="458"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2" name="Group 2164"/>
                  <p:cNvGrpSpPr>
                    <a:grpSpLocks/>
                  </p:cNvGrpSpPr>
                  <p:nvPr/>
                </p:nvGrpSpPr>
                <p:grpSpPr bwMode="auto">
                  <a:xfrm>
                    <a:off x="997" y="3677"/>
                    <a:ext cx="49" cy="23"/>
                    <a:chOff x="997" y="3677"/>
                    <a:chExt cx="49" cy="23"/>
                  </a:xfrm>
                </p:grpSpPr>
                <p:sp>
                  <p:nvSpPr>
                    <p:cNvPr id="455"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6"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7"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3" name="Group 2168"/>
                  <p:cNvGrpSpPr>
                    <a:grpSpLocks/>
                  </p:cNvGrpSpPr>
                  <p:nvPr/>
                </p:nvGrpSpPr>
                <p:grpSpPr bwMode="auto">
                  <a:xfrm>
                    <a:off x="1010" y="3690"/>
                    <a:ext cx="48" cy="23"/>
                    <a:chOff x="1010" y="3690"/>
                    <a:chExt cx="48" cy="23"/>
                  </a:xfrm>
                </p:grpSpPr>
                <p:sp>
                  <p:nvSpPr>
                    <p:cNvPr id="452"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3"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4"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4" name="Group 2172"/>
                  <p:cNvGrpSpPr>
                    <a:grpSpLocks/>
                  </p:cNvGrpSpPr>
                  <p:nvPr/>
                </p:nvGrpSpPr>
                <p:grpSpPr bwMode="auto">
                  <a:xfrm>
                    <a:off x="1023" y="3703"/>
                    <a:ext cx="49" cy="22"/>
                    <a:chOff x="1023" y="3703"/>
                    <a:chExt cx="49" cy="22"/>
                  </a:xfrm>
                </p:grpSpPr>
                <p:sp>
                  <p:nvSpPr>
                    <p:cNvPr id="449"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0"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1"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5" name="Group 2176"/>
                  <p:cNvGrpSpPr>
                    <a:grpSpLocks/>
                  </p:cNvGrpSpPr>
                  <p:nvPr/>
                </p:nvGrpSpPr>
                <p:grpSpPr bwMode="auto">
                  <a:xfrm>
                    <a:off x="1036" y="3716"/>
                    <a:ext cx="49" cy="22"/>
                    <a:chOff x="1036" y="3716"/>
                    <a:chExt cx="49" cy="22"/>
                  </a:xfrm>
                </p:grpSpPr>
                <p:sp>
                  <p:nvSpPr>
                    <p:cNvPr id="446"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7"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8"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7" name="Group 2180"/>
                <p:cNvGrpSpPr>
                  <a:grpSpLocks/>
                </p:cNvGrpSpPr>
                <p:nvPr/>
              </p:nvGrpSpPr>
              <p:grpSpPr bwMode="auto">
                <a:xfrm>
                  <a:off x="1046" y="3727"/>
                  <a:ext cx="49" cy="23"/>
                  <a:chOff x="1046" y="3727"/>
                  <a:chExt cx="49" cy="23"/>
                </a:xfrm>
              </p:grpSpPr>
              <p:sp>
                <p:nvSpPr>
                  <p:cNvPr id="438"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9"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0"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8" name="Group 2184"/>
                <p:cNvGrpSpPr>
                  <a:grpSpLocks/>
                </p:cNvGrpSpPr>
                <p:nvPr/>
              </p:nvGrpSpPr>
              <p:grpSpPr bwMode="auto">
                <a:xfrm>
                  <a:off x="1058" y="3739"/>
                  <a:ext cx="50" cy="23"/>
                  <a:chOff x="1058" y="3739"/>
                  <a:chExt cx="50" cy="23"/>
                </a:xfrm>
              </p:grpSpPr>
              <p:sp>
                <p:nvSpPr>
                  <p:cNvPr id="435"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7"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 name="Group 2188"/>
                <p:cNvGrpSpPr>
                  <a:grpSpLocks/>
                </p:cNvGrpSpPr>
                <p:nvPr/>
              </p:nvGrpSpPr>
              <p:grpSpPr bwMode="auto">
                <a:xfrm>
                  <a:off x="1072" y="3753"/>
                  <a:ext cx="48" cy="22"/>
                  <a:chOff x="1072" y="3753"/>
                  <a:chExt cx="48" cy="22"/>
                </a:xfrm>
              </p:grpSpPr>
              <p:sp>
                <p:nvSpPr>
                  <p:cNvPr id="432"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0"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3" name="Group 2195"/>
                <p:cNvGrpSpPr>
                  <a:grpSpLocks/>
                </p:cNvGrpSpPr>
                <p:nvPr/>
              </p:nvGrpSpPr>
              <p:grpSpPr bwMode="auto">
                <a:xfrm>
                  <a:off x="832" y="3547"/>
                  <a:ext cx="49" cy="23"/>
                  <a:chOff x="832" y="3547"/>
                  <a:chExt cx="49" cy="23"/>
                </a:xfrm>
              </p:grpSpPr>
              <p:sp>
                <p:nvSpPr>
                  <p:cNvPr id="429"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 name="Group 2199"/>
                <p:cNvGrpSpPr>
                  <a:grpSpLocks/>
                </p:cNvGrpSpPr>
                <p:nvPr/>
              </p:nvGrpSpPr>
              <p:grpSpPr bwMode="auto">
                <a:xfrm>
                  <a:off x="844" y="3560"/>
                  <a:ext cx="49" cy="22"/>
                  <a:chOff x="844" y="3560"/>
                  <a:chExt cx="49" cy="22"/>
                </a:xfrm>
              </p:grpSpPr>
              <p:sp>
                <p:nvSpPr>
                  <p:cNvPr id="426"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 name="Group 2203"/>
                <p:cNvGrpSpPr>
                  <a:grpSpLocks/>
                </p:cNvGrpSpPr>
                <p:nvPr/>
              </p:nvGrpSpPr>
              <p:grpSpPr bwMode="auto">
                <a:xfrm>
                  <a:off x="857" y="3572"/>
                  <a:ext cx="50" cy="23"/>
                  <a:chOff x="857" y="3572"/>
                  <a:chExt cx="50" cy="23"/>
                </a:xfrm>
              </p:grpSpPr>
              <p:sp>
                <p:nvSpPr>
                  <p:cNvPr id="423"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 name="Group 2207"/>
                <p:cNvGrpSpPr>
                  <a:grpSpLocks/>
                </p:cNvGrpSpPr>
                <p:nvPr/>
              </p:nvGrpSpPr>
              <p:grpSpPr bwMode="auto">
                <a:xfrm>
                  <a:off x="870" y="3585"/>
                  <a:ext cx="48" cy="23"/>
                  <a:chOff x="870" y="3585"/>
                  <a:chExt cx="48" cy="23"/>
                </a:xfrm>
              </p:grpSpPr>
              <p:sp>
                <p:nvSpPr>
                  <p:cNvPr id="420"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1"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 name="Group 2211"/>
                <p:cNvGrpSpPr>
                  <a:grpSpLocks/>
                </p:cNvGrpSpPr>
                <p:nvPr/>
              </p:nvGrpSpPr>
              <p:grpSpPr bwMode="auto">
                <a:xfrm>
                  <a:off x="882" y="3600"/>
                  <a:ext cx="100" cy="73"/>
                  <a:chOff x="882" y="3600"/>
                  <a:chExt cx="100" cy="73"/>
                </a:xfrm>
              </p:grpSpPr>
              <p:grpSp>
                <p:nvGrpSpPr>
                  <p:cNvPr id="400" name="Group 2212"/>
                  <p:cNvGrpSpPr>
                    <a:grpSpLocks/>
                  </p:cNvGrpSpPr>
                  <p:nvPr/>
                </p:nvGrpSpPr>
                <p:grpSpPr bwMode="auto">
                  <a:xfrm>
                    <a:off x="882" y="3600"/>
                    <a:ext cx="49" cy="23"/>
                    <a:chOff x="882" y="3600"/>
                    <a:chExt cx="49" cy="23"/>
                  </a:xfrm>
                </p:grpSpPr>
                <p:sp>
                  <p:nvSpPr>
                    <p:cNvPr id="417"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9"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1" name="Group 2216"/>
                  <p:cNvGrpSpPr>
                    <a:grpSpLocks/>
                  </p:cNvGrpSpPr>
                  <p:nvPr/>
                </p:nvGrpSpPr>
                <p:grpSpPr bwMode="auto">
                  <a:xfrm>
                    <a:off x="894" y="3612"/>
                    <a:ext cx="49" cy="23"/>
                    <a:chOff x="894" y="3612"/>
                    <a:chExt cx="49" cy="23"/>
                  </a:xfrm>
                </p:grpSpPr>
                <p:sp>
                  <p:nvSpPr>
                    <p:cNvPr id="414"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5"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6"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2" name="Group 2220"/>
                  <p:cNvGrpSpPr>
                    <a:grpSpLocks/>
                  </p:cNvGrpSpPr>
                  <p:nvPr/>
                </p:nvGrpSpPr>
                <p:grpSpPr bwMode="auto">
                  <a:xfrm>
                    <a:off x="907" y="3625"/>
                    <a:ext cx="49" cy="23"/>
                    <a:chOff x="907" y="3625"/>
                    <a:chExt cx="49" cy="23"/>
                  </a:xfrm>
                </p:grpSpPr>
                <p:sp>
                  <p:nvSpPr>
                    <p:cNvPr id="411"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2"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3"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3" name="Group 2224"/>
                  <p:cNvGrpSpPr>
                    <a:grpSpLocks/>
                  </p:cNvGrpSpPr>
                  <p:nvPr/>
                </p:nvGrpSpPr>
                <p:grpSpPr bwMode="auto">
                  <a:xfrm>
                    <a:off x="919" y="3638"/>
                    <a:ext cx="49" cy="22"/>
                    <a:chOff x="919" y="3638"/>
                    <a:chExt cx="49" cy="22"/>
                  </a:xfrm>
                </p:grpSpPr>
                <p:sp>
                  <p:nvSpPr>
                    <p:cNvPr id="408"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9"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0"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4" name="Group 2228"/>
                  <p:cNvGrpSpPr>
                    <a:grpSpLocks/>
                  </p:cNvGrpSpPr>
                  <p:nvPr/>
                </p:nvGrpSpPr>
                <p:grpSpPr bwMode="auto">
                  <a:xfrm>
                    <a:off x="932" y="3651"/>
                    <a:ext cx="50" cy="22"/>
                    <a:chOff x="932" y="3651"/>
                    <a:chExt cx="50" cy="22"/>
                  </a:xfrm>
                </p:grpSpPr>
                <p:sp>
                  <p:nvSpPr>
                    <p:cNvPr id="405"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6"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7"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8" name="Group 2232"/>
                <p:cNvGrpSpPr>
                  <a:grpSpLocks/>
                </p:cNvGrpSpPr>
                <p:nvPr/>
              </p:nvGrpSpPr>
              <p:grpSpPr bwMode="auto">
                <a:xfrm>
                  <a:off x="944" y="3665"/>
                  <a:ext cx="99" cy="74"/>
                  <a:chOff x="944" y="3665"/>
                  <a:chExt cx="99" cy="74"/>
                </a:xfrm>
              </p:grpSpPr>
              <p:grpSp>
                <p:nvGrpSpPr>
                  <p:cNvPr id="380" name="Group 2233"/>
                  <p:cNvGrpSpPr>
                    <a:grpSpLocks/>
                  </p:cNvGrpSpPr>
                  <p:nvPr/>
                </p:nvGrpSpPr>
                <p:grpSpPr bwMode="auto">
                  <a:xfrm>
                    <a:off x="944" y="3665"/>
                    <a:ext cx="49" cy="23"/>
                    <a:chOff x="944" y="3665"/>
                    <a:chExt cx="49" cy="23"/>
                  </a:xfrm>
                </p:grpSpPr>
                <p:sp>
                  <p:nvSpPr>
                    <p:cNvPr id="397"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8"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9"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1" name="Group 2237"/>
                  <p:cNvGrpSpPr>
                    <a:grpSpLocks/>
                  </p:cNvGrpSpPr>
                  <p:nvPr/>
                </p:nvGrpSpPr>
                <p:grpSpPr bwMode="auto">
                  <a:xfrm>
                    <a:off x="957" y="3678"/>
                    <a:ext cx="48" cy="23"/>
                    <a:chOff x="957" y="3678"/>
                    <a:chExt cx="48" cy="23"/>
                  </a:xfrm>
                </p:grpSpPr>
                <p:sp>
                  <p:nvSpPr>
                    <p:cNvPr id="394"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2" name="Group 2241"/>
                  <p:cNvGrpSpPr>
                    <a:grpSpLocks/>
                  </p:cNvGrpSpPr>
                  <p:nvPr/>
                </p:nvGrpSpPr>
                <p:grpSpPr bwMode="auto">
                  <a:xfrm>
                    <a:off x="969" y="3690"/>
                    <a:ext cx="49" cy="23"/>
                    <a:chOff x="969" y="3690"/>
                    <a:chExt cx="49" cy="23"/>
                  </a:xfrm>
                </p:grpSpPr>
                <p:sp>
                  <p:nvSpPr>
                    <p:cNvPr id="391"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2"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3" name="Group 2245"/>
                  <p:cNvGrpSpPr>
                    <a:grpSpLocks/>
                  </p:cNvGrpSpPr>
                  <p:nvPr/>
                </p:nvGrpSpPr>
                <p:grpSpPr bwMode="auto">
                  <a:xfrm>
                    <a:off x="982" y="3703"/>
                    <a:ext cx="49" cy="23"/>
                    <a:chOff x="982" y="3703"/>
                    <a:chExt cx="49" cy="23"/>
                  </a:xfrm>
                </p:grpSpPr>
                <p:sp>
                  <p:nvSpPr>
                    <p:cNvPr id="388"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9"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4" name="Group 2249"/>
                  <p:cNvGrpSpPr>
                    <a:grpSpLocks/>
                  </p:cNvGrpSpPr>
                  <p:nvPr/>
                </p:nvGrpSpPr>
                <p:grpSpPr bwMode="auto">
                  <a:xfrm>
                    <a:off x="995" y="3716"/>
                    <a:ext cx="48" cy="23"/>
                    <a:chOff x="995" y="3716"/>
                    <a:chExt cx="48" cy="23"/>
                  </a:xfrm>
                </p:grpSpPr>
                <p:sp>
                  <p:nvSpPr>
                    <p:cNvPr id="385"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6"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7"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9" name="Group 2253"/>
                <p:cNvGrpSpPr>
                  <a:grpSpLocks/>
                </p:cNvGrpSpPr>
                <p:nvPr/>
              </p:nvGrpSpPr>
              <p:grpSpPr bwMode="auto">
                <a:xfrm>
                  <a:off x="1005" y="3727"/>
                  <a:ext cx="49" cy="23"/>
                  <a:chOff x="1005" y="3727"/>
                  <a:chExt cx="49" cy="23"/>
                </a:xfrm>
              </p:grpSpPr>
              <p:sp>
                <p:nvSpPr>
                  <p:cNvPr id="377"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8"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9"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 name="Group 2257"/>
                <p:cNvGrpSpPr>
                  <a:grpSpLocks/>
                </p:cNvGrpSpPr>
                <p:nvPr/>
              </p:nvGrpSpPr>
              <p:grpSpPr bwMode="auto">
                <a:xfrm>
                  <a:off x="1018" y="3740"/>
                  <a:ext cx="49" cy="22"/>
                  <a:chOff x="1018" y="3740"/>
                  <a:chExt cx="49" cy="22"/>
                </a:xfrm>
              </p:grpSpPr>
              <p:sp>
                <p:nvSpPr>
                  <p:cNvPr id="374"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1" name="Group 2261"/>
                <p:cNvGrpSpPr>
                  <a:grpSpLocks/>
                </p:cNvGrpSpPr>
                <p:nvPr/>
              </p:nvGrpSpPr>
              <p:grpSpPr bwMode="auto">
                <a:xfrm>
                  <a:off x="1030" y="3753"/>
                  <a:ext cx="49" cy="23"/>
                  <a:chOff x="1030" y="3753"/>
                  <a:chExt cx="49" cy="23"/>
                </a:xfrm>
              </p:grpSpPr>
              <p:sp>
                <p:nvSpPr>
                  <p:cNvPr id="371"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2"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3"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2"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5" name="Group 2268"/>
                <p:cNvGrpSpPr>
                  <a:grpSpLocks/>
                </p:cNvGrpSpPr>
                <p:nvPr/>
              </p:nvGrpSpPr>
              <p:grpSpPr bwMode="auto">
                <a:xfrm>
                  <a:off x="790" y="3547"/>
                  <a:ext cx="49" cy="23"/>
                  <a:chOff x="790" y="3547"/>
                  <a:chExt cx="49" cy="23"/>
                </a:xfrm>
              </p:grpSpPr>
              <p:sp>
                <p:nvSpPr>
                  <p:cNvPr id="368"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0"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6" name="Group 2272"/>
                <p:cNvGrpSpPr>
                  <a:grpSpLocks/>
                </p:cNvGrpSpPr>
                <p:nvPr/>
              </p:nvGrpSpPr>
              <p:grpSpPr bwMode="auto">
                <a:xfrm>
                  <a:off x="803" y="3560"/>
                  <a:ext cx="49" cy="22"/>
                  <a:chOff x="803" y="3560"/>
                  <a:chExt cx="49" cy="22"/>
                </a:xfrm>
              </p:grpSpPr>
              <p:sp>
                <p:nvSpPr>
                  <p:cNvPr id="365"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 name="Group 2276"/>
                <p:cNvGrpSpPr>
                  <a:grpSpLocks/>
                </p:cNvGrpSpPr>
                <p:nvPr/>
              </p:nvGrpSpPr>
              <p:grpSpPr bwMode="auto">
                <a:xfrm>
                  <a:off x="815" y="3572"/>
                  <a:ext cx="50" cy="23"/>
                  <a:chOff x="815" y="3572"/>
                  <a:chExt cx="50" cy="23"/>
                </a:xfrm>
              </p:grpSpPr>
              <p:sp>
                <p:nvSpPr>
                  <p:cNvPr id="362"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8" name="Group 2280"/>
                <p:cNvGrpSpPr>
                  <a:grpSpLocks/>
                </p:cNvGrpSpPr>
                <p:nvPr/>
              </p:nvGrpSpPr>
              <p:grpSpPr bwMode="auto">
                <a:xfrm>
                  <a:off x="828" y="3585"/>
                  <a:ext cx="49" cy="23"/>
                  <a:chOff x="828" y="3585"/>
                  <a:chExt cx="49" cy="23"/>
                </a:xfrm>
              </p:grpSpPr>
              <p:sp>
                <p:nvSpPr>
                  <p:cNvPr id="359"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0"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1"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9" name="Group 2284"/>
                <p:cNvGrpSpPr>
                  <a:grpSpLocks/>
                </p:cNvGrpSpPr>
                <p:nvPr/>
              </p:nvGrpSpPr>
              <p:grpSpPr bwMode="auto">
                <a:xfrm>
                  <a:off x="840" y="3600"/>
                  <a:ext cx="100" cy="73"/>
                  <a:chOff x="840" y="3600"/>
                  <a:chExt cx="100" cy="73"/>
                </a:xfrm>
              </p:grpSpPr>
              <p:grpSp>
                <p:nvGrpSpPr>
                  <p:cNvPr id="339" name="Group 2285"/>
                  <p:cNvGrpSpPr>
                    <a:grpSpLocks/>
                  </p:cNvGrpSpPr>
                  <p:nvPr/>
                </p:nvGrpSpPr>
                <p:grpSpPr bwMode="auto">
                  <a:xfrm>
                    <a:off x="840" y="3600"/>
                    <a:ext cx="49" cy="23"/>
                    <a:chOff x="840" y="3600"/>
                    <a:chExt cx="49" cy="23"/>
                  </a:xfrm>
                </p:grpSpPr>
                <p:sp>
                  <p:nvSpPr>
                    <p:cNvPr id="356"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8"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0" name="Group 2289"/>
                  <p:cNvGrpSpPr>
                    <a:grpSpLocks/>
                  </p:cNvGrpSpPr>
                  <p:nvPr/>
                </p:nvGrpSpPr>
                <p:grpSpPr bwMode="auto">
                  <a:xfrm>
                    <a:off x="853" y="3612"/>
                    <a:ext cx="48" cy="23"/>
                    <a:chOff x="853" y="3612"/>
                    <a:chExt cx="48" cy="23"/>
                  </a:xfrm>
                </p:grpSpPr>
                <p:sp>
                  <p:nvSpPr>
                    <p:cNvPr id="353"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1" name="Group 2293"/>
                  <p:cNvGrpSpPr>
                    <a:grpSpLocks/>
                  </p:cNvGrpSpPr>
                  <p:nvPr/>
                </p:nvGrpSpPr>
                <p:grpSpPr bwMode="auto">
                  <a:xfrm>
                    <a:off x="865" y="3625"/>
                    <a:ext cx="49" cy="23"/>
                    <a:chOff x="865" y="3625"/>
                    <a:chExt cx="49" cy="23"/>
                  </a:xfrm>
                </p:grpSpPr>
                <p:sp>
                  <p:nvSpPr>
                    <p:cNvPr id="350"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1"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2"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2" name="Group 2297"/>
                  <p:cNvGrpSpPr>
                    <a:grpSpLocks/>
                  </p:cNvGrpSpPr>
                  <p:nvPr/>
                </p:nvGrpSpPr>
                <p:grpSpPr bwMode="auto">
                  <a:xfrm>
                    <a:off x="878" y="3638"/>
                    <a:ext cx="49" cy="22"/>
                    <a:chOff x="878" y="3638"/>
                    <a:chExt cx="49" cy="22"/>
                  </a:xfrm>
                </p:grpSpPr>
                <p:sp>
                  <p:nvSpPr>
                    <p:cNvPr id="347"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3" name="Group 2301"/>
                  <p:cNvGrpSpPr>
                    <a:grpSpLocks/>
                  </p:cNvGrpSpPr>
                  <p:nvPr/>
                </p:nvGrpSpPr>
                <p:grpSpPr bwMode="auto">
                  <a:xfrm>
                    <a:off x="890" y="3651"/>
                    <a:ext cx="50" cy="22"/>
                    <a:chOff x="890" y="3651"/>
                    <a:chExt cx="50" cy="22"/>
                  </a:xfrm>
                </p:grpSpPr>
                <p:sp>
                  <p:nvSpPr>
                    <p:cNvPr id="344"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5"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6"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0" name="Group 2305"/>
                <p:cNvGrpSpPr>
                  <a:grpSpLocks/>
                </p:cNvGrpSpPr>
                <p:nvPr/>
              </p:nvGrpSpPr>
              <p:grpSpPr bwMode="auto">
                <a:xfrm>
                  <a:off x="903" y="3665"/>
                  <a:ext cx="99" cy="74"/>
                  <a:chOff x="903" y="3665"/>
                  <a:chExt cx="99" cy="74"/>
                </a:xfrm>
              </p:grpSpPr>
              <p:grpSp>
                <p:nvGrpSpPr>
                  <p:cNvPr id="319" name="Group 2306"/>
                  <p:cNvGrpSpPr>
                    <a:grpSpLocks/>
                  </p:cNvGrpSpPr>
                  <p:nvPr/>
                </p:nvGrpSpPr>
                <p:grpSpPr bwMode="auto">
                  <a:xfrm>
                    <a:off x="903" y="3665"/>
                    <a:ext cx="49" cy="23"/>
                    <a:chOff x="903" y="3665"/>
                    <a:chExt cx="49" cy="23"/>
                  </a:xfrm>
                </p:grpSpPr>
                <p:sp>
                  <p:nvSpPr>
                    <p:cNvPr id="336"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8"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 name="Group 2310"/>
                  <p:cNvGrpSpPr>
                    <a:grpSpLocks/>
                  </p:cNvGrpSpPr>
                  <p:nvPr/>
                </p:nvGrpSpPr>
                <p:grpSpPr bwMode="auto">
                  <a:xfrm>
                    <a:off x="914" y="3678"/>
                    <a:ext cx="49" cy="23"/>
                    <a:chOff x="914" y="3678"/>
                    <a:chExt cx="49" cy="23"/>
                  </a:xfrm>
                </p:grpSpPr>
                <p:sp>
                  <p:nvSpPr>
                    <p:cNvPr id="333"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4"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5"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 name="Group 2314"/>
                  <p:cNvGrpSpPr>
                    <a:grpSpLocks/>
                  </p:cNvGrpSpPr>
                  <p:nvPr/>
                </p:nvGrpSpPr>
                <p:grpSpPr bwMode="auto">
                  <a:xfrm>
                    <a:off x="928" y="3690"/>
                    <a:ext cx="48" cy="23"/>
                    <a:chOff x="928" y="3690"/>
                    <a:chExt cx="48" cy="23"/>
                  </a:xfrm>
                </p:grpSpPr>
                <p:sp>
                  <p:nvSpPr>
                    <p:cNvPr id="330"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1"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2"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 name="Group 2318"/>
                  <p:cNvGrpSpPr>
                    <a:grpSpLocks/>
                  </p:cNvGrpSpPr>
                  <p:nvPr/>
                </p:nvGrpSpPr>
                <p:grpSpPr bwMode="auto">
                  <a:xfrm>
                    <a:off x="940" y="3703"/>
                    <a:ext cx="49" cy="23"/>
                    <a:chOff x="940" y="3703"/>
                    <a:chExt cx="49" cy="23"/>
                  </a:xfrm>
                </p:grpSpPr>
                <p:sp>
                  <p:nvSpPr>
                    <p:cNvPr id="327"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3" name="Group 2322"/>
                  <p:cNvGrpSpPr>
                    <a:grpSpLocks/>
                  </p:cNvGrpSpPr>
                  <p:nvPr/>
                </p:nvGrpSpPr>
                <p:grpSpPr bwMode="auto">
                  <a:xfrm>
                    <a:off x="953" y="3716"/>
                    <a:ext cx="49" cy="23"/>
                    <a:chOff x="953" y="3716"/>
                    <a:chExt cx="49" cy="23"/>
                  </a:xfrm>
                </p:grpSpPr>
                <p:sp>
                  <p:nvSpPr>
                    <p:cNvPr id="324"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6"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1" name="Group 2326"/>
                <p:cNvGrpSpPr>
                  <a:grpSpLocks/>
                </p:cNvGrpSpPr>
                <p:nvPr/>
              </p:nvGrpSpPr>
              <p:grpSpPr bwMode="auto">
                <a:xfrm>
                  <a:off x="963" y="3727"/>
                  <a:ext cx="49" cy="23"/>
                  <a:chOff x="963" y="3727"/>
                  <a:chExt cx="49" cy="23"/>
                </a:xfrm>
              </p:grpSpPr>
              <p:sp>
                <p:nvSpPr>
                  <p:cNvPr id="316"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 name="Group 2330"/>
                <p:cNvGrpSpPr>
                  <a:grpSpLocks/>
                </p:cNvGrpSpPr>
                <p:nvPr/>
              </p:nvGrpSpPr>
              <p:grpSpPr bwMode="auto">
                <a:xfrm>
                  <a:off x="976" y="3740"/>
                  <a:ext cx="50" cy="22"/>
                  <a:chOff x="976" y="3740"/>
                  <a:chExt cx="50" cy="22"/>
                </a:xfrm>
              </p:grpSpPr>
              <p:sp>
                <p:nvSpPr>
                  <p:cNvPr id="313"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3" name="Group 2334"/>
                <p:cNvGrpSpPr>
                  <a:grpSpLocks/>
                </p:cNvGrpSpPr>
                <p:nvPr/>
              </p:nvGrpSpPr>
              <p:grpSpPr bwMode="auto">
                <a:xfrm>
                  <a:off x="761" y="3560"/>
                  <a:ext cx="50" cy="22"/>
                  <a:chOff x="761" y="3560"/>
                  <a:chExt cx="50" cy="22"/>
                </a:xfrm>
              </p:grpSpPr>
              <p:sp>
                <p:nvSpPr>
                  <p:cNvPr id="310"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4" name="Group 2338"/>
                <p:cNvGrpSpPr>
                  <a:grpSpLocks/>
                </p:cNvGrpSpPr>
                <p:nvPr/>
              </p:nvGrpSpPr>
              <p:grpSpPr bwMode="auto">
                <a:xfrm>
                  <a:off x="774" y="3572"/>
                  <a:ext cx="49" cy="23"/>
                  <a:chOff x="774" y="3572"/>
                  <a:chExt cx="49" cy="23"/>
                </a:xfrm>
              </p:grpSpPr>
              <p:sp>
                <p:nvSpPr>
                  <p:cNvPr id="307"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 name="Group 2342"/>
                <p:cNvGrpSpPr>
                  <a:grpSpLocks/>
                </p:cNvGrpSpPr>
                <p:nvPr/>
              </p:nvGrpSpPr>
              <p:grpSpPr bwMode="auto">
                <a:xfrm>
                  <a:off x="787" y="3585"/>
                  <a:ext cx="49" cy="23"/>
                  <a:chOff x="787" y="3585"/>
                  <a:chExt cx="49" cy="23"/>
                </a:xfrm>
              </p:grpSpPr>
              <p:sp>
                <p:nvSpPr>
                  <p:cNvPr id="304"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 name="Group 2346"/>
                <p:cNvGrpSpPr>
                  <a:grpSpLocks/>
                </p:cNvGrpSpPr>
                <p:nvPr/>
              </p:nvGrpSpPr>
              <p:grpSpPr bwMode="auto">
                <a:xfrm>
                  <a:off x="799" y="3600"/>
                  <a:ext cx="99" cy="73"/>
                  <a:chOff x="799" y="3600"/>
                  <a:chExt cx="99" cy="73"/>
                </a:xfrm>
              </p:grpSpPr>
              <p:grpSp>
                <p:nvGrpSpPr>
                  <p:cNvPr id="284" name="Group 2347"/>
                  <p:cNvGrpSpPr>
                    <a:grpSpLocks/>
                  </p:cNvGrpSpPr>
                  <p:nvPr/>
                </p:nvGrpSpPr>
                <p:grpSpPr bwMode="auto">
                  <a:xfrm>
                    <a:off x="799" y="3600"/>
                    <a:ext cx="48" cy="23"/>
                    <a:chOff x="799" y="3600"/>
                    <a:chExt cx="48" cy="23"/>
                  </a:xfrm>
                </p:grpSpPr>
                <p:sp>
                  <p:nvSpPr>
                    <p:cNvPr id="301"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 name="Group 2351"/>
                  <p:cNvGrpSpPr>
                    <a:grpSpLocks/>
                  </p:cNvGrpSpPr>
                  <p:nvPr/>
                </p:nvGrpSpPr>
                <p:grpSpPr bwMode="auto">
                  <a:xfrm>
                    <a:off x="811" y="3612"/>
                    <a:ext cx="48" cy="23"/>
                    <a:chOff x="811" y="3612"/>
                    <a:chExt cx="48" cy="23"/>
                  </a:xfrm>
                </p:grpSpPr>
                <p:sp>
                  <p:nvSpPr>
                    <p:cNvPr id="298"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 name="Group 2355"/>
                  <p:cNvGrpSpPr>
                    <a:grpSpLocks/>
                  </p:cNvGrpSpPr>
                  <p:nvPr/>
                </p:nvGrpSpPr>
                <p:grpSpPr bwMode="auto">
                  <a:xfrm>
                    <a:off x="823" y="3625"/>
                    <a:ext cx="49" cy="23"/>
                    <a:chOff x="823" y="3625"/>
                    <a:chExt cx="49" cy="23"/>
                  </a:xfrm>
                </p:grpSpPr>
                <p:sp>
                  <p:nvSpPr>
                    <p:cNvPr id="295"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 name="Group 2359"/>
                  <p:cNvGrpSpPr>
                    <a:grpSpLocks/>
                  </p:cNvGrpSpPr>
                  <p:nvPr/>
                </p:nvGrpSpPr>
                <p:grpSpPr bwMode="auto">
                  <a:xfrm>
                    <a:off x="836" y="3638"/>
                    <a:ext cx="50" cy="22"/>
                    <a:chOff x="836" y="3638"/>
                    <a:chExt cx="50" cy="22"/>
                  </a:xfrm>
                </p:grpSpPr>
                <p:sp>
                  <p:nvSpPr>
                    <p:cNvPr id="292"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 name="Group 2363"/>
                  <p:cNvGrpSpPr>
                    <a:grpSpLocks/>
                  </p:cNvGrpSpPr>
                  <p:nvPr/>
                </p:nvGrpSpPr>
                <p:grpSpPr bwMode="auto">
                  <a:xfrm>
                    <a:off x="849" y="3651"/>
                    <a:ext cx="49" cy="22"/>
                    <a:chOff x="849" y="3651"/>
                    <a:chExt cx="49" cy="22"/>
                  </a:xfrm>
                </p:grpSpPr>
                <p:sp>
                  <p:nvSpPr>
                    <p:cNvPr id="289"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7" name="Group 2367"/>
                <p:cNvGrpSpPr>
                  <a:grpSpLocks/>
                </p:cNvGrpSpPr>
                <p:nvPr/>
              </p:nvGrpSpPr>
              <p:grpSpPr bwMode="auto">
                <a:xfrm>
                  <a:off x="861" y="3665"/>
                  <a:ext cx="99" cy="74"/>
                  <a:chOff x="861" y="3665"/>
                  <a:chExt cx="99" cy="74"/>
                </a:xfrm>
              </p:grpSpPr>
              <p:grpSp>
                <p:nvGrpSpPr>
                  <p:cNvPr id="264" name="Group 2368"/>
                  <p:cNvGrpSpPr>
                    <a:grpSpLocks/>
                  </p:cNvGrpSpPr>
                  <p:nvPr/>
                </p:nvGrpSpPr>
                <p:grpSpPr bwMode="auto">
                  <a:xfrm>
                    <a:off x="861" y="3665"/>
                    <a:ext cx="50" cy="23"/>
                    <a:chOff x="861" y="3665"/>
                    <a:chExt cx="50" cy="23"/>
                  </a:xfrm>
                </p:grpSpPr>
                <p:sp>
                  <p:nvSpPr>
                    <p:cNvPr id="281"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5" name="Group 2372"/>
                  <p:cNvGrpSpPr>
                    <a:grpSpLocks/>
                  </p:cNvGrpSpPr>
                  <p:nvPr/>
                </p:nvGrpSpPr>
                <p:grpSpPr bwMode="auto">
                  <a:xfrm>
                    <a:off x="873" y="3678"/>
                    <a:ext cx="49" cy="23"/>
                    <a:chOff x="873" y="3678"/>
                    <a:chExt cx="49" cy="23"/>
                  </a:xfrm>
                </p:grpSpPr>
                <p:sp>
                  <p:nvSpPr>
                    <p:cNvPr id="278"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6" name="Group 2376"/>
                  <p:cNvGrpSpPr>
                    <a:grpSpLocks/>
                  </p:cNvGrpSpPr>
                  <p:nvPr/>
                </p:nvGrpSpPr>
                <p:grpSpPr bwMode="auto">
                  <a:xfrm>
                    <a:off x="886" y="3690"/>
                    <a:ext cx="49" cy="23"/>
                    <a:chOff x="886" y="3690"/>
                    <a:chExt cx="49" cy="23"/>
                  </a:xfrm>
                </p:grpSpPr>
                <p:sp>
                  <p:nvSpPr>
                    <p:cNvPr id="275"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 name="Group 2380"/>
                  <p:cNvGrpSpPr>
                    <a:grpSpLocks/>
                  </p:cNvGrpSpPr>
                  <p:nvPr/>
                </p:nvGrpSpPr>
                <p:grpSpPr bwMode="auto">
                  <a:xfrm>
                    <a:off x="899" y="3703"/>
                    <a:ext cx="48" cy="23"/>
                    <a:chOff x="899" y="3703"/>
                    <a:chExt cx="48" cy="23"/>
                  </a:xfrm>
                </p:grpSpPr>
                <p:sp>
                  <p:nvSpPr>
                    <p:cNvPr id="272"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 name="Group 2384"/>
                  <p:cNvGrpSpPr>
                    <a:grpSpLocks/>
                  </p:cNvGrpSpPr>
                  <p:nvPr/>
                </p:nvGrpSpPr>
                <p:grpSpPr bwMode="auto">
                  <a:xfrm>
                    <a:off x="912" y="3716"/>
                    <a:ext cx="48" cy="23"/>
                    <a:chOff x="912" y="3716"/>
                    <a:chExt cx="48" cy="23"/>
                  </a:xfrm>
                </p:grpSpPr>
                <p:sp>
                  <p:nvSpPr>
                    <p:cNvPr id="269"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8" name="Group 2388"/>
                <p:cNvGrpSpPr>
                  <a:grpSpLocks/>
                </p:cNvGrpSpPr>
                <p:nvPr/>
              </p:nvGrpSpPr>
              <p:grpSpPr bwMode="auto">
                <a:xfrm>
                  <a:off x="922" y="3727"/>
                  <a:ext cx="49" cy="23"/>
                  <a:chOff x="922" y="3727"/>
                  <a:chExt cx="49" cy="23"/>
                </a:xfrm>
              </p:grpSpPr>
              <p:sp>
                <p:nvSpPr>
                  <p:cNvPr id="261"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9" name="Group 2392"/>
                <p:cNvGrpSpPr>
                  <a:grpSpLocks/>
                </p:cNvGrpSpPr>
                <p:nvPr/>
              </p:nvGrpSpPr>
              <p:grpSpPr bwMode="auto">
                <a:xfrm>
                  <a:off x="895" y="3526"/>
                  <a:ext cx="44" cy="23"/>
                  <a:chOff x="895" y="3526"/>
                  <a:chExt cx="44" cy="23"/>
                </a:xfrm>
              </p:grpSpPr>
              <p:sp>
                <p:nvSpPr>
                  <p:cNvPr id="258"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0" name="Group 2396"/>
                <p:cNvGrpSpPr>
                  <a:grpSpLocks/>
                </p:cNvGrpSpPr>
                <p:nvPr/>
              </p:nvGrpSpPr>
              <p:grpSpPr bwMode="auto">
                <a:xfrm>
                  <a:off x="907" y="3540"/>
                  <a:ext cx="45" cy="22"/>
                  <a:chOff x="907" y="3540"/>
                  <a:chExt cx="45" cy="22"/>
                </a:xfrm>
              </p:grpSpPr>
              <p:sp>
                <p:nvSpPr>
                  <p:cNvPr id="255"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 name="Group 2400"/>
                <p:cNvGrpSpPr>
                  <a:grpSpLocks/>
                </p:cNvGrpSpPr>
                <p:nvPr/>
              </p:nvGrpSpPr>
              <p:grpSpPr bwMode="auto">
                <a:xfrm>
                  <a:off x="920" y="3553"/>
                  <a:ext cx="45" cy="23"/>
                  <a:chOff x="920" y="3553"/>
                  <a:chExt cx="45" cy="23"/>
                </a:xfrm>
              </p:grpSpPr>
              <p:sp>
                <p:nvSpPr>
                  <p:cNvPr id="252"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 name="Group 2404"/>
                <p:cNvGrpSpPr>
                  <a:grpSpLocks/>
                </p:cNvGrpSpPr>
                <p:nvPr/>
              </p:nvGrpSpPr>
              <p:grpSpPr bwMode="auto">
                <a:xfrm>
                  <a:off x="934" y="3566"/>
                  <a:ext cx="44" cy="23"/>
                  <a:chOff x="934" y="3566"/>
                  <a:chExt cx="44" cy="23"/>
                </a:xfrm>
              </p:grpSpPr>
              <p:sp>
                <p:nvSpPr>
                  <p:cNvPr id="249"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 name="Group 2408"/>
                <p:cNvGrpSpPr>
                  <a:grpSpLocks/>
                </p:cNvGrpSpPr>
                <p:nvPr/>
              </p:nvGrpSpPr>
              <p:grpSpPr bwMode="auto">
                <a:xfrm>
                  <a:off x="949" y="3579"/>
                  <a:ext cx="83" cy="63"/>
                  <a:chOff x="949" y="3579"/>
                  <a:chExt cx="83" cy="63"/>
                </a:xfrm>
              </p:grpSpPr>
              <p:grpSp>
                <p:nvGrpSpPr>
                  <p:cNvPr id="233" name="Group 2409"/>
                  <p:cNvGrpSpPr>
                    <a:grpSpLocks/>
                  </p:cNvGrpSpPr>
                  <p:nvPr/>
                </p:nvGrpSpPr>
                <p:grpSpPr bwMode="auto">
                  <a:xfrm>
                    <a:off x="949" y="3579"/>
                    <a:ext cx="44" cy="23"/>
                    <a:chOff x="949" y="3579"/>
                    <a:chExt cx="44" cy="23"/>
                  </a:xfrm>
                </p:grpSpPr>
                <p:sp>
                  <p:nvSpPr>
                    <p:cNvPr id="246"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4" name="Group 2413"/>
                  <p:cNvGrpSpPr>
                    <a:grpSpLocks/>
                  </p:cNvGrpSpPr>
                  <p:nvPr/>
                </p:nvGrpSpPr>
                <p:grpSpPr bwMode="auto">
                  <a:xfrm>
                    <a:off x="961" y="3592"/>
                    <a:ext cx="45" cy="23"/>
                    <a:chOff x="961" y="3592"/>
                    <a:chExt cx="45" cy="23"/>
                  </a:xfrm>
                </p:grpSpPr>
                <p:sp>
                  <p:nvSpPr>
                    <p:cNvPr id="243"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5"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 name="Group 2417"/>
                  <p:cNvGrpSpPr>
                    <a:grpSpLocks/>
                  </p:cNvGrpSpPr>
                  <p:nvPr/>
                </p:nvGrpSpPr>
                <p:grpSpPr bwMode="auto">
                  <a:xfrm>
                    <a:off x="974" y="3606"/>
                    <a:ext cx="44" cy="23"/>
                    <a:chOff x="974" y="3606"/>
                    <a:chExt cx="44" cy="23"/>
                  </a:xfrm>
                </p:grpSpPr>
                <p:sp>
                  <p:nvSpPr>
                    <p:cNvPr id="240"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6" name="Group 2421"/>
                  <p:cNvGrpSpPr>
                    <a:grpSpLocks/>
                  </p:cNvGrpSpPr>
                  <p:nvPr/>
                </p:nvGrpSpPr>
                <p:grpSpPr bwMode="auto">
                  <a:xfrm>
                    <a:off x="987" y="3619"/>
                    <a:ext cx="45" cy="23"/>
                    <a:chOff x="987" y="3619"/>
                    <a:chExt cx="45" cy="23"/>
                  </a:xfrm>
                </p:grpSpPr>
                <p:sp>
                  <p:nvSpPr>
                    <p:cNvPr id="237"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4" name="Group 2425"/>
                <p:cNvGrpSpPr>
                  <a:grpSpLocks/>
                </p:cNvGrpSpPr>
                <p:nvPr/>
              </p:nvGrpSpPr>
              <p:grpSpPr bwMode="auto">
                <a:xfrm>
                  <a:off x="1002" y="3632"/>
                  <a:ext cx="83" cy="63"/>
                  <a:chOff x="1002" y="3632"/>
                  <a:chExt cx="83" cy="63"/>
                </a:xfrm>
              </p:grpSpPr>
              <p:grpSp>
                <p:nvGrpSpPr>
                  <p:cNvPr id="217" name="Group 2426"/>
                  <p:cNvGrpSpPr>
                    <a:grpSpLocks/>
                  </p:cNvGrpSpPr>
                  <p:nvPr/>
                </p:nvGrpSpPr>
                <p:grpSpPr bwMode="auto">
                  <a:xfrm>
                    <a:off x="1002" y="3632"/>
                    <a:ext cx="44" cy="22"/>
                    <a:chOff x="1002" y="3632"/>
                    <a:chExt cx="44" cy="22"/>
                  </a:xfrm>
                </p:grpSpPr>
                <p:sp>
                  <p:nvSpPr>
                    <p:cNvPr id="230"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 name="Group 2430"/>
                  <p:cNvGrpSpPr>
                    <a:grpSpLocks/>
                  </p:cNvGrpSpPr>
                  <p:nvPr/>
                </p:nvGrpSpPr>
                <p:grpSpPr bwMode="auto">
                  <a:xfrm>
                    <a:off x="1014" y="3645"/>
                    <a:ext cx="44" cy="23"/>
                    <a:chOff x="1014" y="3645"/>
                    <a:chExt cx="44" cy="23"/>
                  </a:xfrm>
                </p:grpSpPr>
                <p:sp>
                  <p:nvSpPr>
                    <p:cNvPr id="227"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2434"/>
                  <p:cNvGrpSpPr>
                    <a:grpSpLocks/>
                  </p:cNvGrpSpPr>
                  <p:nvPr/>
                </p:nvGrpSpPr>
                <p:grpSpPr bwMode="auto">
                  <a:xfrm>
                    <a:off x="1027" y="3659"/>
                    <a:ext cx="45" cy="23"/>
                    <a:chOff x="1027" y="3659"/>
                    <a:chExt cx="45" cy="23"/>
                  </a:xfrm>
                </p:grpSpPr>
                <p:sp>
                  <p:nvSpPr>
                    <p:cNvPr id="224"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0" name="Group 2438"/>
                  <p:cNvGrpSpPr>
                    <a:grpSpLocks/>
                  </p:cNvGrpSpPr>
                  <p:nvPr/>
                </p:nvGrpSpPr>
                <p:grpSpPr bwMode="auto">
                  <a:xfrm>
                    <a:off x="1040" y="3672"/>
                    <a:ext cx="45" cy="23"/>
                    <a:chOff x="1040" y="3672"/>
                    <a:chExt cx="45" cy="23"/>
                  </a:xfrm>
                </p:grpSpPr>
                <p:sp>
                  <p:nvSpPr>
                    <p:cNvPr id="221"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5" name="Group 2442"/>
                <p:cNvGrpSpPr>
                  <a:grpSpLocks/>
                </p:cNvGrpSpPr>
                <p:nvPr/>
              </p:nvGrpSpPr>
              <p:grpSpPr bwMode="auto">
                <a:xfrm>
                  <a:off x="1054" y="3685"/>
                  <a:ext cx="45" cy="23"/>
                  <a:chOff x="1054" y="3685"/>
                  <a:chExt cx="45" cy="23"/>
                </a:xfrm>
              </p:grpSpPr>
              <p:sp>
                <p:nvSpPr>
                  <p:cNvPr id="214"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6" name="Group 2446"/>
                <p:cNvGrpSpPr>
                  <a:grpSpLocks/>
                </p:cNvGrpSpPr>
                <p:nvPr/>
              </p:nvGrpSpPr>
              <p:grpSpPr bwMode="auto">
                <a:xfrm>
                  <a:off x="1067" y="3698"/>
                  <a:ext cx="45" cy="23"/>
                  <a:chOff x="1067" y="3698"/>
                  <a:chExt cx="45" cy="23"/>
                </a:xfrm>
              </p:grpSpPr>
              <p:sp>
                <p:nvSpPr>
                  <p:cNvPr id="211"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7" name="Group 2450"/>
                <p:cNvGrpSpPr>
                  <a:grpSpLocks/>
                </p:cNvGrpSpPr>
                <p:nvPr/>
              </p:nvGrpSpPr>
              <p:grpSpPr bwMode="auto">
                <a:xfrm>
                  <a:off x="1079" y="3712"/>
                  <a:ext cx="44" cy="23"/>
                  <a:chOff x="1079" y="3712"/>
                  <a:chExt cx="44" cy="23"/>
                </a:xfrm>
              </p:grpSpPr>
              <p:sp>
                <p:nvSpPr>
                  <p:cNvPr id="208"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 name="Group 2454"/>
                <p:cNvGrpSpPr>
                  <a:grpSpLocks/>
                </p:cNvGrpSpPr>
                <p:nvPr/>
              </p:nvGrpSpPr>
              <p:grpSpPr bwMode="auto">
                <a:xfrm>
                  <a:off x="1093" y="3725"/>
                  <a:ext cx="45" cy="23"/>
                  <a:chOff x="1093" y="3725"/>
                  <a:chExt cx="45" cy="23"/>
                </a:xfrm>
              </p:grpSpPr>
              <p:sp>
                <p:nvSpPr>
                  <p:cNvPr id="205"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9" name="Group 2458"/>
                <p:cNvGrpSpPr>
                  <a:grpSpLocks/>
                </p:cNvGrpSpPr>
                <p:nvPr/>
              </p:nvGrpSpPr>
              <p:grpSpPr bwMode="auto">
                <a:xfrm>
                  <a:off x="1108" y="3739"/>
                  <a:ext cx="44" cy="23"/>
                  <a:chOff x="1108" y="3739"/>
                  <a:chExt cx="44" cy="23"/>
                </a:xfrm>
              </p:grpSpPr>
              <p:sp>
                <p:nvSpPr>
                  <p:cNvPr id="202"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 name="Group 2462"/>
                <p:cNvGrpSpPr>
                  <a:grpSpLocks/>
                </p:cNvGrpSpPr>
                <p:nvPr/>
              </p:nvGrpSpPr>
              <p:grpSpPr bwMode="auto">
                <a:xfrm>
                  <a:off x="1121" y="3753"/>
                  <a:ext cx="45" cy="23"/>
                  <a:chOff x="1121" y="3753"/>
                  <a:chExt cx="45" cy="23"/>
                </a:xfrm>
              </p:grpSpPr>
              <p:sp>
                <p:nvSpPr>
                  <p:cNvPr id="199"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1" name="Group 2466"/>
                <p:cNvGrpSpPr>
                  <a:grpSpLocks/>
                </p:cNvGrpSpPr>
                <p:nvPr/>
              </p:nvGrpSpPr>
              <p:grpSpPr bwMode="auto">
                <a:xfrm>
                  <a:off x="1133" y="3767"/>
                  <a:ext cx="44" cy="23"/>
                  <a:chOff x="1133" y="3767"/>
                  <a:chExt cx="44" cy="23"/>
                </a:xfrm>
              </p:grpSpPr>
              <p:sp>
                <p:nvSpPr>
                  <p:cNvPr id="196"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7"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2"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1"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2"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3" name="Group 2481"/>
                <p:cNvGrpSpPr>
                  <a:grpSpLocks/>
                </p:cNvGrpSpPr>
                <p:nvPr/>
              </p:nvGrpSpPr>
              <p:grpSpPr bwMode="auto">
                <a:xfrm>
                  <a:off x="700" y="3535"/>
                  <a:ext cx="49" cy="24"/>
                  <a:chOff x="700" y="3535"/>
                  <a:chExt cx="49" cy="24"/>
                </a:xfrm>
              </p:grpSpPr>
              <p:sp>
                <p:nvSpPr>
                  <p:cNvPr id="193"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 name="Group 2485"/>
                <p:cNvGrpSpPr>
                  <a:grpSpLocks/>
                </p:cNvGrpSpPr>
                <p:nvPr/>
              </p:nvGrpSpPr>
              <p:grpSpPr bwMode="auto">
                <a:xfrm>
                  <a:off x="714" y="3551"/>
                  <a:ext cx="49" cy="22"/>
                  <a:chOff x="714" y="3551"/>
                  <a:chExt cx="49" cy="22"/>
                </a:xfrm>
              </p:grpSpPr>
              <p:sp>
                <p:nvSpPr>
                  <p:cNvPr id="190"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 name="Group 2489"/>
                <p:cNvGrpSpPr>
                  <a:grpSpLocks/>
                </p:cNvGrpSpPr>
                <p:nvPr/>
              </p:nvGrpSpPr>
              <p:grpSpPr bwMode="auto">
                <a:xfrm>
                  <a:off x="728" y="3564"/>
                  <a:ext cx="48" cy="23"/>
                  <a:chOff x="728" y="3564"/>
                  <a:chExt cx="48" cy="23"/>
                </a:xfrm>
              </p:grpSpPr>
              <p:sp>
                <p:nvSpPr>
                  <p:cNvPr id="187"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6" name="Group 2493"/>
                <p:cNvGrpSpPr>
                  <a:grpSpLocks/>
                </p:cNvGrpSpPr>
                <p:nvPr/>
              </p:nvGrpSpPr>
              <p:grpSpPr bwMode="auto">
                <a:xfrm>
                  <a:off x="742" y="3582"/>
                  <a:ext cx="49" cy="23"/>
                  <a:chOff x="742" y="3582"/>
                  <a:chExt cx="49" cy="23"/>
                </a:xfrm>
              </p:grpSpPr>
              <p:sp>
                <p:nvSpPr>
                  <p:cNvPr id="184"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7" name="Group 2497"/>
                <p:cNvGrpSpPr>
                  <a:grpSpLocks/>
                </p:cNvGrpSpPr>
                <p:nvPr/>
              </p:nvGrpSpPr>
              <p:grpSpPr bwMode="auto">
                <a:xfrm>
                  <a:off x="752" y="3597"/>
                  <a:ext cx="133" cy="106"/>
                  <a:chOff x="752" y="3597"/>
                  <a:chExt cx="133" cy="106"/>
                </a:xfrm>
              </p:grpSpPr>
              <p:sp>
                <p:nvSpPr>
                  <p:cNvPr id="181"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8" name="Group 2501"/>
                <p:cNvGrpSpPr>
                  <a:grpSpLocks/>
                </p:cNvGrpSpPr>
                <p:nvPr/>
              </p:nvGrpSpPr>
              <p:grpSpPr bwMode="auto">
                <a:xfrm>
                  <a:off x="844" y="3694"/>
                  <a:ext cx="48" cy="23"/>
                  <a:chOff x="844" y="3694"/>
                  <a:chExt cx="48" cy="23"/>
                </a:xfrm>
              </p:grpSpPr>
              <p:sp>
                <p:nvSpPr>
                  <p:cNvPr id="178"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9" name="Group 2505"/>
                <p:cNvGrpSpPr>
                  <a:grpSpLocks/>
                </p:cNvGrpSpPr>
                <p:nvPr/>
              </p:nvGrpSpPr>
              <p:grpSpPr bwMode="auto">
                <a:xfrm>
                  <a:off x="857" y="3710"/>
                  <a:ext cx="49" cy="22"/>
                  <a:chOff x="857" y="3710"/>
                  <a:chExt cx="49" cy="22"/>
                </a:xfrm>
              </p:grpSpPr>
              <p:sp>
                <p:nvSpPr>
                  <p:cNvPr id="175"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 name="Group 2509"/>
                <p:cNvGrpSpPr>
                  <a:grpSpLocks/>
                </p:cNvGrpSpPr>
                <p:nvPr/>
              </p:nvGrpSpPr>
              <p:grpSpPr bwMode="auto">
                <a:xfrm>
                  <a:off x="1086" y="3766"/>
                  <a:ext cx="49" cy="23"/>
                  <a:chOff x="1086" y="3766"/>
                  <a:chExt cx="49" cy="23"/>
                </a:xfrm>
              </p:grpSpPr>
              <p:sp>
                <p:nvSpPr>
                  <p:cNvPr id="172"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 name="Group 2513"/>
                <p:cNvGrpSpPr>
                  <a:grpSpLocks/>
                </p:cNvGrpSpPr>
                <p:nvPr/>
              </p:nvGrpSpPr>
              <p:grpSpPr bwMode="auto">
                <a:xfrm>
                  <a:off x="934" y="3740"/>
                  <a:ext cx="48" cy="23"/>
                  <a:chOff x="934" y="3740"/>
                  <a:chExt cx="48" cy="23"/>
                </a:xfrm>
              </p:grpSpPr>
              <p:sp>
                <p:nvSpPr>
                  <p:cNvPr id="169"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 name="Group 2517"/>
                <p:cNvGrpSpPr>
                  <a:grpSpLocks/>
                </p:cNvGrpSpPr>
                <p:nvPr/>
              </p:nvGrpSpPr>
              <p:grpSpPr bwMode="auto">
                <a:xfrm>
                  <a:off x="943" y="3754"/>
                  <a:ext cx="49" cy="23"/>
                  <a:chOff x="943" y="3754"/>
                  <a:chExt cx="49" cy="23"/>
                </a:xfrm>
              </p:grpSpPr>
              <p:sp>
                <p:nvSpPr>
                  <p:cNvPr id="166"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63"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 name="Group 2524"/>
              <p:cNvGrpSpPr>
                <a:grpSpLocks/>
              </p:cNvGrpSpPr>
              <p:nvPr/>
            </p:nvGrpSpPr>
            <p:grpSpPr bwMode="auto">
              <a:xfrm>
                <a:off x="920" y="3821"/>
                <a:ext cx="413" cy="50"/>
                <a:chOff x="920" y="3821"/>
                <a:chExt cx="413" cy="50"/>
              </a:xfrm>
            </p:grpSpPr>
            <p:sp>
              <p:nvSpPr>
                <p:cNvPr id="81"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4"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61" name="Group 2529"/>
              <p:cNvGrpSpPr>
                <a:grpSpLocks/>
              </p:cNvGrpSpPr>
              <p:nvPr/>
            </p:nvGrpSpPr>
            <p:grpSpPr bwMode="auto">
              <a:xfrm>
                <a:off x="1227" y="3477"/>
                <a:ext cx="508" cy="321"/>
                <a:chOff x="1227" y="3477"/>
                <a:chExt cx="508" cy="321"/>
              </a:xfrm>
            </p:grpSpPr>
            <p:sp>
              <p:nvSpPr>
                <p:cNvPr id="62"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7"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8"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0"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sp>
          <p:nvSpPr>
            <p:cNvPr id="501" name="Line 3458"/>
            <p:cNvSpPr>
              <a:spLocks noChangeShapeType="1"/>
            </p:cNvSpPr>
            <p:nvPr/>
          </p:nvSpPr>
          <p:spPr bwMode="auto">
            <a:xfrm rot="816166" flipV="1">
              <a:off x="1373235" y="1425345"/>
              <a:ext cx="3117942" cy="691145"/>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2" name="Text Box 3475"/>
            <p:cNvSpPr txBox="1">
              <a:spLocks noChangeArrowheads="1"/>
            </p:cNvSpPr>
            <p:nvPr/>
          </p:nvSpPr>
          <p:spPr bwMode="auto">
            <a:xfrm>
              <a:off x="900113" y="13414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503" name="Line 3490"/>
            <p:cNvSpPr>
              <a:spLocks noChangeShapeType="1"/>
            </p:cNvSpPr>
            <p:nvPr/>
          </p:nvSpPr>
          <p:spPr bwMode="auto">
            <a:xfrm rot="816166" flipV="1">
              <a:off x="1503461" y="721166"/>
              <a:ext cx="4194552" cy="1476844"/>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4" name="Line 3491"/>
            <p:cNvSpPr>
              <a:spLocks noChangeShapeType="1"/>
            </p:cNvSpPr>
            <p:nvPr/>
          </p:nvSpPr>
          <p:spPr bwMode="auto">
            <a:xfrm rot="816166" flipV="1">
              <a:off x="1607792" y="117307"/>
              <a:ext cx="3250921" cy="1899473"/>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5" name="Line 3492"/>
            <p:cNvSpPr>
              <a:spLocks noChangeShapeType="1"/>
            </p:cNvSpPr>
            <p:nvPr/>
          </p:nvSpPr>
          <p:spPr bwMode="auto">
            <a:xfrm rot="816166" flipV="1">
              <a:off x="1392238" y="838200"/>
              <a:ext cx="506412" cy="744538"/>
            </a:xfrm>
            <a:prstGeom prst="line">
              <a:avLst/>
            </a:prstGeom>
            <a:noFill/>
            <a:ln w="38100">
              <a:solidFill>
                <a:srgbClr val="99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6" name="Line 4401"/>
            <p:cNvSpPr>
              <a:spLocks noChangeShapeType="1"/>
            </p:cNvSpPr>
            <p:nvPr/>
          </p:nvSpPr>
          <p:spPr bwMode="auto">
            <a:xfrm rot="816166" flipV="1">
              <a:off x="5429250" y="528638"/>
              <a:ext cx="1381125" cy="1127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7" name="Line 4402"/>
            <p:cNvSpPr>
              <a:spLocks noChangeShapeType="1"/>
            </p:cNvSpPr>
            <p:nvPr/>
          </p:nvSpPr>
          <p:spPr bwMode="auto">
            <a:xfrm rot="816166" flipH="1">
              <a:off x="3189288" y="438150"/>
              <a:ext cx="1752600" cy="19272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Line 4403"/>
            <p:cNvSpPr>
              <a:spLocks noChangeShapeType="1"/>
            </p:cNvSpPr>
            <p:nvPr/>
          </p:nvSpPr>
          <p:spPr bwMode="auto">
            <a:xfrm rot="816166">
              <a:off x="5305425" y="641350"/>
              <a:ext cx="836613" cy="3905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Line 4404"/>
            <p:cNvSpPr>
              <a:spLocks noChangeShapeType="1"/>
            </p:cNvSpPr>
            <p:nvPr/>
          </p:nvSpPr>
          <p:spPr bwMode="auto">
            <a:xfrm rot="816166" flipV="1">
              <a:off x="4945063" y="2055813"/>
              <a:ext cx="1173162" cy="1587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Line 4408"/>
            <p:cNvSpPr>
              <a:spLocks noChangeShapeType="1"/>
            </p:cNvSpPr>
            <p:nvPr/>
          </p:nvSpPr>
          <p:spPr bwMode="auto">
            <a:xfrm rot="816166" flipH="1">
              <a:off x="6443663" y="860425"/>
              <a:ext cx="228600" cy="1243013"/>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Text Box 3475"/>
            <p:cNvSpPr txBox="1">
              <a:spLocks noChangeArrowheads="1"/>
            </p:cNvSpPr>
            <p:nvPr/>
          </p:nvSpPr>
          <p:spPr bwMode="auto">
            <a:xfrm>
              <a:off x="4467224" y="1603084"/>
              <a:ext cx="386609"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
              </a:r>
              <a:endParaRPr lang="en-US" altLang="zh-CN" sz="1100" b="1" i="1" dirty="0">
                <a:latin typeface="微软雅黑" panose="020B0503020204020204" pitchFamily="34" charset="-122"/>
                <a:ea typeface="微软雅黑" panose="020B0503020204020204" pitchFamily="34" charset="-122"/>
              </a:endParaRPr>
            </a:p>
          </p:txBody>
        </p:sp>
        <p:sp>
          <p:nvSpPr>
            <p:cNvPr id="512" name="Text Box 3475"/>
            <p:cNvSpPr txBox="1">
              <a:spLocks noChangeArrowheads="1"/>
            </p:cNvSpPr>
            <p:nvPr/>
          </p:nvSpPr>
          <p:spPr bwMode="auto">
            <a:xfrm>
              <a:off x="5678712" y="991925"/>
              <a:ext cx="48048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a:t>
              </a:r>
              <a:endParaRPr lang="en-US" altLang="zh-CN" sz="1100" b="1" i="1" dirty="0">
                <a:latin typeface="微软雅黑" panose="020B0503020204020204" pitchFamily="34" charset="-122"/>
                <a:ea typeface="微软雅黑" panose="020B0503020204020204" pitchFamily="34" charset="-122"/>
              </a:endParaRPr>
            </a:p>
          </p:txBody>
        </p:sp>
        <p:sp>
          <p:nvSpPr>
            <p:cNvPr id="513" name="Text Box 3475"/>
            <p:cNvSpPr txBox="1">
              <a:spLocks noChangeArrowheads="1"/>
            </p:cNvSpPr>
            <p:nvPr/>
          </p:nvSpPr>
          <p:spPr bwMode="auto">
            <a:xfrm>
              <a:off x="4932363" y="1889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p>
          </p:txBody>
        </p:sp>
        <p:sp>
          <p:nvSpPr>
            <p:cNvPr id="514" name="Line 4406"/>
            <p:cNvSpPr>
              <a:spLocks noChangeShapeType="1"/>
            </p:cNvSpPr>
            <p:nvPr/>
          </p:nvSpPr>
          <p:spPr bwMode="auto">
            <a:xfrm rot="816166" flipV="1">
              <a:off x="5060950" y="1389063"/>
              <a:ext cx="752475" cy="558800"/>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5" name="Line 4406"/>
            <p:cNvSpPr>
              <a:spLocks noChangeShapeType="1"/>
            </p:cNvSpPr>
            <p:nvPr/>
          </p:nvSpPr>
          <p:spPr bwMode="auto">
            <a:xfrm rot="816166" flipH="1">
              <a:off x="5062538" y="674688"/>
              <a:ext cx="26987" cy="11160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6" name="椭圆 515"/>
            <p:cNvSpPr/>
            <p:nvPr/>
          </p:nvSpPr>
          <p:spPr bwMode="auto">
            <a:xfrm>
              <a:off x="827088" y="42926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7" name="椭圆 516"/>
            <p:cNvSpPr/>
            <p:nvPr/>
          </p:nvSpPr>
          <p:spPr bwMode="auto">
            <a:xfrm>
              <a:off x="1979613" y="2852738"/>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8" name="椭圆 517"/>
            <p:cNvSpPr/>
            <p:nvPr/>
          </p:nvSpPr>
          <p:spPr bwMode="auto">
            <a:xfrm>
              <a:off x="3132138" y="4365625"/>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9" name="椭圆 518"/>
            <p:cNvSpPr/>
            <p:nvPr/>
          </p:nvSpPr>
          <p:spPr bwMode="auto">
            <a:xfrm>
              <a:off x="5724525" y="42211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0" name="椭圆 519"/>
            <p:cNvSpPr/>
            <p:nvPr/>
          </p:nvSpPr>
          <p:spPr bwMode="auto">
            <a:xfrm>
              <a:off x="7092950" y="2852738"/>
              <a:ext cx="215900" cy="217487"/>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1" name="椭圆 520"/>
            <p:cNvSpPr/>
            <p:nvPr/>
          </p:nvSpPr>
          <p:spPr bwMode="auto">
            <a:xfrm>
              <a:off x="6227763" y="31416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2" name="椭圆 521"/>
            <p:cNvSpPr/>
            <p:nvPr/>
          </p:nvSpPr>
          <p:spPr bwMode="auto">
            <a:xfrm>
              <a:off x="7812088" y="34290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523" name="直接连接符 5708"/>
            <p:cNvCxnSpPr>
              <a:cxnSpLocks noChangeShapeType="1"/>
              <a:endCxn id="516" idx="0"/>
            </p:cNvCxnSpPr>
            <p:nvPr/>
          </p:nvCxnSpPr>
          <p:spPr bwMode="auto">
            <a:xfrm flipH="1">
              <a:off x="935038" y="1844675"/>
              <a:ext cx="252412" cy="244792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4" name="直接连接符 5709"/>
            <p:cNvCxnSpPr>
              <a:cxnSpLocks noChangeShapeType="1"/>
              <a:stCxn id="2835" idx="7"/>
              <a:endCxn id="521" idx="0"/>
            </p:cNvCxnSpPr>
            <p:nvPr/>
          </p:nvCxnSpPr>
          <p:spPr bwMode="auto">
            <a:xfrm>
              <a:off x="6223000" y="2347913"/>
              <a:ext cx="112713" cy="79375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5" name="直接连接符 5710"/>
            <p:cNvCxnSpPr>
              <a:cxnSpLocks noChangeShapeType="1"/>
              <a:endCxn id="518" idx="7"/>
            </p:cNvCxnSpPr>
            <p:nvPr/>
          </p:nvCxnSpPr>
          <p:spPr bwMode="auto">
            <a:xfrm flipH="1">
              <a:off x="3316288" y="2060575"/>
              <a:ext cx="1327150" cy="23368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6" name="直接连接符 5711"/>
            <p:cNvCxnSpPr>
              <a:cxnSpLocks noChangeShapeType="1"/>
              <a:stCxn id="1473" idx="7"/>
              <a:endCxn id="517" idx="7"/>
            </p:cNvCxnSpPr>
            <p:nvPr/>
          </p:nvCxnSpPr>
          <p:spPr bwMode="auto">
            <a:xfrm flipH="1">
              <a:off x="2163763" y="2225675"/>
              <a:ext cx="584200" cy="658813"/>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7" name="直接连接符 5712"/>
            <p:cNvCxnSpPr>
              <a:cxnSpLocks noChangeShapeType="1"/>
              <a:endCxn id="522" idx="1"/>
            </p:cNvCxnSpPr>
            <p:nvPr/>
          </p:nvCxnSpPr>
          <p:spPr bwMode="auto">
            <a:xfrm>
              <a:off x="6948488" y="908050"/>
              <a:ext cx="895350" cy="2552700"/>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8" name="直接连接符 5713"/>
            <p:cNvCxnSpPr>
              <a:cxnSpLocks noChangeShapeType="1"/>
              <a:endCxn id="519" idx="0"/>
            </p:cNvCxnSpPr>
            <p:nvPr/>
          </p:nvCxnSpPr>
          <p:spPr bwMode="auto">
            <a:xfrm>
              <a:off x="5292725" y="549275"/>
              <a:ext cx="539750" cy="3671888"/>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529" name="直接连接符 5714"/>
            <p:cNvCxnSpPr>
              <a:cxnSpLocks noChangeShapeType="1"/>
              <a:endCxn id="520" idx="1"/>
            </p:cNvCxnSpPr>
            <p:nvPr/>
          </p:nvCxnSpPr>
          <p:spPr bwMode="auto">
            <a:xfrm>
              <a:off x="6084888" y="1484313"/>
              <a:ext cx="1039812" cy="1400175"/>
            </a:xfrm>
            <a:prstGeom prst="line">
              <a:avLst/>
            </a:prstGeom>
            <a:noFill/>
            <a:ln w="9525" algn="ctr">
              <a:solidFill>
                <a:schemeClr val="tx1"/>
              </a:solidFill>
              <a:prstDash val="dash"/>
              <a:round/>
              <a:headEnd/>
              <a:tailEnd/>
            </a:ln>
            <a:extLst>
              <a:ext uri="{909E8E84-426E-40DD-AFC4-6F175D3DCCD1}">
                <a14:hiddenFill xmlns:a14="http://schemas.microsoft.com/office/drawing/2010/main">
                  <a:noFill/>
                </a14:hiddenFill>
              </a:ext>
            </a:extLst>
          </p:spPr>
        </p:cxnSp>
        <p:graphicFrame>
          <p:nvGraphicFramePr>
            <p:cNvPr id="530" name="Object 58"/>
            <p:cNvGraphicFramePr>
              <a:graphicFrameLocks noChangeAspect="1"/>
            </p:cNvGraphicFramePr>
            <p:nvPr>
              <p:extLst>
                <p:ext uri="{D42A27DB-BD31-4B8C-83A1-F6EECF244321}">
                  <p14:modId xmlns:p14="http://schemas.microsoft.com/office/powerpoint/2010/main" val="3542672907"/>
                </p:ext>
              </p:extLst>
            </p:nvPr>
          </p:nvGraphicFramePr>
          <p:xfrm>
            <a:off x="4284663" y="3068638"/>
            <a:ext cx="957262" cy="693737"/>
          </p:xfrm>
          <a:graphic>
            <a:graphicData uri="http://schemas.openxmlformats.org/presentationml/2006/ole">
              <mc:AlternateContent xmlns:mc="http://schemas.openxmlformats.org/markup-compatibility/2006">
                <mc:Choice xmlns:v="urn:schemas-microsoft-com:vml" Requires="v">
                  <p:oleObj name="VISIO" r:id="rId5" imgW="1687068" imgH="964692" progId="">
                    <p:embed/>
                  </p:oleObj>
                </mc:Choice>
                <mc:Fallback>
                  <p:oleObj name="VISIO" r:id="rId5" imgW="1687068" imgH="964692" progId="">
                    <p:embed/>
                    <p:pic>
                      <p:nvPicPr>
                        <p:cNvPr id="0" name="Picture 9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84663" y="3068638"/>
                          <a:ext cx="957262" cy="6937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pSp>
          <p:nvGrpSpPr>
            <p:cNvPr id="531" name="Group 2096"/>
            <p:cNvGrpSpPr>
              <a:grpSpLocks/>
            </p:cNvGrpSpPr>
            <p:nvPr/>
          </p:nvGrpSpPr>
          <p:grpSpPr bwMode="auto">
            <a:xfrm>
              <a:off x="971550" y="1484313"/>
              <a:ext cx="431800" cy="330200"/>
              <a:chOff x="624" y="2968"/>
              <a:chExt cx="1331" cy="920"/>
            </a:xfrm>
          </p:grpSpPr>
          <p:sp>
            <p:nvSpPr>
              <p:cNvPr id="53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44" name="Group 2109"/>
              <p:cNvGrpSpPr>
                <a:grpSpLocks/>
              </p:cNvGrpSpPr>
              <p:nvPr/>
            </p:nvGrpSpPr>
            <p:grpSpPr bwMode="auto">
              <a:xfrm>
                <a:off x="700" y="3526"/>
                <a:ext cx="515" cy="270"/>
                <a:chOff x="700" y="3526"/>
                <a:chExt cx="515" cy="270"/>
              </a:xfrm>
            </p:grpSpPr>
            <p:grpSp>
              <p:nvGrpSpPr>
                <p:cNvPr id="570" name="Group 2110"/>
                <p:cNvGrpSpPr>
                  <a:grpSpLocks/>
                </p:cNvGrpSpPr>
                <p:nvPr/>
              </p:nvGrpSpPr>
              <p:grpSpPr bwMode="auto">
                <a:xfrm>
                  <a:off x="737" y="3534"/>
                  <a:ext cx="49" cy="23"/>
                  <a:chOff x="737" y="3534"/>
                  <a:chExt cx="49" cy="23"/>
                </a:xfrm>
              </p:grpSpPr>
              <p:sp>
                <p:nvSpPr>
                  <p:cNvPr id="98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1" name="Group 2114"/>
                <p:cNvGrpSpPr>
                  <a:grpSpLocks/>
                </p:cNvGrpSpPr>
                <p:nvPr/>
              </p:nvGrpSpPr>
              <p:grpSpPr bwMode="auto">
                <a:xfrm>
                  <a:off x="748" y="3547"/>
                  <a:ext cx="50" cy="23"/>
                  <a:chOff x="748" y="3547"/>
                  <a:chExt cx="50" cy="23"/>
                </a:xfrm>
              </p:grpSpPr>
              <p:sp>
                <p:nvSpPr>
                  <p:cNvPr id="97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7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76" name="Group 2122"/>
                <p:cNvGrpSpPr>
                  <a:grpSpLocks/>
                </p:cNvGrpSpPr>
                <p:nvPr/>
              </p:nvGrpSpPr>
              <p:grpSpPr bwMode="auto">
                <a:xfrm>
                  <a:off x="872" y="3547"/>
                  <a:ext cx="50" cy="23"/>
                  <a:chOff x="872" y="3547"/>
                  <a:chExt cx="50" cy="23"/>
                </a:xfrm>
              </p:grpSpPr>
              <p:sp>
                <p:nvSpPr>
                  <p:cNvPr id="97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7" name="Group 2126"/>
                <p:cNvGrpSpPr>
                  <a:grpSpLocks/>
                </p:cNvGrpSpPr>
                <p:nvPr/>
              </p:nvGrpSpPr>
              <p:grpSpPr bwMode="auto">
                <a:xfrm>
                  <a:off x="885" y="3559"/>
                  <a:ext cx="50" cy="23"/>
                  <a:chOff x="885" y="3559"/>
                  <a:chExt cx="50" cy="23"/>
                </a:xfrm>
              </p:grpSpPr>
              <p:sp>
                <p:nvSpPr>
                  <p:cNvPr id="97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8" name="Group 2130"/>
                <p:cNvGrpSpPr>
                  <a:grpSpLocks/>
                </p:cNvGrpSpPr>
                <p:nvPr/>
              </p:nvGrpSpPr>
              <p:grpSpPr bwMode="auto">
                <a:xfrm>
                  <a:off x="898" y="3571"/>
                  <a:ext cx="49" cy="23"/>
                  <a:chOff x="898" y="3571"/>
                  <a:chExt cx="49" cy="23"/>
                </a:xfrm>
              </p:grpSpPr>
              <p:sp>
                <p:nvSpPr>
                  <p:cNvPr id="96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9" name="Group 2134"/>
                <p:cNvGrpSpPr>
                  <a:grpSpLocks/>
                </p:cNvGrpSpPr>
                <p:nvPr/>
              </p:nvGrpSpPr>
              <p:grpSpPr bwMode="auto">
                <a:xfrm>
                  <a:off x="911" y="3585"/>
                  <a:ext cx="49" cy="23"/>
                  <a:chOff x="911" y="3585"/>
                  <a:chExt cx="49" cy="23"/>
                </a:xfrm>
              </p:grpSpPr>
              <p:sp>
                <p:nvSpPr>
                  <p:cNvPr id="96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0" name="Group 2138"/>
                <p:cNvGrpSpPr>
                  <a:grpSpLocks/>
                </p:cNvGrpSpPr>
                <p:nvPr/>
              </p:nvGrpSpPr>
              <p:grpSpPr bwMode="auto">
                <a:xfrm>
                  <a:off x="923" y="3600"/>
                  <a:ext cx="99" cy="73"/>
                  <a:chOff x="923" y="3600"/>
                  <a:chExt cx="99" cy="73"/>
                </a:xfrm>
              </p:grpSpPr>
              <p:grpSp>
                <p:nvGrpSpPr>
                  <p:cNvPr id="946" name="Group 2139"/>
                  <p:cNvGrpSpPr>
                    <a:grpSpLocks/>
                  </p:cNvGrpSpPr>
                  <p:nvPr/>
                </p:nvGrpSpPr>
                <p:grpSpPr bwMode="auto">
                  <a:xfrm>
                    <a:off x="923" y="3600"/>
                    <a:ext cx="49" cy="23"/>
                    <a:chOff x="923" y="3600"/>
                    <a:chExt cx="49" cy="23"/>
                  </a:xfrm>
                </p:grpSpPr>
                <p:sp>
                  <p:nvSpPr>
                    <p:cNvPr id="96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7" name="Group 2143"/>
                  <p:cNvGrpSpPr>
                    <a:grpSpLocks/>
                  </p:cNvGrpSpPr>
                  <p:nvPr/>
                </p:nvGrpSpPr>
                <p:grpSpPr bwMode="auto">
                  <a:xfrm>
                    <a:off x="935" y="3612"/>
                    <a:ext cx="48" cy="23"/>
                    <a:chOff x="935" y="3612"/>
                    <a:chExt cx="48" cy="23"/>
                  </a:xfrm>
                </p:grpSpPr>
                <p:sp>
                  <p:nvSpPr>
                    <p:cNvPr id="96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8" name="Group 2147"/>
                  <p:cNvGrpSpPr>
                    <a:grpSpLocks/>
                  </p:cNvGrpSpPr>
                  <p:nvPr/>
                </p:nvGrpSpPr>
                <p:grpSpPr bwMode="auto">
                  <a:xfrm>
                    <a:off x="947" y="3625"/>
                    <a:ext cx="50" cy="22"/>
                    <a:chOff x="947" y="3625"/>
                    <a:chExt cx="50" cy="22"/>
                  </a:xfrm>
                </p:grpSpPr>
                <p:sp>
                  <p:nvSpPr>
                    <p:cNvPr id="95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9" name="Group 2151"/>
                  <p:cNvGrpSpPr>
                    <a:grpSpLocks/>
                  </p:cNvGrpSpPr>
                  <p:nvPr/>
                </p:nvGrpSpPr>
                <p:grpSpPr bwMode="auto">
                  <a:xfrm>
                    <a:off x="960" y="3637"/>
                    <a:ext cx="50" cy="23"/>
                    <a:chOff x="960" y="3637"/>
                    <a:chExt cx="50" cy="23"/>
                  </a:xfrm>
                </p:grpSpPr>
                <p:sp>
                  <p:nvSpPr>
                    <p:cNvPr id="95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0" name="Group 2155"/>
                  <p:cNvGrpSpPr>
                    <a:grpSpLocks/>
                  </p:cNvGrpSpPr>
                  <p:nvPr/>
                </p:nvGrpSpPr>
                <p:grpSpPr bwMode="auto">
                  <a:xfrm>
                    <a:off x="973" y="3650"/>
                    <a:ext cx="49" cy="23"/>
                    <a:chOff x="973" y="3650"/>
                    <a:chExt cx="49" cy="23"/>
                  </a:xfrm>
                </p:grpSpPr>
                <p:sp>
                  <p:nvSpPr>
                    <p:cNvPr id="95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1" name="Group 2159"/>
                <p:cNvGrpSpPr>
                  <a:grpSpLocks/>
                </p:cNvGrpSpPr>
                <p:nvPr/>
              </p:nvGrpSpPr>
              <p:grpSpPr bwMode="auto">
                <a:xfrm>
                  <a:off x="985" y="3665"/>
                  <a:ext cx="100" cy="73"/>
                  <a:chOff x="985" y="3665"/>
                  <a:chExt cx="100" cy="73"/>
                </a:xfrm>
              </p:grpSpPr>
              <p:grpSp>
                <p:nvGrpSpPr>
                  <p:cNvPr id="926" name="Group 2160"/>
                  <p:cNvGrpSpPr>
                    <a:grpSpLocks/>
                  </p:cNvGrpSpPr>
                  <p:nvPr/>
                </p:nvGrpSpPr>
                <p:grpSpPr bwMode="auto">
                  <a:xfrm>
                    <a:off x="985" y="3665"/>
                    <a:ext cx="50" cy="23"/>
                    <a:chOff x="985" y="3665"/>
                    <a:chExt cx="50" cy="23"/>
                  </a:xfrm>
                </p:grpSpPr>
                <p:sp>
                  <p:nvSpPr>
                    <p:cNvPr id="94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7" name="Group 2164"/>
                  <p:cNvGrpSpPr>
                    <a:grpSpLocks/>
                  </p:cNvGrpSpPr>
                  <p:nvPr/>
                </p:nvGrpSpPr>
                <p:grpSpPr bwMode="auto">
                  <a:xfrm>
                    <a:off x="997" y="3677"/>
                    <a:ext cx="49" cy="23"/>
                    <a:chOff x="997" y="3677"/>
                    <a:chExt cx="49" cy="23"/>
                  </a:xfrm>
                </p:grpSpPr>
                <p:sp>
                  <p:nvSpPr>
                    <p:cNvPr id="94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8" name="Group 2168"/>
                  <p:cNvGrpSpPr>
                    <a:grpSpLocks/>
                  </p:cNvGrpSpPr>
                  <p:nvPr/>
                </p:nvGrpSpPr>
                <p:grpSpPr bwMode="auto">
                  <a:xfrm>
                    <a:off x="1010" y="3690"/>
                    <a:ext cx="48" cy="23"/>
                    <a:chOff x="1010" y="3690"/>
                    <a:chExt cx="48" cy="23"/>
                  </a:xfrm>
                </p:grpSpPr>
                <p:sp>
                  <p:nvSpPr>
                    <p:cNvPr id="93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9" name="Group 2172"/>
                  <p:cNvGrpSpPr>
                    <a:grpSpLocks/>
                  </p:cNvGrpSpPr>
                  <p:nvPr/>
                </p:nvGrpSpPr>
                <p:grpSpPr bwMode="auto">
                  <a:xfrm>
                    <a:off x="1023" y="3703"/>
                    <a:ext cx="49" cy="22"/>
                    <a:chOff x="1023" y="3703"/>
                    <a:chExt cx="49" cy="22"/>
                  </a:xfrm>
                </p:grpSpPr>
                <p:sp>
                  <p:nvSpPr>
                    <p:cNvPr id="93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0" name="Group 2176"/>
                  <p:cNvGrpSpPr>
                    <a:grpSpLocks/>
                  </p:cNvGrpSpPr>
                  <p:nvPr/>
                </p:nvGrpSpPr>
                <p:grpSpPr bwMode="auto">
                  <a:xfrm>
                    <a:off x="1036" y="3716"/>
                    <a:ext cx="49" cy="22"/>
                    <a:chOff x="1036" y="3716"/>
                    <a:chExt cx="49" cy="22"/>
                  </a:xfrm>
                </p:grpSpPr>
                <p:sp>
                  <p:nvSpPr>
                    <p:cNvPr id="93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2" name="Group 2180"/>
                <p:cNvGrpSpPr>
                  <a:grpSpLocks/>
                </p:cNvGrpSpPr>
                <p:nvPr/>
              </p:nvGrpSpPr>
              <p:grpSpPr bwMode="auto">
                <a:xfrm>
                  <a:off x="1046" y="3727"/>
                  <a:ext cx="49" cy="23"/>
                  <a:chOff x="1046" y="3727"/>
                  <a:chExt cx="49" cy="23"/>
                </a:xfrm>
              </p:grpSpPr>
              <p:sp>
                <p:nvSpPr>
                  <p:cNvPr id="92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3" name="Group 2184"/>
                <p:cNvGrpSpPr>
                  <a:grpSpLocks/>
                </p:cNvGrpSpPr>
                <p:nvPr/>
              </p:nvGrpSpPr>
              <p:grpSpPr bwMode="auto">
                <a:xfrm>
                  <a:off x="1058" y="3739"/>
                  <a:ext cx="50" cy="23"/>
                  <a:chOff x="1058" y="3739"/>
                  <a:chExt cx="50" cy="23"/>
                </a:xfrm>
              </p:grpSpPr>
              <p:sp>
                <p:nvSpPr>
                  <p:cNvPr id="92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4" name="Group 2188"/>
                <p:cNvGrpSpPr>
                  <a:grpSpLocks/>
                </p:cNvGrpSpPr>
                <p:nvPr/>
              </p:nvGrpSpPr>
              <p:grpSpPr bwMode="auto">
                <a:xfrm>
                  <a:off x="1072" y="3753"/>
                  <a:ext cx="48" cy="22"/>
                  <a:chOff x="1072" y="3753"/>
                  <a:chExt cx="48" cy="22"/>
                </a:xfrm>
              </p:grpSpPr>
              <p:sp>
                <p:nvSpPr>
                  <p:cNvPr id="91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8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88" name="Group 2195"/>
                <p:cNvGrpSpPr>
                  <a:grpSpLocks/>
                </p:cNvGrpSpPr>
                <p:nvPr/>
              </p:nvGrpSpPr>
              <p:grpSpPr bwMode="auto">
                <a:xfrm>
                  <a:off x="832" y="3547"/>
                  <a:ext cx="49" cy="23"/>
                  <a:chOff x="832" y="3547"/>
                  <a:chExt cx="49" cy="23"/>
                </a:xfrm>
              </p:grpSpPr>
              <p:sp>
                <p:nvSpPr>
                  <p:cNvPr id="91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9" name="Group 2199"/>
                <p:cNvGrpSpPr>
                  <a:grpSpLocks/>
                </p:cNvGrpSpPr>
                <p:nvPr/>
              </p:nvGrpSpPr>
              <p:grpSpPr bwMode="auto">
                <a:xfrm>
                  <a:off x="844" y="3560"/>
                  <a:ext cx="49" cy="22"/>
                  <a:chOff x="844" y="3560"/>
                  <a:chExt cx="49" cy="22"/>
                </a:xfrm>
              </p:grpSpPr>
              <p:sp>
                <p:nvSpPr>
                  <p:cNvPr id="91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0" name="Group 2203"/>
                <p:cNvGrpSpPr>
                  <a:grpSpLocks/>
                </p:cNvGrpSpPr>
                <p:nvPr/>
              </p:nvGrpSpPr>
              <p:grpSpPr bwMode="auto">
                <a:xfrm>
                  <a:off x="857" y="3572"/>
                  <a:ext cx="50" cy="23"/>
                  <a:chOff x="857" y="3572"/>
                  <a:chExt cx="50" cy="23"/>
                </a:xfrm>
              </p:grpSpPr>
              <p:sp>
                <p:nvSpPr>
                  <p:cNvPr id="90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1" name="Group 2207"/>
                <p:cNvGrpSpPr>
                  <a:grpSpLocks/>
                </p:cNvGrpSpPr>
                <p:nvPr/>
              </p:nvGrpSpPr>
              <p:grpSpPr bwMode="auto">
                <a:xfrm>
                  <a:off x="870" y="3585"/>
                  <a:ext cx="48" cy="23"/>
                  <a:chOff x="870" y="3585"/>
                  <a:chExt cx="48" cy="23"/>
                </a:xfrm>
              </p:grpSpPr>
              <p:sp>
                <p:nvSpPr>
                  <p:cNvPr id="90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2" name="Group 2211"/>
                <p:cNvGrpSpPr>
                  <a:grpSpLocks/>
                </p:cNvGrpSpPr>
                <p:nvPr/>
              </p:nvGrpSpPr>
              <p:grpSpPr bwMode="auto">
                <a:xfrm>
                  <a:off x="882" y="3600"/>
                  <a:ext cx="100" cy="73"/>
                  <a:chOff x="882" y="3600"/>
                  <a:chExt cx="100" cy="73"/>
                </a:xfrm>
              </p:grpSpPr>
              <p:grpSp>
                <p:nvGrpSpPr>
                  <p:cNvPr id="885" name="Group 2212"/>
                  <p:cNvGrpSpPr>
                    <a:grpSpLocks/>
                  </p:cNvGrpSpPr>
                  <p:nvPr/>
                </p:nvGrpSpPr>
                <p:grpSpPr bwMode="auto">
                  <a:xfrm>
                    <a:off x="882" y="3600"/>
                    <a:ext cx="49" cy="23"/>
                    <a:chOff x="882" y="3600"/>
                    <a:chExt cx="49" cy="23"/>
                  </a:xfrm>
                </p:grpSpPr>
                <p:sp>
                  <p:nvSpPr>
                    <p:cNvPr id="90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6" name="Group 2216"/>
                  <p:cNvGrpSpPr>
                    <a:grpSpLocks/>
                  </p:cNvGrpSpPr>
                  <p:nvPr/>
                </p:nvGrpSpPr>
                <p:grpSpPr bwMode="auto">
                  <a:xfrm>
                    <a:off x="894" y="3612"/>
                    <a:ext cx="49" cy="23"/>
                    <a:chOff x="894" y="3612"/>
                    <a:chExt cx="49" cy="23"/>
                  </a:xfrm>
                </p:grpSpPr>
                <p:sp>
                  <p:nvSpPr>
                    <p:cNvPr id="89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7" name="Group 2220"/>
                  <p:cNvGrpSpPr>
                    <a:grpSpLocks/>
                  </p:cNvGrpSpPr>
                  <p:nvPr/>
                </p:nvGrpSpPr>
                <p:grpSpPr bwMode="auto">
                  <a:xfrm>
                    <a:off x="907" y="3625"/>
                    <a:ext cx="49" cy="23"/>
                    <a:chOff x="907" y="3625"/>
                    <a:chExt cx="49" cy="23"/>
                  </a:xfrm>
                </p:grpSpPr>
                <p:sp>
                  <p:nvSpPr>
                    <p:cNvPr id="89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8" name="Group 2224"/>
                  <p:cNvGrpSpPr>
                    <a:grpSpLocks/>
                  </p:cNvGrpSpPr>
                  <p:nvPr/>
                </p:nvGrpSpPr>
                <p:grpSpPr bwMode="auto">
                  <a:xfrm>
                    <a:off x="919" y="3638"/>
                    <a:ext cx="49" cy="22"/>
                    <a:chOff x="919" y="3638"/>
                    <a:chExt cx="49" cy="22"/>
                  </a:xfrm>
                </p:grpSpPr>
                <p:sp>
                  <p:nvSpPr>
                    <p:cNvPr id="89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9" name="Group 2228"/>
                  <p:cNvGrpSpPr>
                    <a:grpSpLocks/>
                  </p:cNvGrpSpPr>
                  <p:nvPr/>
                </p:nvGrpSpPr>
                <p:grpSpPr bwMode="auto">
                  <a:xfrm>
                    <a:off x="932" y="3651"/>
                    <a:ext cx="50" cy="22"/>
                    <a:chOff x="932" y="3651"/>
                    <a:chExt cx="50" cy="22"/>
                  </a:xfrm>
                </p:grpSpPr>
                <p:sp>
                  <p:nvSpPr>
                    <p:cNvPr id="89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3" name="Group 2232"/>
                <p:cNvGrpSpPr>
                  <a:grpSpLocks/>
                </p:cNvGrpSpPr>
                <p:nvPr/>
              </p:nvGrpSpPr>
              <p:grpSpPr bwMode="auto">
                <a:xfrm>
                  <a:off x="944" y="3665"/>
                  <a:ext cx="99" cy="74"/>
                  <a:chOff x="944" y="3665"/>
                  <a:chExt cx="99" cy="74"/>
                </a:xfrm>
              </p:grpSpPr>
              <p:grpSp>
                <p:nvGrpSpPr>
                  <p:cNvPr id="865" name="Group 2233"/>
                  <p:cNvGrpSpPr>
                    <a:grpSpLocks/>
                  </p:cNvGrpSpPr>
                  <p:nvPr/>
                </p:nvGrpSpPr>
                <p:grpSpPr bwMode="auto">
                  <a:xfrm>
                    <a:off x="944" y="3665"/>
                    <a:ext cx="49" cy="23"/>
                    <a:chOff x="944" y="3665"/>
                    <a:chExt cx="49" cy="23"/>
                  </a:xfrm>
                </p:grpSpPr>
                <p:sp>
                  <p:nvSpPr>
                    <p:cNvPr id="88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6" name="Group 2237"/>
                  <p:cNvGrpSpPr>
                    <a:grpSpLocks/>
                  </p:cNvGrpSpPr>
                  <p:nvPr/>
                </p:nvGrpSpPr>
                <p:grpSpPr bwMode="auto">
                  <a:xfrm>
                    <a:off x="957" y="3678"/>
                    <a:ext cx="48" cy="23"/>
                    <a:chOff x="957" y="3678"/>
                    <a:chExt cx="48" cy="23"/>
                  </a:xfrm>
                </p:grpSpPr>
                <p:sp>
                  <p:nvSpPr>
                    <p:cNvPr id="87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7" name="Group 2241"/>
                  <p:cNvGrpSpPr>
                    <a:grpSpLocks/>
                  </p:cNvGrpSpPr>
                  <p:nvPr/>
                </p:nvGrpSpPr>
                <p:grpSpPr bwMode="auto">
                  <a:xfrm>
                    <a:off x="969" y="3690"/>
                    <a:ext cx="49" cy="23"/>
                    <a:chOff x="969" y="3690"/>
                    <a:chExt cx="49" cy="23"/>
                  </a:xfrm>
                </p:grpSpPr>
                <p:sp>
                  <p:nvSpPr>
                    <p:cNvPr id="87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8" name="Group 2245"/>
                  <p:cNvGrpSpPr>
                    <a:grpSpLocks/>
                  </p:cNvGrpSpPr>
                  <p:nvPr/>
                </p:nvGrpSpPr>
                <p:grpSpPr bwMode="auto">
                  <a:xfrm>
                    <a:off x="982" y="3703"/>
                    <a:ext cx="49" cy="23"/>
                    <a:chOff x="982" y="3703"/>
                    <a:chExt cx="49" cy="23"/>
                  </a:xfrm>
                </p:grpSpPr>
                <p:sp>
                  <p:nvSpPr>
                    <p:cNvPr id="87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9" name="Group 2249"/>
                  <p:cNvGrpSpPr>
                    <a:grpSpLocks/>
                  </p:cNvGrpSpPr>
                  <p:nvPr/>
                </p:nvGrpSpPr>
                <p:grpSpPr bwMode="auto">
                  <a:xfrm>
                    <a:off x="995" y="3716"/>
                    <a:ext cx="48" cy="23"/>
                    <a:chOff x="995" y="3716"/>
                    <a:chExt cx="48" cy="23"/>
                  </a:xfrm>
                </p:grpSpPr>
                <p:sp>
                  <p:nvSpPr>
                    <p:cNvPr id="87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4" name="Group 2253"/>
                <p:cNvGrpSpPr>
                  <a:grpSpLocks/>
                </p:cNvGrpSpPr>
                <p:nvPr/>
              </p:nvGrpSpPr>
              <p:grpSpPr bwMode="auto">
                <a:xfrm>
                  <a:off x="1005" y="3727"/>
                  <a:ext cx="49" cy="23"/>
                  <a:chOff x="1005" y="3727"/>
                  <a:chExt cx="49" cy="23"/>
                </a:xfrm>
              </p:grpSpPr>
              <p:sp>
                <p:nvSpPr>
                  <p:cNvPr id="86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5" name="Group 2257"/>
                <p:cNvGrpSpPr>
                  <a:grpSpLocks/>
                </p:cNvGrpSpPr>
                <p:nvPr/>
              </p:nvGrpSpPr>
              <p:grpSpPr bwMode="auto">
                <a:xfrm>
                  <a:off x="1018" y="3740"/>
                  <a:ext cx="49" cy="22"/>
                  <a:chOff x="1018" y="3740"/>
                  <a:chExt cx="49" cy="22"/>
                </a:xfrm>
              </p:grpSpPr>
              <p:sp>
                <p:nvSpPr>
                  <p:cNvPr id="85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6" name="Group 2261"/>
                <p:cNvGrpSpPr>
                  <a:grpSpLocks/>
                </p:cNvGrpSpPr>
                <p:nvPr/>
              </p:nvGrpSpPr>
              <p:grpSpPr bwMode="auto">
                <a:xfrm>
                  <a:off x="1030" y="3753"/>
                  <a:ext cx="49" cy="23"/>
                  <a:chOff x="1030" y="3753"/>
                  <a:chExt cx="49" cy="23"/>
                </a:xfrm>
              </p:grpSpPr>
              <p:sp>
                <p:nvSpPr>
                  <p:cNvPr id="85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9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00" name="Group 2268"/>
                <p:cNvGrpSpPr>
                  <a:grpSpLocks/>
                </p:cNvGrpSpPr>
                <p:nvPr/>
              </p:nvGrpSpPr>
              <p:grpSpPr bwMode="auto">
                <a:xfrm>
                  <a:off x="790" y="3547"/>
                  <a:ext cx="49" cy="23"/>
                  <a:chOff x="790" y="3547"/>
                  <a:chExt cx="49" cy="23"/>
                </a:xfrm>
              </p:grpSpPr>
              <p:sp>
                <p:nvSpPr>
                  <p:cNvPr id="85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1" name="Group 2272"/>
                <p:cNvGrpSpPr>
                  <a:grpSpLocks/>
                </p:cNvGrpSpPr>
                <p:nvPr/>
              </p:nvGrpSpPr>
              <p:grpSpPr bwMode="auto">
                <a:xfrm>
                  <a:off x="803" y="3560"/>
                  <a:ext cx="49" cy="22"/>
                  <a:chOff x="803" y="3560"/>
                  <a:chExt cx="49" cy="22"/>
                </a:xfrm>
              </p:grpSpPr>
              <p:sp>
                <p:nvSpPr>
                  <p:cNvPr id="85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2" name="Group 2276"/>
                <p:cNvGrpSpPr>
                  <a:grpSpLocks/>
                </p:cNvGrpSpPr>
                <p:nvPr/>
              </p:nvGrpSpPr>
              <p:grpSpPr bwMode="auto">
                <a:xfrm>
                  <a:off x="815" y="3572"/>
                  <a:ext cx="50" cy="23"/>
                  <a:chOff x="815" y="3572"/>
                  <a:chExt cx="50" cy="23"/>
                </a:xfrm>
              </p:grpSpPr>
              <p:sp>
                <p:nvSpPr>
                  <p:cNvPr id="84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3" name="Group 2280"/>
                <p:cNvGrpSpPr>
                  <a:grpSpLocks/>
                </p:cNvGrpSpPr>
                <p:nvPr/>
              </p:nvGrpSpPr>
              <p:grpSpPr bwMode="auto">
                <a:xfrm>
                  <a:off x="828" y="3585"/>
                  <a:ext cx="49" cy="23"/>
                  <a:chOff x="828" y="3585"/>
                  <a:chExt cx="49" cy="23"/>
                </a:xfrm>
              </p:grpSpPr>
              <p:sp>
                <p:nvSpPr>
                  <p:cNvPr id="84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4" name="Group 2284"/>
                <p:cNvGrpSpPr>
                  <a:grpSpLocks/>
                </p:cNvGrpSpPr>
                <p:nvPr/>
              </p:nvGrpSpPr>
              <p:grpSpPr bwMode="auto">
                <a:xfrm>
                  <a:off x="840" y="3600"/>
                  <a:ext cx="100" cy="73"/>
                  <a:chOff x="840" y="3600"/>
                  <a:chExt cx="100" cy="73"/>
                </a:xfrm>
              </p:grpSpPr>
              <p:grpSp>
                <p:nvGrpSpPr>
                  <p:cNvPr id="824" name="Group 2285"/>
                  <p:cNvGrpSpPr>
                    <a:grpSpLocks/>
                  </p:cNvGrpSpPr>
                  <p:nvPr/>
                </p:nvGrpSpPr>
                <p:grpSpPr bwMode="auto">
                  <a:xfrm>
                    <a:off x="840" y="3600"/>
                    <a:ext cx="49" cy="23"/>
                    <a:chOff x="840" y="3600"/>
                    <a:chExt cx="49" cy="23"/>
                  </a:xfrm>
                </p:grpSpPr>
                <p:sp>
                  <p:nvSpPr>
                    <p:cNvPr id="84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5" name="Group 2289"/>
                  <p:cNvGrpSpPr>
                    <a:grpSpLocks/>
                  </p:cNvGrpSpPr>
                  <p:nvPr/>
                </p:nvGrpSpPr>
                <p:grpSpPr bwMode="auto">
                  <a:xfrm>
                    <a:off x="853" y="3612"/>
                    <a:ext cx="48" cy="23"/>
                    <a:chOff x="853" y="3612"/>
                    <a:chExt cx="48" cy="23"/>
                  </a:xfrm>
                </p:grpSpPr>
                <p:sp>
                  <p:nvSpPr>
                    <p:cNvPr id="83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6" name="Group 2293"/>
                  <p:cNvGrpSpPr>
                    <a:grpSpLocks/>
                  </p:cNvGrpSpPr>
                  <p:nvPr/>
                </p:nvGrpSpPr>
                <p:grpSpPr bwMode="auto">
                  <a:xfrm>
                    <a:off x="865" y="3625"/>
                    <a:ext cx="49" cy="23"/>
                    <a:chOff x="865" y="3625"/>
                    <a:chExt cx="49" cy="23"/>
                  </a:xfrm>
                </p:grpSpPr>
                <p:sp>
                  <p:nvSpPr>
                    <p:cNvPr id="83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7" name="Group 2297"/>
                  <p:cNvGrpSpPr>
                    <a:grpSpLocks/>
                  </p:cNvGrpSpPr>
                  <p:nvPr/>
                </p:nvGrpSpPr>
                <p:grpSpPr bwMode="auto">
                  <a:xfrm>
                    <a:off x="878" y="3638"/>
                    <a:ext cx="49" cy="22"/>
                    <a:chOff x="878" y="3638"/>
                    <a:chExt cx="49" cy="22"/>
                  </a:xfrm>
                </p:grpSpPr>
                <p:sp>
                  <p:nvSpPr>
                    <p:cNvPr id="83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8" name="Group 2301"/>
                  <p:cNvGrpSpPr>
                    <a:grpSpLocks/>
                  </p:cNvGrpSpPr>
                  <p:nvPr/>
                </p:nvGrpSpPr>
                <p:grpSpPr bwMode="auto">
                  <a:xfrm>
                    <a:off x="890" y="3651"/>
                    <a:ext cx="50" cy="22"/>
                    <a:chOff x="890" y="3651"/>
                    <a:chExt cx="50" cy="22"/>
                  </a:xfrm>
                </p:grpSpPr>
                <p:sp>
                  <p:nvSpPr>
                    <p:cNvPr id="82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5" name="Group 2305"/>
                <p:cNvGrpSpPr>
                  <a:grpSpLocks/>
                </p:cNvGrpSpPr>
                <p:nvPr/>
              </p:nvGrpSpPr>
              <p:grpSpPr bwMode="auto">
                <a:xfrm>
                  <a:off x="903" y="3665"/>
                  <a:ext cx="99" cy="74"/>
                  <a:chOff x="903" y="3665"/>
                  <a:chExt cx="99" cy="74"/>
                </a:xfrm>
              </p:grpSpPr>
              <p:grpSp>
                <p:nvGrpSpPr>
                  <p:cNvPr id="804" name="Group 2306"/>
                  <p:cNvGrpSpPr>
                    <a:grpSpLocks/>
                  </p:cNvGrpSpPr>
                  <p:nvPr/>
                </p:nvGrpSpPr>
                <p:grpSpPr bwMode="auto">
                  <a:xfrm>
                    <a:off x="903" y="3665"/>
                    <a:ext cx="49" cy="23"/>
                    <a:chOff x="903" y="3665"/>
                    <a:chExt cx="49" cy="23"/>
                  </a:xfrm>
                </p:grpSpPr>
                <p:sp>
                  <p:nvSpPr>
                    <p:cNvPr id="82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5" name="Group 2310"/>
                  <p:cNvGrpSpPr>
                    <a:grpSpLocks/>
                  </p:cNvGrpSpPr>
                  <p:nvPr/>
                </p:nvGrpSpPr>
                <p:grpSpPr bwMode="auto">
                  <a:xfrm>
                    <a:off x="914" y="3678"/>
                    <a:ext cx="49" cy="23"/>
                    <a:chOff x="914" y="3678"/>
                    <a:chExt cx="49" cy="23"/>
                  </a:xfrm>
                </p:grpSpPr>
                <p:sp>
                  <p:nvSpPr>
                    <p:cNvPr id="81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6" name="Group 2314"/>
                  <p:cNvGrpSpPr>
                    <a:grpSpLocks/>
                  </p:cNvGrpSpPr>
                  <p:nvPr/>
                </p:nvGrpSpPr>
                <p:grpSpPr bwMode="auto">
                  <a:xfrm>
                    <a:off x="928" y="3690"/>
                    <a:ext cx="48" cy="23"/>
                    <a:chOff x="928" y="3690"/>
                    <a:chExt cx="48" cy="23"/>
                  </a:xfrm>
                </p:grpSpPr>
                <p:sp>
                  <p:nvSpPr>
                    <p:cNvPr id="81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7" name="Group 2318"/>
                  <p:cNvGrpSpPr>
                    <a:grpSpLocks/>
                  </p:cNvGrpSpPr>
                  <p:nvPr/>
                </p:nvGrpSpPr>
                <p:grpSpPr bwMode="auto">
                  <a:xfrm>
                    <a:off x="940" y="3703"/>
                    <a:ext cx="49" cy="23"/>
                    <a:chOff x="940" y="3703"/>
                    <a:chExt cx="49" cy="23"/>
                  </a:xfrm>
                </p:grpSpPr>
                <p:sp>
                  <p:nvSpPr>
                    <p:cNvPr id="81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8" name="Group 2322"/>
                  <p:cNvGrpSpPr>
                    <a:grpSpLocks/>
                  </p:cNvGrpSpPr>
                  <p:nvPr/>
                </p:nvGrpSpPr>
                <p:grpSpPr bwMode="auto">
                  <a:xfrm>
                    <a:off x="953" y="3716"/>
                    <a:ext cx="49" cy="23"/>
                    <a:chOff x="953" y="3716"/>
                    <a:chExt cx="49" cy="23"/>
                  </a:xfrm>
                </p:grpSpPr>
                <p:sp>
                  <p:nvSpPr>
                    <p:cNvPr id="80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6" name="Group 2326"/>
                <p:cNvGrpSpPr>
                  <a:grpSpLocks/>
                </p:cNvGrpSpPr>
                <p:nvPr/>
              </p:nvGrpSpPr>
              <p:grpSpPr bwMode="auto">
                <a:xfrm>
                  <a:off x="963" y="3727"/>
                  <a:ext cx="49" cy="23"/>
                  <a:chOff x="963" y="3727"/>
                  <a:chExt cx="49" cy="23"/>
                </a:xfrm>
              </p:grpSpPr>
              <p:sp>
                <p:nvSpPr>
                  <p:cNvPr id="80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7" name="Group 2330"/>
                <p:cNvGrpSpPr>
                  <a:grpSpLocks/>
                </p:cNvGrpSpPr>
                <p:nvPr/>
              </p:nvGrpSpPr>
              <p:grpSpPr bwMode="auto">
                <a:xfrm>
                  <a:off x="976" y="3740"/>
                  <a:ext cx="50" cy="22"/>
                  <a:chOff x="976" y="3740"/>
                  <a:chExt cx="50" cy="22"/>
                </a:xfrm>
              </p:grpSpPr>
              <p:sp>
                <p:nvSpPr>
                  <p:cNvPr id="79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8" name="Group 2334"/>
                <p:cNvGrpSpPr>
                  <a:grpSpLocks/>
                </p:cNvGrpSpPr>
                <p:nvPr/>
              </p:nvGrpSpPr>
              <p:grpSpPr bwMode="auto">
                <a:xfrm>
                  <a:off x="761" y="3560"/>
                  <a:ext cx="50" cy="22"/>
                  <a:chOff x="761" y="3560"/>
                  <a:chExt cx="50" cy="22"/>
                </a:xfrm>
              </p:grpSpPr>
              <p:sp>
                <p:nvSpPr>
                  <p:cNvPr id="79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9" name="Group 2338"/>
                <p:cNvGrpSpPr>
                  <a:grpSpLocks/>
                </p:cNvGrpSpPr>
                <p:nvPr/>
              </p:nvGrpSpPr>
              <p:grpSpPr bwMode="auto">
                <a:xfrm>
                  <a:off x="774" y="3572"/>
                  <a:ext cx="49" cy="23"/>
                  <a:chOff x="774" y="3572"/>
                  <a:chExt cx="49" cy="23"/>
                </a:xfrm>
              </p:grpSpPr>
              <p:sp>
                <p:nvSpPr>
                  <p:cNvPr id="79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0" name="Group 2342"/>
                <p:cNvGrpSpPr>
                  <a:grpSpLocks/>
                </p:cNvGrpSpPr>
                <p:nvPr/>
              </p:nvGrpSpPr>
              <p:grpSpPr bwMode="auto">
                <a:xfrm>
                  <a:off x="787" y="3585"/>
                  <a:ext cx="49" cy="23"/>
                  <a:chOff x="787" y="3585"/>
                  <a:chExt cx="49" cy="23"/>
                </a:xfrm>
              </p:grpSpPr>
              <p:sp>
                <p:nvSpPr>
                  <p:cNvPr id="78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1" name="Group 2346"/>
                <p:cNvGrpSpPr>
                  <a:grpSpLocks/>
                </p:cNvGrpSpPr>
                <p:nvPr/>
              </p:nvGrpSpPr>
              <p:grpSpPr bwMode="auto">
                <a:xfrm>
                  <a:off x="799" y="3600"/>
                  <a:ext cx="99" cy="73"/>
                  <a:chOff x="799" y="3600"/>
                  <a:chExt cx="99" cy="73"/>
                </a:xfrm>
              </p:grpSpPr>
              <p:grpSp>
                <p:nvGrpSpPr>
                  <p:cNvPr id="769" name="Group 2347"/>
                  <p:cNvGrpSpPr>
                    <a:grpSpLocks/>
                  </p:cNvGrpSpPr>
                  <p:nvPr/>
                </p:nvGrpSpPr>
                <p:grpSpPr bwMode="auto">
                  <a:xfrm>
                    <a:off x="799" y="3600"/>
                    <a:ext cx="48" cy="23"/>
                    <a:chOff x="799" y="3600"/>
                    <a:chExt cx="48" cy="23"/>
                  </a:xfrm>
                </p:grpSpPr>
                <p:sp>
                  <p:nvSpPr>
                    <p:cNvPr id="78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0" name="Group 2351"/>
                  <p:cNvGrpSpPr>
                    <a:grpSpLocks/>
                  </p:cNvGrpSpPr>
                  <p:nvPr/>
                </p:nvGrpSpPr>
                <p:grpSpPr bwMode="auto">
                  <a:xfrm>
                    <a:off x="811" y="3612"/>
                    <a:ext cx="48" cy="23"/>
                    <a:chOff x="811" y="3612"/>
                    <a:chExt cx="48" cy="23"/>
                  </a:xfrm>
                </p:grpSpPr>
                <p:sp>
                  <p:nvSpPr>
                    <p:cNvPr id="78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1" name="Group 2355"/>
                  <p:cNvGrpSpPr>
                    <a:grpSpLocks/>
                  </p:cNvGrpSpPr>
                  <p:nvPr/>
                </p:nvGrpSpPr>
                <p:grpSpPr bwMode="auto">
                  <a:xfrm>
                    <a:off x="823" y="3625"/>
                    <a:ext cx="49" cy="23"/>
                    <a:chOff x="823" y="3625"/>
                    <a:chExt cx="49" cy="23"/>
                  </a:xfrm>
                </p:grpSpPr>
                <p:sp>
                  <p:nvSpPr>
                    <p:cNvPr id="78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2" name="Group 2359"/>
                  <p:cNvGrpSpPr>
                    <a:grpSpLocks/>
                  </p:cNvGrpSpPr>
                  <p:nvPr/>
                </p:nvGrpSpPr>
                <p:grpSpPr bwMode="auto">
                  <a:xfrm>
                    <a:off x="836" y="3638"/>
                    <a:ext cx="50" cy="22"/>
                    <a:chOff x="836" y="3638"/>
                    <a:chExt cx="50" cy="22"/>
                  </a:xfrm>
                </p:grpSpPr>
                <p:sp>
                  <p:nvSpPr>
                    <p:cNvPr id="77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3" name="Group 2363"/>
                  <p:cNvGrpSpPr>
                    <a:grpSpLocks/>
                  </p:cNvGrpSpPr>
                  <p:nvPr/>
                </p:nvGrpSpPr>
                <p:grpSpPr bwMode="auto">
                  <a:xfrm>
                    <a:off x="849" y="3651"/>
                    <a:ext cx="49" cy="22"/>
                    <a:chOff x="849" y="3651"/>
                    <a:chExt cx="49" cy="22"/>
                  </a:xfrm>
                </p:grpSpPr>
                <p:sp>
                  <p:nvSpPr>
                    <p:cNvPr id="77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2" name="Group 2367"/>
                <p:cNvGrpSpPr>
                  <a:grpSpLocks/>
                </p:cNvGrpSpPr>
                <p:nvPr/>
              </p:nvGrpSpPr>
              <p:grpSpPr bwMode="auto">
                <a:xfrm>
                  <a:off x="861" y="3665"/>
                  <a:ext cx="99" cy="74"/>
                  <a:chOff x="861" y="3665"/>
                  <a:chExt cx="99" cy="74"/>
                </a:xfrm>
              </p:grpSpPr>
              <p:grpSp>
                <p:nvGrpSpPr>
                  <p:cNvPr id="749" name="Group 2368"/>
                  <p:cNvGrpSpPr>
                    <a:grpSpLocks/>
                  </p:cNvGrpSpPr>
                  <p:nvPr/>
                </p:nvGrpSpPr>
                <p:grpSpPr bwMode="auto">
                  <a:xfrm>
                    <a:off x="861" y="3665"/>
                    <a:ext cx="50" cy="23"/>
                    <a:chOff x="861" y="3665"/>
                    <a:chExt cx="50" cy="23"/>
                  </a:xfrm>
                </p:grpSpPr>
                <p:sp>
                  <p:nvSpPr>
                    <p:cNvPr id="76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0" name="Group 2372"/>
                  <p:cNvGrpSpPr>
                    <a:grpSpLocks/>
                  </p:cNvGrpSpPr>
                  <p:nvPr/>
                </p:nvGrpSpPr>
                <p:grpSpPr bwMode="auto">
                  <a:xfrm>
                    <a:off x="873" y="3678"/>
                    <a:ext cx="49" cy="23"/>
                    <a:chOff x="873" y="3678"/>
                    <a:chExt cx="49" cy="23"/>
                  </a:xfrm>
                </p:grpSpPr>
                <p:sp>
                  <p:nvSpPr>
                    <p:cNvPr id="76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1" name="Group 2376"/>
                  <p:cNvGrpSpPr>
                    <a:grpSpLocks/>
                  </p:cNvGrpSpPr>
                  <p:nvPr/>
                </p:nvGrpSpPr>
                <p:grpSpPr bwMode="auto">
                  <a:xfrm>
                    <a:off x="886" y="3690"/>
                    <a:ext cx="49" cy="23"/>
                    <a:chOff x="886" y="3690"/>
                    <a:chExt cx="49" cy="23"/>
                  </a:xfrm>
                </p:grpSpPr>
                <p:sp>
                  <p:nvSpPr>
                    <p:cNvPr id="76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2" name="Group 2380"/>
                  <p:cNvGrpSpPr>
                    <a:grpSpLocks/>
                  </p:cNvGrpSpPr>
                  <p:nvPr/>
                </p:nvGrpSpPr>
                <p:grpSpPr bwMode="auto">
                  <a:xfrm>
                    <a:off x="899" y="3703"/>
                    <a:ext cx="48" cy="23"/>
                    <a:chOff x="899" y="3703"/>
                    <a:chExt cx="48" cy="23"/>
                  </a:xfrm>
                </p:grpSpPr>
                <p:sp>
                  <p:nvSpPr>
                    <p:cNvPr id="75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3" name="Group 2384"/>
                  <p:cNvGrpSpPr>
                    <a:grpSpLocks/>
                  </p:cNvGrpSpPr>
                  <p:nvPr/>
                </p:nvGrpSpPr>
                <p:grpSpPr bwMode="auto">
                  <a:xfrm>
                    <a:off x="912" y="3716"/>
                    <a:ext cx="48" cy="23"/>
                    <a:chOff x="912" y="3716"/>
                    <a:chExt cx="48" cy="23"/>
                  </a:xfrm>
                </p:grpSpPr>
                <p:sp>
                  <p:nvSpPr>
                    <p:cNvPr id="75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3" name="Group 2388"/>
                <p:cNvGrpSpPr>
                  <a:grpSpLocks/>
                </p:cNvGrpSpPr>
                <p:nvPr/>
              </p:nvGrpSpPr>
              <p:grpSpPr bwMode="auto">
                <a:xfrm>
                  <a:off x="922" y="3727"/>
                  <a:ext cx="49" cy="23"/>
                  <a:chOff x="922" y="3727"/>
                  <a:chExt cx="49" cy="23"/>
                </a:xfrm>
              </p:grpSpPr>
              <p:sp>
                <p:nvSpPr>
                  <p:cNvPr id="74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4" name="Group 2392"/>
                <p:cNvGrpSpPr>
                  <a:grpSpLocks/>
                </p:cNvGrpSpPr>
                <p:nvPr/>
              </p:nvGrpSpPr>
              <p:grpSpPr bwMode="auto">
                <a:xfrm>
                  <a:off x="895" y="3526"/>
                  <a:ext cx="44" cy="23"/>
                  <a:chOff x="895" y="3526"/>
                  <a:chExt cx="44" cy="23"/>
                </a:xfrm>
              </p:grpSpPr>
              <p:sp>
                <p:nvSpPr>
                  <p:cNvPr id="74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5" name="Group 2396"/>
                <p:cNvGrpSpPr>
                  <a:grpSpLocks/>
                </p:cNvGrpSpPr>
                <p:nvPr/>
              </p:nvGrpSpPr>
              <p:grpSpPr bwMode="auto">
                <a:xfrm>
                  <a:off x="907" y="3540"/>
                  <a:ext cx="45" cy="22"/>
                  <a:chOff x="907" y="3540"/>
                  <a:chExt cx="45" cy="22"/>
                </a:xfrm>
              </p:grpSpPr>
              <p:sp>
                <p:nvSpPr>
                  <p:cNvPr id="74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6" name="Group 2400"/>
                <p:cNvGrpSpPr>
                  <a:grpSpLocks/>
                </p:cNvGrpSpPr>
                <p:nvPr/>
              </p:nvGrpSpPr>
              <p:grpSpPr bwMode="auto">
                <a:xfrm>
                  <a:off x="920" y="3553"/>
                  <a:ext cx="45" cy="23"/>
                  <a:chOff x="920" y="3553"/>
                  <a:chExt cx="45" cy="23"/>
                </a:xfrm>
              </p:grpSpPr>
              <p:sp>
                <p:nvSpPr>
                  <p:cNvPr id="73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7" name="Group 2404"/>
                <p:cNvGrpSpPr>
                  <a:grpSpLocks/>
                </p:cNvGrpSpPr>
                <p:nvPr/>
              </p:nvGrpSpPr>
              <p:grpSpPr bwMode="auto">
                <a:xfrm>
                  <a:off x="934" y="3566"/>
                  <a:ext cx="44" cy="23"/>
                  <a:chOff x="934" y="3566"/>
                  <a:chExt cx="44" cy="23"/>
                </a:xfrm>
              </p:grpSpPr>
              <p:sp>
                <p:nvSpPr>
                  <p:cNvPr id="73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8" name="Group 2408"/>
                <p:cNvGrpSpPr>
                  <a:grpSpLocks/>
                </p:cNvGrpSpPr>
                <p:nvPr/>
              </p:nvGrpSpPr>
              <p:grpSpPr bwMode="auto">
                <a:xfrm>
                  <a:off x="949" y="3579"/>
                  <a:ext cx="83" cy="63"/>
                  <a:chOff x="949" y="3579"/>
                  <a:chExt cx="83" cy="63"/>
                </a:xfrm>
              </p:grpSpPr>
              <p:grpSp>
                <p:nvGrpSpPr>
                  <p:cNvPr id="718" name="Group 2409"/>
                  <p:cNvGrpSpPr>
                    <a:grpSpLocks/>
                  </p:cNvGrpSpPr>
                  <p:nvPr/>
                </p:nvGrpSpPr>
                <p:grpSpPr bwMode="auto">
                  <a:xfrm>
                    <a:off x="949" y="3579"/>
                    <a:ext cx="44" cy="23"/>
                    <a:chOff x="949" y="3579"/>
                    <a:chExt cx="44" cy="23"/>
                  </a:xfrm>
                </p:grpSpPr>
                <p:sp>
                  <p:nvSpPr>
                    <p:cNvPr id="73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19" name="Group 2413"/>
                  <p:cNvGrpSpPr>
                    <a:grpSpLocks/>
                  </p:cNvGrpSpPr>
                  <p:nvPr/>
                </p:nvGrpSpPr>
                <p:grpSpPr bwMode="auto">
                  <a:xfrm>
                    <a:off x="961" y="3592"/>
                    <a:ext cx="45" cy="23"/>
                    <a:chOff x="961" y="3592"/>
                    <a:chExt cx="45" cy="23"/>
                  </a:xfrm>
                </p:grpSpPr>
                <p:sp>
                  <p:nvSpPr>
                    <p:cNvPr id="72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0" name="Group 2417"/>
                  <p:cNvGrpSpPr>
                    <a:grpSpLocks/>
                  </p:cNvGrpSpPr>
                  <p:nvPr/>
                </p:nvGrpSpPr>
                <p:grpSpPr bwMode="auto">
                  <a:xfrm>
                    <a:off x="974" y="3606"/>
                    <a:ext cx="44" cy="23"/>
                    <a:chOff x="974" y="3606"/>
                    <a:chExt cx="44" cy="23"/>
                  </a:xfrm>
                </p:grpSpPr>
                <p:sp>
                  <p:nvSpPr>
                    <p:cNvPr id="72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1" name="Group 2421"/>
                  <p:cNvGrpSpPr>
                    <a:grpSpLocks/>
                  </p:cNvGrpSpPr>
                  <p:nvPr/>
                </p:nvGrpSpPr>
                <p:grpSpPr bwMode="auto">
                  <a:xfrm>
                    <a:off x="987" y="3619"/>
                    <a:ext cx="45" cy="23"/>
                    <a:chOff x="987" y="3619"/>
                    <a:chExt cx="45" cy="23"/>
                  </a:xfrm>
                </p:grpSpPr>
                <p:sp>
                  <p:nvSpPr>
                    <p:cNvPr id="72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9" name="Group 2425"/>
                <p:cNvGrpSpPr>
                  <a:grpSpLocks/>
                </p:cNvGrpSpPr>
                <p:nvPr/>
              </p:nvGrpSpPr>
              <p:grpSpPr bwMode="auto">
                <a:xfrm>
                  <a:off x="1002" y="3632"/>
                  <a:ext cx="83" cy="63"/>
                  <a:chOff x="1002" y="3632"/>
                  <a:chExt cx="83" cy="63"/>
                </a:xfrm>
              </p:grpSpPr>
              <p:grpSp>
                <p:nvGrpSpPr>
                  <p:cNvPr id="702" name="Group 2426"/>
                  <p:cNvGrpSpPr>
                    <a:grpSpLocks/>
                  </p:cNvGrpSpPr>
                  <p:nvPr/>
                </p:nvGrpSpPr>
                <p:grpSpPr bwMode="auto">
                  <a:xfrm>
                    <a:off x="1002" y="3632"/>
                    <a:ext cx="44" cy="22"/>
                    <a:chOff x="1002" y="3632"/>
                    <a:chExt cx="44" cy="22"/>
                  </a:xfrm>
                </p:grpSpPr>
                <p:sp>
                  <p:nvSpPr>
                    <p:cNvPr id="71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3" name="Group 2430"/>
                  <p:cNvGrpSpPr>
                    <a:grpSpLocks/>
                  </p:cNvGrpSpPr>
                  <p:nvPr/>
                </p:nvGrpSpPr>
                <p:grpSpPr bwMode="auto">
                  <a:xfrm>
                    <a:off x="1014" y="3645"/>
                    <a:ext cx="44" cy="23"/>
                    <a:chOff x="1014" y="3645"/>
                    <a:chExt cx="44" cy="23"/>
                  </a:xfrm>
                </p:grpSpPr>
                <p:sp>
                  <p:nvSpPr>
                    <p:cNvPr id="71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4" name="Group 2434"/>
                  <p:cNvGrpSpPr>
                    <a:grpSpLocks/>
                  </p:cNvGrpSpPr>
                  <p:nvPr/>
                </p:nvGrpSpPr>
                <p:grpSpPr bwMode="auto">
                  <a:xfrm>
                    <a:off x="1027" y="3659"/>
                    <a:ext cx="45" cy="23"/>
                    <a:chOff x="1027" y="3659"/>
                    <a:chExt cx="45" cy="23"/>
                  </a:xfrm>
                </p:grpSpPr>
                <p:sp>
                  <p:nvSpPr>
                    <p:cNvPr id="70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5" name="Group 2438"/>
                  <p:cNvGrpSpPr>
                    <a:grpSpLocks/>
                  </p:cNvGrpSpPr>
                  <p:nvPr/>
                </p:nvGrpSpPr>
                <p:grpSpPr bwMode="auto">
                  <a:xfrm>
                    <a:off x="1040" y="3672"/>
                    <a:ext cx="45" cy="23"/>
                    <a:chOff x="1040" y="3672"/>
                    <a:chExt cx="45" cy="23"/>
                  </a:xfrm>
                </p:grpSpPr>
                <p:sp>
                  <p:nvSpPr>
                    <p:cNvPr id="70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20" name="Group 2442"/>
                <p:cNvGrpSpPr>
                  <a:grpSpLocks/>
                </p:cNvGrpSpPr>
                <p:nvPr/>
              </p:nvGrpSpPr>
              <p:grpSpPr bwMode="auto">
                <a:xfrm>
                  <a:off x="1054" y="3685"/>
                  <a:ext cx="45" cy="23"/>
                  <a:chOff x="1054" y="3685"/>
                  <a:chExt cx="45" cy="23"/>
                </a:xfrm>
              </p:grpSpPr>
              <p:sp>
                <p:nvSpPr>
                  <p:cNvPr id="69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1" name="Group 2446"/>
                <p:cNvGrpSpPr>
                  <a:grpSpLocks/>
                </p:cNvGrpSpPr>
                <p:nvPr/>
              </p:nvGrpSpPr>
              <p:grpSpPr bwMode="auto">
                <a:xfrm>
                  <a:off x="1067" y="3698"/>
                  <a:ext cx="45" cy="23"/>
                  <a:chOff x="1067" y="3698"/>
                  <a:chExt cx="45" cy="23"/>
                </a:xfrm>
              </p:grpSpPr>
              <p:sp>
                <p:nvSpPr>
                  <p:cNvPr id="69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2" name="Group 2450"/>
                <p:cNvGrpSpPr>
                  <a:grpSpLocks/>
                </p:cNvGrpSpPr>
                <p:nvPr/>
              </p:nvGrpSpPr>
              <p:grpSpPr bwMode="auto">
                <a:xfrm>
                  <a:off x="1079" y="3712"/>
                  <a:ext cx="44" cy="23"/>
                  <a:chOff x="1079" y="3712"/>
                  <a:chExt cx="44" cy="23"/>
                </a:xfrm>
              </p:grpSpPr>
              <p:sp>
                <p:nvSpPr>
                  <p:cNvPr id="69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3" name="Group 2454"/>
                <p:cNvGrpSpPr>
                  <a:grpSpLocks/>
                </p:cNvGrpSpPr>
                <p:nvPr/>
              </p:nvGrpSpPr>
              <p:grpSpPr bwMode="auto">
                <a:xfrm>
                  <a:off x="1093" y="3725"/>
                  <a:ext cx="45" cy="23"/>
                  <a:chOff x="1093" y="3725"/>
                  <a:chExt cx="45" cy="23"/>
                </a:xfrm>
              </p:grpSpPr>
              <p:sp>
                <p:nvSpPr>
                  <p:cNvPr id="69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4" name="Group 2458"/>
                <p:cNvGrpSpPr>
                  <a:grpSpLocks/>
                </p:cNvGrpSpPr>
                <p:nvPr/>
              </p:nvGrpSpPr>
              <p:grpSpPr bwMode="auto">
                <a:xfrm>
                  <a:off x="1108" y="3739"/>
                  <a:ext cx="44" cy="23"/>
                  <a:chOff x="1108" y="3739"/>
                  <a:chExt cx="44" cy="23"/>
                </a:xfrm>
              </p:grpSpPr>
              <p:sp>
                <p:nvSpPr>
                  <p:cNvPr id="68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5" name="Group 2462"/>
                <p:cNvGrpSpPr>
                  <a:grpSpLocks/>
                </p:cNvGrpSpPr>
                <p:nvPr/>
              </p:nvGrpSpPr>
              <p:grpSpPr bwMode="auto">
                <a:xfrm>
                  <a:off x="1121" y="3753"/>
                  <a:ext cx="45" cy="23"/>
                  <a:chOff x="1121" y="3753"/>
                  <a:chExt cx="45" cy="23"/>
                </a:xfrm>
              </p:grpSpPr>
              <p:sp>
                <p:nvSpPr>
                  <p:cNvPr id="68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6" name="Group 2466"/>
                <p:cNvGrpSpPr>
                  <a:grpSpLocks/>
                </p:cNvGrpSpPr>
                <p:nvPr/>
              </p:nvGrpSpPr>
              <p:grpSpPr bwMode="auto">
                <a:xfrm>
                  <a:off x="1133" y="3767"/>
                  <a:ext cx="44" cy="23"/>
                  <a:chOff x="1133" y="3767"/>
                  <a:chExt cx="44" cy="23"/>
                </a:xfrm>
              </p:grpSpPr>
              <p:sp>
                <p:nvSpPr>
                  <p:cNvPr id="68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2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38" name="Group 2481"/>
                <p:cNvGrpSpPr>
                  <a:grpSpLocks/>
                </p:cNvGrpSpPr>
                <p:nvPr/>
              </p:nvGrpSpPr>
              <p:grpSpPr bwMode="auto">
                <a:xfrm>
                  <a:off x="700" y="3535"/>
                  <a:ext cx="49" cy="24"/>
                  <a:chOff x="700" y="3535"/>
                  <a:chExt cx="49" cy="24"/>
                </a:xfrm>
              </p:grpSpPr>
              <p:sp>
                <p:nvSpPr>
                  <p:cNvPr id="67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39" name="Group 2485"/>
                <p:cNvGrpSpPr>
                  <a:grpSpLocks/>
                </p:cNvGrpSpPr>
                <p:nvPr/>
              </p:nvGrpSpPr>
              <p:grpSpPr bwMode="auto">
                <a:xfrm>
                  <a:off x="714" y="3551"/>
                  <a:ext cx="49" cy="22"/>
                  <a:chOff x="714" y="3551"/>
                  <a:chExt cx="49" cy="22"/>
                </a:xfrm>
              </p:grpSpPr>
              <p:sp>
                <p:nvSpPr>
                  <p:cNvPr id="67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0" name="Group 2489"/>
                <p:cNvGrpSpPr>
                  <a:grpSpLocks/>
                </p:cNvGrpSpPr>
                <p:nvPr/>
              </p:nvGrpSpPr>
              <p:grpSpPr bwMode="auto">
                <a:xfrm>
                  <a:off x="728" y="3564"/>
                  <a:ext cx="48" cy="23"/>
                  <a:chOff x="728" y="3564"/>
                  <a:chExt cx="48" cy="23"/>
                </a:xfrm>
              </p:grpSpPr>
              <p:sp>
                <p:nvSpPr>
                  <p:cNvPr id="67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1" name="Group 2493"/>
                <p:cNvGrpSpPr>
                  <a:grpSpLocks/>
                </p:cNvGrpSpPr>
                <p:nvPr/>
              </p:nvGrpSpPr>
              <p:grpSpPr bwMode="auto">
                <a:xfrm>
                  <a:off x="742" y="3582"/>
                  <a:ext cx="49" cy="23"/>
                  <a:chOff x="742" y="3582"/>
                  <a:chExt cx="49" cy="23"/>
                </a:xfrm>
              </p:grpSpPr>
              <p:sp>
                <p:nvSpPr>
                  <p:cNvPr id="66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2" name="Group 2497"/>
                <p:cNvGrpSpPr>
                  <a:grpSpLocks/>
                </p:cNvGrpSpPr>
                <p:nvPr/>
              </p:nvGrpSpPr>
              <p:grpSpPr bwMode="auto">
                <a:xfrm>
                  <a:off x="752" y="3597"/>
                  <a:ext cx="133" cy="106"/>
                  <a:chOff x="752" y="3597"/>
                  <a:chExt cx="133" cy="106"/>
                </a:xfrm>
              </p:grpSpPr>
              <p:sp>
                <p:nvSpPr>
                  <p:cNvPr id="66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3" name="Group 2501"/>
                <p:cNvGrpSpPr>
                  <a:grpSpLocks/>
                </p:cNvGrpSpPr>
                <p:nvPr/>
              </p:nvGrpSpPr>
              <p:grpSpPr bwMode="auto">
                <a:xfrm>
                  <a:off x="844" y="3694"/>
                  <a:ext cx="48" cy="23"/>
                  <a:chOff x="844" y="3694"/>
                  <a:chExt cx="48" cy="23"/>
                </a:xfrm>
              </p:grpSpPr>
              <p:sp>
                <p:nvSpPr>
                  <p:cNvPr id="66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4" name="Group 2505"/>
                <p:cNvGrpSpPr>
                  <a:grpSpLocks/>
                </p:cNvGrpSpPr>
                <p:nvPr/>
              </p:nvGrpSpPr>
              <p:grpSpPr bwMode="auto">
                <a:xfrm>
                  <a:off x="857" y="3710"/>
                  <a:ext cx="49" cy="22"/>
                  <a:chOff x="857" y="3710"/>
                  <a:chExt cx="49" cy="22"/>
                </a:xfrm>
              </p:grpSpPr>
              <p:sp>
                <p:nvSpPr>
                  <p:cNvPr id="66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5" name="Group 2509"/>
                <p:cNvGrpSpPr>
                  <a:grpSpLocks/>
                </p:cNvGrpSpPr>
                <p:nvPr/>
              </p:nvGrpSpPr>
              <p:grpSpPr bwMode="auto">
                <a:xfrm>
                  <a:off x="1086" y="3766"/>
                  <a:ext cx="49" cy="23"/>
                  <a:chOff x="1086" y="3766"/>
                  <a:chExt cx="49" cy="23"/>
                </a:xfrm>
              </p:grpSpPr>
              <p:sp>
                <p:nvSpPr>
                  <p:cNvPr id="65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6" name="Group 2513"/>
                <p:cNvGrpSpPr>
                  <a:grpSpLocks/>
                </p:cNvGrpSpPr>
                <p:nvPr/>
              </p:nvGrpSpPr>
              <p:grpSpPr bwMode="auto">
                <a:xfrm>
                  <a:off x="934" y="3740"/>
                  <a:ext cx="48" cy="23"/>
                  <a:chOff x="934" y="3740"/>
                  <a:chExt cx="48" cy="23"/>
                </a:xfrm>
              </p:grpSpPr>
              <p:sp>
                <p:nvSpPr>
                  <p:cNvPr id="65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7" name="Group 2517"/>
                <p:cNvGrpSpPr>
                  <a:grpSpLocks/>
                </p:cNvGrpSpPr>
                <p:nvPr/>
              </p:nvGrpSpPr>
              <p:grpSpPr bwMode="auto">
                <a:xfrm>
                  <a:off x="943" y="3754"/>
                  <a:ext cx="49" cy="23"/>
                  <a:chOff x="943" y="3754"/>
                  <a:chExt cx="49" cy="23"/>
                </a:xfrm>
              </p:grpSpPr>
              <p:sp>
                <p:nvSpPr>
                  <p:cNvPr id="65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45" name="Group 2524"/>
              <p:cNvGrpSpPr>
                <a:grpSpLocks/>
              </p:cNvGrpSpPr>
              <p:nvPr/>
            </p:nvGrpSpPr>
            <p:grpSpPr bwMode="auto">
              <a:xfrm>
                <a:off x="920" y="3821"/>
                <a:ext cx="413" cy="50"/>
                <a:chOff x="920" y="3821"/>
                <a:chExt cx="413" cy="50"/>
              </a:xfrm>
            </p:grpSpPr>
            <p:sp>
              <p:nvSpPr>
                <p:cNvPr id="56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546" name="Group 2529"/>
              <p:cNvGrpSpPr>
                <a:grpSpLocks/>
              </p:cNvGrpSpPr>
              <p:nvPr/>
            </p:nvGrpSpPr>
            <p:grpSpPr bwMode="auto">
              <a:xfrm>
                <a:off x="1227" y="3477"/>
                <a:ext cx="508" cy="321"/>
                <a:chOff x="1227" y="3477"/>
                <a:chExt cx="508" cy="321"/>
              </a:xfrm>
            </p:grpSpPr>
            <p:sp>
              <p:nvSpPr>
                <p:cNvPr id="54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984" name="Group 2096"/>
            <p:cNvGrpSpPr>
              <a:grpSpLocks/>
            </p:cNvGrpSpPr>
            <p:nvPr/>
          </p:nvGrpSpPr>
          <p:grpSpPr bwMode="auto">
            <a:xfrm>
              <a:off x="5795963" y="1125538"/>
              <a:ext cx="431800" cy="330200"/>
              <a:chOff x="624" y="2968"/>
              <a:chExt cx="1331" cy="920"/>
            </a:xfrm>
          </p:grpSpPr>
          <p:sp>
            <p:nvSpPr>
              <p:cNvPr id="985"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6"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7"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8"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9"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0"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1"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2"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3"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4"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5"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6"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97" name="Group 2109"/>
              <p:cNvGrpSpPr>
                <a:grpSpLocks/>
              </p:cNvGrpSpPr>
              <p:nvPr/>
            </p:nvGrpSpPr>
            <p:grpSpPr bwMode="auto">
              <a:xfrm>
                <a:off x="700" y="3526"/>
                <a:ext cx="515" cy="270"/>
                <a:chOff x="700" y="3526"/>
                <a:chExt cx="515" cy="270"/>
              </a:xfrm>
            </p:grpSpPr>
            <p:grpSp>
              <p:nvGrpSpPr>
                <p:cNvPr id="1023" name="Group 2110"/>
                <p:cNvGrpSpPr>
                  <a:grpSpLocks/>
                </p:cNvGrpSpPr>
                <p:nvPr/>
              </p:nvGrpSpPr>
              <p:grpSpPr bwMode="auto">
                <a:xfrm>
                  <a:off x="737" y="3534"/>
                  <a:ext cx="49" cy="23"/>
                  <a:chOff x="737" y="3534"/>
                  <a:chExt cx="49" cy="23"/>
                </a:xfrm>
              </p:grpSpPr>
              <p:sp>
                <p:nvSpPr>
                  <p:cNvPr id="1434"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5"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6"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24" name="Group 2114"/>
                <p:cNvGrpSpPr>
                  <a:grpSpLocks/>
                </p:cNvGrpSpPr>
                <p:nvPr/>
              </p:nvGrpSpPr>
              <p:grpSpPr bwMode="auto">
                <a:xfrm>
                  <a:off x="748" y="3547"/>
                  <a:ext cx="50" cy="23"/>
                  <a:chOff x="748" y="3547"/>
                  <a:chExt cx="50" cy="23"/>
                </a:xfrm>
              </p:grpSpPr>
              <p:sp>
                <p:nvSpPr>
                  <p:cNvPr id="1431"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2"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3"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25"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6"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7"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8"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29" name="Group 2122"/>
                <p:cNvGrpSpPr>
                  <a:grpSpLocks/>
                </p:cNvGrpSpPr>
                <p:nvPr/>
              </p:nvGrpSpPr>
              <p:grpSpPr bwMode="auto">
                <a:xfrm>
                  <a:off x="872" y="3547"/>
                  <a:ext cx="50" cy="23"/>
                  <a:chOff x="872" y="3547"/>
                  <a:chExt cx="50" cy="23"/>
                </a:xfrm>
              </p:grpSpPr>
              <p:sp>
                <p:nvSpPr>
                  <p:cNvPr id="1428"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9"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0"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0" name="Group 2126"/>
                <p:cNvGrpSpPr>
                  <a:grpSpLocks/>
                </p:cNvGrpSpPr>
                <p:nvPr/>
              </p:nvGrpSpPr>
              <p:grpSpPr bwMode="auto">
                <a:xfrm>
                  <a:off x="885" y="3559"/>
                  <a:ext cx="50" cy="23"/>
                  <a:chOff x="885" y="3559"/>
                  <a:chExt cx="50" cy="23"/>
                </a:xfrm>
              </p:grpSpPr>
              <p:sp>
                <p:nvSpPr>
                  <p:cNvPr id="1425"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6"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7"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1" name="Group 2130"/>
                <p:cNvGrpSpPr>
                  <a:grpSpLocks/>
                </p:cNvGrpSpPr>
                <p:nvPr/>
              </p:nvGrpSpPr>
              <p:grpSpPr bwMode="auto">
                <a:xfrm>
                  <a:off x="898" y="3571"/>
                  <a:ext cx="49" cy="23"/>
                  <a:chOff x="898" y="3571"/>
                  <a:chExt cx="49" cy="23"/>
                </a:xfrm>
              </p:grpSpPr>
              <p:sp>
                <p:nvSpPr>
                  <p:cNvPr id="1422"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3"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4"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2" name="Group 2134"/>
                <p:cNvGrpSpPr>
                  <a:grpSpLocks/>
                </p:cNvGrpSpPr>
                <p:nvPr/>
              </p:nvGrpSpPr>
              <p:grpSpPr bwMode="auto">
                <a:xfrm>
                  <a:off x="911" y="3585"/>
                  <a:ext cx="49" cy="23"/>
                  <a:chOff x="911" y="3585"/>
                  <a:chExt cx="49" cy="23"/>
                </a:xfrm>
              </p:grpSpPr>
              <p:sp>
                <p:nvSpPr>
                  <p:cNvPr id="1419"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0"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1"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3" name="Group 2138"/>
                <p:cNvGrpSpPr>
                  <a:grpSpLocks/>
                </p:cNvGrpSpPr>
                <p:nvPr/>
              </p:nvGrpSpPr>
              <p:grpSpPr bwMode="auto">
                <a:xfrm>
                  <a:off x="923" y="3600"/>
                  <a:ext cx="99" cy="73"/>
                  <a:chOff x="923" y="3600"/>
                  <a:chExt cx="99" cy="73"/>
                </a:xfrm>
              </p:grpSpPr>
              <p:grpSp>
                <p:nvGrpSpPr>
                  <p:cNvPr id="1399" name="Group 2139"/>
                  <p:cNvGrpSpPr>
                    <a:grpSpLocks/>
                  </p:cNvGrpSpPr>
                  <p:nvPr/>
                </p:nvGrpSpPr>
                <p:grpSpPr bwMode="auto">
                  <a:xfrm>
                    <a:off x="923" y="3600"/>
                    <a:ext cx="49" cy="23"/>
                    <a:chOff x="923" y="3600"/>
                    <a:chExt cx="49" cy="23"/>
                  </a:xfrm>
                </p:grpSpPr>
                <p:sp>
                  <p:nvSpPr>
                    <p:cNvPr id="1416"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7"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8"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0" name="Group 2143"/>
                  <p:cNvGrpSpPr>
                    <a:grpSpLocks/>
                  </p:cNvGrpSpPr>
                  <p:nvPr/>
                </p:nvGrpSpPr>
                <p:grpSpPr bwMode="auto">
                  <a:xfrm>
                    <a:off x="935" y="3612"/>
                    <a:ext cx="48" cy="23"/>
                    <a:chOff x="935" y="3612"/>
                    <a:chExt cx="48" cy="23"/>
                  </a:xfrm>
                </p:grpSpPr>
                <p:sp>
                  <p:nvSpPr>
                    <p:cNvPr id="1413"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4"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5"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1" name="Group 2147"/>
                  <p:cNvGrpSpPr>
                    <a:grpSpLocks/>
                  </p:cNvGrpSpPr>
                  <p:nvPr/>
                </p:nvGrpSpPr>
                <p:grpSpPr bwMode="auto">
                  <a:xfrm>
                    <a:off x="947" y="3625"/>
                    <a:ext cx="50" cy="22"/>
                    <a:chOff x="947" y="3625"/>
                    <a:chExt cx="50" cy="22"/>
                  </a:xfrm>
                </p:grpSpPr>
                <p:sp>
                  <p:nvSpPr>
                    <p:cNvPr id="1410"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1"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2"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2" name="Group 2151"/>
                  <p:cNvGrpSpPr>
                    <a:grpSpLocks/>
                  </p:cNvGrpSpPr>
                  <p:nvPr/>
                </p:nvGrpSpPr>
                <p:grpSpPr bwMode="auto">
                  <a:xfrm>
                    <a:off x="960" y="3637"/>
                    <a:ext cx="50" cy="23"/>
                    <a:chOff x="960" y="3637"/>
                    <a:chExt cx="50" cy="23"/>
                  </a:xfrm>
                </p:grpSpPr>
                <p:sp>
                  <p:nvSpPr>
                    <p:cNvPr id="1407"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8"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9"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3" name="Group 2155"/>
                  <p:cNvGrpSpPr>
                    <a:grpSpLocks/>
                  </p:cNvGrpSpPr>
                  <p:nvPr/>
                </p:nvGrpSpPr>
                <p:grpSpPr bwMode="auto">
                  <a:xfrm>
                    <a:off x="973" y="3650"/>
                    <a:ext cx="49" cy="23"/>
                    <a:chOff x="973" y="3650"/>
                    <a:chExt cx="49" cy="23"/>
                  </a:xfrm>
                </p:grpSpPr>
                <p:sp>
                  <p:nvSpPr>
                    <p:cNvPr id="1404"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5"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6"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4" name="Group 2159"/>
                <p:cNvGrpSpPr>
                  <a:grpSpLocks/>
                </p:cNvGrpSpPr>
                <p:nvPr/>
              </p:nvGrpSpPr>
              <p:grpSpPr bwMode="auto">
                <a:xfrm>
                  <a:off x="985" y="3665"/>
                  <a:ext cx="100" cy="73"/>
                  <a:chOff x="985" y="3665"/>
                  <a:chExt cx="100" cy="73"/>
                </a:xfrm>
              </p:grpSpPr>
              <p:grpSp>
                <p:nvGrpSpPr>
                  <p:cNvPr id="1379" name="Group 2160"/>
                  <p:cNvGrpSpPr>
                    <a:grpSpLocks/>
                  </p:cNvGrpSpPr>
                  <p:nvPr/>
                </p:nvGrpSpPr>
                <p:grpSpPr bwMode="auto">
                  <a:xfrm>
                    <a:off x="985" y="3665"/>
                    <a:ext cx="50" cy="23"/>
                    <a:chOff x="985" y="3665"/>
                    <a:chExt cx="50" cy="23"/>
                  </a:xfrm>
                </p:grpSpPr>
                <p:sp>
                  <p:nvSpPr>
                    <p:cNvPr id="1396"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7"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8"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0" name="Group 2164"/>
                  <p:cNvGrpSpPr>
                    <a:grpSpLocks/>
                  </p:cNvGrpSpPr>
                  <p:nvPr/>
                </p:nvGrpSpPr>
                <p:grpSpPr bwMode="auto">
                  <a:xfrm>
                    <a:off x="997" y="3677"/>
                    <a:ext cx="49" cy="23"/>
                    <a:chOff x="997" y="3677"/>
                    <a:chExt cx="49" cy="23"/>
                  </a:xfrm>
                </p:grpSpPr>
                <p:sp>
                  <p:nvSpPr>
                    <p:cNvPr id="1393"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4"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5"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1" name="Group 2168"/>
                  <p:cNvGrpSpPr>
                    <a:grpSpLocks/>
                  </p:cNvGrpSpPr>
                  <p:nvPr/>
                </p:nvGrpSpPr>
                <p:grpSpPr bwMode="auto">
                  <a:xfrm>
                    <a:off x="1010" y="3690"/>
                    <a:ext cx="48" cy="23"/>
                    <a:chOff x="1010" y="3690"/>
                    <a:chExt cx="48" cy="23"/>
                  </a:xfrm>
                </p:grpSpPr>
                <p:sp>
                  <p:nvSpPr>
                    <p:cNvPr id="1390"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1"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2"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2" name="Group 2172"/>
                  <p:cNvGrpSpPr>
                    <a:grpSpLocks/>
                  </p:cNvGrpSpPr>
                  <p:nvPr/>
                </p:nvGrpSpPr>
                <p:grpSpPr bwMode="auto">
                  <a:xfrm>
                    <a:off x="1023" y="3703"/>
                    <a:ext cx="49" cy="22"/>
                    <a:chOff x="1023" y="3703"/>
                    <a:chExt cx="49" cy="22"/>
                  </a:xfrm>
                </p:grpSpPr>
                <p:sp>
                  <p:nvSpPr>
                    <p:cNvPr id="1387"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8"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9"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3" name="Group 2176"/>
                  <p:cNvGrpSpPr>
                    <a:grpSpLocks/>
                  </p:cNvGrpSpPr>
                  <p:nvPr/>
                </p:nvGrpSpPr>
                <p:grpSpPr bwMode="auto">
                  <a:xfrm>
                    <a:off x="1036" y="3716"/>
                    <a:ext cx="49" cy="22"/>
                    <a:chOff x="1036" y="3716"/>
                    <a:chExt cx="49" cy="22"/>
                  </a:xfrm>
                </p:grpSpPr>
                <p:sp>
                  <p:nvSpPr>
                    <p:cNvPr id="1384"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5"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6"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5" name="Group 2180"/>
                <p:cNvGrpSpPr>
                  <a:grpSpLocks/>
                </p:cNvGrpSpPr>
                <p:nvPr/>
              </p:nvGrpSpPr>
              <p:grpSpPr bwMode="auto">
                <a:xfrm>
                  <a:off x="1046" y="3727"/>
                  <a:ext cx="49" cy="23"/>
                  <a:chOff x="1046" y="3727"/>
                  <a:chExt cx="49" cy="23"/>
                </a:xfrm>
              </p:grpSpPr>
              <p:sp>
                <p:nvSpPr>
                  <p:cNvPr id="1376"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7"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8"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6" name="Group 2184"/>
                <p:cNvGrpSpPr>
                  <a:grpSpLocks/>
                </p:cNvGrpSpPr>
                <p:nvPr/>
              </p:nvGrpSpPr>
              <p:grpSpPr bwMode="auto">
                <a:xfrm>
                  <a:off x="1058" y="3739"/>
                  <a:ext cx="50" cy="23"/>
                  <a:chOff x="1058" y="3739"/>
                  <a:chExt cx="50" cy="23"/>
                </a:xfrm>
              </p:grpSpPr>
              <p:sp>
                <p:nvSpPr>
                  <p:cNvPr id="1373"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4"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5"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7" name="Group 2188"/>
                <p:cNvGrpSpPr>
                  <a:grpSpLocks/>
                </p:cNvGrpSpPr>
                <p:nvPr/>
              </p:nvGrpSpPr>
              <p:grpSpPr bwMode="auto">
                <a:xfrm>
                  <a:off x="1072" y="3753"/>
                  <a:ext cx="48" cy="22"/>
                  <a:chOff x="1072" y="3753"/>
                  <a:chExt cx="48" cy="22"/>
                </a:xfrm>
              </p:grpSpPr>
              <p:sp>
                <p:nvSpPr>
                  <p:cNvPr id="1370"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1"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2"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38"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39"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40"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41" name="Group 2195"/>
                <p:cNvGrpSpPr>
                  <a:grpSpLocks/>
                </p:cNvGrpSpPr>
                <p:nvPr/>
              </p:nvGrpSpPr>
              <p:grpSpPr bwMode="auto">
                <a:xfrm>
                  <a:off x="832" y="3547"/>
                  <a:ext cx="49" cy="23"/>
                  <a:chOff x="832" y="3547"/>
                  <a:chExt cx="49" cy="23"/>
                </a:xfrm>
              </p:grpSpPr>
              <p:sp>
                <p:nvSpPr>
                  <p:cNvPr id="1367"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8"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9"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2" name="Group 2199"/>
                <p:cNvGrpSpPr>
                  <a:grpSpLocks/>
                </p:cNvGrpSpPr>
                <p:nvPr/>
              </p:nvGrpSpPr>
              <p:grpSpPr bwMode="auto">
                <a:xfrm>
                  <a:off x="844" y="3560"/>
                  <a:ext cx="49" cy="22"/>
                  <a:chOff x="844" y="3560"/>
                  <a:chExt cx="49" cy="22"/>
                </a:xfrm>
              </p:grpSpPr>
              <p:sp>
                <p:nvSpPr>
                  <p:cNvPr id="1364"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5"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6"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3" name="Group 2203"/>
                <p:cNvGrpSpPr>
                  <a:grpSpLocks/>
                </p:cNvGrpSpPr>
                <p:nvPr/>
              </p:nvGrpSpPr>
              <p:grpSpPr bwMode="auto">
                <a:xfrm>
                  <a:off x="857" y="3572"/>
                  <a:ext cx="50" cy="23"/>
                  <a:chOff x="857" y="3572"/>
                  <a:chExt cx="50" cy="23"/>
                </a:xfrm>
              </p:grpSpPr>
              <p:sp>
                <p:nvSpPr>
                  <p:cNvPr id="1361"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2"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3"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4" name="Group 2207"/>
                <p:cNvGrpSpPr>
                  <a:grpSpLocks/>
                </p:cNvGrpSpPr>
                <p:nvPr/>
              </p:nvGrpSpPr>
              <p:grpSpPr bwMode="auto">
                <a:xfrm>
                  <a:off x="870" y="3585"/>
                  <a:ext cx="48" cy="23"/>
                  <a:chOff x="870" y="3585"/>
                  <a:chExt cx="48" cy="23"/>
                </a:xfrm>
              </p:grpSpPr>
              <p:sp>
                <p:nvSpPr>
                  <p:cNvPr id="1358"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9"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0"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5" name="Group 2211"/>
                <p:cNvGrpSpPr>
                  <a:grpSpLocks/>
                </p:cNvGrpSpPr>
                <p:nvPr/>
              </p:nvGrpSpPr>
              <p:grpSpPr bwMode="auto">
                <a:xfrm>
                  <a:off x="882" y="3600"/>
                  <a:ext cx="100" cy="73"/>
                  <a:chOff x="882" y="3600"/>
                  <a:chExt cx="100" cy="73"/>
                </a:xfrm>
              </p:grpSpPr>
              <p:grpSp>
                <p:nvGrpSpPr>
                  <p:cNvPr id="1338" name="Group 2212"/>
                  <p:cNvGrpSpPr>
                    <a:grpSpLocks/>
                  </p:cNvGrpSpPr>
                  <p:nvPr/>
                </p:nvGrpSpPr>
                <p:grpSpPr bwMode="auto">
                  <a:xfrm>
                    <a:off x="882" y="3600"/>
                    <a:ext cx="49" cy="23"/>
                    <a:chOff x="882" y="3600"/>
                    <a:chExt cx="49" cy="23"/>
                  </a:xfrm>
                </p:grpSpPr>
                <p:sp>
                  <p:nvSpPr>
                    <p:cNvPr id="1355"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6"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7"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9" name="Group 2216"/>
                  <p:cNvGrpSpPr>
                    <a:grpSpLocks/>
                  </p:cNvGrpSpPr>
                  <p:nvPr/>
                </p:nvGrpSpPr>
                <p:grpSpPr bwMode="auto">
                  <a:xfrm>
                    <a:off x="894" y="3612"/>
                    <a:ext cx="49" cy="23"/>
                    <a:chOff x="894" y="3612"/>
                    <a:chExt cx="49" cy="23"/>
                  </a:xfrm>
                </p:grpSpPr>
                <p:sp>
                  <p:nvSpPr>
                    <p:cNvPr id="1352"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3"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4"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0" name="Group 2220"/>
                  <p:cNvGrpSpPr>
                    <a:grpSpLocks/>
                  </p:cNvGrpSpPr>
                  <p:nvPr/>
                </p:nvGrpSpPr>
                <p:grpSpPr bwMode="auto">
                  <a:xfrm>
                    <a:off x="907" y="3625"/>
                    <a:ext cx="49" cy="23"/>
                    <a:chOff x="907" y="3625"/>
                    <a:chExt cx="49" cy="23"/>
                  </a:xfrm>
                </p:grpSpPr>
                <p:sp>
                  <p:nvSpPr>
                    <p:cNvPr id="1349"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0"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1"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1" name="Group 2224"/>
                  <p:cNvGrpSpPr>
                    <a:grpSpLocks/>
                  </p:cNvGrpSpPr>
                  <p:nvPr/>
                </p:nvGrpSpPr>
                <p:grpSpPr bwMode="auto">
                  <a:xfrm>
                    <a:off x="919" y="3638"/>
                    <a:ext cx="49" cy="22"/>
                    <a:chOff x="919" y="3638"/>
                    <a:chExt cx="49" cy="22"/>
                  </a:xfrm>
                </p:grpSpPr>
                <p:sp>
                  <p:nvSpPr>
                    <p:cNvPr id="1346"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7"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8"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2" name="Group 2228"/>
                  <p:cNvGrpSpPr>
                    <a:grpSpLocks/>
                  </p:cNvGrpSpPr>
                  <p:nvPr/>
                </p:nvGrpSpPr>
                <p:grpSpPr bwMode="auto">
                  <a:xfrm>
                    <a:off x="932" y="3651"/>
                    <a:ext cx="50" cy="22"/>
                    <a:chOff x="932" y="3651"/>
                    <a:chExt cx="50" cy="22"/>
                  </a:xfrm>
                </p:grpSpPr>
                <p:sp>
                  <p:nvSpPr>
                    <p:cNvPr id="1343"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4"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5"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6" name="Group 2232"/>
                <p:cNvGrpSpPr>
                  <a:grpSpLocks/>
                </p:cNvGrpSpPr>
                <p:nvPr/>
              </p:nvGrpSpPr>
              <p:grpSpPr bwMode="auto">
                <a:xfrm>
                  <a:off x="944" y="3665"/>
                  <a:ext cx="99" cy="74"/>
                  <a:chOff x="944" y="3665"/>
                  <a:chExt cx="99" cy="74"/>
                </a:xfrm>
              </p:grpSpPr>
              <p:grpSp>
                <p:nvGrpSpPr>
                  <p:cNvPr id="1318" name="Group 2233"/>
                  <p:cNvGrpSpPr>
                    <a:grpSpLocks/>
                  </p:cNvGrpSpPr>
                  <p:nvPr/>
                </p:nvGrpSpPr>
                <p:grpSpPr bwMode="auto">
                  <a:xfrm>
                    <a:off x="944" y="3665"/>
                    <a:ext cx="49" cy="23"/>
                    <a:chOff x="944" y="3665"/>
                    <a:chExt cx="49" cy="23"/>
                  </a:xfrm>
                </p:grpSpPr>
                <p:sp>
                  <p:nvSpPr>
                    <p:cNvPr id="1335"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6"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7"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9" name="Group 2237"/>
                  <p:cNvGrpSpPr>
                    <a:grpSpLocks/>
                  </p:cNvGrpSpPr>
                  <p:nvPr/>
                </p:nvGrpSpPr>
                <p:grpSpPr bwMode="auto">
                  <a:xfrm>
                    <a:off x="957" y="3678"/>
                    <a:ext cx="48" cy="23"/>
                    <a:chOff x="957" y="3678"/>
                    <a:chExt cx="48" cy="23"/>
                  </a:xfrm>
                </p:grpSpPr>
                <p:sp>
                  <p:nvSpPr>
                    <p:cNvPr id="1332"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3"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4"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0" name="Group 2241"/>
                  <p:cNvGrpSpPr>
                    <a:grpSpLocks/>
                  </p:cNvGrpSpPr>
                  <p:nvPr/>
                </p:nvGrpSpPr>
                <p:grpSpPr bwMode="auto">
                  <a:xfrm>
                    <a:off x="969" y="3690"/>
                    <a:ext cx="49" cy="23"/>
                    <a:chOff x="969" y="3690"/>
                    <a:chExt cx="49" cy="23"/>
                  </a:xfrm>
                </p:grpSpPr>
                <p:sp>
                  <p:nvSpPr>
                    <p:cNvPr id="1329"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0"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1"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1" name="Group 2245"/>
                  <p:cNvGrpSpPr>
                    <a:grpSpLocks/>
                  </p:cNvGrpSpPr>
                  <p:nvPr/>
                </p:nvGrpSpPr>
                <p:grpSpPr bwMode="auto">
                  <a:xfrm>
                    <a:off x="982" y="3703"/>
                    <a:ext cx="49" cy="23"/>
                    <a:chOff x="982" y="3703"/>
                    <a:chExt cx="49" cy="23"/>
                  </a:xfrm>
                </p:grpSpPr>
                <p:sp>
                  <p:nvSpPr>
                    <p:cNvPr id="1326"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7"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8"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2" name="Group 2249"/>
                  <p:cNvGrpSpPr>
                    <a:grpSpLocks/>
                  </p:cNvGrpSpPr>
                  <p:nvPr/>
                </p:nvGrpSpPr>
                <p:grpSpPr bwMode="auto">
                  <a:xfrm>
                    <a:off x="995" y="3716"/>
                    <a:ext cx="48" cy="23"/>
                    <a:chOff x="995" y="3716"/>
                    <a:chExt cx="48" cy="23"/>
                  </a:xfrm>
                </p:grpSpPr>
                <p:sp>
                  <p:nvSpPr>
                    <p:cNvPr id="1323"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4"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5"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7" name="Group 2253"/>
                <p:cNvGrpSpPr>
                  <a:grpSpLocks/>
                </p:cNvGrpSpPr>
                <p:nvPr/>
              </p:nvGrpSpPr>
              <p:grpSpPr bwMode="auto">
                <a:xfrm>
                  <a:off x="1005" y="3727"/>
                  <a:ext cx="49" cy="23"/>
                  <a:chOff x="1005" y="3727"/>
                  <a:chExt cx="49" cy="23"/>
                </a:xfrm>
              </p:grpSpPr>
              <p:sp>
                <p:nvSpPr>
                  <p:cNvPr id="1315"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6"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7"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8" name="Group 2257"/>
                <p:cNvGrpSpPr>
                  <a:grpSpLocks/>
                </p:cNvGrpSpPr>
                <p:nvPr/>
              </p:nvGrpSpPr>
              <p:grpSpPr bwMode="auto">
                <a:xfrm>
                  <a:off x="1018" y="3740"/>
                  <a:ext cx="49" cy="22"/>
                  <a:chOff x="1018" y="3740"/>
                  <a:chExt cx="49" cy="22"/>
                </a:xfrm>
              </p:grpSpPr>
              <p:sp>
                <p:nvSpPr>
                  <p:cNvPr id="1312"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3"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4"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9" name="Group 2261"/>
                <p:cNvGrpSpPr>
                  <a:grpSpLocks/>
                </p:cNvGrpSpPr>
                <p:nvPr/>
              </p:nvGrpSpPr>
              <p:grpSpPr bwMode="auto">
                <a:xfrm>
                  <a:off x="1030" y="3753"/>
                  <a:ext cx="49" cy="23"/>
                  <a:chOff x="1030" y="3753"/>
                  <a:chExt cx="49" cy="23"/>
                </a:xfrm>
              </p:grpSpPr>
              <p:sp>
                <p:nvSpPr>
                  <p:cNvPr id="1309"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0"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1"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50"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1"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2"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53" name="Group 2268"/>
                <p:cNvGrpSpPr>
                  <a:grpSpLocks/>
                </p:cNvGrpSpPr>
                <p:nvPr/>
              </p:nvGrpSpPr>
              <p:grpSpPr bwMode="auto">
                <a:xfrm>
                  <a:off x="790" y="3547"/>
                  <a:ext cx="49" cy="23"/>
                  <a:chOff x="790" y="3547"/>
                  <a:chExt cx="49" cy="23"/>
                </a:xfrm>
              </p:grpSpPr>
              <p:sp>
                <p:nvSpPr>
                  <p:cNvPr id="1306"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7"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8"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4" name="Group 2272"/>
                <p:cNvGrpSpPr>
                  <a:grpSpLocks/>
                </p:cNvGrpSpPr>
                <p:nvPr/>
              </p:nvGrpSpPr>
              <p:grpSpPr bwMode="auto">
                <a:xfrm>
                  <a:off x="803" y="3560"/>
                  <a:ext cx="49" cy="22"/>
                  <a:chOff x="803" y="3560"/>
                  <a:chExt cx="49" cy="22"/>
                </a:xfrm>
              </p:grpSpPr>
              <p:sp>
                <p:nvSpPr>
                  <p:cNvPr id="1303"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4"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5"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5" name="Group 2276"/>
                <p:cNvGrpSpPr>
                  <a:grpSpLocks/>
                </p:cNvGrpSpPr>
                <p:nvPr/>
              </p:nvGrpSpPr>
              <p:grpSpPr bwMode="auto">
                <a:xfrm>
                  <a:off x="815" y="3572"/>
                  <a:ext cx="50" cy="23"/>
                  <a:chOff x="815" y="3572"/>
                  <a:chExt cx="50" cy="23"/>
                </a:xfrm>
              </p:grpSpPr>
              <p:sp>
                <p:nvSpPr>
                  <p:cNvPr id="1300"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1"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2"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6" name="Group 2280"/>
                <p:cNvGrpSpPr>
                  <a:grpSpLocks/>
                </p:cNvGrpSpPr>
                <p:nvPr/>
              </p:nvGrpSpPr>
              <p:grpSpPr bwMode="auto">
                <a:xfrm>
                  <a:off x="828" y="3585"/>
                  <a:ext cx="49" cy="23"/>
                  <a:chOff x="828" y="3585"/>
                  <a:chExt cx="49" cy="23"/>
                </a:xfrm>
              </p:grpSpPr>
              <p:sp>
                <p:nvSpPr>
                  <p:cNvPr id="1297"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8"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9"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7" name="Group 2284"/>
                <p:cNvGrpSpPr>
                  <a:grpSpLocks/>
                </p:cNvGrpSpPr>
                <p:nvPr/>
              </p:nvGrpSpPr>
              <p:grpSpPr bwMode="auto">
                <a:xfrm>
                  <a:off x="840" y="3600"/>
                  <a:ext cx="100" cy="73"/>
                  <a:chOff x="840" y="3600"/>
                  <a:chExt cx="100" cy="73"/>
                </a:xfrm>
              </p:grpSpPr>
              <p:grpSp>
                <p:nvGrpSpPr>
                  <p:cNvPr id="1277" name="Group 2285"/>
                  <p:cNvGrpSpPr>
                    <a:grpSpLocks/>
                  </p:cNvGrpSpPr>
                  <p:nvPr/>
                </p:nvGrpSpPr>
                <p:grpSpPr bwMode="auto">
                  <a:xfrm>
                    <a:off x="840" y="3600"/>
                    <a:ext cx="49" cy="23"/>
                    <a:chOff x="840" y="3600"/>
                    <a:chExt cx="49" cy="23"/>
                  </a:xfrm>
                </p:grpSpPr>
                <p:sp>
                  <p:nvSpPr>
                    <p:cNvPr id="1294"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5"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6"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8" name="Group 2289"/>
                  <p:cNvGrpSpPr>
                    <a:grpSpLocks/>
                  </p:cNvGrpSpPr>
                  <p:nvPr/>
                </p:nvGrpSpPr>
                <p:grpSpPr bwMode="auto">
                  <a:xfrm>
                    <a:off x="853" y="3612"/>
                    <a:ext cx="48" cy="23"/>
                    <a:chOff x="853" y="3612"/>
                    <a:chExt cx="48" cy="23"/>
                  </a:xfrm>
                </p:grpSpPr>
                <p:sp>
                  <p:nvSpPr>
                    <p:cNvPr id="1291"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2"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3"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9" name="Group 2293"/>
                  <p:cNvGrpSpPr>
                    <a:grpSpLocks/>
                  </p:cNvGrpSpPr>
                  <p:nvPr/>
                </p:nvGrpSpPr>
                <p:grpSpPr bwMode="auto">
                  <a:xfrm>
                    <a:off x="865" y="3625"/>
                    <a:ext cx="49" cy="23"/>
                    <a:chOff x="865" y="3625"/>
                    <a:chExt cx="49" cy="23"/>
                  </a:xfrm>
                </p:grpSpPr>
                <p:sp>
                  <p:nvSpPr>
                    <p:cNvPr id="1288"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9"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0"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0" name="Group 2297"/>
                  <p:cNvGrpSpPr>
                    <a:grpSpLocks/>
                  </p:cNvGrpSpPr>
                  <p:nvPr/>
                </p:nvGrpSpPr>
                <p:grpSpPr bwMode="auto">
                  <a:xfrm>
                    <a:off x="878" y="3638"/>
                    <a:ext cx="49" cy="22"/>
                    <a:chOff x="878" y="3638"/>
                    <a:chExt cx="49" cy="22"/>
                  </a:xfrm>
                </p:grpSpPr>
                <p:sp>
                  <p:nvSpPr>
                    <p:cNvPr id="1285"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6"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7"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1" name="Group 2301"/>
                  <p:cNvGrpSpPr>
                    <a:grpSpLocks/>
                  </p:cNvGrpSpPr>
                  <p:nvPr/>
                </p:nvGrpSpPr>
                <p:grpSpPr bwMode="auto">
                  <a:xfrm>
                    <a:off x="890" y="3651"/>
                    <a:ext cx="50" cy="22"/>
                    <a:chOff x="890" y="3651"/>
                    <a:chExt cx="50" cy="22"/>
                  </a:xfrm>
                </p:grpSpPr>
                <p:sp>
                  <p:nvSpPr>
                    <p:cNvPr id="1282"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3"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4"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8" name="Group 2305"/>
                <p:cNvGrpSpPr>
                  <a:grpSpLocks/>
                </p:cNvGrpSpPr>
                <p:nvPr/>
              </p:nvGrpSpPr>
              <p:grpSpPr bwMode="auto">
                <a:xfrm>
                  <a:off x="903" y="3665"/>
                  <a:ext cx="99" cy="74"/>
                  <a:chOff x="903" y="3665"/>
                  <a:chExt cx="99" cy="74"/>
                </a:xfrm>
              </p:grpSpPr>
              <p:grpSp>
                <p:nvGrpSpPr>
                  <p:cNvPr id="1257" name="Group 2306"/>
                  <p:cNvGrpSpPr>
                    <a:grpSpLocks/>
                  </p:cNvGrpSpPr>
                  <p:nvPr/>
                </p:nvGrpSpPr>
                <p:grpSpPr bwMode="auto">
                  <a:xfrm>
                    <a:off x="903" y="3665"/>
                    <a:ext cx="49" cy="23"/>
                    <a:chOff x="903" y="3665"/>
                    <a:chExt cx="49" cy="23"/>
                  </a:xfrm>
                </p:grpSpPr>
                <p:sp>
                  <p:nvSpPr>
                    <p:cNvPr id="1274"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5"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6"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8" name="Group 2310"/>
                  <p:cNvGrpSpPr>
                    <a:grpSpLocks/>
                  </p:cNvGrpSpPr>
                  <p:nvPr/>
                </p:nvGrpSpPr>
                <p:grpSpPr bwMode="auto">
                  <a:xfrm>
                    <a:off x="914" y="3678"/>
                    <a:ext cx="49" cy="23"/>
                    <a:chOff x="914" y="3678"/>
                    <a:chExt cx="49" cy="23"/>
                  </a:xfrm>
                </p:grpSpPr>
                <p:sp>
                  <p:nvSpPr>
                    <p:cNvPr id="1271"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2"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3"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9" name="Group 2314"/>
                  <p:cNvGrpSpPr>
                    <a:grpSpLocks/>
                  </p:cNvGrpSpPr>
                  <p:nvPr/>
                </p:nvGrpSpPr>
                <p:grpSpPr bwMode="auto">
                  <a:xfrm>
                    <a:off x="928" y="3690"/>
                    <a:ext cx="48" cy="23"/>
                    <a:chOff x="928" y="3690"/>
                    <a:chExt cx="48" cy="23"/>
                  </a:xfrm>
                </p:grpSpPr>
                <p:sp>
                  <p:nvSpPr>
                    <p:cNvPr id="1268"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9"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0"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0" name="Group 2318"/>
                  <p:cNvGrpSpPr>
                    <a:grpSpLocks/>
                  </p:cNvGrpSpPr>
                  <p:nvPr/>
                </p:nvGrpSpPr>
                <p:grpSpPr bwMode="auto">
                  <a:xfrm>
                    <a:off x="940" y="3703"/>
                    <a:ext cx="49" cy="23"/>
                    <a:chOff x="940" y="3703"/>
                    <a:chExt cx="49" cy="23"/>
                  </a:xfrm>
                </p:grpSpPr>
                <p:sp>
                  <p:nvSpPr>
                    <p:cNvPr id="1265"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6"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7"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1" name="Group 2322"/>
                  <p:cNvGrpSpPr>
                    <a:grpSpLocks/>
                  </p:cNvGrpSpPr>
                  <p:nvPr/>
                </p:nvGrpSpPr>
                <p:grpSpPr bwMode="auto">
                  <a:xfrm>
                    <a:off x="953" y="3716"/>
                    <a:ext cx="49" cy="23"/>
                    <a:chOff x="953" y="3716"/>
                    <a:chExt cx="49" cy="23"/>
                  </a:xfrm>
                </p:grpSpPr>
                <p:sp>
                  <p:nvSpPr>
                    <p:cNvPr id="1262"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3"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4"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9" name="Group 2326"/>
                <p:cNvGrpSpPr>
                  <a:grpSpLocks/>
                </p:cNvGrpSpPr>
                <p:nvPr/>
              </p:nvGrpSpPr>
              <p:grpSpPr bwMode="auto">
                <a:xfrm>
                  <a:off x="963" y="3727"/>
                  <a:ext cx="49" cy="23"/>
                  <a:chOff x="963" y="3727"/>
                  <a:chExt cx="49" cy="23"/>
                </a:xfrm>
              </p:grpSpPr>
              <p:sp>
                <p:nvSpPr>
                  <p:cNvPr id="1254"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5"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6"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0" name="Group 2330"/>
                <p:cNvGrpSpPr>
                  <a:grpSpLocks/>
                </p:cNvGrpSpPr>
                <p:nvPr/>
              </p:nvGrpSpPr>
              <p:grpSpPr bwMode="auto">
                <a:xfrm>
                  <a:off x="976" y="3740"/>
                  <a:ext cx="50" cy="22"/>
                  <a:chOff x="976" y="3740"/>
                  <a:chExt cx="50" cy="22"/>
                </a:xfrm>
              </p:grpSpPr>
              <p:sp>
                <p:nvSpPr>
                  <p:cNvPr id="1251"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2"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3"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1" name="Group 2334"/>
                <p:cNvGrpSpPr>
                  <a:grpSpLocks/>
                </p:cNvGrpSpPr>
                <p:nvPr/>
              </p:nvGrpSpPr>
              <p:grpSpPr bwMode="auto">
                <a:xfrm>
                  <a:off x="761" y="3560"/>
                  <a:ext cx="50" cy="22"/>
                  <a:chOff x="761" y="3560"/>
                  <a:chExt cx="50" cy="22"/>
                </a:xfrm>
              </p:grpSpPr>
              <p:sp>
                <p:nvSpPr>
                  <p:cNvPr id="1248"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9"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0"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2" name="Group 2338"/>
                <p:cNvGrpSpPr>
                  <a:grpSpLocks/>
                </p:cNvGrpSpPr>
                <p:nvPr/>
              </p:nvGrpSpPr>
              <p:grpSpPr bwMode="auto">
                <a:xfrm>
                  <a:off x="774" y="3572"/>
                  <a:ext cx="49" cy="23"/>
                  <a:chOff x="774" y="3572"/>
                  <a:chExt cx="49" cy="23"/>
                </a:xfrm>
              </p:grpSpPr>
              <p:sp>
                <p:nvSpPr>
                  <p:cNvPr id="1245"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6"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7"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3" name="Group 2342"/>
                <p:cNvGrpSpPr>
                  <a:grpSpLocks/>
                </p:cNvGrpSpPr>
                <p:nvPr/>
              </p:nvGrpSpPr>
              <p:grpSpPr bwMode="auto">
                <a:xfrm>
                  <a:off x="787" y="3585"/>
                  <a:ext cx="49" cy="23"/>
                  <a:chOff x="787" y="3585"/>
                  <a:chExt cx="49" cy="23"/>
                </a:xfrm>
              </p:grpSpPr>
              <p:sp>
                <p:nvSpPr>
                  <p:cNvPr id="1242"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3"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4"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4" name="Group 2346"/>
                <p:cNvGrpSpPr>
                  <a:grpSpLocks/>
                </p:cNvGrpSpPr>
                <p:nvPr/>
              </p:nvGrpSpPr>
              <p:grpSpPr bwMode="auto">
                <a:xfrm>
                  <a:off x="799" y="3600"/>
                  <a:ext cx="99" cy="73"/>
                  <a:chOff x="799" y="3600"/>
                  <a:chExt cx="99" cy="73"/>
                </a:xfrm>
              </p:grpSpPr>
              <p:grpSp>
                <p:nvGrpSpPr>
                  <p:cNvPr id="1222" name="Group 2347"/>
                  <p:cNvGrpSpPr>
                    <a:grpSpLocks/>
                  </p:cNvGrpSpPr>
                  <p:nvPr/>
                </p:nvGrpSpPr>
                <p:grpSpPr bwMode="auto">
                  <a:xfrm>
                    <a:off x="799" y="3600"/>
                    <a:ext cx="48" cy="23"/>
                    <a:chOff x="799" y="3600"/>
                    <a:chExt cx="48" cy="23"/>
                  </a:xfrm>
                </p:grpSpPr>
                <p:sp>
                  <p:nvSpPr>
                    <p:cNvPr id="1239"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0"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1"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3" name="Group 2351"/>
                  <p:cNvGrpSpPr>
                    <a:grpSpLocks/>
                  </p:cNvGrpSpPr>
                  <p:nvPr/>
                </p:nvGrpSpPr>
                <p:grpSpPr bwMode="auto">
                  <a:xfrm>
                    <a:off x="811" y="3612"/>
                    <a:ext cx="48" cy="23"/>
                    <a:chOff x="811" y="3612"/>
                    <a:chExt cx="48" cy="23"/>
                  </a:xfrm>
                </p:grpSpPr>
                <p:sp>
                  <p:nvSpPr>
                    <p:cNvPr id="1236"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7"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8"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4" name="Group 2355"/>
                  <p:cNvGrpSpPr>
                    <a:grpSpLocks/>
                  </p:cNvGrpSpPr>
                  <p:nvPr/>
                </p:nvGrpSpPr>
                <p:grpSpPr bwMode="auto">
                  <a:xfrm>
                    <a:off x="823" y="3625"/>
                    <a:ext cx="49" cy="23"/>
                    <a:chOff x="823" y="3625"/>
                    <a:chExt cx="49" cy="23"/>
                  </a:xfrm>
                </p:grpSpPr>
                <p:sp>
                  <p:nvSpPr>
                    <p:cNvPr id="1233"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4"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5"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5" name="Group 2359"/>
                  <p:cNvGrpSpPr>
                    <a:grpSpLocks/>
                  </p:cNvGrpSpPr>
                  <p:nvPr/>
                </p:nvGrpSpPr>
                <p:grpSpPr bwMode="auto">
                  <a:xfrm>
                    <a:off x="836" y="3638"/>
                    <a:ext cx="50" cy="22"/>
                    <a:chOff x="836" y="3638"/>
                    <a:chExt cx="50" cy="22"/>
                  </a:xfrm>
                </p:grpSpPr>
                <p:sp>
                  <p:nvSpPr>
                    <p:cNvPr id="1230"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1"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2"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6" name="Group 2363"/>
                  <p:cNvGrpSpPr>
                    <a:grpSpLocks/>
                  </p:cNvGrpSpPr>
                  <p:nvPr/>
                </p:nvGrpSpPr>
                <p:grpSpPr bwMode="auto">
                  <a:xfrm>
                    <a:off x="849" y="3651"/>
                    <a:ext cx="49" cy="22"/>
                    <a:chOff x="849" y="3651"/>
                    <a:chExt cx="49" cy="22"/>
                  </a:xfrm>
                </p:grpSpPr>
                <p:sp>
                  <p:nvSpPr>
                    <p:cNvPr id="1227"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8"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9"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5" name="Group 2367"/>
                <p:cNvGrpSpPr>
                  <a:grpSpLocks/>
                </p:cNvGrpSpPr>
                <p:nvPr/>
              </p:nvGrpSpPr>
              <p:grpSpPr bwMode="auto">
                <a:xfrm>
                  <a:off x="861" y="3665"/>
                  <a:ext cx="99" cy="74"/>
                  <a:chOff x="861" y="3665"/>
                  <a:chExt cx="99" cy="74"/>
                </a:xfrm>
              </p:grpSpPr>
              <p:grpSp>
                <p:nvGrpSpPr>
                  <p:cNvPr id="1202" name="Group 2368"/>
                  <p:cNvGrpSpPr>
                    <a:grpSpLocks/>
                  </p:cNvGrpSpPr>
                  <p:nvPr/>
                </p:nvGrpSpPr>
                <p:grpSpPr bwMode="auto">
                  <a:xfrm>
                    <a:off x="861" y="3665"/>
                    <a:ext cx="50" cy="23"/>
                    <a:chOff x="861" y="3665"/>
                    <a:chExt cx="50" cy="23"/>
                  </a:xfrm>
                </p:grpSpPr>
                <p:sp>
                  <p:nvSpPr>
                    <p:cNvPr id="1219"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0"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1"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3" name="Group 2372"/>
                  <p:cNvGrpSpPr>
                    <a:grpSpLocks/>
                  </p:cNvGrpSpPr>
                  <p:nvPr/>
                </p:nvGrpSpPr>
                <p:grpSpPr bwMode="auto">
                  <a:xfrm>
                    <a:off x="873" y="3678"/>
                    <a:ext cx="49" cy="23"/>
                    <a:chOff x="873" y="3678"/>
                    <a:chExt cx="49" cy="23"/>
                  </a:xfrm>
                </p:grpSpPr>
                <p:sp>
                  <p:nvSpPr>
                    <p:cNvPr id="1216"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7"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8"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4" name="Group 2376"/>
                  <p:cNvGrpSpPr>
                    <a:grpSpLocks/>
                  </p:cNvGrpSpPr>
                  <p:nvPr/>
                </p:nvGrpSpPr>
                <p:grpSpPr bwMode="auto">
                  <a:xfrm>
                    <a:off x="886" y="3690"/>
                    <a:ext cx="49" cy="23"/>
                    <a:chOff x="886" y="3690"/>
                    <a:chExt cx="49" cy="23"/>
                  </a:xfrm>
                </p:grpSpPr>
                <p:sp>
                  <p:nvSpPr>
                    <p:cNvPr id="1213"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4"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5"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5" name="Group 2380"/>
                  <p:cNvGrpSpPr>
                    <a:grpSpLocks/>
                  </p:cNvGrpSpPr>
                  <p:nvPr/>
                </p:nvGrpSpPr>
                <p:grpSpPr bwMode="auto">
                  <a:xfrm>
                    <a:off x="899" y="3703"/>
                    <a:ext cx="48" cy="23"/>
                    <a:chOff x="899" y="3703"/>
                    <a:chExt cx="48" cy="23"/>
                  </a:xfrm>
                </p:grpSpPr>
                <p:sp>
                  <p:nvSpPr>
                    <p:cNvPr id="1210"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1"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2"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6" name="Group 2384"/>
                  <p:cNvGrpSpPr>
                    <a:grpSpLocks/>
                  </p:cNvGrpSpPr>
                  <p:nvPr/>
                </p:nvGrpSpPr>
                <p:grpSpPr bwMode="auto">
                  <a:xfrm>
                    <a:off x="912" y="3716"/>
                    <a:ext cx="48" cy="23"/>
                    <a:chOff x="912" y="3716"/>
                    <a:chExt cx="48" cy="23"/>
                  </a:xfrm>
                </p:grpSpPr>
                <p:sp>
                  <p:nvSpPr>
                    <p:cNvPr id="1207"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8"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9"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6" name="Group 2388"/>
                <p:cNvGrpSpPr>
                  <a:grpSpLocks/>
                </p:cNvGrpSpPr>
                <p:nvPr/>
              </p:nvGrpSpPr>
              <p:grpSpPr bwMode="auto">
                <a:xfrm>
                  <a:off x="922" y="3727"/>
                  <a:ext cx="49" cy="23"/>
                  <a:chOff x="922" y="3727"/>
                  <a:chExt cx="49" cy="23"/>
                </a:xfrm>
              </p:grpSpPr>
              <p:sp>
                <p:nvSpPr>
                  <p:cNvPr id="1199"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0"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1"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7" name="Group 2392"/>
                <p:cNvGrpSpPr>
                  <a:grpSpLocks/>
                </p:cNvGrpSpPr>
                <p:nvPr/>
              </p:nvGrpSpPr>
              <p:grpSpPr bwMode="auto">
                <a:xfrm>
                  <a:off x="895" y="3526"/>
                  <a:ext cx="44" cy="23"/>
                  <a:chOff x="895" y="3526"/>
                  <a:chExt cx="44" cy="23"/>
                </a:xfrm>
              </p:grpSpPr>
              <p:sp>
                <p:nvSpPr>
                  <p:cNvPr id="1196"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7"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8"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8" name="Group 2396"/>
                <p:cNvGrpSpPr>
                  <a:grpSpLocks/>
                </p:cNvGrpSpPr>
                <p:nvPr/>
              </p:nvGrpSpPr>
              <p:grpSpPr bwMode="auto">
                <a:xfrm>
                  <a:off x="907" y="3540"/>
                  <a:ext cx="45" cy="22"/>
                  <a:chOff x="907" y="3540"/>
                  <a:chExt cx="45" cy="22"/>
                </a:xfrm>
              </p:grpSpPr>
              <p:sp>
                <p:nvSpPr>
                  <p:cNvPr id="1193"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4"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5"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9" name="Group 2400"/>
                <p:cNvGrpSpPr>
                  <a:grpSpLocks/>
                </p:cNvGrpSpPr>
                <p:nvPr/>
              </p:nvGrpSpPr>
              <p:grpSpPr bwMode="auto">
                <a:xfrm>
                  <a:off x="920" y="3553"/>
                  <a:ext cx="45" cy="23"/>
                  <a:chOff x="920" y="3553"/>
                  <a:chExt cx="45" cy="23"/>
                </a:xfrm>
              </p:grpSpPr>
              <p:sp>
                <p:nvSpPr>
                  <p:cNvPr id="1190"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1"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2"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0" name="Group 2404"/>
                <p:cNvGrpSpPr>
                  <a:grpSpLocks/>
                </p:cNvGrpSpPr>
                <p:nvPr/>
              </p:nvGrpSpPr>
              <p:grpSpPr bwMode="auto">
                <a:xfrm>
                  <a:off x="934" y="3566"/>
                  <a:ext cx="44" cy="23"/>
                  <a:chOff x="934" y="3566"/>
                  <a:chExt cx="44" cy="23"/>
                </a:xfrm>
              </p:grpSpPr>
              <p:sp>
                <p:nvSpPr>
                  <p:cNvPr id="1187"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8"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9"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1" name="Group 2408"/>
                <p:cNvGrpSpPr>
                  <a:grpSpLocks/>
                </p:cNvGrpSpPr>
                <p:nvPr/>
              </p:nvGrpSpPr>
              <p:grpSpPr bwMode="auto">
                <a:xfrm>
                  <a:off x="949" y="3579"/>
                  <a:ext cx="83" cy="63"/>
                  <a:chOff x="949" y="3579"/>
                  <a:chExt cx="83" cy="63"/>
                </a:xfrm>
              </p:grpSpPr>
              <p:grpSp>
                <p:nvGrpSpPr>
                  <p:cNvPr id="1171" name="Group 2409"/>
                  <p:cNvGrpSpPr>
                    <a:grpSpLocks/>
                  </p:cNvGrpSpPr>
                  <p:nvPr/>
                </p:nvGrpSpPr>
                <p:grpSpPr bwMode="auto">
                  <a:xfrm>
                    <a:off x="949" y="3579"/>
                    <a:ext cx="44" cy="23"/>
                    <a:chOff x="949" y="3579"/>
                    <a:chExt cx="44" cy="23"/>
                  </a:xfrm>
                </p:grpSpPr>
                <p:sp>
                  <p:nvSpPr>
                    <p:cNvPr id="1184"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5"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6"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2" name="Group 2413"/>
                  <p:cNvGrpSpPr>
                    <a:grpSpLocks/>
                  </p:cNvGrpSpPr>
                  <p:nvPr/>
                </p:nvGrpSpPr>
                <p:grpSpPr bwMode="auto">
                  <a:xfrm>
                    <a:off x="961" y="3592"/>
                    <a:ext cx="45" cy="23"/>
                    <a:chOff x="961" y="3592"/>
                    <a:chExt cx="45" cy="23"/>
                  </a:xfrm>
                </p:grpSpPr>
                <p:sp>
                  <p:nvSpPr>
                    <p:cNvPr id="1181"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2"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3"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3" name="Group 2417"/>
                  <p:cNvGrpSpPr>
                    <a:grpSpLocks/>
                  </p:cNvGrpSpPr>
                  <p:nvPr/>
                </p:nvGrpSpPr>
                <p:grpSpPr bwMode="auto">
                  <a:xfrm>
                    <a:off x="974" y="3606"/>
                    <a:ext cx="44" cy="23"/>
                    <a:chOff x="974" y="3606"/>
                    <a:chExt cx="44" cy="23"/>
                  </a:xfrm>
                </p:grpSpPr>
                <p:sp>
                  <p:nvSpPr>
                    <p:cNvPr id="1178"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9"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0"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4" name="Group 2421"/>
                  <p:cNvGrpSpPr>
                    <a:grpSpLocks/>
                  </p:cNvGrpSpPr>
                  <p:nvPr/>
                </p:nvGrpSpPr>
                <p:grpSpPr bwMode="auto">
                  <a:xfrm>
                    <a:off x="987" y="3619"/>
                    <a:ext cx="45" cy="23"/>
                    <a:chOff x="987" y="3619"/>
                    <a:chExt cx="45" cy="23"/>
                  </a:xfrm>
                </p:grpSpPr>
                <p:sp>
                  <p:nvSpPr>
                    <p:cNvPr id="1175"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6"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7"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2" name="Group 2425"/>
                <p:cNvGrpSpPr>
                  <a:grpSpLocks/>
                </p:cNvGrpSpPr>
                <p:nvPr/>
              </p:nvGrpSpPr>
              <p:grpSpPr bwMode="auto">
                <a:xfrm>
                  <a:off x="1002" y="3632"/>
                  <a:ext cx="83" cy="63"/>
                  <a:chOff x="1002" y="3632"/>
                  <a:chExt cx="83" cy="63"/>
                </a:xfrm>
              </p:grpSpPr>
              <p:grpSp>
                <p:nvGrpSpPr>
                  <p:cNvPr id="1155" name="Group 2426"/>
                  <p:cNvGrpSpPr>
                    <a:grpSpLocks/>
                  </p:cNvGrpSpPr>
                  <p:nvPr/>
                </p:nvGrpSpPr>
                <p:grpSpPr bwMode="auto">
                  <a:xfrm>
                    <a:off x="1002" y="3632"/>
                    <a:ext cx="44" cy="22"/>
                    <a:chOff x="1002" y="3632"/>
                    <a:chExt cx="44" cy="22"/>
                  </a:xfrm>
                </p:grpSpPr>
                <p:sp>
                  <p:nvSpPr>
                    <p:cNvPr id="1168"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9"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0"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6" name="Group 2430"/>
                  <p:cNvGrpSpPr>
                    <a:grpSpLocks/>
                  </p:cNvGrpSpPr>
                  <p:nvPr/>
                </p:nvGrpSpPr>
                <p:grpSpPr bwMode="auto">
                  <a:xfrm>
                    <a:off x="1014" y="3645"/>
                    <a:ext cx="44" cy="23"/>
                    <a:chOff x="1014" y="3645"/>
                    <a:chExt cx="44" cy="23"/>
                  </a:xfrm>
                </p:grpSpPr>
                <p:sp>
                  <p:nvSpPr>
                    <p:cNvPr id="1165"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6"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7"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7" name="Group 2434"/>
                  <p:cNvGrpSpPr>
                    <a:grpSpLocks/>
                  </p:cNvGrpSpPr>
                  <p:nvPr/>
                </p:nvGrpSpPr>
                <p:grpSpPr bwMode="auto">
                  <a:xfrm>
                    <a:off x="1027" y="3659"/>
                    <a:ext cx="45" cy="23"/>
                    <a:chOff x="1027" y="3659"/>
                    <a:chExt cx="45" cy="23"/>
                  </a:xfrm>
                </p:grpSpPr>
                <p:sp>
                  <p:nvSpPr>
                    <p:cNvPr id="1162"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3"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4"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8" name="Group 2438"/>
                  <p:cNvGrpSpPr>
                    <a:grpSpLocks/>
                  </p:cNvGrpSpPr>
                  <p:nvPr/>
                </p:nvGrpSpPr>
                <p:grpSpPr bwMode="auto">
                  <a:xfrm>
                    <a:off x="1040" y="3672"/>
                    <a:ext cx="45" cy="23"/>
                    <a:chOff x="1040" y="3672"/>
                    <a:chExt cx="45" cy="23"/>
                  </a:xfrm>
                </p:grpSpPr>
                <p:sp>
                  <p:nvSpPr>
                    <p:cNvPr id="1159"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0"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1"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3" name="Group 2442"/>
                <p:cNvGrpSpPr>
                  <a:grpSpLocks/>
                </p:cNvGrpSpPr>
                <p:nvPr/>
              </p:nvGrpSpPr>
              <p:grpSpPr bwMode="auto">
                <a:xfrm>
                  <a:off x="1054" y="3685"/>
                  <a:ext cx="45" cy="23"/>
                  <a:chOff x="1054" y="3685"/>
                  <a:chExt cx="45" cy="23"/>
                </a:xfrm>
              </p:grpSpPr>
              <p:sp>
                <p:nvSpPr>
                  <p:cNvPr id="1152"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3"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4"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4" name="Group 2446"/>
                <p:cNvGrpSpPr>
                  <a:grpSpLocks/>
                </p:cNvGrpSpPr>
                <p:nvPr/>
              </p:nvGrpSpPr>
              <p:grpSpPr bwMode="auto">
                <a:xfrm>
                  <a:off x="1067" y="3698"/>
                  <a:ext cx="45" cy="23"/>
                  <a:chOff x="1067" y="3698"/>
                  <a:chExt cx="45" cy="23"/>
                </a:xfrm>
              </p:grpSpPr>
              <p:sp>
                <p:nvSpPr>
                  <p:cNvPr id="1149"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0"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1"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5" name="Group 2450"/>
                <p:cNvGrpSpPr>
                  <a:grpSpLocks/>
                </p:cNvGrpSpPr>
                <p:nvPr/>
              </p:nvGrpSpPr>
              <p:grpSpPr bwMode="auto">
                <a:xfrm>
                  <a:off x="1079" y="3712"/>
                  <a:ext cx="44" cy="23"/>
                  <a:chOff x="1079" y="3712"/>
                  <a:chExt cx="44" cy="23"/>
                </a:xfrm>
              </p:grpSpPr>
              <p:sp>
                <p:nvSpPr>
                  <p:cNvPr id="1146"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7"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8"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6" name="Group 2454"/>
                <p:cNvGrpSpPr>
                  <a:grpSpLocks/>
                </p:cNvGrpSpPr>
                <p:nvPr/>
              </p:nvGrpSpPr>
              <p:grpSpPr bwMode="auto">
                <a:xfrm>
                  <a:off x="1093" y="3725"/>
                  <a:ext cx="45" cy="23"/>
                  <a:chOff x="1093" y="3725"/>
                  <a:chExt cx="45" cy="23"/>
                </a:xfrm>
              </p:grpSpPr>
              <p:sp>
                <p:nvSpPr>
                  <p:cNvPr id="1143"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4"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5"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7" name="Group 2458"/>
                <p:cNvGrpSpPr>
                  <a:grpSpLocks/>
                </p:cNvGrpSpPr>
                <p:nvPr/>
              </p:nvGrpSpPr>
              <p:grpSpPr bwMode="auto">
                <a:xfrm>
                  <a:off x="1108" y="3739"/>
                  <a:ext cx="44" cy="23"/>
                  <a:chOff x="1108" y="3739"/>
                  <a:chExt cx="44" cy="23"/>
                </a:xfrm>
              </p:grpSpPr>
              <p:sp>
                <p:nvSpPr>
                  <p:cNvPr id="1140"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1"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2"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8" name="Group 2462"/>
                <p:cNvGrpSpPr>
                  <a:grpSpLocks/>
                </p:cNvGrpSpPr>
                <p:nvPr/>
              </p:nvGrpSpPr>
              <p:grpSpPr bwMode="auto">
                <a:xfrm>
                  <a:off x="1121" y="3753"/>
                  <a:ext cx="45" cy="23"/>
                  <a:chOff x="1121" y="3753"/>
                  <a:chExt cx="45" cy="23"/>
                </a:xfrm>
              </p:grpSpPr>
              <p:sp>
                <p:nvSpPr>
                  <p:cNvPr id="1137"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8"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9"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9" name="Group 2466"/>
                <p:cNvGrpSpPr>
                  <a:grpSpLocks/>
                </p:cNvGrpSpPr>
                <p:nvPr/>
              </p:nvGrpSpPr>
              <p:grpSpPr bwMode="auto">
                <a:xfrm>
                  <a:off x="1133" y="3767"/>
                  <a:ext cx="44" cy="23"/>
                  <a:chOff x="1133" y="3767"/>
                  <a:chExt cx="44" cy="23"/>
                </a:xfrm>
              </p:grpSpPr>
              <p:sp>
                <p:nvSpPr>
                  <p:cNvPr id="1134"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5"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6"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80"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1"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2"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3"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4"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5"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6"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7"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8"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9"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90"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91" name="Group 2481"/>
                <p:cNvGrpSpPr>
                  <a:grpSpLocks/>
                </p:cNvGrpSpPr>
                <p:nvPr/>
              </p:nvGrpSpPr>
              <p:grpSpPr bwMode="auto">
                <a:xfrm>
                  <a:off x="700" y="3535"/>
                  <a:ext cx="49" cy="24"/>
                  <a:chOff x="700" y="3535"/>
                  <a:chExt cx="49" cy="24"/>
                </a:xfrm>
              </p:grpSpPr>
              <p:sp>
                <p:nvSpPr>
                  <p:cNvPr id="1131"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2"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3"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2" name="Group 2485"/>
                <p:cNvGrpSpPr>
                  <a:grpSpLocks/>
                </p:cNvGrpSpPr>
                <p:nvPr/>
              </p:nvGrpSpPr>
              <p:grpSpPr bwMode="auto">
                <a:xfrm>
                  <a:off x="714" y="3551"/>
                  <a:ext cx="49" cy="22"/>
                  <a:chOff x="714" y="3551"/>
                  <a:chExt cx="49" cy="22"/>
                </a:xfrm>
              </p:grpSpPr>
              <p:sp>
                <p:nvSpPr>
                  <p:cNvPr id="1128"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9"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0"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3" name="Group 2489"/>
                <p:cNvGrpSpPr>
                  <a:grpSpLocks/>
                </p:cNvGrpSpPr>
                <p:nvPr/>
              </p:nvGrpSpPr>
              <p:grpSpPr bwMode="auto">
                <a:xfrm>
                  <a:off x="728" y="3564"/>
                  <a:ext cx="48" cy="23"/>
                  <a:chOff x="728" y="3564"/>
                  <a:chExt cx="48" cy="23"/>
                </a:xfrm>
              </p:grpSpPr>
              <p:sp>
                <p:nvSpPr>
                  <p:cNvPr id="1125"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6"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7"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4" name="Group 2493"/>
                <p:cNvGrpSpPr>
                  <a:grpSpLocks/>
                </p:cNvGrpSpPr>
                <p:nvPr/>
              </p:nvGrpSpPr>
              <p:grpSpPr bwMode="auto">
                <a:xfrm>
                  <a:off x="742" y="3582"/>
                  <a:ext cx="49" cy="23"/>
                  <a:chOff x="742" y="3582"/>
                  <a:chExt cx="49" cy="23"/>
                </a:xfrm>
              </p:grpSpPr>
              <p:sp>
                <p:nvSpPr>
                  <p:cNvPr id="1122"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3"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4"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5" name="Group 2497"/>
                <p:cNvGrpSpPr>
                  <a:grpSpLocks/>
                </p:cNvGrpSpPr>
                <p:nvPr/>
              </p:nvGrpSpPr>
              <p:grpSpPr bwMode="auto">
                <a:xfrm>
                  <a:off x="752" y="3597"/>
                  <a:ext cx="133" cy="106"/>
                  <a:chOff x="752" y="3597"/>
                  <a:chExt cx="133" cy="106"/>
                </a:xfrm>
              </p:grpSpPr>
              <p:sp>
                <p:nvSpPr>
                  <p:cNvPr id="1119"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0"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1"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6" name="Group 2501"/>
                <p:cNvGrpSpPr>
                  <a:grpSpLocks/>
                </p:cNvGrpSpPr>
                <p:nvPr/>
              </p:nvGrpSpPr>
              <p:grpSpPr bwMode="auto">
                <a:xfrm>
                  <a:off x="844" y="3694"/>
                  <a:ext cx="48" cy="23"/>
                  <a:chOff x="844" y="3694"/>
                  <a:chExt cx="48" cy="23"/>
                </a:xfrm>
              </p:grpSpPr>
              <p:sp>
                <p:nvSpPr>
                  <p:cNvPr id="1116"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7"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8"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7" name="Group 2505"/>
                <p:cNvGrpSpPr>
                  <a:grpSpLocks/>
                </p:cNvGrpSpPr>
                <p:nvPr/>
              </p:nvGrpSpPr>
              <p:grpSpPr bwMode="auto">
                <a:xfrm>
                  <a:off x="857" y="3710"/>
                  <a:ext cx="49" cy="22"/>
                  <a:chOff x="857" y="3710"/>
                  <a:chExt cx="49" cy="22"/>
                </a:xfrm>
              </p:grpSpPr>
              <p:sp>
                <p:nvSpPr>
                  <p:cNvPr id="1113"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4"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5"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8" name="Group 2509"/>
                <p:cNvGrpSpPr>
                  <a:grpSpLocks/>
                </p:cNvGrpSpPr>
                <p:nvPr/>
              </p:nvGrpSpPr>
              <p:grpSpPr bwMode="auto">
                <a:xfrm>
                  <a:off x="1086" y="3766"/>
                  <a:ext cx="49" cy="23"/>
                  <a:chOff x="1086" y="3766"/>
                  <a:chExt cx="49" cy="23"/>
                </a:xfrm>
              </p:grpSpPr>
              <p:sp>
                <p:nvSpPr>
                  <p:cNvPr id="1110"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1"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2"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9" name="Group 2513"/>
                <p:cNvGrpSpPr>
                  <a:grpSpLocks/>
                </p:cNvGrpSpPr>
                <p:nvPr/>
              </p:nvGrpSpPr>
              <p:grpSpPr bwMode="auto">
                <a:xfrm>
                  <a:off x="934" y="3740"/>
                  <a:ext cx="48" cy="23"/>
                  <a:chOff x="934" y="3740"/>
                  <a:chExt cx="48" cy="23"/>
                </a:xfrm>
              </p:grpSpPr>
              <p:sp>
                <p:nvSpPr>
                  <p:cNvPr id="1107"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8"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9"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0" name="Group 2517"/>
                <p:cNvGrpSpPr>
                  <a:grpSpLocks/>
                </p:cNvGrpSpPr>
                <p:nvPr/>
              </p:nvGrpSpPr>
              <p:grpSpPr bwMode="auto">
                <a:xfrm>
                  <a:off x="943" y="3754"/>
                  <a:ext cx="49" cy="23"/>
                  <a:chOff x="943" y="3754"/>
                  <a:chExt cx="49" cy="23"/>
                </a:xfrm>
              </p:grpSpPr>
              <p:sp>
                <p:nvSpPr>
                  <p:cNvPr id="1104"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5"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6"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01"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2"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3"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8" name="Group 2524"/>
              <p:cNvGrpSpPr>
                <a:grpSpLocks/>
              </p:cNvGrpSpPr>
              <p:nvPr/>
            </p:nvGrpSpPr>
            <p:grpSpPr bwMode="auto">
              <a:xfrm>
                <a:off x="920" y="3821"/>
                <a:ext cx="413" cy="50"/>
                <a:chOff x="920" y="3821"/>
                <a:chExt cx="413" cy="50"/>
              </a:xfrm>
            </p:grpSpPr>
            <p:sp>
              <p:nvSpPr>
                <p:cNvPr id="1019"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0"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1"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22"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999" name="Group 2529"/>
              <p:cNvGrpSpPr>
                <a:grpSpLocks/>
              </p:cNvGrpSpPr>
              <p:nvPr/>
            </p:nvGrpSpPr>
            <p:grpSpPr bwMode="auto">
              <a:xfrm>
                <a:off x="1227" y="3477"/>
                <a:ext cx="508" cy="321"/>
                <a:chOff x="1227" y="3477"/>
                <a:chExt cx="508" cy="321"/>
              </a:xfrm>
            </p:grpSpPr>
            <p:sp>
              <p:nvSpPr>
                <p:cNvPr id="1000"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1"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2"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3"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4"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5"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6"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7"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8"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9"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0"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1"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2"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3"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4"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5"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6"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7"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8"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437" name="Group 2096"/>
            <p:cNvGrpSpPr>
              <a:grpSpLocks/>
            </p:cNvGrpSpPr>
            <p:nvPr/>
          </p:nvGrpSpPr>
          <p:grpSpPr bwMode="auto">
            <a:xfrm>
              <a:off x="2627313" y="1916113"/>
              <a:ext cx="431800" cy="330200"/>
              <a:chOff x="624" y="2968"/>
              <a:chExt cx="1331" cy="920"/>
            </a:xfrm>
          </p:grpSpPr>
          <p:sp>
            <p:nvSpPr>
              <p:cNvPr id="1438"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9"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0"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1"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2"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3"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4"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5"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6"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7"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8"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9"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50" name="Group 2109"/>
              <p:cNvGrpSpPr>
                <a:grpSpLocks/>
              </p:cNvGrpSpPr>
              <p:nvPr/>
            </p:nvGrpSpPr>
            <p:grpSpPr bwMode="auto">
              <a:xfrm>
                <a:off x="700" y="3526"/>
                <a:ext cx="515" cy="270"/>
                <a:chOff x="700" y="3526"/>
                <a:chExt cx="515" cy="270"/>
              </a:xfrm>
            </p:grpSpPr>
            <p:grpSp>
              <p:nvGrpSpPr>
                <p:cNvPr id="1476" name="Group 2110"/>
                <p:cNvGrpSpPr>
                  <a:grpSpLocks/>
                </p:cNvGrpSpPr>
                <p:nvPr/>
              </p:nvGrpSpPr>
              <p:grpSpPr bwMode="auto">
                <a:xfrm>
                  <a:off x="737" y="3534"/>
                  <a:ext cx="49" cy="23"/>
                  <a:chOff x="737" y="3534"/>
                  <a:chExt cx="49" cy="23"/>
                </a:xfrm>
              </p:grpSpPr>
              <p:sp>
                <p:nvSpPr>
                  <p:cNvPr id="1887"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8"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9"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77" name="Group 2114"/>
                <p:cNvGrpSpPr>
                  <a:grpSpLocks/>
                </p:cNvGrpSpPr>
                <p:nvPr/>
              </p:nvGrpSpPr>
              <p:grpSpPr bwMode="auto">
                <a:xfrm>
                  <a:off x="748" y="3547"/>
                  <a:ext cx="50" cy="23"/>
                  <a:chOff x="748" y="3547"/>
                  <a:chExt cx="50" cy="23"/>
                </a:xfrm>
              </p:grpSpPr>
              <p:sp>
                <p:nvSpPr>
                  <p:cNvPr id="1884"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5"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6"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78"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9"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0"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1"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82" name="Group 2122"/>
                <p:cNvGrpSpPr>
                  <a:grpSpLocks/>
                </p:cNvGrpSpPr>
                <p:nvPr/>
              </p:nvGrpSpPr>
              <p:grpSpPr bwMode="auto">
                <a:xfrm>
                  <a:off x="872" y="3547"/>
                  <a:ext cx="50" cy="23"/>
                  <a:chOff x="872" y="3547"/>
                  <a:chExt cx="50" cy="23"/>
                </a:xfrm>
              </p:grpSpPr>
              <p:sp>
                <p:nvSpPr>
                  <p:cNvPr id="1881"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2"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3"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3" name="Group 2126"/>
                <p:cNvGrpSpPr>
                  <a:grpSpLocks/>
                </p:cNvGrpSpPr>
                <p:nvPr/>
              </p:nvGrpSpPr>
              <p:grpSpPr bwMode="auto">
                <a:xfrm>
                  <a:off x="885" y="3559"/>
                  <a:ext cx="50" cy="23"/>
                  <a:chOff x="885" y="3559"/>
                  <a:chExt cx="50" cy="23"/>
                </a:xfrm>
              </p:grpSpPr>
              <p:sp>
                <p:nvSpPr>
                  <p:cNvPr id="1878"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9"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0"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4" name="Group 2130"/>
                <p:cNvGrpSpPr>
                  <a:grpSpLocks/>
                </p:cNvGrpSpPr>
                <p:nvPr/>
              </p:nvGrpSpPr>
              <p:grpSpPr bwMode="auto">
                <a:xfrm>
                  <a:off x="898" y="3571"/>
                  <a:ext cx="49" cy="23"/>
                  <a:chOff x="898" y="3571"/>
                  <a:chExt cx="49" cy="23"/>
                </a:xfrm>
              </p:grpSpPr>
              <p:sp>
                <p:nvSpPr>
                  <p:cNvPr id="1875"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6"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7"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5" name="Group 2134"/>
                <p:cNvGrpSpPr>
                  <a:grpSpLocks/>
                </p:cNvGrpSpPr>
                <p:nvPr/>
              </p:nvGrpSpPr>
              <p:grpSpPr bwMode="auto">
                <a:xfrm>
                  <a:off x="911" y="3585"/>
                  <a:ext cx="49" cy="23"/>
                  <a:chOff x="911" y="3585"/>
                  <a:chExt cx="49" cy="23"/>
                </a:xfrm>
              </p:grpSpPr>
              <p:sp>
                <p:nvSpPr>
                  <p:cNvPr id="1872"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3"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4"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6" name="Group 2138"/>
                <p:cNvGrpSpPr>
                  <a:grpSpLocks/>
                </p:cNvGrpSpPr>
                <p:nvPr/>
              </p:nvGrpSpPr>
              <p:grpSpPr bwMode="auto">
                <a:xfrm>
                  <a:off x="923" y="3600"/>
                  <a:ext cx="99" cy="73"/>
                  <a:chOff x="923" y="3600"/>
                  <a:chExt cx="99" cy="73"/>
                </a:xfrm>
              </p:grpSpPr>
              <p:grpSp>
                <p:nvGrpSpPr>
                  <p:cNvPr id="1852" name="Group 2139"/>
                  <p:cNvGrpSpPr>
                    <a:grpSpLocks/>
                  </p:cNvGrpSpPr>
                  <p:nvPr/>
                </p:nvGrpSpPr>
                <p:grpSpPr bwMode="auto">
                  <a:xfrm>
                    <a:off x="923" y="3600"/>
                    <a:ext cx="49" cy="23"/>
                    <a:chOff x="923" y="3600"/>
                    <a:chExt cx="49" cy="23"/>
                  </a:xfrm>
                </p:grpSpPr>
                <p:sp>
                  <p:nvSpPr>
                    <p:cNvPr id="1869"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0"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1"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3" name="Group 2143"/>
                  <p:cNvGrpSpPr>
                    <a:grpSpLocks/>
                  </p:cNvGrpSpPr>
                  <p:nvPr/>
                </p:nvGrpSpPr>
                <p:grpSpPr bwMode="auto">
                  <a:xfrm>
                    <a:off x="935" y="3612"/>
                    <a:ext cx="48" cy="23"/>
                    <a:chOff x="935" y="3612"/>
                    <a:chExt cx="48" cy="23"/>
                  </a:xfrm>
                </p:grpSpPr>
                <p:sp>
                  <p:nvSpPr>
                    <p:cNvPr id="1866"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7"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8"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4" name="Group 2147"/>
                  <p:cNvGrpSpPr>
                    <a:grpSpLocks/>
                  </p:cNvGrpSpPr>
                  <p:nvPr/>
                </p:nvGrpSpPr>
                <p:grpSpPr bwMode="auto">
                  <a:xfrm>
                    <a:off x="947" y="3625"/>
                    <a:ext cx="50" cy="22"/>
                    <a:chOff x="947" y="3625"/>
                    <a:chExt cx="50" cy="22"/>
                  </a:xfrm>
                </p:grpSpPr>
                <p:sp>
                  <p:nvSpPr>
                    <p:cNvPr id="1863"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4"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5"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5" name="Group 2151"/>
                  <p:cNvGrpSpPr>
                    <a:grpSpLocks/>
                  </p:cNvGrpSpPr>
                  <p:nvPr/>
                </p:nvGrpSpPr>
                <p:grpSpPr bwMode="auto">
                  <a:xfrm>
                    <a:off x="960" y="3637"/>
                    <a:ext cx="50" cy="23"/>
                    <a:chOff x="960" y="3637"/>
                    <a:chExt cx="50" cy="23"/>
                  </a:xfrm>
                </p:grpSpPr>
                <p:sp>
                  <p:nvSpPr>
                    <p:cNvPr id="1860"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1"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2"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6" name="Group 2155"/>
                  <p:cNvGrpSpPr>
                    <a:grpSpLocks/>
                  </p:cNvGrpSpPr>
                  <p:nvPr/>
                </p:nvGrpSpPr>
                <p:grpSpPr bwMode="auto">
                  <a:xfrm>
                    <a:off x="973" y="3650"/>
                    <a:ext cx="49" cy="23"/>
                    <a:chOff x="973" y="3650"/>
                    <a:chExt cx="49" cy="23"/>
                  </a:xfrm>
                </p:grpSpPr>
                <p:sp>
                  <p:nvSpPr>
                    <p:cNvPr id="1857"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8"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9"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7" name="Group 2159"/>
                <p:cNvGrpSpPr>
                  <a:grpSpLocks/>
                </p:cNvGrpSpPr>
                <p:nvPr/>
              </p:nvGrpSpPr>
              <p:grpSpPr bwMode="auto">
                <a:xfrm>
                  <a:off x="985" y="3665"/>
                  <a:ext cx="100" cy="73"/>
                  <a:chOff x="985" y="3665"/>
                  <a:chExt cx="100" cy="73"/>
                </a:xfrm>
              </p:grpSpPr>
              <p:grpSp>
                <p:nvGrpSpPr>
                  <p:cNvPr id="1832" name="Group 2160"/>
                  <p:cNvGrpSpPr>
                    <a:grpSpLocks/>
                  </p:cNvGrpSpPr>
                  <p:nvPr/>
                </p:nvGrpSpPr>
                <p:grpSpPr bwMode="auto">
                  <a:xfrm>
                    <a:off x="985" y="3665"/>
                    <a:ext cx="50" cy="23"/>
                    <a:chOff x="985" y="3665"/>
                    <a:chExt cx="50" cy="23"/>
                  </a:xfrm>
                </p:grpSpPr>
                <p:sp>
                  <p:nvSpPr>
                    <p:cNvPr id="1849"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0"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1"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3" name="Group 2164"/>
                  <p:cNvGrpSpPr>
                    <a:grpSpLocks/>
                  </p:cNvGrpSpPr>
                  <p:nvPr/>
                </p:nvGrpSpPr>
                <p:grpSpPr bwMode="auto">
                  <a:xfrm>
                    <a:off x="997" y="3677"/>
                    <a:ext cx="49" cy="23"/>
                    <a:chOff x="997" y="3677"/>
                    <a:chExt cx="49" cy="23"/>
                  </a:xfrm>
                </p:grpSpPr>
                <p:sp>
                  <p:nvSpPr>
                    <p:cNvPr id="1846"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7"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8"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4" name="Group 2168"/>
                  <p:cNvGrpSpPr>
                    <a:grpSpLocks/>
                  </p:cNvGrpSpPr>
                  <p:nvPr/>
                </p:nvGrpSpPr>
                <p:grpSpPr bwMode="auto">
                  <a:xfrm>
                    <a:off x="1010" y="3690"/>
                    <a:ext cx="48" cy="23"/>
                    <a:chOff x="1010" y="3690"/>
                    <a:chExt cx="48" cy="23"/>
                  </a:xfrm>
                </p:grpSpPr>
                <p:sp>
                  <p:nvSpPr>
                    <p:cNvPr id="1843"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4"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5"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5" name="Group 2172"/>
                  <p:cNvGrpSpPr>
                    <a:grpSpLocks/>
                  </p:cNvGrpSpPr>
                  <p:nvPr/>
                </p:nvGrpSpPr>
                <p:grpSpPr bwMode="auto">
                  <a:xfrm>
                    <a:off x="1023" y="3703"/>
                    <a:ext cx="49" cy="22"/>
                    <a:chOff x="1023" y="3703"/>
                    <a:chExt cx="49" cy="22"/>
                  </a:xfrm>
                </p:grpSpPr>
                <p:sp>
                  <p:nvSpPr>
                    <p:cNvPr id="1840"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1"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2"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6" name="Group 2176"/>
                  <p:cNvGrpSpPr>
                    <a:grpSpLocks/>
                  </p:cNvGrpSpPr>
                  <p:nvPr/>
                </p:nvGrpSpPr>
                <p:grpSpPr bwMode="auto">
                  <a:xfrm>
                    <a:off x="1036" y="3716"/>
                    <a:ext cx="49" cy="22"/>
                    <a:chOff x="1036" y="3716"/>
                    <a:chExt cx="49" cy="22"/>
                  </a:xfrm>
                </p:grpSpPr>
                <p:sp>
                  <p:nvSpPr>
                    <p:cNvPr id="1837"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8"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9"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8" name="Group 2180"/>
                <p:cNvGrpSpPr>
                  <a:grpSpLocks/>
                </p:cNvGrpSpPr>
                <p:nvPr/>
              </p:nvGrpSpPr>
              <p:grpSpPr bwMode="auto">
                <a:xfrm>
                  <a:off x="1046" y="3727"/>
                  <a:ext cx="49" cy="23"/>
                  <a:chOff x="1046" y="3727"/>
                  <a:chExt cx="49" cy="23"/>
                </a:xfrm>
              </p:grpSpPr>
              <p:sp>
                <p:nvSpPr>
                  <p:cNvPr id="1829"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0"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1"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9" name="Group 2184"/>
                <p:cNvGrpSpPr>
                  <a:grpSpLocks/>
                </p:cNvGrpSpPr>
                <p:nvPr/>
              </p:nvGrpSpPr>
              <p:grpSpPr bwMode="auto">
                <a:xfrm>
                  <a:off x="1058" y="3739"/>
                  <a:ext cx="50" cy="23"/>
                  <a:chOff x="1058" y="3739"/>
                  <a:chExt cx="50" cy="23"/>
                </a:xfrm>
              </p:grpSpPr>
              <p:sp>
                <p:nvSpPr>
                  <p:cNvPr id="1826"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7"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8"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0" name="Group 2188"/>
                <p:cNvGrpSpPr>
                  <a:grpSpLocks/>
                </p:cNvGrpSpPr>
                <p:nvPr/>
              </p:nvGrpSpPr>
              <p:grpSpPr bwMode="auto">
                <a:xfrm>
                  <a:off x="1072" y="3753"/>
                  <a:ext cx="48" cy="22"/>
                  <a:chOff x="1072" y="3753"/>
                  <a:chExt cx="48" cy="22"/>
                </a:xfrm>
              </p:grpSpPr>
              <p:sp>
                <p:nvSpPr>
                  <p:cNvPr id="1823"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4"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5"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91"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2"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3"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94" name="Group 2195"/>
                <p:cNvGrpSpPr>
                  <a:grpSpLocks/>
                </p:cNvGrpSpPr>
                <p:nvPr/>
              </p:nvGrpSpPr>
              <p:grpSpPr bwMode="auto">
                <a:xfrm>
                  <a:off x="832" y="3547"/>
                  <a:ext cx="49" cy="23"/>
                  <a:chOff x="832" y="3547"/>
                  <a:chExt cx="49" cy="23"/>
                </a:xfrm>
              </p:grpSpPr>
              <p:sp>
                <p:nvSpPr>
                  <p:cNvPr id="1820"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1"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2"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5" name="Group 2199"/>
                <p:cNvGrpSpPr>
                  <a:grpSpLocks/>
                </p:cNvGrpSpPr>
                <p:nvPr/>
              </p:nvGrpSpPr>
              <p:grpSpPr bwMode="auto">
                <a:xfrm>
                  <a:off x="844" y="3560"/>
                  <a:ext cx="49" cy="22"/>
                  <a:chOff x="844" y="3560"/>
                  <a:chExt cx="49" cy="22"/>
                </a:xfrm>
              </p:grpSpPr>
              <p:sp>
                <p:nvSpPr>
                  <p:cNvPr id="1817"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8"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9"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6" name="Group 2203"/>
                <p:cNvGrpSpPr>
                  <a:grpSpLocks/>
                </p:cNvGrpSpPr>
                <p:nvPr/>
              </p:nvGrpSpPr>
              <p:grpSpPr bwMode="auto">
                <a:xfrm>
                  <a:off x="857" y="3572"/>
                  <a:ext cx="50" cy="23"/>
                  <a:chOff x="857" y="3572"/>
                  <a:chExt cx="50" cy="23"/>
                </a:xfrm>
              </p:grpSpPr>
              <p:sp>
                <p:nvSpPr>
                  <p:cNvPr id="1814"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5"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6"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7" name="Group 2207"/>
                <p:cNvGrpSpPr>
                  <a:grpSpLocks/>
                </p:cNvGrpSpPr>
                <p:nvPr/>
              </p:nvGrpSpPr>
              <p:grpSpPr bwMode="auto">
                <a:xfrm>
                  <a:off x="870" y="3585"/>
                  <a:ext cx="48" cy="23"/>
                  <a:chOff x="870" y="3585"/>
                  <a:chExt cx="48" cy="23"/>
                </a:xfrm>
              </p:grpSpPr>
              <p:sp>
                <p:nvSpPr>
                  <p:cNvPr id="1811"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2"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3"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8" name="Group 2211"/>
                <p:cNvGrpSpPr>
                  <a:grpSpLocks/>
                </p:cNvGrpSpPr>
                <p:nvPr/>
              </p:nvGrpSpPr>
              <p:grpSpPr bwMode="auto">
                <a:xfrm>
                  <a:off x="882" y="3600"/>
                  <a:ext cx="100" cy="73"/>
                  <a:chOff x="882" y="3600"/>
                  <a:chExt cx="100" cy="73"/>
                </a:xfrm>
              </p:grpSpPr>
              <p:grpSp>
                <p:nvGrpSpPr>
                  <p:cNvPr id="1791" name="Group 2212"/>
                  <p:cNvGrpSpPr>
                    <a:grpSpLocks/>
                  </p:cNvGrpSpPr>
                  <p:nvPr/>
                </p:nvGrpSpPr>
                <p:grpSpPr bwMode="auto">
                  <a:xfrm>
                    <a:off x="882" y="3600"/>
                    <a:ext cx="49" cy="23"/>
                    <a:chOff x="882" y="3600"/>
                    <a:chExt cx="49" cy="23"/>
                  </a:xfrm>
                </p:grpSpPr>
                <p:sp>
                  <p:nvSpPr>
                    <p:cNvPr id="1808"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9"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0"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2" name="Group 2216"/>
                  <p:cNvGrpSpPr>
                    <a:grpSpLocks/>
                  </p:cNvGrpSpPr>
                  <p:nvPr/>
                </p:nvGrpSpPr>
                <p:grpSpPr bwMode="auto">
                  <a:xfrm>
                    <a:off x="894" y="3612"/>
                    <a:ext cx="49" cy="23"/>
                    <a:chOff x="894" y="3612"/>
                    <a:chExt cx="49" cy="23"/>
                  </a:xfrm>
                </p:grpSpPr>
                <p:sp>
                  <p:nvSpPr>
                    <p:cNvPr id="1805"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6"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7"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3" name="Group 2220"/>
                  <p:cNvGrpSpPr>
                    <a:grpSpLocks/>
                  </p:cNvGrpSpPr>
                  <p:nvPr/>
                </p:nvGrpSpPr>
                <p:grpSpPr bwMode="auto">
                  <a:xfrm>
                    <a:off x="907" y="3625"/>
                    <a:ext cx="49" cy="23"/>
                    <a:chOff x="907" y="3625"/>
                    <a:chExt cx="49" cy="23"/>
                  </a:xfrm>
                </p:grpSpPr>
                <p:sp>
                  <p:nvSpPr>
                    <p:cNvPr id="1802"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3"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4"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4" name="Group 2224"/>
                  <p:cNvGrpSpPr>
                    <a:grpSpLocks/>
                  </p:cNvGrpSpPr>
                  <p:nvPr/>
                </p:nvGrpSpPr>
                <p:grpSpPr bwMode="auto">
                  <a:xfrm>
                    <a:off x="919" y="3638"/>
                    <a:ext cx="49" cy="22"/>
                    <a:chOff x="919" y="3638"/>
                    <a:chExt cx="49" cy="22"/>
                  </a:xfrm>
                </p:grpSpPr>
                <p:sp>
                  <p:nvSpPr>
                    <p:cNvPr id="1799"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0"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1"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5" name="Group 2228"/>
                  <p:cNvGrpSpPr>
                    <a:grpSpLocks/>
                  </p:cNvGrpSpPr>
                  <p:nvPr/>
                </p:nvGrpSpPr>
                <p:grpSpPr bwMode="auto">
                  <a:xfrm>
                    <a:off x="932" y="3651"/>
                    <a:ext cx="50" cy="22"/>
                    <a:chOff x="932" y="3651"/>
                    <a:chExt cx="50" cy="22"/>
                  </a:xfrm>
                </p:grpSpPr>
                <p:sp>
                  <p:nvSpPr>
                    <p:cNvPr id="1796"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7"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8"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99" name="Group 2232"/>
                <p:cNvGrpSpPr>
                  <a:grpSpLocks/>
                </p:cNvGrpSpPr>
                <p:nvPr/>
              </p:nvGrpSpPr>
              <p:grpSpPr bwMode="auto">
                <a:xfrm>
                  <a:off x="944" y="3665"/>
                  <a:ext cx="99" cy="74"/>
                  <a:chOff x="944" y="3665"/>
                  <a:chExt cx="99" cy="74"/>
                </a:xfrm>
              </p:grpSpPr>
              <p:grpSp>
                <p:nvGrpSpPr>
                  <p:cNvPr id="1771" name="Group 2233"/>
                  <p:cNvGrpSpPr>
                    <a:grpSpLocks/>
                  </p:cNvGrpSpPr>
                  <p:nvPr/>
                </p:nvGrpSpPr>
                <p:grpSpPr bwMode="auto">
                  <a:xfrm>
                    <a:off x="944" y="3665"/>
                    <a:ext cx="49" cy="23"/>
                    <a:chOff x="944" y="3665"/>
                    <a:chExt cx="49" cy="23"/>
                  </a:xfrm>
                </p:grpSpPr>
                <p:sp>
                  <p:nvSpPr>
                    <p:cNvPr id="1788"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9"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0"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2" name="Group 2237"/>
                  <p:cNvGrpSpPr>
                    <a:grpSpLocks/>
                  </p:cNvGrpSpPr>
                  <p:nvPr/>
                </p:nvGrpSpPr>
                <p:grpSpPr bwMode="auto">
                  <a:xfrm>
                    <a:off x="957" y="3678"/>
                    <a:ext cx="48" cy="23"/>
                    <a:chOff x="957" y="3678"/>
                    <a:chExt cx="48" cy="23"/>
                  </a:xfrm>
                </p:grpSpPr>
                <p:sp>
                  <p:nvSpPr>
                    <p:cNvPr id="1785"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6"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7"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3" name="Group 2241"/>
                  <p:cNvGrpSpPr>
                    <a:grpSpLocks/>
                  </p:cNvGrpSpPr>
                  <p:nvPr/>
                </p:nvGrpSpPr>
                <p:grpSpPr bwMode="auto">
                  <a:xfrm>
                    <a:off x="969" y="3690"/>
                    <a:ext cx="49" cy="23"/>
                    <a:chOff x="969" y="3690"/>
                    <a:chExt cx="49" cy="23"/>
                  </a:xfrm>
                </p:grpSpPr>
                <p:sp>
                  <p:nvSpPr>
                    <p:cNvPr id="1782"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3"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4"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4" name="Group 2245"/>
                  <p:cNvGrpSpPr>
                    <a:grpSpLocks/>
                  </p:cNvGrpSpPr>
                  <p:nvPr/>
                </p:nvGrpSpPr>
                <p:grpSpPr bwMode="auto">
                  <a:xfrm>
                    <a:off x="982" y="3703"/>
                    <a:ext cx="49" cy="23"/>
                    <a:chOff x="982" y="3703"/>
                    <a:chExt cx="49" cy="23"/>
                  </a:xfrm>
                </p:grpSpPr>
                <p:sp>
                  <p:nvSpPr>
                    <p:cNvPr id="1779"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0"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1"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5" name="Group 2249"/>
                  <p:cNvGrpSpPr>
                    <a:grpSpLocks/>
                  </p:cNvGrpSpPr>
                  <p:nvPr/>
                </p:nvGrpSpPr>
                <p:grpSpPr bwMode="auto">
                  <a:xfrm>
                    <a:off x="995" y="3716"/>
                    <a:ext cx="48" cy="23"/>
                    <a:chOff x="995" y="3716"/>
                    <a:chExt cx="48" cy="23"/>
                  </a:xfrm>
                </p:grpSpPr>
                <p:sp>
                  <p:nvSpPr>
                    <p:cNvPr id="1776"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7"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8"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00" name="Group 2253"/>
                <p:cNvGrpSpPr>
                  <a:grpSpLocks/>
                </p:cNvGrpSpPr>
                <p:nvPr/>
              </p:nvGrpSpPr>
              <p:grpSpPr bwMode="auto">
                <a:xfrm>
                  <a:off x="1005" y="3727"/>
                  <a:ext cx="49" cy="23"/>
                  <a:chOff x="1005" y="3727"/>
                  <a:chExt cx="49" cy="23"/>
                </a:xfrm>
              </p:grpSpPr>
              <p:sp>
                <p:nvSpPr>
                  <p:cNvPr id="1768"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9"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0"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1" name="Group 2257"/>
                <p:cNvGrpSpPr>
                  <a:grpSpLocks/>
                </p:cNvGrpSpPr>
                <p:nvPr/>
              </p:nvGrpSpPr>
              <p:grpSpPr bwMode="auto">
                <a:xfrm>
                  <a:off x="1018" y="3740"/>
                  <a:ext cx="49" cy="22"/>
                  <a:chOff x="1018" y="3740"/>
                  <a:chExt cx="49" cy="22"/>
                </a:xfrm>
              </p:grpSpPr>
              <p:sp>
                <p:nvSpPr>
                  <p:cNvPr id="1765"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6"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7"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2" name="Group 2261"/>
                <p:cNvGrpSpPr>
                  <a:grpSpLocks/>
                </p:cNvGrpSpPr>
                <p:nvPr/>
              </p:nvGrpSpPr>
              <p:grpSpPr bwMode="auto">
                <a:xfrm>
                  <a:off x="1030" y="3753"/>
                  <a:ext cx="49" cy="23"/>
                  <a:chOff x="1030" y="3753"/>
                  <a:chExt cx="49" cy="23"/>
                </a:xfrm>
              </p:grpSpPr>
              <p:sp>
                <p:nvSpPr>
                  <p:cNvPr id="1762"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3"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4"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03"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4"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5"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06" name="Group 2268"/>
                <p:cNvGrpSpPr>
                  <a:grpSpLocks/>
                </p:cNvGrpSpPr>
                <p:nvPr/>
              </p:nvGrpSpPr>
              <p:grpSpPr bwMode="auto">
                <a:xfrm>
                  <a:off x="790" y="3547"/>
                  <a:ext cx="49" cy="23"/>
                  <a:chOff x="790" y="3547"/>
                  <a:chExt cx="49" cy="23"/>
                </a:xfrm>
              </p:grpSpPr>
              <p:sp>
                <p:nvSpPr>
                  <p:cNvPr id="1759"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0"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1"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7" name="Group 2272"/>
                <p:cNvGrpSpPr>
                  <a:grpSpLocks/>
                </p:cNvGrpSpPr>
                <p:nvPr/>
              </p:nvGrpSpPr>
              <p:grpSpPr bwMode="auto">
                <a:xfrm>
                  <a:off x="803" y="3560"/>
                  <a:ext cx="49" cy="22"/>
                  <a:chOff x="803" y="3560"/>
                  <a:chExt cx="49" cy="22"/>
                </a:xfrm>
              </p:grpSpPr>
              <p:sp>
                <p:nvSpPr>
                  <p:cNvPr id="1756"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7"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8"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8" name="Group 2276"/>
                <p:cNvGrpSpPr>
                  <a:grpSpLocks/>
                </p:cNvGrpSpPr>
                <p:nvPr/>
              </p:nvGrpSpPr>
              <p:grpSpPr bwMode="auto">
                <a:xfrm>
                  <a:off x="815" y="3572"/>
                  <a:ext cx="50" cy="23"/>
                  <a:chOff x="815" y="3572"/>
                  <a:chExt cx="50" cy="23"/>
                </a:xfrm>
              </p:grpSpPr>
              <p:sp>
                <p:nvSpPr>
                  <p:cNvPr id="1753"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4"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5"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9" name="Group 2280"/>
                <p:cNvGrpSpPr>
                  <a:grpSpLocks/>
                </p:cNvGrpSpPr>
                <p:nvPr/>
              </p:nvGrpSpPr>
              <p:grpSpPr bwMode="auto">
                <a:xfrm>
                  <a:off x="828" y="3585"/>
                  <a:ext cx="49" cy="23"/>
                  <a:chOff x="828" y="3585"/>
                  <a:chExt cx="49" cy="23"/>
                </a:xfrm>
              </p:grpSpPr>
              <p:sp>
                <p:nvSpPr>
                  <p:cNvPr id="1750"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1"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2"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0" name="Group 2284"/>
                <p:cNvGrpSpPr>
                  <a:grpSpLocks/>
                </p:cNvGrpSpPr>
                <p:nvPr/>
              </p:nvGrpSpPr>
              <p:grpSpPr bwMode="auto">
                <a:xfrm>
                  <a:off x="840" y="3600"/>
                  <a:ext cx="100" cy="73"/>
                  <a:chOff x="840" y="3600"/>
                  <a:chExt cx="100" cy="73"/>
                </a:xfrm>
              </p:grpSpPr>
              <p:grpSp>
                <p:nvGrpSpPr>
                  <p:cNvPr id="1730" name="Group 2285"/>
                  <p:cNvGrpSpPr>
                    <a:grpSpLocks/>
                  </p:cNvGrpSpPr>
                  <p:nvPr/>
                </p:nvGrpSpPr>
                <p:grpSpPr bwMode="auto">
                  <a:xfrm>
                    <a:off x="840" y="3600"/>
                    <a:ext cx="49" cy="23"/>
                    <a:chOff x="840" y="3600"/>
                    <a:chExt cx="49" cy="23"/>
                  </a:xfrm>
                </p:grpSpPr>
                <p:sp>
                  <p:nvSpPr>
                    <p:cNvPr id="1747"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8"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9"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1" name="Group 2289"/>
                  <p:cNvGrpSpPr>
                    <a:grpSpLocks/>
                  </p:cNvGrpSpPr>
                  <p:nvPr/>
                </p:nvGrpSpPr>
                <p:grpSpPr bwMode="auto">
                  <a:xfrm>
                    <a:off x="853" y="3612"/>
                    <a:ext cx="48" cy="23"/>
                    <a:chOff x="853" y="3612"/>
                    <a:chExt cx="48" cy="23"/>
                  </a:xfrm>
                </p:grpSpPr>
                <p:sp>
                  <p:nvSpPr>
                    <p:cNvPr id="1744"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5"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6"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2" name="Group 2293"/>
                  <p:cNvGrpSpPr>
                    <a:grpSpLocks/>
                  </p:cNvGrpSpPr>
                  <p:nvPr/>
                </p:nvGrpSpPr>
                <p:grpSpPr bwMode="auto">
                  <a:xfrm>
                    <a:off x="865" y="3625"/>
                    <a:ext cx="49" cy="23"/>
                    <a:chOff x="865" y="3625"/>
                    <a:chExt cx="49" cy="23"/>
                  </a:xfrm>
                </p:grpSpPr>
                <p:sp>
                  <p:nvSpPr>
                    <p:cNvPr id="1741"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2"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3"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3" name="Group 2297"/>
                  <p:cNvGrpSpPr>
                    <a:grpSpLocks/>
                  </p:cNvGrpSpPr>
                  <p:nvPr/>
                </p:nvGrpSpPr>
                <p:grpSpPr bwMode="auto">
                  <a:xfrm>
                    <a:off x="878" y="3638"/>
                    <a:ext cx="49" cy="22"/>
                    <a:chOff x="878" y="3638"/>
                    <a:chExt cx="49" cy="22"/>
                  </a:xfrm>
                </p:grpSpPr>
                <p:sp>
                  <p:nvSpPr>
                    <p:cNvPr id="1738"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9"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0"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4" name="Group 2301"/>
                  <p:cNvGrpSpPr>
                    <a:grpSpLocks/>
                  </p:cNvGrpSpPr>
                  <p:nvPr/>
                </p:nvGrpSpPr>
                <p:grpSpPr bwMode="auto">
                  <a:xfrm>
                    <a:off x="890" y="3651"/>
                    <a:ext cx="50" cy="22"/>
                    <a:chOff x="890" y="3651"/>
                    <a:chExt cx="50" cy="22"/>
                  </a:xfrm>
                </p:grpSpPr>
                <p:sp>
                  <p:nvSpPr>
                    <p:cNvPr id="1735"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6"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7"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1" name="Group 2305"/>
                <p:cNvGrpSpPr>
                  <a:grpSpLocks/>
                </p:cNvGrpSpPr>
                <p:nvPr/>
              </p:nvGrpSpPr>
              <p:grpSpPr bwMode="auto">
                <a:xfrm>
                  <a:off x="903" y="3665"/>
                  <a:ext cx="99" cy="74"/>
                  <a:chOff x="903" y="3665"/>
                  <a:chExt cx="99" cy="74"/>
                </a:xfrm>
              </p:grpSpPr>
              <p:grpSp>
                <p:nvGrpSpPr>
                  <p:cNvPr id="1710" name="Group 2306"/>
                  <p:cNvGrpSpPr>
                    <a:grpSpLocks/>
                  </p:cNvGrpSpPr>
                  <p:nvPr/>
                </p:nvGrpSpPr>
                <p:grpSpPr bwMode="auto">
                  <a:xfrm>
                    <a:off x="903" y="3665"/>
                    <a:ext cx="49" cy="23"/>
                    <a:chOff x="903" y="3665"/>
                    <a:chExt cx="49" cy="23"/>
                  </a:xfrm>
                </p:grpSpPr>
                <p:sp>
                  <p:nvSpPr>
                    <p:cNvPr id="1727"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8"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9"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1" name="Group 2310"/>
                  <p:cNvGrpSpPr>
                    <a:grpSpLocks/>
                  </p:cNvGrpSpPr>
                  <p:nvPr/>
                </p:nvGrpSpPr>
                <p:grpSpPr bwMode="auto">
                  <a:xfrm>
                    <a:off x="914" y="3678"/>
                    <a:ext cx="49" cy="23"/>
                    <a:chOff x="914" y="3678"/>
                    <a:chExt cx="49" cy="23"/>
                  </a:xfrm>
                </p:grpSpPr>
                <p:sp>
                  <p:nvSpPr>
                    <p:cNvPr id="1724"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5"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6"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2" name="Group 2314"/>
                  <p:cNvGrpSpPr>
                    <a:grpSpLocks/>
                  </p:cNvGrpSpPr>
                  <p:nvPr/>
                </p:nvGrpSpPr>
                <p:grpSpPr bwMode="auto">
                  <a:xfrm>
                    <a:off x="928" y="3690"/>
                    <a:ext cx="48" cy="23"/>
                    <a:chOff x="928" y="3690"/>
                    <a:chExt cx="48" cy="23"/>
                  </a:xfrm>
                </p:grpSpPr>
                <p:sp>
                  <p:nvSpPr>
                    <p:cNvPr id="1721"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2"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3"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3" name="Group 2318"/>
                  <p:cNvGrpSpPr>
                    <a:grpSpLocks/>
                  </p:cNvGrpSpPr>
                  <p:nvPr/>
                </p:nvGrpSpPr>
                <p:grpSpPr bwMode="auto">
                  <a:xfrm>
                    <a:off x="940" y="3703"/>
                    <a:ext cx="49" cy="23"/>
                    <a:chOff x="940" y="3703"/>
                    <a:chExt cx="49" cy="23"/>
                  </a:xfrm>
                </p:grpSpPr>
                <p:sp>
                  <p:nvSpPr>
                    <p:cNvPr id="1718"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9"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0"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4" name="Group 2322"/>
                  <p:cNvGrpSpPr>
                    <a:grpSpLocks/>
                  </p:cNvGrpSpPr>
                  <p:nvPr/>
                </p:nvGrpSpPr>
                <p:grpSpPr bwMode="auto">
                  <a:xfrm>
                    <a:off x="953" y="3716"/>
                    <a:ext cx="49" cy="23"/>
                    <a:chOff x="953" y="3716"/>
                    <a:chExt cx="49" cy="23"/>
                  </a:xfrm>
                </p:grpSpPr>
                <p:sp>
                  <p:nvSpPr>
                    <p:cNvPr id="1715"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6"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7"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2" name="Group 2326"/>
                <p:cNvGrpSpPr>
                  <a:grpSpLocks/>
                </p:cNvGrpSpPr>
                <p:nvPr/>
              </p:nvGrpSpPr>
              <p:grpSpPr bwMode="auto">
                <a:xfrm>
                  <a:off x="963" y="3727"/>
                  <a:ext cx="49" cy="23"/>
                  <a:chOff x="963" y="3727"/>
                  <a:chExt cx="49" cy="23"/>
                </a:xfrm>
              </p:grpSpPr>
              <p:sp>
                <p:nvSpPr>
                  <p:cNvPr id="1707"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8"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9"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3" name="Group 2330"/>
                <p:cNvGrpSpPr>
                  <a:grpSpLocks/>
                </p:cNvGrpSpPr>
                <p:nvPr/>
              </p:nvGrpSpPr>
              <p:grpSpPr bwMode="auto">
                <a:xfrm>
                  <a:off x="976" y="3740"/>
                  <a:ext cx="50" cy="22"/>
                  <a:chOff x="976" y="3740"/>
                  <a:chExt cx="50" cy="22"/>
                </a:xfrm>
              </p:grpSpPr>
              <p:sp>
                <p:nvSpPr>
                  <p:cNvPr id="1704"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5"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6"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4" name="Group 2334"/>
                <p:cNvGrpSpPr>
                  <a:grpSpLocks/>
                </p:cNvGrpSpPr>
                <p:nvPr/>
              </p:nvGrpSpPr>
              <p:grpSpPr bwMode="auto">
                <a:xfrm>
                  <a:off x="761" y="3560"/>
                  <a:ext cx="50" cy="22"/>
                  <a:chOff x="761" y="3560"/>
                  <a:chExt cx="50" cy="22"/>
                </a:xfrm>
              </p:grpSpPr>
              <p:sp>
                <p:nvSpPr>
                  <p:cNvPr id="1701"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2"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3"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5" name="Group 2338"/>
                <p:cNvGrpSpPr>
                  <a:grpSpLocks/>
                </p:cNvGrpSpPr>
                <p:nvPr/>
              </p:nvGrpSpPr>
              <p:grpSpPr bwMode="auto">
                <a:xfrm>
                  <a:off x="774" y="3572"/>
                  <a:ext cx="49" cy="23"/>
                  <a:chOff x="774" y="3572"/>
                  <a:chExt cx="49" cy="23"/>
                </a:xfrm>
              </p:grpSpPr>
              <p:sp>
                <p:nvSpPr>
                  <p:cNvPr id="1698"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9"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0"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6" name="Group 2342"/>
                <p:cNvGrpSpPr>
                  <a:grpSpLocks/>
                </p:cNvGrpSpPr>
                <p:nvPr/>
              </p:nvGrpSpPr>
              <p:grpSpPr bwMode="auto">
                <a:xfrm>
                  <a:off x="787" y="3585"/>
                  <a:ext cx="49" cy="23"/>
                  <a:chOff x="787" y="3585"/>
                  <a:chExt cx="49" cy="23"/>
                </a:xfrm>
              </p:grpSpPr>
              <p:sp>
                <p:nvSpPr>
                  <p:cNvPr id="1695"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6"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7"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7" name="Group 2346"/>
                <p:cNvGrpSpPr>
                  <a:grpSpLocks/>
                </p:cNvGrpSpPr>
                <p:nvPr/>
              </p:nvGrpSpPr>
              <p:grpSpPr bwMode="auto">
                <a:xfrm>
                  <a:off x="799" y="3600"/>
                  <a:ext cx="99" cy="73"/>
                  <a:chOff x="799" y="3600"/>
                  <a:chExt cx="99" cy="73"/>
                </a:xfrm>
              </p:grpSpPr>
              <p:grpSp>
                <p:nvGrpSpPr>
                  <p:cNvPr id="1675" name="Group 2347"/>
                  <p:cNvGrpSpPr>
                    <a:grpSpLocks/>
                  </p:cNvGrpSpPr>
                  <p:nvPr/>
                </p:nvGrpSpPr>
                <p:grpSpPr bwMode="auto">
                  <a:xfrm>
                    <a:off x="799" y="3600"/>
                    <a:ext cx="48" cy="23"/>
                    <a:chOff x="799" y="3600"/>
                    <a:chExt cx="48" cy="23"/>
                  </a:xfrm>
                </p:grpSpPr>
                <p:sp>
                  <p:nvSpPr>
                    <p:cNvPr id="1692"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3"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4"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6" name="Group 2351"/>
                  <p:cNvGrpSpPr>
                    <a:grpSpLocks/>
                  </p:cNvGrpSpPr>
                  <p:nvPr/>
                </p:nvGrpSpPr>
                <p:grpSpPr bwMode="auto">
                  <a:xfrm>
                    <a:off x="811" y="3612"/>
                    <a:ext cx="48" cy="23"/>
                    <a:chOff x="811" y="3612"/>
                    <a:chExt cx="48" cy="23"/>
                  </a:xfrm>
                </p:grpSpPr>
                <p:sp>
                  <p:nvSpPr>
                    <p:cNvPr id="1689"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0"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1"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7" name="Group 2355"/>
                  <p:cNvGrpSpPr>
                    <a:grpSpLocks/>
                  </p:cNvGrpSpPr>
                  <p:nvPr/>
                </p:nvGrpSpPr>
                <p:grpSpPr bwMode="auto">
                  <a:xfrm>
                    <a:off x="823" y="3625"/>
                    <a:ext cx="49" cy="23"/>
                    <a:chOff x="823" y="3625"/>
                    <a:chExt cx="49" cy="23"/>
                  </a:xfrm>
                </p:grpSpPr>
                <p:sp>
                  <p:nvSpPr>
                    <p:cNvPr id="1686"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7"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8"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8" name="Group 2359"/>
                  <p:cNvGrpSpPr>
                    <a:grpSpLocks/>
                  </p:cNvGrpSpPr>
                  <p:nvPr/>
                </p:nvGrpSpPr>
                <p:grpSpPr bwMode="auto">
                  <a:xfrm>
                    <a:off x="836" y="3638"/>
                    <a:ext cx="50" cy="22"/>
                    <a:chOff x="836" y="3638"/>
                    <a:chExt cx="50" cy="22"/>
                  </a:xfrm>
                </p:grpSpPr>
                <p:sp>
                  <p:nvSpPr>
                    <p:cNvPr id="1683"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4"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5"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9" name="Group 2363"/>
                  <p:cNvGrpSpPr>
                    <a:grpSpLocks/>
                  </p:cNvGrpSpPr>
                  <p:nvPr/>
                </p:nvGrpSpPr>
                <p:grpSpPr bwMode="auto">
                  <a:xfrm>
                    <a:off x="849" y="3651"/>
                    <a:ext cx="49" cy="22"/>
                    <a:chOff x="849" y="3651"/>
                    <a:chExt cx="49" cy="22"/>
                  </a:xfrm>
                </p:grpSpPr>
                <p:sp>
                  <p:nvSpPr>
                    <p:cNvPr id="1680"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1"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2"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8" name="Group 2367"/>
                <p:cNvGrpSpPr>
                  <a:grpSpLocks/>
                </p:cNvGrpSpPr>
                <p:nvPr/>
              </p:nvGrpSpPr>
              <p:grpSpPr bwMode="auto">
                <a:xfrm>
                  <a:off x="861" y="3665"/>
                  <a:ext cx="99" cy="74"/>
                  <a:chOff x="861" y="3665"/>
                  <a:chExt cx="99" cy="74"/>
                </a:xfrm>
              </p:grpSpPr>
              <p:grpSp>
                <p:nvGrpSpPr>
                  <p:cNvPr id="1655" name="Group 2368"/>
                  <p:cNvGrpSpPr>
                    <a:grpSpLocks/>
                  </p:cNvGrpSpPr>
                  <p:nvPr/>
                </p:nvGrpSpPr>
                <p:grpSpPr bwMode="auto">
                  <a:xfrm>
                    <a:off x="861" y="3665"/>
                    <a:ext cx="50" cy="23"/>
                    <a:chOff x="861" y="3665"/>
                    <a:chExt cx="50" cy="23"/>
                  </a:xfrm>
                </p:grpSpPr>
                <p:sp>
                  <p:nvSpPr>
                    <p:cNvPr id="1672"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3"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4"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6" name="Group 2372"/>
                  <p:cNvGrpSpPr>
                    <a:grpSpLocks/>
                  </p:cNvGrpSpPr>
                  <p:nvPr/>
                </p:nvGrpSpPr>
                <p:grpSpPr bwMode="auto">
                  <a:xfrm>
                    <a:off x="873" y="3678"/>
                    <a:ext cx="49" cy="23"/>
                    <a:chOff x="873" y="3678"/>
                    <a:chExt cx="49" cy="23"/>
                  </a:xfrm>
                </p:grpSpPr>
                <p:sp>
                  <p:nvSpPr>
                    <p:cNvPr id="1669"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0"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1"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7" name="Group 2376"/>
                  <p:cNvGrpSpPr>
                    <a:grpSpLocks/>
                  </p:cNvGrpSpPr>
                  <p:nvPr/>
                </p:nvGrpSpPr>
                <p:grpSpPr bwMode="auto">
                  <a:xfrm>
                    <a:off x="886" y="3690"/>
                    <a:ext cx="49" cy="23"/>
                    <a:chOff x="886" y="3690"/>
                    <a:chExt cx="49" cy="23"/>
                  </a:xfrm>
                </p:grpSpPr>
                <p:sp>
                  <p:nvSpPr>
                    <p:cNvPr id="1666"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7"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8"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8" name="Group 2380"/>
                  <p:cNvGrpSpPr>
                    <a:grpSpLocks/>
                  </p:cNvGrpSpPr>
                  <p:nvPr/>
                </p:nvGrpSpPr>
                <p:grpSpPr bwMode="auto">
                  <a:xfrm>
                    <a:off x="899" y="3703"/>
                    <a:ext cx="48" cy="23"/>
                    <a:chOff x="899" y="3703"/>
                    <a:chExt cx="48" cy="23"/>
                  </a:xfrm>
                </p:grpSpPr>
                <p:sp>
                  <p:nvSpPr>
                    <p:cNvPr id="1663"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4"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5"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9" name="Group 2384"/>
                  <p:cNvGrpSpPr>
                    <a:grpSpLocks/>
                  </p:cNvGrpSpPr>
                  <p:nvPr/>
                </p:nvGrpSpPr>
                <p:grpSpPr bwMode="auto">
                  <a:xfrm>
                    <a:off x="912" y="3716"/>
                    <a:ext cx="48" cy="23"/>
                    <a:chOff x="912" y="3716"/>
                    <a:chExt cx="48" cy="23"/>
                  </a:xfrm>
                </p:grpSpPr>
                <p:sp>
                  <p:nvSpPr>
                    <p:cNvPr id="1660"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1"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2"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9" name="Group 2388"/>
                <p:cNvGrpSpPr>
                  <a:grpSpLocks/>
                </p:cNvGrpSpPr>
                <p:nvPr/>
              </p:nvGrpSpPr>
              <p:grpSpPr bwMode="auto">
                <a:xfrm>
                  <a:off x="922" y="3727"/>
                  <a:ext cx="49" cy="23"/>
                  <a:chOff x="922" y="3727"/>
                  <a:chExt cx="49" cy="23"/>
                </a:xfrm>
              </p:grpSpPr>
              <p:sp>
                <p:nvSpPr>
                  <p:cNvPr id="1652"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3"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4"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0" name="Group 2392"/>
                <p:cNvGrpSpPr>
                  <a:grpSpLocks/>
                </p:cNvGrpSpPr>
                <p:nvPr/>
              </p:nvGrpSpPr>
              <p:grpSpPr bwMode="auto">
                <a:xfrm>
                  <a:off x="895" y="3526"/>
                  <a:ext cx="44" cy="23"/>
                  <a:chOff x="895" y="3526"/>
                  <a:chExt cx="44" cy="23"/>
                </a:xfrm>
              </p:grpSpPr>
              <p:sp>
                <p:nvSpPr>
                  <p:cNvPr id="1649"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0"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1"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1" name="Group 2396"/>
                <p:cNvGrpSpPr>
                  <a:grpSpLocks/>
                </p:cNvGrpSpPr>
                <p:nvPr/>
              </p:nvGrpSpPr>
              <p:grpSpPr bwMode="auto">
                <a:xfrm>
                  <a:off x="907" y="3540"/>
                  <a:ext cx="45" cy="22"/>
                  <a:chOff x="907" y="3540"/>
                  <a:chExt cx="45" cy="22"/>
                </a:xfrm>
              </p:grpSpPr>
              <p:sp>
                <p:nvSpPr>
                  <p:cNvPr id="1646"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7"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8"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2" name="Group 2400"/>
                <p:cNvGrpSpPr>
                  <a:grpSpLocks/>
                </p:cNvGrpSpPr>
                <p:nvPr/>
              </p:nvGrpSpPr>
              <p:grpSpPr bwMode="auto">
                <a:xfrm>
                  <a:off x="920" y="3553"/>
                  <a:ext cx="45" cy="23"/>
                  <a:chOff x="920" y="3553"/>
                  <a:chExt cx="45" cy="23"/>
                </a:xfrm>
              </p:grpSpPr>
              <p:sp>
                <p:nvSpPr>
                  <p:cNvPr id="1643"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4"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5"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3" name="Group 2404"/>
                <p:cNvGrpSpPr>
                  <a:grpSpLocks/>
                </p:cNvGrpSpPr>
                <p:nvPr/>
              </p:nvGrpSpPr>
              <p:grpSpPr bwMode="auto">
                <a:xfrm>
                  <a:off x="934" y="3566"/>
                  <a:ext cx="44" cy="23"/>
                  <a:chOff x="934" y="3566"/>
                  <a:chExt cx="44" cy="23"/>
                </a:xfrm>
              </p:grpSpPr>
              <p:sp>
                <p:nvSpPr>
                  <p:cNvPr id="1640"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1"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2"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4" name="Group 2408"/>
                <p:cNvGrpSpPr>
                  <a:grpSpLocks/>
                </p:cNvGrpSpPr>
                <p:nvPr/>
              </p:nvGrpSpPr>
              <p:grpSpPr bwMode="auto">
                <a:xfrm>
                  <a:off x="949" y="3579"/>
                  <a:ext cx="83" cy="63"/>
                  <a:chOff x="949" y="3579"/>
                  <a:chExt cx="83" cy="63"/>
                </a:xfrm>
              </p:grpSpPr>
              <p:grpSp>
                <p:nvGrpSpPr>
                  <p:cNvPr id="1624" name="Group 2409"/>
                  <p:cNvGrpSpPr>
                    <a:grpSpLocks/>
                  </p:cNvGrpSpPr>
                  <p:nvPr/>
                </p:nvGrpSpPr>
                <p:grpSpPr bwMode="auto">
                  <a:xfrm>
                    <a:off x="949" y="3579"/>
                    <a:ext cx="44" cy="23"/>
                    <a:chOff x="949" y="3579"/>
                    <a:chExt cx="44" cy="23"/>
                  </a:xfrm>
                </p:grpSpPr>
                <p:sp>
                  <p:nvSpPr>
                    <p:cNvPr id="1637"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8"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9"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5" name="Group 2413"/>
                  <p:cNvGrpSpPr>
                    <a:grpSpLocks/>
                  </p:cNvGrpSpPr>
                  <p:nvPr/>
                </p:nvGrpSpPr>
                <p:grpSpPr bwMode="auto">
                  <a:xfrm>
                    <a:off x="961" y="3592"/>
                    <a:ext cx="45" cy="23"/>
                    <a:chOff x="961" y="3592"/>
                    <a:chExt cx="45" cy="23"/>
                  </a:xfrm>
                </p:grpSpPr>
                <p:sp>
                  <p:nvSpPr>
                    <p:cNvPr id="1634"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5"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6"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6" name="Group 2417"/>
                  <p:cNvGrpSpPr>
                    <a:grpSpLocks/>
                  </p:cNvGrpSpPr>
                  <p:nvPr/>
                </p:nvGrpSpPr>
                <p:grpSpPr bwMode="auto">
                  <a:xfrm>
                    <a:off x="974" y="3606"/>
                    <a:ext cx="44" cy="23"/>
                    <a:chOff x="974" y="3606"/>
                    <a:chExt cx="44" cy="23"/>
                  </a:xfrm>
                </p:grpSpPr>
                <p:sp>
                  <p:nvSpPr>
                    <p:cNvPr id="1631"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2"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3"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7" name="Group 2421"/>
                  <p:cNvGrpSpPr>
                    <a:grpSpLocks/>
                  </p:cNvGrpSpPr>
                  <p:nvPr/>
                </p:nvGrpSpPr>
                <p:grpSpPr bwMode="auto">
                  <a:xfrm>
                    <a:off x="987" y="3619"/>
                    <a:ext cx="45" cy="23"/>
                    <a:chOff x="987" y="3619"/>
                    <a:chExt cx="45" cy="23"/>
                  </a:xfrm>
                </p:grpSpPr>
                <p:sp>
                  <p:nvSpPr>
                    <p:cNvPr id="1628"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9"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0"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5" name="Group 2425"/>
                <p:cNvGrpSpPr>
                  <a:grpSpLocks/>
                </p:cNvGrpSpPr>
                <p:nvPr/>
              </p:nvGrpSpPr>
              <p:grpSpPr bwMode="auto">
                <a:xfrm>
                  <a:off x="1002" y="3632"/>
                  <a:ext cx="83" cy="63"/>
                  <a:chOff x="1002" y="3632"/>
                  <a:chExt cx="83" cy="63"/>
                </a:xfrm>
              </p:grpSpPr>
              <p:grpSp>
                <p:nvGrpSpPr>
                  <p:cNvPr id="1608" name="Group 2426"/>
                  <p:cNvGrpSpPr>
                    <a:grpSpLocks/>
                  </p:cNvGrpSpPr>
                  <p:nvPr/>
                </p:nvGrpSpPr>
                <p:grpSpPr bwMode="auto">
                  <a:xfrm>
                    <a:off x="1002" y="3632"/>
                    <a:ext cx="44" cy="22"/>
                    <a:chOff x="1002" y="3632"/>
                    <a:chExt cx="44" cy="22"/>
                  </a:xfrm>
                </p:grpSpPr>
                <p:sp>
                  <p:nvSpPr>
                    <p:cNvPr id="1621"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2"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3"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9" name="Group 2430"/>
                  <p:cNvGrpSpPr>
                    <a:grpSpLocks/>
                  </p:cNvGrpSpPr>
                  <p:nvPr/>
                </p:nvGrpSpPr>
                <p:grpSpPr bwMode="auto">
                  <a:xfrm>
                    <a:off x="1014" y="3645"/>
                    <a:ext cx="44" cy="23"/>
                    <a:chOff x="1014" y="3645"/>
                    <a:chExt cx="44" cy="23"/>
                  </a:xfrm>
                </p:grpSpPr>
                <p:sp>
                  <p:nvSpPr>
                    <p:cNvPr id="1618"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9"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0"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0" name="Group 2434"/>
                  <p:cNvGrpSpPr>
                    <a:grpSpLocks/>
                  </p:cNvGrpSpPr>
                  <p:nvPr/>
                </p:nvGrpSpPr>
                <p:grpSpPr bwMode="auto">
                  <a:xfrm>
                    <a:off x="1027" y="3659"/>
                    <a:ext cx="45" cy="23"/>
                    <a:chOff x="1027" y="3659"/>
                    <a:chExt cx="45" cy="23"/>
                  </a:xfrm>
                </p:grpSpPr>
                <p:sp>
                  <p:nvSpPr>
                    <p:cNvPr id="1615"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6"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7"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1" name="Group 2438"/>
                  <p:cNvGrpSpPr>
                    <a:grpSpLocks/>
                  </p:cNvGrpSpPr>
                  <p:nvPr/>
                </p:nvGrpSpPr>
                <p:grpSpPr bwMode="auto">
                  <a:xfrm>
                    <a:off x="1040" y="3672"/>
                    <a:ext cx="45" cy="23"/>
                    <a:chOff x="1040" y="3672"/>
                    <a:chExt cx="45" cy="23"/>
                  </a:xfrm>
                </p:grpSpPr>
                <p:sp>
                  <p:nvSpPr>
                    <p:cNvPr id="1612"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3"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4"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6" name="Group 2442"/>
                <p:cNvGrpSpPr>
                  <a:grpSpLocks/>
                </p:cNvGrpSpPr>
                <p:nvPr/>
              </p:nvGrpSpPr>
              <p:grpSpPr bwMode="auto">
                <a:xfrm>
                  <a:off x="1054" y="3685"/>
                  <a:ext cx="45" cy="23"/>
                  <a:chOff x="1054" y="3685"/>
                  <a:chExt cx="45" cy="23"/>
                </a:xfrm>
              </p:grpSpPr>
              <p:sp>
                <p:nvSpPr>
                  <p:cNvPr id="1605"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6"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7"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7" name="Group 2446"/>
                <p:cNvGrpSpPr>
                  <a:grpSpLocks/>
                </p:cNvGrpSpPr>
                <p:nvPr/>
              </p:nvGrpSpPr>
              <p:grpSpPr bwMode="auto">
                <a:xfrm>
                  <a:off x="1067" y="3698"/>
                  <a:ext cx="45" cy="23"/>
                  <a:chOff x="1067" y="3698"/>
                  <a:chExt cx="45" cy="23"/>
                </a:xfrm>
              </p:grpSpPr>
              <p:sp>
                <p:nvSpPr>
                  <p:cNvPr id="1602"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3"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4"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8" name="Group 2450"/>
                <p:cNvGrpSpPr>
                  <a:grpSpLocks/>
                </p:cNvGrpSpPr>
                <p:nvPr/>
              </p:nvGrpSpPr>
              <p:grpSpPr bwMode="auto">
                <a:xfrm>
                  <a:off x="1079" y="3712"/>
                  <a:ext cx="44" cy="23"/>
                  <a:chOff x="1079" y="3712"/>
                  <a:chExt cx="44" cy="23"/>
                </a:xfrm>
              </p:grpSpPr>
              <p:sp>
                <p:nvSpPr>
                  <p:cNvPr id="1599"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0"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1"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9" name="Group 2454"/>
                <p:cNvGrpSpPr>
                  <a:grpSpLocks/>
                </p:cNvGrpSpPr>
                <p:nvPr/>
              </p:nvGrpSpPr>
              <p:grpSpPr bwMode="auto">
                <a:xfrm>
                  <a:off x="1093" y="3725"/>
                  <a:ext cx="45" cy="23"/>
                  <a:chOff x="1093" y="3725"/>
                  <a:chExt cx="45" cy="23"/>
                </a:xfrm>
              </p:grpSpPr>
              <p:sp>
                <p:nvSpPr>
                  <p:cNvPr id="1596"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7"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8"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0" name="Group 2458"/>
                <p:cNvGrpSpPr>
                  <a:grpSpLocks/>
                </p:cNvGrpSpPr>
                <p:nvPr/>
              </p:nvGrpSpPr>
              <p:grpSpPr bwMode="auto">
                <a:xfrm>
                  <a:off x="1108" y="3739"/>
                  <a:ext cx="44" cy="23"/>
                  <a:chOff x="1108" y="3739"/>
                  <a:chExt cx="44" cy="23"/>
                </a:xfrm>
              </p:grpSpPr>
              <p:sp>
                <p:nvSpPr>
                  <p:cNvPr id="1593"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4"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5"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1" name="Group 2462"/>
                <p:cNvGrpSpPr>
                  <a:grpSpLocks/>
                </p:cNvGrpSpPr>
                <p:nvPr/>
              </p:nvGrpSpPr>
              <p:grpSpPr bwMode="auto">
                <a:xfrm>
                  <a:off x="1121" y="3753"/>
                  <a:ext cx="45" cy="23"/>
                  <a:chOff x="1121" y="3753"/>
                  <a:chExt cx="45" cy="23"/>
                </a:xfrm>
              </p:grpSpPr>
              <p:sp>
                <p:nvSpPr>
                  <p:cNvPr id="1590"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1"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2"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2" name="Group 2466"/>
                <p:cNvGrpSpPr>
                  <a:grpSpLocks/>
                </p:cNvGrpSpPr>
                <p:nvPr/>
              </p:nvGrpSpPr>
              <p:grpSpPr bwMode="auto">
                <a:xfrm>
                  <a:off x="1133" y="3767"/>
                  <a:ext cx="44" cy="23"/>
                  <a:chOff x="1133" y="3767"/>
                  <a:chExt cx="44" cy="23"/>
                </a:xfrm>
              </p:grpSpPr>
              <p:sp>
                <p:nvSpPr>
                  <p:cNvPr id="1587"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8"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9"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33"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4"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5"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6"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7"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8"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9"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0"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1"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2"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3"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44" name="Group 2481"/>
                <p:cNvGrpSpPr>
                  <a:grpSpLocks/>
                </p:cNvGrpSpPr>
                <p:nvPr/>
              </p:nvGrpSpPr>
              <p:grpSpPr bwMode="auto">
                <a:xfrm>
                  <a:off x="700" y="3535"/>
                  <a:ext cx="49" cy="24"/>
                  <a:chOff x="700" y="3535"/>
                  <a:chExt cx="49" cy="24"/>
                </a:xfrm>
              </p:grpSpPr>
              <p:sp>
                <p:nvSpPr>
                  <p:cNvPr id="1584"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5"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6"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5" name="Group 2485"/>
                <p:cNvGrpSpPr>
                  <a:grpSpLocks/>
                </p:cNvGrpSpPr>
                <p:nvPr/>
              </p:nvGrpSpPr>
              <p:grpSpPr bwMode="auto">
                <a:xfrm>
                  <a:off x="714" y="3551"/>
                  <a:ext cx="49" cy="22"/>
                  <a:chOff x="714" y="3551"/>
                  <a:chExt cx="49" cy="22"/>
                </a:xfrm>
              </p:grpSpPr>
              <p:sp>
                <p:nvSpPr>
                  <p:cNvPr id="1581"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2"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3"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6" name="Group 2489"/>
                <p:cNvGrpSpPr>
                  <a:grpSpLocks/>
                </p:cNvGrpSpPr>
                <p:nvPr/>
              </p:nvGrpSpPr>
              <p:grpSpPr bwMode="auto">
                <a:xfrm>
                  <a:off x="728" y="3564"/>
                  <a:ext cx="48" cy="23"/>
                  <a:chOff x="728" y="3564"/>
                  <a:chExt cx="48" cy="23"/>
                </a:xfrm>
              </p:grpSpPr>
              <p:sp>
                <p:nvSpPr>
                  <p:cNvPr id="1578"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9"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0"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7" name="Group 2493"/>
                <p:cNvGrpSpPr>
                  <a:grpSpLocks/>
                </p:cNvGrpSpPr>
                <p:nvPr/>
              </p:nvGrpSpPr>
              <p:grpSpPr bwMode="auto">
                <a:xfrm>
                  <a:off x="742" y="3582"/>
                  <a:ext cx="49" cy="23"/>
                  <a:chOff x="742" y="3582"/>
                  <a:chExt cx="49" cy="23"/>
                </a:xfrm>
              </p:grpSpPr>
              <p:sp>
                <p:nvSpPr>
                  <p:cNvPr id="1575"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6"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7"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8" name="Group 2497"/>
                <p:cNvGrpSpPr>
                  <a:grpSpLocks/>
                </p:cNvGrpSpPr>
                <p:nvPr/>
              </p:nvGrpSpPr>
              <p:grpSpPr bwMode="auto">
                <a:xfrm>
                  <a:off x="752" y="3597"/>
                  <a:ext cx="133" cy="106"/>
                  <a:chOff x="752" y="3597"/>
                  <a:chExt cx="133" cy="106"/>
                </a:xfrm>
              </p:grpSpPr>
              <p:sp>
                <p:nvSpPr>
                  <p:cNvPr id="1572"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3"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4"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9" name="Group 2501"/>
                <p:cNvGrpSpPr>
                  <a:grpSpLocks/>
                </p:cNvGrpSpPr>
                <p:nvPr/>
              </p:nvGrpSpPr>
              <p:grpSpPr bwMode="auto">
                <a:xfrm>
                  <a:off x="844" y="3694"/>
                  <a:ext cx="48" cy="23"/>
                  <a:chOff x="844" y="3694"/>
                  <a:chExt cx="48" cy="23"/>
                </a:xfrm>
              </p:grpSpPr>
              <p:sp>
                <p:nvSpPr>
                  <p:cNvPr id="1569"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0"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1"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0" name="Group 2505"/>
                <p:cNvGrpSpPr>
                  <a:grpSpLocks/>
                </p:cNvGrpSpPr>
                <p:nvPr/>
              </p:nvGrpSpPr>
              <p:grpSpPr bwMode="auto">
                <a:xfrm>
                  <a:off x="857" y="3710"/>
                  <a:ext cx="49" cy="22"/>
                  <a:chOff x="857" y="3710"/>
                  <a:chExt cx="49" cy="22"/>
                </a:xfrm>
              </p:grpSpPr>
              <p:sp>
                <p:nvSpPr>
                  <p:cNvPr id="1566"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7"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8"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1" name="Group 2509"/>
                <p:cNvGrpSpPr>
                  <a:grpSpLocks/>
                </p:cNvGrpSpPr>
                <p:nvPr/>
              </p:nvGrpSpPr>
              <p:grpSpPr bwMode="auto">
                <a:xfrm>
                  <a:off x="1086" y="3766"/>
                  <a:ext cx="49" cy="23"/>
                  <a:chOff x="1086" y="3766"/>
                  <a:chExt cx="49" cy="23"/>
                </a:xfrm>
              </p:grpSpPr>
              <p:sp>
                <p:nvSpPr>
                  <p:cNvPr id="1563"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4"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5"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2" name="Group 2513"/>
                <p:cNvGrpSpPr>
                  <a:grpSpLocks/>
                </p:cNvGrpSpPr>
                <p:nvPr/>
              </p:nvGrpSpPr>
              <p:grpSpPr bwMode="auto">
                <a:xfrm>
                  <a:off x="934" y="3740"/>
                  <a:ext cx="48" cy="23"/>
                  <a:chOff x="934" y="3740"/>
                  <a:chExt cx="48" cy="23"/>
                </a:xfrm>
              </p:grpSpPr>
              <p:sp>
                <p:nvSpPr>
                  <p:cNvPr id="1560"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1"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2"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3" name="Group 2517"/>
                <p:cNvGrpSpPr>
                  <a:grpSpLocks/>
                </p:cNvGrpSpPr>
                <p:nvPr/>
              </p:nvGrpSpPr>
              <p:grpSpPr bwMode="auto">
                <a:xfrm>
                  <a:off x="943" y="3754"/>
                  <a:ext cx="49" cy="23"/>
                  <a:chOff x="943" y="3754"/>
                  <a:chExt cx="49" cy="23"/>
                </a:xfrm>
              </p:grpSpPr>
              <p:sp>
                <p:nvSpPr>
                  <p:cNvPr id="1557"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8"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9"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54"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5"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6"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51" name="Group 2524"/>
              <p:cNvGrpSpPr>
                <a:grpSpLocks/>
              </p:cNvGrpSpPr>
              <p:nvPr/>
            </p:nvGrpSpPr>
            <p:grpSpPr bwMode="auto">
              <a:xfrm>
                <a:off x="920" y="3821"/>
                <a:ext cx="413" cy="50"/>
                <a:chOff x="920" y="3821"/>
                <a:chExt cx="413" cy="50"/>
              </a:xfrm>
            </p:grpSpPr>
            <p:sp>
              <p:nvSpPr>
                <p:cNvPr id="1472"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3"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4"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5"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452" name="Group 2529"/>
              <p:cNvGrpSpPr>
                <a:grpSpLocks/>
              </p:cNvGrpSpPr>
              <p:nvPr/>
            </p:nvGrpSpPr>
            <p:grpSpPr bwMode="auto">
              <a:xfrm>
                <a:off x="1227" y="3477"/>
                <a:ext cx="508" cy="321"/>
                <a:chOff x="1227" y="3477"/>
                <a:chExt cx="508" cy="321"/>
              </a:xfrm>
            </p:grpSpPr>
            <p:sp>
              <p:nvSpPr>
                <p:cNvPr id="1453"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4"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5"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6"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7"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8"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9"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0"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1"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2"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3"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4"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5"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6"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7"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8"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9"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0"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1"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890" name="Group 2096"/>
            <p:cNvGrpSpPr>
              <a:grpSpLocks/>
            </p:cNvGrpSpPr>
            <p:nvPr/>
          </p:nvGrpSpPr>
          <p:grpSpPr bwMode="auto">
            <a:xfrm>
              <a:off x="4572000" y="1700213"/>
              <a:ext cx="431800" cy="330200"/>
              <a:chOff x="624" y="2968"/>
              <a:chExt cx="1331" cy="920"/>
            </a:xfrm>
          </p:grpSpPr>
          <p:sp>
            <p:nvSpPr>
              <p:cNvPr id="1891"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2"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3"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4"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5"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6"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7"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8"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9"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0"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1"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2"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03" name="Group 2109"/>
              <p:cNvGrpSpPr>
                <a:grpSpLocks/>
              </p:cNvGrpSpPr>
              <p:nvPr/>
            </p:nvGrpSpPr>
            <p:grpSpPr bwMode="auto">
              <a:xfrm>
                <a:off x="700" y="3526"/>
                <a:ext cx="515" cy="270"/>
                <a:chOff x="700" y="3526"/>
                <a:chExt cx="515" cy="270"/>
              </a:xfrm>
            </p:grpSpPr>
            <p:grpSp>
              <p:nvGrpSpPr>
                <p:cNvPr id="1929" name="Group 2110"/>
                <p:cNvGrpSpPr>
                  <a:grpSpLocks/>
                </p:cNvGrpSpPr>
                <p:nvPr/>
              </p:nvGrpSpPr>
              <p:grpSpPr bwMode="auto">
                <a:xfrm>
                  <a:off x="737" y="3534"/>
                  <a:ext cx="49" cy="23"/>
                  <a:chOff x="737" y="3534"/>
                  <a:chExt cx="49" cy="23"/>
                </a:xfrm>
              </p:grpSpPr>
              <p:sp>
                <p:nvSpPr>
                  <p:cNvPr id="2340"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1"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2"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0" name="Group 2114"/>
                <p:cNvGrpSpPr>
                  <a:grpSpLocks/>
                </p:cNvGrpSpPr>
                <p:nvPr/>
              </p:nvGrpSpPr>
              <p:grpSpPr bwMode="auto">
                <a:xfrm>
                  <a:off x="748" y="3547"/>
                  <a:ext cx="50" cy="23"/>
                  <a:chOff x="748" y="3547"/>
                  <a:chExt cx="50" cy="23"/>
                </a:xfrm>
              </p:grpSpPr>
              <p:sp>
                <p:nvSpPr>
                  <p:cNvPr id="2337"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8"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9"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31"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2"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3"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4"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5" name="Group 2122"/>
                <p:cNvGrpSpPr>
                  <a:grpSpLocks/>
                </p:cNvGrpSpPr>
                <p:nvPr/>
              </p:nvGrpSpPr>
              <p:grpSpPr bwMode="auto">
                <a:xfrm>
                  <a:off x="872" y="3547"/>
                  <a:ext cx="50" cy="23"/>
                  <a:chOff x="872" y="3547"/>
                  <a:chExt cx="50" cy="23"/>
                </a:xfrm>
              </p:grpSpPr>
              <p:sp>
                <p:nvSpPr>
                  <p:cNvPr id="2334"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5"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6"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6" name="Group 2126"/>
                <p:cNvGrpSpPr>
                  <a:grpSpLocks/>
                </p:cNvGrpSpPr>
                <p:nvPr/>
              </p:nvGrpSpPr>
              <p:grpSpPr bwMode="auto">
                <a:xfrm>
                  <a:off x="885" y="3559"/>
                  <a:ext cx="50" cy="23"/>
                  <a:chOff x="885" y="3559"/>
                  <a:chExt cx="50" cy="23"/>
                </a:xfrm>
              </p:grpSpPr>
              <p:sp>
                <p:nvSpPr>
                  <p:cNvPr id="2331"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2"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3"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7" name="Group 2130"/>
                <p:cNvGrpSpPr>
                  <a:grpSpLocks/>
                </p:cNvGrpSpPr>
                <p:nvPr/>
              </p:nvGrpSpPr>
              <p:grpSpPr bwMode="auto">
                <a:xfrm>
                  <a:off x="898" y="3571"/>
                  <a:ext cx="49" cy="23"/>
                  <a:chOff x="898" y="3571"/>
                  <a:chExt cx="49" cy="23"/>
                </a:xfrm>
              </p:grpSpPr>
              <p:sp>
                <p:nvSpPr>
                  <p:cNvPr id="2328"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9"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0"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8" name="Group 2134"/>
                <p:cNvGrpSpPr>
                  <a:grpSpLocks/>
                </p:cNvGrpSpPr>
                <p:nvPr/>
              </p:nvGrpSpPr>
              <p:grpSpPr bwMode="auto">
                <a:xfrm>
                  <a:off x="911" y="3585"/>
                  <a:ext cx="49" cy="23"/>
                  <a:chOff x="911" y="3585"/>
                  <a:chExt cx="49" cy="23"/>
                </a:xfrm>
              </p:grpSpPr>
              <p:sp>
                <p:nvSpPr>
                  <p:cNvPr id="2325"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6"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7"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9" name="Group 2138"/>
                <p:cNvGrpSpPr>
                  <a:grpSpLocks/>
                </p:cNvGrpSpPr>
                <p:nvPr/>
              </p:nvGrpSpPr>
              <p:grpSpPr bwMode="auto">
                <a:xfrm>
                  <a:off x="923" y="3600"/>
                  <a:ext cx="99" cy="73"/>
                  <a:chOff x="923" y="3600"/>
                  <a:chExt cx="99" cy="73"/>
                </a:xfrm>
              </p:grpSpPr>
              <p:grpSp>
                <p:nvGrpSpPr>
                  <p:cNvPr id="2305" name="Group 2139"/>
                  <p:cNvGrpSpPr>
                    <a:grpSpLocks/>
                  </p:cNvGrpSpPr>
                  <p:nvPr/>
                </p:nvGrpSpPr>
                <p:grpSpPr bwMode="auto">
                  <a:xfrm>
                    <a:off x="923" y="3600"/>
                    <a:ext cx="49" cy="23"/>
                    <a:chOff x="923" y="3600"/>
                    <a:chExt cx="49" cy="23"/>
                  </a:xfrm>
                </p:grpSpPr>
                <p:sp>
                  <p:nvSpPr>
                    <p:cNvPr id="2322"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3"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4"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6" name="Group 2143"/>
                  <p:cNvGrpSpPr>
                    <a:grpSpLocks/>
                  </p:cNvGrpSpPr>
                  <p:nvPr/>
                </p:nvGrpSpPr>
                <p:grpSpPr bwMode="auto">
                  <a:xfrm>
                    <a:off x="935" y="3612"/>
                    <a:ext cx="48" cy="23"/>
                    <a:chOff x="935" y="3612"/>
                    <a:chExt cx="48" cy="23"/>
                  </a:xfrm>
                </p:grpSpPr>
                <p:sp>
                  <p:nvSpPr>
                    <p:cNvPr id="2319"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0"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1"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7" name="Group 2147"/>
                  <p:cNvGrpSpPr>
                    <a:grpSpLocks/>
                  </p:cNvGrpSpPr>
                  <p:nvPr/>
                </p:nvGrpSpPr>
                <p:grpSpPr bwMode="auto">
                  <a:xfrm>
                    <a:off x="947" y="3625"/>
                    <a:ext cx="50" cy="22"/>
                    <a:chOff x="947" y="3625"/>
                    <a:chExt cx="50" cy="22"/>
                  </a:xfrm>
                </p:grpSpPr>
                <p:sp>
                  <p:nvSpPr>
                    <p:cNvPr id="2316"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7"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8"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8" name="Group 2151"/>
                  <p:cNvGrpSpPr>
                    <a:grpSpLocks/>
                  </p:cNvGrpSpPr>
                  <p:nvPr/>
                </p:nvGrpSpPr>
                <p:grpSpPr bwMode="auto">
                  <a:xfrm>
                    <a:off x="960" y="3637"/>
                    <a:ext cx="50" cy="23"/>
                    <a:chOff x="960" y="3637"/>
                    <a:chExt cx="50" cy="23"/>
                  </a:xfrm>
                </p:grpSpPr>
                <p:sp>
                  <p:nvSpPr>
                    <p:cNvPr id="2313"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4"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5"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9" name="Group 2155"/>
                  <p:cNvGrpSpPr>
                    <a:grpSpLocks/>
                  </p:cNvGrpSpPr>
                  <p:nvPr/>
                </p:nvGrpSpPr>
                <p:grpSpPr bwMode="auto">
                  <a:xfrm>
                    <a:off x="973" y="3650"/>
                    <a:ext cx="49" cy="23"/>
                    <a:chOff x="973" y="3650"/>
                    <a:chExt cx="49" cy="23"/>
                  </a:xfrm>
                </p:grpSpPr>
                <p:sp>
                  <p:nvSpPr>
                    <p:cNvPr id="2310"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1"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2"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0" name="Group 2159"/>
                <p:cNvGrpSpPr>
                  <a:grpSpLocks/>
                </p:cNvGrpSpPr>
                <p:nvPr/>
              </p:nvGrpSpPr>
              <p:grpSpPr bwMode="auto">
                <a:xfrm>
                  <a:off x="985" y="3665"/>
                  <a:ext cx="100" cy="73"/>
                  <a:chOff x="985" y="3665"/>
                  <a:chExt cx="100" cy="73"/>
                </a:xfrm>
              </p:grpSpPr>
              <p:grpSp>
                <p:nvGrpSpPr>
                  <p:cNvPr id="2285" name="Group 2160"/>
                  <p:cNvGrpSpPr>
                    <a:grpSpLocks/>
                  </p:cNvGrpSpPr>
                  <p:nvPr/>
                </p:nvGrpSpPr>
                <p:grpSpPr bwMode="auto">
                  <a:xfrm>
                    <a:off x="985" y="3665"/>
                    <a:ext cx="50" cy="23"/>
                    <a:chOff x="985" y="3665"/>
                    <a:chExt cx="50" cy="23"/>
                  </a:xfrm>
                </p:grpSpPr>
                <p:sp>
                  <p:nvSpPr>
                    <p:cNvPr id="2302"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3"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4"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6" name="Group 2164"/>
                  <p:cNvGrpSpPr>
                    <a:grpSpLocks/>
                  </p:cNvGrpSpPr>
                  <p:nvPr/>
                </p:nvGrpSpPr>
                <p:grpSpPr bwMode="auto">
                  <a:xfrm>
                    <a:off x="997" y="3677"/>
                    <a:ext cx="49" cy="23"/>
                    <a:chOff x="997" y="3677"/>
                    <a:chExt cx="49" cy="23"/>
                  </a:xfrm>
                </p:grpSpPr>
                <p:sp>
                  <p:nvSpPr>
                    <p:cNvPr id="2299"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0"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1"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7" name="Group 2168"/>
                  <p:cNvGrpSpPr>
                    <a:grpSpLocks/>
                  </p:cNvGrpSpPr>
                  <p:nvPr/>
                </p:nvGrpSpPr>
                <p:grpSpPr bwMode="auto">
                  <a:xfrm>
                    <a:off x="1010" y="3690"/>
                    <a:ext cx="48" cy="23"/>
                    <a:chOff x="1010" y="3690"/>
                    <a:chExt cx="48" cy="23"/>
                  </a:xfrm>
                </p:grpSpPr>
                <p:sp>
                  <p:nvSpPr>
                    <p:cNvPr id="2296"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7"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8"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8" name="Group 2172"/>
                  <p:cNvGrpSpPr>
                    <a:grpSpLocks/>
                  </p:cNvGrpSpPr>
                  <p:nvPr/>
                </p:nvGrpSpPr>
                <p:grpSpPr bwMode="auto">
                  <a:xfrm>
                    <a:off x="1023" y="3703"/>
                    <a:ext cx="49" cy="22"/>
                    <a:chOff x="1023" y="3703"/>
                    <a:chExt cx="49" cy="22"/>
                  </a:xfrm>
                </p:grpSpPr>
                <p:sp>
                  <p:nvSpPr>
                    <p:cNvPr id="2293"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4"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5"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9" name="Group 2176"/>
                  <p:cNvGrpSpPr>
                    <a:grpSpLocks/>
                  </p:cNvGrpSpPr>
                  <p:nvPr/>
                </p:nvGrpSpPr>
                <p:grpSpPr bwMode="auto">
                  <a:xfrm>
                    <a:off x="1036" y="3716"/>
                    <a:ext cx="49" cy="22"/>
                    <a:chOff x="1036" y="3716"/>
                    <a:chExt cx="49" cy="22"/>
                  </a:xfrm>
                </p:grpSpPr>
                <p:sp>
                  <p:nvSpPr>
                    <p:cNvPr id="2290"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1"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2"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1" name="Group 2180"/>
                <p:cNvGrpSpPr>
                  <a:grpSpLocks/>
                </p:cNvGrpSpPr>
                <p:nvPr/>
              </p:nvGrpSpPr>
              <p:grpSpPr bwMode="auto">
                <a:xfrm>
                  <a:off x="1046" y="3727"/>
                  <a:ext cx="49" cy="23"/>
                  <a:chOff x="1046" y="3727"/>
                  <a:chExt cx="49" cy="23"/>
                </a:xfrm>
              </p:grpSpPr>
              <p:sp>
                <p:nvSpPr>
                  <p:cNvPr id="2282"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3"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4"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2" name="Group 2184"/>
                <p:cNvGrpSpPr>
                  <a:grpSpLocks/>
                </p:cNvGrpSpPr>
                <p:nvPr/>
              </p:nvGrpSpPr>
              <p:grpSpPr bwMode="auto">
                <a:xfrm>
                  <a:off x="1058" y="3739"/>
                  <a:ext cx="50" cy="23"/>
                  <a:chOff x="1058" y="3739"/>
                  <a:chExt cx="50" cy="23"/>
                </a:xfrm>
              </p:grpSpPr>
              <p:sp>
                <p:nvSpPr>
                  <p:cNvPr id="2279"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0"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1"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3" name="Group 2188"/>
                <p:cNvGrpSpPr>
                  <a:grpSpLocks/>
                </p:cNvGrpSpPr>
                <p:nvPr/>
              </p:nvGrpSpPr>
              <p:grpSpPr bwMode="auto">
                <a:xfrm>
                  <a:off x="1072" y="3753"/>
                  <a:ext cx="48" cy="22"/>
                  <a:chOff x="1072" y="3753"/>
                  <a:chExt cx="48" cy="22"/>
                </a:xfrm>
              </p:grpSpPr>
              <p:sp>
                <p:nvSpPr>
                  <p:cNvPr id="2276"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7"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8"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44"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5"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6"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47" name="Group 2195"/>
                <p:cNvGrpSpPr>
                  <a:grpSpLocks/>
                </p:cNvGrpSpPr>
                <p:nvPr/>
              </p:nvGrpSpPr>
              <p:grpSpPr bwMode="auto">
                <a:xfrm>
                  <a:off x="832" y="3547"/>
                  <a:ext cx="49" cy="23"/>
                  <a:chOff x="832" y="3547"/>
                  <a:chExt cx="49" cy="23"/>
                </a:xfrm>
              </p:grpSpPr>
              <p:sp>
                <p:nvSpPr>
                  <p:cNvPr id="2273"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4"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5"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8" name="Group 2199"/>
                <p:cNvGrpSpPr>
                  <a:grpSpLocks/>
                </p:cNvGrpSpPr>
                <p:nvPr/>
              </p:nvGrpSpPr>
              <p:grpSpPr bwMode="auto">
                <a:xfrm>
                  <a:off x="844" y="3560"/>
                  <a:ext cx="49" cy="22"/>
                  <a:chOff x="844" y="3560"/>
                  <a:chExt cx="49" cy="22"/>
                </a:xfrm>
              </p:grpSpPr>
              <p:sp>
                <p:nvSpPr>
                  <p:cNvPr id="2270"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1"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2"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9" name="Group 2203"/>
                <p:cNvGrpSpPr>
                  <a:grpSpLocks/>
                </p:cNvGrpSpPr>
                <p:nvPr/>
              </p:nvGrpSpPr>
              <p:grpSpPr bwMode="auto">
                <a:xfrm>
                  <a:off x="857" y="3572"/>
                  <a:ext cx="50" cy="23"/>
                  <a:chOff x="857" y="3572"/>
                  <a:chExt cx="50" cy="23"/>
                </a:xfrm>
              </p:grpSpPr>
              <p:sp>
                <p:nvSpPr>
                  <p:cNvPr id="2267"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8"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9"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0" name="Group 2207"/>
                <p:cNvGrpSpPr>
                  <a:grpSpLocks/>
                </p:cNvGrpSpPr>
                <p:nvPr/>
              </p:nvGrpSpPr>
              <p:grpSpPr bwMode="auto">
                <a:xfrm>
                  <a:off x="870" y="3585"/>
                  <a:ext cx="48" cy="23"/>
                  <a:chOff x="870" y="3585"/>
                  <a:chExt cx="48" cy="23"/>
                </a:xfrm>
              </p:grpSpPr>
              <p:sp>
                <p:nvSpPr>
                  <p:cNvPr id="2264"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5"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6"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1" name="Group 2211"/>
                <p:cNvGrpSpPr>
                  <a:grpSpLocks/>
                </p:cNvGrpSpPr>
                <p:nvPr/>
              </p:nvGrpSpPr>
              <p:grpSpPr bwMode="auto">
                <a:xfrm>
                  <a:off x="882" y="3600"/>
                  <a:ext cx="100" cy="73"/>
                  <a:chOff x="882" y="3600"/>
                  <a:chExt cx="100" cy="73"/>
                </a:xfrm>
              </p:grpSpPr>
              <p:grpSp>
                <p:nvGrpSpPr>
                  <p:cNvPr id="2244" name="Group 2212"/>
                  <p:cNvGrpSpPr>
                    <a:grpSpLocks/>
                  </p:cNvGrpSpPr>
                  <p:nvPr/>
                </p:nvGrpSpPr>
                <p:grpSpPr bwMode="auto">
                  <a:xfrm>
                    <a:off x="882" y="3600"/>
                    <a:ext cx="49" cy="23"/>
                    <a:chOff x="882" y="3600"/>
                    <a:chExt cx="49" cy="23"/>
                  </a:xfrm>
                </p:grpSpPr>
                <p:sp>
                  <p:nvSpPr>
                    <p:cNvPr id="2261"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2"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3"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5" name="Group 2216"/>
                  <p:cNvGrpSpPr>
                    <a:grpSpLocks/>
                  </p:cNvGrpSpPr>
                  <p:nvPr/>
                </p:nvGrpSpPr>
                <p:grpSpPr bwMode="auto">
                  <a:xfrm>
                    <a:off x="894" y="3612"/>
                    <a:ext cx="49" cy="23"/>
                    <a:chOff x="894" y="3612"/>
                    <a:chExt cx="49" cy="23"/>
                  </a:xfrm>
                </p:grpSpPr>
                <p:sp>
                  <p:nvSpPr>
                    <p:cNvPr id="2258"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9"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0"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6" name="Group 2220"/>
                  <p:cNvGrpSpPr>
                    <a:grpSpLocks/>
                  </p:cNvGrpSpPr>
                  <p:nvPr/>
                </p:nvGrpSpPr>
                <p:grpSpPr bwMode="auto">
                  <a:xfrm>
                    <a:off x="907" y="3625"/>
                    <a:ext cx="49" cy="23"/>
                    <a:chOff x="907" y="3625"/>
                    <a:chExt cx="49" cy="23"/>
                  </a:xfrm>
                </p:grpSpPr>
                <p:sp>
                  <p:nvSpPr>
                    <p:cNvPr id="2255"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6"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7"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7" name="Group 2224"/>
                  <p:cNvGrpSpPr>
                    <a:grpSpLocks/>
                  </p:cNvGrpSpPr>
                  <p:nvPr/>
                </p:nvGrpSpPr>
                <p:grpSpPr bwMode="auto">
                  <a:xfrm>
                    <a:off x="919" y="3638"/>
                    <a:ext cx="49" cy="22"/>
                    <a:chOff x="919" y="3638"/>
                    <a:chExt cx="49" cy="22"/>
                  </a:xfrm>
                </p:grpSpPr>
                <p:sp>
                  <p:nvSpPr>
                    <p:cNvPr id="2252"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3"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4"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8" name="Group 2228"/>
                  <p:cNvGrpSpPr>
                    <a:grpSpLocks/>
                  </p:cNvGrpSpPr>
                  <p:nvPr/>
                </p:nvGrpSpPr>
                <p:grpSpPr bwMode="auto">
                  <a:xfrm>
                    <a:off x="932" y="3651"/>
                    <a:ext cx="50" cy="22"/>
                    <a:chOff x="932" y="3651"/>
                    <a:chExt cx="50" cy="22"/>
                  </a:xfrm>
                </p:grpSpPr>
                <p:sp>
                  <p:nvSpPr>
                    <p:cNvPr id="2249"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0"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1"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2" name="Group 2232"/>
                <p:cNvGrpSpPr>
                  <a:grpSpLocks/>
                </p:cNvGrpSpPr>
                <p:nvPr/>
              </p:nvGrpSpPr>
              <p:grpSpPr bwMode="auto">
                <a:xfrm>
                  <a:off x="944" y="3665"/>
                  <a:ext cx="99" cy="74"/>
                  <a:chOff x="944" y="3665"/>
                  <a:chExt cx="99" cy="74"/>
                </a:xfrm>
              </p:grpSpPr>
              <p:grpSp>
                <p:nvGrpSpPr>
                  <p:cNvPr id="2224" name="Group 2233"/>
                  <p:cNvGrpSpPr>
                    <a:grpSpLocks/>
                  </p:cNvGrpSpPr>
                  <p:nvPr/>
                </p:nvGrpSpPr>
                <p:grpSpPr bwMode="auto">
                  <a:xfrm>
                    <a:off x="944" y="3665"/>
                    <a:ext cx="49" cy="23"/>
                    <a:chOff x="944" y="3665"/>
                    <a:chExt cx="49" cy="23"/>
                  </a:xfrm>
                </p:grpSpPr>
                <p:sp>
                  <p:nvSpPr>
                    <p:cNvPr id="2241"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2"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3"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5" name="Group 2237"/>
                  <p:cNvGrpSpPr>
                    <a:grpSpLocks/>
                  </p:cNvGrpSpPr>
                  <p:nvPr/>
                </p:nvGrpSpPr>
                <p:grpSpPr bwMode="auto">
                  <a:xfrm>
                    <a:off x="957" y="3678"/>
                    <a:ext cx="48" cy="23"/>
                    <a:chOff x="957" y="3678"/>
                    <a:chExt cx="48" cy="23"/>
                  </a:xfrm>
                </p:grpSpPr>
                <p:sp>
                  <p:nvSpPr>
                    <p:cNvPr id="2238"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9"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0"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6" name="Group 2241"/>
                  <p:cNvGrpSpPr>
                    <a:grpSpLocks/>
                  </p:cNvGrpSpPr>
                  <p:nvPr/>
                </p:nvGrpSpPr>
                <p:grpSpPr bwMode="auto">
                  <a:xfrm>
                    <a:off x="969" y="3690"/>
                    <a:ext cx="49" cy="23"/>
                    <a:chOff x="969" y="3690"/>
                    <a:chExt cx="49" cy="23"/>
                  </a:xfrm>
                </p:grpSpPr>
                <p:sp>
                  <p:nvSpPr>
                    <p:cNvPr id="2235"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6"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7"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7" name="Group 2245"/>
                  <p:cNvGrpSpPr>
                    <a:grpSpLocks/>
                  </p:cNvGrpSpPr>
                  <p:nvPr/>
                </p:nvGrpSpPr>
                <p:grpSpPr bwMode="auto">
                  <a:xfrm>
                    <a:off x="982" y="3703"/>
                    <a:ext cx="49" cy="23"/>
                    <a:chOff x="982" y="3703"/>
                    <a:chExt cx="49" cy="23"/>
                  </a:xfrm>
                </p:grpSpPr>
                <p:sp>
                  <p:nvSpPr>
                    <p:cNvPr id="2232"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3"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4"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8" name="Group 2249"/>
                  <p:cNvGrpSpPr>
                    <a:grpSpLocks/>
                  </p:cNvGrpSpPr>
                  <p:nvPr/>
                </p:nvGrpSpPr>
                <p:grpSpPr bwMode="auto">
                  <a:xfrm>
                    <a:off x="995" y="3716"/>
                    <a:ext cx="48" cy="23"/>
                    <a:chOff x="995" y="3716"/>
                    <a:chExt cx="48" cy="23"/>
                  </a:xfrm>
                </p:grpSpPr>
                <p:sp>
                  <p:nvSpPr>
                    <p:cNvPr id="2229"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0"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1"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3" name="Group 2253"/>
                <p:cNvGrpSpPr>
                  <a:grpSpLocks/>
                </p:cNvGrpSpPr>
                <p:nvPr/>
              </p:nvGrpSpPr>
              <p:grpSpPr bwMode="auto">
                <a:xfrm>
                  <a:off x="1005" y="3727"/>
                  <a:ext cx="49" cy="23"/>
                  <a:chOff x="1005" y="3727"/>
                  <a:chExt cx="49" cy="23"/>
                </a:xfrm>
              </p:grpSpPr>
              <p:sp>
                <p:nvSpPr>
                  <p:cNvPr id="2221"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2"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3"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4" name="Group 2257"/>
                <p:cNvGrpSpPr>
                  <a:grpSpLocks/>
                </p:cNvGrpSpPr>
                <p:nvPr/>
              </p:nvGrpSpPr>
              <p:grpSpPr bwMode="auto">
                <a:xfrm>
                  <a:off x="1018" y="3740"/>
                  <a:ext cx="49" cy="22"/>
                  <a:chOff x="1018" y="3740"/>
                  <a:chExt cx="49" cy="22"/>
                </a:xfrm>
              </p:grpSpPr>
              <p:sp>
                <p:nvSpPr>
                  <p:cNvPr id="2218"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9"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0"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5" name="Group 2261"/>
                <p:cNvGrpSpPr>
                  <a:grpSpLocks/>
                </p:cNvGrpSpPr>
                <p:nvPr/>
              </p:nvGrpSpPr>
              <p:grpSpPr bwMode="auto">
                <a:xfrm>
                  <a:off x="1030" y="3753"/>
                  <a:ext cx="49" cy="23"/>
                  <a:chOff x="1030" y="3753"/>
                  <a:chExt cx="49" cy="23"/>
                </a:xfrm>
              </p:grpSpPr>
              <p:sp>
                <p:nvSpPr>
                  <p:cNvPr id="2215"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6"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7"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56"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7"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8"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9" name="Group 2268"/>
                <p:cNvGrpSpPr>
                  <a:grpSpLocks/>
                </p:cNvGrpSpPr>
                <p:nvPr/>
              </p:nvGrpSpPr>
              <p:grpSpPr bwMode="auto">
                <a:xfrm>
                  <a:off x="790" y="3547"/>
                  <a:ext cx="49" cy="23"/>
                  <a:chOff x="790" y="3547"/>
                  <a:chExt cx="49" cy="23"/>
                </a:xfrm>
              </p:grpSpPr>
              <p:sp>
                <p:nvSpPr>
                  <p:cNvPr id="2212"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3"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4"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0" name="Group 2272"/>
                <p:cNvGrpSpPr>
                  <a:grpSpLocks/>
                </p:cNvGrpSpPr>
                <p:nvPr/>
              </p:nvGrpSpPr>
              <p:grpSpPr bwMode="auto">
                <a:xfrm>
                  <a:off x="803" y="3560"/>
                  <a:ext cx="49" cy="22"/>
                  <a:chOff x="803" y="3560"/>
                  <a:chExt cx="49" cy="22"/>
                </a:xfrm>
              </p:grpSpPr>
              <p:sp>
                <p:nvSpPr>
                  <p:cNvPr id="2209"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0"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1"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1" name="Group 2276"/>
                <p:cNvGrpSpPr>
                  <a:grpSpLocks/>
                </p:cNvGrpSpPr>
                <p:nvPr/>
              </p:nvGrpSpPr>
              <p:grpSpPr bwMode="auto">
                <a:xfrm>
                  <a:off x="815" y="3572"/>
                  <a:ext cx="50" cy="23"/>
                  <a:chOff x="815" y="3572"/>
                  <a:chExt cx="50" cy="23"/>
                </a:xfrm>
              </p:grpSpPr>
              <p:sp>
                <p:nvSpPr>
                  <p:cNvPr id="2206"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7"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8"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2" name="Group 2280"/>
                <p:cNvGrpSpPr>
                  <a:grpSpLocks/>
                </p:cNvGrpSpPr>
                <p:nvPr/>
              </p:nvGrpSpPr>
              <p:grpSpPr bwMode="auto">
                <a:xfrm>
                  <a:off x="828" y="3585"/>
                  <a:ext cx="49" cy="23"/>
                  <a:chOff x="828" y="3585"/>
                  <a:chExt cx="49" cy="23"/>
                </a:xfrm>
              </p:grpSpPr>
              <p:sp>
                <p:nvSpPr>
                  <p:cNvPr id="2203"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4"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5"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3" name="Group 2284"/>
                <p:cNvGrpSpPr>
                  <a:grpSpLocks/>
                </p:cNvGrpSpPr>
                <p:nvPr/>
              </p:nvGrpSpPr>
              <p:grpSpPr bwMode="auto">
                <a:xfrm>
                  <a:off x="840" y="3600"/>
                  <a:ext cx="100" cy="73"/>
                  <a:chOff x="840" y="3600"/>
                  <a:chExt cx="100" cy="73"/>
                </a:xfrm>
              </p:grpSpPr>
              <p:grpSp>
                <p:nvGrpSpPr>
                  <p:cNvPr id="2183" name="Group 2285"/>
                  <p:cNvGrpSpPr>
                    <a:grpSpLocks/>
                  </p:cNvGrpSpPr>
                  <p:nvPr/>
                </p:nvGrpSpPr>
                <p:grpSpPr bwMode="auto">
                  <a:xfrm>
                    <a:off x="840" y="3600"/>
                    <a:ext cx="49" cy="23"/>
                    <a:chOff x="840" y="3600"/>
                    <a:chExt cx="49" cy="23"/>
                  </a:xfrm>
                </p:grpSpPr>
                <p:sp>
                  <p:nvSpPr>
                    <p:cNvPr id="2200"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1"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2"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4" name="Group 2289"/>
                  <p:cNvGrpSpPr>
                    <a:grpSpLocks/>
                  </p:cNvGrpSpPr>
                  <p:nvPr/>
                </p:nvGrpSpPr>
                <p:grpSpPr bwMode="auto">
                  <a:xfrm>
                    <a:off x="853" y="3612"/>
                    <a:ext cx="48" cy="23"/>
                    <a:chOff x="853" y="3612"/>
                    <a:chExt cx="48" cy="23"/>
                  </a:xfrm>
                </p:grpSpPr>
                <p:sp>
                  <p:nvSpPr>
                    <p:cNvPr id="2197"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8"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9"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5" name="Group 2293"/>
                  <p:cNvGrpSpPr>
                    <a:grpSpLocks/>
                  </p:cNvGrpSpPr>
                  <p:nvPr/>
                </p:nvGrpSpPr>
                <p:grpSpPr bwMode="auto">
                  <a:xfrm>
                    <a:off x="865" y="3625"/>
                    <a:ext cx="49" cy="23"/>
                    <a:chOff x="865" y="3625"/>
                    <a:chExt cx="49" cy="23"/>
                  </a:xfrm>
                </p:grpSpPr>
                <p:sp>
                  <p:nvSpPr>
                    <p:cNvPr id="2194"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5"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6"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6" name="Group 2297"/>
                  <p:cNvGrpSpPr>
                    <a:grpSpLocks/>
                  </p:cNvGrpSpPr>
                  <p:nvPr/>
                </p:nvGrpSpPr>
                <p:grpSpPr bwMode="auto">
                  <a:xfrm>
                    <a:off x="878" y="3638"/>
                    <a:ext cx="49" cy="22"/>
                    <a:chOff x="878" y="3638"/>
                    <a:chExt cx="49" cy="22"/>
                  </a:xfrm>
                </p:grpSpPr>
                <p:sp>
                  <p:nvSpPr>
                    <p:cNvPr id="2191"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2"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3"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7" name="Group 2301"/>
                  <p:cNvGrpSpPr>
                    <a:grpSpLocks/>
                  </p:cNvGrpSpPr>
                  <p:nvPr/>
                </p:nvGrpSpPr>
                <p:grpSpPr bwMode="auto">
                  <a:xfrm>
                    <a:off x="890" y="3651"/>
                    <a:ext cx="50" cy="22"/>
                    <a:chOff x="890" y="3651"/>
                    <a:chExt cx="50" cy="22"/>
                  </a:xfrm>
                </p:grpSpPr>
                <p:sp>
                  <p:nvSpPr>
                    <p:cNvPr id="2188"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9"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0"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4" name="Group 2305"/>
                <p:cNvGrpSpPr>
                  <a:grpSpLocks/>
                </p:cNvGrpSpPr>
                <p:nvPr/>
              </p:nvGrpSpPr>
              <p:grpSpPr bwMode="auto">
                <a:xfrm>
                  <a:off x="903" y="3665"/>
                  <a:ext cx="99" cy="74"/>
                  <a:chOff x="903" y="3665"/>
                  <a:chExt cx="99" cy="74"/>
                </a:xfrm>
              </p:grpSpPr>
              <p:grpSp>
                <p:nvGrpSpPr>
                  <p:cNvPr id="2163" name="Group 2306"/>
                  <p:cNvGrpSpPr>
                    <a:grpSpLocks/>
                  </p:cNvGrpSpPr>
                  <p:nvPr/>
                </p:nvGrpSpPr>
                <p:grpSpPr bwMode="auto">
                  <a:xfrm>
                    <a:off x="903" y="3665"/>
                    <a:ext cx="49" cy="23"/>
                    <a:chOff x="903" y="3665"/>
                    <a:chExt cx="49" cy="23"/>
                  </a:xfrm>
                </p:grpSpPr>
                <p:sp>
                  <p:nvSpPr>
                    <p:cNvPr id="2180"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1"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2"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4" name="Group 2310"/>
                  <p:cNvGrpSpPr>
                    <a:grpSpLocks/>
                  </p:cNvGrpSpPr>
                  <p:nvPr/>
                </p:nvGrpSpPr>
                <p:grpSpPr bwMode="auto">
                  <a:xfrm>
                    <a:off x="914" y="3678"/>
                    <a:ext cx="49" cy="23"/>
                    <a:chOff x="914" y="3678"/>
                    <a:chExt cx="49" cy="23"/>
                  </a:xfrm>
                </p:grpSpPr>
                <p:sp>
                  <p:nvSpPr>
                    <p:cNvPr id="2177"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8"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9"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5" name="Group 2314"/>
                  <p:cNvGrpSpPr>
                    <a:grpSpLocks/>
                  </p:cNvGrpSpPr>
                  <p:nvPr/>
                </p:nvGrpSpPr>
                <p:grpSpPr bwMode="auto">
                  <a:xfrm>
                    <a:off x="928" y="3690"/>
                    <a:ext cx="48" cy="23"/>
                    <a:chOff x="928" y="3690"/>
                    <a:chExt cx="48" cy="23"/>
                  </a:xfrm>
                </p:grpSpPr>
                <p:sp>
                  <p:nvSpPr>
                    <p:cNvPr id="2174"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5"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6"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6" name="Group 2318"/>
                  <p:cNvGrpSpPr>
                    <a:grpSpLocks/>
                  </p:cNvGrpSpPr>
                  <p:nvPr/>
                </p:nvGrpSpPr>
                <p:grpSpPr bwMode="auto">
                  <a:xfrm>
                    <a:off x="940" y="3703"/>
                    <a:ext cx="49" cy="23"/>
                    <a:chOff x="940" y="3703"/>
                    <a:chExt cx="49" cy="23"/>
                  </a:xfrm>
                </p:grpSpPr>
                <p:sp>
                  <p:nvSpPr>
                    <p:cNvPr id="2171"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2"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3"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7" name="Group 2322"/>
                  <p:cNvGrpSpPr>
                    <a:grpSpLocks/>
                  </p:cNvGrpSpPr>
                  <p:nvPr/>
                </p:nvGrpSpPr>
                <p:grpSpPr bwMode="auto">
                  <a:xfrm>
                    <a:off x="953" y="3716"/>
                    <a:ext cx="49" cy="23"/>
                    <a:chOff x="953" y="3716"/>
                    <a:chExt cx="49" cy="23"/>
                  </a:xfrm>
                </p:grpSpPr>
                <p:sp>
                  <p:nvSpPr>
                    <p:cNvPr id="2168"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9"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0"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5" name="Group 2326"/>
                <p:cNvGrpSpPr>
                  <a:grpSpLocks/>
                </p:cNvGrpSpPr>
                <p:nvPr/>
              </p:nvGrpSpPr>
              <p:grpSpPr bwMode="auto">
                <a:xfrm>
                  <a:off x="963" y="3727"/>
                  <a:ext cx="49" cy="23"/>
                  <a:chOff x="963" y="3727"/>
                  <a:chExt cx="49" cy="23"/>
                </a:xfrm>
              </p:grpSpPr>
              <p:sp>
                <p:nvSpPr>
                  <p:cNvPr id="2160"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1"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2"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6" name="Group 2330"/>
                <p:cNvGrpSpPr>
                  <a:grpSpLocks/>
                </p:cNvGrpSpPr>
                <p:nvPr/>
              </p:nvGrpSpPr>
              <p:grpSpPr bwMode="auto">
                <a:xfrm>
                  <a:off x="976" y="3740"/>
                  <a:ext cx="50" cy="22"/>
                  <a:chOff x="976" y="3740"/>
                  <a:chExt cx="50" cy="22"/>
                </a:xfrm>
              </p:grpSpPr>
              <p:sp>
                <p:nvSpPr>
                  <p:cNvPr id="2157"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8"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9"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7" name="Group 2334"/>
                <p:cNvGrpSpPr>
                  <a:grpSpLocks/>
                </p:cNvGrpSpPr>
                <p:nvPr/>
              </p:nvGrpSpPr>
              <p:grpSpPr bwMode="auto">
                <a:xfrm>
                  <a:off x="761" y="3560"/>
                  <a:ext cx="50" cy="22"/>
                  <a:chOff x="761" y="3560"/>
                  <a:chExt cx="50" cy="22"/>
                </a:xfrm>
              </p:grpSpPr>
              <p:sp>
                <p:nvSpPr>
                  <p:cNvPr id="2154"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5"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6"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8" name="Group 2338"/>
                <p:cNvGrpSpPr>
                  <a:grpSpLocks/>
                </p:cNvGrpSpPr>
                <p:nvPr/>
              </p:nvGrpSpPr>
              <p:grpSpPr bwMode="auto">
                <a:xfrm>
                  <a:off x="774" y="3572"/>
                  <a:ext cx="49" cy="23"/>
                  <a:chOff x="774" y="3572"/>
                  <a:chExt cx="49" cy="23"/>
                </a:xfrm>
              </p:grpSpPr>
              <p:sp>
                <p:nvSpPr>
                  <p:cNvPr id="2151"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2"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3"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9" name="Group 2342"/>
                <p:cNvGrpSpPr>
                  <a:grpSpLocks/>
                </p:cNvGrpSpPr>
                <p:nvPr/>
              </p:nvGrpSpPr>
              <p:grpSpPr bwMode="auto">
                <a:xfrm>
                  <a:off x="787" y="3585"/>
                  <a:ext cx="49" cy="23"/>
                  <a:chOff x="787" y="3585"/>
                  <a:chExt cx="49" cy="23"/>
                </a:xfrm>
              </p:grpSpPr>
              <p:sp>
                <p:nvSpPr>
                  <p:cNvPr id="2148"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9"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0"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0" name="Group 2346"/>
                <p:cNvGrpSpPr>
                  <a:grpSpLocks/>
                </p:cNvGrpSpPr>
                <p:nvPr/>
              </p:nvGrpSpPr>
              <p:grpSpPr bwMode="auto">
                <a:xfrm>
                  <a:off x="799" y="3600"/>
                  <a:ext cx="99" cy="73"/>
                  <a:chOff x="799" y="3600"/>
                  <a:chExt cx="99" cy="73"/>
                </a:xfrm>
              </p:grpSpPr>
              <p:grpSp>
                <p:nvGrpSpPr>
                  <p:cNvPr id="2128" name="Group 2347"/>
                  <p:cNvGrpSpPr>
                    <a:grpSpLocks/>
                  </p:cNvGrpSpPr>
                  <p:nvPr/>
                </p:nvGrpSpPr>
                <p:grpSpPr bwMode="auto">
                  <a:xfrm>
                    <a:off x="799" y="3600"/>
                    <a:ext cx="48" cy="23"/>
                    <a:chOff x="799" y="3600"/>
                    <a:chExt cx="48" cy="23"/>
                  </a:xfrm>
                </p:grpSpPr>
                <p:sp>
                  <p:nvSpPr>
                    <p:cNvPr id="2145"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6"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7"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29" name="Group 2351"/>
                  <p:cNvGrpSpPr>
                    <a:grpSpLocks/>
                  </p:cNvGrpSpPr>
                  <p:nvPr/>
                </p:nvGrpSpPr>
                <p:grpSpPr bwMode="auto">
                  <a:xfrm>
                    <a:off x="811" y="3612"/>
                    <a:ext cx="48" cy="23"/>
                    <a:chOff x="811" y="3612"/>
                    <a:chExt cx="48" cy="23"/>
                  </a:xfrm>
                </p:grpSpPr>
                <p:sp>
                  <p:nvSpPr>
                    <p:cNvPr id="2142"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3"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4"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0" name="Group 2355"/>
                  <p:cNvGrpSpPr>
                    <a:grpSpLocks/>
                  </p:cNvGrpSpPr>
                  <p:nvPr/>
                </p:nvGrpSpPr>
                <p:grpSpPr bwMode="auto">
                  <a:xfrm>
                    <a:off x="823" y="3625"/>
                    <a:ext cx="49" cy="23"/>
                    <a:chOff x="823" y="3625"/>
                    <a:chExt cx="49" cy="23"/>
                  </a:xfrm>
                </p:grpSpPr>
                <p:sp>
                  <p:nvSpPr>
                    <p:cNvPr id="2139"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0"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1"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1" name="Group 2359"/>
                  <p:cNvGrpSpPr>
                    <a:grpSpLocks/>
                  </p:cNvGrpSpPr>
                  <p:nvPr/>
                </p:nvGrpSpPr>
                <p:grpSpPr bwMode="auto">
                  <a:xfrm>
                    <a:off x="836" y="3638"/>
                    <a:ext cx="50" cy="22"/>
                    <a:chOff x="836" y="3638"/>
                    <a:chExt cx="50" cy="22"/>
                  </a:xfrm>
                </p:grpSpPr>
                <p:sp>
                  <p:nvSpPr>
                    <p:cNvPr id="2136"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7"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8"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2" name="Group 2363"/>
                  <p:cNvGrpSpPr>
                    <a:grpSpLocks/>
                  </p:cNvGrpSpPr>
                  <p:nvPr/>
                </p:nvGrpSpPr>
                <p:grpSpPr bwMode="auto">
                  <a:xfrm>
                    <a:off x="849" y="3651"/>
                    <a:ext cx="49" cy="22"/>
                    <a:chOff x="849" y="3651"/>
                    <a:chExt cx="49" cy="22"/>
                  </a:xfrm>
                </p:grpSpPr>
                <p:sp>
                  <p:nvSpPr>
                    <p:cNvPr id="2133"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4"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5"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1" name="Group 2367"/>
                <p:cNvGrpSpPr>
                  <a:grpSpLocks/>
                </p:cNvGrpSpPr>
                <p:nvPr/>
              </p:nvGrpSpPr>
              <p:grpSpPr bwMode="auto">
                <a:xfrm>
                  <a:off x="861" y="3665"/>
                  <a:ext cx="99" cy="74"/>
                  <a:chOff x="861" y="3665"/>
                  <a:chExt cx="99" cy="74"/>
                </a:xfrm>
              </p:grpSpPr>
              <p:grpSp>
                <p:nvGrpSpPr>
                  <p:cNvPr id="2108" name="Group 2368"/>
                  <p:cNvGrpSpPr>
                    <a:grpSpLocks/>
                  </p:cNvGrpSpPr>
                  <p:nvPr/>
                </p:nvGrpSpPr>
                <p:grpSpPr bwMode="auto">
                  <a:xfrm>
                    <a:off x="861" y="3665"/>
                    <a:ext cx="50" cy="23"/>
                    <a:chOff x="861" y="3665"/>
                    <a:chExt cx="50" cy="23"/>
                  </a:xfrm>
                </p:grpSpPr>
                <p:sp>
                  <p:nvSpPr>
                    <p:cNvPr id="2125"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6"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7"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09" name="Group 2372"/>
                  <p:cNvGrpSpPr>
                    <a:grpSpLocks/>
                  </p:cNvGrpSpPr>
                  <p:nvPr/>
                </p:nvGrpSpPr>
                <p:grpSpPr bwMode="auto">
                  <a:xfrm>
                    <a:off x="873" y="3678"/>
                    <a:ext cx="49" cy="23"/>
                    <a:chOff x="873" y="3678"/>
                    <a:chExt cx="49" cy="23"/>
                  </a:xfrm>
                </p:grpSpPr>
                <p:sp>
                  <p:nvSpPr>
                    <p:cNvPr id="2122"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3"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4"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0" name="Group 2376"/>
                  <p:cNvGrpSpPr>
                    <a:grpSpLocks/>
                  </p:cNvGrpSpPr>
                  <p:nvPr/>
                </p:nvGrpSpPr>
                <p:grpSpPr bwMode="auto">
                  <a:xfrm>
                    <a:off x="886" y="3690"/>
                    <a:ext cx="49" cy="23"/>
                    <a:chOff x="886" y="3690"/>
                    <a:chExt cx="49" cy="23"/>
                  </a:xfrm>
                </p:grpSpPr>
                <p:sp>
                  <p:nvSpPr>
                    <p:cNvPr id="2119"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0"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1"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1" name="Group 2380"/>
                  <p:cNvGrpSpPr>
                    <a:grpSpLocks/>
                  </p:cNvGrpSpPr>
                  <p:nvPr/>
                </p:nvGrpSpPr>
                <p:grpSpPr bwMode="auto">
                  <a:xfrm>
                    <a:off x="899" y="3703"/>
                    <a:ext cx="48" cy="23"/>
                    <a:chOff x="899" y="3703"/>
                    <a:chExt cx="48" cy="23"/>
                  </a:xfrm>
                </p:grpSpPr>
                <p:sp>
                  <p:nvSpPr>
                    <p:cNvPr id="2116"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7"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8"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2" name="Group 2384"/>
                  <p:cNvGrpSpPr>
                    <a:grpSpLocks/>
                  </p:cNvGrpSpPr>
                  <p:nvPr/>
                </p:nvGrpSpPr>
                <p:grpSpPr bwMode="auto">
                  <a:xfrm>
                    <a:off x="912" y="3716"/>
                    <a:ext cx="48" cy="23"/>
                    <a:chOff x="912" y="3716"/>
                    <a:chExt cx="48" cy="23"/>
                  </a:xfrm>
                </p:grpSpPr>
                <p:sp>
                  <p:nvSpPr>
                    <p:cNvPr id="2113"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4"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5"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2" name="Group 2388"/>
                <p:cNvGrpSpPr>
                  <a:grpSpLocks/>
                </p:cNvGrpSpPr>
                <p:nvPr/>
              </p:nvGrpSpPr>
              <p:grpSpPr bwMode="auto">
                <a:xfrm>
                  <a:off x="922" y="3727"/>
                  <a:ext cx="49" cy="23"/>
                  <a:chOff x="922" y="3727"/>
                  <a:chExt cx="49" cy="23"/>
                </a:xfrm>
              </p:grpSpPr>
              <p:sp>
                <p:nvSpPr>
                  <p:cNvPr id="2105"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6"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7"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3" name="Group 2392"/>
                <p:cNvGrpSpPr>
                  <a:grpSpLocks/>
                </p:cNvGrpSpPr>
                <p:nvPr/>
              </p:nvGrpSpPr>
              <p:grpSpPr bwMode="auto">
                <a:xfrm>
                  <a:off x="895" y="3526"/>
                  <a:ext cx="44" cy="23"/>
                  <a:chOff x="895" y="3526"/>
                  <a:chExt cx="44" cy="23"/>
                </a:xfrm>
              </p:grpSpPr>
              <p:sp>
                <p:nvSpPr>
                  <p:cNvPr id="2102"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3"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4"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4" name="Group 2396"/>
                <p:cNvGrpSpPr>
                  <a:grpSpLocks/>
                </p:cNvGrpSpPr>
                <p:nvPr/>
              </p:nvGrpSpPr>
              <p:grpSpPr bwMode="auto">
                <a:xfrm>
                  <a:off x="907" y="3540"/>
                  <a:ext cx="45" cy="22"/>
                  <a:chOff x="907" y="3540"/>
                  <a:chExt cx="45" cy="22"/>
                </a:xfrm>
              </p:grpSpPr>
              <p:sp>
                <p:nvSpPr>
                  <p:cNvPr id="2099"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0"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1"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5" name="Group 2400"/>
                <p:cNvGrpSpPr>
                  <a:grpSpLocks/>
                </p:cNvGrpSpPr>
                <p:nvPr/>
              </p:nvGrpSpPr>
              <p:grpSpPr bwMode="auto">
                <a:xfrm>
                  <a:off x="920" y="3553"/>
                  <a:ext cx="45" cy="23"/>
                  <a:chOff x="920" y="3553"/>
                  <a:chExt cx="45" cy="23"/>
                </a:xfrm>
              </p:grpSpPr>
              <p:sp>
                <p:nvSpPr>
                  <p:cNvPr id="2096"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7"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8"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6" name="Group 2404"/>
                <p:cNvGrpSpPr>
                  <a:grpSpLocks/>
                </p:cNvGrpSpPr>
                <p:nvPr/>
              </p:nvGrpSpPr>
              <p:grpSpPr bwMode="auto">
                <a:xfrm>
                  <a:off x="934" y="3566"/>
                  <a:ext cx="44" cy="23"/>
                  <a:chOff x="934" y="3566"/>
                  <a:chExt cx="44" cy="23"/>
                </a:xfrm>
              </p:grpSpPr>
              <p:sp>
                <p:nvSpPr>
                  <p:cNvPr id="2093"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4"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5"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7" name="Group 2408"/>
                <p:cNvGrpSpPr>
                  <a:grpSpLocks/>
                </p:cNvGrpSpPr>
                <p:nvPr/>
              </p:nvGrpSpPr>
              <p:grpSpPr bwMode="auto">
                <a:xfrm>
                  <a:off x="949" y="3579"/>
                  <a:ext cx="83" cy="63"/>
                  <a:chOff x="949" y="3579"/>
                  <a:chExt cx="83" cy="63"/>
                </a:xfrm>
              </p:grpSpPr>
              <p:grpSp>
                <p:nvGrpSpPr>
                  <p:cNvPr id="2077" name="Group 2409"/>
                  <p:cNvGrpSpPr>
                    <a:grpSpLocks/>
                  </p:cNvGrpSpPr>
                  <p:nvPr/>
                </p:nvGrpSpPr>
                <p:grpSpPr bwMode="auto">
                  <a:xfrm>
                    <a:off x="949" y="3579"/>
                    <a:ext cx="44" cy="23"/>
                    <a:chOff x="949" y="3579"/>
                    <a:chExt cx="44" cy="23"/>
                  </a:xfrm>
                </p:grpSpPr>
                <p:sp>
                  <p:nvSpPr>
                    <p:cNvPr id="2090"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1"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2"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8" name="Group 2413"/>
                  <p:cNvGrpSpPr>
                    <a:grpSpLocks/>
                  </p:cNvGrpSpPr>
                  <p:nvPr/>
                </p:nvGrpSpPr>
                <p:grpSpPr bwMode="auto">
                  <a:xfrm>
                    <a:off x="961" y="3592"/>
                    <a:ext cx="45" cy="23"/>
                    <a:chOff x="961" y="3592"/>
                    <a:chExt cx="45" cy="23"/>
                  </a:xfrm>
                </p:grpSpPr>
                <p:sp>
                  <p:nvSpPr>
                    <p:cNvPr id="2087"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8"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9"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9" name="Group 2417"/>
                  <p:cNvGrpSpPr>
                    <a:grpSpLocks/>
                  </p:cNvGrpSpPr>
                  <p:nvPr/>
                </p:nvGrpSpPr>
                <p:grpSpPr bwMode="auto">
                  <a:xfrm>
                    <a:off x="974" y="3606"/>
                    <a:ext cx="44" cy="23"/>
                    <a:chOff x="974" y="3606"/>
                    <a:chExt cx="44" cy="23"/>
                  </a:xfrm>
                </p:grpSpPr>
                <p:sp>
                  <p:nvSpPr>
                    <p:cNvPr id="2084"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5"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6"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80" name="Group 2421"/>
                  <p:cNvGrpSpPr>
                    <a:grpSpLocks/>
                  </p:cNvGrpSpPr>
                  <p:nvPr/>
                </p:nvGrpSpPr>
                <p:grpSpPr bwMode="auto">
                  <a:xfrm>
                    <a:off x="987" y="3619"/>
                    <a:ext cx="45" cy="23"/>
                    <a:chOff x="987" y="3619"/>
                    <a:chExt cx="45" cy="23"/>
                  </a:xfrm>
                </p:grpSpPr>
                <p:sp>
                  <p:nvSpPr>
                    <p:cNvPr id="2081"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2"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3"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8" name="Group 2425"/>
                <p:cNvGrpSpPr>
                  <a:grpSpLocks/>
                </p:cNvGrpSpPr>
                <p:nvPr/>
              </p:nvGrpSpPr>
              <p:grpSpPr bwMode="auto">
                <a:xfrm>
                  <a:off x="1002" y="3632"/>
                  <a:ext cx="83" cy="63"/>
                  <a:chOff x="1002" y="3632"/>
                  <a:chExt cx="83" cy="63"/>
                </a:xfrm>
              </p:grpSpPr>
              <p:grpSp>
                <p:nvGrpSpPr>
                  <p:cNvPr id="2061" name="Group 2426"/>
                  <p:cNvGrpSpPr>
                    <a:grpSpLocks/>
                  </p:cNvGrpSpPr>
                  <p:nvPr/>
                </p:nvGrpSpPr>
                <p:grpSpPr bwMode="auto">
                  <a:xfrm>
                    <a:off x="1002" y="3632"/>
                    <a:ext cx="44" cy="22"/>
                    <a:chOff x="1002" y="3632"/>
                    <a:chExt cx="44" cy="22"/>
                  </a:xfrm>
                </p:grpSpPr>
                <p:sp>
                  <p:nvSpPr>
                    <p:cNvPr id="2074"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5"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6"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2" name="Group 2430"/>
                  <p:cNvGrpSpPr>
                    <a:grpSpLocks/>
                  </p:cNvGrpSpPr>
                  <p:nvPr/>
                </p:nvGrpSpPr>
                <p:grpSpPr bwMode="auto">
                  <a:xfrm>
                    <a:off x="1014" y="3645"/>
                    <a:ext cx="44" cy="23"/>
                    <a:chOff x="1014" y="3645"/>
                    <a:chExt cx="44" cy="23"/>
                  </a:xfrm>
                </p:grpSpPr>
                <p:sp>
                  <p:nvSpPr>
                    <p:cNvPr id="2071"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2"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3"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3" name="Group 2434"/>
                  <p:cNvGrpSpPr>
                    <a:grpSpLocks/>
                  </p:cNvGrpSpPr>
                  <p:nvPr/>
                </p:nvGrpSpPr>
                <p:grpSpPr bwMode="auto">
                  <a:xfrm>
                    <a:off x="1027" y="3659"/>
                    <a:ext cx="45" cy="23"/>
                    <a:chOff x="1027" y="3659"/>
                    <a:chExt cx="45" cy="23"/>
                  </a:xfrm>
                </p:grpSpPr>
                <p:sp>
                  <p:nvSpPr>
                    <p:cNvPr id="2068"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9"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0"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4" name="Group 2438"/>
                  <p:cNvGrpSpPr>
                    <a:grpSpLocks/>
                  </p:cNvGrpSpPr>
                  <p:nvPr/>
                </p:nvGrpSpPr>
                <p:grpSpPr bwMode="auto">
                  <a:xfrm>
                    <a:off x="1040" y="3672"/>
                    <a:ext cx="45" cy="23"/>
                    <a:chOff x="1040" y="3672"/>
                    <a:chExt cx="45" cy="23"/>
                  </a:xfrm>
                </p:grpSpPr>
                <p:sp>
                  <p:nvSpPr>
                    <p:cNvPr id="2065"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6"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7"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9" name="Group 2442"/>
                <p:cNvGrpSpPr>
                  <a:grpSpLocks/>
                </p:cNvGrpSpPr>
                <p:nvPr/>
              </p:nvGrpSpPr>
              <p:grpSpPr bwMode="auto">
                <a:xfrm>
                  <a:off x="1054" y="3685"/>
                  <a:ext cx="45" cy="23"/>
                  <a:chOff x="1054" y="3685"/>
                  <a:chExt cx="45" cy="23"/>
                </a:xfrm>
              </p:grpSpPr>
              <p:sp>
                <p:nvSpPr>
                  <p:cNvPr id="2058"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9"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0"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0" name="Group 2446"/>
                <p:cNvGrpSpPr>
                  <a:grpSpLocks/>
                </p:cNvGrpSpPr>
                <p:nvPr/>
              </p:nvGrpSpPr>
              <p:grpSpPr bwMode="auto">
                <a:xfrm>
                  <a:off x="1067" y="3698"/>
                  <a:ext cx="45" cy="23"/>
                  <a:chOff x="1067" y="3698"/>
                  <a:chExt cx="45" cy="23"/>
                </a:xfrm>
              </p:grpSpPr>
              <p:sp>
                <p:nvSpPr>
                  <p:cNvPr id="2055"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6"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7"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1" name="Group 2450"/>
                <p:cNvGrpSpPr>
                  <a:grpSpLocks/>
                </p:cNvGrpSpPr>
                <p:nvPr/>
              </p:nvGrpSpPr>
              <p:grpSpPr bwMode="auto">
                <a:xfrm>
                  <a:off x="1079" y="3712"/>
                  <a:ext cx="44" cy="23"/>
                  <a:chOff x="1079" y="3712"/>
                  <a:chExt cx="44" cy="23"/>
                </a:xfrm>
              </p:grpSpPr>
              <p:sp>
                <p:nvSpPr>
                  <p:cNvPr id="2052"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3"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4"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2" name="Group 2454"/>
                <p:cNvGrpSpPr>
                  <a:grpSpLocks/>
                </p:cNvGrpSpPr>
                <p:nvPr/>
              </p:nvGrpSpPr>
              <p:grpSpPr bwMode="auto">
                <a:xfrm>
                  <a:off x="1093" y="3725"/>
                  <a:ext cx="45" cy="23"/>
                  <a:chOff x="1093" y="3725"/>
                  <a:chExt cx="45" cy="23"/>
                </a:xfrm>
              </p:grpSpPr>
              <p:sp>
                <p:nvSpPr>
                  <p:cNvPr id="2049"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0"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1"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3" name="Group 2458"/>
                <p:cNvGrpSpPr>
                  <a:grpSpLocks/>
                </p:cNvGrpSpPr>
                <p:nvPr/>
              </p:nvGrpSpPr>
              <p:grpSpPr bwMode="auto">
                <a:xfrm>
                  <a:off x="1108" y="3739"/>
                  <a:ext cx="44" cy="23"/>
                  <a:chOff x="1108" y="3739"/>
                  <a:chExt cx="44" cy="23"/>
                </a:xfrm>
              </p:grpSpPr>
              <p:sp>
                <p:nvSpPr>
                  <p:cNvPr id="2046"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7"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8"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4" name="Group 2462"/>
                <p:cNvGrpSpPr>
                  <a:grpSpLocks/>
                </p:cNvGrpSpPr>
                <p:nvPr/>
              </p:nvGrpSpPr>
              <p:grpSpPr bwMode="auto">
                <a:xfrm>
                  <a:off x="1121" y="3753"/>
                  <a:ext cx="45" cy="23"/>
                  <a:chOff x="1121" y="3753"/>
                  <a:chExt cx="45" cy="23"/>
                </a:xfrm>
              </p:grpSpPr>
              <p:sp>
                <p:nvSpPr>
                  <p:cNvPr id="2043"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4"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5"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5" name="Group 2466"/>
                <p:cNvGrpSpPr>
                  <a:grpSpLocks/>
                </p:cNvGrpSpPr>
                <p:nvPr/>
              </p:nvGrpSpPr>
              <p:grpSpPr bwMode="auto">
                <a:xfrm>
                  <a:off x="1133" y="3767"/>
                  <a:ext cx="44" cy="23"/>
                  <a:chOff x="1133" y="3767"/>
                  <a:chExt cx="44" cy="23"/>
                </a:xfrm>
              </p:grpSpPr>
              <p:sp>
                <p:nvSpPr>
                  <p:cNvPr id="2040"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1"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2"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86"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7"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8"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9"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0"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1"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2"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3"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4"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5"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6"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97" name="Group 2481"/>
                <p:cNvGrpSpPr>
                  <a:grpSpLocks/>
                </p:cNvGrpSpPr>
                <p:nvPr/>
              </p:nvGrpSpPr>
              <p:grpSpPr bwMode="auto">
                <a:xfrm>
                  <a:off x="700" y="3535"/>
                  <a:ext cx="49" cy="24"/>
                  <a:chOff x="700" y="3535"/>
                  <a:chExt cx="49" cy="24"/>
                </a:xfrm>
              </p:grpSpPr>
              <p:sp>
                <p:nvSpPr>
                  <p:cNvPr id="2037"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8"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9"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8" name="Group 2485"/>
                <p:cNvGrpSpPr>
                  <a:grpSpLocks/>
                </p:cNvGrpSpPr>
                <p:nvPr/>
              </p:nvGrpSpPr>
              <p:grpSpPr bwMode="auto">
                <a:xfrm>
                  <a:off x="714" y="3551"/>
                  <a:ext cx="49" cy="22"/>
                  <a:chOff x="714" y="3551"/>
                  <a:chExt cx="49" cy="22"/>
                </a:xfrm>
              </p:grpSpPr>
              <p:sp>
                <p:nvSpPr>
                  <p:cNvPr id="2034"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5"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6"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9" name="Group 2489"/>
                <p:cNvGrpSpPr>
                  <a:grpSpLocks/>
                </p:cNvGrpSpPr>
                <p:nvPr/>
              </p:nvGrpSpPr>
              <p:grpSpPr bwMode="auto">
                <a:xfrm>
                  <a:off x="728" y="3564"/>
                  <a:ext cx="48" cy="23"/>
                  <a:chOff x="728" y="3564"/>
                  <a:chExt cx="48" cy="23"/>
                </a:xfrm>
              </p:grpSpPr>
              <p:sp>
                <p:nvSpPr>
                  <p:cNvPr id="2031"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2"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3"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0" name="Group 2493"/>
                <p:cNvGrpSpPr>
                  <a:grpSpLocks/>
                </p:cNvGrpSpPr>
                <p:nvPr/>
              </p:nvGrpSpPr>
              <p:grpSpPr bwMode="auto">
                <a:xfrm>
                  <a:off x="742" y="3582"/>
                  <a:ext cx="49" cy="23"/>
                  <a:chOff x="742" y="3582"/>
                  <a:chExt cx="49" cy="23"/>
                </a:xfrm>
              </p:grpSpPr>
              <p:sp>
                <p:nvSpPr>
                  <p:cNvPr id="2028"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9"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0"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1" name="Group 2497"/>
                <p:cNvGrpSpPr>
                  <a:grpSpLocks/>
                </p:cNvGrpSpPr>
                <p:nvPr/>
              </p:nvGrpSpPr>
              <p:grpSpPr bwMode="auto">
                <a:xfrm>
                  <a:off x="752" y="3597"/>
                  <a:ext cx="133" cy="106"/>
                  <a:chOff x="752" y="3597"/>
                  <a:chExt cx="133" cy="106"/>
                </a:xfrm>
              </p:grpSpPr>
              <p:sp>
                <p:nvSpPr>
                  <p:cNvPr id="2025"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6"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7"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2" name="Group 2501"/>
                <p:cNvGrpSpPr>
                  <a:grpSpLocks/>
                </p:cNvGrpSpPr>
                <p:nvPr/>
              </p:nvGrpSpPr>
              <p:grpSpPr bwMode="auto">
                <a:xfrm>
                  <a:off x="844" y="3694"/>
                  <a:ext cx="48" cy="23"/>
                  <a:chOff x="844" y="3694"/>
                  <a:chExt cx="48" cy="23"/>
                </a:xfrm>
              </p:grpSpPr>
              <p:sp>
                <p:nvSpPr>
                  <p:cNvPr id="2022"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3"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4"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3" name="Group 2505"/>
                <p:cNvGrpSpPr>
                  <a:grpSpLocks/>
                </p:cNvGrpSpPr>
                <p:nvPr/>
              </p:nvGrpSpPr>
              <p:grpSpPr bwMode="auto">
                <a:xfrm>
                  <a:off x="857" y="3710"/>
                  <a:ext cx="49" cy="22"/>
                  <a:chOff x="857" y="3710"/>
                  <a:chExt cx="49" cy="22"/>
                </a:xfrm>
              </p:grpSpPr>
              <p:sp>
                <p:nvSpPr>
                  <p:cNvPr id="2019"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0"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1"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4" name="Group 2509"/>
                <p:cNvGrpSpPr>
                  <a:grpSpLocks/>
                </p:cNvGrpSpPr>
                <p:nvPr/>
              </p:nvGrpSpPr>
              <p:grpSpPr bwMode="auto">
                <a:xfrm>
                  <a:off x="1086" y="3766"/>
                  <a:ext cx="49" cy="23"/>
                  <a:chOff x="1086" y="3766"/>
                  <a:chExt cx="49" cy="23"/>
                </a:xfrm>
              </p:grpSpPr>
              <p:sp>
                <p:nvSpPr>
                  <p:cNvPr id="2016"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7"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8"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5" name="Group 2513"/>
                <p:cNvGrpSpPr>
                  <a:grpSpLocks/>
                </p:cNvGrpSpPr>
                <p:nvPr/>
              </p:nvGrpSpPr>
              <p:grpSpPr bwMode="auto">
                <a:xfrm>
                  <a:off x="934" y="3740"/>
                  <a:ext cx="48" cy="23"/>
                  <a:chOff x="934" y="3740"/>
                  <a:chExt cx="48" cy="23"/>
                </a:xfrm>
              </p:grpSpPr>
              <p:sp>
                <p:nvSpPr>
                  <p:cNvPr id="2013"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4"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5"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6" name="Group 2517"/>
                <p:cNvGrpSpPr>
                  <a:grpSpLocks/>
                </p:cNvGrpSpPr>
                <p:nvPr/>
              </p:nvGrpSpPr>
              <p:grpSpPr bwMode="auto">
                <a:xfrm>
                  <a:off x="943" y="3754"/>
                  <a:ext cx="49" cy="23"/>
                  <a:chOff x="943" y="3754"/>
                  <a:chExt cx="49" cy="23"/>
                </a:xfrm>
              </p:grpSpPr>
              <p:sp>
                <p:nvSpPr>
                  <p:cNvPr id="2010"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1"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2"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007"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8"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9"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04" name="Group 2524"/>
              <p:cNvGrpSpPr>
                <a:grpSpLocks/>
              </p:cNvGrpSpPr>
              <p:nvPr/>
            </p:nvGrpSpPr>
            <p:grpSpPr bwMode="auto">
              <a:xfrm>
                <a:off x="920" y="3821"/>
                <a:ext cx="413" cy="50"/>
                <a:chOff x="920" y="3821"/>
                <a:chExt cx="413" cy="50"/>
              </a:xfrm>
            </p:grpSpPr>
            <p:sp>
              <p:nvSpPr>
                <p:cNvPr id="1925"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6"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7"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8"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905" name="Group 2529"/>
              <p:cNvGrpSpPr>
                <a:grpSpLocks/>
              </p:cNvGrpSpPr>
              <p:nvPr/>
            </p:nvGrpSpPr>
            <p:grpSpPr bwMode="auto">
              <a:xfrm>
                <a:off x="1227" y="3477"/>
                <a:ext cx="508" cy="321"/>
                <a:chOff x="1227" y="3477"/>
                <a:chExt cx="508" cy="321"/>
              </a:xfrm>
            </p:grpSpPr>
            <p:sp>
              <p:nvSpPr>
                <p:cNvPr id="1906"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7"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8"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9"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0"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1"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2"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3"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4"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5"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6"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7"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8"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9"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0"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1"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2"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3"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4"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343" name="Group 2096"/>
            <p:cNvGrpSpPr>
              <a:grpSpLocks/>
            </p:cNvGrpSpPr>
            <p:nvPr/>
          </p:nvGrpSpPr>
          <p:grpSpPr bwMode="auto">
            <a:xfrm>
              <a:off x="5003800" y="333375"/>
              <a:ext cx="431800" cy="328613"/>
              <a:chOff x="624" y="2968"/>
              <a:chExt cx="1331" cy="920"/>
            </a:xfrm>
          </p:grpSpPr>
          <p:sp>
            <p:nvSpPr>
              <p:cNvPr id="2344"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5"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6"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7"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8"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9"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0"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1"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2"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3"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4"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5"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56" name="Group 2109"/>
              <p:cNvGrpSpPr>
                <a:grpSpLocks/>
              </p:cNvGrpSpPr>
              <p:nvPr/>
            </p:nvGrpSpPr>
            <p:grpSpPr bwMode="auto">
              <a:xfrm>
                <a:off x="700" y="3526"/>
                <a:ext cx="515" cy="270"/>
                <a:chOff x="700" y="3526"/>
                <a:chExt cx="515" cy="270"/>
              </a:xfrm>
            </p:grpSpPr>
            <p:grpSp>
              <p:nvGrpSpPr>
                <p:cNvPr id="2382" name="Group 2110"/>
                <p:cNvGrpSpPr>
                  <a:grpSpLocks/>
                </p:cNvGrpSpPr>
                <p:nvPr/>
              </p:nvGrpSpPr>
              <p:grpSpPr bwMode="auto">
                <a:xfrm>
                  <a:off x="737" y="3534"/>
                  <a:ext cx="49" cy="23"/>
                  <a:chOff x="737" y="3534"/>
                  <a:chExt cx="49" cy="23"/>
                </a:xfrm>
              </p:grpSpPr>
              <p:sp>
                <p:nvSpPr>
                  <p:cNvPr id="2798"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9"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0"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3" name="Group 2114"/>
                <p:cNvGrpSpPr>
                  <a:grpSpLocks/>
                </p:cNvGrpSpPr>
                <p:nvPr/>
              </p:nvGrpSpPr>
              <p:grpSpPr bwMode="auto">
                <a:xfrm>
                  <a:off x="748" y="3547"/>
                  <a:ext cx="50" cy="23"/>
                  <a:chOff x="748" y="3547"/>
                  <a:chExt cx="50" cy="23"/>
                </a:xfrm>
              </p:grpSpPr>
              <p:sp>
                <p:nvSpPr>
                  <p:cNvPr id="2795"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6"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7"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84"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5"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6"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7"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88" name="Group 2122"/>
                <p:cNvGrpSpPr>
                  <a:grpSpLocks/>
                </p:cNvGrpSpPr>
                <p:nvPr/>
              </p:nvGrpSpPr>
              <p:grpSpPr bwMode="auto">
                <a:xfrm>
                  <a:off x="872" y="3547"/>
                  <a:ext cx="50" cy="23"/>
                  <a:chOff x="872" y="3547"/>
                  <a:chExt cx="50" cy="23"/>
                </a:xfrm>
              </p:grpSpPr>
              <p:sp>
                <p:nvSpPr>
                  <p:cNvPr id="2792"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3"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4"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9" name="Group 2126"/>
                <p:cNvGrpSpPr>
                  <a:grpSpLocks/>
                </p:cNvGrpSpPr>
                <p:nvPr/>
              </p:nvGrpSpPr>
              <p:grpSpPr bwMode="auto">
                <a:xfrm>
                  <a:off x="885" y="3559"/>
                  <a:ext cx="50" cy="23"/>
                  <a:chOff x="885" y="3559"/>
                  <a:chExt cx="50" cy="23"/>
                </a:xfrm>
              </p:grpSpPr>
              <p:sp>
                <p:nvSpPr>
                  <p:cNvPr id="2789"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0"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1"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0" name="Group 2130"/>
                <p:cNvGrpSpPr>
                  <a:grpSpLocks/>
                </p:cNvGrpSpPr>
                <p:nvPr/>
              </p:nvGrpSpPr>
              <p:grpSpPr bwMode="auto">
                <a:xfrm>
                  <a:off x="898" y="3571"/>
                  <a:ext cx="49" cy="23"/>
                  <a:chOff x="898" y="3571"/>
                  <a:chExt cx="49" cy="23"/>
                </a:xfrm>
              </p:grpSpPr>
              <p:sp>
                <p:nvSpPr>
                  <p:cNvPr id="2786"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7"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8"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1" name="Group 2134"/>
                <p:cNvGrpSpPr>
                  <a:grpSpLocks/>
                </p:cNvGrpSpPr>
                <p:nvPr/>
              </p:nvGrpSpPr>
              <p:grpSpPr bwMode="auto">
                <a:xfrm>
                  <a:off x="911" y="3585"/>
                  <a:ext cx="49" cy="23"/>
                  <a:chOff x="911" y="3585"/>
                  <a:chExt cx="49" cy="23"/>
                </a:xfrm>
              </p:grpSpPr>
              <p:sp>
                <p:nvSpPr>
                  <p:cNvPr id="2783"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4"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5"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2" name="Group 2138"/>
                <p:cNvGrpSpPr>
                  <a:grpSpLocks/>
                </p:cNvGrpSpPr>
                <p:nvPr/>
              </p:nvGrpSpPr>
              <p:grpSpPr bwMode="auto">
                <a:xfrm>
                  <a:off x="923" y="3600"/>
                  <a:ext cx="99" cy="73"/>
                  <a:chOff x="923" y="3600"/>
                  <a:chExt cx="99" cy="73"/>
                </a:xfrm>
              </p:grpSpPr>
              <p:grpSp>
                <p:nvGrpSpPr>
                  <p:cNvPr id="2763" name="Group 2139"/>
                  <p:cNvGrpSpPr>
                    <a:grpSpLocks/>
                  </p:cNvGrpSpPr>
                  <p:nvPr/>
                </p:nvGrpSpPr>
                <p:grpSpPr bwMode="auto">
                  <a:xfrm>
                    <a:off x="923" y="3600"/>
                    <a:ext cx="49" cy="23"/>
                    <a:chOff x="923" y="3600"/>
                    <a:chExt cx="49" cy="23"/>
                  </a:xfrm>
                </p:grpSpPr>
                <p:sp>
                  <p:nvSpPr>
                    <p:cNvPr id="2780"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1"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2"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4" name="Group 2143"/>
                  <p:cNvGrpSpPr>
                    <a:grpSpLocks/>
                  </p:cNvGrpSpPr>
                  <p:nvPr/>
                </p:nvGrpSpPr>
                <p:grpSpPr bwMode="auto">
                  <a:xfrm>
                    <a:off x="935" y="3612"/>
                    <a:ext cx="48" cy="23"/>
                    <a:chOff x="935" y="3612"/>
                    <a:chExt cx="48" cy="23"/>
                  </a:xfrm>
                </p:grpSpPr>
                <p:sp>
                  <p:nvSpPr>
                    <p:cNvPr id="2777"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8"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9"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5" name="Group 2147"/>
                  <p:cNvGrpSpPr>
                    <a:grpSpLocks/>
                  </p:cNvGrpSpPr>
                  <p:nvPr/>
                </p:nvGrpSpPr>
                <p:grpSpPr bwMode="auto">
                  <a:xfrm>
                    <a:off x="947" y="3625"/>
                    <a:ext cx="50" cy="22"/>
                    <a:chOff x="947" y="3625"/>
                    <a:chExt cx="50" cy="22"/>
                  </a:xfrm>
                </p:grpSpPr>
                <p:sp>
                  <p:nvSpPr>
                    <p:cNvPr id="2774"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5"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6"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6" name="Group 2151"/>
                  <p:cNvGrpSpPr>
                    <a:grpSpLocks/>
                  </p:cNvGrpSpPr>
                  <p:nvPr/>
                </p:nvGrpSpPr>
                <p:grpSpPr bwMode="auto">
                  <a:xfrm>
                    <a:off x="960" y="3637"/>
                    <a:ext cx="50" cy="23"/>
                    <a:chOff x="960" y="3637"/>
                    <a:chExt cx="50" cy="23"/>
                  </a:xfrm>
                </p:grpSpPr>
                <p:sp>
                  <p:nvSpPr>
                    <p:cNvPr id="2771"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2"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3"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7" name="Group 2155"/>
                  <p:cNvGrpSpPr>
                    <a:grpSpLocks/>
                  </p:cNvGrpSpPr>
                  <p:nvPr/>
                </p:nvGrpSpPr>
                <p:grpSpPr bwMode="auto">
                  <a:xfrm>
                    <a:off x="973" y="3650"/>
                    <a:ext cx="49" cy="23"/>
                    <a:chOff x="973" y="3650"/>
                    <a:chExt cx="49" cy="23"/>
                  </a:xfrm>
                </p:grpSpPr>
                <p:sp>
                  <p:nvSpPr>
                    <p:cNvPr id="2768"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9"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0"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3" name="Group 2159"/>
                <p:cNvGrpSpPr>
                  <a:grpSpLocks/>
                </p:cNvGrpSpPr>
                <p:nvPr/>
              </p:nvGrpSpPr>
              <p:grpSpPr bwMode="auto">
                <a:xfrm>
                  <a:off x="985" y="3665"/>
                  <a:ext cx="100" cy="73"/>
                  <a:chOff x="985" y="3665"/>
                  <a:chExt cx="100" cy="73"/>
                </a:xfrm>
              </p:grpSpPr>
              <p:grpSp>
                <p:nvGrpSpPr>
                  <p:cNvPr id="2743" name="Group 2160"/>
                  <p:cNvGrpSpPr>
                    <a:grpSpLocks/>
                  </p:cNvGrpSpPr>
                  <p:nvPr/>
                </p:nvGrpSpPr>
                <p:grpSpPr bwMode="auto">
                  <a:xfrm>
                    <a:off x="985" y="3665"/>
                    <a:ext cx="50" cy="23"/>
                    <a:chOff x="985" y="3665"/>
                    <a:chExt cx="50" cy="23"/>
                  </a:xfrm>
                </p:grpSpPr>
                <p:sp>
                  <p:nvSpPr>
                    <p:cNvPr id="2760"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1"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2"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4" name="Group 2164"/>
                  <p:cNvGrpSpPr>
                    <a:grpSpLocks/>
                  </p:cNvGrpSpPr>
                  <p:nvPr/>
                </p:nvGrpSpPr>
                <p:grpSpPr bwMode="auto">
                  <a:xfrm>
                    <a:off x="997" y="3677"/>
                    <a:ext cx="49" cy="23"/>
                    <a:chOff x="997" y="3677"/>
                    <a:chExt cx="49" cy="23"/>
                  </a:xfrm>
                </p:grpSpPr>
                <p:sp>
                  <p:nvSpPr>
                    <p:cNvPr id="2757"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8"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9"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5" name="Group 2168"/>
                  <p:cNvGrpSpPr>
                    <a:grpSpLocks/>
                  </p:cNvGrpSpPr>
                  <p:nvPr/>
                </p:nvGrpSpPr>
                <p:grpSpPr bwMode="auto">
                  <a:xfrm>
                    <a:off x="1010" y="3690"/>
                    <a:ext cx="48" cy="23"/>
                    <a:chOff x="1010" y="3690"/>
                    <a:chExt cx="48" cy="23"/>
                  </a:xfrm>
                </p:grpSpPr>
                <p:sp>
                  <p:nvSpPr>
                    <p:cNvPr id="2754"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5"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6"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6" name="Group 2172"/>
                  <p:cNvGrpSpPr>
                    <a:grpSpLocks/>
                  </p:cNvGrpSpPr>
                  <p:nvPr/>
                </p:nvGrpSpPr>
                <p:grpSpPr bwMode="auto">
                  <a:xfrm>
                    <a:off x="1023" y="3703"/>
                    <a:ext cx="49" cy="22"/>
                    <a:chOff x="1023" y="3703"/>
                    <a:chExt cx="49" cy="22"/>
                  </a:xfrm>
                </p:grpSpPr>
                <p:sp>
                  <p:nvSpPr>
                    <p:cNvPr id="2751"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2"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3"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7" name="Group 2176"/>
                  <p:cNvGrpSpPr>
                    <a:grpSpLocks/>
                  </p:cNvGrpSpPr>
                  <p:nvPr/>
                </p:nvGrpSpPr>
                <p:grpSpPr bwMode="auto">
                  <a:xfrm>
                    <a:off x="1036" y="3716"/>
                    <a:ext cx="49" cy="22"/>
                    <a:chOff x="1036" y="3716"/>
                    <a:chExt cx="49" cy="22"/>
                  </a:xfrm>
                </p:grpSpPr>
                <p:sp>
                  <p:nvSpPr>
                    <p:cNvPr id="2748"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9"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0"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4" name="Group 2180"/>
                <p:cNvGrpSpPr>
                  <a:grpSpLocks/>
                </p:cNvGrpSpPr>
                <p:nvPr/>
              </p:nvGrpSpPr>
              <p:grpSpPr bwMode="auto">
                <a:xfrm>
                  <a:off x="1046" y="3727"/>
                  <a:ext cx="49" cy="23"/>
                  <a:chOff x="1046" y="3727"/>
                  <a:chExt cx="49" cy="23"/>
                </a:xfrm>
              </p:grpSpPr>
              <p:sp>
                <p:nvSpPr>
                  <p:cNvPr id="2740"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1"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2"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5" name="Group 2184"/>
                <p:cNvGrpSpPr>
                  <a:grpSpLocks/>
                </p:cNvGrpSpPr>
                <p:nvPr/>
              </p:nvGrpSpPr>
              <p:grpSpPr bwMode="auto">
                <a:xfrm>
                  <a:off x="1058" y="3739"/>
                  <a:ext cx="50" cy="23"/>
                  <a:chOff x="1058" y="3739"/>
                  <a:chExt cx="50" cy="23"/>
                </a:xfrm>
              </p:grpSpPr>
              <p:sp>
                <p:nvSpPr>
                  <p:cNvPr id="2737"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8"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9"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6" name="Group 2188"/>
                <p:cNvGrpSpPr>
                  <a:grpSpLocks/>
                </p:cNvGrpSpPr>
                <p:nvPr/>
              </p:nvGrpSpPr>
              <p:grpSpPr bwMode="auto">
                <a:xfrm>
                  <a:off x="1072" y="3753"/>
                  <a:ext cx="48" cy="22"/>
                  <a:chOff x="1072" y="3753"/>
                  <a:chExt cx="48" cy="22"/>
                </a:xfrm>
              </p:grpSpPr>
              <p:sp>
                <p:nvSpPr>
                  <p:cNvPr id="2734"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5"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6"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97"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8"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9"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00" name="Group 2195"/>
                <p:cNvGrpSpPr>
                  <a:grpSpLocks/>
                </p:cNvGrpSpPr>
                <p:nvPr/>
              </p:nvGrpSpPr>
              <p:grpSpPr bwMode="auto">
                <a:xfrm>
                  <a:off x="832" y="3547"/>
                  <a:ext cx="49" cy="23"/>
                  <a:chOff x="832" y="3547"/>
                  <a:chExt cx="49" cy="23"/>
                </a:xfrm>
              </p:grpSpPr>
              <p:sp>
                <p:nvSpPr>
                  <p:cNvPr id="2726"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2"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3"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1" name="Group 2199"/>
                <p:cNvGrpSpPr>
                  <a:grpSpLocks/>
                </p:cNvGrpSpPr>
                <p:nvPr/>
              </p:nvGrpSpPr>
              <p:grpSpPr bwMode="auto">
                <a:xfrm>
                  <a:off x="844" y="3560"/>
                  <a:ext cx="49" cy="22"/>
                  <a:chOff x="844" y="3560"/>
                  <a:chExt cx="49" cy="22"/>
                </a:xfrm>
              </p:grpSpPr>
              <p:sp>
                <p:nvSpPr>
                  <p:cNvPr id="2723"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4"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5"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2" name="Group 2203"/>
                <p:cNvGrpSpPr>
                  <a:grpSpLocks/>
                </p:cNvGrpSpPr>
                <p:nvPr/>
              </p:nvGrpSpPr>
              <p:grpSpPr bwMode="auto">
                <a:xfrm>
                  <a:off x="857" y="3572"/>
                  <a:ext cx="50" cy="23"/>
                  <a:chOff x="857" y="3572"/>
                  <a:chExt cx="50" cy="23"/>
                </a:xfrm>
              </p:grpSpPr>
              <p:sp>
                <p:nvSpPr>
                  <p:cNvPr id="2720"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1"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2"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3" name="Group 2207"/>
                <p:cNvGrpSpPr>
                  <a:grpSpLocks/>
                </p:cNvGrpSpPr>
                <p:nvPr/>
              </p:nvGrpSpPr>
              <p:grpSpPr bwMode="auto">
                <a:xfrm>
                  <a:off x="870" y="3585"/>
                  <a:ext cx="48" cy="23"/>
                  <a:chOff x="870" y="3585"/>
                  <a:chExt cx="48" cy="23"/>
                </a:xfrm>
              </p:grpSpPr>
              <p:sp>
                <p:nvSpPr>
                  <p:cNvPr id="2717"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8"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9"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4" name="Group 2211"/>
                <p:cNvGrpSpPr>
                  <a:grpSpLocks/>
                </p:cNvGrpSpPr>
                <p:nvPr/>
              </p:nvGrpSpPr>
              <p:grpSpPr bwMode="auto">
                <a:xfrm>
                  <a:off x="882" y="3600"/>
                  <a:ext cx="100" cy="73"/>
                  <a:chOff x="882" y="3600"/>
                  <a:chExt cx="100" cy="73"/>
                </a:xfrm>
              </p:grpSpPr>
              <p:grpSp>
                <p:nvGrpSpPr>
                  <p:cNvPr id="2697" name="Group 2212"/>
                  <p:cNvGrpSpPr>
                    <a:grpSpLocks/>
                  </p:cNvGrpSpPr>
                  <p:nvPr/>
                </p:nvGrpSpPr>
                <p:grpSpPr bwMode="auto">
                  <a:xfrm>
                    <a:off x="882" y="3600"/>
                    <a:ext cx="49" cy="23"/>
                    <a:chOff x="882" y="3600"/>
                    <a:chExt cx="49" cy="23"/>
                  </a:xfrm>
                </p:grpSpPr>
                <p:sp>
                  <p:nvSpPr>
                    <p:cNvPr id="2714"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5"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6"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8" name="Group 2216"/>
                  <p:cNvGrpSpPr>
                    <a:grpSpLocks/>
                  </p:cNvGrpSpPr>
                  <p:nvPr/>
                </p:nvGrpSpPr>
                <p:grpSpPr bwMode="auto">
                  <a:xfrm>
                    <a:off x="894" y="3612"/>
                    <a:ext cx="49" cy="23"/>
                    <a:chOff x="894" y="3612"/>
                    <a:chExt cx="49" cy="23"/>
                  </a:xfrm>
                </p:grpSpPr>
                <p:sp>
                  <p:nvSpPr>
                    <p:cNvPr id="2711"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2"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3"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9" name="Group 2220"/>
                  <p:cNvGrpSpPr>
                    <a:grpSpLocks/>
                  </p:cNvGrpSpPr>
                  <p:nvPr/>
                </p:nvGrpSpPr>
                <p:grpSpPr bwMode="auto">
                  <a:xfrm>
                    <a:off x="907" y="3625"/>
                    <a:ext cx="49" cy="23"/>
                    <a:chOff x="907" y="3625"/>
                    <a:chExt cx="49" cy="23"/>
                  </a:xfrm>
                </p:grpSpPr>
                <p:sp>
                  <p:nvSpPr>
                    <p:cNvPr id="2708"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9"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0"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0" name="Group 2224"/>
                  <p:cNvGrpSpPr>
                    <a:grpSpLocks/>
                  </p:cNvGrpSpPr>
                  <p:nvPr/>
                </p:nvGrpSpPr>
                <p:grpSpPr bwMode="auto">
                  <a:xfrm>
                    <a:off x="919" y="3638"/>
                    <a:ext cx="49" cy="22"/>
                    <a:chOff x="919" y="3638"/>
                    <a:chExt cx="49" cy="22"/>
                  </a:xfrm>
                </p:grpSpPr>
                <p:sp>
                  <p:nvSpPr>
                    <p:cNvPr id="2705"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6"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7"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1" name="Group 2228"/>
                  <p:cNvGrpSpPr>
                    <a:grpSpLocks/>
                  </p:cNvGrpSpPr>
                  <p:nvPr/>
                </p:nvGrpSpPr>
                <p:grpSpPr bwMode="auto">
                  <a:xfrm>
                    <a:off x="932" y="3651"/>
                    <a:ext cx="50" cy="22"/>
                    <a:chOff x="932" y="3651"/>
                    <a:chExt cx="50" cy="22"/>
                  </a:xfrm>
                </p:grpSpPr>
                <p:sp>
                  <p:nvSpPr>
                    <p:cNvPr id="2702"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3"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4"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5" name="Group 2232"/>
                <p:cNvGrpSpPr>
                  <a:grpSpLocks/>
                </p:cNvGrpSpPr>
                <p:nvPr/>
              </p:nvGrpSpPr>
              <p:grpSpPr bwMode="auto">
                <a:xfrm>
                  <a:off x="944" y="3665"/>
                  <a:ext cx="99" cy="74"/>
                  <a:chOff x="944" y="3665"/>
                  <a:chExt cx="99" cy="74"/>
                </a:xfrm>
              </p:grpSpPr>
              <p:grpSp>
                <p:nvGrpSpPr>
                  <p:cNvPr id="2677" name="Group 2233"/>
                  <p:cNvGrpSpPr>
                    <a:grpSpLocks/>
                  </p:cNvGrpSpPr>
                  <p:nvPr/>
                </p:nvGrpSpPr>
                <p:grpSpPr bwMode="auto">
                  <a:xfrm>
                    <a:off x="944" y="3665"/>
                    <a:ext cx="49" cy="23"/>
                    <a:chOff x="944" y="3665"/>
                    <a:chExt cx="49" cy="23"/>
                  </a:xfrm>
                </p:grpSpPr>
                <p:sp>
                  <p:nvSpPr>
                    <p:cNvPr id="2694"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5"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6"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8" name="Group 2237"/>
                  <p:cNvGrpSpPr>
                    <a:grpSpLocks/>
                  </p:cNvGrpSpPr>
                  <p:nvPr/>
                </p:nvGrpSpPr>
                <p:grpSpPr bwMode="auto">
                  <a:xfrm>
                    <a:off x="957" y="3678"/>
                    <a:ext cx="48" cy="23"/>
                    <a:chOff x="957" y="3678"/>
                    <a:chExt cx="48" cy="23"/>
                  </a:xfrm>
                </p:grpSpPr>
                <p:sp>
                  <p:nvSpPr>
                    <p:cNvPr id="2691"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2"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3"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9" name="Group 2241"/>
                  <p:cNvGrpSpPr>
                    <a:grpSpLocks/>
                  </p:cNvGrpSpPr>
                  <p:nvPr/>
                </p:nvGrpSpPr>
                <p:grpSpPr bwMode="auto">
                  <a:xfrm>
                    <a:off x="969" y="3690"/>
                    <a:ext cx="49" cy="23"/>
                    <a:chOff x="969" y="3690"/>
                    <a:chExt cx="49" cy="23"/>
                  </a:xfrm>
                </p:grpSpPr>
                <p:sp>
                  <p:nvSpPr>
                    <p:cNvPr id="2688"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9"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0"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0" name="Group 2245"/>
                  <p:cNvGrpSpPr>
                    <a:grpSpLocks/>
                  </p:cNvGrpSpPr>
                  <p:nvPr/>
                </p:nvGrpSpPr>
                <p:grpSpPr bwMode="auto">
                  <a:xfrm>
                    <a:off x="982" y="3703"/>
                    <a:ext cx="49" cy="23"/>
                    <a:chOff x="982" y="3703"/>
                    <a:chExt cx="49" cy="23"/>
                  </a:xfrm>
                </p:grpSpPr>
                <p:sp>
                  <p:nvSpPr>
                    <p:cNvPr id="2685"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6"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7"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1" name="Group 2249"/>
                  <p:cNvGrpSpPr>
                    <a:grpSpLocks/>
                  </p:cNvGrpSpPr>
                  <p:nvPr/>
                </p:nvGrpSpPr>
                <p:grpSpPr bwMode="auto">
                  <a:xfrm>
                    <a:off x="995" y="3716"/>
                    <a:ext cx="48" cy="23"/>
                    <a:chOff x="995" y="3716"/>
                    <a:chExt cx="48" cy="23"/>
                  </a:xfrm>
                </p:grpSpPr>
                <p:sp>
                  <p:nvSpPr>
                    <p:cNvPr id="2682"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3"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4"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6" name="Group 2253"/>
                <p:cNvGrpSpPr>
                  <a:grpSpLocks/>
                </p:cNvGrpSpPr>
                <p:nvPr/>
              </p:nvGrpSpPr>
              <p:grpSpPr bwMode="auto">
                <a:xfrm>
                  <a:off x="1005" y="3727"/>
                  <a:ext cx="49" cy="23"/>
                  <a:chOff x="1005" y="3727"/>
                  <a:chExt cx="49" cy="23"/>
                </a:xfrm>
              </p:grpSpPr>
              <p:sp>
                <p:nvSpPr>
                  <p:cNvPr id="2674"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5"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6"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7" name="Group 2257"/>
                <p:cNvGrpSpPr>
                  <a:grpSpLocks/>
                </p:cNvGrpSpPr>
                <p:nvPr/>
              </p:nvGrpSpPr>
              <p:grpSpPr bwMode="auto">
                <a:xfrm>
                  <a:off x="1018" y="3740"/>
                  <a:ext cx="49" cy="22"/>
                  <a:chOff x="1018" y="3740"/>
                  <a:chExt cx="49" cy="22"/>
                </a:xfrm>
              </p:grpSpPr>
              <p:sp>
                <p:nvSpPr>
                  <p:cNvPr id="2671"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2"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3"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8" name="Group 2261"/>
                <p:cNvGrpSpPr>
                  <a:grpSpLocks/>
                </p:cNvGrpSpPr>
                <p:nvPr/>
              </p:nvGrpSpPr>
              <p:grpSpPr bwMode="auto">
                <a:xfrm>
                  <a:off x="1030" y="3753"/>
                  <a:ext cx="49" cy="23"/>
                  <a:chOff x="1030" y="3753"/>
                  <a:chExt cx="49" cy="23"/>
                </a:xfrm>
              </p:grpSpPr>
              <p:sp>
                <p:nvSpPr>
                  <p:cNvPr id="2668"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9"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0"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09"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0"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1"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12" name="Group 2268"/>
                <p:cNvGrpSpPr>
                  <a:grpSpLocks/>
                </p:cNvGrpSpPr>
                <p:nvPr/>
              </p:nvGrpSpPr>
              <p:grpSpPr bwMode="auto">
                <a:xfrm>
                  <a:off x="790" y="3547"/>
                  <a:ext cx="49" cy="23"/>
                  <a:chOff x="790" y="3547"/>
                  <a:chExt cx="49" cy="23"/>
                </a:xfrm>
              </p:grpSpPr>
              <p:sp>
                <p:nvSpPr>
                  <p:cNvPr id="2665"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6"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7"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3" name="Group 2272"/>
                <p:cNvGrpSpPr>
                  <a:grpSpLocks/>
                </p:cNvGrpSpPr>
                <p:nvPr/>
              </p:nvGrpSpPr>
              <p:grpSpPr bwMode="auto">
                <a:xfrm>
                  <a:off x="803" y="3560"/>
                  <a:ext cx="49" cy="22"/>
                  <a:chOff x="803" y="3560"/>
                  <a:chExt cx="49" cy="22"/>
                </a:xfrm>
              </p:grpSpPr>
              <p:sp>
                <p:nvSpPr>
                  <p:cNvPr id="2662"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3"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4"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4" name="Group 2276"/>
                <p:cNvGrpSpPr>
                  <a:grpSpLocks/>
                </p:cNvGrpSpPr>
                <p:nvPr/>
              </p:nvGrpSpPr>
              <p:grpSpPr bwMode="auto">
                <a:xfrm>
                  <a:off x="815" y="3572"/>
                  <a:ext cx="50" cy="23"/>
                  <a:chOff x="815" y="3572"/>
                  <a:chExt cx="50" cy="23"/>
                </a:xfrm>
              </p:grpSpPr>
              <p:sp>
                <p:nvSpPr>
                  <p:cNvPr id="2659"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0"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1"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5" name="Group 2280"/>
                <p:cNvGrpSpPr>
                  <a:grpSpLocks/>
                </p:cNvGrpSpPr>
                <p:nvPr/>
              </p:nvGrpSpPr>
              <p:grpSpPr bwMode="auto">
                <a:xfrm>
                  <a:off x="828" y="3585"/>
                  <a:ext cx="49" cy="23"/>
                  <a:chOff x="828" y="3585"/>
                  <a:chExt cx="49" cy="23"/>
                </a:xfrm>
              </p:grpSpPr>
              <p:sp>
                <p:nvSpPr>
                  <p:cNvPr id="2656"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7"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8"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6" name="Group 2284"/>
                <p:cNvGrpSpPr>
                  <a:grpSpLocks/>
                </p:cNvGrpSpPr>
                <p:nvPr/>
              </p:nvGrpSpPr>
              <p:grpSpPr bwMode="auto">
                <a:xfrm>
                  <a:off x="840" y="3600"/>
                  <a:ext cx="100" cy="73"/>
                  <a:chOff x="840" y="3600"/>
                  <a:chExt cx="100" cy="73"/>
                </a:xfrm>
              </p:grpSpPr>
              <p:grpSp>
                <p:nvGrpSpPr>
                  <p:cNvPr id="2636" name="Group 2285"/>
                  <p:cNvGrpSpPr>
                    <a:grpSpLocks/>
                  </p:cNvGrpSpPr>
                  <p:nvPr/>
                </p:nvGrpSpPr>
                <p:grpSpPr bwMode="auto">
                  <a:xfrm>
                    <a:off x="840" y="3600"/>
                    <a:ext cx="49" cy="23"/>
                    <a:chOff x="840" y="3600"/>
                    <a:chExt cx="49" cy="23"/>
                  </a:xfrm>
                </p:grpSpPr>
                <p:sp>
                  <p:nvSpPr>
                    <p:cNvPr id="2653"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4"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5"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7" name="Group 2289"/>
                  <p:cNvGrpSpPr>
                    <a:grpSpLocks/>
                  </p:cNvGrpSpPr>
                  <p:nvPr/>
                </p:nvGrpSpPr>
                <p:grpSpPr bwMode="auto">
                  <a:xfrm>
                    <a:off x="853" y="3612"/>
                    <a:ext cx="48" cy="23"/>
                    <a:chOff x="853" y="3612"/>
                    <a:chExt cx="48" cy="23"/>
                  </a:xfrm>
                </p:grpSpPr>
                <p:sp>
                  <p:nvSpPr>
                    <p:cNvPr id="2650"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1"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2"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8" name="Group 2293"/>
                  <p:cNvGrpSpPr>
                    <a:grpSpLocks/>
                  </p:cNvGrpSpPr>
                  <p:nvPr/>
                </p:nvGrpSpPr>
                <p:grpSpPr bwMode="auto">
                  <a:xfrm>
                    <a:off x="865" y="3625"/>
                    <a:ext cx="49" cy="23"/>
                    <a:chOff x="865" y="3625"/>
                    <a:chExt cx="49" cy="23"/>
                  </a:xfrm>
                </p:grpSpPr>
                <p:sp>
                  <p:nvSpPr>
                    <p:cNvPr id="2647"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8"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9"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9" name="Group 2297"/>
                  <p:cNvGrpSpPr>
                    <a:grpSpLocks/>
                  </p:cNvGrpSpPr>
                  <p:nvPr/>
                </p:nvGrpSpPr>
                <p:grpSpPr bwMode="auto">
                  <a:xfrm>
                    <a:off x="878" y="3638"/>
                    <a:ext cx="49" cy="22"/>
                    <a:chOff x="878" y="3638"/>
                    <a:chExt cx="49" cy="22"/>
                  </a:xfrm>
                </p:grpSpPr>
                <p:sp>
                  <p:nvSpPr>
                    <p:cNvPr id="2644"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5"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6"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40" name="Group 2301"/>
                  <p:cNvGrpSpPr>
                    <a:grpSpLocks/>
                  </p:cNvGrpSpPr>
                  <p:nvPr/>
                </p:nvGrpSpPr>
                <p:grpSpPr bwMode="auto">
                  <a:xfrm>
                    <a:off x="890" y="3651"/>
                    <a:ext cx="50" cy="22"/>
                    <a:chOff x="890" y="3651"/>
                    <a:chExt cx="50" cy="22"/>
                  </a:xfrm>
                </p:grpSpPr>
                <p:sp>
                  <p:nvSpPr>
                    <p:cNvPr id="2641"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2"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3"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7" name="Group 2305"/>
                <p:cNvGrpSpPr>
                  <a:grpSpLocks/>
                </p:cNvGrpSpPr>
                <p:nvPr/>
              </p:nvGrpSpPr>
              <p:grpSpPr bwMode="auto">
                <a:xfrm>
                  <a:off x="903" y="3665"/>
                  <a:ext cx="99" cy="74"/>
                  <a:chOff x="903" y="3665"/>
                  <a:chExt cx="99" cy="74"/>
                </a:xfrm>
              </p:grpSpPr>
              <p:grpSp>
                <p:nvGrpSpPr>
                  <p:cNvPr id="2616" name="Group 2306"/>
                  <p:cNvGrpSpPr>
                    <a:grpSpLocks/>
                  </p:cNvGrpSpPr>
                  <p:nvPr/>
                </p:nvGrpSpPr>
                <p:grpSpPr bwMode="auto">
                  <a:xfrm>
                    <a:off x="903" y="3665"/>
                    <a:ext cx="49" cy="23"/>
                    <a:chOff x="903" y="3665"/>
                    <a:chExt cx="49" cy="23"/>
                  </a:xfrm>
                </p:grpSpPr>
                <p:sp>
                  <p:nvSpPr>
                    <p:cNvPr id="2633"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4"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5"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7" name="Group 2310"/>
                  <p:cNvGrpSpPr>
                    <a:grpSpLocks/>
                  </p:cNvGrpSpPr>
                  <p:nvPr/>
                </p:nvGrpSpPr>
                <p:grpSpPr bwMode="auto">
                  <a:xfrm>
                    <a:off x="914" y="3678"/>
                    <a:ext cx="49" cy="23"/>
                    <a:chOff x="914" y="3678"/>
                    <a:chExt cx="49" cy="23"/>
                  </a:xfrm>
                </p:grpSpPr>
                <p:sp>
                  <p:nvSpPr>
                    <p:cNvPr id="2630"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1"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2"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8" name="Group 2314"/>
                  <p:cNvGrpSpPr>
                    <a:grpSpLocks/>
                  </p:cNvGrpSpPr>
                  <p:nvPr/>
                </p:nvGrpSpPr>
                <p:grpSpPr bwMode="auto">
                  <a:xfrm>
                    <a:off x="928" y="3690"/>
                    <a:ext cx="48" cy="23"/>
                    <a:chOff x="928" y="3690"/>
                    <a:chExt cx="48" cy="23"/>
                  </a:xfrm>
                </p:grpSpPr>
                <p:sp>
                  <p:nvSpPr>
                    <p:cNvPr id="2627"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8"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9"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9" name="Group 2318"/>
                  <p:cNvGrpSpPr>
                    <a:grpSpLocks/>
                  </p:cNvGrpSpPr>
                  <p:nvPr/>
                </p:nvGrpSpPr>
                <p:grpSpPr bwMode="auto">
                  <a:xfrm>
                    <a:off x="940" y="3703"/>
                    <a:ext cx="49" cy="23"/>
                    <a:chOff x="940" y="3703"/>
                    <a:chExt cx="49" cy="23"/>
                  </a:xfrm>
                </p:grpSpPr>
                <p:sp>
                  <p:nvSpPr>
                    <p:cNvPr id="2624"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5"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6"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20" name="Group 2322"/>
                  <p:cNvGrpSpPr>
                    <a:grpSpLocks/>
                  </p:cNvGrpSpPr>
                  <p:nvPr/>
                </p:nvGrpSpPr>
                <p:grpSpPr bwMode="auto">
                  <a:xfrm>
                    <a:off x="953" y="3716"/>
                    <a:ext cx="49" cy="23"/>
                    <a:chOff x="953" y="3716"/>
                    <a:chExt cx="49" cy="23"/>
                  </a:xfrm>
                </p:grpSpPr>
                <p:sp>
                  <p:nvSpPr>
                    <p:cNvPr id="2621"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2"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3"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8" name="Group 2326"/>
                <p:cNvGrpSpPr>
                  <a:grpSpLocks/>
                </p:cNvGrpSpPr>
                <p:nvPr/>
              </p:nvGrpSpPr>
              <p:grpSpPr bwMode="auto">
                <a:xfrm>
                  <a:off x="963" y="3727"/>
                  <a:ext cx="49" cy="23"/>
                  <a:chOff x="963" y="3727"/>
                  <a:chExt cx="49" cy="23"/>
                </a:xfrm>
              </p:grpSpPr>
              <p:sp>
                <p:nvSpPr>
                  <p:cNvPr id="2613"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4"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5"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9" name="Group 2330"/>
                <p:cNvGrpSpPr>
                  <a:grpSpLocks/>
                </p:cNvGrpSpPr>
                <p:nvPr/>
              </p:nvGrpSpPr>
              <p:grpSpPr bwMode="auto">
                <a:xfrm>
                  <a:off x="976" y="3740"/>
                  <a:ext cx="50" cy="22"/>
                  <a:chOff x="976" y="3740"/>
                  <a:chExt cx="50" cy="22"/>
                </a:xfrm>
              </p:grpSpPr>
              <p:sp>
                <p:nvSpPr>
                  <p:cNvPr id="2610"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1"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2"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0" name="Group 2334"/>
                <p:cNvGrpSpPr>
                  <a:grpSpLocks/>
                </p:cNvGrpSpPr>
                <p:nvPr/>
              </p:nvGrpSpPr>
              <p:grpSpPr bwMode="auto">
                <a:xfrm>
                  <a:off x="761" y="3560"/>
                  <a:ext cx="50" cy="22"/>
                  <a:chOff x="761" y="3560"/>
                  <a:chExt cx="50" cy="22"/>
                </a:xfrm>
              </p:grpSpPr>
              <p:sp>
                <p:nvSpPr>
                  <p:cNvPr id="2607"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8"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9"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1" name="Group 2338"/>
                <p:cNvGrpSpPr>
                  <a:grpSpLocks/>
                </p:cNvGrpSpPr>
                <p:nvPr/>
              </p:nvGrpSpPr>
              <p:grpSpPr bwMode="auto">
                <a:xfrm>
                  <a:off x="774" y="3572"/>
                  <a:ext cx="49" cy="23"/>
                  <a:chOff x="774" y="3572"/>
                  <a:chExt cx="49" cy="23"/>
                </a:xfrm>
              </p:grpSpPr>
              <p:sp>
                <p:nvSpPr>
                  <p:cNvPr id="2604"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5"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6"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2" name="Group 2342"/>
                <p:cNvGrpSpPr>
                  <a:grpSpLocks/>
                </p:cNvGrpSpPr>
                <p:nvPr/>
              </p:nvGrpSpPr>
              <p:grpSpPr bwMode="auto">
                <a:xfrm>
                  <a:off x="787" y="3585"/>
                  <a:ext cx="49" cy="23"/>
                  <a:chOff x="787" y="3585"/>
                  <a:chExt cx="49" cy="23"/>
                </a:xfrm>
              </p:grpSpPr>
              <p:sp>
                <p:nvSpPr>
                  <p:cNvPr id="2601"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2"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3"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3" name="Group 2346"/>
                <p:cNvGrpSpPr>
                  <a:grpSpLocks/>
                </p:cNvGrpSpPr>
                <p:nvPr/>
              </p:nvGrpSpPr>
              <p:grpSpPr bwMode="auto">
                <a:xfrm>
                  <a:off x="799" y="3600"/>
                  <a:ext cx="99" cy="73"/>
                  <a:chOff x="799" y="3600"/>
                  <a:chExt cx="99" cy="73"/>
                </a:xfrm>
              </p:grpSpPr>
              <p:grpSp>
                <p:nvGrpSpPr>
                  <p:cNvPr id="2581" name="Group 2347"/>
                  <p:cNvGrpSpPr>
                    <a:grpSpLocks/>
                  </p:cNvGrpSpPr>
                  <p:nvPr/>
                </p:nvGrpSpPr>
                <p:grpSpPr bwMode="auto">
                  <a:xfrm>
                    <a:off x="799" y="3600"/>
                    <a:ext cx="48" cy="23"/>
                    <a:chOff x="799" y="3600"/>
                    <a:chExt cx="48" cy="23"/>
                  </a:xfrm>
                </p:grpSpPr>
                <p:sp>
                  <p:nvSpPr>
                    <p:cNvPr id="2598"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9"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0"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2" name="Group 2351"/>
                  <p:cNvGrpSpPr>
                    <a:grpSpLocks/>
                  </p:cNvGrpSpPr>
                  <p:nvPr/>
                </p:nvGrpSpPr>
                <p:grpSpPr bwMode="auto">
                  <a:xfrm>
                    <a:off x="811" y="3612"/>
                    <a:ext cx="48" cy="23"/>
                    <a:chOff x="811" y="3612"/>
                    <a:chExt cx="48" cy="23"/>
                  </a:xfrm>
                </p:grpSpPr>
                <p:sp>
                  <p:nvSpPr>
                    <p:cNvPr id="2595"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6"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7"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3" name="Group 2355"/>
                  <p:cNvGrpSpPr>
                    <a:grpSpLocks/>
                  </p:cNvGrpSpPr>
                  <p:nvPr/>
                </p:nvGrpSpPr>
                <p:grpSpPr bwMode="auto">
                  <a:xfrm>
                    <a:off x="823" y="3625"/>
                    <a:ext cx="49" cy="23"/>
                    <a:chOff x="823" y="3625"/>
                    <a:chExt cx="49" cy="23"/>
                  </a:xfrm>
                </p:grpSpPr>
                <p:sp>
                  <p:nvSpPr>
                    <p:cNvPr id="2592"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3"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4"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4" name="Group 2359"/>
                  <p:cNvGrpSpPr>
                    <a:grpSpLocks/>
                  </p:cNvGrpSpPr>
                  <p:nvPr/>
                </p:nvGrpSpPr>
                <p:grpSpPr bwMode="auto">
                  <a:xfrm>
                    <a:off x="836" y="3638"/>
                    <a:ext cx="50" cy="22"/>
                    <a:chOff x="836" y="3638"/>
                    <a:chExt cx="50" cy="22"/>
                  </a:xfrm>
                </p:grpSpPr>
                <p:sp>
                  <p:nvSpPr>
                    <p:cNvPr id="2589"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0"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1"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5" name="Group 2363"/>
                  <p:cNvGrpSpPr>
                    <a:grpSpLocks/>
                  </p:cNvGrpSpPr>
                  <p:nvPr/>
                </p:nvGrpSpPr>
                <p:grpSpPr bwMode="auto">
                  <a:xfrm>
                    <a:off x="849" y="3651"/>
                    <a:ext cx="49" cy="22"/>
                    <a:chOff x="849" y="3651"/>
                    <a:chExt cx="49" cy="22"/>
                  </a:xfrm>
                </p:grpSpPr>
                <p:sp>
                  <p:nvSpPr>
                    <p:cNvPr id="2586"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7"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8"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4" name="Group 2367"/>
                <p:cNvGrpSpPr>
                  <a:grpSpLocks/>
                </p:cNvGrpSpPr>
                <p:nvPr/>
              </p:nvGrpSpPr>
              <p:grpSpPr bwMode="auto">
                <a:xfrm>
                  <a:off x="861" y="3665"/>
                  <a:ext cx="99" cy="74"/>
                  <a:chOff x="861" y="3665"/>
                  <a:chExt cx="99" cy="74"/>
                </a:xfrm>
              </p:grpSpPr>
              <p:grpSp>
                <p:nvGrpSpPr>
                  <p:cNvPr id="2561" name="Group 2368"/>
                  <p:cNvGrpSpPr>
                    <a:grpSpLocks/>
                  </p:cNvGrpSpPr>
                  <p:nvPr/>
                </p:nvGrpSpPr>
                <p:grpSpPr bwMode="auto">
                  <a:xfrm>
                    <a:off x="861" y="3665"/>
                    <a:ext cx="50" cy="23"/>
                    <a:chOff x="861" y="3665"/>
                    <a:chExt cx="50" cy="23"/>
                  </a:xfrm>
                </p:grpSpPr>
                <p:sp>
                  <p:nvSpPr>
                    <p:cNvPr id="2578"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9"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0"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2" name="Group 2372"/>
                  <p:cNvGrpSpPr>
                    <a:grpSpLocks/>
                  </p:cNvGrpSpPr>
                  <p:nvPr/>
                </p:nvGrpSpPr>
                <p:grpSpPr bwMode="auto">
                  <a:xfrm>
                    <a:off x="873" y="3678"/>
                    <a:ext cx="49" cy="23"/>
                    <a:chOff x="873" y="3678"/>
                    <a:chExt cx="49" cy="23"/>
                  </a:xfrm>
                </p:grpSpPr>
                <p:sp>
                  <p:nvSpPr>
                    <p:cNvPr id="2575"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6"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7"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3" name="Group 2376"/>
                  <p:cNvGrpSpPr>
                    <a:grpSpLocks/>
                  </p:cNvGrpSpPr>
                  <p:nvPr/>
                </p:nvGrpSpPr>
                <p:grpSpPr bwMode="auto">
                  <a:xfrm>
                    <a:off x="886" y="3690"/>
                    <a:ext cx="49" cy="23"/>
                    <a:chOff x="886" y="3690"/>
                    <a:chExt cx="49" cy="23"/>
                  </a:xfrm>
                </p:grpSpPr>
                <p:sp>
                  <p:nvSpPr>
                    <p:cNvPr id="2572"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3"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4"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4" name="Group 2380"/>
                  <p:cNvGrpSpPr>
                    <a:grpSpLocks/>
                  </p:cNvGrpSpPr>
                  <p:nvPr/>
                </p:nvGrpSpPr>
                <p:grpSpPr bwMode="auto">
                  <a:xfrm>
                    <a:off x="899" y="3703"/>
                    <a:ext cx="48" cy="23"/>
                    <a:chOff x="899" y="3703"/>
                    <a:chExt cx="48" cy="23"/>
                  </a:xfrm>
                </p:grpSpPr>
                <p:sp>
                  <p:nvSpPr>
                    <p:cNvPr id="2569"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0"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1"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5" name="Group 2384"/>
                  <p:cNvGrpSpPr>
                    <a:grpSpLocks/>
                  </p:cNvGrpSpPr>
                  <p:nvPr/>
                </p:nvGrpSpPr>
                <p:grpSpPr bwMode="auto">
                  <a:xfrm>
                    <a:off x="912" y="3716"/>
                    <a:ext cx="48" cy="23"/>
                    <a:chOff x="912" y="3716"/>
                    <a:chExt cx="48" cy="23"/>
                  </a:xfrm>
                </p:grpSpPr>
                <p:sp>
                  <p:nvSpPr>
                    <p:cNvPr id="2566"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7"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8"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5" name="Group 2388"/>
                <p:cNvGrpSpPr>
                  <a:grpSpLocks/>
                </p:cNvGrpSpPr>
                <p:nvPr/>
              </p:nvGrpSpPr>
              <p:grpSpPr bwMode="auto">
                <a:xfrm>
                  <a:off x="922" y="3727"/>
                  <a:ext cx="49" cy="23"/>
                  <a:chOff x="922" y="3727"/>
                  <a:chExt cx="49" cy="23"/>
                </a:xfrm>
              </p:grpSpPr>
              <p:sp>
                <p:nvSpPr>
                  <p:cNvPr id="2558"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9"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0"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6" name="Group 2392"/>
                <p:cNvGrpSpPr>
                  <a:grpSpLocks/>
                </p:cNvGrpSpPr>
                <p:nvPr/>
              </p:nvGrpSpPr>
              <p:grpSpPr bwMode="auto">
                <a:xfrm>
                  <a:off x="895" y="3526"/>
                  <a:ext cx="44" cy="23"/>
                  <a:chOff x="895" y="3526"/>
                  <a:chExt cx="44" cy="23"/>
                </a:xfrm>
              </p:grpSpPr>
              <p:sp>
                <p:nvSpPr>
                  <p:cNvPr id="2555"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6"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7"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7" name="Group 2396"/>
                <p:cNvGrpSpPr>
                  <a:grpSpLocks/>
                </p:cNvGrpSpPr>
                <p:nvPr/>
              </p:nvGrpSpPr>
              <p:grpSpPr bwMode="auto">
                <a:xfrm>
                  <a:off x="907" y="3540"/>
                  <a:ext cx="45" cy="22"/>
                  <a:chOff x="907" y="3540"/>
                  <a:chExt cx="45" cy="22"/>
                </a:xfrm>
              </p:grpSpPr>
              <p:sp>
                <p:nvSpPr>
                  <p:cNvPr id="2552"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3"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4"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8" name="Group 2400"/>
                <p:cNvGrpSpPr>
                  <a:grpSpLocks/>
                </p:cNvGrpSpPr>
                <p:nvPr/>
              </p:nvGrpSpPr>
              <p:grpSpPr bwMode="auto">
                <a:xfrm>
                  <a:off x="920" y="3553"/>
                  <a:ext cx="45" cy="23"/>
                  <a:chOff x="920" y="3553"/>
                  <a:chExt cx="45" cy="23"/>
                </a:xfrm>
              </p:grpSpPr>
              <p:sp>
                <p:nvSpPr>
                  <p:cNvPr id="2549"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0"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1"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9" name="Group 2404"/>
                <p:cNvGrpSpPr>
                  <a:grpSpLocks/>
                </p:cNvGrpSpPr>
                <p:nvPr/>
              </p:nvGrpSpPr>
              <p:grpSpPr bwMode="auto">
                <a:xfrm>
                  <a:off x="934" y="3566"/>
                  <a:ext cx="44" cy="23"/>
                  <a:chOff x="934" y="3566"/>
                  <a:chExt cx="44" cy="23"/>
                </a:xfrm>
              </p:grpSpPr>
              <p:sp>
                <p:nvSpPr>
                  <p:cNvPr id="2546"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7"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8"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0" name="Group 2408"/>
                <p:cNvGrpSpPr>
                  <a:grpSpLocks/>
                </p:cNvGrpSpPr>
                <p:nvPr/>
              </p:nvGrpSpPr>
              <p:grpSpPr bwMode="auto">
                <a:xfrm>
                  <a:off x="949" y="3579"/>
                  <a:ext cx="83" cy="63"/>
                  <a:chOff x="949" y="3579"/>
                  <a:chExt cx="83" cy="63"/>
                </a:xfrm>
              </p:grpSpPr>
              <p:grpSp>
                <p:nvGrpSpPr>
                  <p:cNvPr id="2530" name="Group 2409"/>
                  <p:cNvGrpSpPr>
                    <a:grpSpLocks/>
                  </p:cNvGrpSpPr>
                  <p:nvPr/>
                </p:nvGrpSpPr>
                <p:grpSpPr bwMode="auto">
                  <a:xfrm>
                    <a:off x="949" y="3579"/>
                    <a:ext cx="44" cy="23"/>
                    <a:chOff x="949" y="3579"/>
                    <a:chExt cx="44" cy="23"/>
                  </a:xfrm>
                </p:grpSpPr>
                <p:sp>
                  <p:nvSpPr>
                    <p:cNvPr id="2543"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4"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5"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1" name="Group 2413"/>
                  <p:cNvGrpSpPr>
                    <a:grpSpLocks/>
                  </p:cNvGrpSpPr>
                  <p:nvPr/>
                </p:nvGrpSpPr>
                <p:grpSpPr bwMode="auto">
                  <a:xfrm>
                    <a:off x="961" y="3592"/>
                    <a:ext cx="45" cy="23"/>
                    <a:chOff x="961" y="3592"/>
                    <a:chExt cx="45" cy="23"/>
                  </a:xfrm>
                </p:grpSpPr>
                <p:sp>
                  <p:nvSpPr>
                    <p:cNvPr id="2540"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1"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2"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2" name="Group 2417"/>
                  <p:cNvGrpSpPr>
                    <a:grpSpLocks/>
                  </p:cNvGrpSpPr>
                  <p:nvPr/>
                </p:nvGrpSpPr>
                <p:grpSpPr bwMode="auto">
                  <a:xfrm>
                    <a:off x="974" y="3606"/>
                    <a:ext cx="44" cy="23"/>
                    <a:chOff x="974" y="3606"/>
                    <a:chExt cx="44" cy="23"/>
                  </a:xfrm>
                </p:grpSpPr>
                <p:sp>
                  <p:nvSpPr>
                    <p:cNvPr id="2537"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8"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9"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3" name="Group 2421"/>
                  <p:cNvGrpSpPr>
                    <a:grpSpLocks/>
                  </p:cNvGrpSpPr>
                  <p:nvPr/>
                </p:nvGrpSpPr>
                <p:grpSpPr bwMode="auto">
                  <a:xfrm>
                    <a:off x="987" y="3619"/>
                    <a:ext cx="45" cy="23"/>
                    <a:chOff x="987" y="3619"/>
                    <a:chExt cx="45" cy="23"/>
                  </a:xfrm>
                </p:grpSpPr>
                <p:sp>
                  <p:nvSpPr>
                    <p:cNvPr id="2534"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5"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6"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1" name="Group 2425"/>
                <p:cNvGrpSpPr>
                  <a:grpSpLocks/>
                </p:cNvGrpSpPr>
                <p:nvPr/>
              </p:nvGrpSpPr>
              <p:grpSpPr bwMode="auto">
                <a:xfrm>
                  <a:off x="1002" y="3632"/>
                  <a:ext cx="83" cy="63"/>
                  <a:chOff x="1002" y="3632"/>
                  <a:chExt cx="83" cy="63"/>
                </a:xfrm>
              </p:grpSpPr>
              <p:grpSp>
                <p:nvGrpSpPr>
                  <p:cNvPr id="2514" name="Group 2426"/>
                  <p:cNvGrpSpPr>
                    <a:grpSpLocks/>
                  </p:cNvGrpSpPr>
                  <p:nvPr/>
                </p:nvGrpSpPr>
                <p:grpSpPr bwMode="auto">
                  <a:xfrm>
                    <a:off x="1002" y="3632"/>
                    <a:ext cx="44" cy="22"/>
                    <a:chOff x="1002" y="3632"/>
                    <a:chExt cx="44" cy="22"/>
                  </a:xfrm>
                </p:grpSpPr>
                <p:sp>
                  <p:nvSpPr>
                    <p:cNvPr id="2527"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8"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9"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5" name="Group 2430"/>
                  <p:cNvGrpSpPr>
                    <a:grpSpLocks/>
                  </p:cNvGrpSpPr>
                  <p:nvPr/>
                </p:nvGrpSpPr>
                <p:grpSpPr bwMode="auto">
                  <a:xfrm>
                    <a:off x="1014" y="3645"/>
                    <a:ext cx="44" cy="23"/>
                    <a:chOff x="1014" y="3645"/>
                    <a:chExt cx="44" cy="23"/>
                  </a:xfrm>
                </p:grpSpPr>
                <p:sp>
                  <p:nvSpPr>
                    <p:cNvPr id="2524"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5"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6"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6" name="Group 2434"/>
                  <p:cNvGrpSpPr>
                    <a:grpSpLocks/>
                  </p:cNvGrpSpPr>
                  <p:nvPr/>
                </p:nvGrpSpPr>
                <p:grpSpPr bwMode="auto">
                  <a:xfrm>
                    <a:off x="1027" y="3659"/>
                    <a:ext cx="45" cy="23"/>
                    <a:chOff x="1027" y="3659"/>
                    <a:chExt cx="45" cy="23"/>
                  </a:xfrm>
                </p:grpSpPr>
                <p:sp>
                  <p:nvSpPr>
                    <p:cNvPr id="2521"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2"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3"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7" name="Group 2438"/>
                  <p:cNvGrpSpPr>
                    <a:grpSpLocks/>
                  </p:cNvGrpSpPr>
                  <p:nvPr/>
                </p:nvGrpSpPr>
                <p:grpSpPr bwMode="auto">
                  <a:xfrm>
                    <a:off x="1040" y="3672"/>
                    <a:ext cx="45" cy="23"/>
                    <a:chOff x="1040" y="3672"/>
                    <a:chExt cx="45" cy="23"/>
                  </a:xfrm>
                </p:grpSpPr>
                <p:sp>
                  <p:nvSpPr>
                    <p:cNvPr id="2518"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9"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0"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2" name="Group 2442"/>
                <p:cNvGrpSpPr>
                  <a:grpSpLocks/>
                </p:cNvGrpSpPr>
                <p:nvPr/>
              </p:nvGrpSpPr>
              <p:grpSpPr bwMode="auto">
                <a:xfrm>
                  <a:off x="1054" y="3685"/>
                  <a:ext cx="45" cy="23"/>
                  <a:chOff x="1054" y="3685"/>
                  <a:chExt cx="45" cy="23"/>
                </a:xfrm>
              </p:grpSpPr>
              <p:sp>
                <p:nvSpPr>
                  <p:cNvPr id="2511"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2"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3"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3" name="Group 2446"/>
                <p:cNvGrpSpPr>
                  <a:grpSpLocks/>
                </p:cNvGrpSpPr>
                <p:nvPr/>
              </p:nvGrpSpPr>
              <p:grpSpPr bwMode="auto">
                <a:xfrm>
                  <a:off x="1067" y="3698"/>
                  <a:ext cx="45" cy="23"/>
                  <a:chOff x="1067" y="3698"/>
                  <a:chExt cx="45" cy="23"/>
                </a:xfrm>
              </p:grpSpPr>
              <p:sp>
                <p:nvSpPr>
                  <p:cNvPr id="2508"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9"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0"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4" name="Group 2450"/>
                <p:cNvGrpSpPr>
                  <a:grpSpLocks/>
                </p:cNvGrpSpPr>
                <p:nvPr/>
              </p:nvGrpSpPr>
              <p:grpSpPr bwMode="auto">
                <a:xfrm>
                  <a:off x="1079" y="3712"/>
                  <a:ext cx="44" cy="23"/>
                  <a:chOff x="1079" y="3712"/>
                  <a:chExt cx="44" cy="23"/>
                </a:xfrm>
              </p:grpSpPr>
              <p:sp>
                <p:nvSpPr>
                  <p:cNvPr id="2505"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6"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7"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5" name="Group 2454"/>
                <p:cNvGrpSpPr>
                  <a:grpSpLocks/>
                </p:cNvGrpSpPr>
                <p:nvPr/>
              </p:nvGrpSpPr>
              <p:grpSpPr bwMode="auto">
                <a:xfrm>
                  <a:off x="1093" y="3725"/>
                  <a:ext cx="45" cy="23"/>
                  <a:chOff x="1093" y="3725"/>
                  <a:chExt cx="45" cy="23"/>
                </a:xfrm>
              </p:grpSpPr>
              <p:sp>
                <p:nvSpPr>
                  <p:cNvPr id="2502"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3"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4"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6" name="Group 2458"/>
                <p:cNvGrpSpPr>
                  <a:grpSpLocks/>
                </p:cNvGrpSpPr>
                <p:nvPr/>
              </p:nvGrpSpPr>
              <p:grpSpPr bwMode="auto">
                <a:xfrm>
                  <a:off x="1108" y="3739"/>
                  <a:ext cx="44" cy="23"/>
                  <a:chOff x="1108" y="3739"/>
                  <a:chExt cx="44" cy="23"/>
                </a:xfrm>
              </p:grpSpPr>
              <p:sp>
                <p:nvSpPr>
                  <p:cNvPr id="2499"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0"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1"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7" name="Group 2462"/>
                <p:cNvGrpSpPr>
                  <a:grpSpLocks/>
                </p:cNvGrpSpPr>
                <p:nvPr/>
              </p:nvGrpSpPr>
              <p:grpSpPr bwMode="auto">
                <a:xfrm>
                  <a:off x="1121" y="3753"/>
                  <a:ext cx="45" cy="23"/>
                  <a:chOff x="1121" y="3753"/>
                  <a:chExt cx="45" cy="23"/>
                </a:xfrm>
              </p:grpSpPr>
              <p:sp>
                <p:nvSpPr>
                  <p:cNvPr id="2496"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7"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8"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8" name="Group 2466"/>
                <p:cNvGrpSpPr>
                  <a:grpSpLocks/>
                </p:cNvGrpSpPr>
                <p:nvPr/>
              </p:nvGrpSpPr>
              <p:grpSpPr bwMode="auto">
                <a:xfrm>
                  <a:off x="1133" y="3767"/>
                  <a:ext cx="44" cy="23"/>
                  <a:chOff x="1133" y="3767"/>
                  <a:chExt cx="44" cy="23"/>
                </a:xfrm>
              </p:grpSpPr>
              <p:sp>
                <p:nvSpPr>
                  <p:cNvPr id="2493"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4"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5"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39"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0"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1"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2"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3"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4"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5"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6"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7"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8"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9"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50" name="Group 2481"/>
                <p:cNvGrpSpPr>
                  <a:grpSpLocks/>
                </p:cNvGrpSpPr>
                <p:nvPr/>
              </p:nvGrpSpPr>
              <p:grpSpPr bwMode="auto">
                <a:xfrm>
                  <a:off x="700" y="3535"/>
                  <a:ext cx="49" cy="24"/>
                  <a:chOff x="700" y="3535"/>
                  <a:chExt cx="49" cy="24"/>
                </a:xfrm>
              </p:grpSpPr>
              <p:sp>
                <p:nvSpPr>
                  <p:cNvPr id="2490"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1"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2"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1" name="Group 2485"/>
                <p:cNvGrpSpPr>
                  <a:grpSpLocks/>
                </p:cNvGrpSpPr>
                <p:nvPr/>
              </p:nvGrpSpPr>
              <p:grpSpPr bwMode="auto">
                <a:xfrm>
                  <a:off x="714" y="3551"/>
                  <a:ext cx="49" cy="22"/>
                  <a:chOff x="714" y="3551"/>
                  <a:chExt cx="49" cy="22"/>
                </a:xfrm>
              </p:grpSpPr>
              <p:sp>
                <p:nvSpPr>
                  <p:cNvPr id="2487"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8"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9"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2" name="Group 2489"/>
                <p:cNvGrpSpPr>
                  <a:grpSpLocks/>
                </p:cNvGrpSpPr>
                <p:nvPr/>
              </p:nvGrpSpPr>
              <p:grpSpPr bwMode="auto">
                <a:xfrm>
                  <a:off x="728" y="3564"/>
                  <a:ext cx="48" cy="23"/>
                  <a:chOff x="728" y="3564"/>
                  <a:chExt cx="48" cy="23"/>
                </a:xfrm>
              </p:grpSpPr>
              <p:sp>
                <p:nvSpPr>
                  <p:cNvPr id="2484"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5"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6"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3" name="Group 2493"/>
                <p:cNvGrpSpPr>
                  <a:grpSpLocks/>
                </p:cNvGrpSpPr>
                <p:nvPr/>
              </p:nvGrpSpPr>
              <p:grpSpPr bwMode="auto">
                <a:xfrm>
                  <a:off x="742" y="3582"/>
                  <a:ext cx="49" cy="23"/>
                  <a:chOff x="742" y="3582"/>
                  <a:chExt cx="49" cy="23"/>
                </a:xfrm>
              </p:grpSpPr>
              <p:sp>
                <p:nvSpPr>
                  <p:cNvPr id="2481"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2"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3"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4" name="Group 2497"/>
                <p:cNvGrpSpPr>
                  <a:grpSpLocks/>
                </p:cNvGrpSpPr>
                <p:nvPr/>
              </p:nvGrpSpPr>
              <p:grpSpPr bwMode="auto">
                <a:xfrm>
                  <a:off x="752" y="3597"/>
                  <a:ext cx="133" cy="106"/>
                  <a:chOff x="752" y="3597"/>
                  <a:chExt cx="133" cy="106"/>
                </a:xfrm>
              </p:grpSpPr>
              <p:sp>
                <p:nvSpPr>
                  <p:cNvPr id="2478"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9"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0"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5" name="Group 2501"/>
                <p:cNvGrpSpPr>
                  <a:grpSpLocks/>
                </p:cNvGrpSpPr>
                <p:nvPr/>
              </p:nvGrpSpPr>
              <p:grpSpPr bwMode="auto">
                <a:xfrm>
                  <a:off x="844" y="3694"/>
                  <a:ext cx="48" cy="23"/>
                  <a:chOff x="844" y="3694"/>
                  <a:chExt cx="48" cy="23"/>
                </a:xfrm>
              </p:grpSpPr>
              <p:sp>
                <p:nvSpPr>
                  <p:cNvPr id="2475"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6"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7"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6" name="Group 2505"/>
                <p:cNvGrpSpPr>
                  <a:grpSpLocks/>
                </p:cNvGrpSpPr>
                <p:nvPr/>
              </p:nvGrpSpPr>
              <p:grpSpPr bwMode="auto">
                <a:xfrm>
                  <a:off x="857" y="3710"/>
                  <a:ext cx="49" cy="22"/>
                  <a:chOff x="857" y="3710"/>
                  <a:chExt cx="49" cy="22"/>
                </a:xfrm>
              </p:grpSpPr>
              <p:sp>
                <p:nvSpPr>
                  <p:cNvPr id="2472"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3"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4"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7" name="Group 2509"/>
                <p:cNvGrpSpPr>
                  <a:grpSpLocks/>
                </p:cNvGrpSpPr>
                <p:nvPr/>
              </p:nvGrpSpPr>
              <p:grpSpPr bwMode="auto">
                <a:xfrm>
                  <a:off x="1086" y="3766"/>
                  <a:ext cx="49" cy="23"/>
                  <a:chOff x="1086" y="3766"/>
                  <a:chExt cx="49" cy="23"/>
                </a:xfrm>
              </p:grpSpPr>
              <p:sp>
                <p:nvSpPr>
                  <p:cNvPr id="2469"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0"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1"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8" name="Group 2513"/>
                <p:cNvGrpSpPr>
                  <a:grpSpLocks/>
                </p:cNvGrpSpPr>
                <p:nvPr/>
              </p:nvGrpSpPr>
              <p:grpSpPr bwMode="auto">
                <a:xfrm>
                  <a:off x="934" y="3740"/>
                  <a:ext cx="48" cy="23"/>
                  <a:chOff x="934" y="3740"/>
                  <a:chExt cx="48" cy="23"/>
                </a:xfrm>
              </p:grpSpPr>
              <p:sp>
                <p:nvSpPr>
                  <p:cNvPr id="2466"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7"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8"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9" name="Group 2517"/>
                <p:cNvGrpSpPr>
                  <a:grpSpLocks/>
                </p:cNvGrpSpPr>
                <p:nvPr/>
              </p:nvGrpSpPr>
              <p:grpSpPr bwMode="auto">
                <a:xfrm>
                  <a:off x="943" y="3754"/>
                  <a:ext cx="49" cy="23"/>
                  <a:chOff x="943" y="3754"/>
                  <a:chExt cx="49" cy="23"/>
                </a:xfrm>
              </p:grpSpPr>
              <p:sp>
                <p:nvSpPr>
                  <p:cNvPr id="2463"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4"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5"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60"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1"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2"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7" name="Group 2524"/>
              <p:cNvGrpSpPr>
                <a:grpSpLocks/>
              </p:cNvGrpSpPr>
              <p:nvPr/>
            </p:nvGrpSpPr>
            <p:grpSpPr bwMode="auto">
              <a:xfrm>
                <a:off x="920" y="3821"/>
                <a:ext cx="413" cy="50"/>
                <a:chOff x="920" y="3821"/>
                <a:chExt cx="413" cy="50"/>
              </a:xfrm>
            </p:grpSpPr>
            <p:sp>
              <p:nvSpPr>
                <p:cNvPr id="2378"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9"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0"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81"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358" name="Group 2529"/>
              <p:cNvGrpSpPr>
                <a:grpSpLocks/>
              </p:cNvGrpSpPr>
              <p:nvPr/>
            </p:nvGrpSpPr>
            <p:grpSpPr bwMode="auto">
              <a:xfrm>
                <a:off x="1227" y="3477"/>
                <a:ext cx="508" cy="321"/>
                <a:chOff x="1227" y="3477"/>
                <a:chExt cx="508" cy="321"/>
              </a:xfrm>
            </p:grpSpPr>
            <p:sp>
              <p:nvSpPr>
                <p:cNvPr id="2359"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0"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1"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2"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3"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4"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5"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6"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7"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8"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9"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0"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1"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2"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3"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4"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5"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6"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7"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801" name="Group 2096"/>
            <p:cNvGrpSpPr>
              <a:grpSpLocks/>
            </p:cNvGrpSpPr>
            <p:nvPr/>
          </p:nvGrpSpPr>
          <p:grpSpPr bwMode="auto">
            <a:xfrm>
              <a:off x="5940425" y="2060575"/>
              <a:ext cx="431800" cy="330200"/>
              <a:chOff x="624" y="2968"/>
              <a:chExt cx="1331" cy="920"/>
            </a:xfrm>
          </p:grpSpPr>
          <p:sp>
            <p:nvSpPr>
              <p:cNvPr id="2802" name="Freeform 2097"/>
              <p:cNvSpPr>
                <a:spLocks/>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3" name="Freeform 2098"/>
              <p:cNvSpPr>
                <a:spLocks/>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4" name="Freeform 2099"/>
              <p:cNvSpPr>
                <a:spLocks/>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5" name="Freeform 2100"/>
              <p:cNvSpPr>
                <a:spLocks/>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6" name="Freeform 2101"/>
              <p:cNvSpPr>
                <a:spLocks/>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7" name="Freeform 2102"/>
              <p:cNvSpPr>
                <a:spLocks/>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8" name="Freeform 2103"/>
              <p:cNvSpPr>
                <a:spLocks/>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9" name="Freeform 2104"/>
              <p:cNvSpPr>
                <a:spLocks/>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0" name="Freeform 2105"/>
              <p:cNvSpPr>
                <a:spLocks/>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1" name="Freeform 2106"/>
              <p:cNvSpPr>
                <a:spLocks/>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2" name="Freeform 2107"/>
              <p:cNvSpPr>
                <a:spLocks/>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3" name="Freeform 2108"/>
              <p:cNvSpPr>
                <a:spLocks/>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14" name="Group 2109"/>
              <p:cNvGrpSpPr>
                <a:grpSpLocks/>
              </p:cNvGrpSpPr>
              <p:nvPr/>
            </p:nvGrpSpPr>
            <p:grpSpPr bwMode="auto">
              <a:xfrm>
                <a:off x="700" y="3526"/>
                <a:ext cx="515" cy="270"/>
                <a:chOff x="700" y="3526"/>
                <a:chExt cx="515" cy="270"/>
              </a:xfrm>
            </p:grpSpPr>
            <p:grpSp>
              <p:nvGrpSpPr>
                <p:cNvPr id="2840" name="Group 2110"/>
                <p:cNvGrpSpPr>
                  <a:grpSpLocks/>
                </p:cNvGrpSpPr>
                <p:nvPr/>
              </p:nvGrpSpPr>
              <p:grpSpPr bwMode="auto">
                <a:xfrm>
                  <a:off x="737" y="3534"/>
                  <a:ext cx="49" cy="23"/>
                  <a:chOff x="737" y="3534"/>
                  <a:chExt cx="49" cy="23"/>
                </a:xfrm>
              </p:grpSpPr>
              <p:sp>
                <p:nvSpPr>
                  <p:cNvPr id="3251" name="Freeform 211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2" name="Freeform 2112"/>
                  <p:cNvSpPr>
                    <a:spLocks/>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3" name="Freeform 211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1" name="Group 2114"/>
                <p:cNvGrpSpPr>
                  <a:grpSpLocks/>
                </p:cNvGrpSpPr>
                <p:nvPr/>
              </p:nvGrpSpPr>
              <p:grpSpPr bwMode="auto">
                <a:xfrm>
                  <a:off x="748" y="3547"/>
                  <a:ext cx="50" cy="23"/>
                  <a:chOff x="748" y="3547"/>
                  <a:chExt cx="50" cy="23"/>
                </a:xfrm>
              </p:grpSpPr>
              <p:sp>
                <p:nvSpPr>
                  <p:cNvPr id="3248" name="Freeform 211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9" name="Freeform 2116"/>
                  <p:cNvSpPr>
                    <a:spLocks/>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0" name="Freeform 211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42" name="Freeform 2118"/>
                <p:cNvSpPr>
                  <a:spLocks/>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3" name="Freeform 211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4" name="Freeform 2120"/>
                <p:cNvSpPr>
                  <a:spLocks/>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5" name="Freeform 212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46" name="Group 2122"/>
                <p:cNvGrpSpPr>
                  <a:grpSpLocks/>
                </p:cNvGrpSpPr>
                <p:nvPr/>
              </p:nvGrpSpPr>
              <p:grpSpPr bwMode="auto">
                <a:xfrm>
                  <a:off x="872" y="3547"/>
                  <a:ext cx="50" cy="23"/>
                  <a:chOff x="872" y="3547"/>
                  <a:chExt cx="50" cy="23"/>
                </a:xfrm>
              </p:grpSpPr>
              <p:sp>
                <p:nvSpPr>
                  <p:cNvPr id="3245" name="Freeform 212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6" name="Freeform 2124"/>
                  <p:cNvSpPr>
                    <a:spLocks/>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7" name="Freeform 212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7" name="Group 2126"/>
                <p:cNvGrpSpPr>
                  <a:grpSpLocks/>
                </p:cNvGrpSpPr>
                <p:nvPr/>
              </p:nvGrpSpPr>
              <p:grpSpPr bwMode="auto">
                <a:xfrm>
                  <a:off x="885" y="3559"/>
                  <a:ext cx="50" cy="23"/>
                  <a:chOff x="885" y="3559"/>
                  <a:chExt cx="50" cy="23"/>
                </a:xfrm>
              </p:grpSpPr>
              <p:sp>
                <p:nvSpPr>
                  <p:cNvPr id="3242" name="Freeform 212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3" name="Freeform 2128"/>
                  <p:cNvSpPr>
                    <a:spLocks/>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4" name="Freeform 212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8" name="Group 2130"/>
                <p:cNvGrpSpPr>
                  <a:grpSpLocks/>
                </p:cNvGrpSpPr>
                <p:nvPr/>
              </p:nvGrpSpPr>
              <p:grpSpPr bwMode="auto">
                <a:xfrm>
                  <a:off x="898" y="3571"/>
                  <a:ext cx="49" cy="23"/>
                  <a:chOff x="898" y="3571"/>
                  <a:chExt cx="49" cy="23"/>
                </a:xfrm>
              </p:grpSpPr>
              <p:sp>
                <p:nvSpPr>
                  <p:cNvPr id="3239" name="Freeform 213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0" name="Freeform 2132"/>
                  <p:cNvSpPr>
                    <a:spLocks/>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1" name="Freeform 213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9" name="Group 2134"/>
                <p:cNvGrpSpPr>
                  <a:grpSpLocks/>
                </p:cNvGrpSpPr>
                <p:nvPr/>
              </p:nvGrpSpPr>
              <p:grpSpPr bwMode="auto">
                <a:xfrm>
                  <a:off x="911" y="3585"/>
                  <a:ext cx="49" cy="23"/>
                  <a:chOff x="911" y="3585"/>
                  <a:chExt cx="49" cy="23"/>
                </a:xfrm>
              </p:grpSpPr>
              <p:sp>
                <p:nvSpPr>
                  <p:cNvPr id="3236" name="Freeform 213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7" name="Freeform 2136"/>
                  <p:cNvSpPr>
                    <a:spLocks/>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8" name="Freeform 213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0" name="Group 2138"/>
                <p:cNvGrpSpPr>
                  <a:grpSpLocks/>
                </p:cNvGrpSpPr>
                <p:nvPr/>
              </p:nvGrpSpPr>
              <p:grpSpPr bwMode="auto">
                <a:xfrm>
                  <a:off x="923" y="3600"/>
                  <a:ext cx="99" cy="73"/>
                  <a:chOff x="923" y="3600"/>
                  <a:chExt cx="99" cy="73"/>
                </a:xfrm>
              </p:grpSpPr>
              <p:grpSp>
                <p:nvGrpSpPr>
                  <p:cNvPr id="3216" name="Group 2139"/>
                  <p:cNvGrpSpPr>
                    <a:grpSpLocks/>
                  </p:cNvGrpSpPr>
                  <p:nvPr/>
                </p:nvGrpSpPr>
                <p:grpSpPr bwMode="auto">
                  <a:xfrm>
                    <a:off x="923" y="3600"/>
                    <a:ext cx="49" cy="23"/>
                    <a:chOff x="923" y="3600"/>
                    <a:chExt cx="49" cy="23"/>
                  </a:xfrm>
                </p:grpSpPr>
                <p:sp>
                  <p:nvSpPr>
                    <p:cNvPr id="3233" name="Freeform 214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4" name="Freeform 2141"/>
                    <p:cNvSpPr>
                      <a:spLocks/>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5" name="Freeform 214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7" name="Group 2143"/>
                  <p:cNvGrpSpPr>
                    <a:grpSpLocks/>
                  </p:cNvGrpSpPr>
                  <p:nvPr/>
                </p:nvGrpSpPr>
                <p:grpSpPr bwMode="auto">
                  <a:xfrm>
                    <a:off x="935" y="3612"/>
                    <a:ext cx="48" cy="23"/>
                    <a:chOff x="935" y="3612"/>
                    <a:chExt cx="48" cy="23"/>
                  </a:xfrm>
                </p:grpSpPr>
                <p:sp>
                  <p:nvSpPr>
                    <p:cNvPr id="3230" name="Freeform 214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1" name="Freeform 2145"/>
                    <p:cNvSpPr>
                      <a:spLocks/>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2" name="Freeform 214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8" name="Group 2147"/>
                  <p:cNvGrpSpPr>
                    <a:grpSpLocks/>
                  </p:cNvGrpSpPr>
                  <p:nvPr/>
                </p:nvGrpSpPr>
                <p:grpSpPr bwMode="auto">
                  <a:xfrm>
                    <a:off x="947" y="3625"/>
                    <a:ext cx="50" cy="22"/>
                    <a:chOff x="947" y="3625"/>
                    <a:chExt cx="50" cy="22"/>
                  </a:xfrm>
                </p:grpSpPr>
                <p:sp>
                  <p:nvSpPr>
                    <p:cNvPr id="3227" name="Freeform 214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8" name="Freeform 2149"/>
                    <p:cNvSpPr>
                      <a:spLocks/>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9" name="Freeform 215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9" name="Group 2151"/>
                  <p:cNvGrpSpPr>
                    <a:grpSpLocks/>
                  </p:cNvGrpSpPr>
                  <p:nvPr/>
                </p:nvGrpSpPr>
                <p:grpSpPr bwMode="auto">
                  <a:xfrm>
                    <a:off x="960" y="3637"/>
                    <a:ext cx="50" cy="23"/>
                    <a:chOff x="960" y="3637"/>
                    <a:chExt cx="50" cy="23"/>
                  </a:xfrm>
                </p:grpSpPr>
                <p:sp>
                  <p:nvSpPr>
                    <p:cNvPr id="3224" name="Freeform 215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5" name="Freeform 2153"/>
                    <p:cNvSpPr>
                      <a:spLocks/>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6" name="Freeform 215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0" name="Group 2155"/>
                  <p:cNvGrpSpPr>
                    <a:grpSpLocks/>
                  </p:cNvGrpSpPr>
                  <p:nvPr/>
                </p:nvGrpSpPr>
                <p:grpSpPr bwMode="auto">
                  <a:xfrm>
                    <a:off x="973" y="3650"/>
                    <a:ext cx="49" cy="23"/>
                    <a:chOff x="973" y="3650"/>
                    <a:chExt cx="49" cy="23"/>
                  </a:xfrm>
                </p:grpSpPr>
                <p:sp>
                  <p:nvSpPr>
                    <p:cNvPr id="3221" name="Freeform 215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2" name="Freeform 2157"/>
                    <p:cNvSpPr>
                      <a:spLocks/>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3" name="Freeform 215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1" name="Group 2159"/>
                <p:cNvGrpSpPr>
                  <a:grpSpLocks/>
                </p:cNvGrpSpPr>
                <p:nvPr/>
              </p:nvGrpSpPr>
              <p:grpSpPr bwMode="auto">
                <a:xfrm>
                  <a:off x="985" y="3665"/>
                  <a:ext cx="100" cy="73"/>
                  <a:chOff x="985" y="3665"/>
                  <a:chExt cx="100" cy="73"/>
                </a:xfrm>
              </p:grpSpPr>
              <p:grpSp>
                <p:nvGrpSpPr>
                  <p:cNvPr id="3196" name="Group 2160"/>
                  <p:cNvGrpSpPr>
                    <a:grpSpLocks/>
                  </p:cNvGrpSpPr>
                  <p:nvPr/>
                </p:nvGrpSpPr>
                <p:grpSpPr bwMode="auto">
                  <a:xfrm>
                    <a:off x="985" y="3665"/>
                    <a:ext cx="50" cy="23"/>
                    <a:chOff x="985" y="3665"/>
                    <a:chExt cx="50" cy="23"/>
                  </a:xfrm>
                </p:grpSpPr>
                <p:sp>
                  <p:nvSpPr>
                    <p:cNvPr id="3213" name="Freeform 216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4" name="Freeform 2162"/>
                    <p:cNvSpPr>
                      <a:spLocks/>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5" name="Freeform 216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7" name="Group 2164"/>
                  <p:cNvGrpSpPr>
                    <a:grpSpLocks/>
                  </p:cNvGrpSpPr>
                  <p:nvPr/>
                </p:nvGrpSpPr>
                <p:grpSpPr bwMode="auto">
                  <a:xfrm>
                    <a:off x="997" y="3677"/>
                    <a:ext cx="49" cy="23"/>
                    <a:chOff x="997" y="3677"/>
                    <a:chExt cx="49" cy="23"/>
                  </a:xfrm>
                </p:grpSpPr>
                <p:sp>
                  <p:nvSpPr>
                    <p:cNvPr id="3210" name="Freeform 216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1" name="Freeform 2166"/>
                    <p:cNvSpPr>
                      <a:spLocks/>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2" name="Freeform 216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8" name="Group 2168"/>
                  <p:cNvGrpSpPr>
                    <a:grpSpLocks/>
                  </p:cNvGrpSpPr>
                  <p:nvPr/>
                </p:nvGrpSpPr>
                <p:grpSpPr bwMode="auto">
                  <a:xfrm>
                    <a:off x="1010" y="3690"/>
                    <a:ext cx="48" cy="23"/>
                    <a:chOff x="1010" y="3690"/>
                    <a:chExt cx="48" cy="23"/>
                  </a:xfrm>
                </p:grpSpPr>
                <p:sp>
                  <p:nvSpPr>
                    <p:cNvPr id="3207" name="Freeform 216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8" name="Freeform 2170"/>
                    <p:cNvSpPr>
                      <a:spLocks/>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9" name="Freeform 217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9" name="Group 2172"/>
                  <p:cNvGrpSpPr>
                    <a:grpSpLocks/>
                  </p:cNvGrpSpPr>
                  <p:nvPr/>
                </p:nvGrpSpPr>
                <p:grpSpPr bwMode="auto">
                  <a:xfrm>
                    <a:off x="1023" y="3703"/>
                    <a:ext cx="49" cy="22"/>
                    <a:chOff x="1023" y="3703"/>
                    <a:chExt cx="49" cy="22"/>
                  </a:xfrm>
                </p:grpSpPr>
                <p:sp>
                  <p:nvSpPr>
                    <p:cNvPr id="3204" name="Freeform 217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5" name="Freeform 2174"/>
                    <p:cNvSpPr>
                      <a:spLocks/>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6" name="Freeform 217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0" name="Group 2176"/>
                  <p:cNvGrpSpPr>
                    <a:grpSpLocks/>
                  </p:cNvGrpSpPr>
                  <p:nvPr/>
                </p:nvGrpSpPr>
                <p:grpSpPr bwMode="auto">
                  <a:xfrm>
                    <a:off x="1036" y="3716"/>
                    <a:ext cx="49" cy="22"/>
                    <a:chOff x="1036" y="3716"/>
                    <a:chExt cx="49" cy="22"/>
                  </a:xfrm>
                </p:grpSpPr>
                <p:sp>
                  <p:nvSpPr>
                    <p:cNvPr id="3201" name="Freeform 217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2" name="Freeform 2178"/>
                    <p:cNvSpPr>
                      <a:spLocks/>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3" name="Freeform 217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2" name="Group 2180"/>
                <p:cNvGrpSpPr>
                  <a:grpSpLocks/>
                </p:cNvGrpSpPr>
                <p:nvPr/>
              </p:nvGrpSpPr>
              <p:grpSpPr bwMode="auto">
                <a:xfrm>
                  <a:off x="1046" y="3727"/>
                  <a:ext cx="49" cy="23"/>
                  <a:chOff x="1046" y="3727"/>
                  <a:chExt cx="49" cy="23"/>
                </a:xfrm>
              </p:grpSpPr>
              <p:sp>
                <p:nvSpPr>
                  <p:cNvPr id="3193" name="Freeform 218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4" name="Freeform 2182"/>
                  <p:cNvSpPr>
                    <a:spLocks/>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5" name="Freeform 218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3" name="Group 2184"/>
                <p:cNvGrpSpPr>
                  <a:grpSpLocks/>
                </p:cNvGrpSpPr>
                <p:nvPr/>
              </p:nvGrpSpPr>
              <p:grpSpPr bwMode="auto">
                <a:xfrm>
                  <a:off x="1058" y="3739"/>
                  <a:ext cx="50" cy="23"/>
                  <a:chOff x="1058" y="3739"/>
                  <a:chExt cx="50" cy="23"/>
                </a:xfrm>
              </p:grpSpPr>
              <p:sp>
                <p:nvSpPr>
                  <p:cNvPr id="3190" name="Freeform 218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1" name="Freeform 2186"/>
                  <p:cNvSpPr>
                    <a:spLocks/>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2" name="Freeform 218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4" name="Group 2188"/>
                <p:cNvGrpSpPr>
                  <a:grpSpLocks/>
                </p:cNvGrpSpPr>
                <p:nvPr/>
              </p:nvGrpSpPr>
              <p:grpSpPr bwMode="auto">
                <a:xfrm>
                  <a:off x="1072" y="3753"/>
                  <a:ext cx="48" cy="22"/>
                  <a:chOff x="1072" y="3753"/>
                  <a:chExt cx="48" cy="22"/>
                </a:xfrm>
              </p:grpSpPr>
              <p:sp>
                <p:nvSpPr>
                  <p:cNvPr id="3187" name="Freeform 218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8" name="Freeform 2190"/>
                  <p:cNvSpPr>
                    <a:spLocks/>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9" name="Freeform 219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55" name="Freeform 219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6" name="Freeform 2193"/>
                <p:cNvSpPr>
                  <a:spLocks/>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7" name="Freeform 219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58" name="Group 2195"/>
                <p:cNvGrpSpPr>
                  <a:grpSpLocks/>
                </p:cNvGrpSpPr>
                <p:nvPr/>
              </p:nvGrpSpPr>
              <p:grpSpPr bwMode="auto">
                <a:xfrm>
                  <a:off x="832" y="3547"/>
                  <a:ext cx="49" cy="23"/>
                  <a:chOff x="832" y="3547"/>
                  <a:chExt cx="49" cy="23"/>
                </a:xfrm>
              </p:grpSpPr>
              <p:sp>
                <p:nvSpPr>
                  <p:cNvPr id="3184" name="Freeform 219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5" name="Freeform 2197"/>
                  <p:cNvSpPr>
                    <a:spLocks/>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6" name="Freeform 219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9" name="Group 2199"/>
                <p:cNvGrpSpPr>
                  <a:grpSpLocks/>
                </p:cNvGrpSpPr>
                <p:nvPr/>
              </p:nvGrpSpPr>
              <p:grpSpPr bwMode="auto">
                <a:xfrm>
                  <a:off x="844" y="3560"/>
                  <a:ext cx="49" cy="22"/>
                  <a:chOff x="844" y="3560"/>
                  <a:chExt cx="49" cy="22"/>
                </a:xfrm>
              </p:grpSpPr>
              <p:sp>
                <p:nvSpPr>
                  <p:cNvPr id="3181" name="Freeform 220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2" name="Freeform 2201"/>
                  <p:cNvSpPr>
                    <a:spLocks/>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3" name="Freeform 220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0" name="Group 2203"/>
                <p:cNvGrpSpPr>
                  <a:grpSpLocks/>
                </p:cNvGrpSpPr>
                <p:nvPr/>
              </p:nvGrpSpPr>
              <p:grpSpPr bwMode="auto">
                <a:xfrm>
                  <a:off x="857" y="3572"/>
                  <a:ext cx="50" cy="23"/>
                  <a:chOff x="857" y="3572"/>
                  <a:chExt cx="50" cy="23"/>
                </a:xfrm>
              </p:grpSpPr>
              <p:sp>
                <p:nvSpPr>
                  <p:cNvPr id="3178" name="Freeform 220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9" name="Freeform 2205"/>
                  <p:cNvSpPr>
                    <a:spLocks/>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0" name="Freeform 220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1" name="Group 2207"/>
                <p:cNvGrpSpPr>
                  <a:grpSpLocks/>
                </p:cNvGrpSpPr>
                <p:nvPr/>
              </p:nvGrpSpPr>
              <p:grpSpPr bwMode="auto">
                <a:xfrm>
                  <a:off x="870" y="3585"/>
                  <a:ext cx="48" cy="23"/>
                  <a:chOff x="870" y="3585"/>
                  <a:chExt cx="48" cy="23"/>
                </a:xfrm>
              </p:grpSpPr>
              <p:sp>
                <p:nvSpPr>
                  <p:cNvPr id="3175" name="Freeform 220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6" name="Freeform 2209"/>
                  <p:cNvSpPr>
                    <a:spLocks/>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7" name="Freeform 221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2" name="Group 2211"/>
                <p:cNvGrpSpPr>
                  <a:grpSpLocks/>
                </p:cNvGrpSpPr>
                <p:nvPr/>
              </p:nvGrpSpPr>
              <p:grpSpPr bwMode="auto">
                <a:xfrm>
                  <a:off x="882" y="3600"/>
                  <a:ext cx="100" cy="73"/>
                  <a:chOff x="882" y="3600"/>
                  <a:chExt cx="100" cy="73"/>
                </a:xfrm>
              </p:grpSpPr>
              <p:grpSp>
                <p:nvGrpSpPr>
                  <p:cNvPr id="3155" name="Group 2212"/>
                  <p:cNvGrpSpPr>
                    <a:grpSpLocks/>
                  </p:cNvGrpSpPr>
                  <p:nvPr/>
                </p:nvGrpSpPr>
                <p:grpSpPr bwMode="auto">
                  <a:xfrm>
                    <a:off x="882" y="3600"/>
                    <a:ext cx="49" cy="23"/>
                    <a:chOff x="882" y="3600"/>
                    <a:chExt cx="49" cy="23"/>
                  </a:xfrm>
                </p:grpSpPr>
                <p:sp>
                  <p:nvSpPr>
                    <p:cNvPr id="3172" name="Freeform 221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3" name="Freeform 2214"/>
                    <p:cNvSpPr>
                      <a:spLocks/>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4" name="Freeform 221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6" name="Group 2216"/>
                  <p:cNvGrpSpPr>
                    <a:grpSpLocks/>
                  </p:cNvGrpSpPr>
                  <p:nvPr/>
                </p:nvGrpSpPr>
                <p:grpSpPr bwMode="auto">
                  <a:xfrm>
                    <a:off x="894" y="3612"/>
                    <a:ext cx="49" cy="23"/>
                    <a:chOff x="894" y="3612"/>
                    <a:chExt cx="49" cy="23"/>
                  </a:xfrm>
                </p:grpSpPr>
                <p:sp>
                  <p:nvSpPr>
                    <p:cNvPr id="3169" name="Freeform 221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0" name="Freeform 2218"/>
                    <p:cNvSpPr>
                      <a:spLocks/>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1" name="Freeform 221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7" name="Group 2220"/>
                  <p:cNvGrpSpPr>
                    <a:grpSpLocks/>
                  </p:cNvGrpSpPr>
                  <p:nvPr/>
                </p:nvGrpSpPr>
                <p:grpSpPr bwMode="auto">
                  <a:xfrm>
                    <a:off x="907" y="3625"/>
                    <a:ext cx="49" cy="23"/>
                    <a:chOff x="907" y="3625"/>
                    <a:chExt cx="49" cy="23"/>
                  </a:xfrm>
                </p:grpSpPr>
                <p:sp>
                  <p:nvSpPr>
                    <p:cNvPr id="3166" name="Freeform 222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7" name="Freeform 2222"/>
                    <p:cNvSpPr>
                      <a:spLocks/>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8" name="Freeform 222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8" name="Group 2224"/>
                  <p:cNvGrpSpPr>
                    <a:grpSpLocks/>
                  </p:cNvGrpSpPr>
                  <p:nvPr/>
                </p:nvGrpSpPr>
                <p:grpSpPr bwMode="auto">
                  <a:xfrm>
                    <a:off x="919" y="3638"/>
                    <a:ext cx="49" cy="22"/>
                    <a:chOff x="919" y="3638"/>
                    <a:chExt cx="49" cy="22"/>
                  </a:xfrm>
                </p:grpSpPr>
                <p:sp>
                  <p:nvSpPr>
                    <p:cNvPr id="3163" name="Freeform 222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4" name="Freeform 2226"/>
                    <p:cNvSpPr>
                      <a:spLocks/>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5" name="Freeform 222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9" name="Group 2228"/>
                  <p:cNvGrpSpPr>
                    <a:grpSpLocks/>
                  </p:cNvGrpSpPr>
                  <p:nvPr/>
                </p:nvGrpSpPr>
                <p:grpSpPr bwMode="auto">
                  <a:xfrm>
                    <a:off x="932" y="3651"/>
                    <a:ext cx="50" cy="22"/>
                    <a:chOff x="932" y="3651"/>
                    <a:chExt cx="50" cy="22"/>
                  </a:xfrm>
                </p:grpSpPr>
                <p:sp>
                  <p:nvSpPr>
                    <p:cNvPr id="3160" name="Freeform 222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1" name="Freeform 2230"/>
                    <p:cNvSpPr>
                      <a:spLocks/>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2" name="Freeform 223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3" name="Group 2232"/>
                <p:cNvGrpSpPr>
                  <a:grpSpLocks/>
                </p:cNvGrpSpPr>
                <p:nvPr/>
              </p:nvGrpSpPr>
              <p:grpSpPr bwMode="auto">
                <a:xfrm>
                  <a:off x="944" y="3665"/>
                  <a:ext cx="99" cy="74"/>
                  <a:chOff x="944" y="3665"/>
                  <a:chExt cx="99" cy="74"/>
                </a:xfrm>
              </p:grpSpPr>
              <p:grpSp>
                <p:nvGrpSpPr>
                  <p:cNvPr id="3135" name="Group 2233"/>
                  <p:cNvGrpSpPr>
                    <a:grpSpLocks/>
                  </p:cNvGrpSpPr>
                  <p:nvPr/>
                </p:nvGrpSpPr>
                <p:grpSpPr bwMode="auto">
                  <a:xfrm>
                    <a:off x="944" y="3665"/>
                    <a:ext cx="49" cy="23"/>
                    <a:chOff x="944" y="3665"/>
                    <a:chExt cx="49" cy="23"/>
                  </a:xfrm>
                </p:grpSpPr>
                <p:sp>
                  <p:nvSpPr>
                    <p:cNvPr id="3152" name="Freeform 223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3" name="Freeform 2235"/>
                    <p:cNvSpPr>
                      <a:spLocks/>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4" name="Freeform 223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6" name="Group 2237"/>
                  <p:cNvGrpSpPr>
                    <a:grpSpLocks/>
                  </p:cNvGrpSpPr>
                  <p:nvPr/>
                </p:nvGrpSpPr>
                <p:grpSpPr bwMode="auto">
                  <a:xfrm>
                    <a:off x="957" y="3678"/>
                    <a:ext cx="48" cy="23"/>
                    <a:chOff x="957" y="3678"/>
                    <a:chExt cx="48" cy="23"/>
                  </a:xfrm>
                </p:grpSpPr>
                <p:sp>
                  <p:nvSpPr>
                    <p:cNvPr id="3149" name="Freeform 223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0" name="Freeform 2239"/>
                    <p:cNvSpPr>
                      <a:spLocks/>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1" name="Freeform 224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7" name="Group 2241"/>
                  <p:cNvGrpSpPr>
                    <a:grpSpLocks/>
                  </p:cNvGrpSpPr>
                  <p:nvPr/>
                </p:nvGrpSpPr>
                <p:grpSpPr bwMode="auto">
                  <a:xfrm>
                    <a:off x="969" y="3690"/>
                    <a:ext cx="49" cy="23"/>
                    <a:chOff x="969" y="3690"/>
                    <a:chExt cx="49" cy="23"/>
                  </a:xfrm>
                </p:grpSpPr>
                <p:sp>
                  <p:nvSpPr>
                    <p:cNvPr id="3146" name="Freeform 224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7" name="Freeform 2243"/>
                    <p:cNvSpPr>
                      <a:spLocks/>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8" name="Freeform 224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8" name="Group 2245"/>
                  <p:cNvGrpSpPr>
                    <a:grpSpLocks/>
                  </p:cNvGrpSpPr>
                  <p:nvPr/>
                </p:nvGrpSpPr>
                <p:grpSpPr bwMode="auto">
                  <a:xfrm>
                    <a:off x="982" y="3703"/>
                    <a:ext cx="49" cy="23"/>
                    <a:chOff x="982" y="3703"/>
                    <a:chExt cx="49" cy="23"/>
                  </a:xfrm>
                </p:grpSpPr>
                <p:sp>
                  <p:nvSpPr>
                    <p:cNvPr id="3143" name="Freeform 224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4" name="Freeform 2247"/>
                    <p:cNvSpPr>
                      <a:spLocks/>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5" name="Freeform 224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9" name="Group 2249"/>
                  <p:cNvGrpSpPr>
                    <a:grpSpLocks/>
                  </p:cNvGrpSpPr>
                  <p:nvPr/>
                </p:nvGrpSpPr>
                <p:grpSpPr bwMode="auto">
                  <a:xfrm>
                    <a:off x="995" y="3716"/>
                    <a:ext cx="48" cy="23"/>
                    <a:chOff x="995" y="3716"/>
                    <a:chExt cx="48" cy="23"/>
                  </a:xfrm>
                </p:grpSpPr>
                <p:sp>
                  <p:nvSpPr>
                    <p:cNvPr id="3140" name="Freeform 225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1" name="Freeform 2251"/>
                    <p:cNvSpPr>
                      <a:spLocks/>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2" name="Freeform 225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4" name="Group 2253"/>
                <p:cNvGrpSpPr>
                  <a:grpSpLocks/>
                </p:cNvGrpSpPr>
                <p:nvPr/>
              </p:nvGrpSpPr>
              <p:grpSpPr bwMode="auto">
                <a:xfrm>
                  <a:off x="1005" y="3727"/>
                  <a:ext cx="49" cy="23"/>
                  <a:chOff x="1005" y="3727"/>
                  <a:chExt cx="49" cy="23"/>
                </a:xfrm>
              </p:grpSpPr>
              <p:sp>
                <p:nvSpPr>
                  <p:cNvPr id="3132" name="Freeform 225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3" name="Freeform 2255"/>
                  <p:cNvSpPr>
                    <a:spLocks/>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4" name="Freeform 225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5" name="Group 2257"/>
                <p:cNvGrpSpPr>
                  <a:grpSpLocks/>
                </p:cNvGrpSpPr>
                <p:nvPr/>
              </p:nvGrpSpPr>
              <p:grpSpPr bwMode="auto">
                <a:xfrm>
                  <a:off x="1018" y="3740"/>
                  <a:ext cx="49" cy="22"/>
                  <a:chOff x="1018" y="3740"/>
                  <a:chExt cx="49" cy="22"/>
                </a:xfrm>
              </p:grpSpPr>
              <p:sp>
                <p:nvSpPr>
                  <p:cNvPr id="3129" name="Freeform 225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0" name="Freeform 2259"/>
                  <p:cNvSpPr>
                    <a:spLocks/>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1" name="Freeform 226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6" name="Group 2261"/>
                <p:cNvGrpSpPr>
                  <a:grpSpLocks/>
                </p:cNvGrpSpPr>
                <p:nvPr/>
              </p:nvGrpSpPr>
              <p:grpSpPr bwMode="auto">
                <a:xfrm>
                  <a:off x="1030" y="3753"/>
                  <a:ext cx="49" cy="23"/>
                  <a:chOff x="1030" y="3753"/>
                  <a:chExt cx="49" cy="23"/>
                </a:xfrm>
              </p:grpSpPr>
              <p:sp>
                <p:nvSpPr>
                  <p:cNvPr id="3126" name="Freeform 226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7" name="Freeform 2263"/>
                  <p:cNvSpPr>
                    <a:spLocks/>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8" name="Freeform 226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67" name="Freeform 226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8" name="Freeform 2266"/>
                <p:cNvSpPr>
                  <a:spLocks/>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9" name="Freeform 226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70" name="Group 2268"/>
                <p:cNvGrpSpPr>
                  <a:grpSpLocks/>
                </p:cNvGrpSpPr>
                <p:nvPr/>
              </p:nvGrpSpPr>
              <p:grpSpPr bwMode="auto">
                <a:xfrm>
                  <a:off x="790" y="3547"/>
                  <a:ext cx="49" cy="23"/>
                  <a:chOff x="790" y="3547"/>
                  <a:chExt cx="49" cy="23"/>
                </a:xfrm>
              </p:grpSpPr>
              <p:sp>
                <p:nvSpPr>
                  <p:cNvPr id="3123" name="Freeform 226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4" name="Freeform 2270"/>
                  <p:cNvSpPr>
                    <a:spLocks/>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5" name="Freeform 227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1" name="Group 2272"/>
                <p:cNvGrpSpPr>
                  <a:grpSpLocks/>
                </p:cNvGrpSpPr>
                <p:nvPr/>
              </p:nvGrpSpPr>
              <p:grpSpPr bwMode="auto">
                <a:xfrm>
                  <a:off x="803" y="3560"/>
                  <a:ext cx="49" cy="22"/>
                  <a:chOff x="803" y="3560"/>
                  <a:chExt cx="49" cy="22"/>
                </a:xfrm>
              </p:grpSpPr>
              <p:sp>
                <p:nvSpPr>
                  <p:cNvPr id="3120" name="Freeform 227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1" name="Freeform 2274"/>
                  <p:cNvSpPr>
                    <a:spLocks/>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2" name="Freeform 227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2" name="Group 2276"/>
                <p:cNvGrpSpPr>
                  <a:grpSpLocks/>
                </p:cNvGrpSpPr>
                <p:nvPr/>
              </p:nvGrpSpPr>
              <p:grpSpPr bwMode="auto">
                <a:xfrm>
                  <a:off x="815" y="3572"/>
                  <a:ext cx="50" cy="23"/>
                  <a:chOff x="815" y="3572"/>
                  <a:chExt cx="50" cy="23"/>
                </a:xfrm>
              </p:grpSpPr>
              <p:sp>
                <p:nvSpPr>
                  <p:cNvPr id="3117" name="Freeform 227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8" name="Freeform 2278"/>
                  <p:cNvSpPr>
                    <a:spLocks/>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9" name="Freeform 227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3" name="Group 2280"/>
                <p:cNvGrpSpPr>
                  <a:grpSpLocks/>
                </p:cNvGrpSpPr>
                <p:nvPr/>
              </p:nvGrpSpPr>
              <p:grpSpPr bwMode="auto">
                <a:xfrm>
                  <a:off x="828" y="3585"/>
                  <a:ext cx="49" cy="23"/>
                  <a:chOff x="828" y="3585"/>
                  <a:chExt cx="49" cy="23"/>
                </a:xfrm>
              </p:grpSpPr>
              <p:sp>
                <p:nvSpPr>
                  <p:cNvPr id="3114" name="Freeform 228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5" name="Freeform 2282"/>
                  <p:cNvSpPr>
                    <a:spLocks/>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6" name="Freeform 228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4" name="Group 2284"/>
                <p:cNvGrpSpPr>
                  <a:grpSpLocks/>
                </p:cNvGrpSpPr>
                <p:nvPr/>
              </p:nvGrpSpPr>
              <p:grpSpPr bwMode="auto">
                <a:xfrm>
                  <a:off x="840" y="3600"/>
                  <a:ext cx="100" cy="73"/>
                  <a:chOff x="840" y="3600"/>
                  <a:chExt cx="100" cy="73"/>
                </a:xfrm>
              </p:grpSpPr>
              <p:grpSp>
                <p:nvGrpSpPr>
                  <p:cNvPr id="3094" name="Group 2285"/>
                  <p:cNvGrpSpPr>
                    <a:grpSpLocks/>
                  </p:cNvGrpSpPr>
                  <p:nvPr/>
                </p:nvGrpSpPr>
                <p:grpSpPr bwMode="auto">
                  <a:xfrm>
                    <a:off x="840" y="3600"/>
                    <a:ext cx="49" cy="23"/>
                    <a:chOff x="840" y="3600"/>
                    <a:chExt cx="49" cy="23"/>
                  </a:xfrm>
                </p:grpSpPr>
                <p:sp>
                  <p:nvSpPr>
                    <p:cNvPr id="3111" name="Freeform 228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2" name="Freeform 2287"/>
                    <p:cNvSpPr>
                      <a:spLocks/>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3" name="Freeform 228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5" name="Group 2289"/>
                  <p:cNvGrpSpPr>
                    <a:grpSpLocks/>
                  </p:cNvGrpSpPr>
                  <p:nvPr/>
                </p:nvGrpSpPr>
                <p:grpSpPr bwMode="auto">
                  <a:xfrm>
                    <a:off x="853" y="3612"/>
                    <a:ext cx="48" cy="23"/>
                    <a:chOff x="853" y="3612"/>
                    <a:chExt cx="48" cy="23"/>
                  </a:xfrm>
                </p:grpSpPr>
                <p:sp>
                  <p:nvSpPr>
                    <p:cNvPr id="3108" name="Freeform 229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9" name="Freeform 2291"/>
                    <p:cNvSpPr>
                      <a:spLocks/>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0" name="Freeform 229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6" name="Group 2293"/>
                  <p:cNvGrpSpPr>
                    <a:grpSpLocks/>
                  </p:cNvGrpSpPr>
                  <p:nvPr/>
                </p:nvGrpSpPr>
                <p:grpSpPr bwMode="auto">
                  <a:xfrm>
                    <a:off x="865" y="3625"/>
                    <a:ext cx="49" cy="23"/>
                    <a:chOff x="865" y="3625"/>
                    <a:chExt cx="49" cy="23"/>
                  </a:xfrm>
                </p:grpSpPr>
                <p:sp>
                  <p:nvSpPr>
                    <p:cNvPr id="3105" name="Freeform 229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6" name="Freeform 2295"/>
                    <p:cNvSpPr>
                      <a:spLocks/>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7" name="Freeform 229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7" name="Group 2297"/>
                  <p:cNvGrpSpPr>
                    <a:grpSpLocks/>
                  </p:cNvGrpSpPr>
                  <p:nvPr/>
                </p:nvGrpSpPr>
                <p:grpSpPr bwMode="auto">
                  <a:xfrm>
                    <a:off x="878" y="3638"/>
                    <a:ext cx="49" cy="22"/>
                    <a:chOff x="878" y="3638"/>
                    <a:chExt cx="49" cy="22"/>
                  </a:xfrm>
                </p:grpSpPr>
                <p:sp>
                  <p:nvSpPr>
                    <p:cNvPr id="3102" name="Freeform 229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3" name="Freeform 2299"/>
                    <p:cNvSpPr>
                      <a:spLocks/>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4" name="Freeform 230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8" name="Group 2301"/>
                  <p:cNvGrpSpPr>
                    <a:grpSpLocks/>
                  </p:cNvGrpSpPr>
                  <p:nvPr/>
                </p:nvGrpSpPr>
                <p:grpSpPr bwMode="auto">
                  <a:xfrm>
                    <a:off x="890" y="3651"/>
                    <a:ext cx="50" cy="22"/>
                    <a:chOff x="890" y="3651"/>
                    <a:chExt cx="50" cy="22"/>
                  </a:xfrm>
                </p:grpSpPr>
                <p:sp>
                  <p:nvSpPr>
                    <p:cNvPr id="3099" name="Freeform 230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0" name="Freeform 2303"/>
                    <p:cNvSpPr>
                      <a:spLocks/>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1" name="Freeform 230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5" name="Group 2305"/>
                <p:cNvGrpSpPr>
                  <a:grpSpLocks/>
                </p:cNvGrpSpPr>
                <p:nvPr/>
              </p:nvGrpSpPr>
              <p:grpSpPr bwMode="auto">
                <a:xfrm>
                  <a:off x="903" y="3665"/>
                  <a:ext cx="99" cy="74"/>
                  <a:chOff x="903" y="3665"/>
                  <a:chExt cx="99" cy="74"/>
                </a:xfrm>
              </p:grpSpPr>
              <p:grpSp>
                <p:nvGrpSpPr>
                  <p:cNvPr id="3074" name="Group 2306"/>
                  <p:cNvGrpSpPr>
                    <a:grpSpLocks/>
                  </p:cNvGrpSpPr>
                  <p:nvPr/>
                </p:nvGrpSpPr>
                <p:grpSpPr bwMode="auto">
                  <a:xfrm>
                    <a:off x="903" y="3665"/>
                    <a:ext cx="49" cy="23"/>
                    <a:chOff x="903" y="3665"/>
                    <a:chExt cx="49" cy="23"/>
                  </a:xfrm>
                </p:grpSpPr>
                <p:sp>
                  <p:nvSpPr>
                    <p:cNvPr id="3091" name="Freeform 230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2" name="Freeform 2308"/>
                    <p:cNvSpPr>
                      <a:spLocks/>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3" name="Freeform 230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5" name="Group 2310"/>
                  <p:cNvGrpSpPr>
                    <a:grpSpLocks/>
                  </p:cNvGrpSpPr>
                  <p:nvPr/>
                </p:nvGrpSpPr>
                <p:grpSpPr bwMode="auto">
                  <a:xfrm>
                    <a:off x="914" y="3678"/>
                    <a:ext cx="49" cy="23"/>
                    <a:chOff x="914" y="3678"/>
                    <a:chExt cx="49" cy="23"/>
                  </a:xfrm>
                </p:grpSpPr>
                <p:sp>
                  <p:nvSpPr>
                    <p:cNvPr id="3088" name="Freeform 231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9" name="Freeform 2312"/>
                    <p:cNvSpPr>
                      <a:spLocks/>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0" name="Freeform 231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6" name="Group 2314"/>
                  <p:cNvGrpSpPr>
                    <a:grpSpLocks/>
                  </p:cNvGrpSpPr>
                  <p:nvPr/>
                </p:nvGrpSpPr>
                <p:grpSpPr bwMode="auto">
                  <a:xfrm>
                    <a:off x="928" y="3690"/>
                    <a:ext cx="48" cy="23"/>
                    <a:chOff x="928" y="3690"/>
                    <a:chExt cx="48" cy="23"/>
                  </a:xfrm>
                </p:grpSpPr>
                <p:sp>
                  <p:nvSpPr>
                    <p:cNvPr id="3085" name="Freeform 231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6" name="Freeform 2316"/>
                    <p:cNvSpPr>
                      <a:spLocks/>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7" name="Freeform 231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7" name="Group 2318"/>
                  <p:cNvGrpSpPr>
                    <a:grpSpLocks/>
                  </p:cNvGrpSpPr>
                  <p:nvPr/>
                </p:nvGrpSpPr>
                <p:grpSpPr bwMode="auto">
                  <a:xfrm>
                    <a:off x="940" y="3703"/>
                    <a:ext cx="49" cy="23"/>
                    <a:chOff x="940" y="3703"/>
                    <a:chExt cx="49" cy="23"/>
                  </a:xfrm>
                </p:grpSpPr>
                <p:sp>
                  <p:nvSpPr>
                    <p:cNvPr id="3082" name="Freeform 231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3" name="Freeform 2320"/>
                    <p:cNvSpPr>
                      <a:spLocks/>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4" name="Freeform 232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8" name="Group 2322"/>
                  <p:cNvGrpSpPr>
                    <a:grpSpLocks/>
                  </p:cNvGrpSpPr>
                  <p:nvPr/>
                </p:nvGrpSpPr>
                <p:grpSpPr bwMode="auto">
                  <a:xfrm>
                    <a:off x="953" y="3716"/>
                    <a:ext cx="49" cy="23"/>
                    <a:chOff x="953" y="3716"/>
                    <a:chExt cx="49" cy="23"/>
                  </a:xfrm>
                </p:grpSpPr>
                <p:sp>
                  <p:nvSpPr>
                    <p:cNvPr id="3079" name="Freeform 232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0" name="Freeform 2324"/>
                    <p:cNvSpPr>
                      <a:spLocks/>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1" name="Freeform 232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6" name="Group 2326"/>
                <p:cNvGrpSpPr>
                  <a:grpSpLocks/>
                </p:cNvGrpSpPr>
                <p:nvPr/>
              </p:nvGrpSpPr>
              <p:grpSpPr bwMode="auto">
                <a:xfrm>
                  <a:off x="963" y="3727"/>
                  <a:ext cx="49" cy="23"/>
                  <a:chOff x="963" y="3727"/>
                  <a:chExt cx="49" cy="23"/>
                </a:xfrm>
              </p:grpSpPr>
              <p:sp>
                <p:nvSpPr>
                  <p:cNvPr id="3071" name="Freeform 232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2" name="Freeform 2328"/>
                  <p:cNvSpPr>
                    <a:spLocks/>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3" name="Freeform 232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7" name="Group 2330"/>
                <p:cNvGrpSpPr>
                  <a:grpSpLocks/>
                </p:cNvGrpSpPr>
                <p:nvPr/>
              </p:nvGrpSpPr>
              <p:grpSpPr bwMode="auto">
                <a:xfrm>
                  <a:off x="976" y="3740"/>
                  <a:ext cx="50" cy="22"/>
                  <a:chOff x="976" y="3740"/>
                  <a:chExt cx="50" cy="22"/>
                </a:xfrm>
              </p:grpSpPr>
              <p:sp>
                <p:nvSpPr>
                  <p:cNvPr id="3068" name="Freeform 233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9" name="Freeform 2332"/>
                  <p:cNvSpPr>
                    <a:spLocks/>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0" name="Freeform 233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8" name="Group 2334"/>
                <p:cNvGrpSpPr>
                  <a:grpSpLocks/>
                </p:cNvGrpSpPr>
                <p:nvPr/>
              </p:nvGrpSpPr>
              <p:grpSpPr bwMode="auto">
                <a:xfrm>
                  <a:off x="761" y="3560"/>
                  <a:ext cx="50" cy="22"/>
                  <a:chOff x="761" y="3560"/>
                  <a:chExt cx="50" cy="22"/>
                </a:xfrm>
              </p:grpSpPr>
              <p:sp>
                <p:nvSpPr>
                  <p:cNvPr id="3065" name="Freeform 233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6" name="Freeform 2336"/>
                  <p:cNvSpPr>
                    <a:spLocks/>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7" name="Freeform 233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9" name="Group 2338"/>
                <p:cNvGrpSpPr>
                  <a:grpSpLocks/>
                </p:cNvGrpSpPr>
                <p:nvPr/>
              </p:nvGrpSpPr>
              <p:grpSpPr bwMode="auto">
                <a:xfrm>
                  <a:off x="774" y="3572"/>
                  <a:ext cx="49" cy="23"/>
                  <a:chOff x="774" y="3572"/>
                  <a:chExt cx="49" cy="23"/>
                </a:xfrm>
              </p:grpSpPr>
              <p:sp>
                <p:nvSpPr>
                  <p:cNvPr id="3062" name="Freeform 233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3" name="Freeform 2340"/>
                  <p:cNvSpPr>
                    <a:spLocks/>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4" name="Freeform 234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0" name="Group 2342"/>
                <p:cNvGrpSpPr>
                  <a:grpSpLocks/>
                </p:cNvGrpSpPr>
                <p:nvPr/>
              </p:nvGrpSpPr>
              <p:grpSpPr bwMode="auto">
                <a:xfrm>
                  <a:off x="787" y="3585"/>
                  <a:ext cx="49" cy="23"/>
                  <a:chOff x="787" y="3585"/>
                  <a:chExt cx="49" cy="23"/>
                </a:xfrm>
              </p:grpSpPr>
              <p:sp>
                <p:nvSpPr>
                  <p:cNvPr id="3059" name="Freeform 234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0" name="Freeform 2344"/>
                  <p:cNvSpPr>
                    <a:spLocks/>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1" name="Freeform 234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1" name="Group 2346"/>
                <p:cNvGrpSpPr>
                  <a:grpSpLocks/>
                </p:cNvGrpSpPr>
                <p:nvPr/>
              </p:nvGrpSpPr>
              <p:grpSpPr bwMode="auto">
                <a:xfrm>
                  <a:off x="799" y="3600"/>
                  <a:ext cx="99" cy="73"/>
                  <a:chOff x="799" y="3600"/>
                  <a:chExt cx="99" cy="73"/>
                </a:xfrm>
              </p:grpSpPr>
              <p:grpSp>
                <p:nvGrpSpPr>
                  <p:cNvPr id="3039" name="Group 2347"/>
                  <p:cNvGrpSpPr>
                    <a:grpSpLocks/>
                  </p:cNvGrpSpPr>
                  <p:nvPr/>
                </p:nvGrpSpPr>
                <p:grpSpPr bwMode="auto">
                  <a:xfrm>
                    <a:off x="799" y="3600"/>
                    <a:ext cx="48" cy="23"/>
                    <a:chOff x="799" y="3600"/>
                    <a:chExt cx="48" cy="23"/>
                  </a:xfrm>
                </p:grpSpPr>
                <p:sp>
                  <p:nvSpPr>
                    <p:cNvPr id="3056" name="Freeform 234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7" name="Freeform 2349"/>
                    <p:cNvSpPr>
                      <a:spLocks/>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8" name="Freeform 235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0" name="Group 2351"/>
                  <p:cNvGrpSpPr>
                    <a:grpSpLocks/>
                  </p:cNvGrpSpPr>
                  <p:nvPr/>
                </p:nvGrpSpPr>
                <p:grpSpPr bwMode="auto">
                  <a:xfrm>
                    <a:off x="811" y="3612"/>
                    <a:ext cx="48" cy="23"/>
                    <a:chOff x="811" y="3612"/>
                    <a:chExt cx="48" cy="23"/>
                  </a:xfrm>
                </p:grpSpPr>
                <p:sp>
                  <p:nvSpPr>
                    <p:cNvPr id="3053" name="Freeform 235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4" name="Freeform 2353"/>
                    <p:cNvSpPr>
                      <a:spLocks/>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5" name="Freeform 235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1" name="Group 2355"/>
                  <p:cNvGrpSpPr>
                    <a:grpSpLocks/>
                  </p:cNvGrpSpPr>
                  <p:nvPr/>
                </p:nvGrpSpPr>
                <p:grpSpPr bwMode="auto">
                  <a:xfrm>
                    <a:off x="823" y="3625"/>
                    <a:ext cx="49" cy="23"/>
                    <a:chOff x="823" y="3625"/>
                    <a:chExt cx="49" cy="23"/>
                  </a:xfrm>
                </p:grpSpPr>
                <p:sp>
                  <p:nvSpPr>
                    <p:cNvPr id="3050" name="Freeform 235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1" name="Freeform 2357"/>
                    <p:cNvSpPr>
                      <a:spLocks/>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2" name="Freeform 235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2" name="Group 2359"/>
                  <p:cNvGrpSpPr>
                    <a:grpSpLocks/>
                  </p:cNvGrpSpPr>
                  <p:nvPr/>
                </p:nvGrpSpPr>
                <p:grpSpPr bwMode="auto">
                  <a:xfrm>
                    <a:off x="836" y="3638"/>
                    <a:ext cx="50" cy="22"/>
                    <a:chOff x="836" y="3638"/>
                    <a:chExt cx="50" cy="22"/>
                  </a:xfrm>
                </p:grpSpPr>
                <p:sp>
                  <p:nvSpPr>
                    <p:cNvPr id="3047" name="Freeform 236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8" name="Freeform 2361"/>
                    <p:cNvSpPr>
                      <a:spLocks/>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9" name="Freeform 236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3" name="Group 2363"/>
                  <p:cNvGrpSpPr>
                    <a:grpSpLocks/>
                  </p:cNvGrpSpPr>
                  <p:nvPr/>
                </p:nvGrpSpPr>
                <p:grpSpPr bwMode="auto">
                  <a:xfrm>
                    <a:off x="849" y="3651"/>
                    <a:ext cx="49" cy="22"/>
                    <a:chOff x="849" y="3651"/>
                    <a:chExt cx="49" cy="22"/>
                  </a:xfrm>
                </p:grpSpPr>
                <p:sp>
                  <p:nvSpPr>
                    <p:cNvPr id="3044" name="Freeform 236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5" name="Freeform 2365"/>
                    <p:cNvSpPr>
                      <a:spLocks/>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6" name="Freeform 236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2" name="Group 2367"/>
                <p:cNvGrpSpPr>
                  <a:grpSpLocks/>
                </p:cNvGrpSpPr>
                <p:nvPr/>
              </p:nvGrpSpPr>
              <p:grpSpPr bwMode="auto">
                <a:xfrm>
                  <a:off x="861" y="3665"/>
                  <a:ext cx="99" cy="74"/>
                  <a:chOff x="861" y="3665"/>
                  <a:chExt cx="99" cy="74"/>
                </a:xfrm>
              </p:grpSpPr>
              <p:grpSp>
                <p:nvGrpSpPr>
                  <p:cNvPr id="3019" name="Group 2368"/>
                  <p:cNvGrpSpPr>
                    <a:grpSpLocks/>
                  </p:cNvGrpSpPr>
                  <p:nvPr/>
                </p:nvGrpSpPr>
                <p:grpSpPr bwMode="auto">
                  <a:xfrm>
                    <a:off x="861" y="3665"/>
                    <a:ext cx="50" cy="23"/>
                    <a:chOff x="861" y="3665"/>
                    <a:chExt cx="50" cy="23"/>
                  </a:xfrm>
                </p:grpSpPr>
                <p:sp>
                  <p:nvSpPr>
                    <p:cNvPr id="3036" name="Freeform 236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7" name="Freeform 2370"/>
                    <p:cNvSpPr>
                      <a:spLocks/>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8" name="Freeform 237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0" name="Group 2372"/>
                  <p:cNvGrpSpPr>
                    <a:grpSpLocks/>
                  </p:cNvGrpSpPr>
                  <p:nvPr/>
                </p:nvGrpSpPr>
                <p:grpSpPr bwMode="auto">
                  <a:xfrm>
                    <a:off x="873" y="3678"/>
                    <a:ext cx="49" cy="23"/>
                    <a:chOff x="873" y="3678"/>
                    <a:chExt cx="49" cy="23"/>
                  </a:xfrm>
                </p:grpSpPr>
                <p:sp>
                  <p:nvSpPr>
                    <p:cNvPr id="3033" name="Freeform 237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4" name="Freeform 2374"/>
                    <p:cNvSpPr>
                      <a:spLocks/>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5" name="Freeform 237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1" name="Group 2376"/>
                  <p:cNvGrpSpPr>
                    <a:grpSpLocks/>
                  </p:cNvGrpSpPr>
                  <p:nvPr/>
                </p:nvGrpSpPr>
                <p:grpSpPr bwMode="auto">
                  <a:xfrm>
                    <a:off x="886" y="3690"/>
                    <a:ext cx="49" cy="23"/>
                    <a:chOff x="886" y="3690"/>
                    <a:chExt cx="49" cy="23"/>
                  </a:xfrm>
                </p:grpSpPr>
                <p:sp>
                  <p:nvSpPr>
                    <p:cNvPr id="3030" name="Freeform 237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1" name="Freeform 2378"/>
                    <p:cNvSpPr>
                      <a:spLocks/>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2" name="Freeform 237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2" name="Group 2380"/>
                  <p:cNvGrpSpPr>
                    <a:grpSpLocks/>
                  </p:cNvGrpSpPr>
                  <p:nvPr/>
                </p:nvGrpSpPr>
                <p:grpSpPr bwMode="auto">
                  <a:xfrm>
                    <a:off x="899" y="3703"/>
                    <a:ext cx="48" cy="23"/>
                    <a:chOff x="899" y="3703"/>
                    <a:chExt cx="48" cy="23"/>
                  </a:xfrm>
                </p:grpSpPr>
                <p:sp>
                  <p:nvSpPr>
                    <p:cNvPr id="3027" name="Freeform 238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8" name="Freeform 2382"/>
                    <p:cNvSpPr>
                      <a:spLocks/>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9" name="Freeform 238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3" name="Group 2384"/>
                  <p:cNvGrpSpPr>
                    <a:grpSpLocks/>
                  </p:cNvGrpSpPr>
                  <p:nvPr/>
                </p:nvGrpSpPr>
                <p:grpSpPr bwMode="auto">
                  <a:xfrm>
                    <a:off x="912" y="3716"/>
                    <a:ext cx="48" cy="23"/>
                    <a:chOff x="912" y="3716"/>
                    <a:chExt cx="48" cy="23"/>
                  </a:xfrm>
                </p:grpSpPr>
                <p:sp>
                  <p:nvSpPr>
                    <p:cNvPr id="3024" name="Freeform 238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5" name="Freeform 2386"/>
                    <p:cNvSpPr>
                      <a:spLocks/>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6" name="Freeform 238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3" name="Group 2388"/>
                <p:cNvGrpSpPr>
                  <a:grpSpLocks/>
                </p:cNvGrpSpPr>
                <p:nvPr/>
              </p:nvGrpSpPr>
              <p:grpSpPr bwMode="auto">
                <a:xfrm>
                  <a:off x="922" y="3727"/>
                  <a:ext cx="49" cy="23"/>
                  <a:chOff x="922" y="3727"/>
                  <a:chExt cx="49" cy="23"/>
                </a:xfrm>
              </p:grpSpPr>
              <p:sp>
                <p:nvSpPr>
                  <p:cNvPr id="3016" name="Freeform 238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7" name="Freeform 2390"/>
                  <p:cNvSpPr>
                    <a:spLocks/>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8" name="Freeform 239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4" name="Group 2392"/>
                <p:cNvGrpSpPr>
                  <a:grpSpLocks/>
                </p:cNvGrpSpPr>
                <p:nvPr/>
              </p:nvGrpSpPr>
              <p:grpSpPr bwMode="auto">
                <a:xfrm>
                  <a:off x="895" y="3526"/>
                  <a:ext cx="44" cy="23"/>
                  <a:chOff x="895" y="3526"/>
                  <a:chExt cx="44" cy="23"/>
                </a:xfrm>
              </p:grpSpPr>
              <p:sp>
                <p:nvSpPr>
                  <p:cNvPr id="3013" name="Freeform 239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4" name="Freeform 2394"/>
                  <p:cNvSpPr>
                    <a:spLocks/>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5" name="Freeform 2395"/>
                  <p:cNvSpPr>
                    <a:spLocks/>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5" name="Group 2396"/>
                <p:cNvGrpSpPr>
                  <a:grpSpLocks/>
                </p:cNvGrpSpPr>
                <p:nvPr/>
              </p:nvGrpSpPr>
              <p:grpSpPr bwMode="auto">
                <a:xfrm>
                  <a:off x="907" y="3540"/>
                  <a:ext cx="45" cy="22"/>
                  <a:chOff x="907" y="3540"/>
                  <a:chExt cx="45" cy="22"/>
                </a:xfrm>
              </p:grpSpPr>
              <p:sp>
                <p:nvSpPr>
                  <p:cNvPr id="3010" name="Freeform 239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1" name="Freeform 2398"/>
                  <p:cNvSpPr>
                    <a:spLocks/>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2" name="Freeform 2399"/>
                  <p:cNvSpPr>
                    <a:spLocks/>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6" name="Group 2400"/>
                <p:cNvGrpSpPr>
                  <a:grpSpLocks/>
                </p:cNvGrpSpPr>
                <p:nvPr/>
              </p:nvGrpSpPr>
              <p:grpSpPr bwMode="auto">
                <a:xfrm>
                  <a:off x="920" y="3553"/>
                  <a:ext cx="45" cy="23"/>
                  <a:chOff x="920" y="3553"/>
                  <a:chExt cx="45" cy="23"/>
                </a:xfrm>
              </p:grpSpPr>
              <p:sp>
                <p:nvSpPr>
                  <p:cNvPr id="3007" name="Freeform 240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8" name="Freeform 2402"/>
                  <p:cNvSpPr>
                    <a:spLocks/>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9" name="Freeform 2403"/>
                  <p:cNvSpPr>
                    <a:spLocks/>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7" name="Group 2404"/>
                <p:cNvGrpSpPr>
                  <a:grpSpLocks/>
                </p:cNvGrpSpPr>
                <p:nvPr/>
              </p:nvGrpSpPr>
              <p:grpSpPr bwMode="auto">
                <a:xfrm>
                  <a:off x="934" y="3566"/>
                  <a:ext cx="44" cy="23"/>
                  <a:chOff x="934" y="3566"/>
                  <a:chExt cx="44" cy="23"/>
                </a:xfrm>
              </p:grpSpPr>
              <p:sp>
                <p:nvSpPr>
                  <p:cNvPr id="3004" name="Freeform 240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5" name="Freeform 2406"/>
                  <p:cNvSpPr>
                    <a:spLocks/>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6" name="Freeform 2407"/>
                  <p:cNvSpPr>
                    <a:spLocks/>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8" name="Group 2408"/>
                <p:cNvGrpSpPr>
                  <a:grpSpLocks/>
                </p:cNvGrpSpPr>
                <p:nvPr/>
              </p:nvGrpSpPr>
              <p:grpSpPr bwMode="auto">
                <a:xfrm>
                  <a:off x="949" y="3579"/>
                  <a:ext cx="83" cy="63"/>
                  <a:chOff x="949" y="3579"/>
                  <a:chExt cx="83" cy="63"/>
                </a:xfrm>
              </p:grpSpPr>
              <p:grpSp>
                <p:nvGrpSpPr>
                  <p:cNvPr id="2988" name="Group 2409"/>
                  <p:cNvGrpSpPr>
                    <a:grpSpLocks/>
                  </p:cNvGrpSpPr>
                  <p:nvPr/>
                </p:nvGrpSpPr>
                <p:grpSpPr bwMode="auto">
                  <a:xfrm>
                    <a:off x="949" y="3579"/>
                    <a:ext cx="44" cy="23"/>
                    <a:chOff x="949" y="3579"/>
                    <a:chExt cx="44" cy="23"/>
                  </a:xfrm>
                </p:grpSpPr>
                <p:sp>
                  <p:nvSpPr>
                    <p:cNvPr id="3001" name="Freeform 241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2" name="Freeform 2411"/>
                    <p:cNvSpPr>
                      <a:spLocks/>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3" name="Freeform 2412"/>
                    <p:cNvSpPr>
                      <a:spLocks/>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89" name="Group 2413"/>
                  <p:cNvGrpSpPr>
                    <a:grpSpLocks/>
                  </p:cNvGrpSpPr>
                  <p:nvPr/>
                </p:nvGrpSpPr>
                <p:grpSpPr bwMode="auto">
                  <a:xfrm>
                    <a:off x="961" y="3592"/>
                    <a:ext cx="45" cy="23"/>
                    <a:chOff x="961" y="3592"/>
                    <a:chExt cx="45" cy="23"/>
                  </a:xfrm>
                </p:grpSpPr>
                <p:sp>
                  <p:nvSpPr>
                    <p:cNvPr id="2998" name="Freeform 241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9" name="Freeform 2415"/>
                    <p:cNvSpPr>
                      <a:spLocks/>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0" name="Freeform 2416"/>
                    <p:cNvSpPr>
                      <a:spLocks/>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0" name="Group 2417"/>
                  <p:cNvGrpSpPr>
                    <a:grpSpLocks/>
                  </p:cNvGrpSpPr>
                  <p:nvPr/>
                </p:nvGrpSpPr>
                <p:grpSpPr bwMode="auto">
                  <a:xfrm>
                    <a:off x="974" y="3606"/>
                    <a:ext cx="44" cy="23"/>
                    <a:chOff x="974" y="3606"/>
                    <a:chExt cx="44" cy="23"/>
                  </a:xfrm>
                </p:grpSpPr>
                <p:sp>
                  <p:nvSpPr>
                    <p:cNvPr id="2995" name="Freeform 241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6" name="Freeform 2419"/>
                    <p:cNvSpPr>
                      <a:spLocks/>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7" name="Freeform 2420"/>
                    <p:cNvSpPr>
                      <a:spLocks/>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1" name="Group 2421"/>
                  <p:cNvGrpSpPr>
                    <a:grpSpLocks/>
                  </p:cNvGrpSpPr>
                  <p:nvPr/>
                </p:nvGrpSpPr>
                <p:grpSpPr bwMode="auto">
                  <a:xfrm>
                    <a:off x="987" y="3619"/>
                    <a:ext cx="45" cy="23"/>
                    <a:chOff x="987" y="3619"/>
                    <a:chExt cx="45" cy="23"/>
                  </a:xfrm>
                </p:grpSpPr>
                <p:sp>
                  <p:nvSpPr>
                    <p:cNvPr id="2992" name="Freeform 242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3" name="Freeform 2423"/>
                    <p:cNvSpPr>
                      <a:spLocks/>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4" name="Freeform 2424"/>
                    <p:cNvSpPr>
                      <a:spLocks/>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9" name="Group 2425"/>
                <p:cNvGrpSpPr>
                  <a:grpSpLocks/>
                </p:cNvGrpSpPr>
                <p:nvPr/>
              </p:nvGrpSpPr>
              <p:grpSpPr bwMode="auto">
                <a:xfrm>
                  <a:off x="1002" y="3632"/>
                  <a:ext cx="83" cy="63"/>
                  <a:chOff x="1002" y="3632"/>
                  <a:chExt cx="83" cy="63"/>
                </a:xfrm>
              </p:grpSpPr>
              <p:grpSp>
                <p:nvGrpSpPr>
                  <p:cNvPr id="2972" name="Group 2426"/>
                  <p:cNvGrpSpPr>
                    <a:grpSpLocks/>
                  </p:cNvGrpSpPr>
                  <p:nvPr/>
                </p:nvGrpSpPr>
                <p:grpSpPr bwMode="auto">
                  <a:xfrm>
                    <a:off x="1002" y="3632"/>
                    <a:ext cx="44" cy="22"/>
                    <a:chOff x="1002" y="3632"/>
                    <a:chExt cx="44" cy="22"/>
                  </a:xfrm>
                </p:grpSpPr>
                <p:sp>
                  <p:nvSpPr>
                    <p:cNvPr id="2985" name="Freeform 242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6" name="Freeform 2428"/>
                    <p:cNvSpPr>
                      <a:spLocks/>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7" name="Freeform 2429"/>
                    <p:cNvSpPr>
                      <a:spLocks/>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3" name="Group 2430"/>
                  <p:cNvGrpSpPr>
                    <a:grpSpLocks/>
                  </p:cNvGrpSpPr>
                  <p:nvPr/>
                </p:nvGrpSpPr>
                <p:grpSpPr bwMode="auto">
                  <a:xfrm>
                    <a:off x="1014" y="3645"/>
                    <a:ext cx="44" cy="23"/>
                    <a:chOff x="1014" y="3645"/>
                    <a:chExt cx="44" cy="23"/>
                  </a:xfrm>
                </p:grpSpPr>
                <p:sp>
                  <p:nvSpPr>
                    <p:cNvPr id="2982" name="Freeform 243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3" name="Freeform 2432"/>
                    <p:cNvSpPr>
                      <a:spLocks/>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4" name="Freeform 2433"/>
                    <p:cNvSpPr>
                      <a:spLocks/>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4" name="Group 2434"/>
                  <p:cNvGrpSpPr>
                    <a:grpSpLocks/>
                  </p:cNvGrpSpPr>
                  <p:nvPr/>
                </p:nvGrpSpPr>
                <p:grpSpPr bwMode="auto">
                  <a:xfrm>
                    <a:off x="1027" y="3659"/>
                    <a:ext cx="45" cy="23"/>
                    <a:chOff x="1027" y="3659"/>
                    <a:chExt cx="45" cy="23"/>
                  </a:xfrm>
                </p:grpSpPr>
                <p:sp>
                  <p:nvSpPr>
                    <p:cNvPr id="2979" name="Freeform 243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0" name="Freeform 2436"/>
                    <p:cNvSpPr>
                      <a:spLocks/>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1" name="Freeform 2437"/>
                    <p:cNvSpPr>
                      <a:spLocks/>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5" name="Group 2438"/>
                  <p:cNvGrpSpPr>
                    <a:grpSpLocks/>
                  </p:cNvGrpSpPr>
                  <p:nvPr/>
                </p:nvGrpSpPr>
                <p:grpSpPr bwMode="auto">
                  <a:xfrm>
                    <a:off x="1040" y="3672"/>
                    <a:ext cx="45" cy="23"/>
                    <a:chOff x="1040" y="3672"/>
                    <a:chExt cx="45" cy="23"/>
                  </a:xfrm>
                </p:grpSpPr>
                <p:sp>
                  <p:nvSpPr>
                    <p:cNvPr id="2976" name="Freeform 243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7" name="Freeform 2440"/>
                    <p:cNvSpPr>
                      <a:spLocks/>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8" name="Freeform 2441"/>
                    <p:cNvSpPr>
                      <a:spLocks/>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90" name="Group 2442"/>
                <p:cNvGrpSpPr>
                  <a:grpSpLocks/>
                </p:cNvGrpSpPr>
                <p:nvPr/>
              </p:nvGrpSpPr>
              <p:grpSpPr bwMode="auto">
                <a:xfrm>
                  <a:off x="1054" y="3685"/>
                  <a:ext cx="45" cy="23"/>
                  <a:chOff x="1054" y="3685"/>
                  <a:chExt cx="45" cy="23"/>
                </a:xfrm>
              </p:grpSpPr>
              <p:sp>
                <p:nvSpPr>
                  <p:cNvPr id="2969" name="Freeform 244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0" name="Freeform 2444"/>
                  <p:cNvSpPr>
                    <a:spLocks/>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1" name="Freeform 2445"/>
                  <p:cNvSpPr>
                    <a:spLocks/>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1" name="Group 2446"/>
                <p:cNvGrpSpPr>
                  <a:grpSpLocks/>
                </p:cNvGrpSpPr>
                <p:nvPr/>
              </p:nvGrpSpPr>
              <p:grpSpPr bwMode="auto">
                <a:xfrm>
                  <a:off x="1067" y="3698"/>
                  <a:ext cx="45" cy="23"/>
                  <a:chOff x="1067" y="3698"/>
                  <a:chExt cx="45" cy="23"/>
                </a:xfrm>
              </p:grpSpPr>
              <p:sp>
                <p:nvSpPr>
                  <p:cNvPr id="2966" name="Freeform 244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7" name="Freeform 2448"/>
                  <p:cNvSpPr>
                    <a:spLocks/>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8" name="Freeform 2449"/>
                  <p:cNvSpPr>
                    <a:spLocks/>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2" name="Group 2450"/>
                <p:cNvGrpSpPr>
                  <a:grpSpLocks/>
                </p:cNvGrpSpPr>
                <p:nvPr/>
              </p:nvGrpSpPr>
              <p:grpSpPr bwMode="auto">
                <a:xfrm>
                  <a:off x="1079" y="3712"/>
                  <a:ext cx="44" cy="23"/>
                  <a:chOff x="1079" y="3712"/>
                  <a:chExt cx="44" cy="23"/>
                </a:xfrm>
              </p:grpSpPr>
              <p:sp>
                <p:nvSpPr>
                  <p:cNvPr id="2963" name="Freeform 245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4" name="Freeform 2452"/>
                  <p:cNvSpPr>
                    <a:spLocks/>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5" name="Freeform 2453"/>
                  <p:cNvSpPr>
                    <a:spLocks/>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3" name="Group 2454"/>
                <p:cNvGrpSpPr>
                  <a:grpSpLocks/>
                </p:cNvGrpSpPr>
                <p:nvPr/>
              </p:nvGrpSpPr>
              <p:grpSpPr bwMode="auto">
                <a:xfrm>
                  <a:off x="1093" y="3725"/>
                  <a:ext cx="45" cy="23"/>
                  <a:chOff x="1093" y="3725"/>
                  <a:chExt cx="45" cy="23"/>
                </a:xfrm>
              </p:grpSpPr>
              <p:sp>
                <p:nvSpPr>
                  <p:cNvPr id="2960" name="Freeform 245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1" name="Freeform 2456"/>
                  <p:cNvSpPr>
                    <a:spLocks/>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2" name="Freeform 2457"/>
                  <p:cNvSpPr>
                    <a:spLocks/>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4" name="Group 2458"/>
                <p:cNvGrpSpPr>
                  <a:grpSpLocks/>
                </p:cNvGrpSpPr>
                <p:nvPr/>
              </p:nvGrpSpPr>
              <p:grpSpPr bwMode="auto">
                <a:xfrm>
                  <a:off x="1108" y="3739"/>
                  <a:ext cx="44" cy="23"/>
                  <a:chOff x="1108" y="3739"/>
                  <a:chExt cx="44" cy="23"/>
                </a:xfrm>
              </p:grpSpPr>
              <p:sp>
                <p:nvSpPr>
                  <p:cNvPr id="2957" name="Freeform 245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8" name="Freeform 2460"/>
                  <p:cNvSpPr>
                    <a:spLocks/>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9" name="Freeform 2461"/>
                  <p:cNvSpPr>
                    <a:spLocks/>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5" name="Group 2462"/>
                <p:cNvGrpSpPr>
                  <a:grpSpLocks/>
                </p:cNvGrpSpPr>
                <p:nvPr/>
              </p:nvGrpSpPr>
              <p:grpSpPr bwMode="auto">
                <a:xfrm>
                  <a:off x="1121" y="3753"/>
                  <a:ext cx="45" cy="23"/>
                  <a:chOff x="1121" y="3753"/>
                  <a:chExt cx="45" cy="23"/>
                </a:xfrm>
              </p:grpSpPr>
              <p:sp>
                <p:nvSpPr>
                  <p:cNvPr id="2954" name="Freeform 246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5" name="Freeform 2464"/>
                  <p:cNvSpPr>
                    <a:spLocks/>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6" name="Freeform 2465"/>
                  <p:cNvSpPr>
                    <a:spLocks/>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6" name="Group 2466"/>
                <p:cNvGrpSpPr>
                  <a:grpSpLocks/>
                </p:cNvGrpSpPr>
                <p:nvPr/>
              </p:nvGrpSpPr>
              <p:grpSpPr bwMode="auto">
                <a:xfrm>
                  <a:off x="1133" y="3767"/>
                  <a:ext cx="44" cy="23"/>
                  <a:chOff x="1133" y="3767"/>
                  <a:chExt cx="44" cy="23"/>
                </a:xfrm>
              </p:grpSpPr>
              <p:sp>
                <p:nvSpPr>
                  <p:cNvPr id="2951" name="Freeform 246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2" name="Freeform 2468"/>
                  <p:cNvSpPr>
                    <a:spLocks/>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3" name="Freeform 2469"/>
                  <p:cNvSpPr>
                    <a:spLocks/>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97" name="Freeform 2470"/>
                <p:cNvSpPr>
                  <a:spLocks/>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8" name="Freeform 2471"/>
                <p:cNvSpPr>
                  <a:spLocks/>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9" name="Freeform 2472"/>
                <p:cNvSpPr>
                  <a:spLocks/>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0" name="Freeform 2473"/>
                <p:cNvSpPr>
                  <a:spLocks/>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1" name="Freeform 2474"/>
                <p:cNvSpPr>
                  <a:spLocks/>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2" name="Freeform 2475"/>
                <p:cNvSpPr>
                  <a:spLocks/>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3" name="Freeform 2476"/>
                <p:cNvSpPr>
                  <a:spLocks/>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4" name="Freeform 2477"/>
                <p:cNvSpPr>
                  <a:spLocks/>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5" name="Freeform 2478"/>
                <p:cNvSpPr>
                  <a:spLocks/>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6" name="Freeform 2479"/>
                <p:cNvSpPr>
                  <a:spLocks/>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7" name="Freeform 2480"/>
                <p:cNvSpPr>
                  <a:spLocks/>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908" name="Group 2481"/>
                <p:cNvGrpSpPr>
                  <a:grpSpLocks/>
                </p:cNvGrpSpPr>
                <p:nvPr/>
              </p:nvGrpSpPr>
              <p:grpSpPr bwMode="auto">
                <a:xfrm>
                  <a:off x="700" y="3535"/>
                  <a:ext cx="49" cy="24"/>
                  <a:chOff x="700" y="3535"/>
                  <a:chExt cx="49" cy="24"/>
                </a:xfrm>
              </p:grpSpPr>
              <p:sp>
                <p:nvSpPr>
                  <p:cNvPr id="2948" name="Freeform 248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9" name="Freeform 2483"/>
                  <p:cNvSpPr>
                    <a:spLocks/>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0" name="Freeform 248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09" name="Group 2485"/>
                <p:cNvGrpSpPr>
                  <a:grpSpLocks/>
                </p:cNvGrpSpPr>
                <p:nvPr/>
              </p:nvGrpSpPr>
              <p:grpSpPr bwMode="auto">
                <a:xfrm>
                  <a:off x="714" y="3551"/>
                  <a:ext cx="49" cy="22"/>
                  <a:chOff x="714" y="3551"/>
                  <a:chExt cx="49" cy="22"/>
                </a:xfrm>
              </p:grpSpPr>
              <p:sp>
                <p:nvSpPr>
                  <p:cNvPr id="2945" name="Freeform 248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6" name="Freeform 2487"/>
                  <p:cNvSpPr>
                    <a:spLocks/>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7" name="Freeform 248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0" name="Group 2489"/>
                <p:cNvGrpSpPr>
                  <a:grpSpLocks/>
                </p:cNvGrpSpPr>
                <p:nvPr/>
              </p:nvGrpSpPr>
              <p:grpSpPr bwMode="auto">
                <a:xfrm>
                  <a:off x="728" y="3564"/>
                  <a:ext cx="48" cy="23"/>
                  <a:chOff x="728" y="3564"/>
                  <a:chExt cx="48" cy="23"/>
                </a:xfrm>
              </p:grpSpPr>
              <p:sp>
                <p:nvSpPr>
                  <p:cNvPr id="2942" name="Freeform 249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3" name="Freeform 2491"/>
                  <p:cNvSpPr>
                    <a:spLocks/>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4" name="Freeform 249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1" name="Group 2493"/>
                <p:cNvGrpSpPr>
                  <a:grpSpLocks/>
                </p:cNvGrpSpPr>
                <p:nvPr/>
              </p:nvGrpSpPr>
              <p:grpSpPr bwMode="auto">
                <a:xfrm>
                  <a:off x="742" y="3582"/>
                  <a:ext cx="49" cy="23"/>
                  <a:chOff x="742" y="3582"/>
                  <a:chExt cx="49" cy="23"/>
                </a:xfrm>
              </p:grpSpPr>
              <p:sp>
                <p:nvSpPr>
                  <p:cNvPr id="2939" name="Freeform 249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0" name="Freeform 2495"/>
                  <p:cNvSpPr>
                    <a:spLocks/>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1" name="Freeform 249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2" name="Group 2497"/>
                <p:cNvGrpSpPr>
                  <a:grpSpLocks/>
                </p:cNvGrpSpPr>
                <p:nvPr/>
              </p:nvGrpSpPr>
              <p:grpSpPr bwMode="auto">
                <a:xfrm>
                  <a:off x="752" y="3597"/>
                  <a:ext cx="133" cy="106"/>
                  <a:chOff x="752" y="3597"/>
                  <a:chExt cx="133" cy="106"/>
                </a:xfrm>
              </p:grpSpPr>
              <p:sp>
                <p:nvSpPr>
                  <p:cNvPr id="2936" name="Freeform 2498"/>
                  <p:cNvSpPr>
                    <a:spLocks/>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7" name="Freeform 2499"/>
                  <p:cNvSpPr>
                    <a:spLocks/>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8" name="Freeform 250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3" name="Group 2501"/>
                <p:cNvGrpSpPr>
                  <a:grpSpLocks/>
                </p:cNvGrpSpPr>
                <p:nvPr/>
              </p:nvGrpSpPr>
              <p:grpSpPr bwMode="auto">
                <a:xfrm>
                  <a:off x="844" y="3694"/>
                  <a:ext cx="48" cy="23"/>
                  <a:chOff x="844" y="3694"/>
                  <a:chExt cx="48" cy="23"/>
                </a:xfrm>
              </p:grpSpPr>
              <p:sp>
                <p:nvSpPr>
                  <p:cNvPr id="2933" name="Freeform 250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4" name="Freeform 2503"/>
                  <p:cNvSpPr>
                    <a:spLocks/>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5" name="Freeform 250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4" name="Group 2505"/>
                <p:cNvGrpSpPr>
                  <a:grpSpLocks/>
                </p:cNvGrpSpPr>
                <p:nvPr/>
              </p:nvGrpSpPr>
              <p:grpSpPr bwMode="auto">
                <a:xfrm>
                  <a:off x="857" y="3710"/>
                  <a:ext cx="49" cy="22"/>
                  <a:chOff x="857" y="3710"/>
                  <a:chExt cx="49" cy="22"/>
                </a:xfrm>
              </p:grpSpPr>
              <p:sp>
                <p:nvSpPr>
                  <p:cNvPr id="2930" name="Freeform 250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1" name="Freeform 2507"/>
                  <p:cNvSpPr>
                    <a:spLocks/>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2" name="Freeform 250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5" name="Group 2509"/>
                <p:cNvGrpSpPr>
                  <a:grpSpLocks/>
                </p:cNvGrpSpPr>
                <p:nvPr/>
              </p:nvGrpSpPr>
              <p:grpSpPr bwMode="auto">
                <a:xfrm>
                  <a:off x="1086" y="3766"/>
                  <a:ext cx="49" cy="23"/>
                  <a:chOff x="1086" y="3766"/>
                  <a:chExt cx="49" cy="23"/>
                </a:xfrm>
              </p:grpSpPr>
              <p:sp>
                <p:nvSpPr>
                  <p:cNvPr id="2927" name="Freeform 251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8" name="Freeform 2511"/>
                  <p:cNvSpPr>
                    <a:spLocks/>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9" name="Freeform 251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6" name="Group 2513"/>
                <p:cNvGrpSpPr>
                  <a:grpSpLocks/>
                </p:cNvGrpSpPr>
                <p:nvPr/>
              </p:nvGrpSpPr>
              <p:grpSpPr bwMode="auto">
                <a:xfrm>
                  <a:off x="934" y="3740"/>
                  <a:ext cx="48" cy="23"/>
                  <a:chOff x="934" y="3740"/>
                  <a:chExt cx="48" cy="23"/>
                </a:xfrm>
              </p:grpSpPr>
              <p:sp>
                <p:nvSpPr>
                  <p:cNvPr id="2924" name="Freeform 251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5" name="Freeform 2515"/>
                  <p:cNvSpPr>
                    <a:spLocks/>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6" name="Freeform 251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7" name="Group 2517"/>
                <p:cNvGrpSpPr>
                  <a:grpSpLocks/>
                </p:cNvGrpSpPr>
                <p:nvPr/>
              </p:nvGrpSpPr>
              <p:grpSpPr bwMode="auto">
                <a:xfrm>
                  <a:off x="943" y="3754"/>
                  <a:ext cx="49" cy="23"/>
                  <a:chOff x="943" y="3754"/>
                  <a:chExt cx="49" cy="23"/>
                </a:xfrm>
              </p:grpSpPr>
              <p:sp>
                <p:nvSpPr>
                  <p:cNvPr id="2921" name="Freeform 251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2" name="Freeform 2519"/>
                  <p:cNvSpPr>
                    <a:spLocks/>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3" name="Freeform 252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918" name="Freeform 2521"/>
                <p:cNvSpPr>
                  <a:spLocks/>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9" name="Freeform 2522"/>
                <p:cNvSpPr>
                  <a:spLocks/>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0" name="Freeform 252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15" name="Group 2524"/>
              <p:cNvGrpSpPr>
                <a:grpSpLocks/>
              </p:cNvGrpSpPr>
              <p:nvPr/>
            </p:nvGrpSpPr>
            <p:grpSpPr bwMode="auto">
              <a:xfrm>
                <a:off x="920" y="3821"/>
                <a:ext cx="413" cy="50"/>
                <a:chOff x="920" y="3821"/>
                <a:chExt cx="413" cy="50"/>
              </a:xfrm>
            </p:grpSpPr>
            <p:sp>
              <p:nvSpPr>
                <p:cNvPr id="2836" name="Freeform 2525"/>
                <p:cNvSpPr>
                  <a:spLocks/>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7" name="Freeform 2526"/>
                <p:cNvSpPr>
                  <a:spLocks/>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816" name="Group 2529"/>
              <p:cNvGrpSpPr>
                <a:grpSpLocks/>
              </p:cNvGrpSpPr>
              <p:nvPr/>
            </p:nvGrpSpPr>
            <p:grpSpPr bwMode="auto">
              <a:xfrm>
                <a:off x="1227" y="3477"/>
                <a:ext cx="508" cy="321"/>
                <a:chOff x="1227" y="3477"/>
                <a:chExt cx="508" cy="321"/>
              </a:xfrm>
            </p:grpSpPr>
            <p:sp>
              <p:nvSpPr>
                <p:cNvPr id="2817" name="Freeform 2530"/>
                <p:cNvSpPr>
                  <a:spLocks/>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8" name="Freeform 2531"/>
                <p:cNvSpPr>
                  <a:spLocks/>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9" name="Freeform 2532"/>
                <p:cNvSpPr>
                  <a:spLocks/>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0" name="Line 253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1" name="Freeform 2534"/>
                <p:cNvSpPr>
                  <a:spLocks/>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2" name="Freeform 2535"/>
                <p:cNvSpPr>
                  <a:spLocks/>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3" name="Freeform 2536"/>
                <p:cNvSpPr>
                  <a:spLocks/>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4" name="Freeform 2537"/>
                <p:cNvSpPr>
                  <a:spLocks/>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5" name="Freeform 2538"/>
                <p:cNvSpPr>
                  <a:spLocks/>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6" name="Freeform 2539"/>
                <p:cNvSpPr>
                  <a:spLocks/>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7" name="Freeform 2540"/>
                <p:cNvSpPr>
                  <a:spLocks/>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8" name="Freeform 2541"/>
                <p:cNvSpPr>
                  <a:spLocks/>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9" name="Freeform 2542"/>
                <p:cNvSpPr>
                  <a:spLocks/>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0" name="Freeform 2543"/>
                <p:cNvSpPr>
                  <a:spLocks/>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3" name="Freeform 2546"/>
                <p:cNvSpPr>
                  <a:spLocks/>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aphicFrame>
          <p:nvGraphicFramePr>
            <p:cNvPr id="3254" name="Object 58"/>
            <p:cNvGraphicFramePr>
              <a:graphicFrameLocks noChangeAspect="1"/>
            </p:cNvGraphicFramePr>
            <p:nvPr>
              <p:extLst>
                <p:ext uri="{D42A27DB-BD31-4B8C-83A1-F6EECF244321}">
                  <p14:modId xmlns:p14="http://schemas.microsoft.com/office/powerpoint/2010/main" val="918967931"/>
                </p:ext>
              </p:extLst>
            </p:nvPr>
          </p:nvGraphicFramePr>
          <p:xfrm>
            <a:off x="1979613" y="3213100"/>
            <a:ext cx="1390650" cy="1008063"/>
          </p:xfrm>
          <a:graphic>
            <a:graphicData uri="http://schemas.openxmlformats.org/presentationml/2006/ole">
              <mc:AlternateContent xmlns:mc="http://schemas.openxmlformats.org/markup-compatibility/2006">
                <mc:Choice xmlns:v="urn:schemas-microsoft-com:vml" Requires="v">
                  <p:oleObj name="VISIO" r:id="rId7" imgW="1687068" imgH="964692" progId="">
                    <p:embed/>
                  </p:oleObj>
                </mc:Choice>
                <mc:Fallback>
                  <p:oleObj name="VISIO" r:id="rId7" imgW="1687068" imgH="964692" progId="">
                    <p:embed/>
                    <p:pic>
                      <p:nvPicPr>
                        <p:cNvPr id="0" name="Picture 9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79613" y="3213100"/>
                          <a:ext cx="1390650" cy="100806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5" name="Object 58"/>
            <p:cNvGraphicFramePr>
              <a:graphicFrameLocks noChangeAspect="1"/>
            </p:cNvGraphicFramePr>
            <p:nvPr>
              <p:extLst>
                <p:ext uri="{D42A27DB-BD31-4B8C-83A1-F6EECF244321}">
                  <p14:modId xmlns:p14="http://schemas.microsoft.com/office/powerpoint/2010/main" val="924752059"/>
                </p:ext>
              </p:extLst>
            </p:nvPr>
          </p:nvGraphicFramePr>
          <p:xfrm>
            <a:off x="6227763" y="3500438"/>
            <a:ext cx="1292225" cy="936625"/>
          </p:xfrm>
          <a:graphic>
            <a:graphicData uri="http://schemas.openxmlformats.org/presentationml/2006/ole">
              <mc:AlternateContent xmlns:mc="http://schemas.openxmlformats.org/markup-compatibility/2006">
                <mc:Choice xmlns:v="urn:schemas-microsoft-com:vml" Requires="v">
                  <p:oleObj name="VISIO" r:id="rId9" imgW="1687068" imgH="964692" progId="">
                    <p:embed/>
                  </p:oleObj>
                </mc:Choice>
                <mc:Fallback>
                  <p:oleObj name="VISIO" r:id="rId9" imgW="1687068" imgH="964692" progId="">
                    <p:embed/>
                    <p:pic>
                      <p:nvPicPr>
                        <p:cNvPr id="0" name="Picture 10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27763" y="3500438"/>
                          <a:ext cx="1292225" cy="93662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3256" name="Object 58"/>
            <p:cNvGraphicFramePr>
              <a:graphicFrameLocks noChangeAspect="1"/>
            </p:cNvGraphicFramePr>
            <p:nvPr>
              <p:extLst>
                <p:ext uri="{D42A27DB-BD31-4B8C-83A1-F6EECF244321}">
                  <p14:modId xmlns:p14="http://schemas.microsoft.com/office/powerpoint/2010/main" val="2328851165"/>
                </p:ext>
              </p:extLst>
            </p:nvPr>
          </p:nvGraphicFramePr>
          <p:xfrm>
            <a:off x="3132138" y="2636838"/>
            <a:ext cx="658812" cy="477837"/>
          </p:xfrm>
          <a:graphic>
            <a:graphicData uri="http://schemas.openxmlformats.org/presentationml/2006/ole">
              <mc:AlternateContent xmlns:mc="http://schemas.openxmlformats.org/markup-compatibility/2006">
                <mc:Choice xmlns:v="urn:schemas-microsoft-com:vml" Requires="v">
                  <p:oleObj name="VISIO" r:id="rId10" imgW="1687068" imgH="964692" progId="">
                    <p:embed/>
                  </p:oleObj>
                </mc:Choice>
                <mc:Fallback>
                  <p:oleObj name="VISIO" r:id="rId10" imgW="1687068" imgH="964692" progId="">
                    <p:embed/>
                    <p:pic>
                      <p:nvPicPr>
                        <p:cNvPr id="0" name="Picture 10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32138" y="2636838"/>
                          <a:ext cx="658812" cy="477837"/>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cxnSp>
          <p:nvCxnSpPr>
            <p:cNvPr id="3257" name="直接连接符 8018"/>
            <p:cNvCxnSpPr>
              <a:cxnSpLocks noChangeShapeType="1"/>
              <a:stCxn id="517" idx="6"/>
            </p:cNvCxnSpPr>
            <p:nvPr/>
          </p:nvCxnSpPr>
          <p:spPr bwMode="auto">
            <a:xfrm flipV="1">
              <a:off x="2195513" y="2852738"/>
              <a:ext cx="1008062" cy="10795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258" name="直接连接符 8020"/>
            <p:cNvCxnSpPr>
              <a:cxnSpLocks noChangeShapeType="1"/>
            </p:cNvCxnSpPr>
            <p:nvPr/>
          </p:nvCxnSpPr>
          <p:spPr bwMode="auto">
            <a:xfrm>
              <a:off x="3708400" y="2924175"/>
              <a:ext cx="647700" cy="2889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3259" name="Text Box 1189"/>
            <p:cNvSpPr txBox="1">
              <a:spLocks noChangeArrowheads="1"/>
            </p:cNvSpPr>
            <p:nvPr/>
          </p:nvSpPr>
          <p:spPr bwMode="auto">
            <a:xfrm>
              <a:off x="7729538" y="295276"/>
              <a:ext cx="1009277" cy="454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CC"/>
                  </a:solidFill>
                  <a:latin typeface="微软雅黑" panose="020B0503020204020204" pitchFamily="34" charset="-122"/>
                  <a:ea typeface="微软雅黑" panose="020B0503020204020204" pitchFamily="34" charset="-122"/>
                </a:rPr>
                <a:t>覆盖网络</a:t>
              </a:r>
            </a:p>
          </p:txBody>
        </p:sp>
        <p:sp>
          <p:nvSpPr>
            <p:cNvPr id="3260" name="Text Box 1189"/>
            <p:cNvSpPr txBox="1">
              <a:spLocks noChangeArrowheads="1"/>
            </p:cNvSpPr>
            <p:nvPr/>
          </p:nvSpPr>
          <p:spPr bwMode="auto">
            <a:xfrm>
              <a:off x="7775574" y="2597150"/>
              <a:ext cx="963240" cy="75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实际网络</a:t>
              </a:r>
            </a:p>
          </p:txBody>
        </p:sp>
        <p:sp>
          <p:nvSpPr>
            <p:cNvPr id="3261" name="Text Box 3475"/>
            <p:cNvSpPr txBox="1">
              <a:spLocks noChangeArrowheads="1"/>
            </p:cNvSpPr>
            <p:nvPr/>
          </p:nvSpPr>
          <p:spPr bwMode="auto">
            <a:xfrm>
              <a:off x="533400" y="42116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3262" name="Text Box 3475"/>
            <p:cNvSpPr txBox="1">
              <a:spLocks noChangeArrowheads="1"/>
            </p:cNvSpPr>
            <p:nvPr/>
          </p:nvSpPr>
          <p:spPr bwMode="auto">
            <a:xfrm>
              <a:off x="6804025" y="2781300"/>
              <a:ext cx="2792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C</a:t>
              </a:r>
              <a:endParaRPr lang="en-US" altLang="zh-CN" sz="1100" b="1" i="1">
                <a:latin typeface="微软雅黑" panose="020B0503020204020204" pitchFamily="34" charset="-122"/>
                <a:ea typeface="微软雅黑" panose="020B0503020204020204" pitchFamily="34" charset="-122"/>
              </a:endParaRPr>
            </a:p>
          </p:txBody>
        </p:sp>
        <p:sp>
          <p:nvSpPr>
            <p:cNvPr id="3263" name="Text Box 3475"/>
            <p:cNvSpPr txBox="1">
              <a:spLocks noChangeArrowheads="1"/>
            </p:cNvSpPr>
            <p:nvPr/>
          </p:nvSpPr>
          <p:spPr bwMode="auto">
            <a:xfrm>
              <a:off x="5413375" y="41894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i="1">
                <a:latin typeface="微软雅黑" panose="020B0503020204020204" pitchFamily="34" charset="-122"/>
                <a:ea typeface="微软雅黑" panose="020B0503020204020204" pitchFamily="34" charset="-122"/>
              </a:endParaRPr>
            </a:p>
          </p:txBody>
        </p:sp>
        <p:sp>
          <p:nvSpPr>
            <p:cNvPr id="3264" name="Text Box 3475"/>
            <p:cNvSpPr txBox="1">
              <a:spLocks noChangeArrowheads="1"/>
            </p:cNvSpPr>
            <p:nvPr/>
          </p:nvSpPr>
          <p:spPr bwMode="auto">
            <a:xfrm>
              <a:off x="2843213" y="4292600"/>
              <a:ext cx="2968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
              </a:r>
            </a:p>
          </p:txBody>
        </p:sp>
      </p:grpSp>
    </p:spTree>
    <p:extLst>
      <p:ext uri="{BB962C8B-B14F-4D97-AF65-F5344CB8AC3E}">
        <p14:creationId xmlns:p14="http://schemas.microsoft.com/office/powerpoint/2010/main" val="2755004650"/>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Rectangle 303"/>
          <p:cNvSpPr>
            <a:spLocks noChangeArrowheads="1"/>
          </p:cNvSpPr>
          <p:nvPr/>
        </p:nvSpPr>
        <p:spPr bwMode="auto">
          <a:xfrm>
            <a:off x="2187660" y="2517488"/>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5" name="Rectangle 304"/>
          <p:cNvSpPr>
            <a:spLocks noChangeArrowheads="1"/>
          </p:cNvSpPr>
          <p:nvPr/>
        </p:nvSpPr>
        <p:spPr bwMode="auto">
          <a:xfrm>
            <a:off x="5003878" y="2517488"/>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6" name="Rectangle 305"/>
          <p:cNvSpPr>
            <a:spLocks noChangeArrowheads="1"/>
          </p:cNvSpPr>
          <p:nvPr/>
        </p:nvSpPr>
        <p:spPr bwMode="auto">
          <a:xfrm>
            <a:off x="3597275" y="3548100"/>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0" name="Rectangle 305"/>
          <p:cNvSpPr>
            <a:spLocks noChangeArrowheads="1"/>
          </p:cNvSpPr>
          <p:nvPr/>
        </p:nvSpPr>
        <p:spPr bwMode="auto">
          <a:xfrm>
            <a:off x="3651250" y="1640470"/>
            <a:ext cx="1905000" cy="348480"/>
          </a:xfrm>
          <a:prstGeom prst="rect">
            <a:avLst/>
          </a:prstGeom>
          <a:solidFill>
            <a:schemeClr val="bg1"/>
          </a:solidFill>
          <a:ln w="9525">
            <a:solidFill>
              <a:srgbClr val="000000"/>
            </a:solid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93660" y="575054"/>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对等方之间互相传送文件数据块</a:t>
            </a:r>
          </a:p>
        </p:txBody>
      </p:sp>
      <p:sp>
        <p:nvSpPr>
          <p:cNvPr id="32" name="Rectangle 260"/>
          <p:cNvSpPr>
            <a:spLocks noChangeArrowheads="1"/>
          </p:cNvSpPr>
          <p:nvPr/>
        </p:nvSpPr>
        <p:spPr bwMode="auto">
          <a:xfrm>
            <a:off x="23400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3" name="Rectangle 261"/>
          <p:cNvSpPr>
            <a:spLocks noChangeArrowheads="1"/>
          </p:cNvSpPr>
          <p:nvPr/>
        </p:nvSpPr>
        <p:spPr bwMode="auto">
          <a:xfrm>
            <a:off x="2644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4" name="Rectangle 262"/>
          <p:cNvSpPr>
            <a:spLocks noChangeArrowheads="1"/>
          </p:cNvSpPr>
          <p:nvPr/>
        </p:nvSpPr>
        <p:spPr bwMode="auto">
          <a:xfrm>
            <a:off x="274328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5" name="Rectangle 263"/>
          <p:cNvSpPr>
            <a:spLocks noChangeArrowheads="1"/>
          </p:cNvSpPr>
          <p:nvPr/>
        </p:nvSpPr>
        <p:spPr bwMode="auto">
          <a:xfrm>
            <a:off x="29496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6" name="Rectangle 265"/>
          <p:cNvSpPr>
            <a:spLocks noChangeArrowheads="1"/>
          </p:cNvSpPr>
          <p:nvPr/>
        </p:nvSpPr>
        <p:spPr bwMode="auto">
          <a:xfrm>
            <a:off x="321001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7" name="Rectangle 266"/>
          <p:cNvSpPr>
            <a:spLocks noChangeArrowheads="1"/>
          </p:cNvSpPr>
          <p:nvPr/>
        </p:nvSpPr>
        <p:spPr bwMode="auto">
          <a:xfrm>
            <a:off x="3406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8" name="Rectangle 267"/>
          <p:cNvSpPr>
            <a:spLocks noChangeArrowheads="1"/>
          </p:cNvSpPr>
          <p:nvPr/>
        </p:nvSpPr>
        <p:spPr bwMode="auto">
          <a:xfrm>
            <a:off x="380373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39" name="Rectangle 268"/>
          <p:cNvSpPr>
            <a:spLocks noChangeArrowheads="1"/>
          </p:cNvSpPr>
          <p:nvPr/>
        </p:nvSpPr>
        <p:spPr bwMode="auto">
          <a:xfrm>
            <a:off x="504832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0" name="Rectangle 269"/>
          <p:cNvSpPr>
            <a:spLocks noChangeArrowheads="1"/>
          </p:cNvSpPr>
          <p:nvPr/>
        </p:nvSpPr>
        <p:spPr bwMode="auto">
          <a:xfrm>
            <a:off x="52277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1" name="Rectangle 270"/>
          <p:cNvSpPr>
            <a:spLocks noChangeArrowheads="1"/>
          </p:cNvSpPr>
          <p:nvPr/>
        </p:nvSpPr>
        <p:spPr bwMode="auto">
          <a:xfrm>
            <a:off x="57658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2" name="Rectangle 271"/>
          <p:cNvSpPr>
            <a:spLocks noChangeArrowheads="1"/>
          </p:cNvSpPr>
          <p:nvPr/>
        </p:nvSpPr>
        <p:spPr bwMode="auto">
          <a:xfrm>
            <a:off x="62087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3" name="Rectangle 272"/>
          <p:cNvSpPr>
            <a:spLocks noChangeArrowheads="1"/>
          </p:cNvSpPr>
          <p:nvPr/>
        </p:nvSpPr>
        <p:spPr bwMode="auto">
          <a:xfrm>
            <a:off x="64754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4" name="Rectangle 273"/>
          <p:cNvSpPr>
            <a:spLocks noChangeArrowheads="1"/>
          </p:cNvSpPr>
          <p:nvPr/>
        </p:nvSpPr>
        <p:spPr bwMode="auto">
          <a:xfrm>
            <a:off x="66374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5" name="Rectangle 274"/>
          <p:cNvSpPr>
            <a:spLocks noChangeArrowheads="1"/>
          </p:cNvSpPr>
          <p:nvPr/>
        </p:nvSpPr>
        <p:spPr bwMode="auto">
          <a:xfrm>
            <a:off x="67310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6" name="Rectangle 275"/>
          <p:cNvSpPr>
            <a:spLocks noChangeArrowheads="1"/>
          </p:cNvSpPr>
          <p:nvPr/>
        </p:nvSpPr>
        <p:spPr bwMode="auto">
          <a:xfrm>
            <a:off x="37496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7" name="Rectangle 276"/>
          <p:cNvSpPr>
            <a:spLocks noChangeArrowheads="1"/>
          </p:cNvSpPr>
          <p:nvPr/>
        </p:nvSpPr>
        <p:spPr bwMode="auto">
          <a:xfrm>
            <a:off x="406400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8" name="Rectangle 277"/>
          <p:cNvSpPr>
            <a:spLocks noChangeArrowheads="1"/>
          </p:cNvSpPr>
          <p:nvPr/>
        </p:nvSpPr>
        <p:spPr bwMode="auto">
          <a:xfrm>
            <a:off x="43592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49" name="Rectangle 278"/>
          <p:cNvSpPr>
            <a:spLocks noChangeArrowheads="1"/>
          </p:cNvSpPr>
          <p:nvPr/>
        </p:nvSpPr>
        <p:spPr bwMode="auto">
          <a:xfrm>
            <a:off x="36417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0" name="Rectangle 279"/>
          <p:cNvSpPr>
            <a:spLocks noChangeArrowheads="1"/>
          </p:cNvSpPr>
          <p:nvPr/>
        </p:nvSpPr>
        <p:spPr bwMode="auto">
          <a:xfrm>
            <a:off x="4764088"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1" name="Rectangle 280"/>
          <p:cNvSpPr>
            <a:spLocks noChangeArrowheads="1"/>
          </p:cNvSpPr>
          <p:nvPr/>
        </p:nvSpPr>
        <p:spPr bwMode="auto">
          <a:xfrm>
            <a:off x="49371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2" name="Rectangle 281"/>
          <p:cNvSpPr>
            <a:spLocks noChangeArrowheads="1"/>
          </p:cNvSpPr>
          <p:nvPr/>
        </p:nvSpPr>
        <p:spPr bwMode="auto">
          <a:xfrm>
            <a:off x="52133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3" name="Text Box 284"/>
          <p:cNvSpPr txBox="1">
            <a:spLocks noChangeArrowheads="1"/>
          </p:cNvSpPr>
          <p:nvPr/>
        </p:nvSpPr>
        <p:spPr bwMode="auto">
          <a:xfrm>
            <a:off x="1197060" y="2547070"/>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A</a:t>
            </a:r>
          </a:p>
        </p:txBody>
      </p:sp>
      <p:sp>
        <p:nvSpPr>
          <p:cNvPr id="54" name="Text Box 287"/>
          <p:cNvSpPr txBox="1">
            <a:spLocks noChangeArrowheads="1"/>
          </p:cNvSpPr>
          <p:nvPr/>
        </p:nvSpPr>
        <p:spPr bwMode="auto">
          <a:xfrm>
            <a:off x="6919990" y="2515320"/>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C</a:t>
            </a:r>
          </a:p>
        </p:txBody>
      </p:sp>
      <p:sp>
        <p:nvSpPr>
          <p:cNvPr id="55" name="Text Box 290"/>
          <p:cNvSpPr txBox="1">
            <a:spLocks noChangeArrowheads="1"/>
          </p:cNvSpPr>
          <p:nvPr/>
        </p:nvSpPr>
        <p:spPr bwMode="auto">
          <a:xfrm>
            <a:off x="2584450" y="3640140"/>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D</a:t>
            </a:r>
          </a:p>
        </p:txBody>
      </p:sp>
      <p:sp>
        <p:nvSpPr>
          <p:cNvPr id="56" name="Text Box 293"/>
          <p:cNvSpPr txBox="1">
            <a:spLocks noChangeArrowheads="1"/>
          </p:cNvSpPr>
          <p:nvPr/>
        </p:nvSpPr>
        <p:spPr bwMode="auto">
          <a:xfrm>
            <a:off x="4065588" y="1322390"/>
            <a:ext cx="7986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对等方 </a:t>
            </a:r>
            <a:r>
              <a:rPr lang="en-US" altLang="zh-CN" sz="1200" b="1">
                <a:latin typeface="微软雅黑" pitchFamily="34" charset="-122"/>
                <a:ea typeface="微软雅黑" pitchFamily="34" charset="-122"/>
              </a:rPr>
              <a:t>B</a:t>
            </a:r>
          </a:p>
        </p:txBody>
      </p:sp>
      <p:sp>
        <p:nvSpPr>
          <p:cNvPr id="57" name="Line 294"/>
          <p:cNvSpPr>
            <a:spLocks noChangeShapeType="1"/>
          </p:cNvSpPr>
          <p:nvPr/>
        </p:nvSpPr>
        <p:spPr bwMode="auto">
          <a:xfrm>
            <a:off x="4565650" y="1988950"/>
            <a:ext cx="0" cy="157499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8" name="Line 295"/>
          <p:cNvSpPr>
            <a:spLocks noChangeShapeType="1"/>
          </p:cNvSpPr>
          <p:nvPr/>
        </p:nvSpPr>
        <p:spPr bwMode="auto">
          <a:xfrm flipH="1">
            <a:off x="3263984" y="2005928"/>
            <a:ext cx="647615"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59" name="Line 296"/>
          <p:cNvSpPr>
            <a:spLocks noChangeShapeType="1"/>
          </p:cNvSpPr>
          <p:nvPr/>
        </p:nvSpPr>
        <p:spPr bwMode="auto">
          <a:xfrm>
            <a:off x="5327650" y="2005928"/>
            <a:ext cx="685800" cy="50939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0" name="Line 298"/>
          <p:cNvSpPr>
            <a:spLocks noChangeShapeType="1"/>
          </p:cNvSpPr>
          <p:nvPr/>
        </p:nvSpPr>
        <p:spPr bwMode="auto">
          <a:xfrm flipH="1">
            <a:off x="4087869" y="2704525"/>
            <a:ext cx="930353" cy="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1" name="Line 300"/>
          <p:cNvSpPr>
            <a:spLocks noChangeShapeType="1"/>
          </p:cNvSpPr>
          <p:nvPr/>
        </p:nvSpPr>
        <p:spPr bwMode="auto">
          <a:xfrm flipH="1" flipV="1">
            <a:off x="3263983" y="2865968"/>
            <a:ext cx="592741" cy="70060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2" name="Line 301"/>
          <p:cNvSpPr>
            <a:spLocks noChangeShapeType="1"/>
          </p:cNvSpPr>
          <p:nvPr/>
        </p:nvSpPr>
        <p:spPr bwMode="auto">
          <a:xfrm flipV="1">
            <a:off x="5099050" y="2865968"/>
            <a:ext cx="571500" cy="69797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3" name="Line 302"/>
          <p:cNvSpPr>
            <a:spLocks noChangeShapeType="1"/>
          </p:cNvSpPr>
          <p:nvPr/>
        </p:nvSpPr>
        <p:spPr bwMode="auto">
          <a:xfrm flipH="1">
            <a:off x="5335665" y="2865968"/>
            <a:ext cx="582613" cy="682132"/>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7" name="Rectangle 306"/>
          <p:cNvSpPr>
            <a:spLocks noChangeArrowheads="1"/>
          </p:cNvSpPr>
          <p:nvPr/>
        </p:nvSpPr>
        <p:spPr bwMode="auto">
          <a:xfrm>
            <a:off x="7002463" y="172726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68" name="Text Box 307"/>
          <p:cNvSpPr txBox="1">
            <a:spLocks noChangeArrowheads="1"/>
          </p:cNvSpPr>
          <p:nvPr/>
        </p:nvSpPr>
        <p:spPr bwMode="auto">
          <a:xfrm>
            <a:off x="7232650" y="1727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数据块</a:t>
            </a:r>
          </a:p>
        </p:txBody>
      </p:sp>
      <p:sp>
        <p:nvSpPr>
          <p:cNvPr id="69" name="Text Box 308"/>
          <p:cNvSpPr txBox="1">
            <a:spLocks noChangeArrowheads="1"/>
          </p:cNvSpPr>
          <p:nvPr/>
        </p:nvSpPr>
        <p:spPr bwMode="auto">
          <a:xfrm>
            <a:off x="7232650" y="1346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a:latin typeface="微软雅黑" pitchFamily="34" charset="-122"/>
                <a:ea typeface="微软雅黑" pitchFamily="34" charset="-122"/>
              </a:rPr>
              <a:t>图例：</a:t>
            </a:r>
          </a:p>
        </p:txBody>
      </p:sp>
      <p:sp>
        <p:nvSpPr>
          <p:cNvPr id="70" name="Line 310"/>
          <p:cNvSpPr>
            <a:spLocks noChangeShapeType="1"/>
          </p:cNvSpPr>
          <p:nvPr/>
        </p:nvSpPr>
        <p:spPr bwMode="auto">
          <a:xfrm>
            <a:off x="6875463" y="2216210"/>
            <a:ext cx="304800" cy="0"/>
          </a:xfrm>
          <a:prstGeom prst="line">
            <a:avLst/>
          </a:prstGeom>
          <a:noFill/>
          <a:ln w="9525">
            <a:solidFill>
              <a:srgbClr val="CC00CC"/>
            </a:solidFill>
            <a:round/>
            <a:headE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1" name="Text Box 311"/>
          <p:cNvSpPr txBox="1">
            <a:spLocks noChangeArrowheads="1"/>
          </p:cNvSpPr>
          <p:nvPr/>
        </p:nvSpPr>
        <p:spPr bwMode="auto">
          <a:xfrm>
            <a:off x="7156451" y="2063590"/>
            <a:ext cx="1125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200" b="1" dirty="0">
                <a:latin typeface="微软雅黑" pitchFamily="34" charset="-122"/>
                <a:ea typeface="微软雅黑" pitchFamily="34" charset="-122"/>
              </a:rPr>
              <a:t>数据块传送</a:t>
            </a:r>
          </a:p>
        </p:txBody>
      </p:sp>
      <p:sp>
        <p:nvSpPr>
          <p:cNvPr id="72" name="矩形 71"/>
          <p:cNvSpPr/>
          <p:nvPr/>
        </p:nvSpPr>
        <p:spPr>
          <a:xfrm>
            <a:off x="6775450" y="1651060"/>
            <a:ext cx="1600200" cy="685800"/>
          </a:xfrm>
          <a:prstGeom prst="rect">
            <a:avLst/>
          </a:prstGeom>
          <a:noFill/>
          <a:ln w="12700" cap="flat" cmpd="sng" algn="ctr">
            <a:solidFill>
              <a:schemeClr val="tx1"/>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rgbClr val="FFFFFF"/>
              </a:solidFill>
              <a:effectLst/>
              <a:uLnTx/>
              <a:uFillTx/>
              <a:latin typeface="微软雅黑" pitchFamily="34" charset="-122"/>
              <a:ea typeface="微软雅黑" pitchFamily="34" charset="-122"/>
            </a:endParaRPr>
          </a:p>
        </p:txBody>
      </p:sp>
      <p:sp>
        <p:nvSpPr>
          <p:cNvPr id="73" name="Rectangle 275"/>
          <p:cNvSpPr>
            <a:spLocks noChangeArrowheads="1"/>
          </p:cNvSpPr>
          <p:nvPr/>
        </p:nvSpPr>
        <p:spPr bwMode="auto">
          <a:xfrm>
            <a:off x="40005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4" name="Rectangle 276"/>
          <p:cNvSpPr>
            <a:spLocks noChangeArrowheads="1"/>
          </p:cNvSpPr>
          <p:nvPr/>
        </p:nvSpPr>
        <p:spPr bwMode="auto">
          <a:xfrm>
            <a:off x="411797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5" name="Rectangle 277"/>
          <p:cNvSpPr>
            <a:spLocks noChangeArrowheads="1"/>
          </p:cNvSpPr>
          <p:nvPr/>
        </p:nvSpPr>
        <p:spPr bwMode="auto">
          <a:xfrm>
            <a:off x="46418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6" name="Rectangle 278"/>
          <p:cNvSpPr>
            <a:spLocks noChangeArrowheads="1"/>
          </p:cNvSpPr>
          <p:nvPr/>
        </p:nvSpPr>
        <p:spPr bwMode="auto">
          <a:xfrm>
            <a:off x="36957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7" name="Rectangle 279"/>
          <p:cNvSpPr>
            <a:spLocks noChangeArrowheads="1"/>
          </p:cNvSpPr>
          <p:nvPr/>
        </p:nvSpPr>
        <p:spPr bwMode="auto">
          <a:xfrm>
            <a:off x="4818063"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8" name="Rectangle 280"/>
          <p:cNvSpPr>
            <a:spLocks noChangeArrowheads="1"/>
          </p:cNvSpPr>
          <p:nvPr/>
        </p:nvSpPr>
        <p:spPr bwMode="auto">
          <a:xfrm>
            <a:off x="49149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79" name="Rectangle 281"/>
          <p:cNvSpPr>
            <a:spLocks noChangeArrowheads="1"/>
          </p:cNvSpPr>
          <p:nvPr/>
        </p:nvSpPr>
        <p:spPr bwMode="auto">
          <a:xfrm>
            <a:off x="52673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1" name="Rectangle 278"/>
          <p:cNvSpPr>
            <a:spLocks noChangeArrowheads="1"/>
          </p:cNvSpPr>
          <p:nvPr/>
        </p:nvSpPr>
        <p:spPr bwMode="auto">
          <a:xfrm>
            <a:off x="38036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2" name="Rectangle 278"/>
          <p:cNvSpPr>
            <a:spLocks noChangeArrowheads="1"/>
          </p:cNvSpPr>
          <p:nvPr/>
        </p:nvSpPr>
        <p:spPr bwMode="auto">
          <a:xfrm>
            <a:off x="42291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3" name="Rectangle 278"/>
          <p:cNvSpPr>
            <a:spLocks noChangeArrowheads="1"/>
          </p:cNvSpPr>
          <p:nvPr/>
        </p:nvSpPr>
        <p:spPr bwMode="auto">
          <a:xfrm>
            <a:off x="4337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4" name="Rectangle 269"/>
          <p:cNvSpPr>
            <a:spLocks noChangeArrowheads="1"/>
          </p:cNvSpPr>
          <p:nvPr/>
        </p:nvSpPr>
        <p:spPr bwMode="auto">
          <a:xfrm>
            <a:off x="53801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5" name="Rectangle 281"/>
          <p:cNvSpPr>
            <a:spLocks noChangeArrowheads="1"/>
          </p:cNvSpPr>
          <p:nvPr/>
        </p:nvSpPr>
        <p:spPr bwMode="auto">
          <a:xfrm>
            <a:off x="5099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6" name="Rectangle 281"/>
          <p:cNvSpPr>
            <a:spLocks noChangeArrowheads="1"/>
          </p:cNvSpPr>
          <p:nvPr/>
        </p:nvSpPr>
        <p:spPr bwMode="auto">
          <a:xfrm>
            <a:off x="54197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7" name="Rectangle 270"/>
          <p:cNvSpPr>
            <a:spLocks noChangeArrowheads="1"/>
          </p:cNvSpPr>
          <p:nvPr/>
        </p:nvSpPr>
        <p:spPr bwMode="auto">
          <a:xfrm>
            <a:off x="59182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8" name="Rectangle 277"/>
          <p:cNvSpPr>
            <a:spLocks noChangeArrowheads="1"/>
          </p:cNvSpPr>
          <p:nvPr/>
        </p:nvSpPr>
        <p:spPr bwMode="auto">
          <a:xfrm>
            <a:off x="44894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
        <p:nvSpPr>
          <p:cNvPr id="89" name="Rectangle 281"/>
          <p:cNvSpPr>
            <a:spLocks noChangeArrowheads="1"/>
          </p:cNvSpPr>
          <p:nvPr/>
        </p:nvSpPr>
        <p:spPr bwMode="auto">
          <a:xfrm>
            <a:off x="53276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1" i="0" u="none" strike="noStrike" kern="0" cap="none" spc="0" normalizeH="0" baseline="0" noProof="0">
              <a:ln>
                <a:noFill/>
              </a:ln>
              <a:solidFill>
                <a:sysClr val="windowText" lastClr="000000"/>
              </a:solidFill>
              <a:effectLst/>
              <a:uLnTx/>
              <a:uFillTx/>
              <a:latin typeface="微软雅黑" pitchFamily="34" charset="-122"/>
              <a:ea typeface="微软雅黑" pitchFamily="34" charset="-122"/>
            </a:endParaRPr>
          </a:p>
        </p:txBody>
      </p:sp>
    </p:spTree>
    <p:extLst>
      <p:ext uri="{BB962C8B-B14F-4D97-AF65-F5344CB8AC3E}">
        <p14:creationId xmlns:p14="http://schemas.microsoft.com/office/powerpoint/2010/main" val="1526697198"/>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 name="AutoShape 5"/>
          <p:cNvSpPr>
            <a:spLocks noChangeArrowheads="1"/>
          </p:cNvSpPr>
          <p:nvPr/>
        </p:nvSpPr>
        <p:spPr bwMode="auto">
          <a:xfrm>
            <a:off x="556963" y="6121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784" name="Rectangle 6"/>
          <p:cNvSpPr>
            <a:spLocks noChangeArrowheads="1"/>
          </p:cNvSpPr>
          <p:nvPr/>
        </p:nvSpPr>
        <p:spPr bwMode="auto">
          <a:xfrm>
            <a:off x="4030179" y="578951"/>
            <a:ext cx="1102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BT </a:t>
            </a:r>
            <a:r>
              <a:rPr lang="zh-CN" altLang="en-US" sz="2000" b="1" dirty="0">
                <a:solidFill>
                  <a:schemeClr val="bg1"/>
                </a:solidFill>
                <a:latin typeface="微软雅黑" pitchFamily="34" charset="-122"/>
                <a:ea typeface="微软雅黑" pitchFamily="34" charset="-122"/>
              </a:rPr>
              <a:t>协议</a:t>
            </a:r>
          </a:p>
        </p:txBody>
      </p:sp>
      <p:sp>
        <p:nvSpPr>
          <p:cNvPr id="2785" name="Rectangle 68"/>
          <p:cNvSpPr>
            <a:spLocks noChangeArrowheads="1"/>
          </p:cNvSpPr>
          <p:nvPr/>
        </p:nvSpPr>
        <p:spPr bwMode="auto">
          <a:xfrm>
            <a:off x="556963" y="963310"/>
            <a:ext cx="804877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哪些文件块是</a:t>
            </a:r>
            <a:r>
              <a:rPr lang="zh-CN" altLang="en-US" sz="2000" b="1" dirty="0">
                <a:solidFill>
                  <a:srgbClr val="0000FF"/>
                </a:solidFill>
                <a:latin typeface="微软雅黑" pitchFamily="34" charset="-122"/>
                <a:ea typeface="微软雅黑" pitchFamily="34" charset="-122"/>
              </a:rPr>
              <a:t>首先</a:t>
            </a:r>
            <a:r>
              <a:rPr lang="zh-CN" altLang="en-US" sz="2000" b="1" dirty="0">
                <a:latin typeface="微软雅黑" pitchFamily="34" charset="-122"/>
                <a:ea typeface="微软雅黑" pitchFamily="34" charset="-122"/>
              </a:rPr>
              <a:t>需要</a:t>
            </a:r>
            <a:r>
              <a:rPr lang="zh-CN" altLang="en-US" sz="2000" b="1" dirty="0">
                <a:solidFill>
                  <a:srgbClr val="0000FF"/>
                </a:solidFill>
                <a:latin typeface="微软雅黑" pitchFamily="34" charset="-122"/>
                <a:ea typeface="微软雅黑" pitchFamily="34" charset="-122"/>
              </a:rPr>
              <a:t>向其相邻</a:t>
            </a:r>
            <a:r>
              <a:rPr lang="zh-CN" altLang="en-US" sz="2000" b="1" dirty="0">
                <a:latin typeface="微软雅黑" pitchFamily="34" charset="-122"/>
                <a:ea typeface="微软雅黑" pitchFamily="34" charset="-122"/>
              </a:rPr>
              <a:t>对等方请求的？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方法：</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最稀有的优先 </a:t>
            </a:r>
            <a:r>
              <a:rPr lang="en-US" altLang="zh-CN" sz="2000" b="1" dirty="0">
                <a:latin typeface="微软雅黑" pitchFamily="34" charset="-122"/>
                <a:ea typeface="微软雅黑" pitchFamily="34" charset="-122"/>
              </a:rPr>
              <a:t>(rarest first) </a:t>
            </a:r>
            <a:r>
              <a:rPr lang="zh-CN" altLang="en-US" sz="2000" b="1" dirty="0">
                <a:latin typeface="微软雅黑" pitchFamily="34" charset="-122"/>
                <a:ea typeface="微软雅黑" pitchFamily="34" charset="-122"/>
              </a:rPr>
              <a:t>的技术，首先向其相邻对等方请求对应的文件块。</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C00CC"/>
                </a:solidFill>
                <a:latin typeface="微软雅黑" pitchFamily="34" charset="-122"/>
                <a:ea typeface="微软雅黑" pitchFamily="34" charset="-122"/>
              </a:rPr>
              <a:t>稀有：</a:t>
            </a:r>
            <a:r>
              <a:rPr lang="zh-CN" altLang="en-US" sz="2000" b="1" dirty="0">
                <a:latin typeface="微软雅黑" pitchFamily="34" charset="-122"/>
                <a:ea typeface="微软雅黑" pitchFamily="34" charset="-122"/>
              </a:rPr>
              <a:t>如果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所缺少的文件块在相邻对等方中的副本很少，那就是“很稀有的”。</a:t>
            </a:r>
            <a:endParaRPr lang="en-US" altLang="zh-CN"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问题：</a:t>
            </a:r>
            <a:r>
              <a:rPr lang="zh-CN" altLang="en-US" sz="2000" b="1" dirty="0">
                <a:latin typeface="微软雅黑" pitchFamily="34" charset="-122"/>
                <a:ea typeface="微软雅黑" pitchFamily="34" charset="-122"/>
              </a:rPr>
              <a:t>在很多向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请求文件块的相邻对等方中，</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应当向哪些相邻对等方发送所请求的文件块？</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凡当前以</a:t>
            </a:r>
            <a:r>
              <a:rPr lang="zh-CN" altLang="en-US" sz="2000" b="1" dirty="0">
                <a:solidFill>
                  <a:srgbClr val="C00000"/>
                </a:solidFill>
                <a:latin typeface="微软雅黑" pitchFamily="34" charset="-122"/>
                <a:ea typeface="微软雅黑" pitchFamily="34" charset="-122"/>
              </a:rPr>
              <a:t>最高数据率</a:t>
            </a:r>
            <a:r>
              <a:rPr lang="zh-CN" altLang="en-US" sz="2000" b="1" dirty="0">
                <a:latin typeface="微软雅黑" pitchFamily="34" charset="-122"/>
                <a:ea typeface="微软雅黑" pitchFamily="34" charset="-122"/>
              </a:rPr>
              <a:t>向 </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传送文件块的某相邻对等方，</a:t>
            </a:r>
            <a:r>
              <a:rPr lang="en-US" altLang="zh-CN" sz="2000" b="1" dirty="0">
                <a:latin typeface="微软雅黑" pitchFamily="34" charset="-122"/>
                <a:ea typeface="微软雅黑" pitchFamily="34" charset="-122"/>
              </a:rPr>
              <a:t>A </a:t>
            </a:r>
            <a:r>
              <a:rPr lang="zh-CN" altLang="en-US" sz="2000" b="1" dirty="0">
                <a:latin typeface="微软雅黑" pitchFamily="34" charset="-122"/>
                <a:ea typeface="微软雅黑" pitchFamily="34" charset="-122"/>
              </a:rPr>
              <a:t>就</a:t>
            </a:r>
            <a:r>
              <a:rPr lang="zh-CN" altLang="en-US" sz="2000" b="1" dirty="0">
                <a:solidFill>
                  <a:srgbClr val="C00000"/>
                </a:solidFill>
                <a:latin typeface="微软雅黑" pitchFamily="34" charset="-122"/>
                <a:ea typeface="微软雅黑" pitchFamily="34" charset="-122"/>
              </a:rPr>
              <a:t>优先</a:t>
            </a:r>
            <a:r>
              <a:rPr lang="zh-CN" altLang="en-US" sz="2000" b="1" dirty="0">
                <a:latin typeface="微软雅黑" pitchFamily="34" charset="-122"/>
                <a:ea typeface="微软雅黑" pitchFamily="34" charset="-122"/>
              </a:rPr>
              <a:t>把所请求的文件块传送给该相邻对等方。</a:t>
            </a:r>
          </a:p>
        </p:txBody>
      </p:sp>
    </p:spTree>
    <p:extLst>
      <p:ext uri="{BB962C8B-B14F-4D97-AF65-F5344CB8AC3E}">
        <p14:creationId xmlns:p14="http://schemas.microsoft.com/office/powerpoint/2010/main" val="24808180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8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2785">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785">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8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 grpId="0" uiExpand="1" build="p"/>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0857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6304"/>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6.9.3  P2P </a:t>
            </a:r>
            <a:r>
              <a:rPr lang="zh-CN" altLang="en-US" sz="2400" b="1" dirty="0">
                <a:solidFill>
                  <a:schemeClr val="bg1"/>
                </a:solidFill>
                <a:latin typeface="微软雅黑" pitchFamily="34" charset="-122"/>
                <a:ea typeface="微软雅黑" pitchFamily="34" charset="-122"/>
              </a:rPr>
              <a:t>文件分发的分析</a:t>
            </a:r>
          </a:p>
        </p:txBody>
      </p:sp>
      <p:sp>
        <p:nvSpPr>
          <p:cNvPr id="15" name="Rectangle 68"/>
          <p:cNvSpPr>
            <a:spLocks noChangeArrowheads="1"/>
          </p:cNvSpPr>
          <p:nvPr/>
        </p:nvSpPr>
        <p:spPr bwMode="auto">
          <a:xfrm>
            <a:off x="556963" y="1021080"/>
            <a:ext cx="8048776"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buClr>
                <a:srgbClr val="0070C0"/>
              </a:buClr>
            </a:pPr>
            <a:r>
              <a:rPr lang="zh-CN" altLang="en-US" sz="2000" b="1" dirty="0">
                <a:latin typeface="微软雅黑" pitchFamily="34" charset="-122"/>
                <a:ea typeface="微软雅黑" pitchFamily="34" charset="-122"/>
              </a:rPr>
              <a:t>一些概念：</a:t>
            </a:r>
            <a:endParaRPr lang="en-US" altLang="zh-CN" sz="2000" b="1" dirty="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从互联网传送数据到主机，叫做</a:t>
            </a:r>
            <a:r>
              <a:rPr lang="zh-CN" altLang="en-US" sz="2000" b="1" dirty="0">
                <a:solidFill>
                  <a:srgbClr val="C00000"/>
                </a:solidFill>
                <a:latin typeface="微软雅黑" pitchFamily="34" charset="-122"/>
                <a:ea typeface="微软雅黑" pitchFamily="34" charset="-122"/>
              </a:rPr>
              <a:t>下载</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(download)</a:t>
            </a:r>
            <a:r>
              <a:rPr lang="zh-CN" altLang="en-US" sz="2000" b="1" dirty="0">
                <a:latin typeface="微软雅黑" pitchFamily="34" charset="-122"/>
                <a:ea typeface="微软雅黑" pitchFamily="34" charset="-122"/>
              </a:rPr>
              <a:t>，</a:t>
            </a: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从主机向互联网传送，则称为</a:t>
            </a:r>
            <a:r>
              <a:rPr lang="zh-CN" altLang="en-US" sz="2000" b="1" dirty="0">
                <a:solidFill>
                  <a:srgbClr val="C00000"/>
                </a:solidFill>
                <a:latin typeface="微软雅黑" pitchFamily="34" charset="-122"/>
                <a:ea typeface="微软雅黑" pitchFamily="34" charset="-122"/>
              </a:rPr>
              <a:t>上传</a:t>
            </a:r>
            <a:r>
              <a:rPr lang="zh-CN" altLang="en-US" sz="2000" b="1" dirty="0">
                <a:solidFill>
                  <a:srgbClr val="0000FF"/>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(upload) </a:t>
            </a:r>
            <a:r>
              <a:rPr lang="zh-CN" altLang="en-US" sz="2000" b="1" dirty="0">
                <a:latin typeface="微软雅黑" pitchFamily="34" charset="-122"/>
                <a:ea typeface="微软雅黑" pitchFamily="34" charset="-122"/>
              </a:rPr>
              <a:t>或</a:t>
            </a:r>
            <a:r>
              <a:rPr lang="zh-CN" altLang="en-US" sz="2000" b="1" dirty="0">
                <a:solidFill>
                  <a:srgbClr val="C00000"/>
                </a:solidFill>
                <a:latin typeface="微软雅黑" pitchFamily="34" charset="-122"/>
                <a:ea typeface="微软雅黑" pitchFamily="34" charset="-122"/>
              </a:rPr>
              <a:t>上载。</a:t>
            </a:r>
          </a:p>
        </p:txBody>
      </p:sp>
    </p:spTree>
    <p:extLst>
      <p:ext uri="{BB962C8B-B14F-4D97-AF65-F5344CB8AC3E}">
        <p14:creationId xmlns:p14="http://schemas.microsoft.com/office/powerpoint/2010/main" val="1614243476"/>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025899" y="1078992"/>
            <a:ext cx="5579840"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991929" y="2252778"/>
            <a:ext cx="485811" cy="680135"/>
          </a:xfrm>
          <a:prstGeom prst="rect">
            <a:avLst/>
          </a:prstGeom>
        </p:spPr>
      </p:pic>
      <p:pic>
        <p:nvPicPr>
          <p:cNvPr id="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49099" y="2123431"/>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83968" y="127560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80312" y="1347614"/>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51920" y="3363838"/>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84168" y="379588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96336" y="3363838"/>
            <a:ext cx="499399" cy="499400"/>
          </a:xfrm>
          <a:prstGeom prst="rect">
            <a:avLst/>
          </a:prstGeom>
          <a:noFill/>
          <a:extLst>
            <a:ext uri="{909E8E84-426E-40DD-AFC4-6F175D3DCCD1}">
              <a14:hiddenFill xmlns:a14="http://schemas.microsoft.com/office/drawing/2010/main">
                <a:solidFill>
                  <a:srgbClr val="FFFFFF"/>
                </a:solidFill>
              </a14:hiddenFill>
            </a:ext>
          </a:extLst>
        </p:spPr>
      </p:pic>
      <p:sp>
        <p:nvSpPr>
          <p:cNvPr id="13" name="AutoShape 5"/>
          <p:cNvSpPr>
            <a:spLocks noChangeArrowheads="1"/>
          </p:cNvSpPr>
          <p:nvPr/>
        </p:nvSpPr>
        <p:spPr bwMode="auto">
          <a:xfrm>
            <a:off x="556963" y="61166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9398"/>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6.9.3  P2P </a:t>
            </a:r>
            <a:r>
              <a:rPr lang="zh-CN" altLang="en-US" sz="2400" b="1" dirty="0">
                <a:solidFill>
                  <a:schemeClr val="bg1"/>
                </a:solidFill>
                <a:latin typeface="微软雅黑" pitchFamily="34" charset="-122"/>
                <a:ea typeface="微软雅黑" pitchFamily="34" charset="-122"/>
              </a:rPr>
              <a:t>文件分发的分析</a:t>
            </a:r>
          </a:p>
        </p:txBody>
      </p:sp>
      <p:sp>
        <p:nvSpPr>
          <p:cNvPr id="15" name="Rectangle 68"/>
          <p:cNvSpPr>
            <a:spLocks noChangeArrowheads="1"/>
          </p:cNvSpPr>
          <p:nvPr/>
        </p:nvSpPr>
        <p:spPr bwMode="auto">
          <a:xfrm>
            <a:off x="483810" y="997540"/>
            <a:ext cx="2579430"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有 </a:t>
            </a:r>
            <a:r>
              <a:rPr lang="en-US" altLang="zh-CN" sz="2000" b="1" i="1"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台主机从服务器</a:t>
            </a:r>
            <a:r>
              <a:rPr lang="zh-CN" altLang="en-US" sz="2000" b="1" dirty="0">
                <a:solidFill>
                  <a:srgbClr val="C00000"/>
                </a:solidFill>
                <a:latin typeface="微软雅黑" pitchFamily="34" charset="-122"/>
                <a:ea typeface="微软雅黑" pitchFamily="34" charset="-122"/>
              </a:rPr>
              <a:t>下载</a:t>
            </a:r>
            <a:r>
              <a:rPr lang="zh-CN" altLang="en-US" sz="2000" b="1" dirty="0">
                <a:latin typeface="微软雅黑" pitchFamily="34" charset="-122"/>
                <a:ea typeface="微软雅黑" pitchFamily="34" charset="-122"/>
              </a:rPr>
              <a:t>一个大文件，其长度为 </a:t>
            </a:r>
            <a:r>
              <a:rPr lang="en-US" altLang="zh-CN" sz="2000" b="1" i="1" dirty="0">
                <a:latin typeface="微软雅黑" pitchFamily="34" charset="-122"/>
                <a:ea typeface="微软雅黑" pitchFamily="34" charset="-122"/>
              </a:rPr>
              <a:t>F</a:t>
            </a:r>
            <a:r>
              <a:rPr lang="en-US" altLang="zh-CN" sz="2000" b="1" dirty="0">
                <a:latin typeface="微软雅黑" pitchFamily="34" charset="-122"/>
                <a:ea typeface="微软雅黑" pitchFamily="34" charset="-122"/>
              </a:rPr>
              <a:t> bit</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2900"/>
              </a:lnSpc>
              <a:buClr>
                <a:srgbClr val="0070C0"/>
              </a:buClr>
              <a:buFont typeface="Wingdings" pitchFamily="2" charset="2"/>
              <a:buChar char="l"/>
            </a:pPr>
            <a:r>
              <a:rPr lang="zh-CN" altLang="en-US" sz="2000" b="1" dirty="0">
                <a:latin typeface="微软雅黑" pitchFamily="34" charset="-122"/>
                <a:ea typeface="微软雅黑" pitchFamily="34" charset="-122"/>
              </a:rPr>
              <a:t>假定主机与互联网连接的链路的上传速率和下载速率分别为 </a:t>
            </a:r>
            <a:r>
              <a:rPr lang="en-US" altLang="zh-CN" sz="2000" b="1" i="1" dirty="0" err="1">
                <a:latin typeface="微软雅黑" pitchFamily="34" charset="-122"/>
                <a:ea typeface="微软雅黑" pitchFamily="34" charset="-122"/>
              </a:rPr>
              <a:t>u</a:t>
            </a:r>
            <a:r>
              <a:rPr lang="en-US" altLang="zh-CN" sz="2000" b="1" i="1" baseline="-25000" dirty="0" err="1">
                <a:latin typeface="微软雅黑" pitchFamily="34" charset="-122"/>
                <a:ea typeface="微软雅黑" pitchFamily="34" charset="-122"/>
              </a:rPr>
              <a:t>i</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和 </a:t>
            </a:r>
            <a:r>
              <a:rPr lang="en-US" altLang="zh-CN" sz="2000" b="1" i="1" dirty="0">
                <a:latin typeface="微软雅黑" pitchFamily="34" charset="-122"/>
                <a:ea typeface="微软雅黑" pitchFamily="34" charset="-122"/>
              </a:rPr>
              <a:t>d</a:t>
            </a:r>
            <a:r>
              <a:rPr lang="en-US" altLang="zh-CN" sz="2000" b="1" i="1" baseline="-25000" dirty="0">
                <a:latin typeface="微软雅黑" pitchFamily="34" charset="-122"/>
                <a:ea typeface="微软雅黑" pitchFamily="34" charset="-122"/>
              </a:rPr>
              <a:t>i</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，单位都是 </a:t>
            </a:r>
            <a:r>
              <a:rPr lang="en-US" altLang="zh-CN" sz="2000" b="1" dirty="0">
                <a:latin typeface="微软雅黑" pitchFamily="34" charset="-122"/>
                <a:ea typeface="微软雅黑" pitchFamily="34" charset="-122"/>
              </a:rPr>
              <a:t>bit/s</a:t>
            </a:r>
            <a:r>
              <a:rPr lang="zh-CN" altLang="en-US" sz="2000" b="1" dirty="0">
                <a:latin typeface="微软雅黑" pitchFamily="34" charset="-122"/>
                <a:ea typeface="微软雅黑" pitchFamily="34" charset="-122"/>
              </a:rPr>
              <a:t>。</a:t>
            </a:r>
          </a:p>
        </p:txBody>
      </p:sp>
      <p:grpSp>
        <p:nvGrpSpPr>
          <p:cNvPr id="16" name="Group 457"/>
          <p:cNvGrpSpPr>
            <a:grpSpLocks/>
          </p:cNvGrpSpPr>
          <p:nvPr/>
        </p:nvGrpSpPr>
        <p:grpSpPr bwMode="auto">
          <a:xfrm>
            <a:off x="4455943" y="1763255"/>
            <a:ext cx="2715518" cy="1471274"/>
            <a:chOff x="1776" y="2768"/>
            <a:chExt cx="1824" cy="736"/>
          </a:xfrm>
          <a:solidFill>
            <a:schemeClr val="bg1">
              <a:lumMod val="95000"/>
            </a:schemeClr>
          </a:solidFill>
          <a:effectLst>
            <a:outerShdw blurRad="50800" dist="38100" dir="2700000" algn="tl" rotWithShape="0">
              <a:prstClr val="black">
                <a:alpha val="40000"/>
              </a:prstClr>
            </a:outerShdw>
          </a:effectLst>
        </p:grpSpPr>
        <p:grpSp>
          <p:nvGrpSpPr>
            <p:cNvPr id="17" name="Group 458"/>
            <p:cNvGrpSpPr>
              <a:grpSpLocks/>
            </p:cNvGrpSpPr>
            <p:nvPr/>
          </p:nvGrpSpPr>
          <p:grpSpPr bwMode="auto">
            <a:xfrm>
              <a:off x="1787" y="2783"/>
              <a:ext cx="1813" cy="721"/>
              <a:chOff x="1787" y="2783"/>
              <a:chExt cx="1813" cy="721"/>
            </a:xfrm>
            <a:grpFill/>
          </p:grpSpPr>
          <p:sp>
            <p:nvSpPr>
              <p:cNvPr id="27"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8"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9"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0"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1"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2"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3"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4"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35"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18"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19"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0"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1"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2"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3"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4"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5"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sp>
          <p:nvSpPr>
            <p:cNvPr id="26"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itchFamily="34" charset="-122"/>
                <a:ea typeface="微软雅黑" pitchFamily="34" charset="-122"/>
              </a:endParaRPr>
            </a:p>
          </p:txBody>
        </p:sp>
      </p:grpSp>
      <p:sp>
        <p:nvSpPr>
          <p:cNvPr id="36" name="Text Box 477"/>
          <p:cNvSpPr txBox="1">
            <a:spLocks noChangeArrowheads="1"/>
          </p:cNvSpPr>
          <p:nvPr/>
        </p:nvSpPr>
        <p:spPr bwMode="auto">
          <a:xfrm>
            <a:off x="5514942" y="2331284"/>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600" b="1" dirty="0">
                <a:solidFill>
                  <a:sysClr val="windowText" lastClr="000000"/>
                </a:solidFill>
                <a:latin typeface="微软雅黑" pitchFamily="34" charset="-122"/>
                <a:ea typeface="微软雅黑" pitchFamily="34" charset="-122"/>
              </a:rPr>
              <a:t>互联网</a:t>
            </a:r>
          </a:p>
        </p:txBody>
      </p:sp>
      <p:sp>
        <p:nvSpPr>
          <p:cNvPr id="37" name="Line 479"/>
          <p:cNvSpPr>
            <a:spLocks noChangeShapeType="1"/>
          </p:cNvSpPr>
          <p:nvPr/>
        </p:nvSpPr>
        <p:spPr bwMode="auto">
          <a:xfrm>
            <a:off x="3635866" y="2326194"/>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 name="Line 480"/>
          <p:cNvSpPr>
            <a:spLocks noChangeShapeType="1"/>
          </p:cNvSpPr>
          <p:nvPr/>
        </p:nvSpPr>
        <p:spPr bwMode="auto">
          <a:xfrm rot="10800000">
            <a:off x="3533073" y="2413021"/>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 name="Text Box 482"/>
          <p:cNvSpPr txBox="1">
            <a:spLocks noChangeArrowheads="1"/>
          </p:cNvSpPr>
          <p:nvPr/>
        </p:nvSpPr>
        <p:spPr bwMode="auto">
          <a:xfrm>
            <a:off x="7887628" y="290702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400" b="1" dirty="0">
                <a:solidFill>
                  <a:sysClr val="windowText" lastClr="000000"/>
                </a:solidFill>
                <a:latin typeface="微软雅黑" pitchFamily="34" charset="-122"/>
                <a:ea typeface="微软雅黑" pitchFamily="34" charset="-122"/>
              </a:rPr>
              <a:t>服务器</a:t>
            </a:r>
          </a:p>
        </p:txBody>
      </p:sp>
      <p:sp>
        <p:nvSpPr>
          <p:cNvPr id="40" name="Text Box 2748"/>
          <p:cNvSpPr txBox="1">
            <a:spLocks noChangeArrowheads="1"/>
          </p:cNvSpPr>
          <p:nvPr/>
        </p:nvSpPr>
        <p:spPr bwMode="auto">
          <a:xfrm>
            <a:off x="5787721" y="1393051"/>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a:solidFill>
                  <a:srgbClr val="0000FF"/>
                </a:solidFill>
                <a:latin typeface="微软雅黑" pitchFamily="34" charset="-122"/>
                <a:ea typeface="微软雅黑" pitchFamily="34" charset="-122"/>
                <a:sym typeface="Symbol" pitchFamily="18" charset="2"/>
              </a:rPr>
              <a:t></a:t>
            </a:r>
          </a:p>
        </p:txBody>
      </p:sp>
      <p:sp>
        <p:nvSpPr>
          <p:cNvPr id="41" name="Line 2750"/>
          <p:cNvSpPr>
            <a:spLocks noChangeShapeType="1"/>
          </p:cNvSpPr>
          <p:nvPr/>
        </p:nvSpPr>
        <p:spPr bwMode="auto">
          <a:xfrm rot="816166">
            <a:off x="4773355" y="1601052"/>
            <a:ext cx="820078" cy="172699"/>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2" name="Line 2751"/>
          <p:cNvSpPr>
            <a:spLocks noChangeShapeType="1"/>
          </p:cNvSpPr>
          <p:nvPr/>
        </p:nvSpPr>
        <p:spPr bwMode="auto">
          <a:xfrm rot="11616166">
            <a:off x="4647972" y="1670705"/>
            <a:ext cx="87203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3" name="Line 2753"/>
          <p:cNvSpPr>
            <a:spLocks noChangeShapeType="1"/>
          </p:cNvSpPr>
          <p:nvPr/>
        </p:nvSpPr>
        <p:spPr bwMode="auto">
          <a:xfrm rot="18950026">
            <a:off x="4200657" y="3130530"/>
            <a:ext cx="82007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4" name="Line 2754"/>
          <p:cNvSpPr>
            <a:spLocks noChangeShapeType="1"/>
          </p:cNvSpPr>
          <p:nvPr/>
        </p:nvSpPr>
        <p:spPr bwMode="auto">
          <a:xfrm rot="8150026">
            <a:off x="4191620" y="3238346"/>
            <a:ext cx="87203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5" name="Line 2756"/>
          <p:cNvSpPr>
            <a:spLocks noChangeShapeType="1"/>
          </p:cNvSpPr>
          <p:nvPr/>
        </p:nvSpPr>
        <p:spPr bwMode="auto">
          <a:xfrm rot="13567995">
            <a:off x="5778552" y="3434763"/>
            <a:ext cx="692701" cy="204455"/>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6" name="Line 2757"/>
          <p:cNvSpPr>
            <a:spLocks noChangeShapeType="1"/>
          </p:cNvSpPr>
          <p:nvPr/>
        </p:nvSpPr>
        <p:spPr bwMode="auto">
          <a:xfrm rot="2767995">
            <a:off x="5884250" y="3421405"/>
            <a:ext cx="736591" cy="204454"/>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7" name="Line 2759"/>
          <p:cNvSpPr>
            <a:spLocks noChangeShapeType="1"/>
          </p:cNvSpPr>
          <p:nvPr/>
        </p:nvSpPr>
        <p:spPr bwMode="auto">
          <a:xfrm rot="18997895">
            <a:off x="6607799" y="1700282"/>
            <a:ext cx="820078" cy="172699"/>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8" name="Line 2760"/>
          <p:cNvSpPr>
            <a:spLocks noChangeShapeType="1"/>
          </p:cNvSpPr>
          <p:nvPr/>
        </p:nvSpPr>
        <p:spPr bwMode="auto">
          <a:xfrm rot="8197895">
            <a:off x="6769329" y="1752760"/>
            <a:ext cx="704860" cy="140257"/>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49" name="Line 2762"/>
          <p:cNvSpPr>
            <a:spLocks noChangeShapeType="1"/>
          </p:cNvSpPr>
          <p:nvPr/>
        </p:nvSpPr>
        <p:spPr bwMode="auto">
          <a:xfrm rot="1048487">
            <a:off x="6967007" y="3119080"/>
            <a:ext cx="820078" cy="17269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0" name="Line 2763"/>
          <p:cNvSpPr>
            <a:spLocks noChangeShapeType="1"/>
          </p:cNvSpPr>
          <p:nvPr/>
        </p:nvSpPr>
        <p:spPr bwMode="auto">
          <a:xfrm rot="11848487">
            <a:off x="6837104" y="3182053"/>
            <a:ext cx="872038" cy="172698"/>
          </a:xfrm>
          <a:prstGeom prst="line">
            <a:avLst/>
          </a:prstGeom>
          <a:noFill/>
          <a:ln w="28575">
            <a:solidFill>
              <a:srgbClr val="CC00CC"/>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1" name="Line 2764"/>
          <p:cNvSpPr>
            <a:spLocks noChangeShapeType="1"/>
          </p:cNvSpPr>
          <p:nvPr/>
        </p:nvSpPr>
        <p:spPr bwMode="auto">
          <a:xfrm rot="10046881">
            <a:off x="7217774" y="2523146"/>
            <a:ext cx="769247" cy="129762"/>
          </a:xfrm>
          <a:prstGeom prst="line">
            <a:avLst/>
          </a:prstGeom>
          <a:noFill/>
          <a:ln w="57150">
            <a:solidFill>
              <a:srgbClr val="FF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itchFamily="34" charset="-122"/>
              <a:ea typeface="微软雅黑" pitchFamily="34" charset="-122"/>
            </a:endParaRPr>
          </a:p>
        </p:txBody>
      </p:sp>
      <p:sp>
        <p:nvSpPr>
          <p:cNvPr id="52" name="Text Box 2765"/>
          <p:cNvSpPr txBox="1">
            <a:spLocks noChangeArrowheads="1"/>
          </p:cNvSpPr>
          <p:nvPr/>
        </p:nvSpPr>
        <p:spPr bwMode="auto">
          <a:xfrm>
            <a:off x="7874492" y="1972449"/>
            <a:ext cx="6447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1400" b="1" dirty="0">
                <a:solidFill>
                  <a:sysClr val="windowText" lastClr="000000"/>
                </a:solidFill>
                <a:latin typeface="微软雅黑" pitchFamily="34" charset="-122"/>
                <a:ea typeface="微软雅黑" pitchFamily="34" charset="-122"/>
              </a:rPr>
              <a:t>文件</a:t>
            </a:r>
            <a:r>
              <a:rPr kumimoji="1" lang="en-US" altLang="zh-CN" sz="1400" b="1" i="1" dirty="0">
                <a:solidFill>
                  <a:sysClr val="windowText" lastClr="000000"/>
                </a:solidFill>
                <a:latin typeface="微软雅黑" pitchFamily="34" charset="-122"/>
                <a:ea typeface="微软雅黑" pitchFamily="34" charset="-122"/>
              </a:rPr>
              <a:t>F</a:t>
            </a:r>
          </a:p>
        </p:txBody>
      </p:sp>
      <p:sp>
        <p:nvSpPr>
          <p:cNvPr id="53" name="Text Box 2766"/>
          <p:cNvSpPr txBox="1">
            <a:spLocks noChangeArrowheads="1"/>
          </p:cNvSpPr>
          <p:nvPr/>
        </p:nvSpPr>
        <p:spPr bwMode="auto">
          <a:xfrm>
            <a:off x="7493392" y="2252726"/>
            <a:ext cx="36099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i="1" baseline="-25000">
                <a:solidFill>
                  <a:srgbClr val="0000FF"/>
                </a:solidFill>
                <a:latin typeface="微软雅黑" pitchFamily="34" charset="-122"/>
                <a:ea typeface="微软雅黑" pitchFamily="34" charset="-122"/>
              </a:rPr>
              <a:t>s</a:t>
            </a:r>
          </a:p>
        </p:txBody>
      </p:sp>
      <p:sp>
        <p:nvSpPr>
          <p:cNvPr id="54" name="Text Box 2767"/>
          <p:cNvSpPr txBox="1">
            <a:spLocks noChangeArrowheads="1"/>
          </p:cNvSpPr>
          <p:nvPr/>
        </p:nvSpPr>
        <p:spPr bwMode="auto">
          <a:xfrm>
            <a:off x="7075610" y="1717219"/>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u</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55" name="Text Box 2768"/>
          <p:cNvSpPr txBox="1">
            <a:spLocks noChangeArrowheads="1"/>
          </p:cNvSpPr>
          <p:nvPr/>
        </p:nvSpPr>
        <p:spPr bwMode="auto">
          <a:xfrm>
            <a:off x="7017837" y="3161062"/>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u</a:t>
            </a:r>
            <a:r>
              <a:rPr kumimoji="1" lang="en-US" altLang="zh-CN" sz="1400" b="1" baseline="-25000">
                <a:solidFill>
                  <a:srgbClr val="0000FF"/>
                </a:solidFill>
                <a:latin typeface="微软雅黑" pitchFamily="34" charset="-122"/>
                <a:ea typeface="微软雅黑" pitchFamily="34" charset="-122"/>
              </a:rPr>
              <a:t>5</a:t>
            </a:r>
          </a:p>
        </p:txBody>
      </p:sp>
      <p:sp>
        <p:nvSpPr>
          <p:cNvPr id="56" name="Text Box 2769"/>
          <p:cNvSpPr txBox="1">
            <a:spLocks noChangeArrowheads="1"/>
          </p:cNvSpPr>
          <p:nvPr/>
        </p:nvSpPr>
        <p:spPr bwMode="auto">
          <a:xfrm>
            <a:off x="5826505" y="342058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4</a:t>
            </a:r>
          </a:p>
        </p:txBody>
      </p:sp>
      <p:sp>
        <p:nvSpPr>
          <p:cNvPr id="57" name="Text Box 2770"/>
          <p:cNvSpPr txBox="1">
            <a:spLocks noChangeArrowheads="1"/>
          </p:cNvSpPr>
          <p:nvPr/>
        </p:nvSpPr>
        <p:spPr bwMode="auto">
          <a:xfrm>
            <a:off x="4353151" y="293071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3</a:t>
            </a:r>
          </a:p>
        </p:txBody>
      </p:sp>
      <p:sp>
        <p:nvSpPr>
          <p:cNvPr id="58" name="Text Box 2771"/>
          <p:cNvSpPr txBox="1">
            <a:spLocks noChangeArrowheads="1"/>
          </p:cNvSpPr>
          <p:nvPr/>
        </p:nvSpPr>
        <p:spPr bwMode="auto">
          <a:xfrm>
            <a:off x="3841449" y="2120179"/>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2</a:t>
            </a:r>
          </a:p>
        </p:txBody>
      </p:sp>
      <p:sp>
        <p:nvSpPr>
          <p:cNvPr id="59" name="Text Box 2772"/>
          <p:cNvSpPr txBox="1">
            <a:spLocks noChangeArrowheads="1"/>
          </p:cNvSpPr>
          <p:nvPr/>
        </p:nvSpPr>
        <p:spPr bwMode="auto">
          <a:xfrm>
            <a:off x="4968773" y="139368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u</a:t>
            </a:r>
            <a:r>
              <a:rPr kumimoji="1" lang="en-US" altLang="zh-CN" sz="1400" b="1" baseline="-25000" dirty="0">
                <a:solidFill>
                  <a:srgbClr val="0000FF"/>
                </a:solidFill>
                <a:latin typeface="微软雅黑" pitchFamily="34" charset="-122"/>
                <a:ea typeface="微软雅黑" pitchFamily="34" charset="-122"/>
              </a:rPr>
              <a:t>1</a:t>
            </a:r>
          </a:p>
        </p:txBody>
      </p:sp>
      <p:sp>
        <p:nvSpPr>
          <p:cNvPr id="60" name="Text Box 2773"/>
          <p:cNvSpPr txBox="1">
            <a:spLocks noChangeArrowheads="1"/>
          </p:cNvSpPr>
          <p:nvPr/>
        </p:nvSpPr>
        <p:spPr bwMode="auto">
          <a:xfrm>
            <a:off x="6717910" y="1488703"/>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err="1">
                <a:solidFill>
                  <a:srgbClr val="0000FF"/>
                </a:solidFill>
                <a:latin typeface="微软雅黑" pitchFamily="34" charset="-122"/>
                <a:ea typeface="微软雅黑" pitchFamily="34" charset="-122"/>
              </a:rPr>
              <a:t>d</a:t>
            </a:r>
            <a:r>
              <a:rPr kumimoji="1" lang="en-US" altLang="zh-CN" sz="1400" b="1" i="1" baseline="-25000" dirty="0" err="1">
                <a:solidFill>
                  <a:srgbClr val="0000FF"/>
                </a:solidFill>
                <a:latin typeface="微软雅黑" pitchFamily="34" charset="-122"/>
                <a:ea typeface="微软雅黑" pitchFamily="34" charset="-122"/>
              </a:rPr>
              <a:t>N</a:t>
            </a:r>
            <a:endParaRPr kumimoji="1" lang="en-US" altLang="zh-CN" sz="1400" b="1" i="1" baseline="-25000" dirty="0">
              <a:solidFill>
                <a:srgbClr val="0000FF"/>
              </a:solidFill>
              <a:latin typeface="微软雅黑" pitchFamily="34" charset="-122"/>
              <a:ea typeface="微软雅黑" pitchFamily="34" charset="-122"/>
            </a:endParaRPr>
          </a:p>
        </p:txBody>
      </p:sp>
      <p:sp>
        <p:nvSpPr>
          <p:cNvPr id="61" name="Text Box 2774"/>
          <p:cNvSpPr txBox="1">
            <a:spLocks noChangeArrowheads="1"/>
          </p:cNvSpPr>
          <p:nvPr/>
        </p:nvSpPr>
        <p:spPr bwMode="auto">
          <a:xfrm>
            <a:off x="4717469" y="1665139"/>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1</a:t>
            </a:r>
          </a:p>
        </p:txBody>
      </p:sp>
      <p:sp>
        <p:nvSpPr>
          <p:cNvPr id="62" name="Text Box 2775"/>
          <p:cNvSpPr txBox="1">
            <a:spLocks noChangeArrowheads="1"/>
          </p:cNvSpPr>
          <p:nvPr/>
        </p:nvSpPr>
        <p:spPr bwMode="auto">
          <a:xfrm>
            <a:off x="7240580" y="294447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5</a:t>
            </a:r>
          </a:p>
        </p:txBody>
      </p:sp>
      <p:sp>
        <p:nvSpPr>
          <p:cNvPr id="63" name="Text Box 2776"/>
          <p:cNvSpPr txBox="1">
            <a:spLocks noChangeArrowheads="1"/>
          </p:cNvSpPr>
          <p:nvPr/>
        </p:nvSpPr>
        <p:spPr bwMode="auto">
          <a:xfrm>
            <a:off x="6197760" y="333471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a:solidFill>
                  <a:srgbClr val="0000FF"/>
                </a:solidFill>
                <a:latin typeface="微软雅黑" pitchFamily="34" charset="-122"/>
                <a:ea typeface="微软雅黑" pitchFamily="34" charset="-122"/>
              </a:rPr>
              <a:t>d</a:t>
            </a:r>
            <a:r>
              <a:rPr kumimoji="1" lang="en-US" altLang="zh-CN" sz="1400" b="1" baseline="-25000">
                <a:solidFill>
                  <a:srgbClr val="0000FF"/>
                </a:solidFill>
                <a:latin typeface="微软雅黑" pitchFamily="34" charset="-122"/>
                <a:ea typeface="微软雅黑" pitchFamily="34" charset="-122"/>
              </a:rPr>
              <a:t>4</a:t>
            </a:r>
          </a:p>
        </p:txBody>
      </p:sp>
      <p:sp>
        <p:nvSpPr>
          <p:cNvPr id="64" name="Text Box 2777"/>
          <p:cNvSpPr txBox="1">
            <a:spLocks noChangeArrowheads="1"/>
          </p:cNvSpPr>
          <p:nvPr/>
        </p:nvSpPr>
        <p:spPr bwMode="auto">
          <a:xfrm>
            <a:off x="4568957" y="3213142"/>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3</a:t>
            </a:r>
          </a:p>
        </p:txBody>
      </p:sp>
      <p:sp>
        <p:nvSpPr>
          <p:cNvPr id="65" name="Text Box 2778"/>
          <p:cNvSpPr txBox="1">
            <a:spLocks noChangeArrowheads="1"/>
          </p:cNvSpPr>
          <p:nvPr/>
        </p:nvSpPr>
        <p:spPr bwMode="auto">
          <a:xfrm>
            <a:off x="3789489" y="247631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1400" b="1" i="1" dirty="0">
                <a:solidFill>
                  <a:srgbClr val="0000FF"/>
                </a:solidFill>
                <a:latin typeface="微软雅黑" pitchFamily="34" charset="-122"/>
                <a:ea typeface="微软雅黑" pitchFamily="34" charset="-122"/>
              </a:rPr>
              <a:t>d</a:t>
            </a:r>
            <a:r>
              <a:rPr kumimoji="1" lang="en-US" altLang="zh-CN" sz="1400" b="1" baseline="-25000" dirty="0">
                <a:solidFill>
                  <a:srgbClr val="0000FF"/>
                </a:solidFill>
                <a:latin typeface="微软雅黑" pitchFamily="34" charset="-122"/>
                <a:ea typeface="微软雅黑" pitchFamily="34" charset="-122"/>
              </a:rPr>
              <a:t>2</a:t>
            </a:r>
          </a:p>
        </p:txBody>
      </p:sp>
    </p:spTree>
    <p:extLst>
      <p:ext uri="{BB962C8B-B14F-4D97-AF65-F5344CB8AC3E}">
        <p14:creationId xmlns:p14="http://schemas.microsoft.com/office/powerpoint/2010/main" val="1185247912"/>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9" y="61252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252835" y="589437"/>
            <a:ext cx="46570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rgbClr val="FFC000"/>
                </a:solidFill>
                <a:latin typeface="微软雅黑" pitchFamily="34" charset="-122"/>
                <a:ea typeface="微软雅黑" pitchFamily="34" charset="-122"/>
              </a:rPr>
              <a:t>客户</a:t>
            </a:r>
            <a:r>
              <a:rPr lang="en-US" altLang="zh-CN" sz="2000" b="1" dirty="0">
                <a:solidFill>
                  <a:srgbClr val="FFC000"/>
                </a:solidFill>
                <a:latin typeface="微软雅黑" pitchFamily="34" charset="-122"/>
                <a:ea typeface="微软雅黑" pitchFamily="34" charset="-122"/>
              </a:rPr>
              <a:t>-</a:t>
            </a:r>
            <a:r>
              <a:rPr lang="zh-CN" altLang="en-US" sz="2000" b="1" dirty="0">
                <a:solidFill>
                  <a:srgbClr val="FFC000"/>
                </a:solidFill>
                <a:latin typeface="微软雅黑" pitchFamily="34" charset="-122"/>
                <a:ea typeface="微软雅黑" pitchFamily="34" charset="-122"/>
              </a:rPr>
              <a:t>服务器</a:t>
            </a:r>
            <a:r>
              <a:rPr lang="zh-CN" altLang="en-US" sz="2000" b="1" dirty="0">
                <a:solidFill>
                  <a:schemeClr val="bg1"/>
                </a:solidFill>
                <a:latin typeface="微软雅黑" pitchFamily="34" charset="-122"/>
                <a:ea typeface="微软雅黑" pitchFamily="34" charset="-122"/>
              </a:rPr>
              <a:t>方式下分发的最短时间分析</a:t>
            </a:r>
          </a:p>
        </p:txBody>
      </p:sp>
      <p:sp>
        <p:nvSpPr>
          <p:cNvPr id="4" name="Rectangle 68"/>
          <p:cNvSpPr>
            <a:spLocks noChangeArrowheads="1"/>
          </p:cNvSpPr>
          <p:nvPr/>
        </p:nvSpPr>
        <p:spPr bwMode="auto">
          <a:xfrm>
            <a:off x="556968" y="974860"/>
            <a:ext cx="834733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从服务器端考虑，</a:t>
            </a:r>
            <a:r>
              <a:rPr lang="zh-CN" altLang="en-US" sz="2000" b="1" dirty="0">
                <a:solidFill>
                  <a:srgbClr val="C00000"/>
                </a:solidFill>
                <a:latin typeface="微软雅黑" pitchFamily="34" charset="-122"/>
                <a:ea typeface="微软雅黑" pitchFamily="34" charset="-122"/>
              </a:rPr>
              <a:t>所有主机</a:t>
            </a:r>
            <a:r>
              <a:rPr lang="zh-CN" altLang="en-US" sz="2000" b="1" dirty="0">
                <a:latin typeface="微软雅黑" pitchFamily="34" charset="-122"/>
                <a:ea typeface="微软雅黑" pitchFamily="34" charset="-122"/>
              </a:rPr>
              <a:t>分发完毕的最短时间 </a:t>
            </a:r>
            <a:r>
              <a:rPr lang="en-US" altLang="zh-CN" sz="2000" b="1" i="1" dirty="0" err="1">
                <a:latin typeface="微软雅黑" pitchFamily="34" charset="-122"/>
                <a:ea typeface="微软雅黑" pitchFamily="34" charset="-122"/>
              </a:rPr>
              <a:t>T</a:t>
            </a:r>
            <a:r>
              <a:rPr lang="en-US" altLang="zh-CN" sz="2000" b="1" i="1" baseline="-25000" dirty="0" err="1">
                <a:latin typeface="微软雅黑" pitchFamily="34" charset="-122"/>
                <a:ea typeface="微软雅黑" pitchFamily="34" charset="-122"/>
              </a:rPr>
              <a:t>cs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不可能小于 </a:t>
            </a:r>
            <a:r>
              <a:rPr lang="en-US" altLang="zh-CN" sz="2000" b="1" i="1" dirty="0">
                <a:latin typeface="微软雅黑" pitchFamily="34" charset="-122"/>
                <a:ea typeface="微软雅黑" pitchFamily="34" charset="-122"/>
              </a:rPr>
              <a:t>NF/u</a:t>
            </a:r>
            <a:r>
              <a:rPr lang="en-US" altLang="zh-CN" sz="2000" b="1" i="1" baseline="-25000" dirty="0">
                <a:latin typeface="微软雅黑" pitchFamily="34" charset="-122"/>
                <a:ea typeface="微软雅黑" pitchFamily="34" charset="-122"/>
              </a:rPr>
              <a:t>s </a:t>
            </a:r>
            <a:r>
              <a:rPr lang="zh-CN" altLang="en-US" sz="2000" b="1" dirty="0">
                <a:latin typeface="微软雅黑" pitchFamily="34" charset="-122"/>
                <a:ea typeface="微软雅黑" pitchFamily="34" charset="-122"/>
              </a:rPr>
              <a:t>；</a:t>
            </a:r>
          </a:p>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下载速率</a:t>
            </a:r>
            <a:r>
              <a:rPr lang="zh-CN" altLang="en-US" sz="2000" b="1" dirty="0">
                <a:solidFill>
                  <a:srgbClr val="C00000"/>
                </a:solidFill>
                <a:latin typeface="微软雅黑" pitchFamily="34" charset="-122"/>
                <a:ea typeface="微软雅黑" pitchFamily="34" charset="-122"/>
              </a:rPr>
              <a:t>最慢</a:t>
            </a:r>
            <a:r>
              <a:rPr lang="zh-CN" altLang="en-US" sz="2000" b="1" dirty="0">
                <a:latin typeface="微软雅黑" pitchFamily="34" charset="-122"/>
                <a:ea typeface="微软雅黑" pitchFamily="34" charset="-122"/>
              </a:rPr>
              <a:t>的主机的下载速率为 </a:t>
            </a:r>
            <a:r>
              <a:rPr lang="en-US" altLang="zh-CN" sz="2000" b="1" i="1" dirty="0" err="1">
                <a:latin typeface="微软雅黑" pitchFamily="34" charset="-122"/>
                <a:ea typeface="微软雅黑" pitchFamily="34" charset="-122"/>
              </a:rPr>
              <a:t>d</a:t>
            </a:r>
            <a:r>
              <a:rPr lang="en-US" altLang="zh-CN" sz="2000" b="1" baseline="-25000" dirty="0" err="1">
                <a:latin typeface="微软雅黑" pitchFamily="34" charset="-122"/>
                <a:ea typeface="微软雅黑" pitchFamily="34" charset="-122"/>
              </a:rPr>
              <a:t>min</a:t>
            </a:r>
            <a:r>
              <a:rPr lang="zh-CN" altLang="en-US" sz="2000" b="1" dirty="0">
                <a:latin typeface="微软雅黑" pitchFamily="34" charset="-122"/>
                <a:ea typeface="微软雅黑" pitchFamily="34" charset="-122"/>
              </a:rPr>
              <a:t>，则 </a:t>
            </a:r>
            <a:r>
              <a:rPr lang="en-US" altLang="zh-CN" sz="2000" b="1" i="1" dirty="0" err="1">
                <a:latin typeface="微软雅黑" pitchFamily="34" charset="-122"/>
                <a:ea typeface="微软雅黑" pitchFamily="34" charset="-122"/>
              </a:rPr>
              <a:t>T</a:t>
            </a:r>
            <a:r>
              <a:rPr lang="en-US" altLang="zh-CN" sz="2000" b="1" i="1" baseline="-25000" dirty="0" err="1">
                <a:latin typeface="微软雅黑" pitchFamily="34" charset="-122"/>
                <a:ea typeface="微软雅黑" pitchFamily="34" charset="-122"/>
              </a:rPr>
              <a:t>cs</a:t>
            </a:r>
            <a:r>
              <a:rPr lang="en-US" altLang="zh-CN" sz="2000" b="1" i="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不可能小于 </a:t>
            </a:r>
            <a:r>
              <a:rPr lang="en-US" altLang="zh-CN" sz="2000" b="1" i="1" dirty="0">
                <a:latin typeface="微软雅黑" pitchFamily="34" charset="-122"/>
                <a:ea typeface="微软雅黑" pitchFamily="34" charset="-122"/>
              </a:rPr>
              <a:t>F/</a:t>
            </a:r>
            <a:r>
              <a:rPr lang="en-US" altLang="zh-CN" sz="2000" b="1" i="1" dirty="0" err="1">
                <a:latin typeface="微软雅黑" pitchFamily="34" charset="-122"/>
                <a:ea typeface="微软雅黑" pitchFamily="34" charset="-122"/>
              </a:rPr>
              <a:t>d</a:t>
            </a:r>
            <a:r>
              <a:rPr lang="en-US" altLang="zh-CN" sz="2000" b="1" baseline="-25000" dirty="0" err="1">
                <a:latin typeface="微软雅黑" pitchFamily="34" charset="-122"/>
                <a:ea typeface="微软雅黑" pitchFamily="34" charset="-122"/>
              </a:rPr>
              <a:t>min</a:t>
            </a:r>
            <a:r>
              <a:rPr lang="en-US" altLang="zh-CN" sz="2000" b="1" i="1" baseline="-25000"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342900" indent="-342900" eaLnBrk="0" hangingPunct="0">
              <a:lnSpc>
                <a:spcPts val="3600"/>
              </a:lnSpc>
              <a:buClr>
                <a:srgbClr val="0070C0"/>
              </a:buClr>
              <a:buFont typeface="Wingdings" pitchFamily="2" charset="2"/>
              <a:buChar char="l"/>
            </a:pPr>
            <a:r>
              <a:rPr lang="zh-CN" altLang="en-US" sz="2000" b="1" dirty="0">
                <a:latin typeface="微软雅黑" pitchFamily="34" charset="-122"/>
                <a:ea typeface="微软雅黑" pitchFamily="34" charset="-122"/>
              </a:rPr>
              <a:t>由此可得出</a:t>
            </a:r>
            <a:r>
              <a:rPr lang="zh-CN" altLang="en-US" sz="2000" b="1" dirty="0">
                <a:solidFill>
                  <a:srgbClr val="C00000"/>
                </a:solidFill>
                <a:latin typeface="微软雅黑" pitchFamily="34" charset="-122"/>
                <a:ea typeface="微软雅黑" pitchFamily="34" charset="-122"/>
              </a:rPr>
              <a:t>所有主机</a:t>
            </a:r>
            <a:r>
              <a:rPr lang="zh-CN" altLang="en-US" sz="2000" b="1" dirty="0">
                <a:latin typeface="微软雅黑" pitchFamily="34" charset="-122"/>
                <a:ea typeface="微软雅黑" pitchFamily="34" charset="-122"/>
              </a:rPr>
              <a:t>都下载完文件 </a:t>
            </a:r>
            <a:r>
              <a:rPr lang="en-US" altLang="zh-CN" sz="2000" b="1" dirty="0">
                <a:latin typeface="微软雅黑" pitchFamily="34" charset="-122"/>
                <a:ea typeface="微软雅黑" pitchFamily="34" charset="-122"/>
              </a:rPr>
              <a:t>F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最少时间</a:t>
            </a:r>
            <a:r>
              <a:rPr lang="zh-CN" altLang="en-US" sz="2000" b="1" dirty="0">
                <a:latin typeface="微软雅黑" pitchFamily="34" charset="-122"/>
                <a:ea typeface="微软雅黑" pitchFamily="34" charset="-122"/>
              </a:rPr>
              <a:t>是：</a:t>
            </a:r>
          </a:p>
          <a:p>
            <a:pPr algn="ctr" eaLnBrk="0" hangingPunct="0">
              <a:lnSpc>
                <a:spcPts val="3600"/>
              </a:lnSpc>
              <a:buClr>
                <a:srgbClr val="0070C0"/>
              </a:buClr>
            </a:pPr>
            <a:r>
              <a:rPr lang="en-US" altLang="zh-CN" sz="2000" b="1" i="1" dirty="0" err="1">
                <a:solidFill>
                  <a:srgbClr val="0000FF"/>
                </a:solidFill>
                <a:latin typeface="微软雅黑" pitchFamily="34" charset="-122"/>
                <a:ea typeface="微软雅黑" pitchFamily="34" charset="-122"/>
              </a:rPr>
              <a:t>T</a:t>
            </a:r>
            <a:r>
              <a:rPr lang="en-US" altLang="zh-CN" sz="2000" b="1" baseline="-25000" dirty="0" err="1">
                <a:solidFill>
                  <a:srgbClr val="0000FF"/>
                </a:solidFill>
                <a:latin typeface="微软雅黑" pitchFamily="34" charset="-122"/>
                <a:ea typeface="微软雅黑" pitchFamily="34" charset="-122"/>
              </a:rPr>
              <a:t>cs</a:t>
            </a:r>
            <a:r>
              <a:rPr lang="en-US" altLang="zh-CN" sz="2000" b="1" dirty="0">
                <a:solidFill>
                  <a:srgbClr val="0000FF"/>
                </a:solidFill>
                <a:latin typeface="微软雅黑" pitchFamily="34" charset="-122"/>
                <a:ea typeface="微软雅黑" pitchFamily="34" charset="-122"/>
              </a:rPr>
              <a:t>=max</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NF/u</a:t>
            </a:r>
            <a:r>
              <a:rPr lang="en-US" altLang="zh-CN" sz="2000" b="1" i="1" baseline="-25000" dirty="0">
                <a:solidFill>
                  <a:srgbClr val="0000FF"/>
                </a:solidFill>
                <a:latin typeface="微软雅黑" pitchFamily="34" charset="-122"/>
                <a:ea typeface="微软雅黑" pitchFamily="34" charset="-122"/>
              </a:rPr>
              <a:t>s</a:t>
            </a:r>
            <a:r>
              <a:rPr lang="zh-CN" altLang="en-US" sz="2000" b="1" i="1" dirty="0">
                <a:solidFill>
                  <a:srgbClr val="0000FF"/>
                </a:solidFill>
                <a:latin typeface="微软雅黑" pitchFamily="34" charset="-122"/>
                <a:ea typeface="微软雅黑" pitchFamily="34" charset="-122"/>
              </a:rPr>
              <a:t>，</a:t>
            </a:r>
            <a:r>
              <a:rPr lang="en-US" altLang="zh-CN" sz="2000" b="1" i="1" dirty="0">
                <a:solidFill>
                  <a:srgbClr val="0000FF"/>
                </a:solidFill>
                <a:latin typeface="微软雅黑" pitchFamily="34" charset="-122"/>
                <a:ea typeface="微软雅黑" pitchFamily="34" charset="-122"/>
              </a:rPr>
              <a:t>F/</a:t>
            </a:r>
            <a:r>
              <a:rPr lang="en-US" altLang="zh-CN" sz="2000" b="1" i="1" dirty="0" err="1">
                <a:solidFill>
                  <a:srgbClr val="0000FF"/>
                </a:solidFill>
                <a:latin typeface="微软雅黑" pitchFamily="34" charset="-122"/>
                <a:ea typeface="微软雅黑" pitchFamily="34" charset="-122"/>
              </a:rPr>
              <a:t>d</a:t>
            </a:r>
            <a:r>
              <a:rPr lang="en-US" altLang="zh-CN" sz="2000" b="1" baseline="-25000" dirty="0" err="1">
                <a:solidFill>
                  <a:srgbClr val="0000FF"/>
                </a:solidFill>
                <a:latin typeface="微软雅黑" pitchFamily="34" charset="-122"/>
                <a:ea typeface="微软雅黑" pitchFamily="34" charset="-122"/>
              </a:rPr>
              <a:t>min</a:t>
            </a:r>
            <a:r>
              <a:rPr lang="en-US" altLang="zh-CN" sz="2000" b="1" i="1" baseline="-25000"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a:t>
            </a:r>
          </a:p>
        </p:txBody>
      </p:sp>
    </p:spTree>
    <p:extLst>
      <p:ext uri="{BB962C8B-B14F-4D97-AF65-F5344CB8AC3E}">
        <p14:creationId xmlns:p14="http://schemas.microsoft.com/office/powerpoint/2010/main" val="40439514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8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64005" y="577630"/>
            <a:ext cx="38347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P2P </a:t>
            </a:r>
            <a:r>
              <a:rPr lang="zh-CN" altLang="en-US" sz="2000" b="1" dirty="0">
                <a:solidFill>
                  <a:schemeClr val="bg1"/>
                </a:solidFill>
                <a:latin typeface="微软雅黑" pitchFamily="34" charset="-122"/>
                <a:ea typeface="微软雅黑" pitchFamily="34" charset="-122"/>
              </a:rPr>
              <a:t>方式下分发的最短时间分析</a:t>
            </a:r>
          </a:p>
        </p:txBody>
      </p:sp>
      <p:sp>
        <p:nvSpPr>
          <p:cNvPr id="4" name="Rectangle 68"/>
          <p:cNvSpPr>
            <a:spLocks noChangeArrowheads="1"/>
          </p:cNvSpPr>
          <p:nvPr/>
        </p:nvSpPr>
        <p:spPr bwMode="auto">
          <a:xfrm>
            <a:off x="556962" y="971931"/>
            <a:ext cx="8048777" cy="2669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初始</a:t>
            </a:r>
            <a:r>
              <a:rPr lang="zh-CN" altLang="en-US" sz="2000" b="1" dirty="0">
                <a:latin typeface="微软雅黑" pitchFamily="34" charset="-122"/>
                <a:ea typeface="微软雅黑" pitchFamily="34" charset="-122"/>
              </a:rPr>
              <a:t>服务器文件分发的最少时间不可能小于 </a:t>
            </a:r>
            <a:r>
              <a:rPr lang="en-US" altLang="zh-CN" sz="2000" b="1" i="1" dirty="0">
                <a:latin typeface="微软雅黑" pitchFamily="34" charset="-122"/>
                <a:ea typeface="微软雅黑" pitchFamily="34" charset="-122"/>
              </a:rPr>
              <a:t>F/u</a:t>
            </a:r>
            <a:r>
              <a:rPr lang="en-US" altLang="zh-CN" sz="2000" b="1" i="1" baseline="-25000" dirty="0">
                <a:latin typeface="微软雅黑" pitchFamily="34" charset="-122"/>
                <a:ea typeface="微软雅黑" pitchFamily="34" charset="-122"/>
              </a:rPr>
              <a:t>s </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下载</a:t>
            </a:r>
            <a:r>
              <a:rPr lang="zh-CN" altLang="en-US" sz="2000" b="1" dirty="0">
                <a:latin typeface="微软雅黑" pitchFamily="34" charset="-122"/>
                <a:ea typeface="微软雅黑" pitchFamily="34" charset="-122"/>
              </a:rPr>
              <a:t>文件分发的最少时间不可能小于 </a:t>
            </a:r>
            <a:r>
              <a:rPr lang="en-US" altLang="zh-CN" sz="2000" b="1" i="1" dirty="0">
                <a:latin typeface="微软雅黑" pitchFamily="34" charset="-122"/>
                <a:ea typeface="微软雅黑" pitchFamily="34" charset="-122"/>
              </a:rPr>
              <a:t>F/</a:t>
            </a:r>
            <a:r>
              <a:rPr lang="en-US" altLang="zh-CN" sz="2000" b="1" i="1" dirty="0" err="1">
                <a:latin typeface="微软雅黑" pitchFamily="34" charset="-122"/>
                <a:ea typeface="微软雅黑" pitchFamily="34" charset="-122"/>
              </a:rPr>
              <a:t>d</a:t>
            </a:r>
            <a:r>
              <a:rPr lang="en-US" altLang="zh-CN" sz="2000" b="1" baseline="-25000" dirty="0" err="1">
                <a:latin typeface="微软雅黑" pitchFamily="34" charset="-122"/>
                <a:ea typeface="微软雅黑" pitchFamily="34" charset="-122"/>
              </a:rPr>
              <a:t>min</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上载</a:t>
            </a:r>
            <a:r>
              <a:rPr lang="zh-CN" altLang="en-US" sz="2000" b="1" dirty="0">
                <a:latin typeface="微软雅黑" pitchFamily="34" charset="-122"/>
                <a:ea typeface="微软雅黑" pitchFamily="34" charset="-122"/>
              </a:rPr>
              <a:t>文件分发的最少时间不可能小于 </a:t>
            </a:r>
            <a:r>
              <a:rPr lang="en-US" altLang="zh-CN" sz="2000" b="1" i="1" dirty="0">
                <a:latin typeface="微软雅黑" pitchFamily="34" charset="-122"/>
                <a:ea typeface="微软雅黑" pitchFamily="34" charset="-122"/>
              </a:rPr>
              <a:t>NF/</a:t>
            </a:r>
            <a:r>
              <a:rPr lang="en-US" altLang="zh-CN" sz="2000" b="1" i="1" dirty="0" err="1">
                <a:latin typeface="微软雅黑" pitchFamily="34" charset="-122"/>
                <a:ea typeface="微软雅黑" pitchFamily="34" charset="-122"/>
              </a:rPr>
              <a:t>u</a:t>
            </a:r>
            <a:r>
              <a:rPr lang="en-US" altLang="zh-CN" sz="2000" b="1" baseline="-25000" dirty="0" err="1">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，其中是 </a:t>
            </a:r>
            <a:r>
              <a:rPr lang="en-US" altLang="zh-CN" sz="2000" b="1" i="1" dirty="0" err="1">
                <a:latin typeface="微软雅黑" pitchFamily="34" charset="-122"/>
                <a:ea typeface="微软雅黑" pitchFamily="34" charset="-122"/>
              </a:rPr>
              <a:t>u</a:t>
            </a:r>
            <a:r>
              <a:rPr lang="en-US" altLang="zh-CN" sz="2000" b="1" baseline="-25000" dirty="0" err="1">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是上传速率之和。</a:t>
            </a:r>
          </a:p>
          <a:p>
            <a:pPr marL="342900" indent="-342900"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所有</a:t>
            </a:r>
            <a:r>
              <a:rPr lang="zh-CN" altLang="en-US" sz="2000" b="1" dirty="0">
                <a:latin typeface="微软雅黑" pitchFamily="34" charset="-122"/>
                <a:ea typeface="微软雅黑" pitchFamily="34" charset="-122"/>
              </a:rPr>
              <a:t>主机都下载完文件 </a:t>
            </a:r>
            <a:r>
              <a:rPr lang="en-US" altLang="zh-CN" sz="2000" b="1" i="1" dirty="0">
                <a:latin typeface="微软雅黑" pitchFamily="34" charset="-122"/>
                <a:ea typeface="微软雅黑" pitchFamily="34" charset="-122"/>
              </a:rPr>
              <a:t>F</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最少时间的下限</a:t>
            </a:r>
            <a:r>
              <a:rPr lang="zh-CN" altLang="en-US" sz="2000" b="1" dirty="0">
                <a:latin typeface="微软雅黑" pitchFamily="34" charset="-122"/>
                <a:ea typeface="微软雅黑" pitchFamily="34" charset="-122"/>
              </a:rPr>
              <a:t>是：</a:t>
            </a:r>
          </a:p>
          <a:p>
            <a:pPr algn="ctr" eaLnBrk="0" hangingPunct="0">
              <a:lnSpc>
                <a:spcPts val="3300"/>
              </a:lnSpc>
              <a:buClr>
                <a:srgbClr val="0070C0"/>
              </a:buClr>
            </a:pPr>
            <a:r>
              <a:rPr lang="en-US" altLang="zh-CN" sz="2000" b="1" i="1" dirty="0">
                <a:solidFill>
                  <a:srgbClr val="0000FF"/>
                </a:solidFill>
                <a:latin typeface="微软雅黑" pitchFamily="34" charset="-122"/>
                <a:ea typeface="微软雅黑" pitchFamily="34" charset="-122"/>
              </a:rPr>
              <a:t>T</a:t>
            </a:r>
            <a:r>
              <a:rPr lang="en-US" altLang="zh-CN" sz="2000" b="1" baseline="-25000" dirty="0">
                <a:solidFill>
                  <a:srgbClr val="0000FF"/>
                </a:solidFill>
                <a:latin typeface="微软雅黑" pitchFamily="34" charset="-122"/>
                <a:ea typeface="微软雅黑" pitchFamily="34" charset="-122"/>
              </a:rPr>
              <a:t>p2p</a:t>
            </a:r>
            <a:r>
              <a:rPr lang="en-US" altLang="zh-CN" sz="2000" b="1" dirty="0">
                <a:solidFill>
                  <a:srgbClr val="0000FF"/>
                </a:solidFill>
                <a:latin typeface="微软雅黑" pitchFamily="34" charset="-122"/>
                <a:ea typeface="微软雅黑" pitchFamily="34" charset="-122"/>
              </a:rPr>
              <a:t> &gt;= max</a:t>
            </a:r>
            <a:r>
              <a:rPr lang="zh-CN" altLang="en-US" sz="2000" b="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F/u</a:t>
            </a:r>
            <a:r>
              <a:rPr lang="en-US" altLang="zh-CN" sz="2000" b="1" i="1" baseline="-25000" dirty="0">
                <a:solidFill>
                  <a:srgbClr val="0000FF"/>
                </a:solidFill>
                <a:latin typeface="微软雅黑" pitchFamily="34" charset="-122"/>
                <a:ea typeface="微软雅黑" pitchFamily="34" charset="-122"/>
              </a:rPr>
              <a:t>s</a:t>
            </a:r>
            <a:r>
              <a:rPr lang="en-US" altLang="zh-CN" sz="2000" b="1" i="1" dirty="0">
                <a:solidFill>
                  <a:srgbClr val="0000FF"/>
                </a:solidFill>
                <a:latin typeface="微软雅黑" pitchFamily="34" charset="-122"/>
                <a:ea typeface="微软雅黑" pitchFamily="34" charset="-122"/>
              </a:rPr>
              <a:t> </a:t>
            </a:r>
            <a:r>
              <a:rPr lang="zh-CN" altLang="en-US" sz="2000" b="1" i="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F/</a:t>
            </a:r>
            <a:r>
              <a:rPr lang="en-US" altLang="zh-CN" sz="2000" b="1" i="1" dirty="0" err="1">
                <a:solidFill>
                  <a:srgbClr val="0000FF"/>
                </a:solidFill>
                <a:latin typeface="微软雅黑" pitchFamily="34" charset="-122"/>
                <a:ea typeface="微软雅黑" pitchFamily="34" charset="-122"/>
              </a:rPr>
              <a:t>d</a:t>
            </a:r>
            <a:r>
              <a:rPr lang="en-US" altLang="zh-CN" sz="2000" b="1" baseline="-25000" dirty="0" err="1">
                <a:solidFill>
                  <a:srgbClr val="0000FF"/>
                </a:solidFill>
                <a:latin typeface="微软雅黑" pitchFamily="34" charset="-122"/>
                <a:ea typeface="微软雅黑" pitchFamily="34" charset="-122"/>
              </a:rPr>
              <a:t>min</a:t>
            </a:r>
            <a:r>
              <a:rPr lang="zh-CN" altLang="en-US" sz="2000" b="1" i="1"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NF/</a:t>
            </a:r>
            <a:r>
              <a:rPr lang="en-US" altLang="zh-CN" sz="2000" b="1" i="1" dirty="0" err="1">
                <a:solidFill>
                  <a:srgbClr val="0000FF"/>
                </a:solidFill>
                <a:latin typeface="微软雅黑" pitchFamily="34" charset="-122"/>
                <a:ea typeface="微软雅黑" pitchFamily="34" charset="-122"/>
              </a:rPr>
              <a:t>u</a:t>
            </a:r>
            <a:r>
              <a:rPr lang="en-US" altLang="zh-CN" sz="2000" b="1" baseline="-25000" dirty="0" err="1">
                <a:solidFill>
                  <a:srgbClr val="0000FF"/>
                </a:solidFill>
                <a:latin typeface="微软雅黑" pitchFamily="34" charset="-122"/>
                <a:ea typeface="微软雅黑" pitchFamily="34" charset="-122"/>
              </a:rPr>
              <a:t>T</a:t>
            </a:r>
            <a:r>
              <a:rPr lang="en-US" altLang="zh-CN" sz="2000" b="1" i="1" baseline="-25000" dirty="0">
                <a:solidFill>
                  <a:srgbClr val="0000FF"/>
                </a:solidFill>
                <a:latin typeface="微软雅黑" pitchFamily="34" charset="-122"/>
                <a:ea typeface="微软雅黑" pitchFamily="34" charset="-122"/>
              </a:rPr>
              <a:t> </a:t>
            </a:r>
            <a:r>
              <a:rPr lang="en-US" altLang="zh-CN" sz="2000" b="1" i="1" dirty="0">
                <a:solidFill>
                  <a:srgbClr val="0000FF"/>
                </a:solidFill>
                <a:latin typeface="微软雅黑" pitchFamily="34" charset="-122"/>
                <a:ea typeface="微软雅黑" pitchFamily="34" charset="-122"/>
              </a:rPr>
              <a:t> </a:t>
            </a:r>
            <a:r>
              <a:rPr lang="zh-CN" altLang="en-US" sz="2000" b="1" dirty="0">
                <a:solidFill>
                  <a:srgbClr val="0000FF"/>
                </a:solidFill>
                <a:latin typeface="微软雅黑" pitchFamily="34" charset="-122"/>
                <a:ea typeface="微软雅黑" pitchFamily="34" charset="-122"/>
              </a:rPr>
              <a:t>）</a:t>
            </a:r>
          </a:p>
        </p:txBody>
      </p:sp>
    </p:spTree>
    <p:extLst>
      <p:ext uri="{BB962C8B-B14F-4D97-AF65-F5344CB8AC3E}">
        <p14:creationId xmlns:p14="http://schemas.microsoft.com/office/powerpoint/2010/main" val="374339677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5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3" y="57964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时间比较</a:t>
            </a:r>
          </a:p>
        </p:txBody>
      </p:sp>
      <p:sp>
        <p:nvSpPr>
          <p:cNvPr id="4" name="Rectangle 68"/>
          <p:cNvSpPr>
            <a:spLocks noChangeArrowheads="1"/>
          </p:cNvSpPr>
          <p:nvPr/>
        </p:nvSpPr>
        <p:spPr bwMode="auto">
          <a:xfrm>
            <a:off x="556962" y="975552"/>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设所有的对等方的上传速率都是 </a:t>
            </a:r>
            <a:r>
              <a:rPr lang="en-US" altLang="zh-CN" sz="2000" b="1" i="1" dirty="0">
                <a:latin typeface="微软雅黑" pitchFamily="34" charset="-122"/>
                <a:ea typeface="微软雅黑" pitchFamily="34" charset="-122"/>
              </a:rPr>
              <a:t>u</a:t>
            </a:r>
            <a:r>
              <a:rPr lang="zh-CN" altLang="en-US" sz="2000" b="1" dirty="0">
                <a:latin typeface="微软雅黑" pitchFamily="34" charset="-122"/>
                <a:ea typeface="微软雅黑" pitchFamily="34" charset="-122"/>
              </a:rPr>
              <a:t>，并且 </a:t>
            </a:r>
            <a:r>
              <a:rPr lang="en-US" altLang="zh-CN" sz="2000" b="1" i="1" dirty="0">
                <a:latin typeface="微软雅黑" pitchFamily="34" charset="-122"/>
                <a:ea typeface="微软雅黑" pitchFamily="34" charset="-122"/>
              </a:rPr>
              <a:t>F</a:t>
            </a:r>
            <a:r>
              <a:rPr lang="en-US" altLang="zh-CN" sz="2000" b="1" dirty="0">
                <a:latin typeface="微软雅黑" pitchFamily="34" charset="-122"/>
                <a:ea typeface="微软雅黑" pitchFamily="34" charset="-122"/>
              </a:rPr>
              <a:t>/</a:t>
            </a:r>
            <a:r>
              <a:rPr lang="en-US" altLang="zh-CN" sz="2000" b="1" i="1" dirty="0">
                <a:latin typeface="微软雅黑" pitchFamily="34" charset="-122"/>
                <a:ea typeface="微软雅黑" pitchFamily="34" charset="-122"/>
              </a:rPr>
              <a:t>u</a:t>
            </a:r>
            <a:r>
              <a:rPr lang="en-US" altLang="zh-CN" sz="2000" b="1" dirty="0">
                <a:latin typeface="微软雅黑" pitchFamily="34" charset="-122"/>
                <a:ea typeface="微软雅黑" pitchFamily="34" charset="-122"/>
              </a:rPr>
              <a:t> = 1 </a:t>
            </a:r>
            <a:r>
              <a:rPr lang="zh-CN" altLang="en-US" sz="2000" b="1" dirty="0">
                <a:latin typeface="微软雅黑" pitchFamily="34" charset="-122"/>
                <a:ea typeface="微软雅黑" pitchFamily="34" charset="-122"/>
              </a:rPr>
              <a:t>小时。</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设服务器的上传速率 </a:t>
            </a:r>
            <a:r>
              <a:rPr lang="en-US" altLang="zh-CN" sz="2000" b="1" i="1" dirty="0">
                <a:latin typeface="微软雅黑" pitchFamily="34" charset="-122"/>
                <a:ea typeface="微软雅黑" pitchFamily="34" charset="-122"/>
              </a:rPr>
              <a:t>u</a:t>
            </a:r>
            <a:r>
              <a:rPr lang="en-US" altLang="zh-CN" sz="2000" b="1" baseline="-25000" dirty="0">
                <a:latin typeface="微软雅黑" pitchFamily="34" charset="-122"/>
                <a:ea typeface="微软雅黑" pitchFamily="34" charset="-122"/>
              </a:rPr>
              <a:t>s</a:t>
            </a:r>
            <a:r>
              <a:rPr lang="en-US" altLang="zh-CN" sz="2000" b="1" dirty="0">
                <a:latin typeface="微软雅黑" pitchFamily="34" charset="-122"/>
                <a:ea typeface="微软雅黑" pitchFamily="34" charset="-122"/>
              </a:rPr>
              <a:t> = 10</a:t>
            </a:r>
            <a:r>
              <a:rPr lang="en-US" altLang="zh-CN" sz="2000" b="1" i="1" dirty="0">
                <a:latin typeface="微软雅黑" pitchFamily="34" charset="-122"/>
                <a:ea typeface="微软雅黑" pitchFamily="34" charset="-122"/>
              </a:rPr>
              <a:t>u</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当 </a:t>
            </a:r>
            <a:r>
              <a:rPr lang="en-US" altLang="zh-CN" sz="2000" b="1" i="1" dirty="0">
                <a:latin typeface="微软雅黑" pitchFamily="34" charset="-122"/>
                <a:ea typeface="微软雅黑" pitchFamily="34" charset="-122"/>
              </a:rPr>
              <a:t>N</a:t>
            </a:r>
            <a:r>
              <a:rPr lang="en-US" altLang="zh-CN" sz="2000" b="1" dirty="0">
                <a:latin typeface="微软雅黑" pitchFamily="34" charset="-122"/>
                <a:ea typeface="微软雅黑" pitchFamily="34" charset="-122"/>
              </a:rPr>
              <a:t> = 30 </a:t>
            </a:r>
            <a:r>
              <a:rPr lang="zh-CN" altLang="en-US" sz="2000" b="1" dirty="0">
                <a:latin typeface="微软雅黑" pitchFamily="34" charset="-122"/>
                <a:ea typeface="微软雅黑" pitchFamily="34" charset="-122"/>
              </a:rPr>
              <a:t>时，</a:t>
            </a:r>
            <a:endParaRPr lang="en-US" altLang="zh-CN" sz="2000" b="1" dirty="0">
              <a:latin typeface="微软雅黑" pitchFamily="34" charset="-122"/>
              <a:ea typeface="微软雅黑" pitchFamily="34" charset="-122"/>
            </a:endParaRPr>
          </a:p>
          <a:p>
            <a:pPr marL="800100" lvl="1" indent="-342900" eaLnBrk="0" hangingPunct="0">
              <a:lnSpc>
                <a:spcPts val="3300"/>
              </a:lnSpc>
              <a:buClr>
                <a:srgbClr val="9900CC"/>
              </a:buClr>
              <a:buFont typeface="+mj-lt"/>
              <a:buAutoNum type="arabicPeriod"/>
            </a:pPr>
            <a:r>
              <a:rPr lang="en-US" altLang="zh-CN" b="1" dirty="0">
                <a:solidFill>
                  <a:srgbClr val="C00000"/>
                </a:solidFill>
                <a:latin typeface="微软雅黑" pitchFamily="34" charset="-122"/>
                <a:ea typeface="微软雅黑" pitchFamily="34" charset="-122"/>
              </a:rPr>
              <a:t>P2P </a:t>
            </a:r>
            <a:r>
              <a:rPr lang="zh-CN" altLang="en-US" b="1" dirty="0">
                <a:solidFill>
                  <a:srgbClr val="C00000"/>
                </a:solidFill>
                <a:latin typeface="微软雅黑" pitchFamily="34" charset="-122"/>
                <a:ea typeface="微软雅黑" pitchFamily="34" charset="-122"/>
              </a:rPr>
              <a:t>方式：</a:t>
            </a:r>
            <a:r>
              <a:rPr lang="zh-CN" altLang="en-US" b="1" dirty="0">
                <a:latin typeface="微软雅黑" pitchFamily="34" charset="-122"/>
                <a:ea typeface="微软雅黑" pitchFamily="34" charset="-122"/>
              </a:rPr>
              <a:t>最少时间的下限是 </a:t>
            </a:r>
            <a:r>
              <a:rPr lang="en-US" altLang="zh-CN" b="1" dirty="0">
                <a:latin typeface="微软雅黑" pitchFamily="34" charset="-122"/>
                <a:ea typeface="微软雅黑" pitchFamily="34" charset="-122"/>
              </a:rPr>
              <a:t>0.75 </a:t>
            </a:r>
            <a:r>
              <a:rPr lang="zh-CN" altLang="en-US" b="1" dirty="0">
                <a:latin typeface="微软雅黑" pitchFamily="34" charset="-122"/>
                <a:ea typeface="微软雅黑" pitchFamily="34" charset="-122"/>
              </a:rPr>
              <a:t>小时 </a:t>
            </a:r>
            <a:r>
              <a:rPr lang="en-US" altLang="zh-CN" b="1" dirty="0">
                <a:latin typeface="微软雅黑" pitchFamily="34" charset="-122"/>
                <a:ea typeface="微软雅黑" pitchFamily="34" charset="-122"/>
              </a:rPr>
              <a:t>&lt; 1 </a:t>
            </a:r>
            <a:r>
              <a:rPr lang="zh-CN" altLang="en-US" b="1" dirty="0">
                <a:latin typeface="微软雅黑" pitchFamily="34" charset="-122"/>
                <a:ea typeface="微软雅黑" pitchFamily="34" charset="-122"/>
              </a:rPr>
              <a:t>小时（不管 </a:t>
            </a:r>
            <a:r>
              <a:rPr lang="en-US" altLang="zh-CN" b="1" i="1" dirty="0">
                <a:latin typeface="微软雅黑" pitchFamily="34" charset="-122"/>
                <a:ea typeface="微软雅黑" pitchFamily="34" charset="-122"/>
              </a:rPr>
              <a:t>N</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多大）。</a:t>
            </a:r>
            <a:endParaRPr lang="en-US" altLang="zh-CN" b="1" dirty="0">
              <a:latin typeface="微软雅黑" pitchFamily="34" charset="-122"/>
              <a:ea typeface="微软雅黑" pitchFamily="34" charset="-122"/>
            </a:endParaRPr>
          </a:p>
          <a:p>
            <a:pPr marL="800100" lvl="1" indent="-342900" eaLnBrk="0" hangingPunct="0">
              <a:lnSpc>
                <a:spcPts val="3300"/>
              </a:lnSpc>
              <a:buClr>
                <a:srgbClr val="9900CC"/>
              </a:buClr>
              <a:buFont typeface="+mj-lt"/>
              <a:buAutoNum type="arabicPeriod"/>
            </a:pPr>
            <a:r>
              <a:rPr lang="zh-CN" altLang="en-US" b="1" dirty="0">
                <a:solidFill>
                  <a:srgbClr val="C00000"/>
                </a:solidFill>
                <a:latin typeface="微软雅黑" pitchFamily="34" charset="-122"/>
                <a:ea typeface="微软雅黑" pitchFamily="34" charset="-122"/>
              </a:rPr>
              <a:t>客户服务器方式：</a:t>
            </a:r>
            <a:r>
              <a:rPr lang="zh-CN" altLang="en-US" b="1" dirty="0">
                <a:latin typeface="微软雅黑" pitchFamily="34" charset="-122"/>
                <a:ea typeface="微软雅黑" pitchFamily="34" charset="-122"/>
              </a:rPr>
              <a:t>最少时间是 </a:t>
            </a:r>
            <a:r>
              <a:rPr lang="en-US" altLang="zh-CN" b="1" dirty="0">
                <a:latin typeface="微软雅黑" pitchFamily="34" charset="-122"/>
                <a:ea typeface="微软雅黑" pitchFamily="34" charset="-122"/>
              </a:rPr>
              <a:t>3 </a:t>
            </a:r>
            <a:r>
              <a:rPr lang="zh-CN" altLang="en-US" b="1" dirty="0">
                <a:latin typeface="微软雅黑" pitchFamily="34" charset="-122"/>
                <a:ea typeface="微软雅黑" pitchFamily="34" charset="-122"/>
              </a:rPr>
              <a:t>小时。</a:t>
            </a:r>
          </a:p>
        </p:txBody>
      </p:sp>
    </p:spTree>
    <p:extLst>
      <p:ext uri="{BB962C8B-B14F-4D97-AF65-F5344CB8AC3E}">
        <p14:creationId xmlns:p14="http://schemas.microsoft.com/office/powerpoint/2010/main" val="387371941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15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8028"/>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6.9.4  </a:t>
            </a:r>
            <a:r>
              <a:rPr lang="zh-CN" altLang="en-US" sz="2400" b="1" dirty="0">
                <a:solidFill>
                  <a:schemeClr val="bg1"/>
                </a:solidFill>
                <a:latin typeface="微软雅黑" pitchFamily="34" charset="-122"/>
                <a:ea typeface="微软雅黑" pitchFamily="34" charset="-122"/>
              </a:rPr>
              <a:t>在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对等方中搜索对象</a:t>
            </a:r>
          </a:p>
        </p:txBody>
      </p:sp>
      <p:sp>
        <p:nvSpPr>
          <p:cNvPr id="4" name="Rectangle 68"/>
          <p:cNvSpPr>
            <a:spLocks noChangeArrowheads="1"/>
          </p:cNvSpPr>
          <p:nvPr/>
        </p:nvSpPr>
        <p:spPr bwMode="auto">
          <a:xfrm>
            <a:off x="556963" y="100537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Napster </a:t>
            </a:r>
            <a:r>
              <a:rPr lang="zh-CN" altLang="en-US" sz="2000" b="1" dirty="0">
                <a:latin typeface="微软雅黑" pitchFamily="34" charset="-122"/>
                <a:ea typeface="微软雅黑" pitchFamily="34" charset="-122"/>
              </a:rPr>
              <a:t>在一个集中式目录服务器中构建查找数据库，简单，但性能上有</a:t>
            </a:r>
            <a:r>
              <a:rPr lang="zh-CN" altLang="en-US" sz="2000" b="1" dirty="0">
                <a:solidFill>
                  <a:srgbClr val="C00000"/>
                </a:solidFill>
                <a:latin typeface="微软雅黑" pitchFamily="34" charset="-122"/>
                <a:ea typeface="微软雅黑" pitchFamily="34" charset="-122"/>
              </a:rPr>
              <a:t>瓶颈。</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是一种采用全分布方法定位内容的 </a:t>
            </a:r>
            <a:r>
              <a:rPr lang="en-US" altLang="zh-CN" sz="2000" b="1" dirty="0">
                <a:latin typeface="微软雅黑" pitchFamily="34" charset="-122"/>
                <a:ea typeface="微软雅黑" pitchFamily="34" charset="-122"/>
              </a:rPr>
              <a:t>P2P </a:t>
            </a:r>
            <a:r>
              <a:rPr lang="zh-CN" altLang="en-US" sz="2000" b="1" dirty="0">
                <a:latin typeface="微软雅黑" pitchFamily="34" charset="-122"/>
                <a:ea typeface="微软雅黑" pitchFamily="34" charset="-122"/>
              </a:rPr>
              <a:t>文件共享应用程序，它解决了集中式目录服务器所造成的瓶颈问题。但 </a:t>
            </a:r>
            <a:r>
              <a:rPr lang="en-US" altLang="zh-CN" sz="2000" b="1" dirty="0">
                <a:latin typeface="微软雅黑" pitchFamily="34" charset="-122"/>
                <a:ea typeface="微软雅黑" pitchFamily="34" charset="-122"/>
              </a:rPr>
              <a:t>Gnutella </a:t>
            </a:r>
            <a:r>
              <a:rPr lang="zh-CN" altLang="en-US" sz="2000" b="1" dirty="0">
                <a:latin typeface="微软雅黑" pitchFamily="34" charset="-122"/>
                <a:ea typeface="微软雅黑" pitchFamily="34" charset="-122"/>
              </a:rPr>
              <a:t>是在非结构化的覆盖网络中采用查询洪泛的方法进行查找，因此查找的</a:t>
            </a:r>
            <a:r>
              <a:rPr lang="zh-CN" altLang="en-US" sz="2000" b="1" dirty="0">
                <a:solidFill>
                  <a:srgbClr val="C00000"/>
                </a:solidFill>
                <a:latin typeface="微软雅黑" pitchFamily="34" charset="-122"/>
                <a:ea typeface="微软雅黑" pitchFamily="34" charset="-122"/>
              </a:rPr>
              <a:t>效率较低。</a:t>
            </a:r>
          </a:p>
        </p:txBody>
      </p:sp>
    </p:spTree>
    <p:extLst>
      <p:ext uri="{BB962C8B-B14F-4D97-AF65-F5344CB8AC3E}">
        <p14:creationId xmlns:p14="http://schemas.microsoft.com/office/powerpoint/2010/main" val="387326976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75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3747"/>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6.9.4  </a:t>
            </a:r>
            <a:r>
              <a:rPr lang="zh-CN" altLang="en-US" sz="2400" b="1" dirty="0">
                <a:solidFill>
                  <a:schemeClr val="bg1"/>
                </a:solidFill>
                <a:latin typeface="微软雅黑" pitchFamily="34" charset="-122"/>
                <a:ea typeface="微软雅黑" pitchFamily="34" charset="-122"/>
              </a:rPr>
              <a:t>在 </a:t>
            </a:r>
            <a:r>
              <a:rPr lang="en-US" altLang="zh-CN" sz="2400" b="1" dirty="0">
                <a:solidFill>
                  <a:schemeClr val="bg1"/>
                </a:solidFill>
                <a:latin typeface="微软雅黑" pitchFamily="34" charset="-122"/>
                <a:ea typeface="微软雅黑" pitchFamily="34" charset="-122"/>
              </a:rPr>
              <a:t>P2P </a:t>
            </a:r>
            <a:r>
              <a:rPr lang="zh-CN" altLang="en-US" sz="2400" b="1" dirty="0">
                <a:solidFill>
                  <a:schemeClr val="bg1"/>
                </a:solidFill>
                <a:latin typeface="微软雅黑" pitchFamily="34" charset="-122"/>
                <a:ea typeface="微软雅黑" pitchFamily="34" charset="-122"/>
              </a:rPr>
              <a:t>对等方中搜索对象</a:t>
            </a:r>
          </a:p>
        </p:txBody>
      </p:sp>
      <p:sp>
        <p:nvSpPr>
          <p:cNvPr id="4" name="Rectangle 68"/>
          <p:cNvSpPr>
            <a:spLocks noChangeArrowheads="1"/>
          </p:cNvSpPr>
          <p:nvPr/>
        </p:nvSpPr>
        <p:spPr bwMode="auto">
          <a:xfrm>
            <a:off x="556963" y="1009970"/>
            <a:ext cx="8048776" cy="17338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现在广泛使用的索引和查找技术叫做</a:t>
            </a:r>
            <a:r>
              <a:rPr lang="zh-CN" altLang="en-US" sz="2000" b="1" dirty="0">
                <a:solidFill>
                  <a:srgbClr val="C00000"/>
                </a:solidFill>
                <a:latin typeface="微软雅黑" pitchFamily="34" charset="-122"/>
                <a:ea typeface="微软雅黑" pitchFamily="34" charset="-122"/>
              </a:rPr>
              <a:t>分布式散列表 </a:t>
            </a:r>
            <a:r>
              <a:rPr lang="en-US" altLang="zh-CN" sz="2000" b="1" dirty="0">
                <a:latin typeface="微软雅黑" pitchFamily="34" charset="-122"/>
                <a:ea typeface="微软雅黑" pitchFamily="34" charset="-122"/>
              </a:rPr>
              <a:t>DHT (Distributed Hash Table)</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285750" indent="-28575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DHT </a:t>
            </a:r>
            <a:r>
              <a:rPr lang="zh-CN" altLang="en-US" sz="2000" b="1" dirty="0">
                <a:latin typeface="微软雅黑" pitchFamily="34" charset="-122"/>
                <a:ea typeface="微软雅黑" pitchFamily="34" charset="-122"/>
              </a:rPr>
              <a:t>也可译为</a:t>
            </a:r>
            <a:r>
              <a:rPr lang="zh-CN" altLang="en-US" sz="2000" b="1" dirty="0">
                <a:solidFill>
                  <a:srgbClr val="C00000"/>
                </a:solidFill>
                <a:latin typeface="微软雅黑" pitchFamily="34" charset="-122"/>
                <a:ea typeface="微软雅黑" pitchFamily="34" charset="-122"/>
              </a:rPr>
              <a:t>分布式哈希表，</a:t>
            </a:r>
            <a:r>
              <a:rPr lang="zh-CN" altLang="en-US" sz="2000" b="1" dirty="0">
                <a:latin typeface="微软雅黑" pitchFamily="34" charset="-122"/>
                <a:ea typeface="微软雅黑" pitchFamily="34" charset="-122"/>
              </a:rPr>
              <a:t>由大量对等方共同维护。</a:t>
            </a:r>
          </a:p>
          <a:p>
            <a:pPr marL="285750" indent="-28575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广泛使用的 </a:t>
            </a:r>
            <a:r>
              <a:rPr lang="en-US" altLang="zh-CN" sz="2000" b="1" dirty="0">
                <a:solidFill>
                  <a:srgbClr val="C00000"/>
                </a:solidFill>
                <a:latin typeface="微软雅黑" pitchFamily="34" charset="-122"/>
                <a:ea typeface="微软雅黑" pitchFamily="34" charset="-122"/>
              </a:rPr>
              <a:t>Chord </a:t>
            </a:r>
            <a:r>
              <a:rPr lang="zh-CN" altLang="en-US" sz="2000" b="1" dirty="0">
                <a:solidFill>
                  <a:srgbClr val="C00000"/>
                </a:solidFill>
                <a:latin typeface="微软雅黑" pitchFamily="34" charset="-122"/>
                <a:ea typeface="微软雅黑" pitchFamily="34" charset="-122"/>
              </a:rPr>
              <a:t>算法</a:t>
            </a:r>
            <a:r>
              <a:rPr lang="zh-CN" altLang="en-US" sz="2000" b="1" dirty="0">
                <a:latin typeface="微软雅黑" pitchFamily="34" charset="-122"/>
                <a:ea typeface="微软雅黑" pitchFamily="34" charset="-122"/>
              </a:rPr>
              <a:t>是美国麻省理工大学于 </a:t>
            </a:r>
            <a:r>
              <a:rPr lang="en-US" altLang="zh-CN" sz="2000" b="1" dirty="0">
                <a:latin typeface="微软雅黑" pitchFamily="34" charset="-122"/>
                <a:ea typeface="微软雅黑" pitchFamily="34" charset="-122"/>
              </a:rPr>
              <a:t>2001 </a:t>
            </a:r>
            <a:r>
              <a:rPr lang="zh-CN" altLang="en-US" sz="2000" b="1" dirty="0">
                <a:latin typeface="微软雅黑" pitchFamily="34" charset="-122"/>
                <a:ea typeface="微软雅黑" pitchFamily="34" charset="-122"/>
              </a:rPr>
              <a:t>年提出的。</a:t>
            </a:r>
          </a:p>
        </p:txBody>
      </p:sp>
    </p:spTree>
    <p:extLst>
      <p:ext uri="{BB962C8B-B14F-4D97-AF65-F5344CB8AC3E}">
        <p14:creationId xmlns:p14="http://schemas.microsoft.com/office/powerpoint/2010/main" val="2911917644"/>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3" y="955373"/>
            <a:ext cx="78235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分布式散列表 </a:t>
            </a:r>
            <a:r>
              <a:rPr lang="en-US" altLang="zh-CN" sz="2000" b="1" dirty="0">
                <a:latin typeface="微软雅黑" pitchFamily="34" charset="-122"/>
                <a:ea typeface="微软雅黑" pitchFamily="34" charset="-122"/>
              </a:rPr>
              <a:t>DHT </a:t>
            </a:r>
            <a:r>
              <a:rPr lang="zh-CN" altLang="en-US" sz="2000" b="1" dirty="0">
                <a:latin typeface="微软雅黑" pitchFamily="34" charset="-122"/>
                <a:ea typeface="微软雅黑" pitchFamily="34" charset="-122"/>
              </a:rPr>
              <a:t>利用散列函数，把资源名 </a:t>
            </a:r>
            <a:r>
              <a:rPr lang="en-US" altLang="zh-CN" sz="2000" b="1" dirty="0">
                <a:latin typeface="微软雅黑" pitchFamily="34" charset="-122"/>
                <a:ea typeface="微软雅黑" pitchFamily="34" charset="-122"/>
              </a:rPr>
              <a:t>K </a:t>
            </a:r>
            <a:r>
              <a:rPr lang="zh-CN" altLang="en-US" sz="2000" b="1" dirty="0">
                <a:latin typeface="微软雅黑" pitchFamily="34" charset="-122"/>
                <a:ea typeface="微软雅黑" pitchFamily="34" charset="-122"/>
              </a:rPr>
              <a:t>及其存放的结点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 </a:t>
            </a:r>
            <a:r>
              <a:rPr lang="en-US" altLang="zh-CN" sz="2000" b="1" dirty="0">
                <a:latin typeface="微软雅黑" pitchFamily="34" charset="-122"/>
                <a:ea typeface="微软雅黑" pitchFamily="34" charset="-122"/>
              </a:rPr>
              <a:t>N </a:t>
            </a:r>
            <a:r>
              <a:rPr lang="zh-CN" altLang="en-US" sz="2000" b="1" dirty="0">
                <a:latin typeface="微软雅黑" pitchFamily="34" charset="-122"/>
                <a:ea typeface="微软雅黑" pitchFamily="34" charset="-122"/>
              </a:rPr>
              <a:t>都分别</a:t>
            </a:r>
            <a:r>
              <a:rPr lang="zh-CN" altLang="en-US" sz="2000" b="1" dirty="0">
                <a:solidFill>
                  <a:srgbClr val="C00000"/>
                </a:solidFill>
                <a:latin typeface="微软雅黑" pitchFamily="34" charset="-122"/>
                <a:ea typeface="微软雅黑" pitchFamily="34" charset="-122"/>
              </a:rPr>
              <a:t>映射</a:t>
            </a:r>
            <a:r>
              <a:rPr lang="zh-CN" altLang="en-US" sz="2000" b="1" dirty="0">
                <a:latin typeface="微软雅黑" pitchFamily="34" charset="-122"/>
                <a:ea typeface="微软雅黑" pitchFamily="34" charset="-122"/>
              </a:rPr>
              <a:t>为</a:t>
            </a:r>
            <a:r>
              <a:rPr lang="zh-CN" altLang="en-US" sz="2000" b="1" dirty="0">
                <a:solidFill>
                  <a:srgbClr val="0000FF"/>
                </a:solidFill>
                <a:latin typeface="微软雅黑" pitchFamily="34" charset="-122"/>
                <a:ea typeface="微软雅黑" pitchFamily="34" charset="-122"/>
              </a:rPr>
              <a:t>资源名标识符 </a:t>
            </a:r>
            <a:r>
              <a:rPr lang="en-US" altLang="zh-CN" sz="2000" b="1" dirty="0">
                <a:solidFill>
                  <a:srgbClr val="0000FF"/>
                </a:solidFill>
                <a:latin typeface="微软雅黑" pitchFamily="34" charset="-122"/>
                <a:ea typeface="微软雅黑" pitchFamily="34" charset="-122"/>
              </a:rPr>
              <a:t>KID </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结点标识符 </a:t>
            </a:r>
            <a:r>
              <a:rPr lang="en-US" altLang="zh-CN" sz="2000" b="1" dirty="0">
                <a:solidFill>
                  <a:srgbClr val="0000FF"/>
                </a:solidFill>
                <a:latin typeface="微软雅黑" pitchFamily="34" charset="-122"/>
                <a:ea typeface="微软雅黑" pitchFamily="34" charset="-122"/>
              </a:rPr>
              <a:t>NID</a:t>
            </a:r>
            <a:r>
              <a:rPr lang="zh-CN" altLang="en-US" sz="2000" b="1" dirty="0">
                <a:latin typeface="微软雅黑" pitchFamily="34" charset="-122"/>
                <a:ea typeface="微软雅黑" pitchFamily="34" charset="-122"/>
              </a:rPr>
              <a:t>。</a:t>
            </a:r>
          </a:p>
          <a:p>
            <a:pPr marL="285750" indent="-285750" eaLnBrk="0" hangingPunct="0">
              <a:lnSpc>
                <a:spcPts val="3300"/>
              </a:lnSpc>
              <a:buClr>
                <a:srgbClr val="0070C0"/>
              </a:buClr>
              <a:buFont typeface="Wingdings" pitchFamily="2" charset="2"/>
              <a:buChar char="l"/>
            </a:pPr>
            <a:r>
              <a:rPr lang="en-US" altLang="zh-CN" sz="2000" b="1" dirty="0">
                <a:latin typeface="微软雅黑" pitchFamily="34" charset="-122"/>
                <a:ea typeface="微软雅黑" pitchFamily="34" charset="-122"/>
              </a:rPr>
              <a:t>Chord </a:t>
            </a:r>
            <a:r>
              <a:rPr lang="zh-CN" altLang="en-US" sz="2000" b="1" dirty="0">
                <a:latin typeface="微软雅黑" pitchFamily="34" charset="-122"/>
                <a:ea typeface="微软雅黑" pitchFamily="34" charset="-122"/>
              </a:rPr>
              <a:t>把结点按标识符数值</a:t>
            </a:r>
            <a:r>
              <a:rPr lang="zh-CN" altLang="en-US" sz="2000" b="1" dirty="0">
                <a:solidFill>
                  <a:srgbClr val="C00000"/>
                </a:solidFill>
                <a:latin typeface="微软雅黑" pitchFamily="34" charset="-122"/>
                <a:ea typeface="微软雅黑" pitchFamily="34" charset="-122"/>
              </a:rPr>
              <a:t>从小到大</a:t>
            </a:r>
            <a:r>
              <a:rPr lang="zh-CN" altLang="en-US" sz="2000" b="1" dirty="0">
                <a:latin typeface="微软雅黑" pitchFamily="34" charset="-122"/>
                <a:ea typeface="微软雅黑" pitchFamily="34" charset="-122"/>
              </a:rPr>
              <a:t>沿顺时针排列成一个</a:t>
            </a:r>
            <a:r>
              <a:rPr lang="zh-CN" altLang="en-US" sz="2000" b="1" dirty="0">
                <a:solidFill>
                  <a:srgbClr val="C00000"/>
                </a:solidFill>
                <a:latin typeface="微软雅黑" pitchFamily="34" charset="-122"/>
                <a:ea typeface="微软雅黑" pitchFamily="34" charset="-122"/>
              </a:rPr>
              <a:t>环形覆盖网络。</a:t>
            </a:r>
            <a:endParaRPr lang="en-US" altLang="zh-CN" sz="2000" b="1" dirty="0">
              <a:solidFill>
                <a:srgbClr val="C00000"/>
              </a:solidFill>
              <a:latin typeface="微软雅黑" pitchFamily="34" charset="-122"/>
              <a:ea typeface="微软雅黑" pitchFamily="34" charset="-122"/>
            </a:endParaRPr>
          </a:p>
          <a:p>
            <a:pPr marL="285750" indent="-28575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每个资源由 </a:t>
            </a:r>
            <a:r>
              <a:rPr lang="en-US" altLang="zh-CN" sz="2000" b="1" dirty="0">
                <a:latin typeface="微软雅黑" pitchFamily="34" charset="-122"/>
                <a:ea typeface="微软雅黑" pitchFamily="34" charset="-122"/>
              </a:rPr>
              <a:t>Chord </a:t>
            </a:r>
            <a:r>
              <a:rPr lang="zh-CN" altLang="en-US" sz="2000" b="1" dirty="0">
                <a:latin typeface="微软雅黑" pitchFamily="34" charset="-122"/>
                <a:ea typeface="微软雅黑" pitchFamily="34" charset="-122"/>
              </a:rPr>
              <a:t>环上与其标识符值</a:t>
            </a:r>
            <a:r>
              <a:rPr lang="zh-CN" altLang="en-US" sz="2000" b="1" dirty="0">
                <a:solidFill>
                  <a:srgbClr val="C00000"/>
                </a:solidFill>
                <a:latin typeface="微软雅黑" pitchFamily="34" charset="-122"/>
                <a:ea typeface="微软雅黑" pitchFamily="34" charset="-122"/>
              </a:rPr>
              <a:t>最接近</a:t>
            </a:r>
            <a:r>
              <a:rPr lang="zh-CN" altLang="en-US" sz="2000" b="1" dirty="0">
                <a:latin typeface="微软雅黑" pitchFamily="34" charset="-122"/>
                <a:ea typeface="微软雅黑" pitchFamily="34" charset="-122"/>
              </a:rPr>
              <a:t>的下一个结点提供服务。</a:t>
            </a:r>
          </a:p>
        </p:txBody>
      </p:sp>
      <p:sp>
        <p:nvSpPr>
          <p:cNvPr id="5"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 </a:t>
            </a:r>
            <a:r>
              <a:rPr lang="en-US" altLang="zh-CN" sz="2000" b="1" dirty="0">
                <a:solidFill>
                  <a:schemeClr val="bg1"/>
                </a:solidFill>
                <a:latin typeface="微软雅黑" pitchFamily="34" charset="-122"/>
                <a:ea typeface="微软雅黑" pitchFamily="34" charset="-122"/>
              </a:rPr>
              <a:t>DHT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环</a:t>
            </a:r>
          </a:p>
        </p:txBody>
      </p:sp>
    </p:spTree>
    <p:extLst>
      <p:ext uri="{BB962C8B-B14F-4D97-AF65-F5344CB8AC3E}">
        <p14:creationId xmlns:p14="http://schemas.microsoft.com/office/powerpoint/2010/main" val="3965372245"/>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08641"/>
            <a:ext cx="8048776" cy="29510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基于 </a:t>
            </a:r>
            <a:r>
              <a:rPr lang="en-US" altLang="zh-CN" sz="2000" b="1" dirty="0">
                <a:solidFill>
                  <a:schemeClr val="bg1"/>
                </a:solidFill>
                <a:latin typeface="微软雅黑" pitchFamily="34" charset="-122"/>
                <a:ea typeface="微软雅黑" pitchFamily="34" charset="-122"/>
              </a:rPr>
              <a:t>DHT </a:t>
            </a:r>
            <a:r>
              <a:rPr lang="zh-CN" altLang="en-US" sz="2000" b="1" dirty="0">
                <a:solidFill>
                  <a:schemeClr val="bg1"/>
                </a:solidFill>
                <a:latin typeface="微软雅黑" pitchFamily="34" charset="-122"/>
                <a:ea typeface="微软雅黑" pitchFamily="34" charset="-122"/>
              </a:rPr>
              <a:t>的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环</a:t>
            </a:r>
          </a:p>
        </p:txBody>
      </p:sp>
      <p:grpSp>
        <p:nvGrpSpPr>
          <p:cNvPr id="6" name="组合 5"/>
          <p:cNvGrpSpPr/>
          <p:nvPr/>
        </p:nvGrpSpPr>
        <p:grpSpPr>
          <a:xfrm>
            <a:off x="1109307" y="1075764"/>
            <a:ext cx="6889473" cy="2859560"/>
            <a:chOff x="168275" y="411163"/>
            <a:chExt cx="8839200" cy="3637998"/>
          </a:xfrm>
        </p:grpSpPr>
        <p:sp>
          <p:nvSpPr>
            <p:cNvPr id="8" name="Text Box 47"/>
            <p:cNvSpPr txBox="1">
              <a:spLocks noChangeArrowheads="1"/>
            </p:cNvSpPr>
            <p:nvPr/>
          </p:nvSpPr>
          <p:spPr bwMode="auto">
            <a:xfrm>
              <a:off x="7902575" y="31623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N13</a:t>
              </a:r>
            </a:p>
          </p:txBody>
        </p:sp>
        <p:sp>
          <p:nvSpPr>
            <p:cNvPr id="9" name="Text Box 81"/>
            <p:cNvSpPr txBox="1">
              <a:spLocks noChangeArrowheads="1"/>
            </p:cNvSpPr>
            <p:nvPr/>
          </p:nvSpPr>
          <p:spPr bwMode="auto">
            <a:xfrm>
              <a:off x="3810001" y="533399"/>
              <a:ext cx="715963"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图例：</a:t>
              </a:r>
            </a:p>
          </p:txBody>
        </p:sp>
        <p:sp>
          <p:nvSpPr>
            <p:cNvPr id="10" name="Text Box 47"/>
            <p:cNvSpPr txBox="1">
              <a:spLocks noChangeArrowheads="1"/>
            </p:cNvSpPr>
            <p:nvPr/>
          </p:nvSpPr>
          <p:spPr bwMode="auto">
            <a:xfrm>
              <a:off x="737454" y="3657600"/>
              <a:ext cx="3156851"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KID </a:t>
              </a:r>
              <a:r>
                <a:rPr kumimoji="1" lang="zh-CN" altLang="en-US" sz="1400" b="1" dirty="0">
                  <a:latin typeface="微软雅黑" panose="020B0503020204020204" pitchFamily="34" charset="-122"/>
                  <a:ea typeface="微软雅黑" panose="020B0503020204020204" pitchFamily="34" charset="-122"/>
                </a:rPr>
                <a:t>和 </a:t>
              </a:r>
              <a:r>
                <a:rPr kumimoji="1" lang="en-US" altLang="zh-CN" sz="1400" b="1" dirty="0">
                  <a:latin typeface="微软雅黑" panose="020B0503020204020204" pitchFamily="34" charset="-122"/>
                  <a:ea typeface="微软雅黑" panose="020B0503020204020204" pitchFamily="34" charset="-122"/>
                </a:rPr>
                <a:t>NID </a:t>
              </a:r>
              <a:r>
                <a:rPr kumimoji="1" lang="zh-CN" altLang="en-US" sz="1400" b="1" dirty="0">
                  <a:latin typeface="微软雅黑" panose="020B0503020204020204" pitchFamily="34" charset="-122"/>
                  <a:ea typeface="微软雅黑" panose="020B0503020204020204" pitchFamily="34" charset="-122"/>
                </a:rPr>
                <a:t>映射在环上</a:t>
              </a:r>
              <a:r>
                <a:rPr kumimoji="1" lang="en-US" altLang="zh-CN" sz="1400" b="1" dirty="0">
                  <a:latin typeface="微软雅黑" panose="020B0503020204020204" pitchFamily="34" charset="-122"/>
                  <a:ea typeface="微软雅黑" panose="020B0503020204020204" pitchFamily="34" charset="-122"/>
                </a:rPr>
                <a:t> </a:t>
              </a:r>
            </a:p>
          </p:txBody>
        </p:sp>
        <p:sp>
          <p:nvSpPr>
            <p:cNvPr id="11" name="Text Box 47"/>
            <p:cNvSpPr txBox="1">
              <a:spLocks noChangeArrowheads="1"/>
            </p:cNvSpPr>
            <p:nvPr/>
          </p:nvSpPr>
          <p:spPr bwMode="auto">
            <a:xfrm>
              <a:off x="4708524" y="533399"/>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NID</a:t>
              </a:r>
            </a:p>
          </p:txBody>
        </p:sp>
        <p:sp>
          <p:nvSpPr>
            <p:cNvPr id="12" name="Oval 53"/>
            <p:cNvSpPr>
              <a:spLocks noChangeArrowheads="1"/>
            </p:cNvSpPr>
            <p:nvPr/>
          </p:nvSpPr>
          <p:spPr bwMode="auto">
            <a:xfrm>
              <a:off x="4457700" y="6254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 name="Text Box 71"/>
            <p:cNvSpPr txBox="1">
              <a:spLocks noChangeArrowheads="1"/>
            </p:cNvSpPr>
            <p:nvPr/>
          </p:nvSpPr>
          <p:spPr bwMode="auto">
            <a:xfrm>
              <a:off x="4435475" y="860424"/>
              <a:ext cx="190500" cy="20557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panose="020B0503020204020204" pitchFamily="34" charset="-122"/>
                <a:ea typeface="微软雅黑" panose="020B0503020204020204" pitchFamily="34" charset="-122"/>
              </a:endParaRPr>
            </a:p>
          </p:txBody>
        </p:sp>
        <p:sp>
          <p:nvSpPr>
            <p:cNvPr id="14" name="Text Box 47"/>
            <p:cNvSpPr txBox="1">
              <a:spLocks noChangeArrowheads="1"/>
            </p:cNvSpPr>
            <p:nvPr/>
          </p:nvSpPr>
          <p:spPr bwMode="auto">
            <a:xfrm>
              <a:off x="4724398" y="80681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KID</a:t>
              </a:r>
            </a:p>
          </p:txBody>
        </p:sp>
        <p:sp>
          <p:nvSpPr>
            <p:cNvPr id="15" name="矩形 14"/>
            <p:cNvSpPr/>
            <p:nvPr/>
          </p:nvSpPr>
          <p:spPr>
            <a:xfrm>
              <a:off x="3886200" y="517525"/>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Oval 20"/>
            <p:cNvSpPr>
              <a:spLocks noChangeArrowheads="1"/>
            </p:cNvSpPr>
            <p:nvPr/>
          </p:nvSpPr>
          <p:spPr bwMode="auto">
            <a:xfrm>
              <a:off x="685800" y="654050"/>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7" name="Text Box 31"/>
            <p:cNvSpPr txBox="1">
              <a:spLocks noChangeArrowheads="1"/>
            </p:cNvSpPr>
            <p:nvPr/>
          </p:nvSpPr>
          <p:spPr bwMode="auto">
            <a:xfrm>
              <a:off x="1962150" y="6540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p>
          </p:txBody>
        </p:sp>
        <p:sp>
          <p:nvSpPr>
            <p:cNvPr id="18" name="Text Box 33"/>
            <p:cNvSpPr txBox="1">
              <a:spLocks noChangeArrowheads="1"/>
            </p:cNvSpPr>
            <p:nvPr/>
          </p:nvSpPr>
          <p:spPr bwMode="auto">
            <a:xfrm>
              <a:off x="2217738" y="6762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p>
          </p:txBody>
        </p:sp>
        <p:sp>
          <p:nvSpPr>
            <p:cNvPr id="19" name="Text Box 34"/>
            <p:cNvSpPr txBox="1">
              <a:spLocks noChangeArrowheads="1"/>
            </p:cNvSpPr>
            <p:nvPr/>
          </p:nvSpPr>
          <p:spPr bwMode="auto">
            <a:xfrm>
              <a:off x="2452688" y="7286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p>
          </p:txBody>
        </p:sp>
        <p:sp>
          <p:nvSpPr>
            <p:cNvPr id="20" name="Text Box 35"/>
            <p:cNvSpPr txBox="1">
              <a:spLocks noChangeArrowheads="1"/>
            </p:cNvSpPr>
            <p:nvPr/>
          </p:nvSpPr>
          <p:spPr bwMode="auto">
            <a:xfrm>
              <a:off x="2695574" y="852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p>
          </p:txBody>
        </p:sp>
        <p:sp>
          <p:nvSpPr>
            <p:cNvPr id="21" name="Text Box 36"/>
            <p:cNvSpPr txBox="1">
              <a:spLocks noChangeArrowheads="1"/>
            </p:cNvSpPr>
            <p:nvPr/>
          </p:nvSpPr>
          <p:spPr bwMode="auto">
            <a:xfrm>
              <a:off x="2851150" y="1028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p>
          </p:txBody>
        </p:sp>
        <p:sp>
          <p:nvSpPr>
            <p:cNvPr id="22" name="Text Box 37"/>
            <p:cNvSpPr txBox="1">
              <a:spLocks noChangeArrowheads="1"/>
            </p:cNvSpPr>
            <p:nvPr/>
          </p:nvSpPr>
          <p:spPr bwMode="auto">
            <a:xfrm>
              <a:off x="3001963" y="1176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p>
          </p:txBody>
        </p:sp>
        <p:sp>
          <p:nvSpPr>
            <p:cNvPr id="23" name="Text Box 38"/>
            <p:cNvSpPr txBox="1">
              <a:spLocks noChangeArrowheads="1"/>
            </p:cNvSpPr>
            <p:nvPr/>
          </p:nvSpPr>
          <p:spPr bwMode="auto">
            <a:xfrm>
              <a:off x="3133725" y="1360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p>
          </p:txBody>
        </p:sp>
        <p:sp>
          <p:nvSpPr>
            <p:cNvPr id="24" name="Text Box 39"/>
            <p:cNvSpPr txBox="1">
              <a:spLocks noChangeArrowheads="1"/>
            </p:cNvSpPr>
            <p:nvPr/>
          </p:nvSpPr>
          <p:spPr bwMode="auto">
            <a:xfrm>
              <a:off x="3200400" y="163512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p>
          </p:txBody>
        </p:sp>
        <p:sp>
          <p:nvSpPr>
            <p:cNvPr id="25" name="Text Box 40"/>
            <p:cNvSpPr txBox="1">
              <a:spLocks noChangeArrowheads="1"/>
            </p:cNvSpPr>
            <p:nvPr/>
          </p:nvSpPr>
          <p:spPr bwMode="auto">
            <a:xfrm>
              <a:off x="3241675" y="18494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p>
          </p:txBody>
        </p:sp>
        <p:sp>
          <p:nvSpPr>
            <p:cNvPr id="26" name="Text Box 41"/>
            <p:cNvSpPr txBox="1">
              <a:spLocks noChangeArrowheads="1"/>
            </p:cNvSpPr>
            <p:nvPr/>
          </p:nvSpPr>
          <p:spPr bwMode="auto">
            <a:xfrm>
              <a:off x="3236913" y="20970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p>
          </p:txBody>
        </p:sp>
        <p:sp>
          <p:nvSpPr>
            <p:cNvPr id="27" name="Text Box 42"/>
            <p:cNvSpPr txBox="1">
              <a:spLocks noChangeArrowheads="1"/>
            </p:cNvSpPr>
            <p:nvPr/>
          </p:nvSpPr>
          <p:spPr bwMode="auto">
            <a:xfrm>
              <a:off x="3178175" y="23447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p>
          </p:txBody>
        </p:sp>
        <p:sp>
          <p:nvSpPr>
            <p:cNvPr id="28" name="Text Box 43"/>
            <p:cNvSpPr txBox="1">
              <a:spLocks noChangeArrowheads="1"/>
            </p:cNvSpPr>
            <p:nvPr/>
          </p:nvSpPr>
          <p:spPr bwMode="auto">
            <a:xfrm>
              <a:off x="3055938" y="25701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p>
          </p:txBody>
        </p:sp>
        <p:sp>
          <p:nvSpPr>
            <p:cNvPr id="29" name="Text Box 44"/>
            <p:cNvSpPr txBox="1">
              <a:spLocks noChangeArrowheads="1"/>
            </p:cNvSpPr>
            <p:nvPr/>
          </p:nvSpPr>
          <p:spPr bwMode="auto">
            <a:xfrm>
              <a:off x="2878138" y="27955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p>
          </p:txBody>
        </p:sp>
        <p:sp>
          <p:nvSpPr>
            <p:cNvPr id="30" name="Text Box 45"/>
            <p:cNvSpPr txBox="1">
              <a:spLocks noChangeArrowheads="1"/>
            </p:cNvSpPr>
            <p:nvPr/>
          </p:nvSpPr>
          <p:spPr bwMode="auto">
            <a:xfrm>
              <a:off x="2709863" y="2932113"/>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p>
          </p:txBody>
        </p:sp>
        <p:sp>
          <p:nvSpPr>
            <p:cNvPr id="31" name="Text Box 46"/>
            <p:cNvSpPr txBox="1">
              <a:spLocks noChangeArrowheads="1"/>
            </p:cNvSpPr>
            <p:nvPr/>
          </p:nvSpPr>
          <p:spPr bwMode="auto">
            <a:xfrm>
              <a:off x="2500314" y="3060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p>
          </p:txBody>
        </p:sp>
        <p:sp>
          <p:nvSpPr>
            <p:cNvPr id="32" name="Text Box 47"/>
            <p:cNvSpPr txBox="1">
              <a:spLocks noChangeArrowheads="1"/>
            </p:cNvSpPr>
            <p:nvPr/>
          </p:nvSpPr>
          <p:spPr bwMode="auto">
            <a:xfrm>
              <a:off x="2233613" y="31337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p>
          </p:txBody>
        </p:sp>
        <p:sp>
          <p:nvSpPr>
            <p:cNvPr id="33" name="Oval 48"/>
            <p:cNvSpPr>
              <a:spLocks noChangeArrowheads="1"/>
            </p:cNvSpPr>
            <p:nvPr/>
          </p:nvSpPr>
          <p:spPr bwMode="auto">
            <a:xfrm>
              <a:off x="3009900" y="9969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4" name="Oval 49"/>
            <p:cNvSpPr>
              <a:spLocks noChangeArrowheads="1"/>
            </p:cNvSpPr>
            <p:nvPr/>
          </p:nvSpPr>
          <p:spPr bwMode="auto">
            <a:xfrm>
              <a:off x="1028700" y="29876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5" name="Oval 50"/>
            <p:cNvSpPr>
              <a:spLocks noChangeArrowheads="1"/>
            </p:cNvSpPr>
            <p:nvPr/>
          </p:nvSpPr>
          <p:spPr bwMode="auto">
            <a:xfrm>
              <a:off x="714375" y="14541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6" name="Oval 51"/>
            <p:cNvSpPr>
              <a:spLocks noChangeArrowheads="1"/>
            </p:cNvSpPr>
            <p:nvPr/>
          </p:nvSpPr>
          <p:spPr bwMode="auto">
            <a:xfrm>
              <a:off x="2609850" y="730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7" name="Oval 52"/>
            <p:cNvSpPr>
              <a:spLocks noChangeArrowheads="1"/>
            </p:cNvSpPr>
            <p:nvPr/>
          </p:nvSpPr>
          <p:spPr bwMode="auto">
            <a:xfrm>
              <a:off x="3332163" y="25415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8" name="Oval 53"/>
            <p:cNvSpPr>
              <a:spLocks noChangeArrowheads="1"/>
            </p:cNvSpPr>
            <p:nvPr/>
          </p:nvSpPr>
          <p:spPr bwMode="auto">
            <a:xfrm>
              <a:off x="1495425" y="682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9" name="Oval 54"/>
            <p:cNvSpPr>
              <a:spLocks noChangeArrowheads="1"/>
            </p:cNvSpPr>
            <p:nvPr/>
          </p:nvSpPr>
          <p:spPr bwMode="auto">
            <a:xfrm>
              <a:off x="3352800" y="1492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0" name="Oval 55"/>
            <p:cNvSpPr>
              <a:spLocks noChangeArrowheads="1"/>
            </p:cNvSpPr>
            <p:nvPr/>
          </p:nvSpPr>
          <p:spPr bwMode="auto">
            <a:xfrm>
              <a:off x="346710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1" name="Oval 56"/>
            <p:cNvSpPr>
              <a:spLocks noChangeArrowheads="1"/>
            </p:cNvSpPr>
            <p:nvPr/>
          </p:nvSpPr>
          <p:spPr bwMode="auto">
            <a:xfrm>
              <a:off x="3057525" y="3016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2" name="Oval 57"/>
            <p:cNvSpPr>
              <a:spLocks noChangeArrowheads="1"/>
            </p:cNvSpPr>
            <p:nvPr/>
          </p:nvSpPr>
          <p:spPr bwMode="auto">
            <a:xfrm>
              <a:off x="2590800" y="3321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3" name="Oval 58"/>
            <p:cNvSpPr>
              <a:spLocks noChangeArrowheads="1"/>
            </p:cNvSpPr>
            <p:nvPr/>
          </p:nvSpPr>
          <p:spPr bwMode="auto">
            <a:xfrm>
              <a:off x="2066925" y="3435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4" name="Oval 59"/>
            <p:cNvSpPr>
              <a:spLocks noChangeArrowheads="1"/>
            </p:cNvSpPr>
            <p:nvPr/>
          </p:nvSpPr>
          <p:spPr bwMode="auto">
            <a:xfrm>
              <a:off x="1524000" y="33305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5" name="Oval 60"/>
            <p:cNvSpPr>
              <a:spLocks noChangeArrowheads="1"/>
            </p:cNvSpPr>
            <p:nvPr/>
          </p:nvSpPr>
          <p:spPr bwMode="auto">
            <a:xfrm>
              <a:off x="762000" y="2559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6" name="Oval 61"/>
            <p:cNvSpPr>
              <a:spLocks noChangeArrowheads="1"/>
            </p:cNvSpPr>
            <p:nvPr/>
          </p:nvSpPr>
          <p:spPr bwMode="auto">
            <a:xfrm>
              <a:off x="64770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7" name="Oval 62"/>
            <p:cNvSpPr>
              <a:spLocks noChangeArrowheads="1"/>
            </p:cNvSpPr>
            <p:nvPr/>
          </p:nvSpPr>
          <p:spPr bwMode="auto">
            <a:xfrm>
              <a:off x="1066800" y="1035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2335213" y="654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846388"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1276350"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1779588"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235325" y="12636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1801813"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252538" y="31988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666750" y="17430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879475" y="12477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2319338"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284638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3440113" y="2284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3219450" y="2809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673100" y="23002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871538" y="28035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3" name="Oval 51"/>
            <p:cNvSpPr>
              <a:spLocks noChangeArrowheads="1"/>
            </p:cNvSpPr>
            <p:nvPr/>
          </p:nvSpPr>
          <p:spPr bwMode="auto">
            <a:xfrm>
              <a:off x="2060575" y="6238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2005013" y="31686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p>
          </p:txBody>
        </p:sp>
        <p:sp>
          <p:nvSpPr>
            <p:cNvPr id="65" name="Text Box 47"/>
            <p:cNvSpPr txBox="1">
              <a:spLocks noChangeArrowheads="1"/>
            </p:cNvSpPr>
            <p:nvPr/>
          </p:nvSpPr>
          <p:spPr bwMode="auto">
            <a:xfrm>
              <a:off x="1762125" y="31480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p>
          </p:txBody>
        </p:sp>
        <p:sp>
          <p:nvSpPr>
            <p:cNvPr id="66" name="Text Box 47"/>
            <p:cNvSpPr txBox="1">
              <a:spLocks noChangeArrowheads="1"/>
            </p:cNvSpPr>
            <p:nvPr/>
          </p:nvSpPr>
          <p:spPr bwMode="auto">
            <a:xfrm>
              <a:off x="1517650" y="30876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p>
          </p:txBody>
        </p:sp>
        <p:sp>
          <p:nvSpPr>
            <p:cNvPr id="67" name="Text Box 47"/>
            <p:cNvSpPr txBox="1">
              <a:spLocks noChangeArrowheads="1"/>
            </p:cNvSpPr>
            <p:nvPr/>
          </p:nvSpPr>
          <p:spPr bwMode="auto">
            <a:xfrm>
              <a:off x="1296988" y="298767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p>
          </p:txBody>
        </p:sp>
        <p:sp>
          <p:nvSpPr>
            <p:cNvPr id="68" name="Text Box 47"/>
            <p:cNvSpPr txBox="1">
              <a:spLocks noChangeArrowheads="1"/>
            </p:cNvSpPr>
            <p:nvPr/>
          </p:nvSpPr>
          <p:spPr bwMode="auto">
            <a:xfrm>
              <a:off x="1181100" y="27511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p>
          </p:txBody>
        </p:sp>
        <p:sp>
          <p:nvSpPr>
            <p:cNvPr id="69" name="Text Box 47"/>
            <p:cNvSpPr txBox="1">
              <a:spLocks noChangeArrowheads="1"/>
            </p:cNvSpPr>
            <p:nvPr/>
          </p:nvSpPr>
          <p:spPr bwMode="auto">
            <a:xfrm>
              <a:off x="990600" y="26368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p>
          </p:txBody>
        </p:sp>
        <p:sp>
          <p:nvSpPr>
            <p:cNvPr id="70" name="Text Box 47"/>
            <p:cNvSpPr txBox="1">
              <a:spLocks noChangeArrowheads="1"/>
            </p:cNvSpPr>
            <p:nvPr/>
          </p:nvSpPr>
          <p:spPr bwMode="auto">
            <a:xfrm>
              <a:off x="876300" y="243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p>
          </p:txBody>
        </p:sp>
        <p:sp>
          <p:nvSpPr>
            <p:cNvPr id="71" name="Text Box 47"/>
            <p:cNvSpPr txBox="1">
              <a:spLocks noChangeArrowheads="1"/>
            </p:cNvSpPr>
            <p:nvPr/>
          </p:nvSpPr>
          <p:spPr bwMode="auto">
            <a:xfrm>
              <a:off x="762000" y="2187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p>
          </p:txBody>
        </p:sp>
        <p:sp>
          <p:nvSpPr>
            <p:cNvPr id="72" name="Text Box 47"/>
            <p:cNvSpPr txBox="1">
              <a:spLocks noChangeArrowheads="1"/>
            </p:cNvSpPr>
            <p:nvPr/>
          </p:nvSpPr>
          <p:spPr bwMode="auto">
            <a:xfrm>
              <a:off x="762000" y="19050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p>
          </p:txBody>
        </p:sp>
        <p:sp>
          <p:nvSpPr>
            <p:cNvPr id="73" name="Text Box 47"/>
            <p:cNvSpPr txBox="1">
              <a:spLocks noChangeArrowheads="1"/>
            </p:cNvSpPr>
            <p:nvPr/>
          </p:nvSpPr>
          <p:spPr bwMode="auto">
            <a:xfrm>
              <a:off x="762000" y="16462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p>
          </p:txBody>
        </p:sp>
        <p:sp>
          <p:nvSpPr>
            <p:cNvPr id="74" name="Text Box 47"/>
            <p:cNvSpPr txBox="1">
              <a:spLocks noChangeArrowheads="1"/>
            </p:cNvSpPr>
            <p:nvPr/>
          </p:nvSpPr>
          <p:spPr bwMode="auto">
            <a:xfrm>
              <a:off x="860425" y="1425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p>
          </p:txBody>
        </p:sp>
        <p:sp>
          <p:nvSpPr>
            <p:cNvPr id="75" name="Text Box 47"/>
            <p:cNvSpPr txBox="1">
              <a:spLocks noChangeArrowheads="1"/>
            </p:cNvSpPr>
            <p:nvPr/>
          </p:nvSpPr>
          <p:spPr bwMode="auto">
            <a:xfrm>
              <a:off x="966787" y="12493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p>
          </p:txBody>
        </p:sp>
        <p:sp>
          <p:nvSpPr>
            <p:cNvPr id="76" name="Text Box 47"/>
            <p:cNvSpPr txBox="1">
              <a:spLocks noChangeArrowheads="1"/>
            </p:cNvSpPr>
            <p:nvPr/>
          </p:nvSpPr>
          <p:spPr bwMode="auto">
            <a:xfrm>
              <a:off x="1058863" y="1044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p>
          </p:txBody>
        </p:sp>
        <p:sp>
          <p:nvSpPr>
            <p:cNvPr id="77" name="Text Box 47"/>
            <p:cNvSpPr txBox="1">
              <a:spLocks noChangeArrowheads="1"/>
            </p:cNvSpPr>
            <p:nvPr/>
          </p:nvSpPr>
          <p:spPr bwMode="auto">
            <a:xfrm>
              <a:off x="1271588" y="8921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p>
          </p:txBody>
        </p:sp>
        <p:sp>
          <p:nvSpPr>
            <p:cNvPr id="78" name="Text Box 47"/>
            <p:cNvSpPr txBox="1">
              <a:spLocks noChangeArrowheads="1"/>
            </p:cNvSpPr>
            <p:nvPr/>
          </p:nvSpPr>
          <p:spPr bwMode="auto">
            <a:xfrm>
              <a:off x="1485900" y="784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p>
          </p:txBody>
        </p:sp>
        <p:sp>
          <p:nvSpPr>
            <p:cNvPr id="79" name="Text Box 47"/>
            <p:cNvSpPr txBox="1">
              <a:spLocks noChangeArrowheads="1"/>
            </p:cNvSpPr>
            <p:nvPr/>
          </p:nvSpPr>
          <p:spPr bwMode="auto">
            <a:xfrm>
              <a:off x="1760538" y="6699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p>
          </p:txBody>
        </p:sp>
        <p:sp>
          <p:nvSpPr>
            <p:cNvPr id="80" name="Text Box 71"/>
            <p:cNvSpPr txBox="1">
              <a:spLocks noChangeArrowheads="1"/>
            </p:cNvSpPr>
            <p:nvPr/>
          </p:nvSpPr>
          <p:spPr bwMode="auto">
            <a:xfrm>
              <a:off x="3733801" y="2286000"/>
              <a:ext cx="381001"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p>
          </p:txBody>
        </p:sp>
        <p:sp>
          <p:nvSpPr>
            <p:cNvPr id="81" name="Oval 53"/>
            <p:cNvSpPr>
              <a:spLocks noChangeArrowheads="1"/>
            </p:cNvSpPr>
            <p:nvPr/>
          </p:nvSpPr>
          <p:spPr bwMode="auto">
            <a:xfrm>
              <a:off x="3390900" y="170656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3581399" y="16002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p>
          </p:txBody>
        </p:sp>
        <p:sp>
          <p:nvSpPr>
            <p:cNvPr id="83" name="Text Box 47"/>
            <p:cNvSpPr txBox="1">
              <a:spLocks noChangeArrowheads="1"/>
            </p:cNvSpPr>
            <p:nvPr/>
          </p:nvSpPr>
          <p:spPr bwMode="auto">
            <a:xfrm>
              <a:off x="3521075" y="2498725"/>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N10</a:t>
              </a:r>
            </a:p>
          </p:txBody>
        </p:sp>
        <p:sp>
          <p:nvSpPr>
            <p:cNvPr id="84" name="Text Box 47"/>
            <p:cNvSpPr txBox="1">
              <a:spLocks noChangeArrowheads="1"/>
            </p:cNvSpPr>
            <p:nvPr/>
          </p:nvSpPr>
          <p:spPr bwMode="auto">
            <a:xfrm>
              <a:off x="3200400" y="8842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p>
          </p:txBody>
        </p:sp>
        <p:sp>
          <p:nvSpPr>
            <p:cNvPr id="85" name="Text Box 47"/>
            <p:cNvSpPr txBox="1">
              <a:spLocks noChangeArrowheads="1"/>
            </p:cNvSpPr>
            <p:nvPr/>
          </p:nvSpPr>
          <p:spPr bwMode="auto">
            <a:xfrm>
              <a:off x="1265237" y="4191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N30</a:t>
              </a:r>
            </a:p>
          </p:txBody>
        </p:sp>
        <p:sp>
          <p:nvSpPr>
            <p:cNvPr id="86" name="Text Box 47"/>
            <p:cNvSpPr txBox="1">
              <a:spLocks noChangeArrowheads="1"/>
            </p:cNvSpPr>
            <p:nvPr/>
          </p:nvSpPr>
          <p:spPr bwMode="auto">
            <a:xfrm>
              <a:off x="647701" y="298767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p>
          </p:txBody>
        </p:sp>
        <p:sp>
          <p:nvSpPr>
            <p:cNvPr id="87" name="Text Box 47"/>
            <p:cNvSpPr txBox="1">
              <a:spLocks noChangeArrowheads="1"/>
            </p:cNvSpPr>
            <p:nvPr/>
          </p:nvSpPr>
          <p:spPr bwMode="auto">
            <a:xfrm>
              <a:off x="304799" y="12954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N26</a:t>
              </a:r>
            </a:p>
          </p:txBody>
        </p:sp>
        <p:sp>
          <p:nvSpPr>
            <p:cNvPr id="88" name="Text Box 71"/>
            <p:cNvSpPr txBox="1">
              <a:spLocks noChangeArrowheads="1"/>
            </p:cNvSpPr>
            <p:nvPr/>
          </p:nvSpPr>
          <p:spPr bwMode="auto">
            <a:xfrm>
              <a:off x="2735264" y="419100"/>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p>
          </p:txBody>
        </p:sp>
        <p:sp>
          <p:nvSpPr>
            <p:cNvPr id="89" name="Text Box 71"/>
            <p:cNvSpPr txBox="1">
              <a:spLocks noChangeArrowheads="1"/>
            </p:cNvSpPr>
            <p:nvPr/>
          </p:nvSpPr>
          <p:spPr bwMode="auto">
            <a:xfrm>
              <a:off x="708024" y="701675"/>
              <a:ext cx="3968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p>
          </p:txBody>
        </p:sp>
        <p:sp>
          <p:nvSpPr>
            <p:cNvPr id="90" name="Text Box 71"/>
            <p:cNvSpPr txBox="1">
              <a:spLocks noChangeArrowheads="1"/>
            </p:cNvSpPr>
            <p:nvPr/>
          </p:nvSpPr>
          <p:spPr bwMode="auto">
            <a:xfrm>
              <a:off x="3124200" y="457200"/>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p>
          </p:txBody>
        </p:sp>
        <p:sp>
          <p:nvSpPr>
            <p:cNvPr id="91" name="Text Box 71"/>
            <p:cNvSpPr txBox="1">
              <a:spLocks noChangeArrowheads="1"/>
            </p:cNvSpPr>
            <p:nvPr/>
          </p:nvSpPr>
          <p:spPr bwMode="auto">
            <a:xfrm>
              <a:off x="715963" y="3336925"/>
              <a:ext cx="357187"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92" name="Text Box 71"/>
            <p:cNvSpPr txBox="1">
              <a:spLocks noChangeArrowheads="1"/>
            </p:cNvSpPr>
            <p:nvPr/>
          </p:nvSpPr>
          <p:spPr bwMode="auto">
            <a:xfrm>
              <a:off x="168275" y="1684338"/>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p>
          </p:txBody>
        </p:sp>
        <p:cxnSp>
          <p:nvCxnSpPr>
            <p:cNvPr id="93" name="直接箭头连接符 92"/>
            <p:cNvCxnSpPr>
              <a:stCxn id="80" idx="1"/>
            </p:cNvCxnSpPr>
            <p:nvPr/>
          </p:nvCxnSpPr>
          <p:spPr bwMode="auto">
            <a:xfrm flipH="1">
              <a:off x="3459165" y="2393680"/>
              <a:ext cx="274636" cy="17489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a:off x="293370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H="1">
              <a:off x="313213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V="1">
              <a:off x="525463" y="1577975"/>
              <a:ext cx="190500" cy="1079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998538" y="3132138"/>
              <a:ext cx="68262" cy="2127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bwMode="auto">
            <a:xfrm flipV="1">
              <a:off x="115093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Oval 20"/>
            <p:cNvSpPr>
              <a:spLocks noChangeArrowheads="1"/>
            </p:cNvSpPr>
            <p:nvPr/>
          </p:nvSpPr>
          <p:spPr bwMode="auto">
            <a:xfrm>
              <a:off x="5638800" y="646113"/>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00" name="Text Box 31"/>
            <p:cNvSpPr txBox="1">
              <a:spLocks noChangeArrowheads="1"/>
            </p:cNvSpPr>
            <p:nvPr/>
          </p:nvSpPr>
          <p:spPr bwMode="auto">
            <a:xfrm>
              <a:off x="6915150" y="6461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p>
          </p:txBody>
        </p:sp>
        <p:sp>
          <p:nvSpPr>
            <p:cNvPr id="101" name="Text Box 33"/>
            <p:cNvSpPr txBox="1">
              <a:spLocks noChangeArrowheads="1"/>
            </p:cNvSpPr>
            <p:nvPr/>
          </p:nvSpPr>
          <p:spPr bwMode="auto">
            <a:xfrm>
              <a:off x="7170738" y="668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p>
          </p:txBody>
        </p:sp>
        <p:sp>
          <p:nvSpPr>
            <p:cNvPr id="102" name="Text Box 34"/>
            <p:cNvSpPr txBox="1">
              <a:spLocks noChangeArrowheads="1"/>
            </p:cNvSpPr>
            <p:nvPr/>
          </p:nvSpPr>
          <p:spPr bwMode="auto">
            <a:xfrm>
              <a:off x="7405688" y="7207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p>
          </p:txBody>
        </p:sp>
        <p:sp>
          <p:nvSpPr>
            <p:cNvPr id="103" name="Text Box 35"/>
            <p:cNvSpPr txBox="1">
              <a:spLocks noChangeArrowheads="1"/>
            </p:cNvSpPr>
            <p:nvPr/>
          </p:nvSpPr>
          <p:spPr bwMode="auto">
            <a:xfrm>
              <a:off x="7648575" y="844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p>
          </p:txBody>
        </p:sp>
        <p:sp>
          <p:nvSpPr>
            <p:cNvPr id="104" name="Text Box 36"/>
            <p:cNvSpPr txBox="1">
              <a:spLocks noChangeArrowheads="1"/>
            </p:cNvSpPr>
            <p:nvPr/>
          </p:nvSpPr>
          <p:spPr bwMode="auto">
            <a:xfrm>
              <a:off x="7804150" y="1020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p>
          </p:txBody>
        </p:sp>
        <p:sp>
          <p:nvSpPr>
            <p:cNvPr id="105" name="Text Box 37"/>
            <p:cNvSpPr txBox="1">
              <a:spLocks noChangeArrowheads="1"/>
            </p:cNvSpPr>
            <p:nvPr/>
          </p:nvSpPr>
          <p:spPr bwMode="auto">
            <a:xfrm>
              <a:off x="7954964" y="116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p>
          </p:txBody>
        </p:sp>
        <p:sp>
          <p:nvSpPr>
            <p:cNvPr id="106" name="Text Box 38"/>
            <p:cNvSpPr txBox="1">
              <a:spLocks noChangeArrowheads="1"/>
            </p:cNvSpPr>
            <p:nvPr/>
          </p:nvSpPr>
          <p:spPr bwMode="auto">
            <a:xfrm>
              <a:off x="8086726" y="1352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p>
          </p:txBody>
        </p:sp>
        <p:sp>
          <p:nvSpPr>
            <p:cNvPr id="107" name="Text Box 39"/>
            <p:cNvSpPr txBox="1">
              <a:spLocks noChangeArrowheads="1"/>
            </p:cNvSpPr>
            <p:nvPr/>
          </p:nvSpPr>
          <p:spPr bwMode="auto">
            <a:xfrm>
              <a:off x="8153399" y="16271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p>
          </p:txBody>
        </p:sp>
        <p:sp>
          <p:nvSpPr>
            <p:cNvPr id="108" name="Text Box 40"/>
            <p:cNvSpPr txBox="1">
              <a:spLocks noChangeArrowheads="1"/>
            </p:cNvSpPr>
            <p:nvPr/>
          </p:nvSpPr>
          <p:spPr bwMode="auto">
            <a:xfrm>
              <a:off x="8194675" y="1841501"/>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p>
          </p:txBody>
        </p:sp>
        <p:sp>
          <p:nvSpPr>
            <p:cNvPr id="109" name="Text Box 41"/>
            <p:cNvSpPr txBox="1">
              <a:spLocks noChangeArrowheads="1"/>
            </p:cNvSpPr>
            <p:nvPr/>
          </p:nvSpPr>
          <p:spPr bwMode="auto">
            <a:xfrm>
              <a:off x="8189913" y="20891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p>
          </p:txBody>
        </p:sp>
        <p:sp>
          <p:nvSpPr>
            <p:cNvPr id="110" name="Text Box 42"/>
            <p:cNvSpPr txBox="1">
              <a:spLocks noChangeArrowheads="1"/>
            </p:cNvSpPr>
            <p:nvPr/>
          </p:nvSpPr>
          <p:spPr bwMode="auto">
            <a:xfrm>
              <a:off x="8131175" y="23368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p>
          </p:txBody>
        </p:sp>
        <p:sp>
          <p:nvSpPr>
            <p:cNvPr id="111" name="Text Box 43"/>
            <p:cNvSpPr txBox="1">
              <a:spLocks noChangeArrowheads="1"/>
            </p:cNvSpPr>
            <p:nvPr/>
          </p:nvSpPr>
          <p:spPr bwMode="auto">
            <a:xfrm>
              <a:off x="8008938" y="2562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p>
          </p:txBody>
        </p:sp>
        <p:sp>
          <p:nvSpPr>
            <p:cNvPr id="112" name="Text Box 44"/>
            <p:cNvSpPr txBox="1">
              <a:spLocks noChangeArrowheads="1"/>
            </p:cNvSpPr>
            <p:nvPr/>
          </p:nvSpPr>
          <p:spPr bwMode="auto">
            <a:xfrm>
              <a:off x="7831138" y="27876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p>
          </p:txBody>
        </p:sp>
        <p:sp>
          <p:nvSpPr>
            <p:cNvPr id="113" name="Text Box 45"/>
            <p:cNvSpPr txBox="1">
              <a:spLocks noChangeArrowheads="1"/>
            </p:cNvSpPr>
            <p:nvPr/>
          </p:nvSpPr>
          <p:spPr bwMode="auto">
            <a:xfrm>
              <a:off x="7662864" y="2924175"/>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p>
          </p:txBody>
        </p:sp>
        <p:sp>
          <p:nvSpPr>
            <p:cNvPr id="114" name="Text Box 46"/>
            <p:cNvSpPr txBox="1">
              <a:spLocks noChangeArrowheads="1"/>
            </p:cNvSpPr>
            <p:nvPr/>
          </p:nvSpPr>
          <p:spPr bwMode="auto">
            <a:xfrm>
              <a:off x="7453313" y="3052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p>
          </p:txBody>
        </p:sp>
        <p:sp>
          <p:nvSpPr>
            <p:cNvPr id="115" name="Text Box 47"/>
            <p:cNvSpPr txBox="1">
              <a:spLocks noChangeArrowheads="1"/>
            </p:cNvSpPr>
            <p:nvPr/>
          </p:nvSpPr>
          <p:spPr bwMode="auto">
            <a:xfrm>
              <a:off x="7186614" y="31257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p>
          </p:txBody>
        </p:sp>
        <p:sp>
          <p:nvSpPr>
            <p:cNvPr id="116" name="Oval 48"/>
            <p:cNvSpPr>
              <a:spLocks noChangeArrowheads="1"/>
            </p:cNvSpPr>
            <p:nvPr/>
          </p:nvSpPr>
          <p:spPr bwMode="auto">
            <a:xfrm>
              <a:off x="7962900" y="98901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7" name="Oval 49"/>
            <p:cNvSpPr>
              <a:spLocks noChangeArrowheads="1"/>
            </p:cNvSpPr>
            <p:nvPr/>
          </p:nvSpPr>
          <p:spPr bwMode="auto">
            <a:xfrm>
              <a:off x="5981700" y="297973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8" name="Oval 51"/>
            <p:cNvSpPr>
              <a:spLocks noChangeArrowheads="1"/>
            </p:cNvSpPr>
            <p:nvPr/>
          </p:nvSpPr>
          <p:spPr bwMode="auto">
            <a:xfrm>
              <a:off x="7562850" y="722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9" name="Oval 52"/>
            <p:cNvSpPr>
              <a:spLocks noChangeArrowheads="1"/>
            </p:cNvSpPr>
            <p:nvPr/>
          </p:nvSpPr>
          <p:spPr bwMode="auto">
            <a:xfrm>
              <a:off x="8285163" y="25336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0" name="Oval 53"/>
            <p:cNvSpPr>
              <a:spLocks noChangeArrowheads="1"/>
            </p:cNvSpPr>
            <p:nvPr/>
          </p:nvSpPr>
          <p:spPr bwMode="auto">
            <a:xfrm>
              <a:off x="6448425" y="6746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1" name="Oval 54"/>
            <p:cNvSpPr>
              <a:spLocks noChangeArrowheads="1"/>
            </p:cNvSpPr>
            <p:nvPr/>
          </p:nvSpPr>
          <p:spPr bwMode="auto">
            <a:xfrm>
              <a:off x="8305800" y="1484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2" name="Oval 55"/>
            <p:cNvSpPr>
              <a:spLocks noChangeArrowheads="1"/>
            </p:cNvSpPr>
            <p:nvPr/>
          </p:nvSpPr>
          <p:spPr bwMode="auto">
            <a:xfrm>
              <a:off x="8420100" y="2008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3" name="Oval 56"/>
            <p:cNvSpPr>
              <a:spLocks noChangeArrowheads="1"/>
            </p:cNvSpPr>
            <p:nvPr/>
          </p:nvSpPr>
          <p:spPr bwMode="auto">
            <a:xfrm>
              <a:off x="8010525" y="30083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4" name="Oval 57"/>
            <p:cNvSpPr>
              <a:spLocks noChangeArrowheads="1"/>
            </p:cNvSpPr>
            <p:nvPr/>
          </p:nvSpPr>
          <p:spPr bwMode="auto">
            <a:xfrm>
              <a:off x="7543800" y="3313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5" name="Oval 58"/>
            <p:cNvSpPr>
              <a:spLocks noChangeArrowheads="1"/>
            </p:cNvSpPr>
            <p:nvPr/>
          </p:nvSpPr>
          <p:spPr bwMode="auto">
            <a:xfrm>
              <a:off x="7019925" y="3427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6" name="Oval 59"/>
            <p:cNvSpPr>
              <a:spLocks noChangeArrowheads="1"/>
            </p:cNvSpPr>
            <p:nvPr/>
          </p:nvSpPr>
          <p:spPr bwMode="auto">
            <a:xfrm>
              <a:off x="6477000" y="33226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7" name="Oval 60"/>
            <p:cNvSpPr>
              <a:spLocks noChangeArrowheads="1"/>
            </p:cNvSpPr>
            <p:nvPr/>
          </p:nvSpPr>
          <p:spPr bwMode="auto">
            <a:xfrm>
              <a:off x="5715000" y="2551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8" name="Oval 61"/>
            <p:cNvSpPr>
              <a:spLocks noChangeArrowheads="1"/>
            </p:cNvSpPr>
            <p:nvPr/>
          </p:nvSpPr>
          <p:spPr bwMode="auto">
            <a:xfrm>
              <a:off x="5600700" y="2008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9" name="Oval 62"/>
            <p:cNvSpPr>
              <a:spLocks noChangeArrowheads="1"/>
            </p:cNvSpPr>
            <p:nvPr/>
          </p:nvSpPr>
          <p:spPr bwMode="auto">
            <a:xfrm>
              <a:off x="6019800" y="1027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0" name="Oval 51"/>
            <p:cNvSpPr>
              <a:spLocks noChangeArrowheads="1"/>
            </p:cNvSpPr>
            <p:nvPr/>
          </p:nvSpPr>
          <p:spPr bwMode="auto">
            <a:xfrm>
              <a:off x="7288213"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1" name="Oval 51"/>
            <p:cNvSpPr>
              <a:spLocks noChangeArrowheads="1"/>
            </p:cNvSpPr>
            <p:nvPr/>
          </p:nvSpPr>
          <p:spPr bwMode="auto">
            <a:xfrm>
              <a:off x="7799388" y="8524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2" name="Oval 51"/>
            <p:cNvSpPr>
              <a:spLocks noChangeArrowheads="1"/>
            </p:cNvSpPr>
            <p:nvPr/>
          </p:nvSpPr>
          <p:spPr bwMode="auto">
            <a:xfrm>
              <a:off x="6229350" y="8524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3" name="Oval 51"/>
            <p:cNvSpPr>
              <a:spLocks noChangeArrowheads="1"/>
            </p:cNvSpPr>
            <p:nvPr/>
          </p:nvSpPr>
          <p:spPr bwMode="auto">
            <a:xfrm>
              <a:off x="6732588" y="6381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4" name="Oval 51"/>
            <p:cNvSpPr>
              <a:spLocks noChangeArrowheads="1"/>
            </p:cNvSpPr>
            <p:nvPr/>
          </p:nvSpPr>
          <p:spPr bwMode="auto">
            <a:xfrm>
              <a:off x="8188325" y="12557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5" name="Oval 51"/>
            <p:cNvSpPr>
              <a:spLocks noChangeArrowheads="1"/>
            </p:cNvSpPr>
            <p:nvPr/>
          </p:nvSpPr>
          <p:spPr bwMode="auto">
            <a:xfrm>
              <a:off x="6754813" y="3405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6" name="Oval 51"/>
            <p:cNvSpPr>
              <a:spLocks noChangeArrowheads="1"/>
            </p:cNvSpPr>
            <p:nvPr/>
          </p:nvSpPr>
          <p:spPr bwMode="auto">
            <a:xfrm>
              <a:off x="620553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7" name="Oval 51"/>
            <p:cNvSpPr>
              <a:spLocks noChangeArrowheads="1"/>
            </p:cNvSpPr>
            <p:nvPr/>
          </p:nvSpPr>
          <p:spPr bwMode="auto">
            <a:xfrm>
              <a:off x="5619750" y="17351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8" name="Oval 51"/>
            <p:cNvSpPr>
              <a:spLocks noChangeArrowheads="1"/>
            </p:cNvSpPr>
            <p:nvPr/>
          </p:nvSpPr>
          <p:spPr bwMode="auto">
            <a:xfrm>
              <a:off x="5832475" y="12398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9" name="Oval 51"/>
            <p:cNvSpPr>
              <a:spLocks noChangeArrowheads="1"/>
            </p:cNvSpPr>
            <p:nvPr/>
          </p:nvSpPr>
          <p:spPr bwMode="auto">
            <a:xfrm>
              <a:off x="7272338" y="34051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0" name="Oval 51"/>
            <p:cNvSpPr>
              <a:spLocks noChangeArrowheads="1"/>
            </p:cNvSpPr>
            <p:nvPr/>
          </p:nvSpPr>
          <p:spPr bwMode="auto">
            <a:xfrm>
              <a:off x="8393113" y="22764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1" name="Oval 51"/>
            <p:cNvSpPr>
              <a:spLocks noChangeArrowheads="1"/>
            </p:cNvSpPr>
            <p:nvPr/>
          </p:nvSpPr>
          <p:spPr bwMode="auto">
            <a:xfrm>
              <a:off x="8172450" y="28019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2" name="Oval 51"/>
            <p:cNvSpPr>
              <a:spLocks noChangeArrowheads="1"/>
            </p:cNvSpPr>
            <p:nvPr/>
          </p:nvSpPr>
          <p:spPr bwMode="auto">
            <a:xfrm>
              <a:off x="5626100" y="2292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3" name="Oval 51"/>
            <p:cNvSpPr>
              <a:spLocks noChangeArrowheads="1"/>
            </p:cNvSpPr>
            <p:nvPr/>
          </p:nvSpPr>
          <p:spPr bwMode="auto">
            <a:xfrm>
              <a:off x="5824538" y="27955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4" name="Oval 51"/>
            <p:cNvSpPr>
              <a:spLocks noChangeArrowheads="1"/>
            </p:cNvSpPr>
            <p:nvPr/>
          </p:nvSpPr>
          <p:spPr bwMode="auto">
            <a:xfrm>
              <a:off x="7013575" y="6159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5" name="Text Box 47"/>
            <p:cNvSpPr txBox="1">
              <a:spLocks noChangeArrowheads="1"/>
            </p:cNvSpPr>
            <p:nvPr/>
          </p:nvSpPr>
          <p:spPr bwMode="auto">
            <a:xfrm>
              <a:off x="6958012" y="31607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p>
          </p:txBody>
        </p:sp>
        <p:sp>
          <p:nvSpPr>
            <p:cNvPr id="146" name="Text Box 47"/>
            <p:cNvSpPr txBox="1">
              <a:spLocks noChangeArrowheads="1"/>
            </p:cNvSpPr>
            <p:nvPr/>
          </p:nvSpPr>
          <p:spPr bwMode="auto">
            <a:xfrm>
              <a:off x="6715125" y="31400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p>
          </p:txBody>
        </p:sp>
        <p:sp>
          <p:nvSpPr>
            <p:cNvPr id="147" name="Text Box 47"/>
            <p:cNvSpPr txBox="1">
              <a:spLocks noChangeArrowheads="1"/>
            </p:cNvSpPr>
            <p:nvPr/>
          </p:nvSpPr>
          <p:spPr bwMode="auto">
            <a:xfrm>
              <a:off x="6470650" y="30797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p>
          </p:txBody>
        </p:sp>
        <p:sp>
          <p:nvSpPr>
            <p:cNvPr id="148" name="Text Box 47"/>
            <p:cNvSpPr txBox="1">
              <a:spLocks noChangeArrowheads="1"/>
            </p:cNvSpPr>
            <p:nvPr/>
          </p:nvSpPr>
          <p:spPr bwMode="auto">
            <a:xfrm>
              <a:off x="6249988" y="29797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p>
          </p:txBody>
        </p:sp>
        <p:sp>
          <p:nvSpPr>
            <p:cNvPr id="149" name="Text Box 47"/>
            <p:cNvSpPr txBox="1">
              <a:spLocks noChangeArrowheads="1"/>
            </p:cNvSpPr>
            <p:nvPr/>
          </p:nvSpPr>
          <p:spPr bwMode="auto">
            <a:xfrm>
              <a:off x="6134099" y="27432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p>
          </p:txBody>
        </p:sp>
        <p:sp>
          <p:nvSpPr>
            <p:cNvPr id="150" name="Text Box 47"/>
            <p:cNvSpPr txBox="1">
              <a:spLocks noChangeArrowheads="1"/>
            </p:cNvSpPr>
            <p:nvPr/>
          </p:nvSpPr>
          <p:spPr bwMode="auto">
            <a:xfrm>
              <a:off x="5943600" y="26289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p>
          </p:txBody>
        </p:sp>
        <p:sp>
          <p:nvSpPr>
            <p:cNvPr id="151" name="Text Box 47"/>
            <p:cNvSpPr txBox="1">
              <a:spLocks noChangeArrowheads="1"/>
            </p:cNvSpPr>
            <p:nvPr/>
          </p:nvSpPr>
          <p:spPr bwMode="auto">
            <a:xfrm>
              <a:off x="5829301" y="243046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p>
          </p:txBody>
        </p:sp>
        <p:sp>
          <p:nvSpPr>
            <p:cNvPr id="152" name="Text Box 47"/>
            <p:cNvSpPr txBox="1">
              <a:spLocks noChangeArrowheads="1"/>
            </p:cNvSpPr>
            <p:nvPr/>
          </p:nvSpPr>
          <p:spPr bwMode="auto">
            <a:xfrm>
              <a:off x="5715001" y="2179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p>
          </p:txBody>
        </p:sp>
        <p:sp>
          <p:nvSpPr>
            <p:cNvPr id="153" name="Text Box 47"/>
            <p:cNvSpPr txBox="1">
              <a:spLocks noChangeArrowheads="1"/>
            </p:cNvSpPr>
            <p:nvPr/>
          </p:nvSpPr>
          <p:spPr bwMode="auto">
            <a:xfrm>
              <a:off x="5715001" y="1897062"/>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p>
          </p:txBody>
        </p:sp>
        <p:sp>
          <p:nvSpPr>
            <p:cNvPr id="154" name="Text Box 47"/>
            <p:cNvSpPr txBox="1">
              <a:spLocks noChangeArrowheads="1"/>
            </p:cNvSpPr>
            <p:nvPr/>
          </p:nvSpPr>
          <p:spPr bwMode="auto">
            <a:xfrm>
              <a:off x="5715001" y="16383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p>
          </p:txBody>
        </p:sp>
        <p:sp>
          <p:nvSpPr>
            <p:cNvPr id="155" name="Text Box 47"/>
            <p:cNvSpPr txBox="1">
              <a:spLocks noChangeArrowheads="1"/>
            </p:cNvSpPr>
            <p:nvPr/>
          </p:nvSpPr>
          <p:spPr bwMode="auto">
            <a:xfrm>
              <a:off x="5813425" y="1417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p>
          </p:txBody>
        </p:sp>
        <p:sp>
          <p:nvSpPr>
            <p:cNvPr id="156" name="Text Box 47"/>
            <p:cNvSpPr txBox="1">
              <a:spLocks noChangeArrowheads="1"/>
            </p:cNvSpPr>
            <p:nvPr/>
          </p:nvSpPr>
          <p:spPr bwMode="auto">
            <a:xfrm>
              <a:off x="5919788" y="12414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p>
          </p:txBody>
        </p:sp>
        <p:sp>
          <p:nvSpPr>
            <p:cNvPr id="157" name="Text Box 47"/>
            <p:cNvSpPr txBox="1">
              <a:spLocks noChangeArrowheads="1"/>
            </p:cNvSpPr>
            <p:nvPr/>
          </p:nvSpPr>
          <p:spPr bwMode="auto">
            <a:xfrm>
              <a:off x="6011863" y="1036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p>
          </p:txBody>
        </p:sp>
        <p:sp>
          <p:nvSpPr>
            <p:cNvPr id="158" name="Text Box 47"/>
            <p:cNvSpPr txBox="1">
              <a:spLocks noChangeArrowheads="1"/>
            </p:cNvSpPr>
            <p:nvPr/>
          </p:nvSpPr>
          <p:spPr bwMode="auto">
            <a:xfrm>
              <a:off x="6224588" y="8842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p>
          </p:txBody>
        </p:sp>
        <p:sp>
          <p:nvSpPr>
            <p:cNvPr id="159" name="Text Box 47"/>
            <p:cNvSpPr txBox="1">
              <a:spLocks noChangeArrowheads="1"/>
            </p:cNvSpPr>
            <p:nvPr/>
          </p:nvSpPr>
          <p:spPr bwMode="auto">
            <a:xfrm>
              <a:off x="6438900" y="7762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p>
          </p:txBody>
        </p:sp>
        <p:sp>
          <p:nvSpPr>
            <p:cNvPr id="160" name="Text Box 47"/>
            <p:cNvSpPr txBox="1">
              <a:spLocks noChangeArrowheads="1"/>
            </p:cNvSpPr>
            <p:nvPr/>
          </p:nvSpPr>
          <p:spPr bwMode="auto">
            <a:xfrm>
              <a:off x="6713539" y="6619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p>
          </p:txBody>
        </p:sp>
        <p:sp>
          <p:nvSpPr>
            <p:cNvPr id="161" name="Text Box 71"/>
            <p:cNvSpPr txBox="1">
              <a:spLocks noChangeArrowheads="1"/>
            </p:cNvSpPr>
            <p:nvPr/>
          </p:nvSpPr>
          <p:spPr bwMode="auto">
            <a:xfrm>
              <a:off x="8702675" y="2239963"/>
              <a:ext cx="304800"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p>
          </p:txBody>
        </p:sp>
        <p:sp>
          <p:nvSpPr>
            <p:cNvPr id="162" name="Oval 53"/>
            <p:cNvSpPr>
              <a:spLocks noChangeArrowheads="1"/>
            </p:cNvSpPr>
            <p:nvPr/>
          </p:nvSpPr>
          <p:spPr bwMode="auto">
            <a:xfrm>
              <a:off x="8343900" y="1698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63" name="Text Box 47"/>
            <p:cNvSpPr txBox="1">
              <a:spLocks noChangeArrowheads="1"/>
            </p:cNvSpPr>
            <p:nvPr/>
          </p:nvSpPr>
          <p:spPr bwMode="auto">
            <a:xfrm>
              <a:off x="8534400" y="15922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p>
          </p:txBody>
        </p:sp>
        <p:sp>
          <p:nvSpPr>
            <p:cNvPr id="164" name="Text Box 47"/>
            <p:cNvSpPr txBox="1">
              <a:spLocks noChangeArrowheads="1"/>
            </p:cNvSpPr>
            <p:nvPr/>
          </p:nvSpPr>
          <p:spPr bwMode="auto">
            <a:xfrm>
              <a:off x="8474075" y="25066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p>
          </p:txBody>
        </p:sp>
        <p:sp>
          <p:nvSpPr>
            <p:cNvPr id="165" name="Text Box 47"/>
            <p:cNvSpPr txBox="1">
              <a:spLocks noChangeArrowheads="1"/>
            </p:cNvSpPr>
            <p:nvPr/>
          </p:nvSpPr>
          <p:spPr bwMode="auto">
            <a:xfrm>
              <a:off x="8153399" y="8763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p>
          </p:txBody>
        </p:sp>
        <p:sp>
          <p:nvSpPr>
            <p:cNvPr id="166" name="Text Box 47"/>
            <p:cNvSpPr txBox="1">
              <a:spLocks noChangeArrowheads="1"/>
            </p:cNvSpPr>
            <p:nvPr/>
          </p:nvSpPr>
          <p:spPr bwMode="auto">
            <a:xfrm>
              <a:off x="6218238" y="4111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p>
          </p:txBody>
        </p:sp>
        <p:sp>
          <p:nvSpPr>
            <p:cNvPr id="167" name="Text Box 47"/>
            <p:cNvSpPr txBox="1">
              <a:spLocks noChangeArrowheads="1"/>
            </p:cNvSpPr>
            <p:nvPr/>
          </p:nvSpPr>
          <p:spPr bwMode="auto">
            <a:xfrm>
              <a:off x="5600699" y="29797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p>
          </p:txBody>
        </p:sp>
        <p:sp>
          <p:nvSpPr>
            <p:cNvPr id="168" name="Text Box 71"/>
            <p:cNvSpPr txBox="1">
              <a:spLocks noChangeArrowheads="1"/>
            </p:cNvSpPr>
            <p:nvPr/>
          </p:nvSpPr>
          <p:spPr bwMode="auto">
            <a:xfrm>
              <a:off x="7688263" y="411163"/>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p>
          </p:txBody>
        </p:sp>
        <p:sp>
          <p:nvSpPr>
            <p:cNvPr id="169" name="Text Box 71"/>
            <p:cNvSpPr txBox="1">
              <a:spLocks noChangeArrowheads="1"/>
            </p:cNvSpPr>
            <p:nvPr/>
          </p:nvSpPr>
          <p:spPr bwMode="auto">
            <a:xfrm>
              <a:off x="5661023" y="693738"/>
              <a:ext cx="3968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p>
          </p:txBody>
        </p:sp>
        <p:sp>
          <p:nvSpPr>
            <p:cNvPr id="170" name="Text Box 71"/>
            <p:cNvSpPr txBox="1">
              <a:spLocks noChangeArrowheads="1"/>
            </p:cNvSpPr>
            <p:nvPr/>
          </p:nvSpPr>
          <p:spPr bwMode="auto">
            <a:xfrm>
              <a:off x="8077200" y="449264"/>
              <a:ext cx="358775"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p>
          </p:txBody>
        </p:sp>
        <p:sp>
          <p:nvSpPr>
            <p:cNvPr id="171" name="Text Box 71"/>
            <p:cNvSpPr txBox="1">
              <a:spLocks noChangeArrowheads="1"/>
            </p:cNvSpPr>
            <p:nvPr/>
          </p:nvSpPr>
          <p:spPr bwMode="auto">
            <a:xfrm>
              <a:off x="8305800" y="3047999"/>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172" name="Text Box 71"/>
            <p:cNvSpPr txBox="1">
              <a:spLocks noChangeArrowheads="1"/>
            </p:cNvSpPr>
            <p:nvPr/>
          </p:nvSpPr>
          <p:spPr bwMode="auto">
            <a:xfrm>
              <a:off x="5426076" y="968375"/>
              <a:ext cx="357188" cy="215358"/>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p>
          </p:txBody>
        </p:sp>
        <p:cxnSp>
          <p:nvCxnSpPr>
            <p:cNvPr id="173" name="直接箭头连接符 172"/>
            <p:cNvCxnSpPr>
              <a:endCxn id="119" idx="7"/>
            </p:cNvCxnSpPr>
            <p:nvPr/>
          </p:nvCxnSpPr>
          <p:spPr bwMode="auto">
            <a:xfrm flipH="1">
              <a:off x="8415338" y="2430463"/>
              <a:ext cx="287337" cy="1254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直接箭头连接符 173"/>
            <p:cNvCxnSpPr/>
            <p:nvPr/>
          </p:nvCxnSpPr>
          <p:spPr bwMode="auto">
            <a:xfrm>
              <a:off x="7886700" y="677863"/>
              <a:ext cx="139700" cy="3159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直接箭头连接符 174"/>
            <p:cNvCxnSpPr/>
            <p:nvPr/>
          </p:nvCxnSpPr>
          <p:spPr bwMode="auto">
            <a:xfrm flipH="1">
              <a:off x="8085138" y="711200"/>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6" name="直接箭头连接符 175"/>
            <p:cNvCxnSpPr/>
            <p:nvPr/>
          </p:nvCxnSpPr>
          <p:spPr bwMode="auto">
            <a:xfrm flipV="1">
              <a:off x="5768975" y="762000"/>
              <a:ext cx="708025" cy="2968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直接箭头连接符 176"/>
            <p:cNvCxnSpPr>
              <a:stCxn id="171" idx="1"/>
            </p:cNvCxnSpPr>
            <p:nvPr/>
          </p:nvCxnSpPr>
          <p:spPr bwMode="auto">
            <a:xfrm flipH="1">
              <a:off x="7902576" y="3155679"/>
              <a:ext cx="403224" cy="7488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8" name="直接箭头连接符 177"/>
            <p:cNvCxnSpPr/>
            <p:nvPr/>
          </p:nvCxnSpPr>
          <p:spPr bwMode="auto">
            <a:xfrm flipV="1">
              <a:off x="6103938" y="738188"/>
              <a:ext cx="342900" cy="5556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9" name="Text Box 47"/>
            <p:cNvSpPr txBox="1">
              <a:spLocks noChangeArrowheads="1"/>
            </p:cNvSpPr>
            <p:nvPr/>
          </p:nvSpPr>
          <p:spPr bwMode="auto">
            <a:xfrm>
              <a:off x="5797294" y="3657600"/>
              <a:ext cx="2630707"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N13 </a:t>
              </a:r>
              <a:r>
                <a:rPr kumimoji="1" lang="zh-CN" altLang="en-US" sz="1400" b="1" dirty="0">
                  <a:latin typeface="微软雅黑" panose="020B0503020204020204" pitchFamily="34" charset="-122"/>
                  <a:ea typeface="微软雅黑" panose="020B0503020204020204" pitchFamily="34" charset="-122"/>
                </a:rPr>
                <a:t>加入，</a:t>
              </a:r>
              <a:r>
                <a:rPr kumimoji="1" lang="en-US" altLang="zh-CN" sz="1400" b="1" dirty="0">
                  <a:latin typeface="微软雅黑" panose="020B0503020204020204" pitchFamily="34" charset="-122"/>
                  <a:ea typeface="微软雅黑" panose="020B0503020204020204" pitchFamily="34" charset="-122"/>
                </a:rPr>
                <a:t>N26 </a:t>
              </a:r>
              <a:r>
                <a:rPr kumimoji="1" lang="zh-CN" altLang="en-US" sz="1400" b="1" dirty="0">
                  <a:latin typeface="微软雅黑" panose="020B0503020204020204" pitchFamily="34" charset="-122"/>
                  <a:ea typeface="微软雅黑" panose="020B0503020204020204" pitchFamily="34" charset="-122"/>
                </a:rPr>
                <a:t>退出</a:t>
              </a:r>
              <a:r>
                <a:rPr kumimoji="1" lang="en-US" altLang="zh-CN" sz="1400" b="1" dirty="0">
                  <a:latin typeface="微软雅黑" panose="020B0503020204020204" pitchFamily="34" charset="-122"/>
                  <a:ea typeface="微软雅黑" panose="020B0503020204020204" pitchFamily="34" charset="-122"/>
                </a:rPr>
                <a:t> </a:t>
              </a:r>
            </a:p>
          </p:txBody>
        </p:sp>
        <p:sp>
          <p:nvSpPr>
            <p:cNvPr id="180" name="Oval 52"/>
            <p:cNvSpPr>
              <a:spLocks noChangeArrowheads="1"/>
            </p:cNvSpPr>
            <p:nvPr/>
          </p:nvSpPr>
          <p:spPr bwMode="auto">
            <a:xfrm>
              <a:off x="7764463" y="316230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81" name="Oval 51"/>
            <p:cNvSpPr>
              <a:spLocks noChangeArrowheads="1"/>
            </p:cNvSpPr>
            <p:nvPr/>
          </p:nvSpPr>
          <p:spPr bwMode="auto">
            <a:xfrm>
              <a:off x="5707063" y="149383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613815331"/>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2783302" y="1062034"/>
            <a:ext cx="5868157" cy="32655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37582" y="575320"/>
            <a:ext cx="3687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通过指针表</a:t>
            </a:r>
            <a:r>
              <a:rPr lang="zh-CN" altLang="en-US" sz="2000" b="1" dirty="0">
                <a:solidFill>
                  <a:srgbClr val="FFC000"/>
                </a:solidFill>
                <a:latin typeface="微软雅黑" pitchFamily="34" charset="-122"/>
                <a:ea typeface="微软雅黑" pitchFamily="34" charset="-122"/>
              </a:rPr>
              <a:t>加速</a:t>
            </a:r>
            <a:r>
              <a:rPr lang="zh-CN" altLang="en-US" sz="2000" b="1" dirty="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Chord </a:t>
            </a:r>
            <a:r>
              <a:rPr lang="zh-CN" altLang="en-US" sz="2000" b="1" dirty="0">
                <a:solidFill>
                  <a:schemeClr val="bg1"/>
                </a:solidFill>
                <a:latin typeface="微软雅黑" pitchFamily="34" charset="-122"/>
                <a:ea typeface="微软雅黑" pitchFamily="34" charset="-122"/>
              </a:rPr>
              <a:t>表查找</a:t>
            </a:r>
          </a:p>
        </p:txBody>
      </p:sp>
      <p:sp>
        <p:nvSpPr>
          <p:cNvPr id="5" name="Rectangle 68"/>
          <p:cNvSpPr>
            <a:spLocks noChangeArrowheads="1"/>
          </p:cNvSpPr>
          <p:nvPr/>
        </p:nvSpPr>
        <p:spPr bwMode="auto">
          <a:xfrm>
            <a:off x="367334" y="1022889"/>
            <a:ext cx="2457313" cy="32085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73050" indent="-273050" eaLnBrk="0" hangingPunct="0">
              <a:lnSpc>
                <a:spcPts val="2700"/>
              </a:lnSpc>
              <a:buClr>
                <a:srgbClr val="0070C0"/>
              </a:buClr>
              <a:buFont typeface="Wingdings" pitchFamily="2" charset="2"/>
              <a:buChar char="l"/>
            </a:pPr>
            <a:r>
              <a:rPr lang="zh-CN" altLang="en-US" sz="1600" b="1" dirty="0">
                <a:latin typeface="微软雅黑" pitchFamily="34" charset="-122"/>
                <a:ea typeface="微软雅黑" pitchFamily="34" charset="-122"/>
              </a:rPr>
              <a:t>为了加速查找，在 </a:t>
            </a:r>
            <a:r>
              <a:rPr lang="en-US" altLang="zh-CN" sz="1600" b="1" dirty="0">
                <a:latin typeface="微软雅黑" pitchFamily="34" charset="-122"/>
                <a:ea typeface="微软雅黑" pitchFamily="34" charset="-122"/>
              </a:rPr>
              <a:t>Chord </a:t>
            </a:r>
            <a:r>
              <a:rPr lang="zh-CN" altLang="en-US" sz="1600" b="1" dirty="0">
                <a:latin typeface="微软雅黑" pitchFamily="34" charset="-122"/>
                <a:ea typeface="微软雅黑" pitchFamily="34" charset="-122"/>
              </a:rPr>
              <a:t>环上可以增加一些</a:t>
            </a:r>
            <a:r>
              <a:rPr lang="zh-CN" altLang="en-US" sz="1600" b="1" dirty="0">
                <a:solidFill>
                  <a:srgbClr val="0000FF"/>
                </a:solidFill>
                <a:latin typeface="微软雅黑" pitchFamily="34" charset="-122"/>
                <a:ea typeface="微软雅黑" pitchFamily="34" charset="-122"/>
              </a:rPr>
              <a:t>指针表</a:t>
            </a:r>
            <a:r>
              <a:rPr lang="en-US" altLang="zh-CN" sz="1600" b="1" dirty="0">
                <a:latin typeface="微软雅黑" pitchFamily="34" charset="-122"/>
                <a:ea typeface="微软雅黑" pitchFamily="34" charset="-122"/>
              </a:rPr>
              <a:t>(finger table)</a:t>
            </a:r>
            <a:r>
              <a:rPr lang="zh-CN" altLang="en-US" sz="1600" b="1" dirty="0">
                <a:latin typeface="微软雅黑" pitchFamily="34" charset="-122"/>
                <a:ea typeface="微软雅黑" pitchFamily="34" charset="-122"/>
              </a:rPr>
              <a:t>，又称为</a:t>
            </a:r>
            <a:r>
              <a:rPr lang="zh-CN" altLang="en-US" sz="1600" b="1" dirty="0">
                <a:solidFill>
                  <a:srgbClr val="0000FF"/>
                </a:solidFill>
                <a:latin typeface="微软雅黑" pitchFamily="34" charset="-122"/>
                <a:ea typeface="微软雅黑" pitchFamily="34" charset="-122"/>
              </a:rPr>
              <a:t>路由表</a:t>
            </a:r>
            <a:r>
              <a:rPr lang="zh-CN" altLang="en-US" sz="1600" b="1" dirty="0">
                <a:latin typeface="微软雅黑" pitchFamily="34" charset="-122"/>
                <a:ea typeface="微软雅黑" pitchFamily="34" charset="-122"/>
              </a:rPr>
              <a:t>或</a:t>
            </a:r>
            <a:r>
              <a:rPr lang="zh-CN" altLang="en-US" sz="1600" b="1" dirty="0">
                <a:solidFill>
                  <a:srgbClr val="0000FF"/>
                </a:solidFill>
                <a:latin typeface="微软雅黑" pitchFamily="34" charset="-122"/>
                <a:ea typeface="微软雅黑" pitchFamily="34" charset="-122"/>
              </a:rPr>
              <a:t>查找器表。</a:t>
            </a:r>
          </a:p>
          <a:p>
            <a:pPr marL="273050" indent="-273050" eaLnBrk="0" hangingPunct="0">
              <a:lnSpc>
                <a:spcPts val="2700"/>
              </a:lnSpc>
              <a:buClr>
                <a:srgbClr val="0070C0"/>
              </a:buClr>
              <a:buFont typeface="Wingdings" pitchFamily="2" charset="2"/>
              <a:buChar char="l"/>
            </a:pPr>
            <a:r>
              <a:rPr lang="zh-CN" altLang="en-US" sz="1600" b="1" dirty="0">
                <a:latin typeface="微软雅黑" pitchFamily="34" charset="-122"/>
                <a:ea typeface="微软雅黑" pitchFamily="34" charset="-122"/>
              </a:rPr>
              <a:t>对于结点 </a:t>
            </a:r>
            <a:r>
              <a:rPr lang="en-US" altLang="zh-CN" sz="1600" b="1" dirty="0">
                <a:latin typeface="微软雅黑" pitchFamily="34" charset="-122"/>
                <a:ea typeface="微软雅黑" pitchFamily="34" charset="-122"/>
              </a:rPr>
              <a:t>N4</a:t>
            </a:r>
            <a:r>
              <a:rPr lang="zh-CN" altLang="en-US" sz="1600" b="1" dirty="0">
                <a:latin typeface="微软雅黑" pitchFamily="34" charset="-122"/>
                <a:ea typeface="微软雅黑" pitchFamily="34" charset="-122"/>
              </a:rPr>
              <a:t>，其指针表的第 </a:t>
            </a:r>
            <a:r>
              <a:rPr lang="en-US" altLang="zh-CN" sz="1600" b="1" dirty="0">
                <a:latin typeface="微软雅黑" pitchFamily="34" charset="-122"/>
                <a:ea typeface="微软雅黑" pitchFamily="34" charset="-122"/>
              </a:rPr>
              <a:t>2 </a:t>
            </a:r>
            <a:r>
              <a:rPr lang="zh-CN" altLang="en-US" sz="1600" b="1" dirty="0">
                <a:latin typeface="微软雅黑" pitchFamily="34" charset="-122"/>
                <a:ea typeface="微软雅黑" pitchFamily="34" charset="-122"/>
              </a:rPr>
              <a:t>列第 </a:t>
            </a:r>
            <a:r>
              <a:rPr lang="en-US" altLang="zh-CN" sz="1600" b="1" i="1" dirty="0" err="1">
                <a:latin typeface="微软雅黑" pitchFamily="34" charset="-122"/>
                <a:ea typeface="微软雅黑" pitchFamily="34" charset="-122"/>
              </a:rPr>
              <a:t>i</a:t>
            </a:r>
            <a:r>
              <a:rPr lang="en-US" altLang="zh-CN" sz="1600" b="1" i="1" dirty="0">
                <a:latin typeface="微软雅黑" pitchFamily="34" charset="-122"/>
                <a:ea typeface="微软雅黑" pitchFamily="34" charset="-122"/>
              </a:rPr>
              <a:t>  </a:t>
            </a:r>
            <a:r>
              <a:rPr lang="zh-CN" altLang="en-US" sz="1600" b="1" dirty="0">
                <a:latin typeface="微软雅黑" pitchFamily="34" charset="-122"/>
                <a:ea typeface="微软雅黑" pitchFamily="34" charset="-122"/>
              </a:rPr>
              <a:t>行根据（</a:t>
            </a:r>
            <a:r>
              <a:rPr lang="en-US" altLang="zh-CN" sz="1600" b="1" dirty="0">
                <a:latin typeface="微软雅黑" pitchFamily="34" charset="-122"/>
                <a:ea typeface="微软雅黑" pitchFamily="34" charset="-122"/>
              </a:rPr>
              <a:t>N4 + 2</a:t>
            </a:r>
            <a:r>
              <a:rPr lang="en-US" altLang="zh-CN" sz="1600" b="1" i="1" baseline="30000" dirty="0">
                <a:latin typeface="微软雅黑" pitchFamily="34" charset="-122"/>
                <a:ea typeface="微软雅黑" pitchFamily="34" charset="-122"/>
              </a:rPr>
              <a:t>i – 1</a:t>
            </a:r>
            <a:r>
              <a:rPr lang="zh-CN" altLang="en-US" sz="1600" b="1" dirty="0">
                <a:latin typeface="微软雅黑" pitchFamily="34" charset="-122"/>
                <a:ea typeface="微软雅黑" pitchFamily="34" charset="-122"/>
              </a:rPr>
              <a:t>）计算得出其</a:t>
            </a:r>
            <a:r>
              <a:rPr lang="zh-CN" altLang="en-US" sz="1600" b="1" dirty="0">
                <a:solidFill>
                  <a:srgbClr val="0000FF"/>
                </a:solidFill>
                <a:latin typeface="微软雅黑" pitchFamily="34" charset="-122"/>
                <a:ea typeface="微软雅黑" pitchFamily="34" charset="-122"/>
              </a:rPr>
              <a:t>后继结点。</a:t>
            </a:r>
          </a:p>
        </p:txBody>
      </p:sp>
      <p:grpSp>
        <p:nvGrpSpPr>
          <p:cNvPr id="6" name="组合 5"/>
          <p:cNvGrpSpPr/>
          <p:nvPr/>
        </p:nvGrpSpPr>
        <p:grpSpPr>
          <a:xfrm>
            <a:off x="2951985" y="1278383"/>
            <a:ext cx="5653754" cy="2840854"/>
            <a:chOff x="152399" y="419100"/>
            <a:chExt cx="7000772" cy="3554168"/>
          </a:xfrm>
        </p:grpSpPr>
        <p:sp>
          <p:nvSpPr>
            <p:cNvPr id="8" name="任意多边形 7"/>
            <p:cNvSpPr/>
            <p:nvPr/>
          </p:nvSpPr>
          <p:spPr>
            <a:xfrm>
              <a:off x="1703388" y="2362200"/>
              <a:ext cx="628650" cy="1282700"/>
            </a:xfrm>
            <a:custGeom>
              <a:avLst/>
              <a:gdLst>
                <a:gd name="connsiteX0" fmla="*/ 0 w 629174"/>
                <a:gd name="connsiteY0" fmla="*/ 0 h 1283516"/>
                <a:gd name="connsiteX1" fmla="*/ 629174 w 629174"/>
                <a:gd name="connsiteY1" fmla="*/ 700481 h 1283516"/>
                <a:gd name="connsiteX2" fmla="*/ 0 w 629174"/>
                <a:gd name="connsiteY2" fmla="*/ 1283516 h 1283516"/>
                <a:gd name="connsiteX3" fmla="*/ 0 w 629174"/>
                <a:gd name="connsiteY3" fmla="*/ 0 h 1283516"/>
              </a:gdLst>
              <a:ahLst/>
              <a:cxnLst>
                <a:cxn ang="0">
                  <a:pos x="connsiteX0" y="connsiteY0"/>
                </a:cxn>
                <a:cxn ang="0">
                  <a:pos x="connsiteX1" y="connsiteY1"/>
                </a:cxn>
                <a:cxn ang="0">
                  <a:pos x="connsiteX2" y="connsiteY2"/>
                </a:cxn>
                <a:cxn ang="0">
                  <a:pos x="connsiteX3" y="connsiteY3"/>
                </a:cxn>
              </a:cxnLst>
              <a:rect l="l" t="t" r="r" b="b"/>
              <a:pathLst>
                <a:path w="629174" h="1283516">
                  <a:moveTo>
                    <a:pt x="0" y="0"/>
                  </a:moveTo>
                  <a:lnTo>
                    <a:pt x="629174" y="700481"/>
                  </a:lnTo>
                  <a:lnTo>
                    <a:pt x="0" y="1283516"/>
                  </a:lnTo>
                  <a:lnTo>
                    <a:pt x="0" y="0"/>
                  </a:lnTo>
                  <a:close/>
                </a:path>
              </a:pathLst>
            </a:custGeom>
            <a:gradFill flip="none" rotWithShape="1">
              <a:gsLst>
                <a:gs pos="0">
                  <a:schemeClr val="bg2">
                    <a:lumMod val="20000"/>
                    <a:lumOff val="80000"/>
                    <a:shade val="30000"/>
                    <a:satMod val="115000"/>
                  </a:schemeClr>
                </a:gs>
                <a:gs pos="50000">
                  <a:schemeClr val="bg2">
                    <a:lumMod val="20000"/>
                    <a:lumOff val="80000"/>
                    <a:shade val="67500"/>
                    <a:satMod val="115000"/>
                  </a:schemeClr>
                </a:gs>
                <a:gs pos="100000">
                  <a:schemeClr val="bg2">
                    <a:lumMod val="20000"/>
                    <a:lumOff val="80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228600" y="533400"/>
              <a:ext cx="715963"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000" b="1">
                  <a:latin typeface="微软雅黑" panose="020B0503020204020204" pitchFamily="34" charset="-122"/>
                  <a:ea typeface="微软雅黑" panose="020B0503020204020204" pitchFamily="34" charset="-122"/>
                </a:rPr>
                <a:t>图例：</a:t>
              </a:r>
            </a:p>
          </p:txBody>
        </p:sp>
        <p:sp>
          <p:nvSpPr>
            <p:cNvPr id="10" name="Text Box 47"/>
            <p:cNvSpPr txBox="1">
              <a:spLocks noChangeArrowheads="1"/>
            </p:cNvSpPr>
            <p:nvPr/>
          </p:nvSpPr>
          <p:spPr bwMode="auto">
            <a:xfrm>
              <a:off x="1127125" y="533400"/>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NID</a:t>
              </a:r>
            </a:p>
          </p:txBody>
        </p:sp>
        <p:sp>
          <p:nvSpPr>
            <p:cNvPr id="11" name="Oval 53"/>
            <p:cNvSpPr>
              <a:spLocks noChangeArrowheads="1"/>
            </p:cNvSpPr>
            <p:nvPr/>
          </p:nvSpPr>
          <p:spPr bwMode="auto">
            <a:xfrm>
              <a:off x="876300" y="6254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2" name="Text Box 71"/>
            <p:cNvSpPr txBox="1">
              <a:spLocks noChangeArrowheads="1"/>
            </p:cNvSpPr>
            <p:nvPr/>
          </p:nvSpPr>
          <p:spPr bwMode="auto">
            <a:xfrm>
              <a:off x="854075" y="860425"/>
              <a:ext cx="190500" cy="206745"/>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lIns="0" tIns="0" rIns="0" bIns="0">
              <a:spAutoFit/>
            </a:bodyPr>
            <a:lstStyle/>
            <a:p>
              <a:pPr algn="ctr">
                <a:defRPr/>
              </a:pPr>
              <a:endParaRPr kumimoji="1" lang="en-US" altLang="zh-CN" sz="900" b="1" dirty="0">
                <a:latin typeface="微软雅黑" panose="020B0503020204020204" pitchFamily="34" charset="-122"/>
                <a:ea typeface="微软雅黑" panose="020B0503020204020204" pitchFamily="34" charset="-122"/>
              </a:endParaRPr>
            </a:p>
          </p:txBody>
        </p:sp>
        <p:sp>
          <p:nvSpPr>
            <p:cNvPr id="13" name="Text Box 47"/>
            <p:cNvSpPr txBox="1">
              <a:spLocks noChangeArrowheads="1"/>
            </p:cNvSpPr>
            <p:nvPr/>
          </p:nvSpPr>
          <p:spPr bwMode="auto">
            <a:xfrm>
              <a:off x="1143001" y="819401"/>
              <a:ext cx="380999" cy="367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KID</a:t>
              </a:r>
            </a:p>
          </p:txBody>
        </p:sp>
        <p:sp>
          <p:nvSpPr>
            <p:cNvPr id="14" name="矩形 13"/>
            <p:cNvSpPr/>
            <p:nvPr/>
          </p:nvSpPr>
          <p:spPr bwMode="auto">
            <a:xfrm>
              <a:off x="266700" y="519113"/>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5" name="Oval 20"/>
            <p:cNvSpPr>
              <a:spLocks noChangeArrowheads="1"/>
            </p:cNvSpPr>
            <p:nvPr/>
          </p:nvSpPr>
          <p:spPr bwMode="auto">
            <a:xfrm>
              <a:off x="1987550" y="654050"/>
              <a:ext cx="2819400" cy="28194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6" name="Text Box 31"/>
            <p:cNvSpPr txBox="1">
              <a:spLocks noChangeArrowheads="1"/>
            </p:cNvSpPr>
            <p:nvPr/>
          </p:nvSpPr>
          <p:spPr bwMode="auto">
            <a:xfrm>
              <a:off x="3263900" y="654050"/>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0</a:t>
              </a:r>
            </a:p>
          </p:txBody>
        </p:sp>
        <p:sp>
          <p:nvSpPr>
            <p:cNvPr id="17" name="Text Box 33"/>
            <p:cNvSpPr txBox="1">
              <a:spLocks noChangeArrowheads="1"/>
            </p:cNvSpPr>
            <p:nvPr/>
          </p:nvSpPr>
          <p:spPr bwMode="auto">
            <a:xfrm>
              <a:off x="3519487" y="67627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a:t>
              </a:r>
            </a:p>
          </p:txBody>
        </p:sp>
        <p:sp>
          <p:nvSpPr>
            <p:cNvPr id="18" name="Text Box 34"/>
            <p:cNvSpPr txBox="1">
              <a:spLocks noChangeArrowheads="1"/>
            </p:cNvSpPr>
            <p:nvPr/>
          </p:nvSpPr>
          <p:spPr bwMode="auto">
            <a:xfrm>
              <a:off x="3754438" y="72866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a:t>
              </a:r>
            </a:p>
          </p:txBody>
        </p:sp>
        <p:sp>
          <p:nvSpPr>
            <p:cNvPr id="19" name="Text Box 35"/>
            <p:cNvSpPr txBox="1">
              <a:spLocks noChangeArrowheads="1"/>
            </p:cNvSpPr>
            <p:nvPr/>
          </p:nvSpPr>
          <p:spPr bwMode="auto">
            <a:xfrm>
              <a:off x="3997325" y="85248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a:t>
              </a:r>
            </a:p>
          </p:txBody>
        </p:sp>
        <p:sp>
          <p:nvSpPr>
            <p:cNvPr id="20" name="Text Box 36"/>
            <p:cNvSpPr txBox="1">
              <a:spLocks noChangeArrowheads="1"/>
            </p:cNvSpPr>
            <p:nvPr/>
          </p:nvSpPr>
          <p:spPr bwMode="auto">
            <a:xfrm>
              <a:off x="4152898" y="102869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4</a:t>
              </a:r>
            </a:p>
          </p:txBody>
        </p:sp>
        <p:sp>
          <p:nvSpPr>
            <p:cNvPr id="21" name="Text Box 37"/>
            <p:cNvSpPr txBox="1">
              <a:spLocks noChangeArrowheads="1"/>
            </p:cNvSpPr>
            <p:nvPr/>
          </p:nvSpPr>
          <p:spPr bwMode="auto">
            <a:xfrm>
              <a:off x="4303712" y="11763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5</a:t>
              </a:r>
            </a:p>
          </p:txBody>
        </p:sp>
        <p:sp>
          <p:nvSpPr>
            <p:cNvPr id="22" name="Text Box 38"/>
            <p:cNvSpPr txBox="1">
              <a:spLocks noChangeArrowheads="1"/>
            </p:cNvSpPr>
            <p:nvPr/>
          </p:nvSpPr>
          <p:spPr bwMode="auto">
            <a:xfrm>
              <a:off x="4435474" y="13604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6</a:t>
              </a:r>
            </a:p>
          </p:txBody>
        </p:sp>
        <p:sp>
          <p:nvSpPr>
            <p:cNvPr id="23" name="Text Box 39"/>
            <p:cNvSpPr txBox="1">
              <a:spLocks noChangeArrowheads="1"/>
            </p:cNvSpPr>
            <p:nvPr/>
          </p:nvSpPr>
          <p:spPr bwMode="auto">
            <a:xfrm>
              <a:off x="4502150" y="163512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7</a:t>
              </a:r>
            </a:p>
          </p:txBody>
        </p:sp>
        <p:sp>
          <p:nvSpPr>
            <p:cNvPr id="24" name="Text Box 40"/>
            <p:cNvSpPr txBox="1">
              <a:spLocks noChangeArrowheads="1"/>
            </p:cNvSpPr>
            <p:nvPr/>
          </p:nvSpPr>
          <p:spPr bwMode="auto">
            <a:xfrm>
              <a:off x="4543426" y="18494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8</a:t>
              </a:r>
            </a:p>
          </p:txBody>
        </p:sp>
        <p:sp>
          <p:nvSpPr>
            <p:cNvPr id="25" name="Text Box 41"/>
            <p:cNvSpPr txBox="1">
              <a:spLocks noChangeArrowheads="1"/>
            </p:cNvSpPr>
            <p:nvPr/>
          </p:nvSpPr>
          <p:spPr bwMode="auto">
            <a:xfrm>
              <a:off x="4538665" y="20970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9</a:t>
              </a:r>
            </a:p>
          </p:txBody>
        </p:sp>
        <p:sp>
          <p:nvSpPr>
            <p:cNvPr id="26" name="Text Box 42"/>
            <p:cNvSpPr txBox="1">
              <a:spLocks noChangeArrowheads="1"/>
            </p:cNvSpPr>
            <p:nvPr/>
          </p:nvSpPr>
          <p:spPr bwMode="auto">
            <a:xfrm>
              <a:off x="4479926" y="23447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10</a:t>
              </a:r>
            </a:p>
          </p:txBody>
        </p:sp>
        <p:sp>
          <p:nvSpPr>
            <p:cNvPr id="27" name="Text Box 43"/>
            <p:cNvSpPr txBox="1">
              <a:spLocks noChangeArrowheads="1"/>
            </p:cNvSpPr>
            <p:nvPr/>
          </p:nvSpPr>
          <p:spPr bwMode="auto">
            <a:xfrm>
              <a:off x="4357688" y="25701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11</a:t>
              </a:r>
            </a:p>
          </p:txBody>
        </p:sp>
        <p:sp>
          <p:nvSpPr>
            <p:cNvPr id="28" name="Text Box 44"/>
            <p:cNvSpPr txBox="1">
              <a:spLocks noChangeArrowheads="1"/>
            </p:cNvSpPr>
            <p:nvPr/>
          </p:nvSpPr>
          <p:spPr bwMode="auto">
            <a:xfrm>
              <a:off x="4179888" y="27955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12</a:t>
              </a:r>
            </a:p>
          </p:txBody>
        </p:sp>
        <p:sp>
          <p:nvSpPr>
            <p:cNvPr id="29" name="Text Box 45"/>
            <p:cNvSpPr txBox="1">
              <a:spLocks noChangeArrowheads="1"/>
            </p:cNvSpPr>
            <p:nvPr/>
          </p:nvSpPr>
          <p:spPr bwMode="auto">
            <a:xfrm>
              <a:off x="4011614" y="2932111"/>
              <a:ext cx="230186"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13</a:t>
              </a:r>
            </a:p>
          </p:txBody>
        </p:sp>
        <p:sp>
          <p:nvSpPr>
            <p:cNvPr id="30" name="Text Box 46"/>
            <p:cNvSpPr txBox="1">
              <a:spLocks noChangeArrowheads="1"/>
            </p:cNvSpPr>
            <p:nvPr/>
          </p:nvSpPr>
          <p:spPr bwMode="auto">
            <a:xfrm>
              <a:off x="3802062" y="306070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14</a:t>
              </a:r>
            </a:p>
          </p:txBody>
        </p:sp>
        <p:sp>
          <p:nvSpPr>
            <p:cNvPr id="31" name="Text Box 47"/>
            <p:cNvSpPr txBox="1">
              <a:spLocks noChangeArrowheads="1"/>
            </p:cNvSpPr>
            <p:nvPr/>
          </p:nvSpPr>
          <p:spPr bwMode="auto">
            <a:xfrm>
              <a:off x="3535361" y="313372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15</a:t>
              </a:r>
            </a:p>
          </p:txBody>
        </p:sp>
        <p:sp>
          <p:nvSpPr>
            <p:cNvPr id="32" name="Oval 48"/>
            <p:cNvSpPr>
              <a:spLocks noChangeArrowheads="1"/>
            </p:cNvSpPr>
            <p:nvPr/>
          </p:nvSpPr>
          <p:spPr bwMode="auto">
            <a:xfrm>
              <a:off x="4311650" y="9969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3" name="Oval 49"/>
            <p:cNvSpPr>
              <a:spLocks noChangeArrowheads="1"/>
            </p:cNvSpPr>
            <p:nvPr/>
          </p:nvSpPr>
          <p:spPr bwMode="auto">
            <a:xfrm>
              <a:off x="2330450" y="298767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4" name="Oval 50"/>
            <p:cNvSpPr>
              <a:spLocks noChangeArrowheads="1"/>
            </p:cNvSpPr>
            <p:nvPr/>
          </p:nvSpPr>
          <p:spPr bwMode="auto">
            <a:xfrm>
              <a:off x="2016125" y="1454150"/>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5" name="Oval 51"/>
            <p:cNvSpPr>
              <a:spLocks noChangeArrowheads="1"/>
            </p:cNvSpPr>
            <p:nvPr/>
          </p:nvSpPr>
          <p:spPr bwMode="auto">
            <a:xfrm>
              <a:off x="3911600" y="730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6" name="Oval 52"/>
            <p:cNvSpPr>
              <a:spLocks noChangeArrowheads="1"/>
            </p:cNvSpPr>
            <p:nvPr/>
          </p:nvSpPr>
          <p:spPr bwMode="auto">
            <a:xfrm>
              <a:off x="4633913" y="2541588"/>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7" name="Oval 53"/>
            <p:cNvSpPr>
              <a:spLocks noChangeArrowheads="1"/>
            </p:cNvSpPr>
            <p:nvPr/>
          </p:nvSpPr>
          <p:spPr bwMode="auto">
            <a:xfrm>
              <a:off x="2797175" y="682625"/>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8" name="Oval 54"/>
            <p:cNvSpPr>
              <a:spLocks noChangeArrowheads="1"/>
            </p:cNvSpPr>
            <p:nvPr/>
          </p:nvSpPr>
          <p:spPr bwMode="auto">
            <a:xfrm>
              <a:off x="4654550" y="1492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9" name="Oval 55"/>
            <p:cNvSpPr>
              <a:spLocks noChangeArrowheads="1"/>
            </p:cNvSpPr>
            <p:nvPr/>
          </p:nvSpPr>
          <p:spPr bwMode="auto">
            <a:xfrm>
              <a:off x="47688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0" name="Oval 56"/>
            <p:cNvSpPr>
              <a:spLocks noChangeArrowheads="1"/>
            </p:cNvSpPr>
            <p:nvPr/>
          </p:nvSpPr>
          <p:spPr bwMode="auto">
            <a:xfrm>
              <a:off x="4359275" y="30162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1" name="Oval 57"/>
            <p:cNvSpPr>
              <a:spLocks noChangeArrowheads="1"/>
            </p:cNvSpPr>
            <p:nvPr/>
          </p:nvSpPr>
          <p:spPr bwMode="auto">
            <a:xfrm>
              <a:off x="3892550" y="3321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2" name="Oval 58"/>
            <p:cNvSpPr>
              <a:spLocks noChangeArrowheads="1"/>
            </p:cNvSpPr>
            <p:nvPr/>
          </p:nvSpPr>
          <p:spPr bwMode="auto">
            <a:xfrm>
              <a:off x="3368675" y="34353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3" name="Oval 59"/>
            <p:cNvSpPr>
              <a:spLocks noChangeArrowheads="1"/>
            </p:cNvSpPr>
            <p:nvPr/>
          </p:nvSpPr>
          <p:spPr bwMode="auto">
            <a:xfrm>
              <a:off x="2825750" y="33305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4" name="Oval 60"/>
            <p:cNvSpPr>
              <a:spLocks noChangeArrowheads="1"/>
            </p:cNvSpPr>
            <p:nvPr/>
          </p:nvSpPr>
          <p:spPr bwMode="auto">
            <a:xfrm>
              <a:off x="2063750" y="2559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5" name="Oval 61"/>
            <p:cNvSpPr>
              <a:spLocks noChangeArrowheads="1"/>
            </p:cNvSpPr>
            <p:nvPr/>
          </p:nvSpPr>
          <p:spPr bwMode="auto">
            <a:xfrm>
              <a:off x="1949450" y="2016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6" name="Oval 62"/>
            <p:cNvSpPr>
              <a:spLocks noChangeArrowheads="1"/>
            </p:cNvSpPr>
            <p:nvPr/>
          </p:nvSpPr>
          <p:spPr bwMode="auto">
            <a:xfrm>
              <a:off x="2368550" y="1035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7" name="Oval 51"/>
            <p:cNvSpPr>
              <a:spLocks noChangeArrowheads="1"/>
            </p:cNvSpPr>
            <p:nvPr/>
          </p:nvSpPr>
          <p:spPr bwMode="auto">
            <a:xfrm>
              <a:off x="3636963" y="6540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4148138"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578100" y="8604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3081338" y="6461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4537075" y="1263650"/>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103563"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2554288" y="31988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968500" y="17430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2181225" y="12477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3621088" y="34131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4148138" y="3190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4741863" y="2284413"/>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4521200" y="280987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1974850" y="23002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2173288" y="2803525"/>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3362325" y="623888"/>
              <a:ext cx="76200" cy="76200"/>
            </a:xfrm>
            <a:prstGeom prst="ellipse">
              <a:avLst/>
            </a:prstGeom>
            <a:solidFill>
              <a:schemeClr val="tx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3" name="Text Box 47"/>
            <p:cNvSpPr txBox="1">
              <a:spLocks noChangeArrowheads="1"/>
            </p:cNvSpPr>
            <p:nvPr/>
          </p:nvSpPr>
          <p:spPr bwMode="auto">
            <a:xfrm>
              <a:off x="3306763" y="316864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16</a:t>
              </a:r>
            </a:p>
          </p:txBody>
        </p:sp>
        <p:sp>
          <p:nvSpPr>
            <p:cNvPr id="64" name="Text Box 47"/>
            <p:cNvSpPr txBox="1">
              <a:spLocks noChangeArrowheads="1"/>
            </p:cNvSpPr>
            <p:nvPr/>
          </p:nvSpPr>
          <p:spPr bwMode="auto">
            <a:xfrm>
              <a:off x="3063876" y="314801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17</a:t>
              </a:r>
            </a:p>
          </p:txBody>
        </p:sp>
        <p:sp>
          <p:nvSpPr>
            <p:cNvPr id="65" name="Text Box 47"/>
            <p:cNvSpPr txBox="1">
              <a:spLocks noChangeArrowheads="1"/>
            </p:cNvSpPr>
            <p:nvPr/>
          </p:nvSpPr>
          <p:spPr bwMode="auto">
            <a:xfrm>
              <a:off x="2819401" y="30876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18</a:t>
              </a:r>
            </a:p>
          </p:txBody>
        </p:sp>
        <p:sp>
          <p:nvSpPr>
            <p:cNvPr id="66" name="Text Box 47"/>
            <p:cNvSpPr txBox="1">
              <a:spLocks noChangeArrowheads="1"/>
            </p:cNvSpPr>
            <p:nvPr/>
          </p:nvSpPr>
          <p:spPr bwMode="auto">
            <a:xfrm>
              <a:off x="2598739" y="29876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19</a:t>
              </a:r>
            </a:p>
          </p:txBody>
        </p:sp>
        <p:sp>
          <p:nvSpPr>
            <p:cNvPr id="67" name="Text Box 47"/>
            <p:cNvSpPr txBox="1">
              <a:spLocks noChangeArrowheads="1"/>
            </p:cNvSpPr>
            <p:nvPr/>
          </p:nvSpPr>
          <p:spPr bwMode="auto">
            <a:xfrm>
              <a:off x="2482851" y="275113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20</a:t>
              </a:r>
            </a:p>
          </p:txBody>
        </p:sp>
        <p:sp>
          <p:nvSpPr>
            <p:cNvPr id="68" name="Text Box 47"/>
            <p:cNvSpPr txBox="1">
              <a:spLocks noChangeArrowheads="1"/>
            </p:cNvSpPr>
            <p:nvPr/>
          </p:nvSpPr>
          <p:spPr bwMode="auto">
            <a:xfrm>
              <a:off x="2292351" y="26368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21</a:t>
              </a:r>
            </a:p>
          </p:txBody>
        </p:sp>
        <p:sp>
          <p:nvSpPr>
            <p:cNvPr id="69" name="Text Box 47"/>
            <p:cNvSpPr txBox="1">
              <a:spLocks noChangeArrowheads="1"/>
            </p:cNvSpPr>
            <p:nvPr/>
          </p:nvSpPr>
          <p:spPr bwMode="auto">
            <a:xfrm>
              <a:off x="2178051" y="243839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22</a:t>
              </a:r>
            </a:p>
          </p:txBody>
        </p:sp>
        <p:sp>
          <p:nvSpPr>
            <p:cNvPr id="70" name="Text Box 47"/>
            <p:cNvSpPr txBox="1">
              <a:spLocks noChangeArrowheads="1"/>
            </p:cNvSpPr>
            <p:nvPr/>
          </p:nvSpPr>
          <p:spPr bwMode="auto">
            <a:xfrm>
              <a:off x="2063749" y="2187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23</a:t>
              </a:r>
            </a:p>
          </p:txBody>
        </p:sp>
        <p:sp>
          <p:nvSpPr>
            <p:cNvPr id="71" name="Text Box 47"/>
            <p:cNvSpPr txBox="1">
              <a:spLocks noChangeArrowheads="1"/>
            </p:cNvSpPr>
            <p:nvPr/>
          </p:nvSpPr>
          <p:spPr bwMode="auto">
            <a:xfrm>
              <a:off x="2063749" y="190499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24</a:t>
              </a:r>
            </a:p>
          </p:txBody>
        </p:sp>
        <p:sp>
          <p:nvSpPr>
            <p:cNvPr id="72" name="Text Box 47"/>
            <p:cNvSpPr txBox="1">
              <a:spLocks noChangeArrowheads="1"/>
            </p:cNvSpPr>
            <p:nvPr/>
          </p:nvSpPr>
          <p:spPr bwMode="auto">
            <a:xfrm>
              <a:off x="2063749" y="164623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25</a:t>
              </a:r>
            </a:p>
          </p:txBody>
        </p:sp>
        <p:sp>
          <p:nvSpPr>
            <p:cNvPr id="73" name="Text Box 47"/>
            <p:cNvSpPr txBox="1">
              <a:spLocks noChangeArrowheads="1"/>
            </p:cNvSpPr>
            <p:nvPr/>
          </p:nvSpPr>
          <p:spPr bwMode="auto">
            <a:xfrm>
              <a:off x="2162175" y="142557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26</a:t>
              </a:r>
            </a:p>
          </p:txBody>
        </p:sp>
        <p:sp>
          <p:nvSpPr>
            <p:cNvPr id="74" name="Text Box 47"/>
            <p:cNvSpPr txBox="1">
              <a:spLocks noChangeArrowheads="1"/>
            </p:cNvSpPr>
            <p:nvPr/>
          </p:nvSpPr>
          <p:spPr bwMode="auto">
            <a:xfrm>
              <a:off x="2268538" y="12493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27</a:t>
              </a:r>
            </a:p>
          </p:txBody>
        </p:sp>
        <p:sp>
          <p:nvSpPr>
            <p:cNvPr id="75" name="Text Box 47"/>
            <p:cNvSpPr txBox="1">
              <a:spLocks noChangeArrowheads="1"/>
            </p:cNvSpPr>
            <p:nvPr/>
          </p:nvSpPr>
          <p:spPr bwMode="auto">
            <a:xfrm>
              <a:off x="2360613" y="1044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28</a:t>
              </a:r>
            </a:p>
          </p:txBody>
        </p:sp>
        <p:sp>
          <p:nvSpPr>
            <p:cNvPr id="76" name="Text Box 47"/>
            <p:cNvSpPr txBox="1">
              <a:spLocks noChangeArrowheads="1"/>
            </p:cNvSpPr>
            <p:nvPr/>
          </p:nvSpPr>
          <p:spPr bwMode="auto">
            <a:xfrm>
              <a:off x="2573338" y="8921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29</a:t>
              </a:r>
            </a:p>
          </p:txBody>
        </p:sp>
        <p:sp>
          <p:nvSpPr>
            <p:cNvPr id="77" name="Text Box 47"/>
            <p:cNvSpPr txBox="1">
              <a:spLocks noChangeArrowheads="1"/>
            </p:cNvSpPr>
            <p:nvPr/>
          </p:nvSpPr>
          <p:spPr bwMode="auto">
            <a:xfrm>
              <a:off x="2787650" y="7842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30</a:t>
              </a:r>
            </a:p>
          </p:txBody>
        </p:sp>
        <p:sp>
          <p:nvSpPr>
            <p:cNvPr id="78" name="Text Box 47"/>
            <p:cNvSpPr txBox="1">
              <a:spLocks noChangeArrowheads="1"/>
            </p:cNvSpPr>
            <p:nvPr/>
          </p:nvSpPr>
          <p:spPr bwMode="auto">
            <a:xfrm>
              <a:off x="3062288" y="6699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31</a:t>
              </a:r>
            </a:p>
          </p:txBody>
        </p:sp>
        <p:sp>
          <p:nvSpPr>
            <p:cNvPr id="79" name="Text Box 71"/>
            <p:cNvSpPr txBox="1">
              <a:spLocks noChangeArrowheads="1"/>
            </p:cNvSpPr>
            <p:nvPr/>
          </p:nvSpPr>
          <p:spPr bwMode="auto">
            <a:xfrm>
              <a:off x="5013325" y="2285999"/>
              <a:ext cx="454029"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K8</a:t>
              </a:r>
            </a:p>
          </p:txBody>
        </p:sp>
        <p:sp>
          <p:nvSpPr>
            <p:cNvPr id="80" name="Oval 53"/>
            <p:cNvSpPr>
              <a:spLocks noChangeArrowheads="1"/>
            </p:cNvSpPr>
            <p:nvPr/>
          </p:nvSpPr>
          <p:spPr bwMode="auto">
            <a:xfrm>
              <a:off x="4692650" y="1706563"/>
              <a:ext cx="152400" cy="152400"/>
            </a:xfrm>
            <a:prstGeom prst="ellipse">
              <a:avLst/>
            </a:prstGeom>
            <a:solidFill>
              <a:srgbClr val="FFC000"/>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81" name="Text Box 47"/>
            <p:cNvSpPr txBox="1">
              <a:spLocks noChangeArrowheads="1"/>
            </p:cNvSpPr>
            <p:nvPr/>
          </p:nvSpPr>
          <p:spPr bwMode="auto">
            <a:xfrm>
              <a:off x="4883149" y="1600198"/>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N7</a:t>
              </a:r>
            </a:p>
          </p:txBody>
        </p:sp>
        <p:sp>
          <p:nvSpPr>
            <p:cNvPr id="82" name="Text Box 47"/>
            <p:cNvSpPr txBox="1">
              <a:spLocks noChangeArrowheads="1"/>
            </p:cNvSpPr>
            <p:nvPr/>
          </p:nvSpPr>
          <p:spPr bwMode="auto">
            <a:xfrm>
              <a:off x="4822825" y="2498724"/>
              <a:ext cx="47614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N10</a:t>
              </a:r>
            </a:p>
          </p:txBody>
        </p:sp>
        <p:sp>
          <p:nvSpPr>
            <p:cNvPr id="83" name="Text Box 47"/>
            <p:cNvSpPr txBox="1">
              <a:spLocks noChangeArrowheads="1"/>
            </p:cNvSpPr>
            <p:nvPr/>
          </p:nvSpPr>
          <p:spPr bwMode="auto">
            <a:xfrm>
              <a:off x="4533900" y="769938"/>
              <a:ext cx="47148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N4</a:t>
              </a:r>
            </a:p>
          </p:txBody>
        </p:sp>
        <p:sp>
          <p:nvSpPr>
            <p:cNvPr id="84" name="Text Box 47"/>
            <p:cNvSpPr txBox="1">
              <a:spLocks noChangeArrowheads="1"/>
            </p:cNvSpPr>
            <p:nvPr/>
          </p:nvSpPr>
          <p:spPr bwMode="auto">
            <a:xfrm>
              <a:off x="2590007" y="419268"/>
              <a:ext cx="514349"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N30</a:t>
              </a:r>
            </a:p>
          </p:txBody>
        </p:sp>
        <p:sp>
          <p:nvSpPr>
            <p:cNvPr id="85" name="Text Box 47"/>
            <p:cNvSpPr txBox="1">
              <a:spLocks noChangeArrowheads="1"/>
            </p:cNvSpPr>
            <p:nvPr/>
          </p:nvSpPr>
          <p:spPr bwMode="auto">
            <a:xfrm>
              <a:off x="1976438" y="3109914"/>
              <a:ext cx="438151"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N20</a:t>
              </a:r>
            </a:p>
          </p:txBody>
        </p:sp>
        <p:sp>
          <p:nvSpPr>
            <p:cNvPr id="86" name="Text Box 47"/>
            <p:cNvSpPr txBox="1">
              <a:spLocks noChangeArrowheads="1"/>
            </p:cNvSpPr>
            <p:nvPr/>
          </p:nvSpPr>
          <p:spPr bwMode="auto">
            <a:xfrm>
              <a:off x="1641693" y="1295401"/>
              <a:ext cx="47942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N26</a:t>
              </a:r>
            </a:p>
          </p:txBody>
        </p:sp>
        <p:sp>
          <p:nvSpPr>
            <p:cNvPr id="87" name="Text Box 71"/>
            <p:cNvSpPr txBox="1">
              <a:spLocks noChangeArrowheads="1"/>
            </p:cNvSpPr>
            <p:nvPr/>
          </p:nvSpPr>
          <p:spPr bwMode="auto">
            <a:xfrm>
              <a:off x="3968751" y="419100"/>
              <a:ext cx="427037"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K31</a:t>
              </a:r>
            </a:p>
          </p:txBody>
        </p:sp>
        <p:sp>
          <p:nvSpPr>
            <p:cNvPr id="88" name="Text Box 71"/>
            <p:cNvSpPr txBox="1">
              <a:spLocks noChangeArrowheads="1"/>
            </p:cNvSpPr>
            <p:nvPr/>
          </p:nvSpPr>
          <p:spPr bwMode="auto">
            <a:xfrm>
              <a:off x="1968500" y="701675"/>
              <a:ext cx="438153"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K29</a:t>
              </a:r>
            </a:p>
          </p:txBody>
        </p:sp>
        <p:sp>
          <p:nvSpPr>
            <p:cNvPr id="89" name="Text Box 71"/>
            <p:cNvSpPr txBox="1">
              <a:spLocks noChangeArrowheads="1"/>
            </p:cNvSpPr>
            <p:nvPr/>
          </p:nvSpPr>
          <p:spPr bwMode="auto">
            <a:xfrm>
              <a:off x="4425950" y="457198"/>
              <a:ext cx="419099"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a:t>
              </a:r>
            </a:p>
          </p:txBody>
        </p:sp>
        <p:sp>
          <p:nvSpPr>
            <p:cNvPr id="90" name="Text Box 71"/>
            <p:cNvSpPr txBox="1">
              <a:spLocks noChangeArrowheads="1"/>
            </p:cNvSpPr>
            <p:nvPr/>
          </p:nvSpPr>
          <p:spPr bwMode="auto">
            <a:xfrm>
              <a:off x="2262024" y="3352796"/>
              <a:ext cx="512764"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a:latin typeface="微软雅黑" panose="020B0503020204020204" pitchFamily="34" charset="-122"/>
                  <a:ea typeface="微软雅黑" panose="020B0503020204020204" pitchFamily="34" charset="-122"/>
                </a:rPr>
                <a:t>K12</a:t>
              </a:r>
              <a:endParaRPr kumimoji="1" lang="en-US" altLang="zh-CN" sz="10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1262063" y="1592263"/>
              <a:ext cx="466728" cy="203240"/>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K23</a:t>
              </a:r>
            </a:p>
          </p:txBody>
        </p:sp>
        <p:cxnSp>
          <p:nvCxnSpPr>
            <p:cNvPr id="92" name="直接箭头连接符 91"/>
            <p:cNvCxnSpPr/>
            <p:nvPr/>
          </p:nvCxnSpPr>
          <p:spPr bwMode="auto">
            <a:xfrm flipH="1">
              <a:off x="4776788" y="2408238"/>
              <a:ext cx="214312" cy="16668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bwMode="auto">
            <a:xfrm>
              <a:off x="423545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flipH="1">
              <a:off x="443388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V="1">
              <a:off x="1744663" y="1577975"/>
              <a:ext cx="273050" cy="1365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H="1" flipV="1">
              <a:off x="2392363" y="3140075"/>
              <a:ext cx="144462" cy="2206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245268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176"/>
            <p:cNvSpPr txBox="1">
              <a:spLocks noChangeArrowheads="1"/>
            </p:cNvSpPr>
            <p:nvPr/>
          </p:nvSpPr>
          <p:spPr bwMode="auto">
            <a:xfrm>
              <a:off x="5576890" y="764925"/>
              <a:ext cx="1576281" cy="1623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      N7</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+ 2      N7</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+ 4      N10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+ 8      N20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+ 16    N20</a:t>
              </a: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99" name="直接连接符 98"/>
            <p:cNvCxnSpPr/>
            <p:nvPr/>
          </p:nvCxnSpPr>
          <p:spPr>
            <a:xfrm flipV="1">
              <a:off x="5578475" y="10588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flipV="1">
              <a:off x="5570538" y="1303338"/>
              <a:ext cx="1363662" cy="6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flipV="1">
              <a:off x="5562600" y="15541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flipV="1">
              <a:off x="5562600" y="1812925"/>
              <a:ext cx="1363663"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flipV="1">
              <a:off x="6461125" y="838200"/>
              <a:ext cx="15875" cy="1227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TextBox 200"/>
            <p:cNvSpPr txBox="1">
              <a:spLocks noChangeArrowheads="1"/>
            </p:cNvSpPr>
            <p:nvPr/>
          </p:nvSpPr>
          <p:spPr bwMode="auto">
            <a:xfrm>
              <a:off x="152399" y="2327024"/>
              <a:ext cx="1833561" cy="16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+ 2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+ 4      N26</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+ 8      N30</a:t>
              </a: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+ 16    N4</a:t>
              </a: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05" name="矩形 104"/>
            <p:cNvSpPr/>
            <p:nvPr/>
          </p:nvSpPr>
          <p:spPr>
            <a:xfrm>
              <a:off x="195263" y="2362200"/>
              <a:ext cx="1489075" cy="12731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nvGrpSpPr>
            <p:cNvPr id="106" name="组合 115"/>
            <p:cNvGrpSpPr>
              <a:grpSpLocks/>
            </p:cNvGrpSpPr>
            <p:nvPr/>
          </p:nvGrpSpPr>
          <p:grpSpPr bwMode="auto">
            <a:xfrm>
              <a:off x="176213" y="2636838"/>
              <a:ext cx="1508125" cy="762000"/>
              <a:chOff x="304800" y="2636838"/>
              <a:chExt cx="1379538" cy="762000"/>
            </a:xfrm>
          </p:grpSpPr>
          <p:cxnSp>
            <p:nvCxnSpPr>
              <p:cNvPr id="107" name="直接连接符 106"/>
              <p:cNvCxnSpPr/>
              <p:nvPr/>
            </p:nvCxnSpPr>
            <p:spPr>
              <a:xfrm flipV="1">
                <a:off x="320773" y="2636838"/>
                <a:ext cx="1363565"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flipV="1">
                <a:off x="312060" y="2887663"/>
                <a:ext cx="1365017"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flipV="1">
                <a:off x="304800" y="3132138"/>
                <a:ext cx="1363564"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304800" y="3390900"/>
                <a:ext cx="1363564"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直接连接符 110"/>
            <p:cNvCxnSpPr/>
            <p:nvPr/>
          </p:nvCxnSpPr>
          <p:spPr>
            <a:xfrm flipV="1">
              <a:off x="1082675" y="2370138"/>
              <a:ext cx="14288" cy="127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Text Box 47"/>
            <p:cNvSpPr txBox="1">
              <a:spLocks noChangeArrowheads="1"/>
            </p:cNvSpPr>
            <p:nvPr/>
          </p:nvSpPr>
          <p:spPr bwMode="auto">
            <a:xfrm>
              <a:off x="5576890" y="534950"/>
              <a:ext cx="1365247"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N4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sp>
          <p:nvSpPr>
            <p:cNvPr id="113" name="Text Box 47"/>
            <p:cNvSpPr txBox="1">
              <a:spLocks noChangeArrowheads="1"/>
            </p:cNvSpPr>
            <p:nvPr/>
          </p:nvSpPr>
          <p:spPr bwMode="auto">
            <a:xfrm>
              <a:off x="212005" y="2060559"/>
              <a:ext cx="1418361"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N20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cxnSp>
          <p:nvCxnSpPr>
            <p:cNvPr id="114" name="直接箭头连接符 113"/>
            <p:cNvCxnSpPr/>
            <p:nvPr/>
          </p:nvCxnSpPr>
          <p:spPr bwMode="auto">
            <a:xfrm>
              <a:off x="4397375" y="1158875"/>
              <a:ext cx="250825" cy="14160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a:off x="4427538" y="1135063"/>
              <a:ext cx="288925" cy="61753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直接箭头连接符 115"/>
            <p:cNvCxnSpPr/>
            <p:nvPr/>
          </p:nvCxnSpPr>
          <p:spPr bwMode="auto">
            <a:xfrm flipH="1">
              <a:off x="2492375" y="1176950"/>
              <a:ext cx="1881188"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bwMode="auto">
            <a:xfrm flipH="1" flipV="1">
              <a:off x="2149475" y="1584325"/>
              <a:ext cx="220663" cy="1417638"/>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直接箭头连接符 117"/>
            <p:cNvCxnSpPr/>
            <p:nvPr/>
          </p:nvCxnSpPr>
          <p:spPr bwMode="auto">
            <a:xfrm flipV="1">
              <a:off x="2422525" y="846138"/>
              <a:ext cx="442913" cy="21558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9" name="直接箭头连接符 118"/>
            <p:cNvCxnSpPr/>
            <p:nvPr/>
          </p:nvCxnSpPr>
          <p:spPr bwMode="auto">
            <a:xfrm flipV="1">
              <a:off x="2397107" y="1085238"/>
              <a:ext cx="1897062"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5562600" y="830263"/>
              <a:ext cx="1371600" cy="1243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21" name="任意多边形 120"/>
            <p:cNvSpPr/>
            <p:nvPr/>
          </p:nvSpPr>
          <p:spPr>
            <a:xfrm>
              <a:off x="4479925" y="838200"/>
              <a:ext cx="1060450" cy="1241425"/>
            </a:xfrm>
            <a:custGeom>
              <a:avLst/>
              <a:gdLst>
                <a:gd name="connsiteX0" fmla="*/ 0 w 1082040"/>
                <a:gd name="connsiteY0" fmla="*/ 236220 h 1257300"/>
                <a:gd name="connsiteX1" fmla="*/ 0 w 1082040"/>
                <a:gd name="connsiteY1" fmla="*/ 236220 h 1257300"/>
                <a:gd name="connsiteX2" fmla="*/ 1074420 w 1082040"/>
                <a:gd name="connsiteY2" fmla="*/ 0 h 1257300"/>
                <a:gd name="connsiteX3" fmla="*/ 1082040 w 1082040"/>
                <a:gd name="connsiteY3" fmla="*/ 1257300 h 1257300"/>
                <a:gd name="connsiteX4" fmla="*/ 0 w 1082040"/>
                <a:gd name="connsiteY4" fmla="*/ 236220 h 1257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040" h="1257300">
                  <a:moveTo>
                    <a:pt x="0" y="236220"/>
                  </a:moveTo>
                  <a:lnTo>
                    <a:pt x="0" y="236220"/>
                  </a:lnTo>
                  <a:lnTo>
                    <a:pt x="1074420" y="0"/>
                  </a:lnTo>
                  <a:lnTo>
                    <a:pt x="1082040" y="1257300"/>
                  </a:lnTo>
                  <a:lnTo>
                    <a:pt x="0" y="236220"/>
                  </a:ln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146117009"/>
      </p:ext>
    </p:extLst>
  </p:cSld>
  <p:clrMapOvr>
    <a:masterClrMapping/>
  </p:clrMapOvr>
  <mc:AlternateContent xmlns:mc="http://schemas.openxmlformats.org/markup-compatibility/2006" xmlns:p14="http://schemas.microsoft.com/office/powerpoint/2010/main">
    <mc:Choice Requires="p14">
      <p:transition spd="slow" p14:dur="2000" advTm="2000"/>
    </mc:Choice>
    <mc:Fallback xmlns="">
      <p:transition spd="slow" advTm="2000"/>
    </mc:Fallback>
  </mc:AlternateContent>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6345</TotalTime>
  <Words>20655</Words>
  <Application>Microsoft Office PowerPoint</Application>
  <PresentationFormat>全屏显示(16:9)</PresentationFormat>
  <Paragraphs>4787</Paragraphs>
  <Slides>280</Slides>
  <Notes>31</Notes>
  <HiddenSlides>0</HiddenSlides>
  <MMClips>0</MMClips>
  <ScaleCrop>false</ScaleCrop>
  <HeadingPairs>
    <vt:vector size="8" baseType="variant">
      <vt:variant>
        <vt:lpstr>已用的字体</vt:lpstr>
      </vt:variant>
      <vt:variant>
        <vt:i4>7</vt:i4>
      </vt:variant>
      <vt:variant>
        <vt:lpstr>主题</vt:lpstr>
      </vt:variant>
      <vt:variant>
        <vt:i4>1</vt:i4>
      </vt:variant>
      <vt:variant>
        <vt:lpstr>嵌入 OLE 服务器</vt:lpstr>
      </vt:variant>
      <vt:variant>
        <vt:i4>3</vt:i4>
      </vt:variant>
      <vt:variant>
        <vt:lpstr>幻灯片标题</vt:lpstr>
      </vt:variant>
      <vt:variant>
        <vt:i4>280</vt:i4>
      </vt:variant>
    </vt:vector>
  </HeadingPairs>
  <TitlesOfParts>
    <vt:vector size="291" baseType="lpstr">
      <vt:lpstr>Wingdings</vt:lpstr>
      <vt:lpstr>Times New Roman</vt:lpstr>
      <vt:lpstr>Courier New</vt:lpstr>
      <vt:lpstr>宋体</vt:lpstr>
      <vt:lpstr>Arial</vt:lpstr>
      <vt:lpstr>Calibri</vt:lpstr>
      <vt:lpstr>微软雅黑</vt:lpstr>
      <vt:lpstr>Office 主题​​</vt:lpstr>
      <vt:lpstr>VISIO</vt:lpstr>
      <vt:lpstr>Visio</vt:lpstr>
      <vt:lpstr>Microsoft ClipArt Gallery</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ILY FAM</cp:lastModifiedBy>
  <cp:revision>795</cp:revision>
  <dcterms:created xsi:type="dcterms:W3CDTF">2018-07-18T08:51:30Z</dcterms:created>
  <dcterms:modified xsi:type="dcterms:W3CDTF">2024-05-30T09:02:33Z</dcterms:modified>
</cp:coreProperties>
</file>